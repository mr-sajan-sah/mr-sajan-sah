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r>
              <a:rPr lang="en-US" b="1">
                <a:solidFill>
                  <a:schemeClr val="accent5"/>
                </a:solidFill>
              </a:rPr>
              <a:t>Closed Form Solution</a:t>
            </a:r>
            <a:endParaRPr lang="en-US" b="1">
              <a:solidFill>
                <a:schemeClr val="accent5"/>
              </a:solidFill>
            </a:endParaRPr>
          </a:p>
        </p:txBody>
      </p:sp>
      <p:sp>
        <p:nvSpPr>
          <p:cNvPr id="3" name="Subtitle 2"/>
          <p:cNvSpPr>
            <a:spLocks noGrp="1"/>
          </p:cNvSpPr>
          <p:nvPr>
            <p:ph type="subTitle" idx="1"/>
          </p:nvPr>
        </p:nvSpPr>
        <p:spPr/>
        <p:txBody>
          <a:bodyPr/>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Different approaches to Linear Regression</a:t>
            </a:r>
            <a:endParaRPr lang="en-US" altLang="en-US"/>
          </a:p>
        </p:txBody>
      </p:sp>
      <p:sp>
        <p:nvSpPr>
          <p:cNvPr id="3" name="Content Placeholder 2"/>
          <p:cNvSpPr>
            <a:spLocks noGrp="1"/>
          </p:cNvSpPr>
          <p:nvPr>
            <p:ph idx="1"/>
          </p:nvPr>
        </p:nvSpPr>
        <p:spPr/>
        <p:txBody>
          <a:bodyPr>
            <a:normAutofit/>
          </a:bodyPr>
          <a:p>
            <a:pPr algn="just"/>
            <a:r>
              <a:rPr lang="en-US" altLang="en-US" sz="2400">
                <a:solidFill>
                  <a:srgbClr val="C00000"/>
                </a:solidFill>
              </a:rPr>
              <a:t>OLS (Ordinary least squares) goal is to find the best-fitting line (hyperplane) that minimizes the vertical offsets, which can be mean squared error (MSE) or other error metrics (MAE, RMSE) between the target variable and the predicted output.</a:t>
            </a:r>
            <a:endParaRPr lang="en-US" altLang="en-US" sz="2400">
              <a:solidFill>
                <a:srgbClr val="C00000"/>
              </a:solidFill>
            </a:endParaRPr>
          </a:p>
          <a:p>
            <a:pPr algn="just"/>
            <a:endParaRPr lang="en-US" altLang="en-US" sz="2400">
              <a:solidFill>
                <a:srgbClr val="C00000"/>
              </a:solidFill>
            </a:endParaRPr>
          </a:p>
          <a:p>
            <a:pPr algn="just"/>
            <a:r>
              <a:rPr lang="en-US" altLang="en-US" sz="2400">
                <a:solidFill>
                  <a:srgbClr val="C00000"/>
                </a:solidFill>
              </a:rPr>
              <a:t>We can implement a linear regression model using the following approaches:</a:t>
            </a:r>
            <a:endParaRPr lang="en-US" altLang="en-US" sz="2400">
              <a:solidFill>
                <a:srgbClr val="C00000"/>
              </a:solidFill>
            </a:endParaRPr>
          </a:p>
          <a:p>
            <a:pPr algn="just"/>
            <a:endParaRPr lang="en-US" altLang="en-US" sz="2400">
              <a:solidFill>
                <a:srgbClr val="C00000"/>
              </a:solidFill>
            </a:endParaRPr>
          </a:p>
          <a:p>
            <a:pPr algn="just"/>
            <a:r>
              <a:rPr lang="en-US" altLang="en-US" sz="2400">
                <a:solidFill>
                  <a:srgbClr val="C00000"/>
                </a:solidFill>
              </a:rPr>
              <a:t>    Solving model parameters (closed-form equations)</a:t>
            </a:r>
            <a:endParaRPr lang="en-US" altLang="en-US" sz="2400">
              <a:solidFill>
                <a:srgbClr val="C00000"/>
              </a:solidFill>
            </a:endParaRPr>
          </a:p>
          <a:p>
            <a:pPr algn="just"/>
            <a:r>
              <a:rPr lang="en-US" altLang="en-US" sz="2400">
                <a:solidFill>
                  <a:srgbClr val="C00000"/>
                </a:solidFill>
              </a:rPr>
              <a:t>    Using optimization algorithm (gradient descent, stochastic gradient, etc.)</a:t>
            </a:r>
            <a:endParaRPr lang="en-US" altLang="en-US" sz="2400">
              <a:solidFill>
                <a:srgbClr val="C00000"/>
              </a:solidFill>
            </a:endParaRPr>
          </a:p>
          <a:p>
            <a:pPr algn="just"/>
            <a:endParaRPr lang="en-US" altLang="en-US" sz="2400">
              <a:solidFill>
                <a:srgbClr val="C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t>Closed-form equation</a:t>
            </a:r>
            <a:endParaRPr lang="en-US" altLang="en-US" b="1"/>
          </a:p>
        </p:txBody>
      </p:sp>
      <p:pic>
        <p:nvPicPr>
          <p:cNvPr id="4" name="Content Placeholder 3"/>
          <p:cNvPicPr>
            <a:picLocks noChangeAspect="1"/>
          </p:cNvPicPr>
          <p:nvPr>
            <p:ph idx="1"/>
          </p:nvPr>
        </p:nvPicPr>
        <p:blipFill>
          <a:blip r:embed="rId1"/>
          <a:srcRect l="17099" t="31565" r="13930" b="12520"/>
          <a:stretch>
            <a:fillRect/>
          </a:stretch>
        </p:blipFill>
        <p:spPr>
          <a:xfrm>
            <a:off x="685800" y="1532890"/>
            <a:ext cx="9648190" cy="48450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sym typeface="+mn-ea"/>
              </a:rPr>
              <a:t>Closed-form equation(contd.)</a:t>
            </a:r>
            <a:endParaRPr lang="en-US"/>
          </a:p>
        </p:txBody>
      </p:sp>
      <p:pic>
        <p:nvPicPr>
          <p:cNvPr id="4" name="Content Placeholder 3"/>
          <p:cNvPicPr>
            <a:picLocks noChangeAspect="1"/>
          </p:cNvPicPr>
          <p:nvPr>
            <p:ph idx="1"/>
          </p:nvPr>
        </p:nvPicPr>
        <p:blipFill>
          <a:blip r:embed="rId1"/>
          <a:srcRect l="20547" t="26062" r="18199" b="14723"/>
          <a:stretch>
            <a:fillRect/>
          </a:stretch>
        </p:blipFill>
        <p:spPr>
          <a:xfrm>
            <a:off x="707390" y="1863090"/>
            <a:ext cx="8975725" cy="3470910"/>
          </a:xfrm>
          <a:prstGeom prst="rect">
            <a:avLst/>
          </a:prstGeom>
        </p:spPr>
      </p:pic>
      <p:sp>
        <p:nvSpPr>
          <p:cNvPr id="5" name="Text Box 4"/>
          <p:cNvSpPr txBox="1"/>
          <p:nvPr/>
        </p:nvSpPr>
        <p:spPr>
          <a:xfrm>
            <a:off x="957580" y="5643245"/>
            <a:ext cx="8725535" cy="645160"/>
          </a:xfrm>
          <a:prstGeom prst="rect">
            <a:avLst/>
          </a:prstGeom>
          <a:noFill/>
        </p:spPr>
        <p:txBody>
          <a:bodyPr wrap="square" rtlCol="0">
            <a:spAutoFit/>
          </a:bodyPr>
          <a:p>
            <a:pPr marL="285750" indent="-285750">
              <a:buFont typeface="Arial" panose="020B0604020202020204" pitchFamily="34" charset="0"/>
              <a:buChar char="•"/>
            </a:pPr>
            <a:r>
              <a:rPr lang="en-US" altLang="en-US" b="1"/>
              <a:t>This approach offers a better solution for smaller data, easy, and quick explainable model.</a:t>
            </a:r>
            <a:endParaRPr lang="en-US"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t>Gradient Descent</a:t>
            </a:r>
            <a:endParaRPr lang="en-US" altLang="en-US" b="1"/>
          </a:p>
        </p:txBody>
      </p:sp>
      <p:sp>
        <p:nvSpPr>
          <p:cNvPr id="3" name="Content Placeholder 2"/>
          <p:cNvSpPr>
            <a:spLocks noGrp="1"/>
          </p:cNvSpPr>
          <p:nvPr>
            <p:ph idx="1"/>
          </p:nvPr>
        </p:nvSpPr>
        <p:spPr/>
        <p:txBody>
          <a:bodyPr/>
          <a:p>
            <a:r>
              <a:rPr lang="en-US" altLang="en-US"/>
              <a:t>Why we need gradient descent if the closed-form equation can solve the regression problem. There will be some situations which are;</a:t>
            </a:r>
            <a:endParaRPr lang="en-US" altLang="en-US"/>
          </a:p>
          <a:p>
            <a:endParaRPr lang="en-US" altLang="en-US"/>
          </a:p>
          <a:p>
            <a:r>
              <a:rPr lang="en-US" altLang="en-US"/>
              <a:t> There is no closed-form solution for most nonlinear regression problems.</a:t>
            </a:r>
            <a:endParaRPr lang="en-US" altLang="en-US"/>
          </a:p>
          <a:p>
            <a:r>
              <a:rPr lang="en-US" altLang="en-US"/>
              <a:t>Even in linear regression, there may be some cases where it is impractical to use the formula. An example is when X is a very large, sparse matrix. The solution will be too expensive to compute.</a:t>
            </a:r>
            <a:endParaRPr lang="en-US" altLang="en-US"/>
          </a:p>
          <a:p>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sym typeface="+mn-ea"/>
              </a:rPr>
              <a:t>Gradient Descent(contd.)</a:t>
            </a:r>
            <a:endParaRPr lang="en-US"/>
          </a:p>
        </p:txBody>
      </p:sp>
      <p:sp>
        <p:nvSpPr>
          <p:cNvPr id="3" name="Content Placeholder 2"/>
          <p:cNvSpPr>
            <a:spLocks noGrp="1"/>
          </p:cNvSpPr>
          <p:nvPr>
            <p:ph idx="1"/>
          </p:nvPr>
        </p:nvSpPr>
        <p:spPr/>
        <p:txBody>
          <a:bodyPr/>
          <a:p>
            <a:pPr algn="just">
              <a:lnSpc>
                <a:spcPct val="150000"/>
              </a:lnSpc>
            </a:pPr>
            <a:r>
              <a:rPr lang="en-US" altLang="en-US"/>
              <a:t>Gradient descent is an optimization algorithm used to minimize some cost function by repetitively moving in the direction of steepest descent. Hence, the model weights are updated after each epoch.</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sym typeface="+mn-ea"/>
              </a:rPr>
              <a:t>Gradient Descent(contd.)</a:t>
            </a:r>
            <a:endParaRPr lang="en-US"/>
          </a:p>
        </p:txBody>
      </p:sp>
      <p:pic>
        <p:nvPicPr>
          <p:cNvPr id="4" name="Content Placeholder 3"/>
          <p:cNvPicPr>
            <a:picLocks noChangeAspect="1"/>
          </p:cNvPicPr>
          <p:nvPr>
            <p:ph idx="1"/>
          </p:nvPr>
        </p:nvPicPr>
        <p:blipFill>
          <a:blip r:embed="rId1"/>
          <a:srcRect l="19373" t="27535" r="13307" b="20093"/>
          <a:stretch>
            <a:fillRect/>
          </a:stretch>
        </p:blipFill>
        <p:spPr>
          <a:xfrm>
            <a:off x="989330" y="1831340"/>
            <a:ext cx="9254490" cy="44081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ltLang="en-US"/>
              <a:t>There are three primary types of gradient descent used in machine learning algorithm;</a:t>
            </a:r>
            <a:endParaRPr lang="en-US" altLang="en-US"/>
          </a:p>
          <a:p>
            <a:endParaRPr lang="en-US" altLang="en-US"/>
          </a:p>
          <a:p>
            <a:r>
              <a:rPr lang="en-US" altLang="en-US"/>
              <a:t>    Batch gradient descent</a:t>
            </a:r>
            <a:endParaRPr lang="en-US" altLang="en-US"/>
          </a:p>
          <a:p>
            <a:r>
              <a:rPr lang="en-US" altLang="en-US"/>
              <a:t>    Stochastic gradient descent</a:t>
            </a:r>
            <a:endParaRPr lang="en-US" altLang="en-US"/>
          </a:p>
          <a:p>
            <a:r>
              <a:rPr lang="en-US" altLang="en-US"/>
              <a:t>    Mini-batch gradient descent</a:t>
            </a:r>
            <a:endParaRPr lang="en-US" altLang="en-US"/>
          </a:p>
          <a:p>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t>Batch Gradient Descent</a:t>
            </a:r>
            <a:endParaRPr lang="en-US" altLang="en-US" b="1"/>
          </a:p>
        </p:txBody>
      </p:sp>
      <p:sp>
        <p:nvSpPr>
          <p:cNvPr id="3" name="Content Placeholder 2"/>
          <p:cNvSpPr>
            <a:spLocks noGrp="1"/>
          </p:cNvSpPr>
          <p:nvPr>
            <p:ph idx="1"/>
          </p:nvPr>
        </p:nvSpPr>
        <p:spPr/>
        <p:txBody>
          <a:bodyPr/>
          <a:p>
            <a:pPr algn="just">
              <a:lnSpc>
                <a:spcPct val="150000"/>
              </a:lnSpc>
            </a:pPr>
            <a:r>
              <a:rPr lang="en-US" altLang="en-US"/>
              <a:t>This approach is the most straightforward. It calculates the error for each observation within the training set. It will update the model parameters after all training observations are evaluated. This process can be called a training epoch.</a:t>
            </a:r>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algn="just">
              <a:lnSpc>
                <a:spcPct val="150000"/>
              </a:lnSpc>
            </a:pPr>
            <a:r>
              <a:rPr lang="en-US" altLang="en-US"/>
              <a:t>The main advantages of this approach are computationally efficient and producing a stable error gradient and stable convergence, however, it requires the entire training set in memory, also the stable error gradient can sometimes result in the not-the-best model (converge to local minimum trap, instead attempt to find the best global minimum).</a:t>
            </a:r>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t>Stochastic Gradient Descent</a:t>
            </a:r>
            <a:endParaRPr lang="en-US" altLang="en-US" b="1"/>
          </a:p>
        </p:txBody>
      </p:sp>
      <p:sp>
        <p:nvSpPr>
          <p:cNvPr id="3" name="Content Placeholder 2"/>
          <p:cNvSpPr>
            <a:spLocks noGrp="1"/>
          </p:cNvSpPr>
          <p:nvPr>
            <p:ph idx="1"/>
          </p:nvPr>
        </p:nvSpPr>
        <p:spPr/>
        <p:txBody>
          <a:bodyPr>
            <a:normAutofit lnSpcReduction="10000"/>
          </a:bodyPr>
          <a:p>
            <a:pPr algn="just">
              <a:lnSpc>
                <a:spcPct val="150000"/>
              </a:lnSpc>
            </a:pPr>
            <a:r>
              <a:rPr lang="en-US" altLang="en-US"/>
              <a:t>In stochastic gradient descent, SGD (or sometimes referred to as iterative or online GD). The name “stochastic” and “online GD” come from the fact that the gradient-based on single training observation is a “stochastic approximation” of the true cost gradient. However, because of this, the path towards the global cost minimum is not direct and may go up-and-down before converging to the global cost minimum.</a:t>
            </a:r>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algn="just"/>
            <a:r>
              <a:rPr lang="en-US" altLang="en-US"/>
              <a:t>Hence;</a:t>
            </a:r>
            <a:endParaRPr lang="en-US" altLang="en-US"/>
          </a:p>
          <a:p>
            <a:pPr algn="just"/>
            <a:endParaRPr lang="en-US" altLang="en-US"/>
          </a:p>
          <a:p>
            <a:pPr algn="just"/>
            <a:r>
              <a:rPr lang="en-US" altLang="en-US"/>
              <a:t>    This makes SGD faster than batch GD (in most cases).</a:t>
            </a:r>
            <a:endParaRPr lang="en-US" altLang="en-US"/>
          </a:p>
          <a:p>
            <a:pPr algn="just"/>
            <a:r>
              <a:rPr lang="en-US" altLang="en-US"/>
              <a:t>    We can view the insight and rate of improvement of the model in real-time.</a:t>
            </a:r>
            <a:endParaRPr lang="en-US" altLang="en-US"/>
          </a:p>
          <a:p>
            <a:pPr algn="just"/>
            <a:r>
              <a:rPr lang="en-US" altLang="en-US"/>
              <a:t>    Increased model update frequency can result in faster learning.</a:t>
            </a:r>
            <a:endParaRPr lang="en-US" altLang="en-US"/>
          </a:p>
          <a:p>
            <a:pPr algn="just"/>
            <a:r>
              <a:rPr lang="en-US" altLang="en-US"/>
              <a:t>    Noisy update of stochastic nature can help to avoid the local minimum.</a:t>
            </a:r>
            <a:endParaRPr lang="en-US" altLang="en-US"/>
          </a:p>
          <a:p>
            <a:pPr algn="just"/>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90000" lnSpcReduction="10000"/>
          </a:bodyPr>
          <a:p>
            <a:pPr algn="just">
              <a:lnSpc>
                <a:spcPct val="150000"/>
              </a:lnSpc>
            </a:pPr>
            <a:r>
              <a:rPr lang="en-US" altLang="en-US"/>
              <a:t>However, some disadvantages are;</a:t>
            </a:r>
            <a:endParaRPr lang="en-US" altLang="en-US"/>
          </a:p>
          <a:p>
            <a:pPr algn="just">
              <a:lnSpc>
                <a:spcPct val="150000"/>
              </a:lnSpc>
            </a:pPr>
            <a:endParaRPr lang="en-US" altLang="en-US"/>
          </a:p>
          <a:p>
            <a:pPr algn="just">
              <a:lnSpc>
                <a:spcPct val="150000"/>
              </a:lnSpc>
            </a:pPr>
            <a:r>
              <a:rPr lang="en-US" altLang="en-US"/>
              <a:t>    Due to update frequency, this can be more computation expensive, which can take a longer time to complete than another approach.</a:t>
            </a:r>
            <a:endParaRPr lang="en-US" altLang="en-US"/>
          </a:p>
          <a:p>
            <a:pPr algn="just">
              <a:lnSpc>
                <a:spcPct val="150000"/>
              </a:lnSpc>
            </a:pPr>
            <a:r>
              <a:rPr lang="en-US" altLang="en-US"/>
              <a:t>    The frequent updates will result in a noisy gradient signal, which causes the model parameters and error to jump around, higher variance over training epochs.</a:t>
            </a:r>
            <a:endParaRPr lang="en-US" altLang="en-US"/>
          </a:p>
          <a:p>
            <a:pPr algn="just">
              <a:lnSpc>
                <a:spcPct val="150000"/>
              </a:lnSpc>
            </a:pPr>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t>Mini-Batch Gradient Descent</a:t>
            </a:r>
            <a:endParaRPr lang="en-US" altLang="en-US" b="1"/>
          </a:p>
        </p:txBody>
      </p:sp>
      <p:sp>
        <p:nvSpPr>
          <p:cNvPr id="3" name="Content Placeholder 2"/>
          <p:cNvSpPr>
            <a:spLocks noGrp="1"/>
          </p:cNvSpPr>
          <p:nvPr>
            <p:ph idx="1"/>
          </p:nvPr>
        </p:nvSpPr>
        <p:spPr/>
        <p:txBody>
          <a:bodyPr/>
          <a:p>
            <a:pPr algn="just">
              <a:lnSpc>
                <a:spcPct val="150000"/>
              </a:lnSpc>
            </a:pPr>
            <a:r>
              <a:rPr lang="en-US" altLang="en-US"/>
              <a:t>Mini-batch gradient descent (MB-GD) is a more preferred method since it compromises between Batch gradient descent and stochastic gradient descent. It separates the training set into small batches and feeds to the algorithm. The model will get updates based on these batches. The model will converge more quickly than batch GD because the weights get updated more frequently.</a:t>
            </a:r>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algn="just">
              <a:lnSpc>
                <a:spcPct val="150000"/>
              </a:lnSpc>
            </a:pPr>
            <a:r>
              <a:rPr lang="en-US" altLang="en-US"/>
              <a:t>This method combines the efficiency of batch GD and the robustness of stochastic GD. One (small) downside is this method introduces a new parameter “batch size”, which may require the fine-tuning as part of model tuning/optimization.</a:t>
            </a:r>
            <a:endParaRPr lang="en-US"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3765</Words>
  <Application>WPS Presentation</Application>
  <PresentationFormat>Widescreen</PresentationFormat>
  <Paragraphs>69</Paragraphs>
  <Slides>15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15</vt:i4>
      </vt:variant>
    </vt:vector>
  </HeadingPairs>
  <TitlesOfParts>
    <vt:vector size="23" baseType="lpstr">
      <vt:lpstr>Arial</vt:lpstr>
      <vt:lpstr>SimSun</vt:lpstr>
      <vt:lpstr>Wingdings</vt:lpstr>
      <vt:lpstr>Arial Unicode MS</vt:lpstr>
      <vt:lpstr>Calibri Light</vt:lpstr>
      <vt:lpstr>Calibri</vt:lpstr>
      <vt:lpstr>Microsoft YaHei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Closed Form Solution</dc:title>
  <dc:creator>KIIT0001</dc:creator>
  <cp:lastModifiedBy>KIIT0001</cp:lastModifiedBy>
  <cp:revision>4</cp:revision>
  <dcterms:created xsi:type="dcterms:W3CDTF">2025-01-06T15:56:46Z</dcterms:created>
  <dcterms:modified xsi:type="dcterms:W3CDTF">2025-01-06T16:04:55Z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1019DA3655734CA6ADE67C37C6D0B52C_11</vt:lpwstr>
  </property>
  <property fmtid="{D5CDD505-2E9C-101B-9397-08002B2CF9AE}" pid="3" name="KSOProductBuildVer">
    <vt:lpwstr>1033-12.2.0.19307</vt:lpwstr>
  </property>
</Properties>
</file>