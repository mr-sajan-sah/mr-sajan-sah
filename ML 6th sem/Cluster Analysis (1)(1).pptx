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156"/>
  </p:handoutMasterIdLst>
  <p:sldIdLst>
    <p:sldId id="773" r:id="rId3"/>
    <p:sldId id="767" r:id="rId4"/>
    <p:sldId id="1111" r:id="rId5"/>
    <p:sldId id="1004" r:id="rId7"/>
    <p:sldId id="1005" r:id="rId8"/>
    <p:sldId id="1001" r:id="rId9"/>
    <p:sldId id="1002" r:id="rId10"/>
    <p:sldId id="1101" r:id="rId11"/>
    <p:sldId id="1007" r:id="rId12"/>
    <p:sldId id="1008" r:id="rId13"/>
    <p:sldId id="1009" r:id="rId14"/>
    <p:sldId id="1010" r:id="rId15"/>
    <p:sldId id="1011" r:id="rId16"/>
    <p:sldId id="1012" r:id="rId17"/>
    <p:sldId id="1131" r:id="rId18"/>
    <p:sldId id="1013" r:id="rId19"/>
    <p:sldId id="1132" r:id="rId20"/>
    <p:sldId id="1133" r:id="rId21"/>
    <p:sldId id="1014" r:id="rId22"/>
    <p:sldId id="1015" r:id="rId23"/>
    <p:sldId id="1135" r:id="rId24"/>
    <p:sldId id="1136" r:id="rId25"/>
    <p:sldId id="1137" r:id="rId26"/>
    <p:sldId id="1138" r:id="rId27"/>
    <p:sldId id="1016" r:id="rId28"/>
    <p:sldId id="1139" r:id="rId29"/>
    <p:sldId id="1017" r:id="rId30"/>
    <p:sldId id="1140" r:id="rId31"/>
    <p:sldId id="1141" r:id="rId32"/>
    <p:sldId id="1134" r:id="rId33"/>
    <p:sldId id="1142" r:id="rId34"/>
    <p:sldId id="1018" r:id="rId35"/>
    <p:sldId id="1102" r:id="rId36"/>
    <p:sldId id="1020" r:id="rId37"/>
    <p:sldId id="1103" r:id="rId38"/>
    <p:sldId id="1022" r:id="rId39"/>
    <p:sldId id="1023" r:id="rId40"/>
    <p:sldId id="1024" r:id="rId41"/>
    <p:sldId id="1145" r:id="rId42"/>
    <p:sldId id="1146" r:id="rId43"/>
    <p:sldId id="1147" r:id="rId44"/>
    <p:sldId id="1148" r:id="rId45"/>
    <p:sldId id="1149" r:id="rId46"/>
    <p:sldId id="1150" r:id="rId47"/>
    <p:sldId id="1155" r:id="rId48"/>
    <p:sldId id="1153" r:id="rId49"/>
    <p:sldId id="1154" r:id="rId50"/>
    <p:sldId id="1151" r:id="rId51"/>
    <p:sldId id="1152" r:id="rId52"/>
    <p:sldId id="1025" r:id="rId53"/>
    <p:sldId id="1143" r:id="rId54"/>
    <p:sldId id="1144" r:id="rId55"/>
    <p:sldId id="1026" r:id="rId56"/>
    <p:sldId id="1027" r:id="rId57"/>
    <p:sldId id="1158" r:id="rId58"/>
    <p:sldId id="1166" r:id="rId59"/>
    <p:sldId id="1167" r:id="rId60"/>
    <p:sldId id="1160" r:id="rId61"/>
    <p:sldId id="1161" r:id="rId62"/>
    <p:sldId id="1162" r:id="rId63"/>
    <p:sldId id="1163" r:id="rId64"/>
    <p:sldId id="1164" r:id="rId65"/>
    <p:sldId id="1165" r:id="rId66"/>
    <p:sldId id="1168" r:id="rId67"/>
    <p:sldId id="1169" r:id="rId68"/>
    <p:sldId id="1031" r:id="rId69"/>
    <p:sldId id="1032" r:id="rId70"/>
    <p:sldId id="1104" r:id="rId71"/>
    <p:sldId id="1170" r:id="rId72"/>
    <p:sldId id="1171" r:id="rId73"/>
    <p:sldId id="1172" r:id="rId74"/>
    <p:sldId id="1173" r:id="rId75"/>
    <p:sldId id="1174" r:id="rId76"/>
    <p:sldId id="1175" r:id="rId77"/>
    <p:sldId id="1176" r:id="rId78"/>
    <p:sldId id="1177" r:id="rId79"/>
    <p:sldId id="1178" r:id="rId80"/>
    <p:sldId id="1179" r:id="rId81"/>
    <p:sldId id="1180" r:id="rId82"/>
    <p:sldId id="1181" r:id="rId83"/>
    <p:sldId id="1182" r:id="rId84"/>
    <p:sldId id="1183" r:id="rId85"/>
    <p:sldId id="1184" r:id="rId86"/>
    <p:sldId id="1185" r:id="rId87"/>
    <p:sldId id="1186" r:id="rId88"/>
    <p:sldId id="1187" r:id="rId89"/>
    <p:sldId id="1188" r:id="rId90"/>
    <p:sldId id="1189" r:id="rId91"/>
    <p:sldId id="1190" r:id="rId92"/>
    <p:sldId id="1191" r:id="rId93"/>
    <p:sldId id="1192" r:id="rId94"/>
    <p:sldId id="1039" r:id="rId95"/>
    <p:sldId id="1040" r:id="rId96"/>
    <p:sldId id="1041" r:id="rId97"/>
    <p:sldId id="1042" r:id="rId98"/>
    <p:sldId id="1045" r:id="rId99"/>
    <p:sldId id="1047" r:id="rId100"/>
    <p:sldId id="1048" r:id="rId101"/>
    <p:sldId id="1050" r:id="rId102"/>
    <p:sldId id="1128" r:id="rId103"/>
    <p:sldId id="1129" r:id="rId104"/>
    <p:sldId id="1051" r:id="rId105"/>
    <p:sldId id="1052" r:id="rId106"/>
    <p:sldId id="1105" r:id="rId107"/>
    <p:sldId id="1053" r:id="rId108"/>
    <p:sldId id="1056" r:id="rId109"/>
    <p:sldId id="1057" r:id="rId110"/>
    <p:sldId id="1054" r:id="rId111"/>
    <p:sldId id="1059" r:id="rId112"/>
    <p:sldId id="1060" r:id="rId113"/>
    <p:sldId id="1061" r:id="rId114"/>
    <p:sldId id="1062" r:id="rId115"/>
    <p:sldId id="1063" r:id="rId116"/>
    <p:sldId id="1064" r:id="rId117"/>
    <p:sldId id="1065" r:id="rId118"/>
    <p:sldId id="1066" r:id="rId119"/>
    <p:sldId id="1067" r:id="rId120"/>
    <p:sldId id="1106" r:id="rId121"/>
    <p:sldId id="1068" r:id="rId122"/>
    <p:sldId id="1069" r:id="rId123"/>
    <p:sldId id="1115" r:id="rId124"/>
    <p:sldId id="1116" r:id="rId125"/>
    <p:sldId id="1074" r:id="rId126"/>
    <p:sldId id="1075" r:id="rId127"/>
    <p:sldId id="1076" r:id="rId128"/>
    <p:sldId id="1077" r:id="rId129"/>
    <p:sldId id="1078" r:id="rId130"/>
    <p:sldId id="1079" r:id="rId131"/>
    <p:sldId id="1080" r:id="rId132"/>
    <p:sldId id="1084" r:id="rId133"/>
    <p:sldId id="1130" r:id="rId134"/>
    <p:sldId id="1086" r:id="rId135"/>
    <p:sldId id="1087" r:id="rId136"/>
    <p:sldId id="1107" r:id="rId137"/>
    <p:sldId id="1117" r:id="rId138"/>
    <p:sldId id="1118" r:id="rId139"/>
    <p:sldId id="1119" r:id="rId140"/>
    <p:sldId id="1120" r:id="rId141"/>
    <p:sldId id="1121" r:id="rId142"/>
    <p:sldId id="1122" r:id="rId143"/>
    <p:sldId id="1108" r:id="rId144"/>
    <p:sldId id="1093" r:id="rId145"/>
    <p:sldId id="1094" r:id="rId146"/>
    <p:sldId id="1126" r:id="rId147"/>
    <p:sldId id="1127" r:id="rId148"/>
    <p:sldId id="1109" r:id="rId149"/>
    <p:sldId id="1097" r:id="rId150"/>
    <p:sldId id="1098" r:id="rId151"/>
    <p:sldId id="993" r:id="rId152"/>
    <p:sldId id="1099" r:id="rId153"/>
    <p:sldId id="1100" r:id="rId154"/>
    <p:sldId id="742" r:id="rId155"/>
  </p:sldIdLst>
  <p:sldSz cx="9144000" cy="6858000" type="screen4x3"/>
  <p:notesSz cx="6831330" cy="911733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D7FDF9"/>
    <a:srgbClr val="003366"/>
    <a:srgbClr val="006666"/>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1271"/>
    <p:restoredTop sz="90928"/>
  </p:normalViewPr>
  <p:slideViewPr>
    <p:cSldViewPr showGuides="1">
      <p:cViewPr varScale="1">
        <p:scale>
          <a:sx n="88" d="100"/>
          <a:sy n="88" d="100"/>
        </p:scale>
        <p:origin x="-110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8214"/>
    </p:cViewPr>
  </p:sorterViewPr>
  <p:gridSpacing cx="76199" cy="76199"/>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9" Type="http://schemas.openxmlformats.org/officeDocument/2006/relationships/tableStyles" Target="tableStyles.xml"/><Relationship Id="rId158" Type="http://schemas.openxmlformats.org/officeDocument/2006/relationships/viewProps" Target="viewProps.xml"/><Relationship Id="rId157" Type="http://schemas.openxmlformats.org/officeDocument/2006/relationships/presProps" Target="presProps.xml"/><Relationship Id="rId156" Type="http://schemas.openxmlformats.org/officeDocument/2006/relationships/handoutMaster" Target="handoutMasters/handoutMaster1.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24.emf"/><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57.wmf"/><Relationship Id="rId3" Type="http://schemas.openxmlformats.org/officeDocument/2006/relationships/image" Target="../media/image52.wmf"/><Relationship Id="rId2" Type="http://schemas.openxmlformats.org/officeDocument/2006/relationships/image" Target="../media/image56.wmf"/><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58.wmf"/><Relationship Id="rId3" Type="http://schemas.openxmlformats.org/officeDocument/2006/relationships/image" Target="../media/image52.wmf"/><Relationship Id="rId2" Type="http://schemas.openxmlformats.org/officeDocument/2006/relationships/image" Target="../media/image56.wmf"/><Relationship Id="rId1"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2.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64.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5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7.wmf"/><Relationship Id="rId1" Type="http://schemas.openxmlformats.org/officeDocument/2006/relationships/image" Target="../media/image5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3906" name="Rectangle 2"/>
          <p:cNvSpPr>
            <a:spLocks noGrp="1" noChangeArrowheads="1"/>
          </p:cNvSpPr>
          <p:nvPr>
            <p:ph type="hdr" sz="quarter"/>
          </p:nvPr>
        </p:nvSpPr>
        <p:spPr bwMode="auto">
          <a:xfrm>
            <a:off x="0" y="0"/>
            <a:ext cx="2960688" cy="455613"/>
          </a:xfrm>
          <a:prstGeom prst="rect">
            <a:avLst/>
          </a:prstGeom>
          <a:noFill/>
          <a:ln w="9525">
            <a:noFill/>
            <a:miter lim="800000"/>
          </a:ln>
          <a:effectLst/>
        </p:spPr>
        <p:txBody>
          <a:bodyPr vert="horz" wrap="square" lIns="91129" tIns="45565" rIns="91129" bIns="45565" numCol="1" anchor="t"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7" name="Rectangle 3"/>
          <p:cNvSpPr>
            <a:spLocks noGrp="1" noChangeArrowheads="1"/>
          </p:cNvSpPr>
          <p:nvPr>
            <p:ph type="dt" sz="quarter" idx="1"/>
          </p:nvPr>
        </p:nvSpPr>
        <p:spPr bwMode="auto">
          <a:xfrm>
            <a:off x="3870325" y="0"/>
            <a:ext cx="2960688" cy="455613"/>
          </a:xfrm>
          <a:prstGeom prst="rect">
            <a:avLst/>
          </a:prstGeom>
          <a:noFill/>
          <a:ln w="9525">
            <a:noFill/>
            <a:miter lim="800000"/>
          </a:ln>
          <a:effectLst/>
        </p:spPr>
        <p:txBody>
          <a:bodyPr vert="horz" wrap="square" lIns="91129" tIns="45565" rIns="91129" bIns="45565" numCol="1" anchor="t" anchorCtr="0" compatLnSpc="1"/>
          <a:lstStyle>
            <a:lvl1pPr algn="r" defTabSz="911225" eaLnBrk="0" hangingPunct="0">
              <a:defRPr sz="1200">
                <a:latin typeface="Times New Roman" panose="02020603050405020304" pitchFamily="18" charset="0"/>
              </a:defRPr>
            </a:lvl1pPr>
          </a:lstStyle>
          <a:p>
            <a:pPr marL="0" marR="0" lvl="0" indent="0" algn="r"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8" name="Rectangle 4"/>
          <p:cNvSpPr>
            <a:spLocks noGrp="1" noChangeArrowheads="1"/>
          </p:cNvSpPr>
          <p:nvPr>
            <p:ph type="ftr" sz="quarter" idx="2"/>
          </p:nvPr>
        </p:nvSpPr>
        <p:spPr bwMode="auto">
          <a:xfrm>
            <a:off x="0" y="8661400"/>
            <a:ext cx="2960688" cy="455613"/>
          </a:xfrm>
          <a:prstGeom prst="rect">
            <a:avLst/>
          </a:prstGeom>
          <a:noFill/>
          <a:ln w="9525">
            <a:noFill/>
            <a:miter lim="800000"/>
          </a:ln>
          <a:effectLst/>
        </p:spPr>
        <p:txBody>
          <a:bodyPr vert="horz" wrap="square" lIns="91129" tIns="45565" rIns="91129" bIns="45565" numCol="1" anchor="b"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9" name="Rectangle 5"/>
          <p:cNvSpPr>
            <a:spLocks noGrp="1" noChangeArrowheads="1"/>
          </p:cNvSpPr>
          <p:nvPr>
            <p:ph type="sldNum" sz="quarter" idx="3"/>
          </p:nvPr>
        </p:nvSpPr>
        <p:spPr bwMode="auto">
          <a:xfrm>
            <a:off x="3870325" y="8661400"/>
            <a:ext cx="2960688" cy="455613"/>
          </a:xfrm>
          <a:prstGeom prst="rect">
            <a:avLst/>
          </a:prstGeom>
          <a:noFill/>
          <a:ln w="9525">
            <a:noFill/>
            <a:miter lim="800000"/>
          </a:ln>
          <a:effectLst/>
        </p:spPr>
        <p:txBody>
          <a:bodyPr vert="horz" wrap="square" lIns="91129" tIns="45565" rIns="91129" bIns="45565" numCol="1" anchor="b" anchorCtr="0" compatLnSpc="1"/>
          <a:p>
            <a:pPr lvl="0" algn="r" defTabSz="911225" eaLnBrk="1" fontAlgn="base" hangingPunct="1"/>
            <a:fld id="{9A0DB2DC-4C9A-4742-B13C-FB6460FD3503}" type="slidenum">
              <a:rPr lang="en-US" altLang="zh-CN" sz="1200" b="1" strike="noStrike" noProof="1" dirty="0">
                <a:solidFill>
                  <a:srgbClr val="FFFFFF"/>
                </a:solidFill>
                <a:latin typeface="Times New Roman" panose="02020603050405020304" pitchFamily="18" charset="0"/>
                <a:ea typeface="SimSun" panose="02010600030101010101" pitchFamily="2" charset="-122"/>
                <a:cs typeface="+mn-cs"/>
              </a:rPr>
            </a:fld>
            <a:endParaRPr lang="en-US" altLang="zh-CN" sz="1200" b="1" strike="noStrike" noProof="1" dirty="0">
              <a:solidFill>
                <a:srgbClr val="FFFFFF"/>
              </a:solidFill>
              <a:latin typeface="Times New Roman" panose="02020603050405020304" pitchFamily="18" charset="0"/>
              <a:ea typeface="SimSun"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2960688" cy="455613"/>
          </a:xfrm>
          <a:prstGeom prst="rect">
            <a:avLst/>
          </a:prstGeom>
          <a:noFill/>
          <a:ln w="9525">
            <a:noFill/>
            <a:miter lim="800000"/>
          </a:ln>
          <a:effectLst/>
        </p:spPr>
        <p:txBody>
          <a:bodyPr vert="horz" wrap="square" lIns="91129" tIns="45565" rIns="91129" bIns="45565" numCol="1" anchor="t"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5" name="Rectangle 3"/>
          <p:cNvSpPr>
            <a:spLocks noGrp="1" noChangeArrowheads="1"/>
          </p:cNvSpPr>
          <p:nvPr>
            <p:ph type="dt" idx="1"/>
          </p:nvPr>
        </p:nvSpPr>
        <p:spPr bwMode="auto">
          <a:xfrm>
            <a:off x="3870325" y="0"/>
            <a:ext cx="2960688" cy="455613"/>
          </a:xfrm>
          <a:prstGeom prst="rect">
            <a:avLst/>
          </a:prstGeom>
          <a:noFill/>
          <a:ln w="9525">
            <a:noFill/>
            <a:miter lim="800000"/>
          </a:ln>
          <a:effectLst/>
        </p:spPr>
        <p:txBody>
          <a:bodyPr vert="horz" wrap="square" lIns="91129" tIns="45565" rIns="91129" bIns="45565" numCol="1" anchor="t" anchorCtr="0" compatLnSpc="1"/>
          <a:lstStyle>
            <a:lvl1pPr algn="r" defTabSz="911225" eaLnBrk="0" hangingPunct="0">
              <a:defRPr sz="1200">
                <a:latin typeface="Times New Roman" panose="02020603050405020304" pitchFamily="18" charset="0"/>
              </a:defRPr>
            </a:lvl1pPr>
          </a:lstStyle>
          <a:p>
            <a:pPr marL="0" marR="0" lvl="0" indent="0" algn="r"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220" name="Rectangle 4"/>
          <p:cNvSpPr>
            <a:spLocks noTextEdit="1"/>
          </p:cNvSpPr>
          <p:nvPr>
            <p:ph type="sldImg"/>
          </p:nvPr>
        </p:nvSpPr>
        <p:spPr>
          <a:xfrm>
            <a:off x="1136650" y="684213"/>
            <a:ext cx="4557713" cy="3417887"/>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911225" y="4330700"/>
            <a:ext cx="5008563" cy="4102100"/>
          </a:xfrm>
          <a:prstGeom prst="rect">
            <a:avLst/>
          </a:prstGeom>
          <a:noFill/>
          <a:ln w="9525">
            <a:noFill/>
            <a:miter lim="800000"/>
          </a:ln>
          <a:effectLst/>
        </p:spPr>
        <p:txBody>
          <a:bodyPr vert="horz" wrap="square" lIns="91129" tIns="45565" rIns="91129" bIns="45565"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13318" name="Rectangle 6"/>
          <p:cNvSpPr>
            <a:spLocks noGrp="1" noChangeArrowheads="1"/>
          </p:cNvSpPr>
          <p:nvPr>
            <p:ph type="ftr" sz="quarter" idx="4"/>
          </p:nvPr>
        </p:nvSpPr>
        <p:spPr bwMode="auto">
          <a:xfrm>
            <a:off x="0" y="8661400"/>
            <a:ext cx="2960688" cy="455613"/>
          </a:xfrm>
          <a:prstGeom prst="rect">
            <a:avLst/>
          </a:prstGeom>
          <a:noFill/>
          <a:ln w="9525">
            <a:noFill/>
            <a:miter lim="800000"/>
          </a:ln>
          <a:effectLst/>
        </p:spPr>
        <p:txBody>
          <a:bodyPr vert="horz" wrap="square" lIns="91129" tIns="45565" rIns="91129" bIns="45565" numCol="1" anchor="b" anchorCtr="0" compatLnSpc="1"/>
          <a:lstStyle>
            <a:lvl1pPr defTabSz="911225" eaLnBrk="0" hangingPunct="0">
              <a:defRPr sz="1200">
                <a:latin typeface="Times New Roman" panose="02020603050405020304" pitchFamily="18" charset="0"/>
              </a:defRPr>
            </a:lvl1pPr>
          </a:lstStyle>
          <a:p>
            <a:pPr marL="0" marR="0" lvl="0" indent="0" algn="l" defTabSz="91122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9" name="Rectangle 7"/>
          <p:cNvSpPr>
            <a:spLocks noGrp="1" noChangeArrowheads="1"/>
          </p:cNvSpPr>
          <p:nvPr>
            <p:ph type="sldNum" sz="quarter" idx="5"/>
          </p:nvPr>
        </p:nvSpPr>
        <p:spPr bwMode="auto">
          <a:xfrm>
            <a:off x="3870325" y="8661400"/>
            <a:ext cx="2960688" cy="455613"/>
          </a:xfrm>
          <a:prstGeom prst="rect">
            <a:avLst/>
          </a:prstGeom>
          <a:noFill/>
          <a:ln w="9525">
            <a:noFill/>
            <a:miter lim="800000"/>
          </a:ln>
          <a:effectLst/>
        </p:spPr>
        <p:txBody>
          <a:bodyPr vert="horz" wrap="square" lIns="91129" tIns="45565" rIns="91129" bIns="45565" numCol="1" anchor="b" anchorCtr="0" compatLnSpc="1"/>
          <a:p>
            <a:pPr lvl="0" algn="r" defTabSz="911225" eaLnBrk="1" fontAlgn="base" hangingPunct="1"/>
            <a:fld id="{9A0DB2DC-4C9A-4742-B13C-FB6460FD3503}" type="slidenum">
              <a:rPr lang="en-US" altLang="zh-CN" sz="1200" strike="noStrike" noProof="1" dirty="0">
                <a:latin typeface="Times New Roman" panose="02020603050405020304" pitchFamily="18" charset="0"/>
                <a:ea typeface="SimSun" panose="02010600030101010101" pitchFamily="2" charset="-122"/>
                <a:cs typeface="+mn-cs"/>
              </a:rPr>
            </a:fld>
            <a:endParaRPr lang="en-US" altLang="zh-CN" sz="1200" strike="noStrike" noProof="1" dirty="0">
              <a:latin typeface="Times New Roman" panose="02020603050405020304" pitchFamily="18" charset="0"/>
              <a:ea typeface="SimSun"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
        <p:nvSpPr>
          <p:cNvPr id="147458" name="Rectangle 2"/>
          <p:cNvSpPr>
            <a:spLocks noTextEdit="1"/>
          </p:cNvSpPr>
          <p:nvPr>
            <p:ph type="sldImg"/>
          </p:nvPr>
        </p:nvSpPr>
        <p:spPr>
          <a:xfrm>
            <a:off x="1135063" y="682625"/>
            <a:ext cx="4559300" cy="3419475"/>
          </a:xfrm>
          <a:solidFill>
            <a:srgbClr val="FFFFFF"/>
          </a:solidFill>
          <a:ln/>
        </p:spPr>
      </p:sp>
      <p:sp>
        <p:nvSpPr>
          <p:cNvPr id="147459" name="Rectangle 3"/>
          <p:cNvSpPr/>
          <p:nvPr>
            <p:ph type="body"/>
          </p:nvPr>
        </p:nvSpPr>
        <p:spPr>
          <a:xfrm>
            <a:off x="911225" y="4330700"/>
            <a:ext cx="5008563" cy="4103688"/>
          </a:xfrm>
          <a:solidFill>
            <a:srgbClr val="FFFFFF"/>
          </a:solidFill>
          <a:ln>
            <a:solidFill>
              <a:srgbClr val="000000"/>
            </a:solidFill>
            <a:miter/>
          </a:ln>
        </p:spPr>
        <p:txBody>
          <a:bodyPr wrap="square" lIns="91119" tIns="45560" rIns="91119" bIns="45560" anchor="t" anchorCtr="0"/>
          <a:p>
            <a:pPr lvl="0"/>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
        <p:nvSpPr>
          <p:cNvPr id="150530" name="Rectangle 2"/>
          <p:cNvSpPr>
            <a:spLocks noTextEdit="1"/>
          </p:cNvSpPr>
          <p:nvPr>
            <p:ph type="sldImg"/>
          </p:nvPr>
        </p:nvSpPr>
        <p:spPr>
          <a:xfrm>
            <a:off x="1135063" y="682625"/>
            <a:ext cx="4559300" cy="3419475"/>
          </a:xfrm>
          <a:solidFill>
            <a:srgbClr val="FFFFFF"/>
          </a:solidFill>
          <a:ln/>
        </p:spPr>
      </p:sp>
      <p:sp>
        <p:nvSpPr>
          <p:cNvPr id="150531" name="Rectangle 3"/>
          <p:cNvSpPr/>
          <p:nvPr>
            <p:ph type="body"/>
          </p:nvPr>
        </p:nvSpPr>
        <p:spPr>
          <a:xfrm>
            <a:off x="911225" y="4330700"/>
            <a:ext cx="5008563" cy="4103688"/>
          </a:xfrm>
          <a:solidFill>
            <a:srgbClr val="FFFFFF"/>
          </a:solidFill>
          <a:ln>
            <a:solidFill>
              <a:srgbClr val="000000"/>
            </a:solidFill>
            <a:miter/>
          </a:ln>
        </p:spPr>
        <p:txBody>
          <a:bodyPr wrap="square" lIns="91119" tIns="45560" rIns="91119" bIns="45560" anchor="t" anchorCtr="0"/>
          <a:p>
            <a:pPr lvl="0"/>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
        <p:nvSpPr>
          <p:cNvPr id="155650" name="Rectangle 2"/>
          <p:cNvSpPr>
            <a:spLocks noTextEdit="1"/>
          </p:cNvSpPr>
          <p:nvPr>
            <p:ph type="sldImg"/>
          </p:nvPr>
        </p:nvSpPr>
        <p:spPr>
          <a:xfrm>
            <a:off x="1135063" y="682625"/>
            <a:ext cx="4559300" cy="3419475"/>
          </a:xfrm>
          <a:solidFill>
            <a:srgbClr val="FFFFFF"/>
          </a:solidFill>
          <a:ln/>
        </p:spPr>
      </p:sp>
      <p:sp>
        <p:nvSpPr>
          <p:cNvPr id="155651" name="Rectangle 3"/>
          <p:cNvSpPr/>
          <p:nvPr>
            <p:ph type="body"/>
          </p:nvPr>
        </p:nvSpPr>
        <p:spPr>
          <a:xfrm>
            <a:off x="911225" y="4330700"/>
            <a:ext cx="5008563" cy="4103688"/>
          </a:xfrm>
          <a:solidFill>
            <a:srgbClr val="FFFFFF"/>
          </a:solidFill>
          <a:ln>
            <a:solidFill>
              <a:srgbClr val="000000"/>
            </a:solidFill>
            <a:miter/>
          </a:ln>
        </p:spPr>
        <p:txBody>
          <a:bodyPr wrap="square" lIns="91119" tIns="45560" rIns="91119" bIns="45560" anchor="t" anchorCtr="0"/>
          <a:p>
            <a:pPr lvl="0"/>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
        <p:nvSpPr>
          <p:cNvPr id="157698" name="Rectangle 2"/>
          <p:cNvSpPr>
            <a:spLocks noTextEdit="1"/>
          </p:cNvSpPr>
          <p:nvPr>
            <p:ph type="sldImg"/>
          </p:nvPr>
        </p:nvSpPr>
        <p:spPr>
          <a:xfrm>
            <a:off x="1135063" y="682625"/>
            <a:ext cx="4559300" cy="3419475"/>
          </a:xfrm>
          <a:solidFill>
            <a:srgbClr val="FFFFFF"/>
          </a:solidFill>
          <a:ln/>
        </p:spPr>
      </p:sp>
      <p:sp>
        <p:nvSpPr>
          <p:cNvPr id="157699" name="Rectangle 3"/>
          <p:cNvSpPr/>
          <p:nvPr>
            <p:ph type="body"/>
          </p:nvPr>
        </p:nvSpPr>
        <p:spPr>
          <a:xfrm>
            <a:off x="911225" y="4330700"/>
            <a:ext cx="5008563" cy="4103688"/>
          </a:xfrm>
          <a:solidFill>
            <a:srgbClr val="FFFFFF"/>
          </a:solidFill>
          <a:ln>
            <a:solidFill>
              <a:srgbClr val="000000"/>
            </a:solidFill>
            <a:miter/>
          </a:ln>
        </p:spPr>
        <p:txBody>
          <a:bodyPr wrap="square" lIns="91119" tIns="45560" rIns="91119" bIns="45560" anchor="t" anchorCtr="0"/>
          <a:p>
            <a:pPr lvl="0"/>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Rectangle 7"/>
          <p:cNvSpPr txBox="1">
            <a:spLocks noGrp="1"/>
          </p:cNvSpPr>
          <p:nvPr>
            <p:ph type="sldNum" sz="quarter"/>
          </p:nvPr>
        </p:nvSpPr>
        <p:spPr>
          <a:xfrm>
            <a:off x="3870325" y="8661400"/>
            <a:ext cx="2960688" cy="455613"/>
          </a:xfrm>
          <a:prstGeom prst="rect">
            <a:avLst/>
          </a:prstGeom>
          <a:noFill/>
          <a:ln w="9525">
            <a:noFill/>
          </a:ln>
        </p:spPr>
        <p:txBody>
          <a:bodyPr vert="horz" wrap="square" lIns="91129" tIns="45565" rIns="91129" bIns="45565" anchor="b" anchorCtr="0"/>
          <a:p>
            <a:pPr lvl="0" algn="r" defTabSz="911225"/>
            <a:fld id="{9A0DB2DC-4C9A-4742-B13C-FB6460FD3503}" type="slidenum">
              <a:rPr lang="en-US" altLang="zh-CN" sz="1200" dirty="0">
                <a:latin typeface="Times New Roman" panose="02020603050405020304" pitchFamily="18" charset="0"/>
                <a:ea typeface="SimSun" panose="02010600030101010101" pitchFamily="2" charset="-122"/>
              </a:rPr>
            </a:fld>
            <a:endParaRPr lang="en-US" altLang="zh-CN" sz="1200" dirty="0">
              <a:latin typeface="Times New Roman" panose="02020603050405020304" pitchFamily="18" charset="0"/>
              <a:ea typeface="SimSun" panose="02010600030101010101" pitchFamily="2" charset="-122"/>
            </a:endParaRPr>
          </a:p>
        </p:txBody>
      </p:sp>
      <p:sp>
        <p:nvSpPr>
          <p:cNvPr id="159746" name="Rectangle 2"/>
          <p:cNvSpPr>
            <a:spLocks noTextEdit="1"/>
          </p:cNvSpPr>
          <p:nvPr>
            <p:ph type="sldImg"/>
          </p:nvPr>
        </p:nvSpPr>
        <p:spPr>
          <a:xfrm>
            <a:off x="1135063" y="682625"/>
            <a:ext cx="4559300" cy="3419475"/>
          </a:xfrm>
          <a:solidFill>
            <a:srgbClr val="FFFFFF"/>
          </a:solidFill>
          <a:ln/>
        </p:spPr>
      </p:sp>
      <p:sp>
        <p:nvSpPr>
          <p:cNvPr id="159747" name="Rectangle 3"/>
          <p:cNvSpPr/>
          <p:nvPr>
            <p:ph type="body"/>
          </p:nvPr>
        </p:nvSpPr>
        <p:spPr>
          <a:xfrm>
            <a:off x="911225" y="4330700"/>
            <a:ext cx="5008563" cy="4103688"/>
          </a:xfrm>
          <a:solidFill>
            <a:srgbClr val="FFFFFF"/>
          </a:solidFill>
          <a:ln>
            <a:solidFill>
              <a:srgbClr val="000000"/>
            </a:solidFill>
            <a:miter/>
          </a:ln>
        </p:spPr>
        <p:txBody>
          <a:bodyPr wrap="square" lIns="91119" tIns="45560" rIns="91119" bIns="45560" anchor="t" anchorCtr="0"/>
          <a:p>
            <a:pPr lvl="0"/>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3" name="Rectangle 12"/>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7" name="Rectangle 16"/>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8" name="Rectangle 17"/>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9" name="Straight Connector 18"/>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0" name="Straight Connector 19"/>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1" name="Straight Connector 20"/>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4" name="Straight Connector 23"/>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5" name="Straight Connector 2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6" name="Straight Connector 25"/>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Oval 27"/>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Oval 28"/>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Oval 29"/>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1" name="Oval 30"/>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2" name="Oval 31"/>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Title 7"/>
          <p:cNvSpPr>
            <a:spLocks noGrp="1"/>
          </p:cNvSpPr>
          <p:nvPr>
            <p:ph type="ctrTitle"/>
          </p:nvPr>
        </p:nvSpPr>
        <p:spPr>
          <a:xfrm>
            <a:off x="2286000" y="3124200"/>
            <a:ext cx="6172200" cy="1894362"/>
          </a:xfrm>
        </p:spPr>
        <p:txBody>
          <a:bodyPr/>
          <a:lstStyle>
            <a:lvl1pPr>
              <a:defRPr b="1"/>
            </a:lvl1pPr>
          </a:lstStyle>
          <a:p>
            <a:pPr fontAlgn="base"/>
            <a:r>
              <a:rPr lang="en-US" strike="noStrike" noProof="1" smtClean="0"/>
              <a:t>Click to edit Master title style</a:t>
            </a:r>
            <a:endParaRPr lang="en-US" strike="noStrike" noProof="1"/>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en-US" strike="noStrike" noProof="1" smtClean="0"/>
              <a:t>Click to edit Master subtitle style</a:t>
            </a:r>
            <a:endParaRPr lang="en-US" strike="noStrike" noProof="1"/>
          </a:p>
        </p:txBody>
      </p:sp>
      <p:sp>
        <p:nvSpPr>
          <p:cNvPr id="33" name="Date Placeholder 27"/>
          <p:cNvSpPr>
            <a:spLocks noGrp="1"/>
          </p:cNvSpPr>
          <p:nvPr>
            <p:ph type="dt" sz="half" idx="2"/>
          </p:nvPr>
        </p:nvSpPr>
        <p:spPr bwMode="auto">
          <a:xfrm rot="5400000">
            <a:off x="7764463" y="1174750"/>
            <a:ext cx="2286000" cy="381000"/>
          </a:xfrm>
          <a:prstGeom prst="rect">
            <a:avLst/>
          </a:prstGeom>
        </p:spPr>
        <p:txBody>
          <a:bodyPr vert="horz"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E01CBE5-BE8C-46DB-9DE2-57FB4DF69761}"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34" name="Footer Placeholder 16"/>
          <p:cNvSpPr>
            <a:spLocks noGrp="1"/>
          </p:cNvSpPr>
          <p:nvPr>
            <p:ph type="ftr" sz="quarter" idx="3"/>
          </p:nvPr>
        </p:nvSpPr>
        <p:spPr bwMode="auto">
          <a:xfrm rot="5400000">
            <a:off x="7077075" y="4181475"/>
            <a:ext cx="3657600" cy="38417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35" name="Slide Number Placeholder 28"/>
          <p:cNvSpPr>
            <a:spLocks noGrp="1"/>
          </p:cNvSpPr>
          <p:nvPr>
            <p:ph type="sldNum" sz="quarter" idx="4"/>
          </p:nvPr>
        </p:nvSpPr>
        <p:spPr bwMode="auto">
          <a:xfrm>
            <a:off x="1325563" y="4929188"/>
            <a:ext cx="609600" cy="517525"/>
          </a:xfrm>
          <a:prstGeom prst="rect">
            <a:avLst/>
          </a:prstGeom>
        </p:spPr>
        <p:txBody>
          <a:bodyPr vert="horz" wrap="square" lIns="91440" tIns="45720" rIns="91440" bIns="45720" numCol="1" anchor="ctr" anchorCtr="0" compatLnSpc="1"/>
          <a:p>
            <a:pPr algn="ctr" fontAlgn="base"/>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ea typeface="SimSun"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8" name="Content Placeholder 7"/>
          <p:cNvSpPr>
            <a:spLocks noGrp="1"/>
          </p:cNvSpPr>
          <p:nvPr>
            <p:ph sz="quarter" idx="1"/>
          </p:nvPr>
        </p:nvSpPr>
        <p:spPr>
          <a:xfrm>
            <a:off x="457200" y="1600200"/>
            <a:ext cx="7467600" cy="4873752"/>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13" name="Date Placeholder 6"/>
          <p:cNvSpPr>
            <a:spLocks noGrp="1"/>
          </p:cNvSpPr>
          <p:nvPr>
            <p:ph type="dt" sz="half" idx="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E3E6020-0005-4AAB-A7F8-D1DD8D000814}"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15" name="Slide Number Placeholder 8"/>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
            <a:pPr algn="ctr" fontAlgn="base"/>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ea typeface="SimSun" panose="02010600030101010101" pitchFamily="2" charset="-122"/>
            </a:endParaRPr>
          </a:p>
        </p:txBody>
      </p:sp>
      <p:sp>
        <p:nvSpPr>
          <p:cNvPr id="17" name="Footer Placeholder 9"/>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bwMode="white">
      <p:bgRef idx="1001">
        <a:schemeClr val="bg2"/>
      </p:bgRef>
    </p:bg>
    <p:spTree>
      <p:nvGrpSpPr>
        <p:cNvPr id="1" name=""/>
        <p:cNvGrpSpPr/>
        <p:nvPr/>
      </p:nvGrpSpPr>
      <p:grpSpPr>
        <a:xfrm>
          <a:off x="0" y="0"/>
          <a:ext cx="0" cy="0"/>
          <a:chOff x="0" y="0"/>
          <a:chExt cx="0" cy="0"/>
        </a:xfrm>
      </p:grpSpPr>
      <p:sp>
        <p:nvSpPr>
          <p:cNvPr id="13" name="Rectangle 12"/>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7" name="Rectangle 16"/>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8" name="Rectangle 17"/>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9" name="Straight Connector 18"/>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0" name="Straight Connector 19"/>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1" name="Straight Connector 20"/>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4" name="Straight Connector 23"/>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5" name="Straight Connector 2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6" name="Rectangle 2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Oval 26"/>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Oval 27"/>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Oval 28"/>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Oval 29"/>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1" name="Oval 30"/>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2" name="Straight Connector 31"/>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fontAlgn="base"/>
            <a:r>
              <a:rPr lang="en-US" strike="noStrike" noProof="1" smtClean="0"/>
              <a:t>Click to edit Master text styles</a:t>
            </a:r>
            <a:endParaRPr lang="en-US" strike="noStrike" noProof="1" smtClean="0"/>
          </a:p>
        </p:txBody>
      </p:sp>
      <p:sp>
        <p:nvSpPr>
          <p:cNvPr id="33" name="Date Placeholder 3"/>
          <p:cNvSpPr>
            <a:spLocks noGrp="1"/>
          </p:cNvSpPr>
          <p:nvPr>
            <p:ph type="dt" sz="half" idx="2"/>
          </p:nvPr>
        </p:nvSpPr>
        <p:spPr bwMode="auto">
          <a:xfrm rot="5400000">
            <a:off x="7762875" y="1169988"/>
            <a:ext cx="2286000" cy="381000"/>
          </a:xfrm>
          <a:prstGeom prst="rect">
            <a:avLst/>
          </a:prstGeom>
        </p:spPr>
        <p:txBody>
          <a:bodyPr vert="horz"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647544B-C660-4F64-A94D-70831088913A}"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34" name="Footer Placeholder 4"/>
          <p:cNvSpPr>
            <a:spLocks noGrp="1"/>
          </p:cNvSpPr>
          <p:nvPr>
            <p:ph type="ftr" sz="quarter" idx="3"/>
          </p:nvPr>
        </p:nvSpPr>
        <p:spPr bwMode="auto">
          <a:xfrm rot="5400000">
            <a:off x="7077075" y="4178300"/>
            <a:ext cx="3657600" cy="38417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35" name="Slide Number Placeholder 5"/>
          <p:cNvSpPr>
            <a:spLocks noGrp="1"/>
          </p:cNvSpPr>
          <p:nvPr>
            <p:ph type="sldNum" sz="quarter" idx="4"/>
          </p:nvPr>
        </p:nvSpPr>
        <p:spPr bwMode="auto">
          <a:xfrm>
            <a:off x="1339850" y="4929188"/>
            <a:ext cx="609600" cy="517525"/>
          </a:xfrm>
          <a:prstGeom prst="rect">
            <a:avLst/>
          </a:prstGeom>
        </p:spPr>
        <p:txBody>
          <a:bodyPr vert="horz" wrap="square" lIns="91440" tIns="45720" rIns="91440" bIns="45720" numCol="1" anchor="ctr" anchorCtr="0" compatLnSpc="1"/>
          <a:p>
            <a:pPr algn="ctr" fontAlgn="base"/>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ea typeface="SimSun" panose="02010600030101010101" pitchFamily="2" charset="-122"/>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9" name="Content Placeholder 8"/>
          <p:cNvSpPr>
            <a:spLocks noGrp="1"/>
          </p:cNvSpPr>
          <p:nvPr>
            <p:ph sz="quarter" idx="1"/>
          </p:nvPr>
        </p:nvSpPr>
        <p:spPr>
          <a:xfrm>
            <a:off x="457200" y="1600200"/>
            <a:ext cx="3657600" cy="457200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11" name="Content Placeholder 10"/>
          <p:cNvSpPr>
            <a:spLocks noGrp="1"/>
          </p:cNvSpPr>
          <p:nvPr>
            <p:ph sz="quarter" idx="2"/>
          </p:nvPr>
        </p:nvSpPr>
        <p:spPr>
          <a:xfrm>
            <a:off x="4270248" y="1600200"/>
            <a:ext cx="3657600" cy="457200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3" name="Date Placeholder 2"/>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0B9D558-0220-4BCB-B17B-DB51A548D50B}"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pPr fontAlgn="base"/>
            <a:r>
              <a:rPr lang="en-US" strike="noStrike" noProof="1" smtClean="0"/>
              <a:t>Click to edit Master title style</a:t>
            </a:r>
            <a:endParaRPr lang="en-US" strike="noStrike" noProof="1"/>
          </a:p>
        </p:txBody>
      </p:sp>
      <p:sp>
        <p:nvSpPr>
          <p:cNvPr id="11" name="Content Placeholder 10"/>
          <p:cNvSpPr>
            <a:spLocks noGrp="1"/>
          </p:cNvSpPr>
          <p:nvPr>
            <p:ph sz="quarter" idx="2"/>
          </p:nvPr>
        </p:nvSpPr>
        <p:spPr>
          <a:xfrm>
            <a:off x="457200" y="2362200"/>
            <a:ext cx="3657600" cy="388620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13" name="Content Placeholder 12"/>
          <p:cNvSpPr>
            <a:spLocks noGrp="1"/>
          </p:cNvSpPr>
          <p:nvPr>
            <p:ph sz="quarter" idx="4"/>
          </p:nvPr>
        </p:nvSpPr>
        <p:spPr>
          <a:xfrm>
            <a:off x="4371975" y="2362200"/>
            <a:ext cx="3657600" cy="388620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fontAlgn="base"/>
            <a:r>
              <a:rPr lang="en-US" strike="noStrike" noProof="1" smtClean="0"/>
              <a:t>Click to edit Master text styles</a:t>
            </a:r>
            <a:endParaRPr lang="en-US" strike="noStrike" noProof="1" smtClean="0"/>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fontAlgn="base"/>
            <a:r>
              <a:rPr lang="en-US" strike="noStrike" noProof="1" smtClean="0"/>
              <a:t>Click to edit Master text styles</a:t>
            </a:r>
            <a:endParaRPr lang="en-US" strike="noStrike" noProof="1" smtClean="0"/>
          </a:p>
        </p:txBody>
      </p:sp>
      <p:sp>
        <p:nvSpPr>
          <p:cNvPr id="3" name="Date Placeholder 2"/>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0B9D558-0220-4BCB-B17B-DB51A548D50B}"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13" name="Date Placeholder 5"/>
          <p:cNvSpPr>
            <a:spLocks noGrp="1"/>
          </p:cNvSpPr>
          <p:nvPr>
            <p:ph type="dt" sz="half" idx="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54194BB-C8E1-4291-99CA-5386906841A1}"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15" name="Slide Number Placeholder 6"/>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
            <a:pPr algn="ctr" fontAlgn="base"/>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ea typeface="SimSun" panose="02010600030101010101" pitchFamily="2" charset="-122"/>
            </a:endParaRPr>
          </a:p>
        </p:txBody>
      </p:sp>
      <p:sp>
        <p:nvSpPr>
          <p:cNvPr id="17" name="Footer Placeholder 7"/>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0B9D558-0220-4BCB-B17B-DB51A548D50B}"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latin typeface="Tahom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3" name="Straight Connector 12"/>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ahoma" panose="020B0604030504040204" pitchFamily="34" charset="0"/>
              <a:ea typeface="+mn-ea"/>
              <a:cs typeface="+mn-cs"/>
            </a:endParaRPr>
          </a:p>
        </p:txBody>
      </p:sp>
      <p:sp>
        <p:nvSpPr>
          <p:cNvPr id="15" name="Straight Connector 14"/>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ahoma" panose="020B0604030504040204" pitchFamily="34" charset="0"/>
              <a:ea typeface="+mn-ea"/>
              <a:cs typeface="+mn-cs"/>
            </a:endParaRPr>
          </a:p>
        </p:txBody>
      </p:sp>
      <p:sp>
        <p:nvSpPr>
          <p:cNvPr id="17" name="Straight Connector 1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ahoma" panose="020B0604030504040204" pitchFamily="34" charset="0"/>
              <a:ea typeface="+mn-ea"/>
              <a:cs typeface="+mn-cs"/>
            </a:endParaRPr>
          </a:p>
        </p:txBody>
      </p:sp>
      <p:sp>
        <p:nvSpPr>
          <p:cNvPr id="4" name="Straight Connector 1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9" name="Rectangle 1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0" name="Straight Connector 1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1" name="Oval 2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fontAlgn="base"/>
            <a:r>
              <a:rPr lang="en-US" strike="noStrike" noProof="1" smtClean="0"/>
              <a:t>Click to edit Master text styles</a:t>
            </a:r>
            <a:endParaRPr lang="en-US" strike="noStrike" noProof="1" smtClean="0"/>
          </a:p>
        </p:txBody>
      </p:sp>
      <p:sp>
        <p:nvSpPr>
          <p:cNvPr id="18" name="Content Placeholder 17"/>
          <p:cNvSpPr>
            <a:spLocks noGrp="1"/>
          </p:cNvSpPr>
          <p:nvPr>
            <p:ph sz="quarter" idx="1"/>
          </p:nvPr>
        </p:nvSpPr>
        <p:spPr>
          <a:xfrm>
            <a:off x="304800" y="274320"/>
            <a:ext cx="5638800" cy="632764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24" name="Date Placeholder 20"/>
          <p:cNvSpPr>
            <a:spLocks noGrp="1"/>
          </p:cNvSpPr>
          <p:nvPr>
            <p:ph type="dt" sz="half" idx="1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29BCDA4-6D70-4477-87A7-D0F50D5FCC07}"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25" name="Slide Number Placeholder 21"/>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
            <a:pPr algn="ctr" fontAlgn="base"/>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ea typeface="SimSun" panose="02010600030101010101" pitchFamily="2" charset="-122"/>
            </a:endParaRPr>
          </a:p>
        </p:txBody>
      </p:sp>
      <p:sp>
        <p:nvSpPr>
          <p:cNvPr id="26" name="Footer Placeholder 22"/>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3" name="Straight Connector 12"/>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5" name="Oval 14"/>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Straight Connector 1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8" name="Rectangle 1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9" name="Straight Connector 1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20" name="Straight Connector 1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ahoma" panose="020B0604030504040204" pitchFamily="34" charset="0"/>
              <a:ea typeface="+mn-ea"/>
              <a:cs typeface="+mn-cs"/>
            </a:endParaRPr>
          </a:p>
        </p:txBody>
      </p:sp>
      <p:sp>
        <p:nvSpPr>
          <p:cNvPr id="21" name="Straight Connector 2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ahoma" panose="020B0604030504040204" pitchFamily="34" charset="0"/>
              <a:ea typeface="+mn-ea"/>
              <a:cs typeface="+mn-cs"/>
            </a:endParaRPr>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3200" b="0" i="0" u="none" strike="noStrike" kern="1200" cap="none" spc="0" normalizeH="0" baseline="0" noProof="0" smtClean="0">
                <a:ln>
                  <a:noFill/>
                </a:ln>
                <a:solidFill>
                  <a:schemeClr val="lt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fontAlgn="base"/>
            <a:r>
              <a:rPr lang="en-US" strike="noStrike" noProof="1" smtClean="0"/>
              <a:t>Click to edit Master text styles</a:t>
            </a:r>
            <a:endParaRPr lang="en-US" strike="noStrike" noProof="1" smtClean="0"/>
          </a:p>
        </p:txBody>
      </p:sp>
      <p:sp>
        <p:nvSpPr>
          <p:cNvPr id="24" name="Date Placeholder 16"/>
          <p:cNvSpPr>
            <a:spLocks noGrp="1"/>
          </p:cNvSpPr>
          <p:nvPr>
            <p:ph type="dt" sz="half" idx="1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AEECCB6-90DE-4E06-9946-FA0021312AD2}"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25" name="Slide Number Placeholder 17"/>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
            <a:pPr algn="ctr" fontAlgn="base"/>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ea typeface="SimSun" panose="02010600030101010101" pitchFamily="2" charset="-122"/>
            </a:endParaRPr>
          </a:p>
        </p:txBody>
      </p:sp>
      <p:sp>
        <p:nvSpPr>
          <p:cNvPr id="26" name="Footer Placeholder 20"/>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0B9D558-0220-4BCB-B17B-DB51A548D50B}"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latin typeface="Tahom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274638"/>
            <a:ext cx="6019800" cy="58515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0B9D558-0220-4BCB-B17B-DB51A548D50B}"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latin typeface="Tahom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Tahoma" panose="020B0604030504040204" pitchFamily="34" charset="0"/>
              <a:ea typeface="+mn-ea"/>
              <a:cs typeface="+mn-cs"/>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pPr fontAlgn="base"/>
            <a:r>
              <a:rPr lang="en-US" strike="noStrike" noProof="1" smtClean="0"/>
              <a:t>Click to edit Master title style</a:t>
            </a:r>
            <a:endParaRPr lang="en-US" strike="noStrike" noProof="1"/>
          </a:p>
        </p:txBody>
      </p:sp>
      <p:sp>
        <p:nvSpPr>
          <p:cNvPr id="1028" name="Text Placeholder 12"/>
          <p:cNvSpPr>
            <a:spLocks noGrp="1"/>
          </p:cNvSpPr>
          <p:nvPr>
            <p:ph type="body"/>
          </p:nvPr>
        </p:nvSpPr>
        <p:spPr>
          <a:xfrm>
            <a:off x="457200" y="1600200"/>
            <a:ext cx="7467600" cy="4873625"/>
          </a:xfrm>
          <a:prstGeom prst="rect">
            <a:avLst/>
          </a:prstGeom>
          <a:noFill/>
          <a:ln w="9525">
            <a:noFill/>
          </a:ln>
        </p:spPr>
        <p:txBody>
          <a:bodyPr anchor="t" anchorCtr="0"/>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4" name="Date Placeholder 13"/>
          <p:cNvSpPr>
            <a:spLocks noGrp="1"/>
          </p:cNvSpPr>
          <p:nvPr>
            <p:ph type="dt" sz="half" idx="2"/>
          </p:nvPr>
        </p:nvSpPr>
        <p:spPr>
          <a:xfrm rot="5400000">
            <a:off x="7589044" y="1081881"/>
            <a:ext cx="2011363" cy="384175"/>
          </a:xfrm>
          <a:prstGeom prst="rect">
            <a:avLst/>
          </a:prstGeom>
        </p:spPr>
        <p:txBody>
          <a:bodyPr vert="horz" anchor="ctr" anchorCtr="0"/>
          <a:lstStyle>
            <a:lvl1pPr algn="r" eaLnBrk="1" latinLnBrk="0" hangingPunct="1">
              <a:defRPr kumimoji="0" sz="1200">
                <a:solidFill>
                  <a:schemeClr val="tx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0B9D558-0220-4BCB-B17B-DB51A548D50B}" type="datetime4">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2"/>
              </a:solidFill>
              <a:effectLst/>
              <a:uLnTx/>
              <a:uFillTx/>
              <a:latin typeface="Tahoma" panose="020B0604030504040204" pitchFamily="34" charset="0"/>
              <a:ea typeface="+mn-ea"/>
              <a:cs typeface="+mn-cs"/>
            </a:endParaRP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lgn="ctr">
              <a:defRPr sz="1400" b="1">
                <a:solidFill>
                  <a:srgbClr val="FFFFFF"/>
                </a:solidFill>
                <a:ea typeface="SimSun" panose="02010600030101010101" pitchFamily="2" charset="-122"/>
              </a:defRPr>
            </a:lvl1pPr>
          </a:lstStyle>
          <a:p>
            <a:pPr lvl="0" eaLnBrk="1" fontAlgn="base" hangingPunct="1"/>
            <a:fld id="{9A0DB2DC-4C9A-4742-B13C-FB6460FD3503}" type="slidenum">
              <a:rPr lang="en-US" altLang="zh-CN" strike="noStrike" noProof="1" dirty="0">
                <a:latin typeface="Tahoma" panose="020B0604030504040204" pitchFamily="34" charset="0"/>
                <a:ea typeface="SimSun" panose="02010600030101010101" pitchFamily="2" charset="-122"/>
                <a:cs typeface="+mn-cs"/>
              </a:rPr>
            </a:fld>
            <a:endParaRPr lang="en-US" altLang="zh-CN" strike="noStrike" noProof="1"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anose="02040604050505020304" pitchFamily="18" charset="0"/>
        </a:defRPr>
      </a:lvl2pPr>
      <a:lvl3pPr algn="l" rtl="0" eaLnBrk="0" fontAlgn="base" hangingPunct="0">
        <a:spcBef>
          <a:spcPct val="0"/>
        </a:spcBef>
        <a:spcAft>
          <a:spcPct val="0"/>
        </a:spcAft>
        <a:defRPr sz="3000">
          <a:solidFill>
            <a:schemeClr val="tx2"/>
          </a:solidFill>
          <a:latin typeface="Century Schoolbook" panose="02040604050505020304" pitchFamily="18" charset="0"/>
        </a:defRPr>
      </a:lvl3pPr>
      <a:lvl4pPr algn="l" rtl="0" eaLnBrk="0" fontAlgn="base" hangingPunct="0">
        <a:spcBef>
          <a:spcPct val="0"/>
        </a:spcBef>
        <a:spcAft>
          <a:spcPct val="0"/>
        </a:spcAft>
        <a:defRPr sz="3000">
          <a:solidFill>
            <a:schemeClr val="tx2"/>
          </a:solidFill>
          <a:latin typeface="Century Schoolbook" panose="02040604050505020304" pitchFamily="18" charset="0"/>
        </a:defRPr>
      </a:lvl4pPr>
      <a:lvl5pPr algn="l" rtl="0" eaLnBrk="0" fontAlgn="base" hangingPunct="0">
        <a:spcBef>
          <a:spcPct val="0"/>
        </a:spcBef>
        <a:spcAft>
          <a:spcPct val="0"/>
        </a:spcAft>
        <a:defRPr sz="3000">
          <a:solidFill>
            <a:schemeClr val="tx2"/>
          </a:solidFill>
          <a:latin typeface="Century Schoolbook" panose="02040604050505020304" pitchFamily="18" charset="0"/>
        </a:defRPr>
      </a:lvl5pPr>
      <a:lvl6pPr marL="457200" algn="l" rtl="0" fontAlgn="base">
        <a:spcBef>
          <a:spcPct val="0"/>
        </a:spcBef>
        <a:spcAft>
          <a:spcPct val="0"/>
        </a:spcAft>
        <a:defRPr sz="3000">
          <a:solidFill>
            <a:schemeClr val="tx2"/>
          </a:solidFill>
          <a:latin typeface="Century Schoolbook" panose="02040604050505020304" pitchFamily="18" charset="0"/>
        </a:defRPr>
      </a:lvl6pPr>
      <a:lvl7pPr marL="914400" algn="l" rtl="0" fontAlgn="base">
        <a:spcBef>
          <a:spcPct val="0"/>
        </a:spcBef>
        <a:spcAft>
          <a:spcPct val="0"/>
        </a:spcAft>
        <a:defRPr sz="3000">
          <a:solidFill>
            <a:schemeClr val="tx2"/>
          </a:solidFill>
          <a:latin typeface="Century Schoolbook" panose="02040604050505020304" pitchFamily="18" charset="0"/>
        </a:defRPr>
      </a:lvl7pPr>
      <a:lvl8pPr marL="1371600" algn="l" rtl="0" fontAlgn="base">
        <a:spcBef>
          <a:spcPct val="0"/>
        </a:spcBef>
        <a:spcAft>
          <a:spcPct val="0"/>
        </a:spcAft>
        <a:defRPr sz="3000">
          <a:solidFill>
            <a:schemeClr val="tx2"/>
          </a:solidFill>
          <a:latin typeface="Century Schoolbook" panose="02040604050505020304" pitchFamily="18" charset="0"/>
        </a:defRPr>
      </a:lvl8pPr>
      <a:lvl9pPr marL="1828800" algn="l" rtl="0" fontAlgn="base">
        <a:spcBef>
          <a:spcPct val="0"/>
        </a:spcBef>
        <a:spcAft>
          <a:spcPct val="0"/>
        </a:spcAft>
        <a:defRPr sz="3000">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1307B"/>
        </a:buClr>
        <a:buSzPct val="60000"/>
        <a:buFont typeface="Wingdings" panose="05000000000000000000" pitchFamily="2" charset="2"/>
        <a:buChar char=""/>
        <a:defRPr sz="2400"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FAEC5"/>
        </a:buClr>
        <a:buSzPct val="60000"/>
        <a:buFont typeface="Wingdings" panose="05000000000000000000" pitchFamily="2" charset="2"/>
        <a:buChar char=""/>
        <a:defRPr sz="2000"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EFAAB5"/>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 Id="rId3" Type="http://schemas.openxmlformats.org/officeDocument/2006/relationships/oleObject" Target="../embeddings/oleObject4.bin"/><Relationship Id="rId2" Type="http://schemas.openxmlformats.org/officeDocument/2006/relationships/image" Target="../media/image4.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8.wmf"/><Relationship Id="rId3" Type="http://schemas.openxmlformats.org/officeDocument/2006/relationships/oleObject" Target="../embeddings/oleObject7.bin"/><Relationship Id="rId2" Type="http://schemas.openxmlformats.org/officeDocument/2006/relationships/image" Target="../media/image7.wmf"/><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1.wmf"/><Relationship Id="rId3" Type="http://schemas.openxmlformats.org/officeDocument/2006/relationships/oleObject" Target="../embeddings/oleObject10.bin"/><Relationship Id="rId2" Type="http://schemas.openxmlformats.org/officeDocument/2006/relationships/image" Target="../media/image10.wmf"/><Relationship Id="rId1"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14.bin"/><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oleObject" Target="../embeddings/oleObject17.bin"/><Relationship Id="rId2" Type="http://schemas.openxmlformats.org/officeDocument/2006/relationships/image" Target="../media/image17.wmf"/><Relationship Id="rId1"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oleObject" Target="../embeddings/oleObject19.bin"/><Relationship Id="rId2" Type="http://schemas.openxmlformats.org/officeDocument/2006/relationships/image" Target="../media/image19.wmf"/><Relationship Id="rId1" Type="http://schemas.openxmlformats.org/officeDocument/2006/relationships/oleObject" Target="../embeddings/oleObject18.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4.emf"/><Relationship Id="rId7" Type="http://schemas.openxmlformats.org/officeDocument/2006/relationships/oleObject" Target="../embeddings/oleObject23.bin"/><Relationship Id="rId6" Type="http://schemas.openxmlformats.org/officeDocument/2006/relationships/image" Target="../media/image23.emf"/><Relationship Id="rId5" Type="http://schemas.openxmlformats.org/officeDocument/2006/relationships/oleObject" Target="../embeddings/oleObject22.bin"/><Relationship Id="rId4" Type="http://schemas.openxmlformats.org/officeDocument/2006/relationships/image" Target="../media/image22.emf"/><Relationship Id="rId3" Type="http://schemas.openxmlformats.org/officeDocument/2006/relationships/oleObject" Target="../embeddings/oleObject21.bin"/><Relationship Id="rId2" Type="http://schemas.openxmlformats.org/officeDocument/2006/relationships/image" Target="../media/image21.emf"/><Relationship Id="rId10" Type="http://schemas.openxmlformats.org/officeDocument/2006/relationships/vmlDrawing" Target="../drawings/vmlDrawing12.vml"/><Relationship Id="rId1" Type="http://schemas.openxmlformats.org/officeDocument/2006/relationships/oleObject" Target="../embeddings/oleObject20.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hyperlink" Target="http://people.revoledu.com/kardi/tutorial/Similarity/EuclideanDistance.html" TargetMode="External"/><Relationship Id="rId2" Type="http://schemas.openxmlformats.org/officeDocument/2006/relationships/image" Target="../media/image27.png"/><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hyperlink" Target="http://en.wikipedia.org/wiki/Minkowski_distance" TargetMode="Externa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54.wmf"/><Relationship Id="rId5" Type="http://schemas.openxmlformats.org/officeDocument/2006/relationships/oleObject" Target="../embeddings/oleObject26.bin"/><Relationship Id="rId4" Type="http://schemas.openxmlformats.org/officeDocument/2006/relationships/image" Target="../media/image53.wmf"/><Relationship Id="rId3" Type="http://schemas.openxmlformats.org/officeDocument/2006/relationships/oleObject" Target="../embeddings/oleObject25.bin"/><Relationship Id="rId2" Type="http://schemas.openxmlformats.org/officeDocument/2006/relationships/image" Target="../media/image52.wmf"/><Relationship Id="rId1" Type="http://schemas.openxmlformats.org/officeDocument/2006/relationships/oleObject" Target="../embeddings/oleObject24.bin"/></Relationships>
</file>

<file path=ppt/slides/_rels/slide8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7.wmf"/><Relationship Id="rId7" Type="http://schemas.openxmlformats.org/officeDocument/2006/relationships/oleObject" Target="../embeddings/oleObject30.bin"/><Relationship Id="rId6" Type="http://schemas.openxmlformats.org/officeDocument/2006/relationships/image" Target="../media/image52.wmf"/><Relationship Id="rId5" Type="http://schemas.openxmlformats.org/officeDocument/2006/relationships/oleObject" Target="../embeddings/oleObject29.bin"/><Relationship Id="rId4" Type="http://schemas.openxmlformats.org/officeDocument/2006/relationships/image" Target="../media/image56.wmf"/><Relationship Id="rId3" Type="http://schemas.openxmlformats.org/officeDocument/2006/relationships/oleObject" Target="../embeddings/oleObject28.bin"/><Relationship Id="rId2" Type="http://schemas.openxmlformats.org/officeDocument/2006/relationships/image" Target="../media/image55.wmf"/><Relationship Id="rId10" Type="http://schemas.openxmlformats.org/officeDocument/2006/relationships/vmlDrawing" Target="../drawings/vmlDrawing14.vml"/><Relationship Id="rId1" Type="http://schemas.openxmlformats.org/officeDocument/2006/relationships/oleObject" Target="../embeddings/oleObject27.bin"/></Relationships>
</file>

<file path=ppt/slides/_rels/slide8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8.wmf"/><Relationship Id="rId7" Type="http://schemas.openxmlformats.org/officeDocument/2006/relationships/oleObject" Target="../embeddings/oleObject34.bin"/><Relationship Id="rId6" Type="http://schemas.openxmlformats.org/officeDocument/2006/relationships/image" Target="../media/image52.wmf"/><Relationship Id="rId5" Type="http://schemas.openxmlformats.org/officeDocument/2006/relationships/oleObject" Target="../embeddings/oleObject33.bin"/><Relationship Id="rId4" Type="http://schemas.openxmlformats.org/officeDocument/2006/relationships/image" Target="../media/image56.wmf"/><Relationship Id="rId3" Type="http://schemas.openxmlformats.org/officeDocument/2006/relationships/oleObject" Target="../embeddings/oleObject32.bin"/><Relationship Id="rId2" Type="http://schemas.openxmlformats.org/officeDocument/2006/relationships/image" Target="../media/image55.wmf"/><Relationship Id="rId10" Type="http://schemas.openxmlformats.org/officeDocument/2006/relationships/vmlDrawing" Target="../drawings/vmlDrawing15.vml"/><Relationship Id="rId1" Type="http://schemas.openxmlformats.org/officeDocument/2006/relationships/oleObject" Target="../embeddings/oleObject31.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2.xml"/><Relationship Id="rId6" Type="http://schemas.openxmlformats.org/officeDocument/2006/relationships/image" Target="../media/image60.wmf"/><Relationship Id="rId5" Type="http://schemas.openxmlformats.org/officeDocument/2006/relationships/oleObject" Target="../embeddings/oleObject37.bin"/><Relationship Id="rId4" Type="http://schemas.openxmlformats.org/officeDocument/2006/relationships/image" Target="../media/image59.wmf"/><Relationship Id="rId3" Type="http://schemas.openxmlformats.org/officeDocument/2006/relationships/oleObject" Target="../embeddings/oleObject36.bin"/><Relationship Id="rId2" Type="http://schemas.openxmlformats.org/officeDocument/2006/relationships/image" Target="../media/image52.wmf"/><Relationship Id="rId1" Type="http://schemas.openxmlformats.org/officeDocument/2006/relationships/oleObject" Target="../embeddings/oleObject35.bin"/></Relationships>
</file>

<file path=ppt/slides/_rels/slide8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3.wmf"/><Relationship Id="rId7" Type="http://schemas.openxmlformats.org/officeDocument/2006/relationships/oleObject" Target="../embeddings/oleObject41.bin"/><Relationship Id="rId6" Type="http://schemas.openxmlformats.org/officeDocument/2006/relationships/image" Target="../media/image62.wmf"/><Relationship Id="rId5" Type="http://schemas.openxmlformats.org/officeDocument/2006/relationships/oleObject" Target="../embeddings/oleObject40.bin"/><Relationship Id="rId4" Type="http://schemas.openxmlformats.org/officeDocument/2006/relationships/image" Target="../media/image61.wmf"/><Relationship Id="rId3" Type="http://schemas.openxmlformats.org/officeDocument/2006/relationships/oleObject" Target="../embeddings/oleObject39.bin"/><Relationship Id="rId2" Type="http://schemas.openxmlformats.org/officeDocument/2006/relationships/image" Target="../media/image52.wmf"/><Relationship Id="rId10" Type="http://schemas.openxmlformats.org/officeDocument/2006/relationships/vmlDrawing" Target="../drawings/vmlDrawing17.vml"/><Relationship Id="rId1" Type="http://schemas.openxmlformats.org/officeDocument/2006/relationships/oleObject" Target="../embeddings/oleObject38.bin"/></Relationships>
</file>

<file path=ppt/slides/_rels/slide8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4.wmf"/><Relationship Id="rId7" Type="http://schemas.openxmlformats.org/officeDocument/2006/relationships/oleObject" Target="../embeddings/oleObject45.bin"/><Relationship Id="rId6" Type="http://schemas.openxmlformats.org/officeDocument/2006/relationships/image" Target="../media/image62.wmf"/><Relationship Id="rId5" Type="http://schemas.openxmlformats.org/officeDocument/2006/relationships/oleObject" Target="../embeddings/oleObject44.bin"/><Relationship Id="rId4" Type="http://schemas.openxmlformats.org/officeDocument/2006/relationships/image" Target="../media/image61.wmf"/><Relationship Id="rId3" Type="http://schemas.openxmlformats.org/officeDocument/2006/relationships/oleObject" Target="../embeddings/oleObject43.bin"/><Relationship Id="rId2" Type="http://schemas.openxmlformats.org/officeDocument/2006/relationships/image" Target="../media/image52.wmf"/><Relationship Id="rId10" Type="http://schemas.openxmlformats.org/officeDocument/2006/relationships/vmlDrawing" Target="../drawings/vmlDrawing18.vml"/><Relationship Id="rId1" Type="http://schemas.openxmlformats.org/officeDocument/2006/relationships/oleObject" Target="../embeddings/oleObject42.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2.xml"/><Relationship Id="rId6" Type="http://schemas.openxmlformats.org/officeDocument/2006/relationships/image" Target="../media/image66.wmf"/><Relationship Id="rId5" Type="http://schemas.openxmlformats.org/officeDocument/2006/relationships/oleObject" Target="../embeddings/oleObject48.bin"/><Relationship Id="rId4" Type="http://schemas.openxmlformats.org/officeDocument/2006/relationships/image" Target="../media/image65.wmf"/><Relationship Id="rId3" Type="http://schemas.openxmlformats.org/officeDocument/2006/relationships/oleObject" Target="../embeddings/oleObject47.bin"/><Relationship Id="rId2" Type="http://schemas.openxmlformats.org/officeDocument/2006/relationships/image" Target="../media/image52.wmf"/><Relationship Id="rId1" Type="http://schemas.openxmlformats.org/officeDocument/2006/relationships/oleObject" Target="../embeddings/oleObject46.bin"/></Relationships>
</file>

<file path=ppt/slides/_rels/slide9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9.wmf"/><Relationship Id="rId7" Type="http://schemas.openxmlformats.org/officeDocument/2006/relationships/oleObject" Target="../embeddings/oleObject52.bin"/><Relationship Id="rId6" Type="http://schemas.openxmlformats.org/officeDocument/2006/relationships/image" Target="../media/image68.wmf"/><Relationship Id="rId5" Type="http://schemas.openxmlformats.org/officeDocument/2006/relationships/oleObject" Target="../embeddings/oleObject51.bin"/><Relationship Id="rId4" Type="http://schemas.openxmlformats.org/officeDocument/2006/relationships/image" Target="../media/image67.wmf"/><Relationship Id="rId3" Type="http://schemas.openxmlformats.org/officeDocument/2006/relationships/oleObject" Target="../embeddings/oleObject50.bin"/><Relationship Id="rId2" Type="http://schemas.openxmlformats.org/officeDocument/2006/relationships/image" Target="../media/image52.wmf"/><Relationship Id="rId10" Type="http://schemas.openxmlformats.org/officeDocument/2006/relationships/vmlDrawing" Target="../drawings/vmlDrawing20.vml"/><Relationship Id="rId1" Type="http://schemas.openxmlformats.org/officeDocument/2006/relationships/oleObject" Target="../embeddings/oleObject49.bin"/></Relationships>
</file>

<file path=ppt/slides/_rels/slide9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1.wmf"/><Relationship Id="rId7" Type="http://schemas.openxmlformats.org/officeDocument/2006/relationships/oleObject" Target="../embeddings/oleObject56.bin"/><Relationship Id="rId6" Type="http://schemas.openxmlformats.org/officeDocument/2006/relationships/image" Target="../media/image70.wmf"/><Relationship Id="rId5" Type="http://schemas.openxmlformats.org/officeDocument/2006/relationships/oleObject" Target="../embeddings/oleObject55.bin"/><Relationship Id="rId4" Type="http://schemas.openxmlformats.org/officeDocument/2006/relationships/image" Target="../media/image67.wmf"/><Relationship Id="rId3" Type="http://schemas.openxmlformats.org/officeDocument/2006/relationships/oleObject" Target="../embeddings/oleObject54.bin"/><Relationship Id="rId2" Type="http://schemas.openxmlformats.org/officeDocument/2006/relationships/image" Target="../media/image52.wmf"/><Relationship Id="rId10" Type="http://schemas.openxmlformats.org/officeDocument/2006/relationships/vmlDrawing" Target="../drawings/vmlDrawing21.vml"/><Relationship Id="rId1" Type="http://schemas.openxmlformats.org/officeDocument/2006/relationships/oleObject" Target="../embeddings/oleObject53.bin"/></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72.emf"/><Relationship Id="rId1" Type="http://schemas.openxmlformats.org/officeDocument/2006/relationships/oleObject" Target="../embeddings/oleObject57.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2.xml"/><Relationship Id="rId6" Type="http://schemas.openxmlformats.org/officeDocument/2006/relationships/image" Target="../media/image76.wmf"/><Relationship Id="rId5" Type="http://schemas.openxmlformats.org/officeDocument/2006/relationships/oleObject" Target="../embeddings/oleObject60.bin"/><Relationship Id="rId4" Type="http://schemas.openxmlformats.org/officeDocument/2006/relationships/image" Target="../media/image75.wmf"/><Relationship Id="rId3" Type="http://schemas.openxmlformats.org/officeDocument/2006/relationships/oleObject" Target="../embeddings/oleObject59.bin"/><Relationship Id="rId2" Type="http://schemas.openxmlformats.org/officeDocument/2006/relationships/image" Target="../media/image74.wmf"/><Relationship Id="rId1" Type="http://schemas.openxmlformats.org/officeDocument/2006/relationships/oleObject" Target="../embeddings/oleObject58.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7.xml"/><Relationship Id="rId6" Type="http://schemas.openxmlformats.org/officeDocument/2006/relationships/image" Target="../media/image79.wmf"/><Relationship Id="rId5" Type="http://schemas.openxmlformats.org/officeDocument/2006/relationships/oleObject" Target="../embeddings/oleObject63.bin"/><Relationship Id="rId4" Type="http://schemas.openxmlformats.org/officeDocument/2006/relationships/image" Target="../media/image78.wmf"/><Relationship Id="rId3" Type="http://schemas.openxmlformats.org/officeDocument/2006/relationships/oleObject" Target="../embeddings/oleObject62.bin"/><Relationship Id="rId2" Type="http://schemas.openxmlformats.org/officeDocument/2006/relationships/image" Target="../media/image77.wmf"/><Relationship Id="rId1" Type="http://schemas.openxmlformats.org/officeDocument/2006/relationships/oleObject" Target="../embeddings/oleObject61.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3.wmf"/><Relationship Id="rId7" Type="http://schemas.openxmlformats.org/officeDocument/2006/relationships/oleObject" Target="../embeddings/oleObject67.bin"/><Relationship Id="rId6" Type="http://schemas.openxmlformats.org/officeDocument/2006/relationships/image" Target="../media/image82.wmf"/><Relationship Id="rId5" Type="http://schemas.openxmlformats.org/officeDocument/2006/relationships/oleObject" Target="../embeddings/oleObject66.bin"/><Relationship Id="rId4" Type="http://schemas.openxmlformats.org/officeDocument/2006/relationships/image" Target="../media/image81.wmf"/><Relationship Id="rId3" Type="http://schemas.openxmlformats.org/officeDocument/2006/relationships/oleObject" Target="../embeddings/oleObject65.bin"/><Relationship Id="rId2" Type="http://schemas.openxmlformats.org/officeDocument/2006/relationships/image" Target="../media/image80.wmf"/><Relationship Id="rId10" Type="http://schemas.openxmlformats.org/officeDocument/2006/relationships/vmlDrawing" Target="../drawings/vmlDrawing25.vml"/><Relationship Id="rId1" Type="http://schemas.openxmlformats.org/officeDocument/2006/relationships/oleObject" Target="../embeddings/oleObject64.bin"/></Relationships>
</file>

<file path=ppt/slides/_rels/slide1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1.png"/><Relationship Id="rId1" Type="http://schemas.openxmlformats.org/officeDocument/2006/relationships/image" Target="../media/image90.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97.wmf"/><Relationship Id="rId1" Type="http://schemas.openxmlformats.org/officeDocument/2006/relationships/oleObject" Target="../embeddings/oleObject6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noChangeArrowheads="1"/>
          </p:cNvSpPr>
          <p:nvPr>
            <p:ph type="title"/>
          </p:nvPr>
        </p:nvSpPr>
        <p:spPr>
          <a:xfrm>
            <a:off x="457200" y="838200"/>
            <a:ext cx="8077200" cy="1219200"/>
          </a:xfr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4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Cluster Analysis</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Tahoma" panose="020B0604030504040204" pitchFamily="34" charset="0"/>
            </a:endParaRPr>
          </a:p>
        </p:txBody>
      </p:sp>
      <p:sp>
        <p:nvSpPr>
          <p:cNvPr id="10242"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243"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381000" y="2286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AU" altLang="zh-TW" sz="3000" b="0" i="0" u="none" strike="noStrike" kern="1200" cap="small" spc="0" normalizeH="0" baseline="0" noProof="1" dirty="0">
                <a:solidFill>
                  <a:srgbClr val="D519FF"/>
                </a:solidFill>
                <a:latin typeface="+mj-lt"/>
                <a:ea typeface="PMingLiU" pitchFamily="18" charset="-120"/>
                <a:cs typeface="+mj-cs"/>
              </a:rPr>
              <a:t>Cluster Analysis</a:t>
            </a:r>
            <a:endParaRPr kumimoji="0" lang="en-US" altLang="zh-CN" sz="3000" b="0" i="0" u="none" strike="noStrike" kern="1200" cap="small" spc="0" normalizeH="0" baseline="0" noProof="1" dirty="0">
              <a:solidFill>
                <a:srgbClr val="D519FF"/>
              </a:solidFill>
              <a:latin typeface="+mj-lt"/>
              <a:ea typeface="PMingLiU" pitchFamily="18" charset="-120"/>
              <a:cs typeface="+mj-cs"/>
            </a:endParaRPr>
          </a:p>
        </p:txBody>
      </p:sp>
      <p:sp>
        <p:nvSpPr>
          <p:cNvPr id="22534"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hlink"/>
                </a:solidFill>
                <a:effectLst/>
                <a:uLnTx/>
                <a:uFillTx/>
                <a:latin typeface="+mn-lt"/>
                <a:ea typeface="+mn-ea"/>
                <a:cs typeface="+mn-cs"/>
              </a:rPr>
              <a:t>What is Cluster Analysis?</a:t>
            </a:r>
            <a:endParaRPr kumimoji="0" lang="en-US" sz="2400" b="0" i="0" u="none" strike="noStrike" kern="1200" cap="none" spc="0" normalizeH="0" baseline="0" noProof="0" dirty="0" smtClean="0">
              <a:ln>
                <a:noFill/>
              </a:ln>
              <a:solidFill>
                <a:schemeClr val="hlink"/>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26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26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3554" name="Rectangle 2"/>
          <p:cNvSpPr>
            <a:spLocks noGrp="1" noChangeArrowheads="1"/>
          </p:cNvSpPr>
          <p:nvPr>
            <p:ph type="title"/>
          </p:nvPr>
        </p:nvSpPr>
        <p:spPr>
          <a:xfrm>
            <a:off x="228600" y="228600"/>
            <a:ext cx="7297738" cy="7826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What is Cluster Analysis?</a:t>
            </a:r>
            <a:endParaRPr kumimoji="0" lang="en-US" sz="30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5603" name="Rectangle 3"/>
          <p:cNvSpPr>
            <a:spLocks noGrp="1" noChangeArrowheads="1"/>
          </p:cNvSpPr>
          <p:nvPr>
            <p:ph sz="quarter" idx="1"/>
          </p:nvPr>
        </p:nvSpPr>
        <p:spPr>
          <a:xfrm>
            <a:off x="381000" y="1600200"/>
            <a:ext cx="8077200" cy="36576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9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Cluster: a collection of data objects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Similar to one another within the same cluster</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Dissimilar to the objects in other clusters</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Cluster analysis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Grouping a set of data objects into clusters</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Clustering is </a:t>
            </a:r>
            <a:r>
              <a:rPr kumimoji="0" lang="en-US" sz="2400" b="0" i="0" u="none" strike="noStrike" kern="1200" cap="none" spc="0" normalizeH="0" baseline="0" noProof="0" dirty="0" smtClean="0">
                <a:ln>
                  <a:noFill/>
                </a:ln>
                <a:solidFill>
                  <a:schemeClr val="hlink"/>
                </a:solidFill>
                <a:effectLst/>
                <a:uLnTx/>
                <a:uFillTx/>
                <a:latin typeface="+mn-lt"/>
                <a:ea typeface="+mn-ea"/>
                <a:cs typeface="+mn-cs"/>
              </a:rPr>
              <a:t>unsupervised classification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no predefined classes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Typical applications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As a </a:t>
            </a:r>
            <a:r>
              <a:rPr kumimoji="0" lang="en-US" sz="2100" b="0" i="0" u="none" strike="noStrike" kern="1200" cap="none" spc="0" normalizeH="0" baseline="0" noProof="0" dirty="0" smtClean="0">
                <a:ln>
                  <a:noFill/>
                </a:ln>
                <a:solidFill>
                  <a:schemeClr val="hlink"/>
                </a:solidFill>
                <a:effectLst/>
                <a:uLnTx/>
                <a:uFillTx/>
                <a:latin typeface="+mn-lt"/>
                <a:ea typeface="+mn-ea"/>
                <a:cs typeface="+mn-cs"/>
              </a:rPr>
              <a:t>stand-alone tool</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to get insight into data distribution </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As a </a:t>
            </a:r>
            <a:r>
              <a:rPr kumimoji="0" lang="en-US" sz="2100" b="0" i="0" u="none" strike="noStrike" kern="1200" cap="none" spc="0" normalizeH="0" baseline="0" noProof="0" dirty="0" smtClean="0">
                <a:ln>
                  <a:noFill/>
                </a:ln>
                <a:solidFill>
                  <a:schemeClr val="hlink"/>
                </a:solidFill>
                <a:effectLst/>
                <a:uLnTx/>
                <a:uFillTx/>
                <a:latin typeface="+mn-lt"/>
                <a:ea typeface="+mn-ea"/>
                <a:cs typeface="+mn-cs"/>
              </a:rPr>
              <a:t>preprocessing step</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for other algorithms</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ChangeArrowheads="1"/>
          </p:cNvSpPr>
          <p:nvPr>
            <p:ph type="title"/>
          </p:nvPr>
        </p:nvSpPr>
        <p:spPr>
          <a:xfrm>
            <a:off x="304800" y="381000"/>
            <a:ext cx="7297738" cy="782638"/>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General Applications of Clustering </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14338" name="Rectangle 3"/>
          <p:cNvSpPr>
            <a:spLocks noGrp="1"/>
          </p:cNvSpPr>
          <p:nvPr>
            <p:ph sz="quarter" idx="1"/>
          </p:nvPr>
        </p:nvSpPr>
        <p:spPr>
          <a:xfrm>
            <a:off x="304800" y="1524000"/>
            <a:ext cx="8458200" cy="4876800"/>
          </a:xfrm>
          <a:ln/>
        </p:spPr>
        <p:txBody>
          <a:bodyPr vert="horz" wrap="square" lIns="92075" tIns="46038" rIns="92075" bIns="46038" anchor="t" anchorCtr="0"/>
          <a:p>
            <a:pPr algn="just" eaLnBrk="1" hangingPunct="1">
              <a:lnSpc>
                <a:spcPct val="90000"/>
              </a:lnSpc>
              <a:buClr>
                <a:schemeClr val="accent1"/>
              </a:buClr>
              <a:buSzPct val="70000"/>
              <a:buFont typeface="Wingdings" panose="05000000000000000000" pitchFamily="2" charset="2"/>
            </a:pPr>
            <a:r>
              <a:rPr lang="en-US" dirty="0"/>
              <a:t>Pattern Recognition</a:t>
            </a:r>
            <a:endParaRPr lang="en-US" dirty="0"/>
          </a:p>
          <a:p>
            <a:pPr algn="just" eaLnBrk="1" hangingPunct="1">
              <a:lnSpc>
                <a:spcPct val="90000"/>
              </a:lnSpc>
              <a:buClr>
                <a:schemeClr val="accent1"/>
              </a:buClr>
              <a:buSzPct val="70000"/>
              <a:buFont typeface="Wingdings" panose="05000000000000000000" pitchFamily="2" charset="2"/>
            </a:pPr>
            <a:r>
              <a:rPr lang="en-US" dirty="0"/>
              <a:t>Spatial Data Analysis </a:t>
            </a:r>
            <a:endParaRPr lang="en-US" dirty="0"/>
          </a:p>
          <a:p>
            <a:pPr lvl="1" algn="just" eaLnBrk="1" hangingPunct="1">
              <a:lnSpc>
                <a:spcPct val="90000"/>
              </a:lnSpc>
              <a:buClr>
                <a:schemeClr val="accent1"/>
              </a:buClr>
              <a:buSzPct val="80000"/>
              <a:buFont typeface="Wingdings 2" panose="05020102010507070707" pitchFamily="18" charset="2"/>
            </a:pPr>
            <a:r>
              <a:rPr lang="en-US" dirty="0"/>
              <a:t>Create thematic maps in GIS by clustering feature spaces</a:t>
            </a:r>
            <a:endParaRPr lang="en-US" dirty="0"/>
          </a:p>
          <a:p>
            <a:pPr lvl="1" algn="just" eaLnBrk="1" hangingPunct="1">
              <a:lnSpc>
                <a:spcPct val="90000"/>
              </a:lnSpc>
              <a:buClr>
                <a:schemeClr val="accent1"/>
              </a:buClr>
              <a:buSzPct val="80000"/>
              <a:buFont typeface="Wingdings 2" panose="05020102010507070707" pitchFamily="18" charset="2"/>
            </a:pPr>
            <a:r>
              <a:rPr lang="en-US" dirty="0"/>
              <a:t>Detect spatial clusters and explain them in spatial data mining</a:t>
            </a:r>
            <a:endParaRPr lang="en-US" dirty="0"/>
          </a:p>
          <a:p>
            <a:pPr algn="just" eaLnBrk="1" hangingPunct="1">
              <a:lnSpc>
                <a:spcPct val="90000"/>
              </a:lnSpc>
              <a:buClr>
                <a:schemeClr val="accent1"/>
              </a:buClr>
              <a:buSzPct val="70000"/>
              <a:buFont typeface="Wingdings" panose="05000000000000000000" pitchFamily="2" charset="2"/>
            </a:pPr>
            <a:r>
              <a:rPr lang="en-US" dirty="0"/>
              <a:t>Image Processing</a:t>
            </a:r>
            <a:endParaRPr lang="en-US" dirty="0"/>
          </a:p>
          <a:p>
            <a:pPr algn="just" eaLnBrk="1" hangingPunct="1">
              <a:lnSpc>
                <a:spcPct val="90000"/>
              </a:lnSpc>
              <a:buClr>
                <a:schemeClr val="accent1"/>
              </a:buClr>
              <a:buSzPct val="70000"/>
              <a:buFont typeface="Wingdings" panose="05000000000000000000" pitchFamily="2" charset="2"/>
            </a:pPr>
            <a:r>
              <a:rPr lang="en-US" dirty="0"/>
              <a:t>Economic Science (especially market research)</a:t>
            </a:r>
            <a:endParaRPr lang="en-US" dirty="0"/>
          </a:p>
          <a:p>
            <a:pPr algn="just" eaLnBrk="1" hangingPunct="1">
              <a:lnSpc>
                <a:spcPct val="90000"/>
              </a:lnSpc>
              <a:buClr>
                <a:schemeClr val="accent1"/>
              </a:buClr>
              <a:buSzPct val="70000"/>
              <a:buFont typeface="Wingdings" panose="05000000000000000000" pitchFamily="2" charset="2"/>
            </a:pPr>
            <a:r>
              <a:rPr lang="en-US" dirty="0"/>
              <a:t>WWW</a:t>
            </a:r>
            <a:endParaRPr lang="en-US" dirty="0"/>
          </a:p>
          <a:p>
            <a:pPr lvl="1" algn="just" eaLnBrk="1" hangingPunct="1">
              <a:lnSpc>
                <a:spcPct val="90000"/>
              </a:lnSpc>
              <a:buClr>
                <a:schemeClr val="accent1"/>
              </a:buClr>
              <a:buSzPct val="80000"/>
              <a:buFont typeface="Wingdings 2" panose="05020102010507070707" pitchFamily="18" charset="2"/>
            </a:pPr>
            <a:r>
              <a:rPr lang="en-US" dirty="0"/>
              <a:t>Document classification</a:t>
            </a:r>
            <a:endParaRPr lang="en-US" dirty="0"/>
          </a:p>
          <a:p>
            <a:pPr lvl="1" algn="just" eaLnBrk="1" hangingPunct="1">
              <a:lnSpc>
                <a:spcPct val="90000"/>
              </a:lnSpc>
              <a:buClr>
                <a:schemeClr val="accent1"/>
              </a:buClr>
              <a:buSzPct val="80000"/>
              <a:buFont typeface="Wingdings 2" panose="05020102010507070707" pitchFamily="18" charset="2"/>
            </a:pPr>
            <a:r>
              <a:rPr lang="en-US" dirty="0"/>
              <a:t>Cluster Weblog data to discover groups of similar access patterns</a:t>
            </a:r>
            <a:endParaRPr lang="en-US" dirty="0"/>
          </a:p>
        </p:txBody>
      </p:sp>
      <p:sp>
        <p:nvSpPr>
          <p:cNvPr id="1433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34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5" name="Rectangle 2"/>
          <p:cNvSpPr>
            <a:spLocks noGrp="1" noChangeArrowheads="1"/>
          </p:cNvSpPr>
          <p:nvPr>
            <p:ph type="title"/>
          </p:nvPr>
        </p:nvSpPr>
        <p:spPr>
          <a:xfrm>
            <a:off x="381000" y="304800"/>
            <a:ext cx="7367588" cy="498475"/>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Examples of Clustering Applications</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7651" name="Rectangle 3"/>
          <p:cNvSpPr>
            <a:spLocks noGrp="1" noChangeArrowheads="1"/>
          </p:cNvSpPr>
          <p:nvPr>
            <p:ph sz="quarter" idx="1"/>
          </p:nvPr>
        </p:nvSpPr>
        <p:spPr>
          <a:xfrm>
            <a:off x="381000" y="1371600"/>
            <a:ext cx="7772400" cy="5105400"/>
          </a:xfrm>
        </p:spPr>
        <p:txBody>
          <a:bodyPr vert="horz" wrap="square" lIns="92075" tIns="46038" rIns="92075" bIns="46038" numCol="1" anchor="t" anchorCtr="0" compatLnSpc="1">
            <a:normAutofit fontScale="92500"/>
          </a:bodyPr>
          <a:lstStyle/>
          <a:p>
            <a:pPr marL="274320" marR="0" lvl="0" indent="-274320" algn="just"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Marketing:</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Help marketers discover distinct groups in their customer bases, and then use this knowledge to develop targeted marketing programs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Land use: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Identification of areas of similar land use in an earth observation database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Insurance: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Identifying groups of motor insurance policy holders with a high average claim cost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City-planning:</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Identifying groups of houses according to their house type, value, and geographical location</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Earth-quake studies:</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Observed earth quake epicenters should be clustered along continent faults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387" name="Date Placeholder 3"/>
          <p:cNvSpPr>
            <a:spLocks noGrp="1"/>
          </p:cNvSpPr>
          <p:nvPr>
            <p:ph type="dt" sz="half" idx="2"/>
          </p:nvPr>
        </p:nvSpPr>
        <p:spPr>
          <a:xfrm rot="5400000">
            <a:off x="7912100" y="414338"/>
            <a:ext cx="1365250"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38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9" name="Rectangle 2"/>
          <p:cNvSpPr>
            <a:spLocks noGrp="1" noChangeArrowheads="1"/>
          </p:cNvSpPr>
          <p:nvPr>
            <p:ph type="title"/>
          </p:nvPr>
        </p:nvSpPr>
        <p:spPr>
          <a:xfrm>
            <a:off x="228600" y="381000"/>
            <a:ext cx="7296150" cy="6302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What Is Good Clustering?</a:t>
            </a:r>
            <a:endParaRPr kumimoji="0" lang="en-US" sz="30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8675" name="Rectangle 3"/>
          <p:cNvSpPr>
            <a:spLocks noGrp="1" noChangeArrowheads="1"/>
          </p:cNvSpPr>
          <p:nvPr>
            <p:ph sz="quarter" idx="1"/>
          </p:nvPr>
        </p:nvSpPr>
        <p:spPr>
          <a:xfrm>
            <a:off x="533400" y="1447800"/>
            <a:ext cx="7391400" cy="4424363"/>
          </a:xfrm>
        </p:spPr>
        <p:txBody>
          <a:bodyPr vert="horz" wrap="square" lIns="92075" tIns="46038" rIns="92075" bIns="46038" numCol="1" anchor="t" anchorCtr="0" compatLnSpc="1">
            <a:normAutofit lnSpcReduction="10000"/>
          </a:bodyPr>
          <a:lstStyle/>
          <a:p>
            <a:pPr marL="274320" marR="0" lvl="0" indent="-274320" algn="just"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good clustering</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method will produce high quality clusters with</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High</a:t>
            </a:r>
            <a:r>
              <a:rPr kumimoji="0" lang="en-US" sz="2100" b="0" i="0" u="none" strike="noStrike" kern="1200" cap="none" spc="0" normalizeH="0" baseline="0" noProof="0" dirty="0" smtClean="0">
                <a:ln>
                  <a:noFill/>
                </a:ln>
                <a:solidFill>
                  <a:srgbClr val="FF0000"/>
                </a:solidFill>
                <a:effectLst/>
                <a:uLnTx/>
                <a:uFillTx/>
                <a:latin typeface="+mn-lt"/>
                <a:ea typeface="+mn-ea"/>
                <a:cs typeface="+mn-cs"/>
              </a:rPr>
              <a:t> </a:t>
            </a:r>
            <a:r>
              <a:rPr kumimoji="0" lang="en-US" sz="2100" b="0" i="0" u="sng" strike="noStrike" kern="1200" cap="none" spc="0" normalizeH="0" baseline="0" noProof="0" dirty="0" smtClean="0">
                <a:ln>
                  <a:noFill/>
                </a:ln>
                <a:solidFill>
                  <a:srgbClr val="FF0000"/>
                </a:solidFill>
                <a:effectLst/>
                <a:uLnTx/>
                <a:uFillTx/>
                <a:latin typeface="+mn-lt"/>
                <a:ea typeface="+mn-ea"/>
                <a:cs typeface="+mn-cs"/>
              </a:rPr>
              <a:t>intra-class</a:t>
            </a:r>
            <a:r>
              <a:rPr kumimoji="0" lang="en-US" sz="2100" b="0" i="0" u="none" strike="noStrike" kern="1200" cap="none" spc="0" normalizeH="0" baseline="0" noProof="0" dirty="0" smtClean="0">
                <a:ln>
                  <a:noFill/>
                </a:ln>
                <a:solidFill>
                  <a:srgbClr val="FF0000"/>
                </a:solidFill>
                <a:effectLst/>
                <a:uLnTx/>
                <a:uFillTx/>
                <a:latin typeface="+mn-lt"/>
                <a:ea typeface="+mn-ea"/>
                <a:cs typeface="+mn-cs"/>
              </a:rPr>
              <a:t> </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similarity</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Low </a:t>
            </a:r>
            <a:r>
              <a:rPr kumimoji="0" lang="en-US" sz="2100" b="0" i="0" u="sng" strike="noStrike" kern="1200" cap="none" spc="0" normalizeH="0" baseline="0" noProof="0" dirty="0" smtClean="0">
                <a:ln>
                  <a:noFill/>
                </a:ln>
                <a:solidFill>
                  <a:srgbClr val="FF0000"/>
                </a:solidFill>
                <a:effectLst/>
                <a:uLnTx/>
                <a:uFillTx/>
                <a:latin typeface="+mn-lt"/>
                <a:ea typeface="+mn-ea"/>
                <a:cs typeface="+mn-cs"/>
              </a:rPr>
              <a:t>inter-class</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similarity </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quality</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of a clustering result depends on both the similarity measure used by the method and its implementation.</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quality</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of a clustering method is also measured by its ability to discover some or all of the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hidden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patterns.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43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843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3" name="Rectangle 2"/>
          <p:cNvSpPr>
            <a:spLocks noGrp="1" noChangeArrowheads="1"/>
          </p:cNvSpPr>
          <p:nvPr>
            <p:ph type="title"/>
          </p:nvPr>
        </p:nvSpPr>
        <p:spPr>
          <a:xfrm>
            <a:off x="228600" y="304800"/>
            <a:ext cx="8402638" cy="554038"/>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Requirements of Clustering in Data Mining </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0482" name="Rectangle 3"/>
          <p:cNvSpPr>
            <a:spLocks noGrp="1"/>
          </p:cNvSpPr>
          <p:nvPr>
            <p:ph sz="quarter" idx="1"/>
          </p:nvPr>
        </p:nvSpPr>
        <p:spPr>
          <a:xfrm>
            <a:off x="381000" y="1295400"/>
            <a:ext cx="7924800" cy="4876800"/>
          </a:xfrm>
          <a:ln/>
        </p:spPr>
        <p:txBody>
          <a:bodyPr vert="horz" wrap="square" lIns="92075" tIns="46038" rIns="92075" bIns="46038" anchor="t" anchorCtr="0"/>
          <a:p>
            <a:pPr algn="just" eaLnBrk="1" hangingPunct="1">
              <a:lnSpc>
                <a:spcPct val="110000"/>
              </a:lnSpc>
              <a:buClr>
                <a:schemeClr val="accent1"/>
              </a:buClr>
              <a:buSzPct val="70000"/>
              <a:buFont typeface="Wingdings" panose="05000000000000000000" pitchFamily="2" charset="2"/>
            </a:pPr>
            <a:r>
              <a:rPr lang="en-US" dirty="0"/>
              <a:t>Scalability</a:t>
            </a:r>
            <a:endParaRPr lang="en-US" dirty="0"/>
          </a:p>
          <a:p>
            <a:pPr algn="just" eaLnBrk="1" hangingPunct="1">
              <a:lnSpc>
                <a:spcPct val="110000"/>
              </a:lnSpc>
              <a:buClr>
                <a:schemeClr val="accent1"/>
              </a:buClr>
              <a:buSzPct val="70000"/>
              <a:buFont typeface="Wingdings" panose="05000000000000000000" pitchFamily="2" charset="2"/>
            </a:pPr>
            <a:r>
              <a:rPr lang="en-US" dirty="0"/>
              <a:t>Ability to deal with different types of attributes</a:t>
            </a:r>
            <a:endParaRPr lang="en-US" dirty="0"/>
          </a:p>
          <a:p>
            <a:pPr algn="just" eaLnBrk="1" hangingPunct="1">
              <a:lnSpc>
                <a:spcPct val="110000"/>
              </a:lnSpc>
              <a:buClr>
                <a:schemeClr val="accent1"/>
              </a:buClr>
              <a:buSzPct val="70000"/>
              <a:buFont typeface="Wingdings" panose="05000000000000000000" pitchFamily="2" charset="2"/>
            </a:pPr>
            <a:r>
              <a:rPr lang="en-US" dirty="0"/>
              <a:t>Discovery of clusters with arbitrary shape</a:t>
            </a:r>
            <a:endParaRPr lang="en-US" dirty="0"/>
          </a:p>
          <a:p>
            <a:pPr algn="just" eaLnBrk="1" hangingPunct="1">
              <a:lnSpc>
                <a:spcPct val="110000"/>
              </a:lnSpc>
              <a:buClr>
                <a:schemeClr val="accent1"/>
              </a:buClr>
              <a:buSzPct val="70000"/>
              <a:buFont typeface="Wingdings" panose="05000000000000000000" pitchFamily="2" charset="2"/>
            </a:pPr>
            <a:r>
              <a:rPr lang="en-US" dirty="0"/>
              <a:t>Minimal requirements for domain knowledge to determine input parameters</a:t>
            </a:r>
            <a:endParaRPr lang="en-US" dirty="0"/>
          </a:p>
          <a:p>
            <a:pPr algn="just" eaLnBrk="1" hangingPunct="1">
              <a:lnSpc>
                <a:spcPct val="110000"/>
              </a:lnSpc>
              <a:buClr>
                <a:schemeClr val="accent1"/>
              </a:buClr>
              <a:buSzPct val="70000"/>
              <a:buFont typeface="Wingdings" panose="05000000000000000000" pitchFamily="2" charset="2"/>
            </a:pPr>
            <a:r>
              <a:rPr lang="en-US" dirty="0"/>
              <a:t>Able to deal with noise and outliers</a:t>
            </a:r>
            <a:endParaRPr lang="en-US" dirty="0"/>
          </a:p>
          <a:p>
            <a:pPr algn="just" eaLnBrk="1" hangingPunct="1">
              <a:lnSpc>
                <a:spcPct val="110000"/>
              </a:lnSpc>
              <a:buClr>
                <a:schemeClr val="accent1"/>
              </a:buClr>
              <a:buSzPct val="70000"/>
              <a:buFont typeface="Wingdings" panose="05000000000000000000" pitchFamily="2" charset="2"/>
            </a:pPr>
            <a:r>
              <a:rPr lang="en-US" dirty="0"/>
              <a:t>Insensitive to order of input records</a:t>
            </a:r>
            <a:endParaRPr lang="en-US" dirty="0"/>
          </a:p>
          <a:p>
            <a:pPr algn="just" eaLnBrk="1" hangingPunct="1">
              <a:lnSpc>
                <a:spcPct val="110000"/>
              </a:lnSpc>
              <a:buClr>
                <a:schemeClr val="accent1"/>
              </a:buClr>
              <a:buSzPct val="70000"/>
              <a:buFont typeface="Wingdings" panose="05000000000000000000" pitchFamily="2" charset="2"/>
            </a:pPr>
            <a:r>
              <a:rPr lang="en-US" dirty="0"/>
              <a:t>High dimensionality</a:t>
            </a:r>
            <a:endParaRPr lang="en-US" dirty="0"/>
          </a:p>
          <a:p>
            <a:pPr algn="just" eaLnBrk="1" hangingPunct="1">
              <a:lnSpc>
                <a:spcPct val="110000"/>
              </a:lnSpc>
              <a:buClr>
                <a:schemeClr val="accent1"/>
              </a:buClr>
              <a:buSzPct val="70000"/>
              <a:buFont typeface="Wingdings" panose="05000000000000000000" pitchFamily="2" charset="2"/>
            </a:pPr>
            <a:r>
              <a:rPr lang="en-US" dirty="0"/>
              <a:t>Incorporation of user-specified constraints</a:t>
            </a:r>
            <a:endParaRPr lang="en-US" dirty="0"/>
          </a:p>
          <a:p>
            <a:pPr algn="just" eaLnBrk="1" hangingPunct="1">
              <a:lnSpc>
                <a:spcPct val="110000"/>
              </a:lnSpc>
              <a:buClr>
                <a:schemeClr val="accent1"/>
              </a:buClr>
              <a:buSzPct val="70000"/>
              <a:buFont typeface="Wingdings" panose="05000000000000000000" pitchFamily="2" charset="2"/>
            </a:pPr>
            <a:r>
              <a:rPr lang="en-US" dirty="0"/>
              <a:t>Interpretability and usability</a:t>
            </a:r>
            <a:endParaRPr lang="en-US" dirty="0"/>
          </a:p>
        </p:txBody>
      </p:sp>
      <p:sp>
        <p:nvSpPr>
          <p:cNvPr id="2048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048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228600" y="304800"/>
            <a:ext cx="4648200" cy="990600"/>
          </a:xfrm>
          <a:noFill/>
          <a:ln>
            <a:noFill/>
          </a:ln>
        </p:spPr>
        <p:txBody>
          <a:bodyPr vert="horz" wrap="square" lIns="92075" tIns="46038" rIns="92075" bIns="46038" anchor="ctr" anchorCtr="0"/>
          <a:p>
            <a:pPr marL="0" marR="0" indent="0" algn="ctr"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rgbClr val="D519FF"/>
                </a:solidFill>
                <a:latin typeface="+mj-lt"/>
                <a:ea typeface="SimSun" panose="02010600030101010101" pitchFamily="2" charset="-122"/>
                <a:cs typeface="+mj-cs"/>
              </a:rPr>
              <a:t> </a:t>
            </a:r>
            <a:r>
              <a:rPr kumimoji="0" lang="en-AU" altLang="zh-TW" sz="3000" b="0" i="0" u="none" strike="noStrike" kern="1200" cap="small" spc="0" normalizeH="0" baseline="0" noProof="1" dirty="0">
                <a:solidFill>
                  <a:srgbClr val="D519FF"/>
                </a:solidFill>
                <a:latin typeface="+mj-lt"/>
                <a:ea typeface="PMingLiU" pitchFamily="18" charset="-120"/>
                <a:cs typeface="+mj-cs"/>
              </a:rPr>
              <a:t>Cluster Analysis</a:t>
            </a:r>
            <a:endParaRPr kumimoji="0" lang="en-US" altLang="zh-CN" sz="3000" b="0" i="0" u="none" strike="noStrike" kern="1200" cap="small" spc="0" normalizeH="0" baseline="0" noProof="1" dirty="0">
              <a:solidFill>
                <a:srgbClr val="D519FF"/>
              </a:solidFill>
              <a:latin typeface="+mj-lt"/>
              <a:ea typeface="PMingLiU" pitchFamily="18" charset="-120"/>
              <a:cs typeface="+mj-cs"/>
            </a:endParaRPr>
          </a:p>
        </p:txBody>
      </p:sp>
      <p:sp>
        <p:nvSpPr>
          <p:cNvPr id="28678"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hlink"/>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2253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253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1" name="Rectangle 2"/>
          <p:cNvSpPr>
            <a:spLocks noGrp="1" noChangeArrowheads="1"/>
          </p:cNvSpPr>
          <p:nvPr>
            <p:ph type="title"/>
          </p:nvPr>
        </p:nvSpPr>
        <p:spPr>
          <a:xfrm>
            <a:off x="304800" y="381000"/>
            <a:ext cx="5126038" cy="6096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Data Structures</a:t>
            </a:r>
            <a:endParaRPr kumimoji="0" lang="en-US" sz="30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3554" name="Rectangle 3"/>
          <p:cNvSpPr>
            <a:spLocks noGrp="1"/>
          </p:cNvSpPr>
          <p:nvPr>
            <p:ph sz="quarter" idx="1"/>
          </p:nvPr>
        </p:nvSpPr>
        <p:spPr>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Data matrix</a:t>
            </a:r>
            <a:endParaRPr lang="en-US" dirty="0"/>
          </a:p>
          <a:p>
            <a:pPr lvl="1" eaLnBrk="1" hangingPunct="1">
              <a:buClr>
                <a:schemeClr val="accent1"/>
              </a:buClr>
              <a:buSzPct val="80000"/>
              <a:buFont typeface="Wingdings 2" panose="05020102010507070707" pitchFamily="18" charset="2"/>
            </a:pPr>
            <a:r>
              <a:rPr lang="en-US" dirty="0"/>
              <a:t>(two modes)</a:t>
            </a:r>
            <a:endParaRPr lang="en-US" dirty="0"/>
          </a:p>
          <a:p>
            <a:pPr eaLnBrk="1" hangingPunct="1">
              <a:buClr>
                <a:schemeClr val="accent1"/>
              </a:buClr>
              <a:buSzPct val="70000"/>
              <a:buFont typeface="Wingdings" panose="05000000000000000000" pitchFamily="2" charset="2"/>
            </a:pPr>
            <a:endParaRPr lang="en-US" dirty="0"/>
          </a:p>
          <a:p>
            <a:pPr eaLnBrk="1" hangingPunct="1">
              <a:buClr>
                <a:schemeClr val="accent1"/>
              </a:buClr>
              <a:buSzPct val="70000"/>
              <a:buFont typeface="Wingdings" panose="05000000000000000000" pitchFamily="2" charset="2"/>
            </a:pPr>
            <a:endParaRPr lang="en-US" dirty="0"/>
          </a:p>
          <a:p>
            <a:pPr eaLnBrk="1" hangingPunct="1">
              <a:buClr>
                <a:schemeClr val="accent1"/>
              </a:buClr>
              <a:buSzPct val="70000"/>
              <a:buFont typeface="Wingdings" panose="05000000000000000000" pitchFamily="2" charset="2"/>
            </a:pPr>
            <a:endParaRPr lang="en-US" dirty="0"/>
          </a:p>
          <a:p>
            <a:pPr eaLnBrk="1" hangingPunct="1">
              <a:buClr>
                <a:schemeClr val="accent1"/>
              </a:buClr>
              <a:buSzPct val="70000"/>
              <a:buFont typeface="Wingdings" panose="05000000000000000000" pitchFamily="2" charset="2"/>
            </a:pPr>
            <a:r>
              <a:rPr lang="en-US" dirty="0"/>
              <a:t>Dissimilarity matrix</a:t>
            </a:r>
            <a:endParaRPr lang="en-US" dirty="0"/>
          </a:p>
          <a:p>
            <a:pPr lvl="1" eaLnBrk="1" hangingPunct="1">
              <a:buClr>
                <a:schemeClr val="accent1"/>
              </a:buClr>
              <a:buSzPct val="80000"/>
              <a:buFont typeface="Wingdings 2" panose="05020102010507070707" pitchFamily="18" charset="2"/>
            </a:pPr>
            <a:r>
              <a:rPr lang="en-US" dirty="0"/>
              <a:t>(one mode)</a:t>
            </a:r>
            <a:endParaRPr lang="en-US" dirty="0"/>
          </a:p>
        </p:txBody>
      </p:sp>
      <p:sp>
        <p:nvSpPr>
          <p:cNvPr id="2355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355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23557" name="Object 4"/>
          <p:cNvGraphicFramePr/>
          <p:nvPr/>
        </p:nvGraphicFramePr>
        <p:xfrm>
          <a:off x="4419600" y="1752600"/>
          <a:ext cx="3124200" cy="2058988"/>
        </p:xfrm>
        <a:graphic>
          <a:graphicData uri="http://schemas.openxmlformats.org/presentationml/2006/ole">
            <mc:AlternateContent xmlns:mc="http://schemas.openxmlformats.org/markup-compatibility/2006">
              <mc:Choice xmlns:v="urn:schemas-microsoft-com:vml" Requires="v">
                <p:oleObj spid="_x0000_s3076" name="" r:id="rId1" imgW="1778000" imgH="1244600" progId="Equation.3">
                  <p:embed/>
                </p:oleObj>
              </mc:Choice>
              <mc:Fallback>
                <p:oleObj name="" r:id="rId1" imgW="1778000" imgH="1244600" progId="Equation.3">
                  <p:embed/>
                  <p:pic>
                    <p:nvPicPr>
                      <p:cNvPr id="0" name="Picture 3075"/>
                      <p:cNvPicPr/>
                      <p:nvPr/>
                    </p:nvPicPr>
                    <p:blipFill>
                      <a:blip r:embed="rId2"/>
                      <a:stretch>
                        <a:fillRect/>
                      </a:stretch>
                    </p:blipFill>
                    <p:spPr>
                      <a:xfrm>
                        <a:off x="4419600" y="1752600"/>
                        <a:ext cx="3124200" cy="2058988"/>
                      </a:xfrm>
                      <a:prstGeom prst="rect">
                        <a:avLst/>
                      </a:prstGeom>
                      <a:noFill/>
                      <a:ln w="38100">
                        <a:noFill/>
                        <a:miter/>
                      </a:ln>
                    </p:spPr>
                  </p:pic>
                </p:oleObj>
              </mc:Fallback>
            </mc:AlternateContent>
          </a:graphicData>
        </a:graphic>
      </p:graphicFrame>
      <p:graphicFrame>
        <p:nvGraphicFramePr>
          <p:cNvPr id="23558" name="Object 5"/>
          <p:cNvGraphicFramePr/>
          <p:nvPr/>
        </p:nvGraphicFramePr>
        <p:xfrm>
          <a:off x="4419600" y="4191000"/>
          <a:ext cx="3429000" cy="1970088"/>
        </p:xfrm>
        <a:graphic>
          <a:graphicData uri="http://schemas.openxmlformats.org/presentationml/2006/ole">
            <mc:AlternateContent xmlns:mc="http://schemas.openxmlformats.org/markup-compatibility/2006">
              <mc:Choice xmlns:v="urn:schemas-microsoft-com:vml" Requires="v">
                <p:oleObj spid="_x0000_s3077" name="" r:id="rId3" imgW="1828800" imgH="1143000" progId="Equation.3">
                  <p:embed/>
                </p:oleObj>
              </mc:Choice>
              <mc:Fallback>
                <p:oleObj name="" r:id="rId3" imgW="1828800" imgH="1143000" progId="Equation.3">
                  <p:embed/>
                  <p:pic>
                    <p:nvPicPr>
                      <p:cNvPr id="0" name="Picture 3076"/>
                      <p:cNvPicPr/>
                      <p:nvPr/>
                    </p:nvPicPr>
                    <p:blipFill>
                      <a:blip r:embed="rId4"/>
                      <a:stretch>
                        <a:fillRect/>
                      </a:stretch>
                    </p:blipFill>
                    <p:spPr>
                      <a:xfrm>
                        <a:off x="4419600" y="4191000"/>
                        <a:ext cx="3429000" cy="1970088"/>
                      </a:xfrm>
                      <a:prstGeom prst="rect">
                        <a:avLst/>
                      </a:prstGeom>
                      <a:noFill/>
                      <a:ln w="38100">
                        <a:noFill/>
                        <a:miter/>
                      </a:ln>
                    </p:spPr>
                  </p:pic>
                </p:oleObj>
              </mc:Fallback>
            </mc:AlternateContent>
          </a:graphicData>
        </a:graphic>
      </p:graphicFrame>
    </p:spTree>
  </p:cSld>
  <p:clrMapOvr>
    <a:masterClrMapping/>
  </p:clrMapOvr>
  <p:transition>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noChangeArrowheads="1"/>
          </p:cNvSpPr>
          <p:nvPr>
            <p:ph type="title"/>
          </p:nvPr>
        </p:nvSpPr>
        <p:spPr>
          <a:xfrm>
            <a:off x="152400" y="76200"/>
            <a:ext cx="7772400" cy="8382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Measure the Quality of Clustering</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9702" name="Rectangle 3"/>
          <p:cNvSpPr>
            <a:spLocks noGrp="1" noChangeArrowheads="1"/>
          </p:cNvSpPr>
          <p:nvPr>
            <p:ph sz="quarter" idx="1"/>
          </p:nvPr>
        </p:nvSpPr>
        <p:spPr>
          <a:xfrm>
            <a:off x="685800" y="1524000"/>
            <a:ext cx="7315200" cy="4724400"/>
          </a:xfrm>
        </p:spPr>
        <p:txBody>
          <a:bodyPr vert="horz" wrap="square" lIns="92075" tIns="46038" rIns="92075" bIns="46038" numCol="1" anchor="t" anchorCtr="0" compatLnSpc="1">
            <a:normAutofit fontScale="92500" lnSpcReduction="10000"/>
          </a:bodyPr>
          <a:lstStyle/>
          <a:p>
            <a:pPr marL="274320" marR="0" lvl="0" indent="-274320" algn="just" defTabSz="914400" rtl="0" eaLnBrk="1" fontAlgn="auto" latinLnBrk="0" hangingPunct="1">
              <a:lnSpc>
                <a:spcPct val="10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rgbClr val="FF0000"/>
                </a:solidFill>
                <a:effectLst/>
                <a:uLnTx/>
                <a:uFillTx/>
                <a:latin typeface="+mn-lt"/>
                <a:ea typeface="+mn-ea"/>
                <a:cs typeface="+mn-cs"/>
              </a:rPr>
              <a:t>Dissimilarity/Similarity metric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Similarity is expressed in terms of a distance function, which is typically metric: </a:t>
            </a:r>
            <a:r>
              <a:rPr kumimoji="0" lang="en-US" sz="2400" b="0" i="1" u="none" strike="noStrike" kern="1200" cap="none" spc="0" normalizeH="0" baseline="0" noProof="0" dirty="0" smtClean="0">
                <a:ln>
                  <a:noFill/>
                </a:ln>
                <a:solidFill>
                  <a:srgbClr val="FF0000"/>
                </a:solidFill>
                <a:effectLst/>
                <a:uLnTx/>
                <a:uFillTx/>
                <a:latin typeface="+mn-lt"/>
                <a:ea typeface="+mn-ea"/>
                <a:cs typeface="+mn-cs"/>
              </a:rPr>
              <a:t>d</a:t>
            </a:r>
            <a:r>
              <a:rPr kumimoji="0" lang="en-US" sz="2400" b="0" i="0" u="none" strike="noStrike" kern="1200" cap="none" spc="0" normalizeH="0" baseline="0" noProof="0" dirty="0" smtClean="0">
                <a:ln>
                  <a:noFill/>
                </a:ln>
                <a:solidFill>
                  <a:srgbClr val="FF0000"/>
                </a:solidFill>
                <a:effectLst/>
                <a:uLnTx/>
                <a:uFillTx/>
                <a:latin typeface="+mn-lt"/>
                <a:ea typeface="+mn-ea"/>
                <a:cs typeface="+mn-cs"/>
              </a:rPr>
              <a:t>(</a:t>
            </a:r>
            <a:r>
              <a:rPr kumimoji="0" lang="en-US" sz="2400" b="0" i="1" u="none" strike="noStrike" kern="1200" cap="none" spc="0" normalizeH="0" baseline="0" noProof="0" dirty="0" err="1" smtClean="0">
                <a:ln>
                  <a:noFill/>
                </a:ln>
                <a:solidFill>
                  <a:srgbClr val="FF0000"/>
                </a:solidFill>
                <a:effectLst/>
                <a:uLnTx/>
                <a:uFillTx/>
                <a:latin typeface="+mn-lt"/>
                <a:ea typeface="+mn-ea"/>
                <a:cs typeface="+mn-cs"/>
              </a:rPr>
              <a:t>i</a:t>
            </a:r>
            <a:r>
              <a:rPr kumimoji="0" lang="en-US" sz="2400" b="0" i="1" u="none" strike="noStrike" kern="1200" cap="none" spc="0" normalizeH="0" baseline="0" noProof="0" dirty="0" smtClean="0">
                <a:ln>
                  <a:noFill/>
                </a:ln>
                <a:solidFill>
                  <a:srgbClr val="FF0000"/>
                </a:solidFill>
                <a:effectLst/>
                <a:uLnTx/>
                <a:uFillTx/>
                <a:latin typeface="+mn-lt"/>
                <a:ea typeface="+mn-ea"/>
                <a:cs typeface="+mn-cs"/>
              </a:rPr>
              <a:t>, j</a:t>
            </a:r>
            <a:r>
              <a:rPr kumimoji="0" lang="en-US" sz="2400" b="0" i="0" u="none" strike="noStrike" kern="1200" cap="none" spc="0" normalizeH="0" baseline="0" noProof="0" dirty="0" smtClean="0">
                <a:ln>
                  <a:noFill/>
                </a:ln>
                <a:solidFill>
                  <a:srgbClr val="FF0000"/>
                </a:solidFill>
                <a:effectLst/>
                <a:uLnTx/>
                <a:uFillTx/>
                <a:latin typeface="+mn-lt"/>
                <a:ea typeface="+mn-ea"/>
                <a:cs typeface="+mn-cs"/>
              </a:rPr>
              <a:t>)</a:t>
            </a:r>
            <a:endParaRPr kumimoji="0" lang="en-US" sz="2400" b="0" i="0" u="none" strike="noStrike" kern="1200" cap="none" spc="0" normalizeH="0" baseline="0" noProof="0" dirty="0" smtClean="0">
              <a:ln>
                <a:noFill/>
              </a:ln>
              <a:solidFill>
                <a:srgbClr val="FF0000"/>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There is a separate “quality” function that measures the “goodness” of a cluster.</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definitions of distance functions are usually very different for interval-scaled, Boolean, Categorical, Ordinal and Ratio variables.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Weights should be associated with different variables based on applications and data semantics.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endParaRPr>
          </a:p>
          <a:p>
            <a:pPr marL="274320" marR="0" lvl="0" indent="-274320" algn="just" defTabSz="914400" rtl="0" eaLnBrk="1" fontAlgn="auto" latinLnBrk="0" hangingPunct="1">
              <a:lnSpc>
                <a:spcPct val="10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It is hard to define “similar enough” or “good enough”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endParaRPr>
          </a:p>
          <a:p>
            <a:pPr marL="640080" marR="0" lvl="1" indent="-247015"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the answer is typically highly subjective.</a:t>
            </a:r>
            <a:endParaRPr kumimoji="0" lang="en-US" sz="21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endParaRPr>
          </a:p>
        </p:txBody>
      </p:sp>
      <p:sp>
        <p:nvSpPr>
          <p:cNvPr id="2457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458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5" name="Rectangle 2"/>
          <p:cNvSpPr>
            <a:spLocks noGrp="1" noChangeArrowheads="1"/>
          </p:cNvSpPr>
          <p:nvPr>
            <p:ph type="title"/>
          </p:nvPr>
        </p:nvSpPr>
        <p:spPr>
          <a:xfrm>
            <a:off x="381000" y="457200"/>
            <a:ext cx="7297738" cy="442913"/>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Type of data in clustering analysis</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6626" name="Rectangle 3"/>
          <p:cNvSpPr>
            <a:spLocks noGrp="1"/>
          </p:cNvSpPr>
          <p:nvPr>
            <p:ph sz="quarter" idx="1"/>
          </p:nvPr>
        </p:nvSpPr>
        <p:spPr>
          <a:xfrm>
            <a:off x="762000" y="1600200"/>
            <a:ext cx="7924800" cy="4876800"/>
          </a:xfrm>
          <a:ln/>
        </p:spPr>
        <p:txBody>
          <a:bodyPr vert="horz" wrap="square" lIns="92075" tIns="46038" rIns="92075" bIns="46038" anchor="t" anchorCtr="0"/>
          <a:p>
            <a:pPr eaLnBrk="1" hangingPunct="1">
              <a:lnSpc>
                <a:spcPct val="140000"/>
              </a:lnSpc>
              <a:buClr>
                <a:schemeClr val="accent1"/>
              </a:buClr>
              <a:buSzPct val="70000"/>
              <a:buFont typeface="Wingdings" panose="05000000000000000000" pitchFamily="2" charset="2"/>
            </a:pPr>
            <a:r>
              <a:rPr lang="en-US" u="sng" dirty="0"/>
              <a:t>Interval-scaled variables:</a:t>
            </a:r>
            <a:endParaRPr lang="en-US" u="sng" dirty="0"/>
          </a:p>
          <a:p>
            <a:pPr eaLnBrk="1" hangingPunct="1">
              <a:lnSpc>
                <a:spcPct val="140000"/>
              </a:lnSpc>
              <a:buClr>
                <a:schemeClr val="accent1"/>
              </a:buClr>
              <a:buSzPct val="70000"/>
              <a:buFont typeface="Wingdings" panose="05000000000000000000" pitchFamily="2" charset="2"/>
            </a:pPr>
            <a:r>
              <a:rPr lang="en-US" u="sng" dirty="0"/>
              <a:t>Binary variables:</a:t>
            </a:r>
            <a:endParaRPr lang="en-US" u="sng" dirty="0"/>
          </a:p>
          <a:p>
            <a:pPr eaLnBrk="1" hangingPunct="1">
              <a:lnSpc>
                <a:spcPct val="140000"/>
              </a:lnSpc>
              <a:buClr>
                <a:schemeClr val="accent1"/>
              </a:buClr>
              <a:buSzPct val="70000"/>
              <a:buFont typeface="Wingdings" panose="05000000000000000000" pitchFamily="2" charset="2"/>
            </a:pPr>
            <a:r>
              <a:rPr lang="en-US" u="sng" dirty="0"/>
              <a:t>Nominal, ordinal, and ratio variables:</a:t>
            </a:r>
            <a:endParaRPr lang="en-US" u="sng" dirty="0"/>
          </a:p>
          <a:p>
            <a:pPr eaLnBrk="1" hangingPunct="1">
              <a:lnSpc>
                <a:spcPct val="140000"/>
              </a:lnSpc>
              <a:buClr>
                <a:schemeClr val="accent1"/>
              </a:buClr>
              <a:buSzPct val="70000"/>
              <a:buFont typeface="Wingdings" panose="05000000000000000000" pitchFamily="2" charset="2"/>
            </a:pPr>
            <a:r>
              <a:rPr lang="en-US" u="sng" dirty="0"/>
              <a:t>Variables of mixed types:</a:t>
            </a:r>
            <a:endParaRPr lang="en-US" dirty="0"/>
          </a:p>
        </p:txBody>
      </p:sp>
      <p:sp>
        <p:nvSpPr>
          <p:cNvPr id="2662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662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6" name="Rectangle 2"/>
          <p:cNvSpPr>
            <a:spLocks noGrp="1" noChangeArrowheads="1"/>
          </p:cNvSpPr>
          <p:nvPr>
            <p:ph type="title"/>
          </p:nvPr>
        </p:nvSpPr>
        <p:spPr>
          <a:xfrm>
            <a:off x="304800" y="533400"/>
            <a:ext cx="7297738" cy="442913"/>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Interval-valued variables</a:t>
            </a:r>
            <a:endParaRPr kumimoji="0" lang="en-US" sz="32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8674" name="Rectangle 3"/>
          <p:cNvSpPr>
            <a:spLocks noGrp="1"/>
          </p:cNvSpPr>
          <p:nvPr>
            <p:ph sz="quarter" idx="1"/>
          </p:nvPr>
        </p:nvSpPr>
        <p:spPr>
          <a:xfrm>
            <a:off x="914400" y="1600200"/>
            <a:ext cx="7086600" cy="4876800"/>
          </a:xfrm>
          <a:ln/>
        </p:spPr>
        <p:txBody>
          <a:bodyPr vert="horz" wrap="square" lIns="92075" tIns="46038" rIns="92075" bIns="46038" anchor="t" anchorCtr="0"/>
          <a:p>
            <a:pPr algn="just" eaLnBrk="1" hangingPunct="1">
              <a:lnSpc>
                <a:spcPct val="140000"/>
              </a:lnSpc>
              <a:buClr>
                <a:schemeClr val="accent1"/>
              </a:buClr>
              <a:buSzPct val="70000"/>
              <a:buFont typeface="Wingdings" panose="05000000000000000000" pitchFamily="2" charset="2"/>
            </a:pPr>
            <a:r>
              <a:rPr lang="en-US" dirty="0"/>
              <a:t>Standardize data</a:t>
            </a:r>
            <a:endParaRPr lang="en-US" dirty="0"/>
          </a:p>
          <a:p>
            <a:pPr lvl="1" algn="just" eaLnBrk="1" hangingPunct="1">
              <a:lnSpc>
                <a:spcPct val="140000"/>
              </a:lnSpc>
              <a:buClr>
                <a:schemeClr val="accent1"/>
              </a:buClr>
              <a:buSzPct val="80000"/>
              <a:buFont typeface="Wingdings 2" panose="05020102010507070707" pitchFamily="18" charset="2"/>
            </a:pPr>
            <a:r>
              <a:rPr lang="en-US" dirty="0"/>
              <a:t>Calculate the mean absolute deviation:</a:t>
            </a:r>
            <a:endParaRPr lang="en-US" dirty="0"/>
          </a:p>
          <a:p>
            <a:pPr algn="just" eaLnBrk="1" hangingPunct="1">
              <a:lnSpc>
                <a:spcPct val="140000"/>
              </a:lnSpc>
              <a:buClr>
                <a:schemeClr val="accent1"/>
              </a:buClr>
              <a:buSzPct val="70000"/>
              <a:buFont typeface="Wingdings" panose="05000000000000000000" pitchFamily="2" charset="2"/>
            </a:pPr>
            <a:endParaRPr lang="en-US" dirty="0"/>
          </a:p>
          <a:p>
            <a:pPr lvl="1" algn="just" eaLnBrk="1" hangingPunct="1">
              <a:lnSpc>
                <a:spcPct val="140000"/>
              </a:lnSpc>
              <a:buClr>
                <a:schemeClr val="accent1"/>
              </a:buClr>
              <a:buSzPct val="80000"/>
              <a:buFont typeface="Wingdings" panose="05000000000000000000" pitchFamily="2" charset="2"/>
              <a:buNone/>
            </a:pPr>
            <a:r>
              <a:rPr lang="en-US" dirty="0"/>
              <a:t>where</a:t>
            </a:r>
            <a:endParaRPr lang="en-US" dirty="0"/>
          </a:p>
          <a:p>
            <a:pPr lvl="1" algn="just" eaLnBrk="1" hangingPunct="1">
              <a:lnSpc>
                <a:spcPct val="140000"/>
              </a:lnSpc>
              <a:buClr>
                <a:schemeClr val="accent1"/>
              </a:buClr>
              <a:buSzPct val="80000"/>
              <a:buFont typeface="Wingdings 2" panose="05020102010507070707" pitchFamily="18" charset="2"/>
            </a:pPr>
            <a:r>
              <a:rPr lang="en-US" dirty="0"/>
              <a:t>Calculate the standardized measurement (</a:t>
            </a:r>
            <a:r>
              <a:rPr lang="en-US" i="1" dirty="0"/>
              <a:t>z-score</a:t>
            </a:r>
            <a:r>
              <a:rPr lang="en-US" dirty="0"/>
              <a:t>)</a:t>
            </a:r>
            <a:endParaRPr lang="en-US" dirty="0"/>
          </a:p>
          <a:p>
            <a:pPr algn="just" eaLnBrk="1" hangingPunct="1">
              <a:lnSpc>
                <a:spcPct val="140000"/>
              </a:lnSpc>
              <a:buClr>
                <a:schemeClr val="accent1"/>
              </a:buClr>
              <a:buSzPct val="70000"/>
              <a:buFont typeface="Wingdings" panose="05000000000000000000" pitchFamily="2" charset="2"/>
              <a:buNone/>
            </a:pPr>
            <a:endParaRPr lang="en-US" dirty="0"/>
          </a:p>
          <a:p>
            <a:pPr algn="just" eaLnBrk="1" hangingPunct="1">
              <a:buClr>
                <a:schemeClr val="accent1"/>
              </a:buClr>
              <a:buSzPct val="70000"/>
              <a:buFont typeface="Wingdings" panose="05000000000000000000" pitchFamily="2" charset="2"/>
            </a:pPr>
            <a:r>
              <a:rPr lang="en-US" dirty="0"/>
              <a:t>Using mean absolute deviation is more robust than using standard deviation </a:t>
            </a:r>
            <a:endParaRPr lang="en-US" dirty="0"/>
          </a:p>
          <a:p>
            <a:pPr algn="just" eaLnBrk="1" hangingPunct="1">
              <a:lnSpc>
                <a:spcPct val="140000"/>
              </a:lnSpc>
              <a:buClr>
                <a:schemeClr val="accent1"/>
              </a:buClr>
              <a:buSzPct val="70000"/>
              <a:buFont typeface="Wingdings" panose="05000000000000000000" pitchFamily="2" charset="2"/>
              <a:buNone/>
            </a:pPr>
            <a:endParaRPr lang="en-US" dirty="0"/>
          </a:p>
        </p:txBody>
      </p:sp>
      <p:sp>
        <p:nvSpPr>
          <p:cNvPr id="2867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867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28677" name="Object 4"/>
          <p:cNvGraphicFramePr/>
          <p:nvPr/>
        </p:nvGraphicFramePr>
        <p:xfrm>
          <a:off x="2895600" y="3429000"/>
          <a:ext cx="2451100" cy="430213"/>
        </p:xfrm>
        <a:graphic>
          <a:graphicData uri="http://schemas.openxmlformats.org/presentationml/2006/ole">
            <mc:AlternateContent xmlns:mc="http://schemas.openxmlformats.org/markup-compatibility/2006">
              <mc:Choice xmlns:v="urn:schemas-microsoft-com:vml" Requires="v">
                <p:oleObj spid="_x0000_s3076" name="" r:id="rId1" imgW="2449830" imgH="431800" progId="Equation.3">
                  <p:embed/>
                </p:oleObj>
              </mc:Choice>
              <mc:Fallback>
                <p:oleObj name="" r:id="rId1" imgW="2449830" imgH="431800" progId="Equation.3">
                  <p:embed/>
                  <p:pic>
                    <p:nvPicPr>
                      <p:cNvPr id="0" name="Picture 3075"/>
                      <p:cNvPicPr/>
                      <p:nvPr/>
                    </p:nvPicPr>
                    <p:blipFill>
                      <a:blip r:embed="rId2"/>
                      <a:stretch>
                        <a:fillRect/>
                      </a:stretch>
                    </p:blipFill>
                    <p:spPr>
                      <a:xfrm>
                        <a:off x="2895600" y="3429000"/>
                        <a:ext cx="2451100" cy="430213"/>
                      </a:xfrm>
                      <a:prstGeom prst="rect">
                        <a:avLst/>
                      </a:prstGeom>
                      <a:solidFill>
                        <a:schemeClr val="accent1"/>
                      </a:solidFill>
                      <a:ln w="38100">
                        <a:noFill/>
                        <a:miter/>
                      </a:ln>
                    </p:spPr>
                  </p:pic>
                </p:oleObj>
              </mc:Fallback>
            </mc:AlternateContent>
          </a:graphicData>
        </a:graphic>
      </p:graphicFrame>
      <p:graphicFrame>
        <p:nvGraphicFramePr>
          <p:cNvPr id="28678" name="Object 5"/>
          <p:cNvGraphicFramePr/>
          <p:nvPr/>
        </p:nvGraphicFramePr>
        <p:xfrm>
          <a:off x="2057400" y="2743200"/>
          <a:ext cx="4343400" cy="404813"/>
        </p:xfrm>
        <a:graphic>
          <a:graphicData uri="http://schemas.openxmlformats.org/presentationml/2006/ole">
            <mc:AlternateContent xmlns:mc="http://schemas.openxmlformats.org/markup-compatibility/2006">
              <mc:Choice xmlns:v="urn:schemas-microsoft-com:vml" Requires="v">
                <p:oleObj spid="_x0000_s3078" name="" r:id="rId3" imgW="4339590" imgH="405765" progId="Equation.3">
                  <p:embed/>
                </p:oleObj>
              </mc:Choice>
              <mc:Fallback>
                <p:oleObj name="" r:id="rId3" imgW="4339590" imgH="405765" progId="Equation.3">
                  <p:embed/>
                  <p:pic>
                    <p:nvPicPr>
                      <p:cNvPr id="0" name="Picture 3077"/>
                      <p:cNvPicPr/>
                      <p:nvPr/>
                    </p:nvPicPr>
                    <p:blipFill>
                      <a:blip r:embed="rId4"/>
                      <a:stretch>
                        <a:fillRect/>
                      </a:stretch>
                    </p:blipFill>
                    <p:spPr>
                      <a:xfrm>
                        <a:off x="2057400" y="2743200"/>
                        <a:ext cx="4343400" cy="404813"/>
                      </a:xfrm>
                      <a:prstGeom prst="rect">
                        <a:avLst/>
                      </a:prstGeom>
                      <a:solidFill>
                        <a:schemeClr val="accent1"/>
                      </a:solid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28679" name="Object 6"/>
          <p:cNvGraphicFramePr/>
          <p:nvPr/>
        </p:nvGraphicFramePr>
        <p:xfrm>
          <a:off x="3200400" y="4343400"/>
          <a:ext cx="1676400" cy="660400"/>
        </p:xfrm>
        <a:graphic>
          <a:graphicData uri="http://schemas.openxmlformats.org/presentationml/2006/ole">
            <mc:AlternateContent xmlns:mc="http://schemas.openxmlformats.org/markup-compatibility/2006">
              <mc:Choice xmlns:v="urn:schemas-microsoft-com:vml" Requires="v">
                <p:oleObj spid="_x0000_s3077" name="" r:id="rId5" imgW="1409065" imgH="660400" progId="Equation.3">
                  <p:embed/>
                </p:oleObj>
              </mc:Choice>
              <mc:Fallback>
                <p:oleObj name="" r:id="rId5" imgW="1409065" imgH="660400" progId="Equation.3">
                  <p:embed/>
                  <p:pic>
                    <p:nvPicPr>
                      <p:cNvPr id="0" name="Picture 3076"/>
                      <p:cNvPicPr/>
                      <p:nvPr/>
                    </p:nvPicPr>
                    <p:blipFill>
                      <a:blip r:embed="rId6"/>
                      <a:stretch>
                        <a:fillRect/>
                      </a:stretch>
                    </p:blipFill>
                    <p:spPr>
                      <a:xfrm>
                        <a:off x="3200400" y="4343400"/>
                        <a:ext cx="1676400" cy="660400"/>
                      </a:xfrm>
                      <a:prstGeom prst="rect">
                        <a:avLst/>
                      </a:prstGeom>
                      <a:solidFill>
                        <a:schemeClr val="accent1"/>
                      </a:solidFill>
                      <a:ln w="38100">
                        <a:noFill/>
                        <a:miter/>
                      </a:ln>
                    </p:spPr>
                  </p:pic>
                </p:oleObj>
              </mc:Fallback>
            </mc:AlternateContent>
          </a:graphicData>
        </a:graphic>
      </p:graphicFrame>
    </p:spTree>
  </p:cSld>
  <p:clrMapOvr>
    <a:masterClrMapping/>
  </p:clrMapOvr>
  <p:transition>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Rectangle 2"/>
          <p:cNvSpPr>
            <a:spLocks noGrp="1" noChangeArrowheads="1"/>
          </p:cNvSpPr>
          <p:nvPr>
            <p:ph type="title"/>
          </p:nvPr>
        </p:nvSpPr>
        <p:spPr>
          <a:xfrm>
            <a:off x="228600" y="304800"/>
            <a:ext cx="8610600" cy="5334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Similarity and Dissimilarity Between Objects</a:t>
            </a:r>
            <a:endParaRPr kumimoji="0" lang="en-US" sz="2800" b="0"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29698" name="Rectangle 3"/>
          <p:cNvSpPr>
            <a:spLocks noGrp="1"/>
          </p:cNvSpPr>
          <p:nvPr>
            <p:ph sz="quarter" idx="1"/>
          </p:nvPr>
        </p:nvSpPr>
        <p:spPr>
          <a:xfrm>
            <a:off x="381000" y="1600200"/>
            <a:ext cx="7848600" cy="4724400"/>
          </a:xfrm>
          <a:ln/>
        </p:spPr>
        <p:txBody>
          <a:bodyPr vert="horz" wrap="square" lIns="91440" tIns="45720" rIns="91440" bIns="45720" anchor="t" anchorCtr="0"/>
          <a:p>
            <a:pPr algn="just" eaLnBrk="1" hangingPunct="1">
              <a:lnSpc>
                <a:spcPct val="120000"/>
              </a:lnSpc>
              <a:buClr>
                <a:schemeClr val="accent1"/>
              </a:buClr>
              <a:buSzPct val="70000"/>
              <a:buFont typeface="Wingdings" panose="05000000000000000000" pitchFamily="2" charset="2"/>
            </a:pPr>
            <a:r>
              <a:rPr lang="en-US" u="sng" dirty="0"/>
              <a:t>Distances</a:t>
            </a:r>
            <a:r>
              <a:rPr lang="en-US" dirty="0"/>
              <a:t> are normally used to measure the </a:t>
            </a:r>
            <a:r>
              <a:rPr lang="en-US" u="sng" dirty="0"/>
              <a:t>similarity</a:t>
            </a:r>
            <a:r>
              <a:rPr lang="en-US" dirty="0"/>
              <a:t> or </a:t>
            </a:r>
            <a:r>
              <a:rPr lang="en-US" u="sng" dirty="0"/>
              <a:t>dissimilarity</a:t>
            </a:r>
            <a:r>
              <a:rPr lang="en-US" dirty="0"/>
              <a:t> between two data objects</a:t>
            </a:r>
            <a:endParaRPr lang="en-US" dirty="0"/>
          </a:p>
          <a:p>
            <a:pPr algn="just" eaLnBrk="1" hangingPunct="1">
              <a:lnSpc>
                <a:spcPct val="120000"/>
              </a:lnSpc>
              <a:buClr>
                <a:schemeClr val="accent1"/>
              </a:buClr>
              <a:buSzPct val="70000"/>
              <a:buFont typeface="Wingdings" panose="05000000000000000000" pitchFamily="2" charset="2"/>
            </a:pPr>
            <a:r>
              <a:rPr lang="en-US" dirty="0"/>
              <a:t>Some popular ones include: </a:t>
            </a:r>
            <a:r>
              <a:rPr lang="en-US" i="1" dirty="0"/>
              <a:t>Minkowski distance</a:t>
            </a:r>
            <a:r>
              <a:rPr lang="en-US" dirty="0"/>
              <a:t>:</a:t>
            </a:r>
            <a:endParaRPr lang="en-US" dirty="0"/>
          </a:p>
          <a:p>
            <a:pPr algn="just" eaLnBrk="1" hangingPunct="1">
              <a:lnSpc>
                <a:spcPct val="120000"/>
              </a:lnSpc>
              <a:buClr>
                <a:schemeClr val="accent1"/>
              </a:buClr>
              <a:buSzPct val="70000"/>
              <a:buFont typeface="Wingdings" panose="05000000000000000000" pitchFamily="2" charset="2"/>
            </a:pPr>
            <a:endParaRPr lang="en-US" dirty="0"/>
          </a:p>
          <a:p>
            <a:pPr lvl="1" algn="just" eaLnBrk="1" hangingPunct="1">
              <a:lnSpc>
                <a:spcPct val="120000"/>
              </a:lnSpc>
              <a:buClr>
                <a:schemeClr val="accent1"/>
              </a:buClr>
              <a:buSzPct val="80000"/>
              <a:buFont typeface="Wingdings" panose="05000000000000000000" pitchFamily="2" charset="2"/>
              <a:buNone/>
            </a:pPr>
            <a:r>
              <a:rPr lang="en-US" dirty="0"/>
              <a:t>where  </a:t>
            </a:r>
            <a:r>
              <a:rPr lang="en-US" i="1" dirty="0"/>
              <a:t>i</a:t>
            </a:r>
            <a:r>
              <a:rPr lang="en-US" dirty="0"/>
              <a:t> = (</a:t>
            </a:r>
            <a:r>
              <a:rPr lang="en-US" i="1" dirty="0"/>
              <a:t>x</a:t>
            </a:r>
            <a:r>
              <a:rPr lang="en-US" baseline="-25000" dirty="0"/>
              <a:t>i1</a:t>
            </a:r>
            <a:r>
              <a:rPr lang="en-US" dirty="0"/>
              <a:t>, </a:t>
            </a:r>
            <a:r>
              <a:rPr lang="en-US" i="1" dirty="0"/>
              <a:t>x</a:t>
            </a:r>
            <a:r>
              <a:rPr lang="en-US" baseline="-25000" dirty="0"/>
              <a:t>i2</a:t>
            </a:r>
            <a:r>
              <a:rPr lang="en-US" dirty="0"/>
              <a:t>, …, </a:t>
            </a:r>
            <a:r>
              <a:rPr lang="en-US" i="1" dirty="0"/>
              <a:t>x</a:t>
            </a:r>
            <a:r>
              <a:rPr lang="en-US" baseline="-25000" dirty="0"/>
              <a:t>ip</a:t>
            </a:r>
            <a:r>
              <a:rPr lang="en-US" dirty="0"/>
              <a:t>) and</a:t>
            </a:r>
            <a:r>
              <a:rPr lang="en-US" i="1" dirty="0"/>
              <a:t> j</a:t>
            </a:r>
            <a:r>
              <a:rPr lang="en-US" dirty="0"/>
              <a:t> = (</a:t>
            </a:r>
            <a:r>
              <a:rPr lang="en-US" i="1" dirty="0"/>
              <a:t>x</a:t>
            </a:r>
            <a:r>
              <a:rPr lang="en-US" baseline="-25000" dirty="0"/>
              <a:t>j1</a:t>
            </a:r>
            <a:r>
              <a:rPr lang="en-US" dirty="0"/>
              <a:t>, </a:t>
            </a:r>
            <a:r>
              <a:rPr lang="en-US" i="1" dirty="0"/>
              <a:t>x</a:t>
            </a:r>
            <a:r>
              <a:rPr lang="en-US" baseline="-25000" dirty="0"/>
              <a:t>j2</a:t>
            </a:r>
            <a:r>
              <a:rPr lang="en-US" dirty="0"/>
              <a:t>, …, </a:t>
            </a:r>
            <a:r>
              <a:rPr lang="en-US" i="1" dirty="0"/>
              <a:t>x</a:t>
            </a:r>
            <a:r>
              <a:rPr lang="en-US" baseline="-25000" dirty="0"/>
              <a:t>jp</a:t>
            </a:r>
            <a:r>
              <a:rPr lang="en-US" dirty="0"/>
              <a:t>) are two </a:t>
            </a:r>
            <a:r>
              <a:rPr lang="en-US" i="1" dirty="0"/>
              <a:t>p</a:t>
            </a:r>
            <a:r>
              <a:rPr lang="en-US" dirty="0"/>
              <a:t>-dimensional data objects, and </a:t>
            </a:r>
            <a:r>
              <a:rPr lang="en-US" i="1" dirty="0"/>
              <a:t>q</a:t>
            </a:r>
            <a:r>
              <a:rPr lang="en-US" dirty="0"/>
              <a:t> is a positive integer</a:t>
            </a:r>
            <a:endParaRPr lang="en-US" dirty="0"/>
          </a:p>
          <a:p>
            <a:pPr algn="just" eaLnBrk="1" hangingPunct="1">
              <a:lnSpc>
                <a:spcPct val="120000"/>
              </a:lnSpc>
              <a:buClr>
                <a:schemeClr val="accent1"/>
              </a:buClr>
              <a:buSzPct val="70000"/>
              <a:buFont typeface="Wingdings" panose="05000000000000000000" pitchFamily="2" charset="2"/>
            </a:pPr>
            <a:r>
              <a:rPr lang="en-US" dirty="0"/>
              <a:t>If </a:t>
            </a:r>
            <a:r>
              <a:rPr lang="en-US" i="1" dirty="0"/>
              <a:t>q</a:t>
            </a:r>
            <a:r>
              <a:rPr lang="en-US" dirty="0"/>
              <a:t> = </a:t>
            </a:r>
            <a:r>
              <a:rPr lang="en-US" i="1" dirty="0"/>
              <a:t>1</a:t>
            </a:r>
            <a:r>
              <a:rPr lang="en-US" dirty="0"/>
              <a:t>, </a:t>
            </a:r>
            <a:r>
              <a:rPr lang="en-US" i="1" dirty="0"/>
              <a:t>d</a:t>
            </a:r>
            <a:r>
              <a:rPr lang="en-US" dirty="0"/>
              <a:t> is Manhattan distance</a:t>
            </a:r>
            <a:endParaRPr lang="en-US" i="1" dirty="0"/>
          </a:p>
          <a:p>
            <a:pPr algn="just" eaLnBrk="1" hangingPunct="1">
              <a:lnSpc>
                <a:spcPct val="120000"/>
              </a:lnSpc>
              <a:buClr>
                <a:schemeClr val="accent1"/>
              </a:buClr>
              <a:buSzPct val="70000"/>
              <a:buFont typeface="Wingdings" panose="05000000000000000000" pitchFamily="2" charset="2"/>
            </a:pPr>
            <a:endParaRPr lang="en-US" i="1" dirty="0"/>
          </a:p>
          <a:p>
            <a:pPr lvl="1" algn="just" eaLnBrk="1" hangingPunct="1">
              <a:lnSpc>
                <a:spcPct val="120000"/>
              </a:lnSpc>
              <a:buClr>
                <a:schemeClr val="accent1"/>
              </a:buClr>
              <a:buSzPct val="80000"/>
              <a:buFont typeface="Wingdings" panose="05000000000000000000" pitchFamily="2" charset="2"/>
              <a:buNone/>
            </a:pPr>
            <a:endParaRPr lang="en-US" dirty="0"/>
          </a:p>
        </p:txBody>
      </p:sp>
      <p:sp>
        <p:nvSpPr>
          <p:cNvPr id="2969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2970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29701" name="Object 4"/>
          <p:cNvGraphicFramePr/>
          <p:nvPr/>
        </p:nvGraphicFramePr>
        <p:xfrm>
          <a:off x="1905000" y="3124200"/>
          <a:ext cx="5181600" cy="596900"/>
        </p:xfrm>
        <a:graphic>
          <a:graphicData uri="http://schemas.openxmlformats.org/presentationml/2006/ole">
            <mc:AlternateContent xmlns:mc="http://schemas.openxmlformats.org/markup-compatibility/2006">
              <mc:Choice xmlns:v="urn:schemas-microsoft-com:vml" Requires="v">
                <p:oleObj spid="_x0000_s3079" name="" r:id="rId1" imgW="5181600" imgH="596900" progId="Equation.3">
                  <p:embed/>
                </p:oleObj>
              </mc:Choice>
              <mc:Fallback>
                <p:oleObj name="" r:id="rId1" imgW="5181600" imgH="596900" progId="Equation.3">
                  <p:embed/>
                  <p:pic>
                    <p:nvPicPr>
                      <p:cNvPr id="0" name="Picture 3078"/>
                      <p:cNvPicPr/>
                      <p:nvPr/>
                    </p:nvPicPr>
                    <p:blipFill>
                      <a:blip r:embed="rId2"/>
                      <a:stretch>
                        <a:fillRect/>
                      </a:stretch>
                    </p:blipFill>
                    <p:spPr>
                      <a:xfrm>
                        <a:off x="1905000" y="3124200"/>
                        <a:ext cx="5181600" cy="596900"/>
                      </a:xfrm>
                      <a:prstGeom prst="rect">
                        <a:avLst/>
                      </a:prstGeom>
                      <a:solidFill>
                        <a:schemeClr val="accent1"/>
                      </a:solidFill>
                      <a:ln w="38100">
                        <a:noFill/>
                        <a:miter/>
                      </a:ln>
                    </p:spPr>
                  </p:pic>
                </p:oleObj>
              </mc:Fallback>
            </mc:AlternateContent>
          </a:graphicData>
        </a:graphic>
      </p:graphicFrame>
      <p:graphicFrame>
        <p:nvGraphicFramePr>
          <p:cNvPr id="29702" name="Object 5"/>
          <p:cNvGraphicFramePr/>
          <p:nvPr/>
        </p:nvGraphicFramePr>
        <p:xfrm>
          <a:off x="2286000" y="5181600"/>
          <a:ext cx="4521200" cy="546100"/>
        </p:xfrm>
        <a:graphic>
          <a:graphicData uri="http://schemas.openxmlformats.org/presentationml/2006/ole">
            <mc:AlternateContent xmlns:mc="http://schemas.openxmlformats.org/markup-compatibility/2006">
              <mc:Choice xmlns:v="urn:schemas-microsoft-com:vml" Requires="v">
                <p:oleObj spid="_x0000_s3080" name="" r:id="rId3" imgW="4290695" imgH="431800" progId="Equation.3">
                  <p:embed/>
                </p:oleObj>
              </mc:Choice>
              <mc:Fallback>
                <p:oleObj name="" r:id="rId3" imgW="4290695" imgH="431800" progId="Equation.3">
                  <p:embed/>
                  <p:pic>
                    <p:nvPicPr>
                      <p:cNvPr id="0" name="Picture 3079"/>
                      <p:cNvPicPr/>
                      <p:nvPr/>
                    </p:nvPicPr>
                    <p:blipFill>
                      <a:blip r:embed="rId4"/>
                      <a:stretch>
                        <a:fillRect/>
                      </a:stretch>
                    </p:blipFill>
                    <p:spPr>
                      <a:xfrm>
                        <a:off x="2286000" y="5181600"/>
                        <a:ext cx="4521200" cy="546100"/>
                      </a:xfrm>
                      <a:prstGeom prst="rect">
                        <a:avLst/>
                      </a:prstGeom>
                      <a:solidFill>
                        <a:schemeClr val="accent1"/>
                      </a:solidFill>
                      <a:ln w="38100">
                        <a:noFill/>
                        <a:miter/>
                      </a:ln>
                    </p:spPr>
                  </p:pic>
                </p:oleObj>
              </mc:Fallback>
            </mc:AlternateContent>
          </a:graphicData>
        </a:graphic>
      </p:graphicFrame>
    </p:spTree>
  </p:cSld>
  <p:clrMapOvr>
    <a:masterClrMapping/>
  </p:clrMapOvr>
  <p:transition>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2" name="Rectangle 2"/>
          <p:cNvSpPr>
            <a:spLocks noGrp="1" noChangeArrowheads="1"/>
          </p:cNvSpPr>
          <p:nvPr>
            <p:ph type="title"/>
          </p:nvPr>
        </p:nvSpPr>
        <p:spPr>
          <a:xfrm>
            <a:off x="228600" y="76200"/>
            <a:ext cx="8534400" cy="990600"/>
          </a:xfrm>
        </p:spPr>
        <p:txBody>
          <a:bodyPr vert="horz" anchor="b">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0"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Similarity and Dissimilarity Between Objects (Cont.)</a:t>
            </a:r>
            <a:endParaRPr kumimoji="0" lang="en-US" sz="2400" b="0"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0722" name="Rectangle 3"/>
          <p:cNvSpPr>
            <a:spLocks noGrp="1"/>
          </p:cNvSpPr>
          <p:nvPr>
            <p:ph sz="quarter" idx="1"/>
          </p:nvPr>
        </p:nvSpPr>
        <p:spPr>
          <a:xfrm>
            <a:off x="304800" y="1371600"/>
            <a:ext cx="8229600" cy="4953000"/>
          </a:xfrm>
          <a:ln/>
        </p:spPr>
        <p:txBody>
          <a:bodyPr vert="horz" wrap="square" lIns="91440" tIns="45720" rIns="91440" bIns="45720" anchor="t" anchorCtr="0"/>
          <a:p>
            <a:pPr algn="just" eaLnBrk="1" hangingPunct="1">
              <a:lnSpc>
                <a:spcPct val="110000"/>
              </a:lnSpc>
              <a:buClr>
                <a:schemeClr val="accent1"/>
              </a:buClr>
              <a:buSzPct val="70000"/>
              <a:buFont typeface="Wingdings" panose="05000000000000000000" pitchFamily="2" charset="2"/>
            </a:pPr>
            <a:r>
              <a:rPr lang="en-US" i="1" dirty="0"/>
              <a:t>If q</a:t>
            </a:r>
            <a:r>
              <a:rPr lang="en-US" dirty="0"/>
              <a:t> = </a:t>
            </a:r>
            <a:r>
              <a:rPr lang="en-US" i="1" dirty="0"/>
              <a:t>2</a:t>
            </a:r>
            <a:r>
              <a:rPr lang="en-US" dirty="0"/>
              <a:t>,</a:t>
            </a:r>
            <a:r>
              <a:rPr lang="en-US" i="1" dirty="0"/>
              <a:t> d </a:t>
            </a:r>
            <a:r>
              <a:rPr lang="en-US" dirty="0"/>
              <a:t>is Euclidean distance:</a:t>
            </a:r>
            <a:endParaRPr lang="en-US" dirty="0"/>
          </a:p>
          <a:p>
            <a:pPr algn="just" eaLnBrk="1" hangingPunct="1">
              <a:lnSpc>
                <a:spcPct val="110000"/>
              </a:lnSpc>
              <a:buClr>
                <a:schemeClr val="accent1"/>
              </a:buClr>
              <a:buSzPct val="70000"/>
              <a:buFont typeface="Wingdings" panose="05000000000000000000" pitchFamily="2" charset="2"/>
            </a:pPr>
            <a:endParaRPr lang="en-US" dirty="0"/>
          </a:p>
          <a:p>
            <a:pPr lvl="1" algn="just" eaLnBrk="1" hangingPunct="1">
              <a:lnSpc>
                <a:spcPct val="110000"/>
              </a:lnSpc>
              <a:buClr>
                <a:schemeClr val="accent1"/>
              </a:buClr>
              <a:buSzPct val="80000"/>
              <a:buFont typeface="Wingdings 2" panose="05020102010507070707" pitchFamily="18" charset="2"/>
            </a:pPr>
            <a:r>
              <a:rPr lang="en-US" dirty="0"/>
              <a:t>Properties</a:t>
            </a:r>
            <a:endParaRPr lang="en-US" dirty="0"/>
          </a:p>
          <a:p>
            <a:pPr lvl="2" indent="-182245" algn="just" eaLnBrk="1" hangingPunct="1">
              <a:lnSpc>
                <a:spcPct val="110000"/>
              </a:lnSpc>
              <a:buClr>
                <a:srgbClr val="E1307B"/>
              </a:buClr>
              <a:buSzPct val="60000"/>
              <a:buFont typeface="Wingdings" panose="05000000000000000000" pitchFamily="2" charset="2"/>
            </a:pPr>
            <a:r>
              <a:rPr lang="en-US" sz="1800" i="1" dirty="0"/>
              <a:t>d(i,j)</a:t>
            </a:r>
            <a:r>
              <a:rPr lang="en-US" sz="1800" dirty="0"/>
              <a:t> </a:t>
            </a:r>
            <a:r>
              <a:rPr lang="en-US" sz="1800" dirty="0">
                <a:sym typeface="Symbol" panose="05050102010706020507" pitchFamily="18" charset="2"/>
              </a:rPr>
              <a:t> 0</a:t>
            </a:r>
            <a:endParaRPr lang="en-US" sz="1800" dirty="0"/>
          </a:p>
          <a:p>
            <a:pPr lvl="2" indent="-182245" algn="just" eaLnBrk="1" hangingPunct="1">
              <a:lnSpc>
                <a:spcPct val="110000"/>
              </a:lnSpc>
              <a:buClr>
                <a:srgbClr val="E1307B"/>
              </a:buClr>
              <a:buSzPct val="60000"/>
              <a:buFont typeface="Wingdings" panose="05000000000000000000" pitchFamily="2" charset="2"/>
            </a:pPr>
            <a:r>
              <a:rPr lang="en-US" sz="1800" i="1" dirty="0"/>
              <a:t>d(i,i)</a:t>
            </a:r>
            <a:r>
              <a:rPr lang="en-US" sz="1800" dirty="0"/>
              <a:t> </a:t>
            </a:r>
            <a:r>
              <a:rPr lang="en-US" sz="1800" dirty="0">
                <a:sym typeface="Symbol" panose="05050102010706020507" pitchFamily="18" charset="2"/>
              </a:rPr>
              <a:t>= 0</a:t>
            </a:r>
            <a:endParaRPr lang="en-US" sz="1800" dirty="0"/>
          </a:p>
          <a:p>
            <a:pPr lvl="2" indent="-182245" algn="just" eaLnBrk="1" hangingPunct="1">
              <a:lnSpc>
                <a:spcPct val="110000"/>
              </a:lnSpc>
              <a:buClr>
                <a:srgbClr val="E1307B"/>
              </a:buClr>
              <a:buSzPct val="60000"/>
              <a:buFont typeface="Wingdings" panose="05000000000000000000" pitchFamily="2" charset="2"/>
            </a:pPr>
            <a:r>
              <a:rPr lang="en-US" sz="1800" i="1" dirty="0"/>
              <a:t>d(i,j)</a:t>
            </a:r>
            <a:r>
              <a:rPr lang="en-US" sz="1800" dirty="0"/>
              <a:t> </a:t>
            </a:r>
            <a:r>
              <a:rPr lang="en-US" sz="1800" dirty="0">
                <a:sym typeface="Symbol" panose="05050102010706020507" pitchFamily="18" charset="2"/>
              </a:rPr>
              <a:t>= </a:t>
            </a:r>
            <a:r>
              <a:rPr lang="en-US" sz="1800" i="1" dirty="0"/>
              <a:t>d(j,i)</a:t>
            </a:r>
            <a:endParaRPr lang="en-US" sz="1800" dirty="0"/>
          </a:p>
          <a:p>
            <a:pPr lvl="2" indent="-182245" algn="just" eaLnBrk="1" hangingPunct="1">
              <a:lnSpc>
                <a:spcPct val="110000"/>
              </a:lnSpc>
              <a:buClr>
                <a:srgbClr val="E1307B"/>
              </a:buClr>
              <a:buSzPct val="60000"/>
              <a:buFont typeface="Wingdings" panose="05000000000000000000" pitchFamily="2" charset="2"/>
            </a:pPr>
            <a:r>
              <a:rPr lang="en-US" sz="1800" i="1" dirty="0"/>
              <a:t>d(i,j)</a:t>
            </a:r>
            <a:r>
              <a:rPr lang="en-US" sz="1800" dirty="0"/>
              <a:t> </a:t>
            </a:r>
            <a:r>
              <a:rPr lang="en-US" sz="1800" dirty="0">
                <a:sym typeface="Symbol" panose="05050102010706020507" pitchFamily="18" charset="2"/>
              </a:rPr>
              <a:t> </a:t>
            </a:r>
            <a:r>
              <a:rPr lang="en-US" sz="1800" i="1" dirty="0"/>
              <a:t>d(i,k)</a:t>
            </a:r>
            <a:r>
              <a:rPr lang="en-US" sz="1800" dirty="0"/>
              <a:t> </a:t>
            </a:r>
            <a:r>
              <a:rPr lang="en-US" sz="1800" dirty="0">
                <a:sym typeface="Symbol" panose="05050102010706020507" pitchFamily="18" charset="2"/>
              </a:rPr>
              <a:t>+ </a:t>
            </a:r>
            <a:r>
              <a:rPr lang="en-US" sz="1800" i="1" dirty="0"/>
              <a:t>d(k,j)</a:t>
            </a:r>
            <a:endParaRPr lang="en-US" sz="1800" dirty="0">
              <a:sym typeface="Symbol" panose="05050102010706020507" pitchFamily="18" charset="2"/>
            </a:endParaRPr>
          </a:p>
          <a:p>
            <a:pPr algn="just" eaLnBrk="1" hangingPunct="1">
              <a:lnSpc>
                <a:spcPct val="110000"/>
              </a:lnSpc>
              <a:buClr>
                <a:schemeClr val="accent1"/>
              </a:buClr>
              <a:buSzPct val="70000"/>
              <a:buFont typeface="Wingdings" panose="05000000000000000000" pitchFamily="2" charset="2"/>
            </a:pPr>
            <a:r>
              <a:rPr lang="en-US" dirty="0"/>
              <a:t>Also one can use weighted distance, parametric Pearson product moment correlation, or other dissimilarity measures.</a:t>
            </a:r>
            <a:endParaRPr lang="en-US" dirty="0"/>
          </a:p>
        </p:txBody>
      </p:sp>
      <p:sp>
        <p:nvSpPr>
          <p:cNvPr id="3072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072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30725" name="Object 4"/>
          <p:cNvGraphicFramePr/>
          <p:nvPr/>
        </p:nvGraphicFramePr>
        <p:xfrm>
          <a:off x="2286000" y="2590800"/>
          <a:ext cx="5170488" cy="582613"/>
        </p:xfrm>
        <a:graphic>
          <a:graphicData uri="http://schemas.openxmlformats.org/presentationml/2006/ole">
            <mc:AlternateContent xmlns:mc="http://schemas.openxmlformats.org/markup-compatibility/2006">
              <mc:Choice xmlns:v="urn:schemas-microsoft-com:vml" Requires="v">
                <p:oleObj spid="_x0000_s3081" name="" r:id="rId1" imgW="5166360" imgH="584200" progId="Equation.3">
                  <p:embed/>
                </p:oleObj>
              </mc:Choice>
              <mc:Fallback>
                <p:oleObj name="" r:id="rId1" imgW="5166360" imgH="584200" progId="Equation.3">
                  <p:embed/>
                  <p:pic>
                    <p:nvPicPr>
                      <p:cNvPr id="0" name="Picture 3080"/>
                      <p:cNvPicPr/>
                      <p:nvPr/>
                    </p:nvPicPr>
                    <p:blipFill>
                      <a:blip r:embed="rId2"/>
                      <a:stretch>
                        <a:fillRect/>
                      </a:stretch>
                    </p:blipFill>
                    <p:spPr>
                      <a:xfrm>
                        <a:off x="2286000" y="2590800"/>
                        <a:ext cx="5170488" cy="582613"/>
                      </a:xfrm>
                      <a:prstGeom prst="rect">
                        <a:avLst/>
                      </a:prstGeom>
                      <a:solidFill>
                        <a:schemeClr val="accent1"/>
                      </a:solidFill>
                      <a:ln w="38100">
                        <a:noFill/>
                        <a:miter/>
                      </a:ln>
                    </p:spPr>
                  </p:pic>
                </p:oleObj>
              </mc:Fallback>
            </mc:AlternateContent>
          </a:graphicData>
        </a:graphic>
      </p:graphicFrame>
    </p:spTree>
  </p:cSld>
  <p:clrMapOvr>
    <a:masterClrMapping/>
  </p:clrMapOvr>
  <p:transition>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Content Placeholder 2"/>
          <p:cNvSpPr>
            <a:spLocks noGrp="1"/>
          </p:cNvSpPr>
          <p:nvPr>
            <p:ph sz="quarter" idx="1"/>
          </p:nvPr>
        </p:nvSpPr>
        <p:spPr>
          <a:xfrm>
            <a:off x="457200" y="1066800"/>
            <a:ext cx="7467600" cy="2743200"/>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US" dirty="0"/>
              <a:t>A Binary variable has only two states (</a:t>
            </a:r>
            <a:r>
              <a:rPr lang="en-US" dirty="0">
                <a:solidFill>
                  <a:srgbClr val="FF0000"/>
                </a:solidFill>
              </a:rPr>
              <a:t>0</a:t>
            </a:r>
            <a:r>
              <a:rPr lang="en-US" dirty="0"/>
              <a:t> or </a:t>
            </a:r>
            <a:r>
              <a:rPr lang="en-US" dirty="0">
                <a:solidFill>
                  <a:schemeClr val="accent1"/>
                </a:solidFill>
              </a:rPr>
              <a:t>1</a:t>
            </a:r>
            <a:r>
              <a:rPr lang="en-US" dirty="0"/>
              <a:t>)</a:t>
            </a:r>
            <a:endParaRPr lang="en-US" dirty="0"/>
          </a:p>
          <a:p>
            <a:pPr lvl="1" algn="just" eaLnBrk="1" hangingPunct="1">
              <a:buClr>
                <a:schemeClr val="accent1"/>
              </a:buClr>
              <a:buSzPct val="80000"/>
              <a:buFont typeface="Wingdings 2" panose="05020102010507070707" pitchFamily="18" charset="2"/>
            </a:pPr>
            <a:r>
              <a:rPr lang="en-US" dirty="0">
                <a:solidFill>
                  <a:schemeClr val="accent1"/>
                </a:solidFill>
              </a:rPr>
              <a:t>0</a:t>
            </a:r>
            <a:r>
              <a:rPr lang="en-US" dirty="0"/>
              <a:t> means variable is </a:t>
            </a:r>
            <a:r>
              <a:rPr lang="en-US" dirty="0">
                <a:solidFill>
                  <a:schemeClr val="accent1"/>
                </a:solidFill>
              </a:rPr>
              <a:t>absent</a:t>
            </a:r>
            <a:endParaRPr lang="en-US" dirty="0">
              <a:solidFill>
                <a:schemeClr val="accent1"/>
              </a:solidFill>
            </a:endParaRPr>
          </a:p>
          <a:p>
            <a:pPr lvl="1" algn="just" eaLnBrk="1" hangingPunct="1">
              <a:buClr>
                <a:schemeClr val="accent1"/>
              </a:buClr>
              <a:buSzPct val="80000"/>
              <a:buFont typeface="Wingdings 2" panose="05020102010507070707" pitchFamily="18" charset="2"/>
            </a:pPr>
            <a:r>
              <a:rPr lang="en-US" dirty="0">
                <a:solidFill>
                  <a:schemeClr val="accent1"/>
                </a:solidFill>
              </a:rPr>
              <a:t>1</a:t>
            </a:r>
            <a:r>
              <a:rPr lang="en-US" dirty="0"/>
              <a:t> means variable is </a:t>
            </a:r>
            <a:r>
              <a:rPr lang="en-US" dirty="0">
                <a:solidFill>
                  <a:schemeClr val="accent1"/>
                </a:solidFill>
              </a:rPr>
              <a:t>present</a:t>
            </a:r>
            <a:endParaRPr lang="en-US" dirty="0">
              <a:solidFill>
                <a:schemeClr val="accent1"/>
              </a:solidFill>
            </a:endParaRPr>
          </a:p>
          <a:p>
            <a:pPr lvl="1" algn="just" eaLnBrk="1" hangingPunct="1">
              <a:buClr>
                <a:schemeClr val="accent1"/>
              </a:buClr>
              <a:buSzPct val="80000"/>
              <a:buFont typeface="Wingdings 2" panose="05020102010507070707" pitchFamily="18" charset="2"/>
            </a:pPr>
            <a:r>
              <a:rPr lang="en-US" dirty="0"/>
              <a:t>Ex: variable </a:t>
            </a:r>
            <a:r>
              <a:rPr lang="en-US" i="1" dirty="0">
                <a:solidFill>
                  <a:schemeClr val="accent1"/>
                </a:solidFill>
              </a:rPr>
              <a:t>smoker</a:t>
            </a:r>
            <a:r>
              <a:rPr lang="en-US" dirty="0"/>
              <a:t> (1 indicates patient smokes and 0 indicates patient does not)</a:t>
            </a:r>
            <a:endParaRPr lang="en-US" dirty="0"/>
          </a:p>
          <a:p>
            <a:pPr lvl="1" algn="just" eaLnBrk="1" hangingPunct="1">
              <a:buClr>
                <a:schemeClr val="accent1"/>
              </a:buClr>
              <a:buSzPct val="80000"/>
              <a:buFont typeface="Wingdings 2" panose="05020102010507070707" pitchFamily="18" charset="2"/>
            </a:pPr>
            <a:r>
              <a:rPr lang="en-US" dirty="0"/>
              <a:t>Treating </a:t>
            </a:r>
            <a:r>
              <a:rPr lang="en-US" dirty="0">
                <a:solidFill>
                  <a:schemeClr val="accent1"/>
                </a:solidFill>
              </a:rPr>
              <a:t>binary variables </a:t>
            </a:r>
            <a:r>
              <a:rPr lang="en-US" dirty="0"/>
              <a:t>as </a:t>
            </a:r>
            <a:r>
              <a:rPr lang="en-US" dirty="0">
                <a:solidFill>
                  <a:schemeClr val="accent1"/>
                </a:solidFill>
              </a:rPr>
              <a:t>interval-scaled</a:t>
            </a:r>
            <a:r>
              <a:rPr lang="en-US" dirty="0"/>
              <a:t> can lead to </a:t>
            </a:r>
            <a:r>
              <a:rPr lang="en-US" dirty="0">
                <a:solidFill>
                  <a:schemeClr val="accent1"/>
                </a:solidFill>
              </a:rPr>
              <a:t>misleading results</a:t>
            </a:r>
            <a:endParaRPr lang="en-US" dirty="0">
              <a:solidFill>
                <a:schemeClr val="accent1"/>
              </a:solidFill>
            </a:endParaRPr>
          </a:p>
          <a:p>
            <a:pPr lvl="1" algn="just" eaLnBrk="1" hangingPunct="1">
              <a:buClr>
                <a:schemeClr val="accent1"/>
              </a:buClr>
              <a:buSzPct val="80000"/>
              <a:buFont typeface="Wingdings 2" panose="05020102010507070707" pitchFamily="18" charset="2"/>
            </a:pPr>
            <a:r>
              <a:rPr lang="en-US" dirty="0"/>
              <a:t>There may be </a:t>
            </a:r>
            <a:r>
              <a:rPr lang="en-US" dirty="0">
                <a:solidFill>
                  <a:schemeClr val="accent1"/>
                </a:solidFill>
              </a:rPr>
              <a:t>symmetric </a:t>
            </a:r>
            <a:r>
              <a:rPr lang="en-US" dirty="0"/>
              <a:t>and</a:t>
            </a:r>
            <a:r>
              <a:rPr lang="en-US" dirty="0">
                <a:solidFill>
                  <a:schemeClr val="accent1"/>
                </a:solidFill>
              </a:rPr>
              <a:t> asymmetric binary variables</a:t>
            </a:r>
            <a:endParaRPr lang="en-US" dirty="0">
              <a:solidFill>
                <a:schemeClr val="accent1"/>
              </a:solidFill>
            </a:endParaRPr>
          </a:p>
          <a:p>
            <a:pPr lvl="1" algn="just" eaLnBrk="1" hangingPunct="1">
              <a:buClr>
                <a:schemeClr val="accent1"/>
              </a:buClr>
              <a:buSzPct val="80000"/>
              <a:buFont typeface="Wingdings 2" panose="05020102010507070707" pitchFamily="18" charset="2"/>
              <a:buNone/>
            </a:pPr>
            <a:endParaRPr lang="en-IN" altLang="x-none" dirty="0">
              <a:solidFill>
                <a:schemeClr val="accent1"/>
              </a:solidFill>
            </a:endParaRPr>
          </a:p>
        </p:txBody>
      </p:sp>
      <p:sp>
        <p:nvSpPr>
          <p:cNvPr id="31746"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1747"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228600" y="0"/>
            <a:ext cx="6324600" cy="715963"/>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Binary Variables</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Content Placeholder 2"/>
          <p:cNvSpPr txBox="1"/>
          <p:nvPr/>
        </p:nvSpPr>
        <p:spPr bwMode="auto">
          <a:xfrm>
            <a:off x="533400" y="4419600"/>
            <a:ext cx="7848600" cy="1828800"/>
          </a:xfrm>
          <a:prstGeom prst="rect">
            <a:avLst/>
          </a:prstGeom>
          <a:noFill/>
          <a:ln w="9525">
            <a:noFill/>
            <a:miter lim="800000"/>
          </a:ln>
        </p:spPr>
        <p:txBody>
          <a:bodyPr/>
          <a:lstStyle/>
          <a:p>
            <a:pPr marL="273050" marR="0" indent="-273050" algn="just" defTabSz="914400">
              <a:spcBef>
                <a:spcPts val="600"/>
              </a:spcBef>
              <a:buClr>
                <a:schemeClr val="accent1"/>
              </a:buClr>
              <a:buSzPct val="70000"/>
              <a:buFont typeface="Wingdings" panose="05000000000000000000" pitchFamily="2" charset="2"/>
              <a:buChar char=""/>
              <a:defRPr/>
            </a:pPr>
            <a:r>
              <a:rPr kumimoji="0" lang="en-US" kern="1200" cap="none" spc="0" normalizeH="0" baseline="0" noProof="0" dirty="0">
                <a:latin typeface="+mn-lt"/>
                <a:ea typeface="+mn-ea"/>
                <a:cs typeface="+mn-cs"/>
              </a:rPr>
              <a:t>To compute the dissimilarity between two binary variables</a:t>
            </a:r>
            <a:endParaRPr kumimoji="0" lang="en-US" kern="1200" cap="none" spc="0" normalizeH="0" baseline="0" noProof="0" dirty="0">
              <a:latin typeface="+mn-lt"/>
              <a:ea typeface="+mn-ea"/>
              <a:cs typeface="+mn-cs"/>
            </a:endParaRPr>
          </a:p>
          <a:p>
            <a:pPr marL="640080" marR="0" lvl="1" indent="-273050" algn="just" defTabSz="914400" rtl="0" eaLnBrk="1" fontAlgn="base" latinLnBrk="0" hangingPunct="1">
              <a:lnSpc>
                <a:spcPct val="130000"/>
              </a:lnSpc>
              <a:spcBef>
                <a:spcPct val="20000"/>
              </a:spcBef>
              <a:spcAft>
                <a:spcPct val="0"/>
              </a:spcAft>
              <a:buClr>
                <a:schemeClr val="accent1"/>
              </a:buClr>
              <a:buSzPct val="80000"/>
              <a:buFont typeface="Wingdings 2" panose="05020102010507070707" pitchFamily="18" charset="2"/>
              <a:buChar char=""/>
              <a:defRPr/>
            </a:pPr>
            <a:r>
              <a:rPr kumimoji="0" lang="en-US" sz="2100" b="0" i="0" u="none" strike="noStrike" kern="1200" cap="none" spc="0" normalizeH="0" baseline="0" noProof="0" dirty="0">
                <a:ln>
                  <a:noFill/>
                </a:ln>
                <a:solidFill>
                  <a:schemeClr val="tx1"/>
                </a:solidFill>
                <a:effectLst/>
                <a:uLnTx/>
                <a:uFillTx/>
                <a:latin typeface="+mn-lt"/>
                <a:ea typeface="+mn-ea"/>
                <a:cs typeface="+mn-cs"/>
              </a:rPr>
              <a:t>If all binary variables are thought of as having same weight , construct a 2-by-2 contingency table.</a:t>
            </a:r>
            <a:endParaRPr kumimoji="0" lang="en-IN" sz="21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5" name="Rectangle 2"/>
          <p:cNvSpPr>
            <a:spLocks noGrp="1" noChangeArrowheads="1"/>
          </p:cNvSpPr>
          <p:nvPr>
            <p:ph type="title"/>
          </p:nvPr>
        </p:nvSpPr>
        <p:spPr>
          <a:xfrm>
            <a:off x="228600" y="76200"/>
            <a:ext cx="7297738" cy="7064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Binary Variables (Contd…)</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2770" name="Rectangle 3"/>
          <p:cNvSpPr>
            <a:spLocks noGrp="1"/>
          </p:cNvSpPr>
          <p:nvPr>
            <p:ph sz="quarter" idx="1"/>
          </p:nvPr>
        </p:nvSpPr>
        <p:spPr>
          <a:xfrm>
            <a:off x="381000" y="838200"/>
            <a:ext cx="8001000" cy="2590800"/>
          </a:xfrm>
          <a:ln/>
        </p:spPr>
        <p:txBody>
          <a:bodyPr vert="horz" wrap="square" lIns="92075" tIns="46038" rIns="92075" bIns="46038" anchor="t" anchorCtr="0"/>
          <a:p>
            <a:pPr eaLnBrk="1" hangingPunct="1">
              <a:lnSpc>
                <a:spcPct val="130000"/>
              </a:lnSpc>
              <a:buClr>
                <a:schemeClr val="accent1"/>
              </a:buClr>
              <a:buSzPct val="70000"/>
              <a:buFont typeface="Wingdings" panose="05000000000000000000" pitchFamily="2" charset="2"/>
            </a:pPr>
            <a:r>
              <a:rPr lang="en-US" dirty="0"/>
              <a:t>A contingency table for binary data</a:t>
            </a:r>
            <a:endParaRPr lang="en-US" dirty="0"/>
          </a:p>
          <a:p>
            <a:pPr eaLnBrk="1" hangingPunct="1">
              <a:lnSpc>
                <a:spcPct val="130000"/>
              </a:lnSpc>
              <a:buClr>
                <a:schemeClr val="accent1"/>
              </a:buClr>
              <a:buSzPct val="70000"/>
              <a:buFont typeface="Wingdings" panose="05000000000000000000" pitchFamily="2" charset="2"/>
              <a:buNone/>
            </a:pPr>
            <a:endParaRPr lang="en-US" dirty="0"/>
          </a:p>
          <a:p>
            <a:pPr eaLnBrk="1" hangingPunct="1">
              <a:lnSpc>
                <a:spcPct val="130000"/>
              </a:lnSpc>
              <a:buClr>
                <a:schemeClr val="accent1"/>
              </a:buClr>
              <a:buSzPct val="70000"/>
              <a:buFont typeface="Wingdings" panose="05000000000000000000" pitchFamily="2" charset="2"/>
            </a:pPr>
            <a:endParaRPr lang="en-US" dirty="0"/>
          </a:p>
          <a:p>
            <a:pPr eaLnBrk="1" hangingPunct="1">
              <a:lnSpc>
                <a:spcPct val="130000"/>
              </a:lnSpc>
              <a:buClr>
                <a:schemeClr val="accent1"/>
              </a:buClr>
              <a:buSzPct val="70000"/>
              <a:buFont typeface="Wingdings" panose="05000000000000000000" pitchFamily="2" charset="2"/>
            </a:pPr>
            <a:endParaRPr lang="en-US" dirty="0"/>
          </a:p>
          <a:p>
            <a:pPr eaLnBrk="1" hangingPunct="1">
              <a:lnSpc>
                <a:spcPct val="130000"/>
              </a:lnSpc>
              <a:buClr>
                <a:schemeClr val="accent1"/>
              </a:buClr>
              <a:buSzPct val="70000"/>
              <a:buFont typeface="Wingdings" panose="05000000000000000000" pitchFamily="2" charset="2"/>
              <a:buNone/>
            </a:pPr>
            <a:r>
              <a:rPr lang="en-US" dirty="0"/>
              <a:t>Where, p is total no of variable and  </a:t>
            </a:r>
            <a:r>
              <a:rPr lang="en-US" i="1" dirty="0"/>
              <a:t>p= a + b + c + d</a:t>
            </a:r>
            <a:endParaRPr lang="en-US" i="1" dirty="0"/>
          </a:p>
        </p:txBody>
      </p:sp>
      <p:sp>
        <p:nvSpPr>
          <p:cNvPr id="3277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277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32773" name="Object 5"/>
          <p:cNvGraphicFramePr/>
          <p:nvPr/>
        </p:nvGraphicFramePr>
        <p:xfrm>
          <a:off x="2743200" y="1752600"/>
          <a:ext cx="2895600" cy="1295400"/>
        </p:xfrm>
        <a:graphic>
          <a:graphicData uri="http://schemas.openxmlformats.org/presentationml/2006/ole">
            <mc:AlternateContent xmlns:mc="http://schemas.openxmlformats.org/markup-compatibility/2006">
              <mc:Choice xmlns:v="urn:schemas-microsoft-com:vml" Requires="v">
                <p:oleObj spid="_x0000_s3082" name="" r:id="rId1" imgW="2540000" imgH="1447800" progId="Equation.3">
                  <p:embed/>
                </p:oleObj>
              </mc:Choice>
              <mc:Fallback>
                <p:oleObj name="" r:id="rId1" imgW="2540000" imgH="1447800" progId="Equation.3">
                  <p:embed/>
                  <p:pic>
                    <p:nvPicPr>
                      <p:cNvPr id="0" name="Picture 3081"/>
                      <p:cNvPicPr/>
                      <p:nvPr/>
                    </p:nvPicPr>
                    <p:blipFill>
                      <a:blip r:embed="rId2"/>
                      <a:stretch>
                        <a:fillRect/>
                      </a:stretch>
                    </p:blipFill>
                    <p:spPr>
                      <a:xfrm>
                        <a:off x="2743200" y="1752600"/>
                        <a:ext cx="2895600" cy="1295400"/>
                      </a:xfrm>
                      <a:prstGeom prst="rect">
                        <a:avLst/>
                      </a:prstGeom>
                      <a:noFill/>
                      <a:ln w="38100">
                        <a:noFill/>
                        <a:miter/>
                      </a:ln>
                    </p:spPr>
                  </p:pic>
                </p:oleObj>
              </mc:Fallback>
            </mc:AlternateContent>
          </a:graphicData>
        </a:graphic>
      </p:graphicFrame>
      <p:sp>
        <p:nvSpPr>
          <p:cNvPr id="32774" name="Line 7"/>
          <p:cNvSpPr/>
          <p:nvPr/>
        </p:nvSpPr>
        <p:spPr>
          <a:xfrm>
            <a:off x="2819400" y="2057400"/>
            <a:ext cx="2971800" cy="0"/>
          </a:xfrm>
          <a:prstGeom prst="line">
            <a:avLst/>
          </a:prstGeom>
          <a:ln w="9525" cap="flat" cmpd="sng">
            <a:solidFill>
              <a:schemeClr val="tx1"/>
            </a:solidFill>
            <a:prstDash val="solid"/>
            <a:round/>
            <a:headEnd type="none" w="med" len="med"/>
            <a:tailEnd type="none" w="med" len="med"/>
          </a:ln>
        </p:spPr>
      </p:sp>
      <p:sp>
        <p:nvSpPr>
          <p:cNvPr id="32775" name="Line 8"/>
          <p:cNvSpPr/>
          <p:nvPr/>
        </p:nvSpPr>
        <p:spPr>
          <a:xfrm>
            <a:off x="3352800" y="1752600"/>
            <a:ext cx="0" cy="1371600"/>
          </a:xfrm>
          <a:prstGeom prst="line">
            <a:avLst/>
          </a:prstGeom>
          <a:ln w="9525" cap="flat" cmpd="sng">
            <a:solidFill>
              <a:schemeClr val="tx1"/>
            </a:solidFill>
            <a:prstDash val="solid"/>
            <a:round/>
            <a:headEnd type="none" w="med" len="med"/>
            <a:tailEnd type="none" w="med" len="med"/>
          </a:ln>
        </p:spPr>
      </p:sp>
      <p:sp>
        <p:nvSpPr>
          <p:cNvPr id="32776" name="Text Box 9"/>
          <p:cNvSpPr txBox="1"/>
          <p:nvPr/>
        </p:nvSpPr>
        <p:spPr>
          <a:xfrm>
            <a:off x="1524000" y="2209800"/>
            <a:ext cx="1066800" cy="396875"/>
          </a:xfrm>
          <a:prstGeom prst="rect">
            <a:avLst/>
          </a:prstGeom>
          <a:noFill/>
          <a:ln w="9525">
            <a:noFill/>
          </a:ln>
        </p:spPr>
        <p:txBody>
          <a:bodyPr anchor="t" anchorCtr="0">
            <a:spAutoFit/>
          </a:bodyPr>
          <a:p>
            <a:pPr eaLnBrk="0" hangingPunct="0">
              <a:spcBef>
                <a:spcPct val="50000"/>
              </a:spcBef>
            </a:pPr>
            <a:r>
              <a:rPr lang="en-US" sz="2000" b="1" dirty="0">
                <a:latin typeface="Times New Roman" panose="02020603050405020304" pitchFamily="18" charset="0"/>
              </a:rPr>
              <a:t>Object </a:t>
            </a:r>
            <a:r>
              <a:rPr lang="en-US" sz="2000" b="1" i="1" dirty="0">
                <a:latin typeface="Times New Roman" panose="02020603050405020304" pitchFamily="18" charset="0"/>
              </a:rPr>
              <a:t>i</a:t>
            </a:r>
            <a:endParaRPr lang="en-US" sz="2000" b="1" dirty="0">
              <a:latin typeface="Times New Roman" panose="02020603050405020304" pitchFamily="18" charset="0"/>
            </a:endParaRPr>
          </a:p>
        </p:txBody>
      </p:sp>
      <p:sp>
        <p:nvSpPr>
          <p:cNvPr id="32777" name="Text Box 10"/>
          <p:cNvSpPr txBox="1"/>
          <p:nvPr/>
        </p:nvSpPr>
        <p:spPr>
          <a:xfrm>
            <a:off x="3581400" y="1431925"/>
            <a:ext cx="1219200" cy="396875"/>
          </a:xfrm>
          <a:prstGeom prst="rect">
            <a:avLst/>
          </a:prstGeom>
          <a:noFill/>
          <a:ln w="9525">
            <a:noFill/>
          </a:ln>
        </p:spPr>
        <p:txBody>
          <a:bodyPr anchor="t" anchorCtr="0">
            <a:spAutoFit/>
          </a:bodyPr>
          <a:p>
            <a:pPr eaLnBrk="0" hangingPunct="0">
              <a:spcBef>
                <a:spcPct val="50000"/>
              </a:spcBef>
            </a:pPr>
            <a:r>
              <a:rPr lang="en-US" sz="2000" b="1" dirty="0">
                <a:latin typeface="Times New Roman" panose="02020603050405020304" pitchFamily="18" charset="0"/>
              </a:rPr>
              <a:t>Object  </a:t>
            </a:r>
            <a:r>
              <a:rPr lang="en-US" sz="2000" b="1" i="1" dirty="0">
                <a:latin typeface="Times New Roman" panose="02020603050405020304" pitchFamily="18" charset="0"/>
              </a:rPr>
              <a:t>j</a:t>
            </a:r>
            <a:endParaRPr lang="en-US" sz="2000" b="1" i="1" dirty="0">
              <a:latin typeface="Times New Roman" panose="02020603050405020304" pitchFamily="18" charset="0"/>
            </a:endParaRPr>
          </a:p>
        </p:txBody>
      </p:sp>
      <p:sp>
        <p:nvSpPr>
          <p:cNvPr id="32778" name="Rectangle 3"/>
          <p:cNvSpPr txBox="1"/>
          <p:nvPr/>
        </p:nvSpPr>
        <p:spPr>
          <a:xfrm>
            <a:off x="457200" y="3810000"/>
            <a:ext cx="8001000" cy="2590800"/>
          </a:xfrm>
          <a:prstGeom prst="rect">
            <a:avLst/>
          </a:prstGeom>
          <a:noFill/>
          <a:ln w="9525">
            <a:noFill/>
          </a:ln>
        </p:spPr>
        <p:txBody>
          <a:bodyPr lIns="92075" tIns="46038" rIns="92075" bIns="46038" anchor="t" anchorCtr="0"/>
          <a:p>
            <a:pPr marL="273050" indent="-273050" algn="just">
              <a:spcBef>
                <a:spcPts val="600"/>
              </a:spcBef>
              <a:buClr>
                <a:schemeClr val="accent1"/>
              </a:buClr>
              <a:buSzPct val="70000"/>
              <a:buFont typeface="Wingdings" panose="05000000000000000000" pitchFamily="2" charset="2"/>
              <a:buChar char=""/>
            </a:pPr>
            <a:r>
              <a:rPr lang="en-US" altLang="zh-CN" sz="2000" dirty="0">
                <a:latin typeface="Century Schoolbook" panose="02040604050505020304" pitchFamily="18" charset="0"/>
                <a:ea typeface="SimSun" panose="02010600030101010101" pitchFamily="2" charset="-122"/>
              </a:rPr>
              <a:t>A binary variable is </a:t>
            </a:r>
            <a:r>
              <a:rPr lang="en-US" altLang="zh-CN" sz="2000" dirty="0">
                <a:solidFill>
                  <a:schemeClr val="accent1"/>
                </a:solidFill>
                <a:latin typeface="Century Schoolbook" panose="02040604050505020304" pitchFamily="18" charset="0"/>
                <a:ea typeface="SimSun" panose="02010600030101010101" pitchFamily="2" charset="-122"/>
              </a:rPr>
              <a:t>symmetric</a:t>
            </a:r>
            <a:r>
              <a:rPr lang="en-US" altLang="zh-CN" sz="2000" dirty="0">
                <a:latin typeface="Century Schoolbook" panose="02040604050505020304" pitchFamily="18" charset="0"/>
                <a:ea typeface="SimSun" panose="02010600030101010101" pitchFamily="2" charset="-122"/>
              </a:rPr>
              <a:t> if both of states are </a:t>
            </a:r>
            <a:r>
              <a:rPr lang="en-US" altLang="zh-CN" sz="2000" dirty="0">
                <a:solidFill>
                  <a:schemeClr val="accent1"/>
                </a:solidFill>
                <a:latin typeface="Century Schoolbook" panose="02040604050505020304" pitchFamily="18" charset="0"/>
                <a:ea typeface="SimSun" panose="02010600030101010101" pitchFamily="2" charset="-122"/>
              </a:rPr>
              <a:t>equally valuable and carry the same weight</a:t>
            </a:r>
            <a:r>
              <a:rPr lang="en-US" altLang="zh-CN" sz="2000" dirty="0">
                <a:latin typeface="Century Schoolbook" panose="02040604050505020304" pitchFamily="18" charset="0"/>
                <a:ea typeface="SimSun" panose="02010600030101010101" pitchFamily="2" charset="-122"/>
              </a:rPr>
              <a:t>, no preference on the outcome should be coded as 0 or 1.</a:t>
            </a: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buChar char=""/>
            </a:pPr>
            <a:r>
              <a:rPr lang="en-US" altLang="zh-CN" sz="2000" dirty="0">
                <a:latin typeface="Century Schoolbook" panose="02040604050505020304" pitchFamily="18" charset="0"/>
                <a:ea typeface="SimSun" panose="02010600030101010101" pitchFamily="2" charset="-122"/>
              </a:rPr>
              <a:t>Ex: </a:t>
            </a:r>
            <a:r>
              <a:rPr lang="en-US" altLang="zh-CN" sz="2000" i="1" dirty="0">
                <a:solidFill>
                  <a:schemeClr val="accent1"/>
                </a:solidFill>
                <a:latin typeface="Century Schoolbook" panose="02040604050505020304" pitchFamily="18" charset="0"/>
                <a:ea typeface="SimSun" panose="02010600030101010101" pitchFamily="2" charset="-122"/>
              </a:rPr>
              <a:t>gender</a:t>
            </a:r>
            <a:r>
              <a:rPr lang="en-US" altLang="zh-CN" sz="2000" dirty="0">
                <a:latin typeface="Century Schoolbook" panose="02040604050505020304" pitchFamily="18" charset="0"/>
                <a:ea typeface="SimSun" panose="02010600030101010101" pitchFamily="2" charset="-122"/>
              </a:rPr>
              <a:t> (male or female)</a:t>
            </a: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buChar char=""/>
            </a:pPr>
            <a:r>
              <a:rPr lang="en-US" altLang="zh-CN" sz="2000" dirty="0">
                <a:solidFill>
                  <a:schemeClr val="accent1"/>
                </a:solidFill>
                <a:latin typeface="Century Schoolbook" panose="02040604050505020304" pitchFamily="18" charset="0"/>
                <a:ea typeface="SimSun" panose="02010600030101010101" pitchFamily="2" charset="-122"/>
              </a:rPr>
              <a:t>Dissimilarity</a:t>
            </a:r>
            <a:r>
              <a:rPr lang="en-US" altLang="zh-CN" sz="2000" dirty="0">
                <a:latin typeface="Century Schoolbook" panose="02040604050505020304" pitchFamily="18" charset="0"/>
                <a:ea typeface="SimSun" panose="02010600030101010101" pitchFamily="2" charset="-122"/>
              </a:rPr>
              <a:t> based on symmetric binary variable is called </a:t>
            </a:r>
            <a:r>
              <a:rPr lang="en-US" altLang="zh-CN" sz="2000" dirty="0">
                <a:solidFill>
                  <a:schemeClr val="accent1"/>
                </a:solidFill>
                <a:latin typeface="Century Schoolbook" panose="02040604050505020304" pitchFamily="18" charset="0"/>
                <a:ea typeface="SimSun" panose="02010600030101010101" pitchFamily="2" charset="-122"/>
              </a:rPr>
              <a:t>symmetric binary dissimilarity</a:t>
            </a:r>
            <a:endParaRPr lang="en-US" altLang="zh-CN" sz="2000" dirty="0">
              <a:solidFill>
                <a:schemeClr val="accent1"/>
              </a:solidFill>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pP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pPr>
            <a:endParaRPr lang="en-US" altLang="zh-CN" sz="2000" dirty="0">
              <a:latin typeface="Century Schoolbook" panose="02040604050505020304" pitchFamily="18" charset="0"/>
              <a:ea typeface="SimSun" panose="02010600030101010101" pitchFamily="2" charset="-122"/>
            </a:endParaRPr>
          </a:p>
        </p:txBody>
      </p:sp>
      <p:graphicFrame>
        <p:nvGraphicFramePr>
          <p:cNvPr id="32779" name="Object 4"/>
          <p:cNvGraphicFramePr/>
          <p:nvPr/>
        </p:nvGraphicFramePr>
        <p:xfrm>
          <a:off x="2743200" y="6019800"/>
          <a:ext cx="3067050" cy="558800"/>
        </p:xfrm>
        <a:graphic>
          <a:graphicData uri="http://schemas.openxmlformats.org/presentationml/2006/ole">
            <mc:AlternateContent xmlns:mc="http://schemas.openxmlformats.org/markup-compatibility/2006">
              <mc:Choice xmlns:v="urn:schemas-microsoft-com:vml" Requires="v">
                <p:oleObj spid="_x0000_s3084" name="" r:id="rId3" imgW="2044065" imgH="482600" progId="Equation.3">
                  <p:embed/>
                </p:oleObj>
              </mc:Choice>
              <mc:Fallback>
                <p:oleObj name="" r:id="rId3" imgW="2044065" imgH="482600" progId="Equation.3">
                  <p:embed/>
                  <p:pic>
                    <p:nvPicPr>
                      <p:cNvPr id="0" name="Picture 3083"/>
                      <p:cNvPicPr/>
                      <p:nvPr/>
                    </p:nvPicPr>
                    <p:blipFill>
                      <a:blip r:embed="rId4"/>
                      <a:stretch>
                        <a:fillRect/>
                      </a:stretch>
                    </p:blipFill>
                    <p:spPr>
                      <a:xfrm>
                        <a:off x="2743200" y="6019800"/>
                        <a:ext cx="3067050" cy="558800"/>
                      </a:xfrm>
                      <a:prstGeom prst="rect">
                        <a:avLst/>
                      </a:prstGeom>
                      <a:solidFill>
                        <a:schemeClr val="accent1"/>
                      </a:solidFill>
                      <a:ln w="38100">
                        <a:noFill/>
                        <a:miter/>
                      </a:ln>
                    </p:spPr>
                  </p:pic>
                </p:oleObj>
              </mc:Fallback>
            </mc:AlternateContent>
          </a:graphicData>
        </a:graphic>
      </p:graphicFrame>
    </p:spTree>
  </p:cSld>
  <p:clrMapOvr>
    <a:masterClrMapping/>
  </p:clrMapOvr>
  <p:transition>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379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33795" name="Object 6"/>
          <p:cNvGraphicFramePr/>
          <p:nvPr/>
        </p:nvGraphicFramePr>
        <p:xfrm>
          <a:off x="2438400" y="5638800"/>
          <a:ext cx="2552700" cy="558800"/>
        </p:xfrm>
        <a:graphic>
          <a:graphicData uri="http://schemas.openxmlformats.org/presentationml/2006/ole">
            <mc:AlternateContent xmlns:mc="http://schemas.openxmlformats.org/markup-compatibility/2006">
              <mc:Choice xmlns:v="urn:schemas-microsoft-com:vml" Requires="v">
                <p:oleObj spid="_x0000_s3083" name="" r:id="rId1" imgW="1701165" imgH="482600" progId="Equation.3">
                  <p:embed/>
                </p:oleObj>
              </mc:Choice>
              <mc:Fallback>
                <p:oleObj name="" r:id="rId1" imgW="1701165" imgH="482600" progId="Equation.3">
                  <p:embed/>
                  <p:pic>
                    <p:nvPicPr>
                      <p:cNvPr id="0" name="Picture 3082"/>
                      <p:cNvPicPr/>
                      <p:nvPr/>
                    </p:nvPicPr>
                    <p:blipFill>
                      <a:blip r:embed="rId2"/>
                      <a:stretch>
                        <a:fillRect/>
                      </a:stretch>
                    </p:blipFill>
                    <p:spPr>
                      <a:xfrm>
                        <a:off x="2438400" y="5638800"/>
                        <a:ext cx="2552700" cy="558800"/>
                      </a:xfrm>
                      <a:prstGeom prst="rect">
                        <a:avLst/>
                      </a:prstGeom>
                      <a:noFill/>
                      <a:ln w="38100">
                        <a:noFill/>
                        <a:miter/>
                      </a:ln>
                    </p:spPr>
                  </p:pic>
                </p:oleObj>
              </mc:Fallback>
            </mc:AlternateContent>
          </a:graphicData>
        </a:graphic>
      </p:graphicFrame>
      <p:sp>
        <p:nvSpPr>
          <p:cNvPr id="9" name="Rectangle 2"/>
          <p:cNvSpPr>
            <a:spLocks noGrp="1" noChangeArrowheads="1"/>
          </p:cNvSpPr>
          <p:nvPr>
            <p:ph type="title"/>
          </p:nvPr>
        </p:nvSpPr>
        <p:spPr>
          <a:xfrm>
            <a:off x="304800" y="152400"/>
            <a:ext cx="7467600" cy="8080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Binary Variables (Contd…)</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3797" name="Rectangle 3"/>
          <p:cNvSpPr txBox="1"/>
          <p:nvPr/>
        </p:nvSpPr>
        <p:spPr>
          <a:xfrm>
            <a:off x="381000" y="1143000"/>
            <a:ext cx="8001000" cy="4038600"/>
          </a:xfrm>
          <a:prstGeom prst="rect">
            <a:avLst/>
          </a:prstGeom>
          <a:noFill/>
          <a:ln w="9525">
            <a:noFill/>
          </a:ln>
        </p:spPr>
        <p:txBody>
          <a:bodyPr lIns="92075" tIns="46038" rIns="92075" bIns="46038" anchor="t" anchorCtr="0"/>
          <a:p>
            <a:pPr marL="273050" indent="-273050" algn="just">
              <a:spcBef>
                <a:spcPts val="600"/>
              </a:spcBef>
              <a:buClr>
                <a:schemeClr val="accent1"/>
              </a:buClr>
              <a:buSzPct val="70000"/>
              <a:buFont typeface="Wingdings" panose="05000000000000000000" pitchFamily="2" charset="2"/>
              <a:buChar char=""/>
            </a:pPr>
            <a:r>
              <a:rPr lang="en-US" altLang="zh-CN" sz="2000" dirty="0">
                <a:latin typeface="Century Schoolbook" panose="02040604050505020304" pitchFamily="18" charset="0"/>
                <a:ea typeface="SimSun" panose="02010600030101010101" pitchFamily="2" charset="-122"/>
              </a:rPr>
              <a:t>A binary variable is a</a:t>
            </a:r>
            <a:r>
              <a:rPr lang="en-US" altLang="zh-CN" sz="2000" dirty="0">
                <a:solidFill>
                  <a:schemeClr val="accent1"/>
                </a:solidFill>
                <a:latin typeface="Century Schoolbook" panose="02040604050505020304" pitchFamily="18" charset="0"/>
                <a:ea typeface="SimSun" panose="02010600030101010101" pitchFamily="2" charset="-122"/>
              </a:rPr>
              <a:t>symmetric</a:t>
            </a:r>
            <a:r>
              <a:rPr lang="en-US" altLang="zh-CN" sz="2000" dirty="0">
                <a:latin typeface="Century Schoolbook" panose="02040604050505020304" pitchFamily="18" charset="0"/>
                <a:ea typeface="SimSun" panose="02010600030101010101" pitchFamily="2" charset="-122"/>
              </a:rPr>
              <a:t> if the states are not </a:t>
            </a:r>
            <a:r>
              <a:rPr lang="en-US" altLang="zh-CN" sz="2000" dirty="0">
                <a:solidFill>
                  <a:schemeClr val="accent1"/>
                </a:solidFill>
                <a:latin typeface="Century Schoolbook" panose="02040604050505020304" pitchFamily="18" charset="0"/>
                <a:ea typeface="SimSun" panose="02010600030101010101" pitchFamily="2" charset="-122"/>
              </a:rPr>
              <a:t>equally important. </a:t>
            </a: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buChar char=""/>
            </a:pPr>
            <a:r>
              <a:rPr lang="en-US" altLang="zh-CN" sz="2000" dirty="0">
                <a:latin typeface="Century Schoolbook" panose="02040604050505020304" pitchFamily="18" charset="0"/>
                <a:ea typeface="SimSun" panose="02010600030101010101" pitchFamily="2" charset="-122"/>
              </a:rPr>
              <a:t>Ex: </a:t>
            </a:r>
            <a:r>
              <a:rPr lang="en-US" altLang="zh-CN" sz="2000" i="1" dirty="0">
                <a:solidFill>
                  <a:schemeClr val="accent1"/>
                </a:solidFill>
                <a:latin typeface="Century Schoolbook" panose="02040604050505020304" pitchFamily="18" charset="0"/>
                <a:ea typeface="SimSun" panose="02010600030101010101" pitchFamily="2" charset="-122"/>
              </a:rPr>
              <a:t>test</a:t>
            </a:r>
            <a:r>
              <a:rPr lang="en-US" altLang="zh-CN" sz="2000" dirty="0">
                <a:latin typeface="Century Schoolbook" panose="02040604050505020304" pitchFamily="18" charset="0"/>
                <a:ea typeface="SimSun" panose="02010600030101010101" pitchFamily="2" charset="-122"/>
              </a:rPr>
              <a:t> (positive or negative)</a:t>
            </a: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buChar char=""/>
            </a:pPr>
            <a:r>
              <a:rPr lang="en-US" altLang="zh-CN" sz="2000" dirty="0">
                <a:latin typeface="Century Schoolbook" panose="02040604050505020304" pitchFamily="18" charset="0"/>
                <a:ea typeface="SimSun" panose="02010600030101010101" pitchFamily="2" charset="-122"/>
              </a:rPr>
              <a:t>By convention, we shall code the most important outcome, which is usually the rarest one by </a:t>
            </a:r>
            <a:r>
              <a:rPr lang="en-US" altLang="zh-CN" sz="2000" i="1" dirty="0">
                <a:solidFill>
                  <a:schemeClr val="accent1"/>
                </a:solidFill>
                <a:latin typeface="Century Schoolbook" panose="02040604050505020304" pitchFamily="18" charset="0"/>
                <a:ea typeface="SimSun" panose="02010600030101010101" pitchFamily="2" charset="-122"/>
              </a:rPr>
              <a:t>1 (e.g. HIV positive) </a:t>
            </a:r>
            <a:r>
              <a:rPr lang="en-US" altLang="zh-CN" sz="2000" dirty="0">
                <a:latin typeface="Century Schoolbook" panose="02040604050505020304" pitchFamily="18" charset="0"/>
                <a:ea typeface="SimSun" panose="02010600030101010101" pitchFamily="2" charset="-122"/>
              </a:rPr>
              <a:t>and the other by </a:t>
            </a:r>
            <a:r>
              <a:rPr lang="en-US" altLang="zh-CN" sz="2000" i="1" dirty="0">
                <a:solidFill>
                  <a:schemeClr val="accent1"/>
                </a:solidFill>
                <a:latin typeface="Century Schoolbook" panose="02040604050505020304" pitchFamily="18" charset="0"/>
                <a:ea typeface="SimSun" panose="02010600030101010101" pitchFamily="2" charset="-122"/>
              </a:rPr>
              <a:t>0 (e.g. HIV negative) </a:t>
            </a:r>
            <a:endParaRPr lang="en-US" altLang="zh-CN" sz="2000" i="1" dirty="0">
              <a:solidFill>
                <a:schemeClr val="accent1"/>
              </a:solidFill>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buChar char=""/>
            </a:pPr>
            <a:r>
              <a:rPr lang="en-US" altLang="zh-CN" sz="2000" dirty="0">
                <a:latin typeface="Century Schoolbook" panose="02040604050505020304" pitchFamily="18" charset="0"/>
                <a:ea typeface="SimSun" panose="02010600030101010101" pitchFamily="2" charset="-122"/>
              </a:rPr>
              <a:t>Given two asymmetric variables , the agreement of two 1s (a positive match) is considered </a:t>
            </a:r>
            <a:r>
              <a:rPr lang="en-US" altLang="zh-CN" sz="2000" i="1" dirty="0">
                <a:solidFill>
                  <a:schemeClr val="accent1"/>
                </a:solidFill>
                <a:latin typeface="Century Schoolbook" panose="02040604050505020304" pitchFamily="18" charset="0"/>
                <a:ea typeface="SimSun" panose="02010600030101010101" pitchFamily="2" charset="-122"/>
              </a:rPr>
              <a:t>more significant </a:t>
            </a:r>
            <a:r>
              <a:rPr lang="en-US" altLang="zh-CN" sz="2000" dirty="0">
                <a:latin typeface="Century Schoolbook" panose="02040604050505020304" pitchFamily="18" charset="0"/>
                <a:ea typeface="SimSun" panose="02010600030101010101" pitchFamily="2" charset="-122"/>
              </a:rPr>
              <a:t>than two 0s (a negative match) </a:t>
            </a: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buChar char=""/>
            </a:pPr>
            <a:r>
              <a:rPr lang="en-US" altLang="zh-CN" sz="2000" dirty="0">
                <a:solidFill>
                  <a:schemeClr val="accent1"/>
                </a:solidFill>
                <a:latin typeface="Century Schoolbook" panose="02040604050505020304" pitchFamily="18" charset="0"/>
                <a:ea typeface="SimSun" panose="02010600030101010101" pitchFamily="2" charset="-122"/>
              </a:rPr>
              <a:t>Dissimilarity</a:t>
            </a:r>
            <a:r>
              <a:rPr lang="en-US" altLang="zh-CN" sz="2000" dirty="0">
                <a:latin typeface="Century Schoolbook" panose="02040604050505020304" pitchFamily="18" charset="0"/>
                <a:ea typeface="SimSun" panose="02010600030101010101" pitchFamily="2" charset="-122"/>
              </a:rPr>
              <a:t> based on asymmetric binary variable is called </a:t>
            </a:r>
            <a:r>
              <a:rPr lang="en-US" altLang="zh-CN" sz="2000" dirty="0">
                <a:solidFill>
                  <a:schemeClr val="accent1"/>
                </a:solidFill>
                <a:latin typeface="Century Schoolbook" panose="02040604050505020304" pitchFamily="18" charset="0"/>
                <a:ea typeface="SimSun" panose="02010600030101010101" pitchFamily="2" charset="-122"/>
              </a:rPr>
              <a:t>asymmetric binary dissimilarity </a:t>
            </a:r>
            <a:r>
              <a:rPr lang="en-US" altLang="zh-CN" sz="2000" dirty="0">
                <a:latin typeface="Century Schoolbook" panose="02040604050505020304" pitchFamily="18" charset="0"/>
                <a:ea typeface="SimSun" panose="02010600030101010101" pitchFamily="2" charset="-122"/>
              </a:rPr>
              <a:t>where the no. of  –ve  matches </a:t>
            </a:r>
            <a:r>
              <a:rPr lang="en-US" altLang="zh-CN" sz="2000" i="1" dirty="0">
                <a:solidFill>
                  <a:schemeClr val="accent1"/>
                </a:solidFill>
                <a:latin typeface="Century Schoolbook" panose="02040604050505020304" pitchFamily="18" charset="0"/>
                <a:ea typeface="SimSun" panose="02010600030101010101" pitchFamily="2" charset="-122"/>
              </a:rPr>
              <a:t>d</a:t>
            </a:r>
            <a:r>
              <a:rPr lang="en-US" altLang="zh-CN" sz="2000" dirty="0">
                <a:latin typeface="Century Schoolbook" panose="02040604050505020304" pitchFamily="18" charset="0"/>
                <a:ea typeface="SimSun" panose="02010600030101010101" pitchFamily="2" charset="-122"/>
              </a:rPr>
              <a:t> is considered unimportant and thus ignored in the computation.</a:t>
            </a: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pPr>
            <a:endParaRPr lang="en-US" altLang="zh-CN" sz="2000" dirty="0">
              <a:latin typeface="Century Schoolbook" panose="02040604050505020304" pitchFamily="18" charset="0"/>
              <a:ea typeface="SimSun" panose="02010600030101010101" pitchFamily="2" charset="-122"/>
            </a:endParaRPr>
          </a:p>
          <a:p>
            <a:pPr marL="273050" indent="-273050" algn="just">
              <a:spcBef>
                <a:spcPts val="600"/>
              </a:spcBef>
              <a:buClr>
                <a:schemeClr val="accent1"/>
              </a:buClr>
              <a:buSzPct val="70000"/>
              <a:buFont typeface="Wingdings" panose="05000000000000000000" pitchFamily="2" charset="2"/>
            </a:pPr>
            <a:endParaRPr lang="en-US" altLang="zh-CN" sz="2000" dirty="0">
              <a:latin typeface="Century Schoolbook" panose="02040604050505020304" pitchFamily="18" charset="0"/>
              <a:ea typeface="SimSun"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481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228600"/>
            <a:ext cx="7467600" cy="8080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Binary Variables (Contd…)</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4820" name="Content Placeholder 2"/>
          <p:cNvSpPr>
            <a:spLocks noGrp="1"/>
          </p:cNvSpPr>
          <p:nvPr>
            <p:ph sz="quarter" idx="1"/>
          </p:nvPr>
        </p:nvSpPr>
        <p:spPr>
          <a:xfrm>
            <a:off x="533400" y="1828800"/>
            <a:ext cx="7467600" cy="3276600"/>
          </a:xfrm>
          <a:ln/>
        </p:spPr>
        <p:txBody>
          <a:bodyPr vert="horz" wrap="square" lIns="91440" tIns="45720" rIns="91440" bIns="45720" anchor="t" anchorCtr="0"/>
          <a:p>
            <a:pPr algn="just" eaLnBrk="1" hangingPunct="1">
              <a:lnSpc>
                <a:spcPct val="130000"/>
              </a:lnSpc>
              <a:buClr>
                <a:schemeClr val="accent1"/>
              </a:buClr>
              <a:buSzPct val="70000"/>
              <a:buFont typeface="Wingdings" panose="05000000000000000000" pitchFamily="2" charset="2"/>
            </a:pPr>
            <a:r>
              <a:rPr lang="en-US" dirty="0"/>
              <a:t>Complementarily , we can measure the distance between two binary variables based on notion of similarity instead of dissimilarity</a:t>
            </a:r>
            <a:endParaRPr lang="en-US" dirty="0"/>
          </a:p>
          <a:p>
            <a:pPr algn="just" eaLnBrk="1" hangingPunct="1">
              <a:lnSpc>
                <a:spcPct val="130000"/>
              </a:lnSpc>
              <a:buClr>
                <a:schemeClr val="accent1"/>
              </a:buClr>
              <a:buSzPct val="70000"/>
              <a:buFont typeface="Wingdings" panose="05000000000000000000" pitchFamily="2" charset="2"/>
            </a:pPr>
            <a:r>
              <a:rPr lang="en-US" dirty="0"/>
              <a:t>Jaccard coefficient , </a:t>
            </a:r>
            <a:endParaRPr lang="en-US" i="1" dirty="0">
              <a:solidFill>
                <a:schemeClr val="accent1"/>
              </a:solidFill>
            </a:endParaRPr>
          </a:p>
          <a:p>
            <a:pPr algn="just" eaLnBrk="1" hangingPunct="1">
              <a:lnSpc>
                <a:spcPct val="130000"/>
              </a:lnSpc>
              <a:buClr>
                <a:schemeClr val="accent1"/>
              </a:buClr>
              <a:buSzPct val="70000"/>
              <a:buFont typeface="Wingdings" panose="05000000000000000000" pitchFamily="2" charset="2"/>
              <a:buNone/>
            </a:pPr>
            <a:r>
              <a:rPr lang="en-US" i="1" dirty="0"/>
              <a:t>       sim (i, j) = </a:t>
            </a:r>
            <a:endParaRPr lang="en-US" dirty="0"/>
          </a:p>
        </p:txBody>
      </p:sp>
      <p:graphicFrame>
        <p:nvGraphicFramePr>
          <p:cNvPr id="34821" name="Object 6"/>
          <p:cNvGraphicFramePr/>
          <p:nvPr/>
        </p:nvGraphicFramePr>
        <p:xfrm>
          <a:off x="3238500" y="3962400"/>
          <a:ext cx="2743200" cy="485775"/>
        </p:xfrm>
        <a:graphic>
          <a:graphicData uri="http://schemas.openxmlformats.org/presentationml/2006/ole">
            <mc:AlternateContent xmlns:mc="http://schemas.openxmlformats.org/markup-compatibility/2006">
              <mc:Choice xmlns:v="urn:schemas-microsoft-com:vml" Requires="v">
                <p:oleObj spid="_x0000_s3087" name="" r:id="rId1" imgW="1828800" imgH="419100" progId="Equation.3">
                  <p:embed/>
                </p:oleObj>
              </mc:Choice>
              <mc:Fallback>
                <p:oleObj name="" r:id="rId1" imgW="1828800" imgH="419100" progId="Equation.3">
                  <p:embed/>
                  <p:pic>
                    <p:nvPicPr>
                      <p:cNvPr id="0" name="Picture 3086"/>
                      <p:cNvPicPr/>
                      <p:nvPr/>
                    </p:nvPicPr>
                    <p:blipFill>
                      <a:blip r:embed="rId2"/>
                      <a:stretch>
                        <a:fillRect/>
                      </a:stretch>
                    </p:blipFill>
                    <p:spPr>
                      <a:xfrm>
                        <a:off x="3238500" y="3962400"/>
                        <a:ext cx="2743200" cy="485775"/>
                      </a:xfrm>
                      <a:prstGeom prst="rect">
                        <a:avLst/>
                      </a:prstGeom>
                      <a:solidFill>
                        <a:schemeClr val="accent1"/>
                      </a:solid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1" name="Rectangle 2"/>
          <p:cNvSpPr>
            <a:spLocks noGrp="1" noChangeArrowheads="1"/>
          </p:cNvSpPr>
          <p:nvPr>
            <p:ph type="title"/>
          </p:nvPr>
        </p:nvSpPr>
        <p:spPr>
          <a:xfrm>
            <a:off x="304800" y="152400"/>
            <a:ext cx="8631238" cy="53340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Dissimilarity between Binary Variables</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5842" name="Rectangle 3"/>
          <p:cNvSpPr>
            <a:spLocks noGrp="1"/>
          </p:cNvSpPr>
          <p:nvPr>
            <p:ph sz="quarter" idx="1"/>
          </p:nvPr>
        </p:nvSpPr>
        <p:spPr>
          <a:xfrm>
            <a:off x="228600" y="1143000"/>
            <a:ext cx="8077200" cy="48768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Example</a:t>
            </a:r>
            <a:endParaRPr lang="en-US" dirty="0"/>
          </a:p>
          <a:p>
            <a:pPr eaLnBrk="1" hangingPunct="1">
              <a:buClr>
                <a:schemeClr val="accent1"/>
              </a:buClr>
              <a:buSzPct val="70000"/>
              <a:buFont typeface="Wingdings" panose="05000000000000000000" pitchFamily="2" charset="2"/>
            </a:pPr>
            <a:endParaRPr lang="en-US" dirty="0"/>
          </a:p>
          <a:p>
            <a:pPr eaLnBrk="1" hangingPunct="1">
              <a:buClr>
                <a:schemeClr val="accent1"/>
              </a:buClr>
              <a:buSzPct val="70000"/>
              <a:buFont typeface="Wingdings" panose="05000000000000000000" pitchFamily="2" charset="2"/>
            </a:pPr>
            <a:endParaRPr lang="en-US" dirty="0"/>
          </a:p>
          <a:p>
            <a:pPr lvl="1" eaLnBrk="1" hangingPunct="1">
              <a:buClr>
                <a:schemeClr val="accent1"/>
              </a:buClr>
              <a:buSzPct val="80000"/>
              <a:buFont typeface="Wingdings 2" panose="05020102010507070707" pitchFamily="18" charset="2"/>
            </a:pPr>
            <a:endParaRPr lang="en-US" dirty="0"/>
          </a:p>
          <a:p>
            <a:pPr lvl="1" eaLnBrk="1" hangingPunct="1">
              <a:buClr>
                <a:schemeClr val="accent1"/>
              </a:buClr>
              <a:buSzPct val="80000"/>
              <a:buFont typeface="Wingdings 2" panose="05020102010507070707" pitchFamily="18" charset="2"/>
            </a:pPr>
            <a:endParaRPr lang="en-US" sz="2000" dirty="0"/>
          </a:p>
          <a:p>
            <a:pPr lvl="1" eaLnBrk="1" hangingPunct="1">
              <a:buClr>
                <a:schemeClr val="accent1"/>
              </a:buClr>
              <a:buSzPct val="80000"/>
              <a:buFont typeface="Wingdings 2" panose="05020102010507070707" pitchFamily="18" charset="2"/>
            </a:pPr>
            <a:r>
              <a:rPr lang="en-US" sz="2000" dirty="0"/>
              <a:t>gender is a symmetric attribute</a:t>
            </a:r>
            <a:endParaRPr lang="en-US" sz="2000" dirty="0"/>
          </a:p>
          <a:p>
            <a:pPr lvl="1" eaLnBrk="1" hangingPunct="1">
              <a:buClr>
                <a:schemeClr val="accent1"/>
              </a:buClr>
              <a:buSzPct val="80000"/>
              <a:buFont typeface="Wingdings 2" panose="05020102010507070707" pitchFamily="18" charset="2"/>
            </a:pPr>
            <a:r>
              <a:rPr lang="en-US" sz="2000" dirty="0"/>
              <a:t>the remaining attributes are asymmetric binary</a:t>
            </a:r>
            <a:endParaRPr lang="en-US" sz="2000" dirty="0"/>
          </a:p>
          <a:p>
            <a:pPr lvl="1" eaLnBrk="1" hangingPunct="1">
              <a:buClr>
                <a:schemeClr val="accent1"/>
              </a:buClr>
              <a:buSzPct val="80000"/>
              <a:buFont typeface="Wingdings 2" panose="05020102010507070707" pitchFamily="18" charset="2"/>
            </a:pPr>
            <a:r>
              <a:rPr lang="en-US" sz="2000" dirty="0"/>
              <a:t>let the values Y and P be set to 1, and the value N be set to 0</a:t>
            </a:r>
            <a:endParaRPr lang="en-US" sz="2000" dirty="0"/>
          </a:p>
        </p:txBody>
      </p:sp>
      <p:sp>
        <p:nvSpPr>
          <p:cNvPr id="3584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584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35845" name="Object 4"/>
          <p:cNvGraphicFramePr/>
          <p:nvPr/>
        </p:nvGraphicFramePr>
        <p:xfrm>
          <a:off x="1143000" y="1676400"/>
          <a:ext cx="6932613" cy="1600200"/>
        </p:xfrm>
        <a:graphic>
          <a:graphicData uri="http://schemas.openxmlformats.org/presentationml/2006/ole">
            <mc:AlternateContent xmlns:mc="http://schemas.openxmlformats.org/markup-compatibility/2006">
              <mc:Choice xmlns:v="urn:schemas-microsoft-com:vml" Requires="v">
                <p:oleObj spid="_x0000_s3085" name="" r:id="rId1" imgW="6819900" imgH="1475105" progId="Word.Document.8">
                  <p:embed/>
                </p:oleObj>
              </mc:Choice>
              <mc:Fallback>
                <p:oleObj name="" r:id="rId1" imgW="6819900" imgH="1475105" progId="Word.Document.8">
                  <p:embed/>
                  <p:pic>
                    <p:nvPicPr>
                      <p:cNvPr id="0" name="Picture 3084"/>
                      <p:cNvPicPr/>
                      <p:nvPr/>
                    </p:nvPicPr>
                    <p:blipFill>
                      <a:blip r:embed="rId2"/>
                      <a:stretch>
                        <a:fillRect/>
                      </a:stretch>
                    </p:blipFill>
                    <p:spPr>
                      <a:xfrm>
                        <a:off x="1143000" y="1676400"/>
                        <a:ext cx="6932613" cy="1600200"/>
                      </a:xfrm>
                      <a:prstGeom prst="rect">
                        <a:avLst/>
                      </a:prstGeom>
                      <a:noFill/>
                      <a:ln w="38100">
                        <a:noFill/>
                        <a:miter/>
                      </a:ln>
                    </p:spPr>
                  </p:pic>
                </p:oleObj>
              </mc:Fallback>
            </mc:AlternateContent>
          </a:graphicData>
        </a:graphic>
      </p:graphicFrame>
      <p:graphicFrame>
        <p:nvGraphicFramePr>
          <p:cNvPr id="35846" name="Object 5"/>
          <p:cNvGraphicFramePr/>
          <p:nvPr/>
        </p:nvGraphicFramePr>
        <p:xfrm>
          <a:off x="2133600" y="4603750"/>
          <a:ext cx="4786313" cy="1620838"/>
        </p:xfrm>
        <a:graphic>
          <a:graphicData uri="http://schemas.openxmlformats.org/presentationml/2006/ole">
            <mc:AlternateContent xmlns:mc="http://schemas.openxmlformats.org/markup-compatibility/2006">
              <mc:Choice xmlns:v="urn:schemas-microsoft-com:vml" Requires="v">
                <p:oleObj spid="_x0000_s3086" name="" r:id="rId3" imgW="2019300" imgH="1219200" progId="Equation.3">
                  <p:embed/>
                </p:oleObj>
              </mc:Choice>
              <mc:Fallback>
                <p:oleObj name="" r:id="rId3" imgW="2019300" imgH="1219200" progId="Equation.3">
                  <p:embed/>
                  <p:pic>
                    <p:nvPicPr>
                      <p:cNvPr id="0" name="Picture 3085"/>
                      <p:cNvPicPr/>
                      <p:nvPr/>
                    </p:nvPicPr>
                    <p:blipFill>
                      <a:blip r:embed="rId4"/>
                      <a:stretch>
                        <a:fillRect/>
                      </a:stretch>
                    </p:blipFill>
                    <p:spPr>
                      <a:xfrm>
                        <a:off x="2133600" y="4603750"/>
                        <a:ext cx="4786313" cy="1620838"/>
                      </a:xfrm>
                      <a:prstGeom prst="rect">
                        <a:avLst/>
                      </a:prstGeom>
                      <a:solidFill>
                        <a:schemeClr val="accent1"/>
                      </a:solidFill>
                      <a:ln w="38100">
                        <a:noFill/>
                        <a:miter/>
                      </a:ln>
                    </p:spPr>
                  </p:pic>
                </p:oleObj>
              </mc:Fallback>
            </mc:AlternateContent>
          </a:graphicData>
        </a:graphic>
      </p:graphicFrame>
    </p:spTree>
  </p:cSld>
  <p:clrMapOvr>
    <a:masterClrMapping/>
  </p:clrMapOvr>
  <p:transition>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noChangeArrowheads="1"/>
          </p:cNvSpPr>
          <p:nvPr>
            <p:ph type="title"/>
          </p:nvPr>
        </p:nvSpPr>
        <p:spPr>
          <a:xfrm>
            <a:off x="152400" y="0"/>
            <a:ext cx="8077200" cy="7826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Nominal Variables (or categorical) </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7175" name="Rectangle 3"/>
          <p:cNvSpPr>
            <a:spLocks noGrp="1" noChangeArrowheads="1"/>
          </p:cNvSpPr>
          <p:nvPr>
            <p:ph sz="quarter" idx="1"/>
          </p:nvPr>
        </p:nvSpPr>
        <p:spPr>
          <a:xfrm>
            <a:off x="838200" y="1143000"/>
            <a:ext cx="7162800" cy="4191000"/>
          </a:xfrm>
        </p:spPr>
        <p:txBody>
          <a:bodyPr vert="horz" wrap="square" lIns="92075" tIns="46038" rIns="92075" bIns="46038" numCol="1" anchor="t" anchorCtr="0" compatLnSpc="1">
            <a:noAutofit/>
          </a:bodyPr>
          <a:lstStyle/>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A categorical variable (sometimes called a nominal variable) is one that has two or more categories</a:t>
            </a:r>
            <a:endParaRPr kumimoji="0" lang="en-IN"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But there is no intrinsic ordering to the categories</a:t>
            </a:r>
            <a:endParaRPr kumimoji="0" lang="en-IN"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For example, gender is a categorical variable having two categories (male and female) and there is no intrinsic ordering to the categories</a:t>
            </a:r>
            <a:endParaRPr kumimoji="0" lang="en-IN"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Hair colour is also a categorical variable having a number of categories (blonde, brown, brunette, red, etc.) and again, there is no agreed way to order these from highest to lowest.</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A purely categorical variable is one that simply allows you to assign categories but you cannot clearly order the variables.  If the variable has a clear ordering, then that variable would be an ordinal variable</a:t>
            </a:r>
            <a:endParaRPr kumimoji="0" lang="en-IN"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686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686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quarter" idx="1"/>
          </p:nvPr>
        </p:nvSpPr>
        <p:spPr>
          <a:xfrm>
            <a:off x="457200" y="1447800"/>
            <a:ext cx="7315200" cy="3505200"/>
          </a:xfrm>
        </p:spPr>
        <p:txBody>
          <a:bodyPr vert="horz" wrap="square" lIns="91440" tIns="45720" rIns="91440" bIns="45720" numCol="1" anchor="t" anchorCtr="0" compatLnSpc="1"/>
          <a:lstStyle/>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 generalization of the binary variable is that it can take more than 2 states, e.g., red, yellow, blue, green</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Let no. of states of a categorical variable be M</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states can be denoted as 1,2,….,M</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Method : Simple matching</a:t>
            </a:r>
            <a:endParaRPr kumimoji="0" lang="en-US" sz="2400" b="0" i="1"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1" u="none" strike="noStrike" kern="1200" cap="none" spc="0" normalizeH="0" baseline="0" noProof="0" dirty="0" smtClean="0">
                <a:ln>
                  <a:noFill/>
                </a:ln>
                <a:solidFill>
                  <a:schemeClr val="tx1"/>
                </a:solidFill>
                <a:effectLst/>
                <a:uLnTx/>
                <a:uFillTx/>
                <a:latin typeface="+mn-lt"/>
                <a:ea typeface="+mn-ea"/>
                <a:cs typeface="+mn-cs"/>
              </a:rPr>
              <a:t>m</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 of matches,</a:t>
            </a:r>
            <a:r>
              <a:rPr kumimoji="0" lang="en-US" sz="2100" b="0" i="1" u="none" strike="noStrike" kern="1200" cap="none" spc="0" normalizeH="0" baseline="0" noProof="0" dirty="0" smtClean="0">
                <a:ln>
                  <a:noFill/>
                </a:ln>
                <a:solidFill>
                  <a:schemeClr val="tx1"/>
                </a:solidFill>
                <a:effectLst/>
                <a:uLnTx/>
                <a:uFillTx/>
                <a:latin typeface="+mn-lt"/>
                <a:ea typeface="+mn-ea"/>
                <a:cs typeface="+mn-cs"/>
              </a:rPr>
              <a:t> p</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total # of variables</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pitchFamily="18" charset="2"/>
              <a:buNone/>
              <a:defRPr/>
            </a:pP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en-I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3789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7891"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37892" name="Object 4"/>
          <p:cNvGraphicFramePr/>
          <p:nvPr/>
        </p:nvGraphicFramePr>
        <p:xfrm>
          <a:off x="3200400" y="5105400"/>
          <a:ext cx="2514600" cy="533400"/>
        </p:xfrm>
        <a:graphic>
          <a:graphicData uri="http://schemas.openxmlformats.org/presentationml/2006/ole">
            <mc:AlternateContent xmlns:mc="http://schemas.openxmlformats.org/markup-compatibility/2006">
              <mc:Choice xmlns:v="urn:schemas-microsoft-com:vml" Requires="v">
                <p:oleObj spid="_x0000_s3088" name="" r:id="rId1" imgW="1384300" imgH="469900" progId="Equation.3">
                  <p:embed/>
                </p:oleObj>
              </mc:Choice>
              <mc:Fallback>
                <p:oleObj name="" r:id="rId1" imgW="1384300" imgH="469900" progId="Equation.3">
                  <p:embed/>
                  <p:pic>
                    <p:nvPicPr>
                      <p:cNvPr id="0" name="Picture 3087"/>
                      <p:cNvPicPr/>
                      <p:nvPr/>
                    </p:nvPicPr>
                    <p:blipFill>
                      <a:blip r:embed="rId2"/>
                      <a:stretch>
                        <a:fillRect/>
                      </a:stretch>
                    </p:blipFill>
                    <p:spPr>
                      <a:xfrm>
                        <a:off x="3200400" y="5105400"/>
                        <a:ext cx="2514600" cy="533400"/>
                      </a:xfrm>
                      <a:prstGeom prst="rect">
                        <a:avLst/>
                      </a:prstGeom>
                      <a:solidFill>
                        <a:srgbClr val="FF00FF"/>
                      </a:solidFill>
                      <a:ln w="38100">
                        <a:noFill/>
                        <a:miter/>
                      </a:ln>
                    </p:spPr>
                  </p:pic>
                </p:oleObj>
              </mc:Fallback>
            </mc:AlternateContent>
          </a:graphicData>
        </a:graphic>
      </p:graphicFrame>
      <p:sp>
        <p:nvSpPr>
          <p:cNvPr id="11" name="Rectangle 2"/>
          <p:cNvSpPr>
            <a:spLocks noGrp="1" noChangeArrowheads="1"/>
          </p:cNvSpPr>
          <p:nvPr>
            <p:ph type="title"/>
          </p:nvPr>
        </p:nvSpPr>
        <p:spPr>
          <a:xfrm>
            <a:off x="152400" y="76200"/>
            <a:ext cx="88392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Nominal Variables (or categorical) contd…</a:t>
            </a:r>
            <a:endPar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Content Placeholder 7"/>
          <p:cNvGraphicFramePr>
            <a:graphicFrameLocks noGrp="1"/>
          </p:cNvGraphicFramePr>
          <p:nvPr>
            <p:ph sz="quarter" idx="4294967295"/>
          </p:nvPr>
        </p:nvGraphicFramePr>
        <p:xfrm>
          <a:off x="1600200" y="1981200"/>
          <a:ext cx="5638800" cy="2116138"/>
        </p:xfrm>
        <a:graphic>
          <a:graphicData uri="http://schemas.openxmlformats.org/drawingml/2006/table">
            <a:tbl>
              <a:tblPr firstRow="1" bandRow="1">
                <a:tableStyleId>{5C22544A-7EE6-4342-B048-85BDC9FD1C3A}</a:tableStyleId>
              </a:tblPr>
              <a:tblGrid>
                <a:gridCol w="1243852"/>
                <a:gridCol w="1492624"/>
                <a:gridCol w="1492624"/>
                <a:gridCol w="1409700"/>
              </a:tblGrid>
              <a:tr h="140004">
                <a:tc>
                  <a:txBody>
                    <a:bodyPr/>
                    <a:lstStyle/>
                    <a:p>
                      <a:pPr algn="ctr"/>
                      <a:r>
                        <a:rPr lang="en-US" sz="1400" dirty="0" smtClean="0"/>
                        <a:t>Object Identifier</a:t>
                      </a:r>
                      <a:endParaRPr lang="en-IN" sz="1400" dirty="0"/>
                    </a:p>
                  </a:txBody>
                  <a:tcPr/>
                </a:tc>
                <a:tc>
                  <a:txBody>
                    <a:bodyPr/>
                    <a:lstStyle/>
                    <a:p>
                      <a:pPr algn="ctr"/>
                      <a:r>
                        <a:rPr lang="en-US" sz="1400" dirty="0" smtClean="0"/>
                        <a:t>Test-1</a:t>
                      </a:r>
                      <a:endParaRPr lang="en-US" sz="1400" dirty="0" smtClean="0"/>
                    </a:p>
                    <a:p>
                      <a:pPr algn="ctr"/>
                      <a:r>
                        <a:rPr lang="en-US" sz="1400" dirty="0" smtClean="0"/>
                        <a:t>(categorical)</a:t>
                      </a:r>
                      <a:endParaRPr lang="en-IN" sz="1400" dirty="0"/>
                    </a:p>
                  </a:txBody>
                  <a:tcPr/>
                </a:tc>
                <a:tc>
                  <a:txBody>
                    <a:bodyPr/>
                    <a:lstStyle/>
                    <a:p>
                      <a:pPr algn="ctr"/>
                      <a:r>
                        <a:rPr lang="en-US" sz="1400" dirty="0" smtClean="0"/>
                        <a:t>Test-2</a:t>
                      </a:r>
                      <a:endParaRPr lang="en-US" sz="1400" dirty="0" smtClean="0"/>
                    </a:p>
                    <a:p>
                      <a:pPr algn="ctr"/>
                      <a:r>
                        <a:rPr lang="en-US" sz="1400" dirty="0" smtClean="0"/>
                        <a:t>(ordinal)</a:t>
                      </a:r>
                      <a:endParaRPr lang="en-IN" sz="1400" dirty="0"/>
                    </a:p>
                  </a:txBody>
                  <a:tcPr/>
                </a:tc>
                <a:tc>
                  <a:txBody>
                    <a:bodyPr/>
                    <a:lstStyle/>
                    <a:p>
                      <a:pPr algn="ctr"/>
                      <a:r>
                        <a:rPr lang="en-US" sz="1400" dirty="0" smtClean="0"/>
                        <a:t>Test-3</a:t>
                      </a:r>
                      <a:endParaRPr lang="en-US" sz="1400" dirty="0" smtClean="0"/>
                    </a:p>
                    <a:p>
                      <a:pPr algn="ctr"/>
                      <a:r>
                        <a:rPr lang="en-US" sz="1400" dirty="0" smtClean="0"/>
                        <a:t>(ratio-scaled)</a:t>
                      </a:r>
                      <a:endParaRPr lang="en-IN" sz="1400" dirty="0"/>
                    </a:p>
                  </a:txBody>
                  <a:tcPr/>
                </a:tc>
              </a:tr>
              <a:tr h="345999">
                <a:tc>
                  <a:txBody>
                    <a:bodyPr/>
                    <a:lstStyle/>
                    <a:p>
                      <a:r>
                        <a:rPr lang="en-US" sz="1400" dirty="0" smtClean="0"/>
                        <a:t>1</a:t>
                      </a:r>
                      <a:endParaRPr lang="en-IN" sz="1400" dirty="0"/>
                    </a:p>
                  </a:txBody>
                  <a:tcPr/>
                </a:tc>
                <a:tc>
                  <a:txBody>
                    <a:bodyPr/>
                    <a:lstStyle/>
                    <a:p>
                      <a:r>
                        <a:rPr lang="en-US" sz="1400" dirty="0" smtClean="0"/>
                        <a:t>Code-A</a:t>
                      </a:r>
                      <a:endParaRPr lang="en-IN" sz="1400" dirty="0"/>
                    </a:p>
                  </a:txBody>
                  <a:tcPr/>
                </a:tc>
                <a:tc>
                  <a:txBody>
                    <a:bodyPr/>
                    <a:lstStyle/>
                    <a:p>
                      <a:r>
                        <a:rPr lang="en-US" sz="1400" dirty="0" smtClean="0"/>
                        <a:t>Excellent</a:t>
                      </a:r>
                      <a:endParaRPr lang="en-IN" sz="1400" dirty="0"/>
                    </a:p>
                  </a:txBody>
                  <a:tcPr/>
                </a:tc>
                <a:tc>
                  <a:txBody>
                    <a:bodyPr/>
                    <a:lstStyle/>
                    <a:p>
                      <a:r>
                        <a:rPr lang="en-US" sz="1400" dirty="0" smtClean="0"/>
                        <a:t>445</a:t>
                      </a:r>
                      <a:endParaRPr lang="en-IN" sz="1400" dirty="0"/>
                    </a:p>
                  </a:txBody>
                  <a:tcPr/>
                </a:tc>
              </a:tr>
              <a:tr h="345999">
                <a:tc>
                  <a:txBody>
                    <a:bodyPr/>
                    <a:lstStyle/>
                    <a:p>
                      <a:r>
                        <a:rPr lang="en-US" sz="1400" dirty="0" smtClean="0"/>
                        <a:t>2</a:t>
                      </a:r>
                      <a:endParaRPr lang="en-IN" sz="1400" dirty="0"/>
                    </a:p>
                  </a:txBody>
                  <a:tcPr/>
                </a:tc>
                <a:tc>
                  <a:txBody>
                    <a:bodyPr/>
                    <a:lstStyle/>
                    <a:p>
                      <a:r>
                        <a:rPr lang="en-US" sz="1400" dirty="0" smtClean="0"/>
                        <a:t>Code-B</a:t>
                      </a:r>
                      <a:endParaRPr lang="en-IN" sz="1400" dirty="0"/>
                    </a:p>
                  </a:txBody>
                  <a:tcPr/>
                </a:tc>
                <a:tc>
                  <a:txBody>
                    <a:bodyPr/>
                    <a:lstStyle/>
                    <a:p>
                      <a:r>
                        <a:rPr lang="en-US" sz="1400" dirty="0" smtClean="0"/>
                        <a:t>Fair</a:t>
                      </a:r>
                      <a:endParaRPr lang="en-IN" sz="1400" dirty="0"/>
                    </a:p>
                  </a:txBody>
                  <a:tcPr/>
                </a:tc>
                <a:tc>
                  <a:txBody>
                    <a:bodyPr/>
                    <a:lstStyle/>
                    <a:p>
                      <a:r>
                        <a:rPr lang="en-US" sz="1400" dirty="0" smtClean="0"/>
                        <a:t>22</a:t>
                      </a:r>
                      <a:endParaRPr lang="en-IN" sz="1400" dirty="0"/>
                    </a:p>
                  </a:txBody>
                  <a:tcPr/>
                </a:tc>
              </a:tr>
              <a:tr h="345999">
                <a:tc>
                  <a:txBody>
                    <a:bodyPr/>
                    <a:lstStyle/>
                    <a:p>
                      <a:r>
                        <a:rPr lang="en-US" sz="1400" dirty="0" smtClean="0"/>
                        <a:t>3</a:t>
                      </a:r>
                      <a:endParaRPr lang="en-IN" sz="1400" dirty="0"/>
                    </a:p>
                  </a:txBody>
                  <a:tcPr/>
                </a:tc>
                <a:tc>
                  <a:txBody>
                    <a:bodyPr/>
                    <a:lstStyle/>
                    <a:p>
                      <a:r>
                        <a:rPr lang="en-US" sz="1400" dirty="0" smtClean="0"/>
                        <a:t>Code-C</a:t>
                      </a:r>
                      <a:endParaRPr lang="en-IN" sz="1400" dirty="0"/>
                    </a:p>
                  </a:txBody>
                  <a:tcPr/>
                </a:tc>
                <a:tc>
                  <a:txBody>
                    <a:bodyPr/>
                    <a:lstStyle/>
                    <a:p>
                      <a:r>
                        <a:rPr lang="en-US" sz="1400" dirty="0" smtClean="0"/>
                        <a:t>Good</a:t>
                      </a:r>
                      <a:endParaRPr lang="en-IN" sz="1400" dirty="0"/>
                    </a:p>
                  </a:txBody>
                  <a:tcPr/>
                </a:tc>
                <a:tc>
                  <a:txBody>
                    <a:bodyPr/>
                    <a:lstStyle/>
                    <a:p>
                      <a:r>
                        <a:rPr lang="en-US" sz="1400" dirty="0" smtClean="0"/>
                        <a:t>164</a:t>
                      </a:r>
                      <a:endParaRPr lang="en-IN" sz="1400" dirty="0"/>
                    </a:p>
                  </a:txBody>
                  <a:tcPr/>
                </a:tc>
              </a:tr>
              <a:tr h="345999">
                <a:tc>
                  <a:txBody>
                    <a:bodyPr/>
                    <a:lstStyle/>
                    <a:p>
                      <a:r>
                        <a:rPr lang="en-US" sz="1400" dirty="0" smtClean="0"/>
                        <a:t>4</a:t>
                      </a:r>
                      <a:endParaRPr lang="en-IN" sz="1400" dirty="0"/>
                    </a:p>
                  </a:txBody>
                  <a:tcPr/>
                </a:tc>
                <a:tc>
                  <a:txBody>
                    <a:bodyPr/>
                    <a:lstStyle/>
                    <a:p>
                      <a:r>
                        <a:rPr lang="en-US" sz="1400" dirty="0" smtClean="0"/>
                        <a:t>Code-A</a:t>
                      </a:r>
                      <a:endParaRPr lang="en-IN" sz="1400" dirty="0"/>
                    </a:p>
                  </a:txBody>
                  <a:tcPr/>
                </a:tc>
                <a:tc>
                  <a:txBody>
                    <a:bodyPr/>
                    <a:lstStyle/>
                    <a:p>
                      <a:r>
                        <a:rPr lang="en-US" sz="1400" dirty="0" smtClean="0"/>
                        <a:t>Excellent</a:t>
                      </a:r>
                      <a:endParaRPr lang="en-IN" sz="1400" dirty="0"/>
                    </a:p>
                  </a:txBody>
                  <a:tcPr/>
                </a:tc>
                <a:tc>
                  <a:txBody>
                    <a:bodyPr/>
                    <a:lstStyle/>
                    <a:p>
                      <a:r>
                        <a:rPr lang="en-US" sz="1400" dirty="0" smtClean="0"/>
                        <a:t>1,210</a:t>
                      </a:r>
                      <a:endParaRPr lang="en-IN" sz="1400" dirty="0"/>
                    </a:p>
                  </a:txBody>
                  <a:tcPr/>
                </a:tc>
              </a:tr>
            </a:tbl>
          </a:graphicData>
        </a:graphic>
      </p:graphicFrame>
      <p:sp>
        <p:nvSpPr>
          <p:cNvPr id="3894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894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38947" name="Footer Placeholder 5"/>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7" name="Rectangle 2"/>
          <p:cNvSpPr>
            <a:spLocks noGrp="1" noChangeArrowheads="1"/>
          </p:cNvSpPr>
          <p:nvPr>
            <p:ph type="title"/>
          </p:nvPr>
        </p:nvSpPr>
        <p:spPr>
          <a:xfrm>
            <a:off x="304800" y="-152400"/>
            <a:ext cx="86868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Nominal Variables (or categorical) contd…</a:t>
            </a:r>
            <a:endPar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10" name="TextBox 9"/>
          <p:cNvSpPr txBox="1"/>
          <p:nvPr/>
        </p:nvSpPr>
        <p:spPr>
          <a:xfrm>
            <a:off x="762000" y="838200"/>
            <a:ext cx="7391400" cy="1016000"/>
          </a:xfrm>
          <a:prstGeom prst="rect">
            <a:avLst/>
          </a:prstGeom>
          <a:noFill/>
        </p:spPr>
        <p:txBody>
          <a:bodyPr>
            <a:spAutoFit/>
          </a:bodyPr>
          <a:lstStyle/>
          <a:p>
            <a:pPr marR="0" algn="just" defTabSz="914400">
              <a:buClrTx/>
              <a:buSzTx/>
              <a:buFontTx/>
              <a:buNone/>
              <a:defRPr/>
            </a:pPr>
            <a:r>
              <a:rPr kumimoji="0" lang="en-US" sz="2000" kern="1200" cap="none" spc="0" normalizeH="0" baseline="0" noProof="0" dirty="0">
                <a:solidFill>
                  <a:schemeClr val="dk1"/>
                </a:solidFill>
                <a:latin typeface="+mn-lt"/>
                <a:ea typeface="+mn-ea"/>
                <a:cs typeface="+mn-cs"/>
              </a:rPr>
              <a:t>Example: Dissimilarity between categorical variables</a:t>
            </a:r>
            <a:endParaRPr kumimoji="0" lang="en-US" sz="20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2000" kern="1200" cap="none" spc="0" normalizeH="0" baseline="0" noProof="0" dirty="0">
                <a:solidFill>
                  <a:schemeClr val="dk1"/>
                </a:solidFill>
                <a:latin typeface="+mn-lt"/>
                <a:ea typeface="+mn-ea"/>
                <a:cs typeface="+mn-cs"/>
              </a:rPr>
              <a:t>Suppose, we have object identifier and test-1 are the variables.</a:t>
            </a:r>
            <a:endParaRPr kumimoji="0" lang="en-IN" sz="2000" kern="1200" cap="none" spc="0" normalizeH="0" baseline="0" noProof="0" dirty="0">
              <a:solidFill>
                <a:schemeClr val="dk1"/>
              </a:solidFill>
              <a:latin typeface="+mn-lt"/>
              <a:ea typeface="+mn-ea"/>
              <a:cs typeface="+mn-cs"/>
            </a:endParaRPr>
          </a:p>
        </p:txBody>
      </p:sp>
      <p:sp>
        <p:nvSpPr>
          <p:cNvPr id="11" name="TextBox 10"/>
          <p:cNvSpPr txBox="1"/>
          <p:nvPr/>
        </p:nvSpPr>
        <p:spPr>
          <a:xfrm>
            <a:off x="152400" y="3962400"/>
            <a:ext cx="3581400" cy="400050"/>
          </a:xfrm>
          <a:prstGeom prst="rect">
            <a:avLst/>
          </a:prstGeom>
          <a:noFill/>
        </p:spPr>
        <p:txBody>
          <a:bodyPr>
            <a:spAutoFit/>
          </a:bodyPr>
          <a:lstStyle/>
          <a:p>
            <a:pPr marR="0" algn="just" defTabSz="914400">
              <a:buClrTx/>
              <a:buSzTx/>
              <a:buFontTx/>
              <a:buNone/>
              <a:defRPr/>
            </a:pPr>
            <a:r>
              <a:rPr kumimoji="0" lang="en-US" sz="2000" kern="1200" cap="none" spc="0" normalizeH="0" baseline="0" noProof="0" dirty="0">
                <a:solidFill>
                  <a:schemeClr val="dk1"/>
                </a:solidFill>
                <a:latin typeface="+mn-lt"/>
                <a:ea typeface="+mn-ea"/>
                <a:cs typeface="+mn-cs"/>
              </a:rPr>
              <a:t>The dissimilarity matrix is :</a:t>
            </a:r>
            <a:endParaRPr kumimoji="0" lang="en-IN" sz="2000" kern="1200" cap="none" spc="0" normalizeH="0" baseline="0" noProof="0" dirty="0">
              <a:solidFill>
                <a:schemeClr val="dk1"/>
              </a:solidFill>
              <a:latin typeface="+mn-lt"/>
              <a:ea typeface="+mn-ea"/>
              <a:cs typeface="+mn-cs"/>
            </a:endParaRPr>
          </a:p>
        </p:txBody>
      </p:sp>
      <p:grpSp>
        <p:nvGrpSpPr>
          <p:cNvPr id="38951" name="Group 14"/>
          <p:cNvGrpSpPr/>
          <p:nvPr/>
        </p:nvGrpSpPr>
        <p:grpSpPr>
          <a:xfrm>
            <a:off x="304800" y="4648200"/>
            <a:ext cx="3429000" cy="1295400"/>
            <a:chOff x="2209800" y="4648200"/>
            <a:chExt cx="3429000" cy="1295400"/>
          </a:xfrm>
        </p:grpSpPr>
        <p:sp>
          <p:nvSpPr>
            <p:cNvPr id="12" name="Left Bracket 11"/>
            <p:cNvSpPr/>
            <p:nvPr/>
          </p:nvSpPr>
          <p:spPr>
            <a:xfrm>
              <a:off x="2209800" y="4648200"/>
              <a:ext cx="311150" cy="1295400"/>
            </a:xfrm>
            <a:prstGeom prst="lef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3" name="Right Bracket 12"/>
            <p:cNvSpPr/>
            <p:nvPr/>
          </p:nvSpPr>
          <p:spPr>
            <a:xfrm>
              <a:off x="5170488" y="4648200"/>
              <a:ext cx="239712" cy="12954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4" name="TextBox 13"/>
            <p:cNvSpPr txBox="1"/>
            <p:nvPr/>
          </p:nvSpPr>
          <p:spPr>
            <a:xfrm>
              <a:off x="2362200" y="4800600"/>
              <a:ext cx="3276600" cy="1077913"/>
            </a:xfrm>
            <a:prstGeom prst="rect">
              <a:avLst/>
            </a:prstGeom>
            <a:noFill/>
          </p:spPr>
          <p:txBody>
            <a:bodyPr>
              <a:spAutoFit/>
            </a:bodyPr>
            <a:lstStyle/>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d(2,1)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d(3,1)	d(3,2)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d(4,1)	d(4,2)	d(4,3)	0</a:t>
              </a:r>
              <a:endParaRPr kumimoji="0" lang="en-IN" sz="1600" kern="1200" cap="none" spc="0" normalizeH="0" baseline="0" noProof="0" dirty="0">
                <a:solidFill>
                  <a:schemeClr val="dk1"/>
                </a:solidFill>
                <a:latin typeface="+mn-lt"/>
                <a:ea typeface="+mn-ea"/>
                <a:cs typeface="+mn-cs"/>
              </a:endParaRPr>
            </a:p>
          </p:txBody>
        </p:sp>
      </p:grpSp>
      <p:sp>
        <p:nvSpPr>
          <p:cNvPr id="16" name="TextBox 15"/>
          <p:cNvSpPr txBox="1"/>
          <p:nvPr/>
        </p:nvSpPr>
        <p:spPr>
          <a:xfrm>
            <a:off x="3810000" y="4038600"/>
            <a:ext cx="2743200" cy="1938338"/>
          </a:xfrm>
          <a:prstGeom prst="rect">
            <a:avLst/>
          </a:prstGeom>
          <a:noFill/>
        </p:spPr>
        <p:txBody>
          <a:bodyPr>
            <a:spAutoFit/>
          </a:bodyPr>
          <a:lstStyle/>
          <a:p>
            <a:pPr marR="0" algn="just" defTabSz="914400">
              <a:buClrTx/>
              <a:buSzTx/>
              <a:buFontTx/>
              <a:buNone/>
              <a:defRPr/>
            </a:pPr>
            <a:r>
              <a:rPr kumimoji="0" lang="en-US" sz="2000" kern="1200" cap="none" spc="0" normalizeH="0" baseline="0" noProof="0" dirty="0">
                <a:solidFill>
                  <a:schemeClr val="dk1"/>
                </a:solidFill>
                <a:latin typeface="+mn-lt"/>
                <a:ea typeface="+mn-ea"/>
                <a:cs typeface="+mn-cs"/>
              </a:rPr>
              <a:t>Since, we have one categorical variable test-1, we set p=1 in equation and </a:t>
            </a:r>
            <a:r>
              <a:rPr kumimoji="0" lang="en-US" sz="2000" i="1" kern="1200" cap="none" spc="0" normalizeH="0" baseline="0" noProof="0" dirty="0">
                <a:solidFill>
                  <a:schemeClr val="dk1"/>
                </a:solidFill>
                <a:latin typeface="+mn-lt"/>
                <a:ea typeface="+mn-ea"/>
                <a:cs typeface="+mn-cs"/>
              </a:rPr>
              <a:t>d(</a:t>
            </a:r>
            <a:r>
              <a:rPr kumimoji="0" lang="en-US" sz="2000" i="1" kern="1200" cap="none" spc="0" normalizeH="0" baseline="0" noProof="0" dirty="0" err="1">
                <a:solidFill>
                  <a:schemeClr val="dk1"/>
                </a:solidFill>
                <a:latin typeface="+mn-lt"/>
                <a:ea typeface="+mn-ea"/>
                <a:cs typeface="+mn-cs"/>
              </a:rPr>
              <a:t>i</a:t>
            </a:r>
            <a:r>
              <a:rPr kumimoji="0" lang="en-US" sz="2000" i="1" kern="1200" cap="none" spc="0" normalizeH="0" baseline="0" noProof="0" dirty="0">
                <a:solidFill>
                  <a:schemeClr val="dk1"/>
                </a:solidFill>
                <a:latin typeface="+mn-lt"/>
                <a:ea typeface="+mn-ea"/>
                <a:cs typeface="+mn-cs"/>
              </a:rPr>
              <a:t>, j)</a:t>
            </a:r>
            <a:r>
              <a:rPr kumimoji="0" lang="en-US" sz="2000" kern="1200" cap="none" spc="0" normalizeH="0" baseline="0" noProof="0" dirty="0">
                <a:solidFill>
                  <a:schemeClr val="dk1"/>
                </a:solidFill>
                <a:latin typeface="+mn-lt"/>
                <a:ea typeface="+mn-ea"/>
                <a:cs typeface="+mn-cs"/>
              </a:rPr>
              <a:t> is 0 if objects </a:t>
            </a:r>
            <a:r>
              <a:rPr kumimoji="0" lang="en-US" sz="2000" i="1" kern="1200" cap="none" spc="0" normalizeH="0" baseline="0" noProof="0" dirty="0" err="1">
                <a:solidFill>
                  <a:schemeClr val="dk1"/>
                </a:solidFill>
                <a:latin typeface="+mn-lt"/>
                <a:ea typeface="+mn-ea"/>
                <a:cs typeface="+mn-cs"/>
              </a:rPr>
              <a:t>i</a:t>
            </a:r>
            <a:r>
              <a:rPr kumimoji="0" lang="en-US" sz="2000" kern="1200" cap="none" spc="0" normalizeH="0" baseline="0" noProof="0" dirty="0">
                <a:solidFill>
                  <a:schemeClr val="dk1"/>
                </a:solidFill>
                <a:latin typeface="+mn-lt"/>
                <a:ea typeface="+mn-ea"/>
                <a:cs typeface="+mn-cs"/>
              </a:rPr>
              <a:t> and </a:t>
            </a:r>
            <a:r>
              <a:rPr kumimoji="0" lang="en-US" sz="2000" i="1" kern="1200" cap="none" spc="0" normalizeH="0" baseline="0" noProof="0" dirty="0">
                <a:solidFill>
                  <a:schemeClr val="dk1"/>
                </a:solidFill>
                <a:latin typeface="+mn-lt"/>
                <a:ea typeface="+mn-ea"/>
                <a:cs typeface="+mn-cs"/>
              </a:rPr>
              <a:t>j</a:t>
            </a:r>
            <a:r>
              <a:rPr kumimoji="0" lang="en-US" sz="2000" kern="1200" cap="none" spc="0" normalizeH="0" baseline="0" noProof="0" dirty="0">
                <a:solidFill>
                  <a:schemeClr val="dk1"/>
                </a:solidFill>
                <a:latin typeface="+mn-lt"/>
                <a:ea typeface="+mn-ea"/>
                <a:cs typeface="+mn-cs"/>
              </a:rPr>
              <a:t> match, and 1 if differ.</a:t>
            </a:r>
            <a:endParaRPr kumimoji="0" lang="en-IN" sz="2000" kern="1200" cap="none" spc="0" normalizeH="0" baseline="0" noProof="0" dirty="0">
              <a:solidFill>
                <a:schemeClr val="dk1"/>
              </a:solidFill>
              <a:latin typeface="+mn-lt"/>
              <a:ea typeface="+mn-ea"/>
              <a:cs typeface="+mn-cs"/>
            </a:endParaRPr>
          </a:p>
        </p:txBody>
      </p:sp>
      <p:grpSp>
        <p:nvGrpSpPr>
          <p:cNvPr id="38956" name="Group 16"/>
          <p:cNvGrpSpPr/>
          <p:nvPr/>
        </p:nvGrpSpPr>
        <p:grpSpPr>
          <a:xfrm>
            <a:off x="6965950" y="4343400"/>
            <a:ext cx="1416050" cy="1295400"/>
            <a:chOff x="2362200" y="4648200"/>
            <a:chExt cx="1990725" cy="1295400"/>
          </a:xfrm>
        </p:grpSpPr>
        <p:sp>
          <p:nvSpPr>
            <p:cNvPr id="18" name="Left Bracket 17"/>
            <p:cNvSpPr/>
            <p:nvPr/>
          </p:nvSpPr>
          <p:spPr>
            <a:xfrm>
              <a:off x="2424689" y="4648200"/>
              <a:ext cx="310215" cy="1295400"/>
            </a:xfrm>
            <a:prstGeom prst="lef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9" name="Right Bracket 18"/>
            <p:cNvSpPr/>
            <p:nvPr/>
          </p:nvSpPr>
          <p:spPr>
            <a:xfrm>
              <a:off x="3710180" y="4648200"/>
              <a:ext cx="238798" cy="12954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20" name="TextBox 19"/>
            <p:cNvSpPr txBox="1"/>
            <p:nvPr/>
          </p:nvSpPr>
          <p:spPr>
            <a:xfrm>
              <a:off x="2362200" y="4800600"/>
              <a:ext cx="1990725" cy="1077913"/>
            </a:xfrm>
            <a:prstGeom prst="rect">
              <a:avLst/>
            </a:prstGeom>
            <a:noFill/>
          </p:spPr>
          <p:txBody>
            <a:bodyPr>
              <a:spAutoFit/>
            </a:bodyPr>
            <a:lstStyle/>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1   0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1   1   0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0   1   1   0</a:t>
              </a:r>
              <a:endParaRPr kumimoji="0" lang="en-IN" sz="1600" kern="1200" cap="none" spc="0" normalizeH="0" baseline="0" noProof="0" dirty="0">
                <a:solidFill>
                  <a:schemeClr val="dk1"/>
                </a:solidFill>
                <a:latin typeface="+mn-lt"/>
                <a:ea typeface="+mn-ea"/>
                <a:cs typeface="+mn-c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Content Placeholder 2"/>
          <p:cNvSpPr>
            <a:spLocks noGrp="1"/>
          </p:cNvSpPr>
          <p:nvPr>
            <p:ph sz="quarter" idx="1"/>
          </p:nvPr>
        </p:nvSpPr>
        <p:spPr>
          <a:xfrm>
            <a:off x="838200" y="1146175"/>
            <a:ext cx="7086600" cy="4873625"/>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IN" altLang="x-none" sz="2000" dirty="0"/>
              <a:t>An ordinal variable is similar to a categorical variable. </a:t>
            </a:r>
            <a:endParaRPr lang="en-IN" altLang="x-none" sz="2000" dirty="0"/>
          </a:p>
          <a:p>
            <a:pPr algn="just" eaLnBrk="1" hangingPunct="1">
              <a:buClr>
                <a:schemeClr val="accent1"/>
              </a:buClr>
              <a:buSzPct val="70000"/>
              <a:buFont typeface="Wingdings" panose="05000000000000000000" pitchFamily="2" charset="2"/>
            </a:pPr>
            <a:r>
              <a:rPr lang="en-IN" altLang="x-none" sz="2000" dirty="0"/>
              <a:t>The difference between the two is that there is a </a:t>
            </a:r>
            <a:r>
              <a:rPr lang="en-IN" altLang="x-none" sz="2000" dirty="0">
                <a:solidFill>
                  <a:schemeClr val="accent1"/>
                </a:solidFill>
              </a:rPr>
              <a:t>clear ordering of the variables</a:t>
            </a:r>
            <a:endParaRPr lang="en-IN" altLang="x-none" sz="2000" dirty="0">
              <a:solidFill>
                <a:schemeClr val="accent1"/>
              </a:solidFill>
            </a:endParaRPr>
          </a:p>
          <a:p>
            <a:pPr algn="just" eaLnBrk="1" hangingPunct="1">
              <a:buClr>
                <a:schemeClr val="accent1"/>
              </a:buClr>
              <a:buSzPct val="70000"/>
              <a:buFont typeface="Wingdings" panose="05000000000000000000" pitchFamily="2" charset="2"/>
            </a:pPr>
            <a:r>
              <a:rPr lang="en-IN" altLang="x-none" sz="2000" dirty="0"/>
              <a:t>For example, suppose you have a variable, economic status, with three categories (low, medium and high).</a:t>
            </a:r>
            <a:endParaRPr lang="en-IN" altLang="x-none" sz="2000" dirty="0"/>
          </a:p>
          <a:p>
            <a:pPr algn="just" eaLnBrk="1" hangingPunct="1">
              <a:buClr>
                <a:schemeClr val="accent1"/>
              </a:buClr>
              <a:buSzPct val="70000"/>
              <a:buFont typeface="Wingdings" panose="05000000000000000000" pitchFamily="2" charset="2"/>
            </a:pPr>
            <a:r>
              <a:rPr lang="en-IN" altLang="x-none" sz="2000" dirty="0"/>
              <a:t>In addition to </a:t>
            </a:r>
            <a:r>
              <a:rPr lang="en-IN" altLang="x-none" sz="2000" dirty="0">
                <a:solidFill>
                  <a:schemeClr val="accent1"/>
                </a:solidFill>
              </a:rPr>
              <a:t>being able to classify people </a:t>
            </a:r>
            <a:r>
              <a:rPr lang="en-IN" altLang="x-none" sz="2000" dirty="0"/>
              <a:t>into these three categories, you can </a:t>
            </a:r>
            <a:r>
              <a:rPr lang="en-IN" altLang="x-none" sz="2000" dirty="0">
                <a:solidFill>
                  <a:schemeClr val="accent1"/>
                </a:solidFill>
              </a:rPr>
              <a:t>order the categories </a:t>
            </a:r>
            <a:r>
              <a:rPr lang="en-IN" altLang="x-none" sz="2000" dirty="0"/>
              <a:t>as low, medium and high</a:t>
            </a:r>
            <a:endParaRPr lang="en-IN" altLang="x-none" sz="2000" dirty="0"/>
          </a:p>
          <a:p>
            <a:pPr algn="just" eaLnBrk="1" hangingPunct="1">
              <a:buClr>
                <a:schemeClr val="accent1"/>
              </a:buClr>
              <a:buSzPct val="70000"/>
              <a:buFont typeface="Wingdings" panose="05000000000000000000" pitchFamily="2" charset="2"/>
            </a:pPr>
            <a:r>
              <a:rPr lang="en-IN" altLang="x-none" sz="2000" dirty="0"/>
              <a:t>Now consider a variable like educational experience (with values such as elementary school graduate, high school graduate, some college and college graduate).</a:t>
            </a:r>
            <a:endParaRPr lang="en-IN" altLang="x-none" sz="2000" dirty="0"/>
          </a:p>
          <a:p>
            <a:pPr algn="just" eaLnBrk="1" hangingPunct="1">
              <a:buClr>
                <a:schemeClr val="accent1"/>
              </a:buClr>
              <a:buSzPct val="70000"/>
              <a:buFont typeface="Wingdings" panose="05000000000000000000" pitchFamily="2" charset="2"/>
            </a:pPr>
            <a:r>
              <a:rPr lang="en-IN" altLang="x-none" sz="2000" dirty="0"/>
              <a:t>Even though we can order these from lowest to highest, the spacing between the values may not be the same across the levels of the variables.</a:t>
            </a:r>
            <a:endParaRPr lang="en-IN" altLang="x-none" sz="2000" dirty="0"/>
          </a:p>
          <a:p>
            <a:pPr algn="just" eaLnBrk="1" hangingPunct="1">
              <a:buClr>
                <a:schemeClr val="accent1"/>
              </a:buClr>
              <a:buSzPct val="70000"/>
              <a:buFont typeface="Wingdings" panose="05000000000000000000" pitchFamily="2" charset="2"/>
            </a:pPr>
            <a:endParaRPr lang="en-IN" altLang="x-none" sz="2000" dirty="0"/>
          </a:p>
        </p:txBody>
      </p:sp>
      <p:sp>
        <p:nvSpPr>
          <p:cNvPr id="39938"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39939"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39940" name="Footer Placeholder 5"/>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7" name="Rectangle 2"/>
          <p:cNvSpPr>
            <a:spLocks noGrp="1" noChangeArrowheads="1"/>
          </p:cNvSpPr>
          <p:nvPr>
            <p:ph type="title"/>
          </p:nvPr>
        </p:nvSpPr>
        <p:spPr>
          <a:xfrm>
            <a:off x="228600" y="0"/>
            <a:ext cx="74676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Ordinal Variables</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Content Placeholder 2"/>
          <p:cNvSpPr>
            <a:spLocks noGrp="1"/>
          </p:cNvSpPr>
          <p:nvPr>
            <p:ph sz="quarter" idx="1"/>
          </p:nvPr>
        </p:nvSpPr>
        <p:spPr>
          <a:xfrm>
            <a:off x="914400" y="1295400"/>
            <a:ext cx="7086600" cy="4873625"/>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IN" altLang="x-none" sz="2000" dirty="0"/>
              <a:t>Say we assign scores 1, 2, 3 and 4 to these four levels of educational experience and we compare the difference in education between categories one and two with the difference in educational experience between categories two and three, or the difference between categories three and four.</a:t>
            </a:r>
            <a:endParaRPr lang="en-IN" altLang="x-none" sz="2000" dirty="0"/>
          </a:p>
          <a:p>
            <a:pPr algn="just" eaLnBrk="1" hangingPunct="1">
              <a:buClr>
                <a:schemeClr val="accent1"/>
              </a:buClr>
              <a:buSzPct val="70000"/>
              <a:buFont typeface="Wingdings" panose="05000000000000000000" pitchFamily="2" charset="2"/>
            </a:pPr>
            <a:r>
              <a:rPr lang="en-IN" altLang="x-none" sz="2000" dirty="0"/>
              <a:t> The difference between categories one and two (elementary and high school) is probably much bigger than the difference between categories two and three (high school and some college).  </a:t>
            </a:r>
            <a:endParaRPr lang="en-IN" altLang="x-none" sz="2000" dirty="0"/>
          </a:p>
          <a:p>
            <a:pPr algn="just" eaLnBrk="1" hangingPunct="1">
              <a:buClr>
                <a:schemeClr val="accent1"/>
              </a:buClr>
              <a:buSzPct val="70000"/>
              <a:buFont typeface="Wingdings" panose="05000000000000000000" pitchFamily="2" charset="2"/>
            </a:pPr>
            <a:r>
              <a:rPr lang="en-IN" altLang="x-none" sz="2000" dirty="0"/>
              <a:t>In this example, we can order the people in level of educational experience but the size of the difference between categories is inconsistent (because the spacing between categories one and two is bigger than categories two and three).</a:t>
            </a:r>
            <a:endParaRPr lang="en-IN" altLang="x-none" sz="2000" dirty="0"/>
          </a:p>
        </p:txBody>
      </p:sp>
      <p:sp>
        <p:nvSpPr>
          <p:cNvPr id="40962"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0963"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40964" name="Footer Placeholder 5"/>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7" name="Rectangle 2"/>
          <p:cNvSpPr>
            <a:spLocks noGrp="1" noChangeArrowheads="1"/>
          </p:cNvSpPr>
          <p:nvPr>
            <p:ph type="title"/>
          </p:nvPr>
        </p:nvSpPr>
        <p:spPr>
          <a:xfrm>
            <a:off x="381000" y="152400"/>
            <a:ext cx="7467600" cy="9144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Ordinal Variables (Contd…)</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Rectangle 2"/>
          <p:cNvSpPr>
            <a:spLocks noGrp="1" noChangeArrowheads="1"/>
          </p:cNvSpPr>
          <p:nvPr>
            <p:ph type="title"/>
          </p:nvPr>
        </p:nvSpPr>
        <p:spPr>
          <a:xfrm>
            <a:off x="304800" y="152400"/>
            <a:ext cx="8001000" cy="630238"/>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How are Ordinal Variables handled ?</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41986" name="Rectangle 3"/>
          <p:cNvSpPr>
            <a:spLocks noGrp="1"/>
          </p:cNvSpPr>
          <p:nvPr>
            <p:ph sz="quarter" idx="1"/>
          </p:nvPr>
        </p:nvSpPr>
        <p:spPr>
          <a:xfrm>
            <a:off x="381000" y="1371600"/>
            <a:ext cx="7848600" cy="4724400"/>
          </a:xfrm>
          <a:ln/>
        </p:spPr>
        <p:txBody>
          <a:bodyPr vert="horz" wrap="square" lIns="92075" tIns="46038" rIns="92075" bIns="46038" anchor="t" anchorCtr="0"/>
          <a:p>
            <a:pPr algn="just" eaLnBrk="1" hangingPunct="1">
              <a:lnSpc>
                <a:spcPct val="110000"/>
              </a:lnSpc>
              <a:buClr>
                <a:schemeClr val="accent1"/>
              </a:buClr>
              <a:buSzPct val="70000"/>
              <a:buFont typeface="Wingdings" panose="05000000000000000000" pitchFamily="2" charset="2"/>
            </a:pPr>
            <a:r>
              <a:rPr lang="en-US" dirty="0"/>
              <a:t>Quite similar as interval-scaled variable while computing the dissimilarity between objects</a:t>
            </a:r>
            <a:endParaRPr lang="en-US" dirty="0"/>
          </a:p>
          <a:p>
            <a:pPr algn="just" eaLnBrk="1" hangingPunct="1">
              <a:lnSpc>
                <a:spcPct val="110000"/>
              </a:lnSpc>
              <a:buClr>
                <a:schemeClr val="accent1"/>
              </a:buClr>
              <a:buSzPct val="70000"/>
              <a:buFont typeface="Wingdings" panose="05000000000000000000" pitchFamily="2" charset="2"/>
            </a:pPr>
            <a:r>
              <a:rPr lang="en-US" dirty="0"/>
              <a:t>Let </a:t>
            </a:r>
            <a:r>
              <a:rPr lang="en-US" i="1" dirty="0">
                <a:solidFill>
                  <a:schemeClr val="accent1"/>
                </a:solidFill>
              </a:rPr>
              <a:t>f</a:t>
            </a:r>
            <a:r>
              <a:rPr lang="en-US" dirty="0"/>
              <a:t> is a variable from a set of ordinal variables describing n objects</a:t>
            </a:r>
            <a:endParaRPr lang="en-US" dirty="0"/>
          </a:p>
          <a:p>
            <a:pPr algn="just" eaLnBrk="1" hangingPunct="1">
              <a:lnSpc>
                <a:spcPct val="110000"/>
              </a:lnSpc>
              <a:buClr>
                <a:schemeClr val="accent1"/>
              </a:buClr>
              <a:buSzPct val="70000"/>
              <a:buFont typeface="Wingdings" panose="05000000000000000000" pitchFamily="2" charset="2"/>
            </a:pPr>
            <a:r>
              <a:rPr lang="en-US" dirty="0"/>
              <a:t>The dissimilarity w.r.t </a:t>
            </a:r>
            <a:r>
              <a:rPr lang="en-US" i="1" dirty="0">
                <a:solidFill>
                  <a:schemeClr val="accent1"/>
                </a:solidFill>
              </a:rPr>
              <a:t>f</a:t>
            </a:r>
            <a:r>
              <a:rPr lang="en-US" dirty="0"/>
              <a:t> involves the following steps:</a:t>
            </a:r>
            <a:endParaRPr lang="en-US" dirty="0"/>
          </a:p>
          <a:p>
            <a:pPr lvl="1" algn="just" eaLnBrk="1" hangingPunct="1">
              <a:lnSpc>
                <a:spcPct val="110000"/>
              </a:lnSpc>
              <a:buClr>
                <a:schemeClr val="accent1"/>
              </a:buClr>
              <a:buSzPct val="80000"/>
              <a:buFont typeface="Wingdings 2" panose="05020102010507070707" pitchFamily="18" charset="2"/>
            </a:pPr>
            <a:r>
              <a:rPr lang="en-US" dirty="0"/>
              <a:t>replacing </a:t>
            </a:r>
            <a:r>
              <a:rPr lang="en-US" i="1" dirty="0"/>
              <a:t>x</a:t>
            </a:r>
            <a:r>
              <a:rPr lang="en-US" i="1" baseline="-25000" dirty="0"/>
              <a:t>if</a:t>
            </a:r>
            <a:r>
              <a:rPr lang="en-US" baseline="-25000" dirty="0"/>
              <a:t> </a:t>
            </a:r>
            <a:r>
              <a:rPr lang="en-US" dirty="0"/>
              <a:t> by their rank</a:t>
            </a:r>
            <a:endParaRPr lang="en-US" dirty="0"/>
          </a:p>
          <a:p>
            <a:pPr lvl="1" algn="just" eaLnBrk="1" hangingPunct="1">
              <a:lnSpc>
                <a:spcPct val="110000"/>
              </a:lnSpc>
              <a:buClr>
                <a:schemeClr val="accent1"/>
              </a:buClr>
              <a:buSzPct val="80000"/>
              <a:buFont typeface="Wingdings 2" panose="05020102010507070707" pitchFamily="18" charset="2"/>
            </a:pPr>
            <a:r>
              <a:rPr lang="en-US" dirty="0"/>
              <a:t>map the range of each variable onto [0, 1] by replacing</a:t>
            </a:r>
            <a:r>
              <a:rPr lang="en-US" i="1" dirty="0"/>
              <a:t> i</a:t>
            </a:r>
            <a:r>
              <a:rPr lang="en-US" dirty="0"/>
              <a:t>-th object in the </a:t>
            </a:r>
            <a:r>
              <a:rPr lang="en-US" i="1" dirty="0"/>
              <a:t>f</a:t>
            </a:r>
            <a:r>
              <a:rPr lang="en-US" dirty="0"/>
              <a:t>-th variable by</a:t>
            </a:r>
            <a:endParaRPr lang="en-US" dirty="0"/>
          </a:p>
          <a:p>
            <a:pPr lvl="1" algn="just" eaLnBrk="1" hangingPunct="1">
              <a:lnSpc>
                <a:spcPct val="110000"/>
              </a:lnSpc>
              <a:buClr>
                <a:schemeClr val="accent1"/>
              </a:buClr>
              <a:buSzPct val="80000"/>
              <a:buFont typeface="Wingdings 2" panose="05020102010507070707" pitchFamily="18" charset="2"/>
            </a:pPr>
            <a:endParaRPr lang="en-US" dirty="0"/>
          </a:p>
          <a:p>
            <a:pPr lvl="1" algn="just" eaLnBrk="1" hangingPunct="1">
              <a:lnSpc>
                <a:spcPct val="110000"/>
              </a:lnSpc>
              <a:buClr>
                <a:schemeClr val="accent1"/>
              </a:buClr>
              <a:buSzPct val="80000"/>
              <a:buFont typeface="Wingdings 2" panose="05020102010507070707" pitchFamily="18" charset="2"/>
            </a:pPr>
            <a:r>
              <a:rPr lang="en-US" dirty="0"/>
              <a:t>compute the dissimilarity using methods for interval-scaled variables</a:t>
            </a:r>
            <a:endParaRPr lang="en-US" dirty="0"/>
          </a:p>
        </p:txBody>
      </p:sp>
      <p:sp>
        <p:nvSpPr>
          <p:cNvPr id="4198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198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41989" name="Object 4"/>
          <p:cNvGraphicFramePr/>
          <p:nvPr/>
        </p:nvGraphicFramePr>
        <p:xfrm>
          <a:off x="5105400" y="4419600"/>
          <a:ext cx="1905000" cy="660400"/>
        </p:xfrm>
        <a:graphic>
          <a:graphicData uri="http://schemas.openxmlformats.org/presentationml/2006/ole">
            <mc:AlternateContent xmlns:mc="http://schemas.openxmlformats.org/markup-compatibility/2006">
              <mc:Choice xmlns:v="urn:schemas-microsoft-com:vml" Requires="v">
                <p:oleObj spid="_x0000_s3089" name="" r:id="rId1" imgW="1167765" imgH="711200" progId="Equation.3">
                  <p:embed/>
                </p:oleObj>
              </mc:Choice>
              <mc:Fallback>
                <p:oleObj name="" r:id="rId1" imgW="1167765" imgH="711200" progId="Equation.3">
                  <p:embed/>
                  <p:pic>
                    <p:nvPicPr>
                      <p:cNvPr id="0" name="Picture 3088"/>
                      <p:cNvPicPr/>
                      <p:nvPr/>
                    </p:nvPicPr>
                    <p:blipFill>
                      <a:blip r:embed="rId2"/>
                      <a:stretch>
                        <a:fillRect/>
                      </a:stretch>
                    </p:blipFill>
                    <p:spPr>
                      <a:xfrm>
                        <a:off x="5105400" y="4419600"/>
                        <a:ext cx="1905000" cy="660400"/>
                      </a:xfrm>
                      <a:prstGeom prst="rect">
                        <a:avLst/>
                      </a:prstGeom>
                      <a:solidFill>
                        <a:schemeClr val="accent1"/>
                      </a:solidFill>
                      <a:ln w="38100">
                        <a:noFill/>
                        <a:miter/>
                      </a:ln>
                    </p:spPr>
                  </p:pic>
                </p:oleObj>
              </mc:Fallback>
            </mc:AlternateContent>
          </a:graphicData>
        </a:graphic>
      </p:graphicFrame>
      <p:graphicFrame>
        <p:nvGraphicFramePr>
          <p:cNvPr id="41990" name="Object 5"/>
          <p:cNvGraphicFramePr/>
          <p:nvPr/>
        </p:nvGraphicFramePr>
        <p:xfrm>
          <a:off x="4876800" y="3657600"/>
          <a:ext cx="1981200" cy="366713"/>
        </p:xfrm>
        <a:graphic>
          <a:graphicData uri="http://schemas.openxmlformats.org/presentationml/2006/ole">
            <mc:AlternateContent xmlns:mc="http://schemas.openxmlformats.org/markup-compatibility/2006">
              <mc:Choice xmlns:v="urn:schemas-microsoft-com:vml" Requires="v">
                <p:oleObj spid="_x0000_s3090" name="" r:id="rId3" imgW="1397000" imgH="368300" progId="Equation.3">
                  <p:embed/>
                </p:oleObj>
              </mc:Choice>
              <mc:Fallback>
                <p:oleObj name="" r:id="rId3" imgW="1397000" imgH="368300" progId="Equation.3">
                  <p:embed/>
                  <p:pic>
                    <p:nvPicPr>
                      <p:cNvPr id="0" name="Picture 3089"/>
                      <p:cNvPicPr/>
                      <p:nvPr/>
                    </p:nvPicPr>
                    <p:blipFill>
                      <a:blip r:embed="rId4"/>
                      <a:stretch>
                        <a:fillRect/>
                      </a:stretch>
                    </p:blipFill>
                    <p:spPr>
                      <a:xfrm>
                        <a:off x="4876800" y="3657600"/>
                        <a:ext cx="1981200" cy="366713"/>
                      </a:xfrm>
                      <a:prstGeom prst="rect">
                        <a:avLst/>
                      </a:prstGeom>
                      <a:solidFill>
                        <a:schemeClr val="accent1"/>
                      </a:solidFill>
                      <a:ln w="38100">
                        <a:noFill/>
                        <a:miter/>
                      </a:ln>
                    </p:spPr>
                  </p:pic>
                </p:oleObj>
              </mc:Fallback>
            </mc:AlternateContent>
          </a:graphicData>
        </a:graphic>
      </p:graphicFrame>
    </p:spTree>
  </p:cSld>
  <p:clrMapOvr>
    <a:masterClrMapping/>
  </p:clrMapOvr>
  <p:transition>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301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76200"/>
            <a:ext cx="74676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Ordinal Variables (Example)</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43012" name="Content Placeholder 7"/>
          <p:cNvSpPr>
            <a:spLocks noGrp="1"/>
          </p:cNvSpPr>
          <p:nvPr>
            <p:ph sz="quarter" idx="1"/>
          </p:nvPr>
        </p:nvSpPr>
        <p:spPr>
          <a:xfrm>
            <a:off x="609600" y="1401763"/>
            <a:ext cx="7467600" cy="3246437"/>
          </a:xfrm>
          <a:ln/>
        </p:spPr>
        <p:txBody>
          <a:bodyPr vert="horz" wrap="square" lIns="91440" tIns="45720" rIns="91440" bIns="45720" anchor="t" anchorCtr="0">
            <a:spAutoFit/>
          </a:bodyPr>
          <a:p>
            <a:pPr algn="just" eaLnBrk="1" hangingPunct="1">
              <a:buClr>
                <a:schemeClr val="accent1"/>
              </a:buClr>
              <a:buSzPct val="70000"/>
              <a:buFont typeface="Wingdings" panose="05000000000000000000" pitchFamily="2" charset="2"/>
            </a:pPr>
            <a:r>
              <a:rPr lang="en-US" sz="2000" dirty="0">
                <a:solidFill>
                  <a:srgbClr val="000000"/>
                </a:solidFill>
              </a:rPr>
              <a:t>Example: Dissimilarity between ordinal variables</a:t>
            </a:r>
            <a:endParaRPr lang="en-US" sz="2000" dirty="0">
              <a:solidFill>
                <a:srgbClr val="000000"/>
              </a:solidFill>
            </a:endParaRPr>
          </a:p>
          <a:p>
            <a:pPr algn="just" eaLnBrk="1" hangingPunct="1">
              <a:buClr>
                <a:schemeClr val="accent1"/>
              </a:buClr>
              <a:buSzPct val="70000"/>
              <a:buFont typeface="Wingdings" panose="05000000000000000000" pitchFamily="2" charset="2"/>
            </a:pPr>
            <a:r>
              <a:rPr lang="en-US" sz="2000" dirty="0">
                <a:solidFill>
                  <a:srgbClr val="000000"/>
                </a:solidFill>
              </a:rPr>
              <a:t>Suppose, we have object identifier and test-2 are the variables.</a:t>
            </a:r>
            <a:endParaRPr lang="en-US" sz="2000" dirty="0">
              <a:solidFill>
                <a:srgbClr val="000000"/>
              </a:solidFill>
            </a:endParaRPr>
          </a:p>
          <a:p>
            <a:pPr algn="just" eaLnBrk="1" hangingPunct="1">
              <a:buClr>
                <a:schemeClr val="accent1"/>
              </a:buClr>
              <a:buSzPct val="70000"/>
              <a:buFont typeface="Wingdings" panose="05000000000000000000" pitchFamily="2" charset="2"/>
            </a:pPr>
            <a:r>
              <a:rPr lang="en-US" sz="2000" dirty="0">
                <a:solidFill>
                  <a:srgbClr val="000000"/>
                </a:solidFill>
              </a:rPr>
              <a:t>There are 3 states for test-2 </a:t>
            </a:r>
            <a:r>
              <a:rPr lang="en-US" sz="2000" i="1" dirty="0">
                <a:solidFill>
                  <a:srgbClr val="000000"/>
                </a:solidFill>
              </a:rPr>
              <a:t>i.e</a:t>
            </a:r>
            <a:r>
              <a:rPr lang="en-US" sz="2000" dirty="0">
                <a:solidFill>
                  <a:srgbClr val="000000"/>
                </a:solidFill>
              </a:rPr>
              <a:t>  </a:t>
            </a:r>
            <a:r>
              <a:rPr lang="en-US" sz="2000" i="1" dirty="0">
                <a:solidFill>
                  <a:schemeClr val="accent1"/>
                </a:solidFill>
              </a:rPr>
              <a:t>M</a:t>
            </a:r>
            <a:r>
              <a:rPr lang="en-US" sz="2000" i="1" baseline="-25000" dirty="0">
                <a:solidFill>
                  <a:schemeClr val="accent1"/>
                </a:solidFill>
              </a:rPr>
              <a:t>f</a:t>
            </a:r>
            <a:r>
              <a:rPr lang="en-US" sz="2000" i="1" dirty="0">
                <a:solidFill>
                  <a:schemeClr val="accent1"/>
                </a:solidFill>
              </a:rPr>
              <a:t> = 3</a:t>
            </a:r>
            <a:endParaRPr lang="en-US" sz="2000" i="1" dirty="0">
              <a:solidFill>
                <a:schemeClr val="accent1"/>
              </a:solidFill>
            </a:endParaRPr>
          </a:p>
          <a:p>
            <a:pPr algn="just" eaLnBrk="1" hangingPunct="1">
              <a:buClr>
                <a:schemeClr val="accent1"/>
              </a:buClr>
              <a:buSzPct val="70000"/>
              <a:buFont typeface="Wingdings" panose="05000000000000000000" pitchFamily="2" charset="2"/>
            </a:pPr>
            <a:r>
              <a:rPr lang="en-US" sz="2000" i="1" dirty="0"/>
              <a:t>Step1 : Replace each value of test-2 by its rank, i.e </a:t>
            </a:r>
            <a:r>
              <a:rPr lang="en-US" sz="2000" i="1" dirty="0">
                <a:solidFill>
                  <a:schemeClr val="accent1"/>
                </a:solidFill>
              </a:rPr>
              <a:t>3,1,2,3</a:t>
            </a:r>
            <a:endParaRPr lang="en-US" sz="2000" i="1" dirty="0">
              <a:solidFill>
                <a:schemeClr val="accent1"/>
              </a:solidFill>
            </a:endParaRPr>
          </a:p>
          <a:p>
            <a:pPr algn="just" eaLnBrk="1" hangingPunct="1">
              <a:buClr>
                <a:schemeClr val="accent1"/>
              </a:buClr>
              <a:buSzPct val="70000"/>
              <a:buFont typeface="Wingdings" panose="05000000000000000000" pitchFamily="2" charset="2"/>
            </a:pPr>
            <a:r>
              <a:rPr lang="en-US" sz="2000" i="1" dirty="0"/>
              <a:t>Step2: Normalize the ranking by mapping </a:t>
            </a:r>
            <a:r>
              <a:rPr lang="en-US" sz="2000" i="1" dirty="0">
                <a:solidFill>
                  <a:schemeClr val="accent1"/>
                </a:solidFill>
              </a:rPr>
              <a:t>rank 1 to 0</a:t>
            </a:r>
            <a:r>
              <a:rPr lang="en-US" sz="2000" i="1" dirty="0"/>
              <a:t>, </a:t>
            </a:r>
            <a:r>
              <a:rPr lang="en-US" sz="2000" i="1" dirty="0">
                <a:solidFill>
                  <a:schemeClr val="accent1"/>
                </a:solidFill>
              </a:rPr>
              <a:t>rank 2 to 0.5</a:t>
            </a:r>
            <a:r>
              <a:rPr lang="en-US" sz="2000" i="1" dirty="0"/>
              <a:t> and </a:t>
            </a:r>
            <a:r>
              <a:rPr lang="en-US" sz="2000" i="1" dirty="0">
                <a:solidFill>
                  <a:schemeClr val="accent1"/>
                </a:solidFill>
              </a:rPr>
              <a:t>rank 3 to 1</a:t>
            </a:r>
            <a:r>
              <a:rPr lang="en-US" sz="2000" i="1" dirty="0"/>
              <a:t>.</a:t>
            </a:r>
            <a:endParaRPr lang="en-US" sz="2000" i="1" dirty="0"/>
          </a:p>
          <a:p>
            <a:pPr algn="just" eaLnBrk="1" hangingPunct="1">
              <a:buClr>
                <a:schemeClr val="accent1"/>
              </a:buClr>
              <a:buSzPct val="70000"/>
              <a:buFont typeface="Wingdings" panose="05000000000000000000" pitchFamily="2" charset="2"/>
            </a:pPr>
            <a:r>
              <a:rPr lang="en-US" sz="2000" i="1" dirty="0"/>
              <a:t>Step3: Use </a:t>
            </a:r>
            <a:r>
              <a:rPr lang="en-US" sz="2000" i="1" dirty="0">
                <a:solidFill>
                  <a:schemeClr val="accent1"/>
                </a:solidFill>
              </a:rPr>
              <a:t>Euclidian distance </a:t>
            </a:r>
            <a:r>
              <a:rPr lang="en-US" sz="2000" i="1" dirty="0"/>
              <a:t>to find the </a:t>
            </a:r>
            <a:r>
              <a:rPr lang="en-US" sz="2000" i="1" dirty="0">
                <a:solidFill>
                  <a:schemeClr val="accent1"/>
                </a:solidFill>
              </a:rPr>
              <a:t>dissimilarity matrix</a:t>
            </a:r>
            <a:endParaRPr lang="en-IN" altLang="x-none" sz="2000" i="1" dirty="0">
              <a:solidFill>
                <a:schemeClr val="accent1"/>
              </a:solidFill>
            </a:endParaRPr>
          </a:p>
        </p:txBody>
      </p:sp>
      <p:grpSp>
        <p:nvGrpSpPr>
          <p:cNvPr id="43013" name="Group 8"/>
          <p:cNvGrpSpPr/>
          <p:nvPr/>
        </p:nvGrpSpPr>
        <p:grpSpPr>
          <a:xfrm>
            <a:off x="2590800" y="4953000"/>
            <a:ext cx="2757488" cy="1295400"/>
            <a:chOff x="2362200" y="4648200"/>
            <a:chExt cx="1990725" cy="1295400"/>
          </a:xfrm>
        </p:grpSpPr>
        <p:sp>
          <p:nvSpPr>
            <p:cNvPr id="10" name="Left Bracket 9"/>
            <p:cNvSpPr/>
            <p:nvPr/>
          </p:nvSpPr>
          <p:spPr>
            <a:xfrm>
              <a:off x="2424088" y="4648200"/>
              <a:ext cx="311731" cy="1295400"/>
            </a:xfrm>
            <a:prstGeom prst="lef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1" name="Right Bracket 10"/>
            <p:cNvSpPr/>
            <p:nvPr/>
          </p:nvSpPr>
          <p:spPr>
            <a:xfrm>
              <a:off x="3627462" y="4648200"/>
              <a:ext cx="239529" cy="12954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2" name="TextBox 11"/>
            <p:cNvSpPr txBox="1"/>
            <p:nvPr/>
          </p:nvSpPr>
          <p:spPr>
            <a:xfrm>
              <a:off x="2362200" y="4800600"/>
              <a:ext cx="1990725" cy="1077913"/>
            </a:xfrm>
            <a:prstGeom prst="rect">
              <a:avLst/>
            </a:prstGeom>
            <a:noFill/>
          </p:spPr>
          <p:txBody>
            <a:bodyPr>
              <a:spAutoFit/>
            </a:bodyPr>
            <a:lstStyle/>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1         0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0.5      0.5    0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0         1.0    0.5    0</a:t>
              </a:r>
              <a:endParaRPr kumimoji="0" lang="en-IN" sz="1600" kern="1200" cap="none" spc="0" normalizeH="0" baseline="0" noProof="0" dirty="0">
                <a:solidFill>
                  <a:schemeClr val="dk1"/>
                </a:solidFill>
                <a:latin typeface="+mn-lt"/>
                <a:ea typeface="+mn-ea"/>
                <a:cs typeface="+mn-c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noChangeArrowheads="1"/>
          </p:cNvSpPr>
          <p:nvPr>
            <p:ph type="title"/>
          </p:nvPr>
        </p:nvSpPr>
        <p:spPr>
          <a:xfrm>
            <a:off x="381000" y="228600"/>
            <a:ext cx="6629400" cy="7826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Ratio-Scaled Variables</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1750" name="Rectangle 3"/>
          <p:cNvSpPr>
            <a:spLocks noGrp="1" noChangeArrowheads="1"/>
          </p:cNvSpPr>
          <p:nvPr>
            <p:ph sz="quarter" idx="1"/>
          </p:nvPr>
        </p:nvSpPr>
        <p:spPr>
          <a:xfrm>
            <a:off x="457200" y="1600200"/>
            <a:ext cx="7772400" cy="4724400"/>
          </a:xfrm>
        </p:spPr>
        <p:txBody>
          <a:bodyPr vert="horz" wrap="square" lIns="92075" tIns="46038" rIns="92075" bIns="46038" numCol="1" anchor="t" anchorCtr="0" compatLnSpc="1">
            <a:normAutofit/>
          </a:bodyPr>
          <a:lstStyle/>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Ratio-scaled variable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positive measurement on a nonlinear scale, approximately at exponential scale, such as </a:t>
            </a:r>
            <a:r>
              <a:rPr kumimoji="0" lang="en-US" sz="2400" b="0" i="1" u="none" strike="noStrike" kern="1200" cap="none" spc="0" normalizeH="0" baseline="0" noProof="0" dirty="0" err="1" smtClean="0">
                <a:ln>
                  <a:noFill/>
                </a:ln>
                <a:solidFill>
                  <a:schemeClr val="tx1"/>
                </a:solidFill>
                <a:effectLst/>
                <a:uLnTx/>
                <a:uFillTx/>
                <a:latin typeface="+mn-lt"/>
                <a:ea typeface="+mn-ea"/>
                <a:cs typeface="+mn-cs"/>
              </a:rPr>
              <a:t>Ae</a:t>
            </a:r>
            <a:r>
              <a:rPr kumimoji="0" lang="en-US" sz="2400" b="0" i="1" u="none" strike="noStrike" kern="1200" cap="none" spc="0" normalizeH="0" baseline="30000" noProof="0" dirty="0" err="1" smtClean="0">
                <a:ln>
                  <a:noFill/>
                </a:ln>
                <a:solidFill>
                  <a:schemeClr val="tx1"/>
                </a:solidFill>
                <a:effectLst/>
                <a:uLnTx/>
                <a:uFillTx/>
                <a:latin typeface="+mn-lt"/>
                <a:ea typeface="+mn-ea"/>
                <a:cs typeface="+mn-cs"/>
              </a:rPr>
              <a:t>Bt</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or </a:t>
            </a:r>
            <a:r>
              <a:rPr kumimoji="0" lang="en-US" sz="2400" b="0" i="1" u="none" strike="noStrike" kern="1200" cap="none" spc="0" normalizeH="0" baseline="0" noProof="0" dirty="0" err="1" smtClean="0">
                <a:ln>
                  <a:noFill/>
                </a:ln>
                <a:solidFill>
                  <a:schemeClr val="tx1"/>
                </a:solidFill>
                <a:effectLst/>
                <a:uLnTx/>
                <a:uFillTx/>
                <a:latin typeface="+mn-lt"/>
                <a:ea typeface="+mn-ea"/>
                <a:cs typeface="+mn-cs"/>
              </a:rPr>
              <a:t>Ae</a:t>
            </a:r>
            <a:r>
              <a:rPr kumimoji="0" lang="en-US" sz="2400" b="0" i="1" u="none" strike="noStrike" kern="1200" cap="none" spc="0" normalizeH="0" baseline="30000" noProof="0" dirty="0" smtClean="0">
                <a:ln>
                  <a:noFill/>
                </a:ln>
                <a:solidFill>
                  <a:schemeClr val="tx1"/>
                </a:solidFill>
                <a:effectLst/>
                <a:uLnTx/>
                <a:uFillTx/>
                <a:latin typeface="+mn-lt"/>
                <a:ea typeface="+mn-ea"/>
                <a:cs typeface="+mn-cs"/>
              </a:rPr>
              <a:t>-Bt</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Methods: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treat them like interval-scaled variables — </a:t>
            </a:r>
            <a:r>
              <a:rPr kumimoji="0" lang="en-US" sz="2100" b="0" i="1" u="none" strike="noStrike" kern="1200" cap="none" spc="0" normalizeH="0" baseline="0" noProof="0" dirty="0" smtClean="0">
                <a:ln>
                  <a:noFill/>
                </a:ln>
                <a:solidFill>
                  <a:schemeClr val="hlink"/>
                </a:solidFill>
                <a:effectLst/>
                <a:uLnTx/>
                <a:uFillTx/>
                <a:latin typeface="+mn-lt"/>
                <a:ea typeface="+mn-ea"/>
                <a:cs typeface="+mn-cs"/>
              </a:rPr>
              <a:t>not a good choice! (since it is likely that the scale may be distorted)</a:t>
            </a:r>
            <a:endParaRPr kumimoji="0" lang="en-US" sz="2100" b="0" i="0" u="none" strike="noStrike" kern="1200" cap="none" spc="0" normalizeH="0" baseline="0" noProof="0" dirty="0" smtClean="0">
              <a:ln>
                <a:noFill/>
              </a:ln>
              <a:solidFill>
                <a:schemeClr val="hlink"/>
              </a:solidFill>
              <a:effectLst/>
              <a:uLnTx/>
              <a:uFillTx/>
              <a:latin typeface="+mn-lt"/>
              <a:ea typeface="+mn-ea"/>
              <a:cs typeface="+mn-cs"/>
            </a:endParaRPr>
          </a:p>
          <a:p>
            <a:pPr marL="640080" marR="0" lvl="1" indent="-247015"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apply logarithmic transformation</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20000"/>
              </a:lnSpc>
              <a:spcBef>
                <a:spcPts val="600"/>
              </a:spcBef>
              <a:spcAft>
                <a:spcPts val="0"/>
              </a:spcAft>
              <a:buClr>
                <a:schemeClr val="accent3"/>
              </a:buClr>
              <a:buSzPct val="70000"/>
              <a:buFont typeface="Wingdings" panose="05000000000000000000" pitchFamily="2" charset="2"/>
              <a:buNone/>
              <a:defRPr/>
            </a:pPr>
            <a:r>
              <a:rPr kumimoji="0" lang="en-US" sz="2400" b="0" i="1"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1" u="none" strike="noStrike" kern="1200" cap="none" spc="0" normalizeH="0" baseline="0" noProof="0" dirty="0" err="1" smtClean="0">
                <a:ln>
                  <a:noFill/>
                </a:ln>
                <a:solidFill>
                  <a:schemeClr val="tx1"/>
                </a:solidFill>
                <a:effectLst/>
                <a:uLnTx/>
                <a:uFillTx/>
                <a:latin typeface="+mn-lt"/>
                <a:ea typeface="+mn-ea"/>
                <a:cs typeface="+mn-cs"/>
              </a:rPr>
              <a:t>y</a:t>
            </a:r>
            <a:r>
              <a:rPr kumimoji="0" lang="en-US" sz="2400" b="0" i="1" u="none" strike="noStrike" kern="1200" cap="none" spc="0" normalizeH="0" baseline="-25000" noProof="0" dirty="0" err="1" smtClean="0">
                <a:ln>
                  <a:noFill/>
                </a:ln>
                <a:solidFill>
                  <a:schemeClr val="tx1"/>
                </a:solidFill>
                <a:effectLst/>
                <a:uLnTx/>
                <a:uFillTx/>
                <a:latin typeface="+mn-lt"/>
                <a:ea typeface="+mn-ea"/>
                <a:cs typeface="+mn-cs"/>
              </a:rPr>
              <a:t>if</a:t>
            </a:r>
            <a:r>
              <a:rPr kumimoji="0" lang="en-US" sz="2400" b="0" i="1" u="none" strike="noStrike" kern="1200" cap="none" spc="0" normalizeH="0" baseline="-2500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400" b="0" i="1" u="none" strike="noStrike" kern="1200" cap="none" spc="0" normalizeH="0" baseline="0" noProof="0" dirty="0" smtClean="0">
                <a:ln>
                  <a:noFill/>
                </a:ln>
                <a:solidFill>
                  <a:schemeClr val="tx1"/>
                </a:solidFill>
                <a:effectLst/>
                <a:uLnTx/>
                <a:uFillTx/>
                <a:latin typeface="+mn-lt"/>
                <a:ea typeface="+mn-ea"/>
                <a:cs typeface="+mn-cs"/>
              </a:rPr>
              <a:t> log(</a:t>
            </a:r>
            <a:r>
              <a:rPr kumimoji="0" lang="en-US" sz="2400" b="0" i="1" u="none" strike="noStrike" kern="1200" cap="none" spc="0" normalizeH="0" baseline="0" noProof="0" dirty="0" err="1" smtClean="0">
                <a:ln>
                  <a:noFill/>
                </a:ln>
                <a:solidFill>
                  <a:schemeClr val="tx1"/>
                </a:solidFill>
                <a:effectLst/>
                <a:uLnTx/>
                <a:uFillTx/>
                <a:latin typeface="+mn-lt"/>
                <a:ea typeface="+mn-ea"/>
                <a:cs typeface="+mn-cs"/>
              </a:rPr>
              <a:t>x</a:t>
            </a:r>
            <a:r>
              <a:rPr kumimoji="0" lang="en-US" sz="2400" b="0" i="1" u="none" strike="noStrike" kern="1200" cap="none" spc="0" normalizeH="0" baseline="-25000" noProof="0" dirty="0" err="1" smtClean="0">
                <a:ln>
                  <a:noFill/>
                </a:ln>
                <a:solidFill>
                  <a:schemeClr val="tx1"/>
                </a:solidFill>
                <a:effectLst/>
                <a:uLnTx/>
                <a:uFillTx/>
                <a:latin typeface="+mn-lt"/>
                <a:ea typeface="+mn-ea"/>
                <a:cs typeface="+mn-cs"/>
              </a:rPr>
              <a:t>if</a:t>
            </a:r>
            <a:r>
              <a:rPr kumimoji="0" lang="en-US" sz="2400" b="0" i="1" u="none" strike="noStrike" kern="1200" cap="none" spc="0" normalizeH="0" baseline="0" noProof="0" dirty="0" smtClean="0">
                <a:ln>
                  <a:noFill/>
                </a:ln>
                <a:solidFill>
                  <a:schemeClr val="tx1"/>
                </a:solidFill>
                <a:effectLst/>
                <a:uLnTx/>
                <a:uFillTx/>
                <a:latin typeface="+mn-lt"/>
                <a:ea typeface="+mn-ea"/>
                <a:cs typeface="+mn-cs"/>
              </a:rPr>
              <a:t>)</a:t>
            </a:r>
            <a:endParaRPr kumimoji="0" lang="en-US" sz="2400" b="0" i="1"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treat them as continuous ordinal data treat their rank as interval-scaled.</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403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403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Content Placeholder 2"/>
          <p:cNvSpPr>
            <a:spLocks noGrp="1"/>
          </p:cNvSpPr>
          <p:nvPr>
            <p:ph sz="quarter" idx="1"/>
          </p:nvPr>
        </p:nvSpPr>
        <p:spPr>
          <a:xfrm>
            <a:off x="838200" y="1828800"/>
            <a:ext cx="7010400" cy="2667000"/>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IN" altLang="x-none" dirty="0"/>
              <a:t>Ratio variables are those in which the ratio of two of the numbers have meaning, such as miles per gallon, for example. If car A gets 15 mpg and car B gets 20 mpg, you can take the ratio of the two: 15/20 and compute 0.75, meaning car A gets 75% of the mileage of car B.</a:t>
            </a:r>
            <a:endParaRPr lang="en-IN" altLang="x-none" dirty="0"/>
          </a:p>
        </p:txBody>
      </p:sp>
      <p:sp>
        <p:nvSpPr>
          <p:cNvPr id="45058"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5059"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0"/>
            <a:ext cx="83058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Ratio-Scaled Variables (Example)</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608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152400" y="0"/>
            <a:ext cx="80010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Ratio-Scaled Variables (Example)</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46084" name="Content Placeholder 7"/>
          <p:cNvSpPr>
            <a:spLocks noGrp="1"/>
          </p:cNvSpPr>
          <p:nvPr>
            <p:ph sz="quarter" idx="1"/>
          </p:nvPr>
        </p:nvSpPr>
        <p:spPr>
          <a:xfrm>
            <a:off x="457200" y="1600200"/>
            <a:ext cx="7467600" cy="2478088"/>
          </a:xfrm>
          <a:ln/>
        </p:spPr>
        <p:txBody>
          <a:bodyPr vert="horz" wrap="square" lIns="91440" tIns="45720" rIns="91440" bIns="45720" anchor="t" anchorCtr="0">
            <a:spAutoFit/>
          </a:bodyPr>
          <a:p>
            <a:pPr algn="just" eaLnBrk="1" hangingPunct="1">
              <a:buClr>
                <a:schemeClr val="accent1"/>
              </a:buClr>
              <a:buSzPct val="70000"/>
              <a:buFont typeface="Wingdings" panose="05000000000000000000" pitchFamily="2" charset="2"/>
            </a:pPr>
            <a:r>
              <a:rPr lang="en-US" sz="2000" dirty="0">
                <a:solidFill>
                  <a:srgbClr val="000000"/>
                </a:solidFill>
              </a:rPr>
              <a:t>Example: Dissimilarity between ratio-scaled variables</a:t>
            </a:r>
            <a:endParaRPr lang="en-US" sz="2000" dirty="0">
              <a:solidFill>
                <a:srgbClr val="000000"/>
              </a:solidFill>
            </a:endParaRPr>
          </a:p>
          <a:p>
            <a:pPr algn="just" eaLnBrk="1" hangingPunct="1">
              <a:buClr>
                <a:schemeClr val="accent1"/>
              </a:buClr>
              <a:buSzPct val="70000"/>
              <a:buFont typeface="Wingdings" panose="05000000000000000000" pitchFamily="2" charset="2"/>
            </a:pPr>
            <a:r>
              <a:rPr lang="en-US" sz="2000" dirty="0">
                <a:solidFill>
                  <a:srgbClr val="000000"/>
                </a:solidFill>
              </a:rPr>
              <a:t>Suppose, we have object identifier and test-3 are the variables.</a:t>
            </a:r>
            <a:endParaRPr lang="en-US" sz="2000" dirty="0">
              <a:solidFill>
                <a:srgbClr val="000000"/>
              </a:solidFill>
            </a:endParaRPr>
          </a:p>
          <a:p>
            <a:pPr algn="just" eaLnBrk="1" hangingPunct="1">
              <a:buClr>
                <a:schemeClr val="accent1"/>
              </a:buClr>
              <a:buSzPct val="70000"/>
              <a:buFont typeface="Wingdings" panose="05000000000000000000" pitchFamily="2" charset="2"/>
            </a:pPr>
            <a:r>
              <a:rPr lang="en-US" sz="2000" i="1" dirty="0"/>
              <a:t>Step1 : Let us try logarithmic transformation( the results are 2.65 , 1.34, 2.21 and 3.08)</a:t>
            </a:r>
            <a:endParaRPr lang="en-US" sz="2000" i="1" dirty="0"/>
          </a:p>
          <a:p>
            <a:pPr algn="just" eaLnBrk="1" hangingPunct="1">
              <a:buClr>
                <a:schemeClr val="accent1"/>
              </a:buClr>
              <a:buSzPct val="70000"/>
              <a:buFont typeface="Wingdings" panose="05000000000000000000" pitchFamily="2" charset="2"/>
            </a:pPr>
            <a:r>
              <a:rPr lang="en-US" sz="2000" i="1" dirty="0"/>
              <a:t>Step3: Use </a:t>
            </a:r>
            <a:r>
              <a:rPr lang="en-US" sz="2000" i="1" dirty="0">
                <a:solidFill>
                  <a:schemeClr val="accent1"/>
                </a:solidFill>
              </a:rPr>
              <a:t>Euclidian distance </a:t>
            </a:r>
            <a:r>
              <a:rPr lang="en-US" sz="2000" i="1" dirty="0"/>
              <a:t>to find the </a:t>
            </a:r>
            <a:r>
              <a:rPr lang="en-US" sz="2000" i="1" dirty="0">
                <a:solidFill>
                  <a:schemeClr val="accent1"/>
                </a:solidFill>
              </a:rPr>
              <a:t>dissimilarity matrix</a:t>
            </a:r>
            <a:endParaRPr lang="en-IN" altLang="x-none" sz="2000" i="1" dirty="0">
              <a:solidFill>
                <a:schemeClr val="accent1"/>
              </a:solidFill>
            </a:endParaRPr>
          </a:p>
        </p:txBody>
      </p:sp>
      <p:grpSp>
        <p:nvGrpSpPr>
          <p:cNvPr id="46085" name="Group 8"/>
          <p:cNvGrpSpPr/>
          <p:nvPr/>
        </p:nvGrpSpPr>
        <p:grpSpPr>
          <a:xfrm>
            <a:off x="2590800" y="4495800"/>
            <a:ext cx="2757488" cy="1295400"/>
            <a:chOff x="2362200" y="4648200"/>
            <a:chExt cx="1990725" cy="1295400"/>
          </a:xfrm>
        </p:grpSpPr>
        <p:sp>
          <p:nvSpPr>
            <p:cNvPr id="10" name="Left Bracket 9"/>
            <p:cNvSpPr/>
            <p:nvPr/>
          </p:nvSpPr>
          <p:spPr>
            <a:xfrm>
              <a:off x="2424088" y="4648200"/>
              <a:ext cx="311731" cy="1295400"/>
            </a:xfrm>
            <a:prstGeom prst="lef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1" name="Right Bracket 10"/>
            <p:cNvSpPr/>
            <p:nvPr/>
          </p:nvSpPr>
          <p:spPr>
            <a:xfrm>
              <a:off x="3994205" y="4648200"/>
              <a:ext cx="238383" cy="12954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600" b="0" i="0" u="none" strike="noStrike" kern="1200" cap="none" spc="0" normalizeH="0" baseline="0" noProof="0">
                <a:ln>
                  <a:noFill/>
                </a:ln>
                <a:solidFill>
                  <a:schemeClr val="tx1"/>
                </a:solidFill>
                <a:effectLst/>
                <a:uLnTx/>
                <a:uFillTx/>
                <a:latin typeface="+mn-lt"/>
                <a:ea typeface="+mn-ea"/>
                <a:cs typeface="+mn-cs"/>
              </a:endParaRPr>
            </a:p>
          </p:txBody>
        </p:sp>
        <p:sp>
          <p:nvSpPr>
            <p:cNvPr id="12" name="TextBox 11"/>
            <p:cNvSpPr txBox="1"/>
            <p:nvPr/>
          </p:nvSpPr>
          <p:spPr>
            <a:xfrm>
              <a:off x="2362200" y="4800600"/>
              <a:ext cx="1990725" cy="1077913"/>
            </a:xfrm>
            <a:prstGeom prst="rect">
              <a:avLst/>
            </a:prstGeom>
            <a:noFill/>
          </p:spPr>
          <p:txBody>
            <a:bodyPr>
              <a:spAutoFit/>
            </a:bodyPr>
            <a:lstStyle/>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1.31         0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0.44     	   0.87     0</a:t>
              </a:r>
              <a:endParaRPr kumimoji="0" lang="en-US" sz="1600" kern="1200" cap="none" spc="0" normalizeH="0" baseline="0" noProof="0" dirty="0">
                <a:solidFill>
                  <a:schemeClr val="dk1"/>
                </a:solidFill>
                <a:latin typeface="+mn-lt"/>
                <a:ea typeface="+mn-ea"/>
                <a:cs typeface="+mn-cs"/>
              </a:endParaRPr>
            </a:p>
            <a:p>
              <a:pPr marR="0" algn="just" defTabSz="914400">
                <a:buClrTx/>
                <a:buSzTx/>
                <a:buFontTx/>
                <a:buNone/>
                <a:defRPr/>
              </a:pPr>
              <a:r>
                <a:rPr kumimoji="0" lang="en-US" sz="1600" kern="1200" cap="none" spc="0" normalizeH="0" baseline="0" noProof="0" dirty="0">
                  <a:solidFill>
                    <a:schemeClr val="dk1"/>
                  </a:solidFill>
                  <a:latin typeface="+mn-lt"/>
                  <a:ea typeface="+mn-ea"/>
                  <a:cs typeface="+mn-cs"/>
                </a:rPr>
                <a:t>   0.43         1.74    0.87    0</a:t>
              </a:r>
              <a:endParaRPr kumimoji="0" lang="en-IN" sz="1600" kern="1200" cap="none" spc="0" normalizeH="0" baseline="0" noProof="0" dirty="0">
                <a:solidFill>
                  <a:schemeClr val="dk1"/>
                </a:solidFill>
                <a:latin typeface="+mn-lt"/>
                <a:ea typeface="+mn-ea"/>
                <a:cs typeface="+mn-c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0"/>
            <a:ext cx="7696200" cy="1143000"/>
          </a:xfrm>
        </p:spPr>
        <p:txBody>
          <a:bodyPr vert="horz" anchor="b">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Why does it matter whether a variable is categorical, ordinal or interval?</a:t>
            </a:r>
            <a:endParaRPr kumimoji="0" lang="en-IN" sz="3000" b="0"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47106" name="Content Placeholder 2"/>
          <p:cNvSpPr>
            <a:spLocks noGrp="1"/>
          </p:cNvSpPr>
          <p:nvPr>
            <p:ph sz="quarter" idx="1"/>
          </p:nvPr>
        </p:nvSpPr>
        <p:spPr>
          <a:xfrm>
            <a:off x="914400" y="1981200"/>
            <a:ext cx="6858000" cy="4264025"/>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IN" altLang="x-none" sz="1800" dirty="0"/>
              <a:t>Statistical computations and analyses assume that the variables have a specific levels of measurement. </a:t>
            </a:r>
            <a:endParaRPr lang="en-IN" altLang="x-none" sz="1800" dirty="0"/>
          </a:p>
          <a:p>
            <a:pPr algn="just" eaLnBrk="1" hangingPunct="1">
              <a:buClr>
                <a:schemeClr val="accent1"/>
              </a:buClr>
              <a:buSzPct val="70000"/>
              <a:buFont typeface="Wingdings" panose="05000000000000000000" pitchFamily="2" charset="2"/>
            </a:pPr>
            <a:r>
              <a:rPr lang="en-IN" altLang="x-none" sz="1800" dirty="0"/>
              <a:t>For example, it would not make sense to compute an average hair colour.  </a:t>
            </a:r>
            <a:endParaRPr lang="en-IN" altLang="x-none" sz="1800" dirty="0"/>
          </a:p>
          <a:p>
            <a:pPr algn="just" eaLnBrk="1" hangingPunct="1">
              <a:buClr>
                <a:schemeClr val="accent1"/>
              </a:buClr>
              <a:buSzPct val="70000"/>
              <a:buFont typeface="Wingdings" panose="05000000000000000000" pitchFamily="2" charset="2"/>
            </a:pPr>
            <a:r>
              <a:rPr lang="en-IN" altLang="x-none" sz="1800" dirty="0"/>
              <a:t>An average of a categorical variable does not make much sense because there is no intrinsic ordering of the levels of the categories.  </a:t>
            </a:r>
            <a:endParaRPr lang="en-IN" altLang="x-none" sz="1800" dirty="0"/>
          </a:p>
          <a:p>
            <a:pPr algn="just" eaLnBrk="1" hangingPunct="1">
              <a:buClr>
                <a:schemeClr val="accent1"/>
              </a:buClr>
              <a:buSzPct val="70000"/>
              <a:buFont typeface="Wingdings" panose="05000000000000000000" pitchFamily="2" charset="2"/>
            </a:pPr>
            <a:r>
              <a:rPr lang="en-IN" altLang="x-none" sz="1800" dirty="0"/>
              <a:t>Moreover, if you tried to compute the average of educational experience as defined in the ordinal section above, you would also obtain a nonsensical result. </a:t>
            </a:r>
            <a:endParaRPr lang="en-IN" altLang="x-none" sz="1800" dirty="0"/>
          </a:p>
          <a:p>
            <a:pPr algn="just" eaLnBrk="1" hangingPunct="1">
              <a:buClr>
                <a:schemeClr val="accent1"/>
              </a:buClr>
              <a:buSzPct val="70000"/>
              <a:buFont typeface="Wingdings" panose="05000000000000000000" pitchFamily="2" charset="2"/>
            </a:pPr>
            <a:r>
              <a:rPr lang="en-IN" altLang="x-none" sz="1800" dirty="0"/>
              <a:t>Because the spacing between the four levels of educational experience is very uneven, the meaning of this average would be very questionable. </a:t>
            </a:r>
            <a:endParaRPr lang="en-IN" altLang="x-none" sz="1800" dirty="0"/>
          </a:p>
        </p:txBody>
      </p:sp>
      <p:sp>
        <p:nvSpPr>
          <p:cNvPr id="4710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710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Content Placeholder 2"/>
          <p:cNvSpPr>
            <a:spLocks noGrp="1"/>
          </p:cNvSpPr>
          <p:nvPr>
            <p:ph sz="quarter" idx="1"/>
          </p:nvPr>
        </p:nvSpPr>
        <p:spPr>
          <a:xfrm>
            <a:off x="762000" y="1676400"/>
            <a:ext cx="6934200" cy="4873625"/>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IN" altLang="x-none" sz="2000" dirty="0"/>
              <a:t>In short, an average requires a variable to be interval.  </a:t>
            </a:r>
            <a:endParaRPr lang="en-IN" altLang="x-none" sz="2000" dirty="0"/>
          </a:p>
          <a:p>
            <a:pPr algn="just" eaLnBrk="1" hangingPunct="1">
              <a:buClr>
                <a:schemeClr val="accent1"/>
              </a:buClr>
              <a:buSzPct val="70000"/>
              <a:buFont typeface="Wingdings" panose="05000000000000000000" pitchFamily="2" charset="2"/>
            </a:pPr>
            <a:r>
              <a:rPr lang="en-IN" altLang="x-none" sz="2000" dirty="0"/>
              <a:t>Sometimes you have variables that are "in between" ordinal and interval, for example, a five-point scale with values "strongly agree", "agree", "neutral", "disagree" and "strongly disagree".  </a:t>
            </a:r>
            <a:endParaRPr lang="en-IN" altLang="x-none" sz="2000" dirty="0"/>
          </a:p>
          <a:p>
            <a:pPr algn="just" eaLnBrk="1" hangingPunct="1">
              <a:buClr>
                <a:schemeClr val="accent1"/>
              </a:buClr>
              <a:buSzPct val="70000"/>
              <a:buFont typeface="Wingdings" panose="05000000000000000000" pitchFamily="2" charset="2"/>
            </a:pPr>
            <a:r>
              <a:rPr lang="en-IN" altLang="x-none" sz="2000" dirty="0"/>
              <a:t>If we cannot be sure that the intervals between each of these five values are the same, then we would not be able to say that this is an interval variable, but we would say that it is an ordinal variable.  </a:t>
            </a:r>
            <a:endParaRPr lang="en-IN" altLang="x-none" sz="2000" dirty="0"/>
          </a:p>
          <a:p>
            <a:pPr algn="just" eaLnBrk="1" hangingPunct="1">
              <a:buClr>
                <a:schemeClr val="accent1"/>
              </a:buClr>
              <a:buSzPct val="70000"/>
              <a:buFont typeface="Wingdings" panose="05000000000000000000" pitchFamily="2" charset="2"/>
            </a:pPr>
            <a:r>
              <a:rPr lang="en-IN" altLang="x-none" sz="2000" dirty="0"/>
              <a:t>However, in order to be able to use statistics that assume the variable is interval, we will assume that the intervals are equally spaced.  </a:t>
            </a:r>
            <a:endParaRPr lang="en-IN" altLang="x-none" sz="2000" dirty="0"/>
          </a:p>
          <a:p>
            <a:pPr algn="just" eaLnBrk="1" hangingPunct="1">
              <a:buClr>
                <a:schemeClr val="accent1"/>
              </a:buClr>
              <a:buSzPct val="70000"/>
              <a:buFont typeface="Wingdings" panose="05000000000000000000" pitchFamily="2" charset="2"/>
            </a:pPr>
            <a:endParaRPr lang="en-IN" altLang="x-none" sz="2000" dirty="0"/>
          </a:p>
        </p:txBody>
      </p:sp>
      <p:sp>
        <p:nvSpPr>
          <p:cNvPr id="4813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8131"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48132" name="Footer Placeholder 5"/>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7" name="Title 1"/>
          <p:cNvSpPr>
            <a:spLocks noGrp="1"/>
          </p:cNvSpPr>
          <p:nvPr>
            <p:ph type="title"/>
          </p:nvPr>
        </p:nvSpPr>
        <p:spPr>
          <a:xfrm>
            <a:off x="457200" y="0"/>
            <a:ext cx="7467600" cy="1143000"/>
          </a:xfrm>
        </p:spPr>
        <p:txBody>
          <a:bodyPr vert="horz" anchor="b">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Why does it matter whether a variable is categorical, ordinal or interval?</a:t>
            </a:r>
            <a:endParaRPr kumimoji="0" lang="en-IN" sz="3000" b="0"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Rectangle 2"/>
          <p:cNvSpPr>
            <a:spLocks noGrp="1" noChangeArrowheads="1"/>
          </p:cNvSpPr>
          <p:nvPr>
            <p:ph type="title"/>
          </p:nvPr>
        </p:nvSpPr>
        <p:spPr>
          <a:xfrm>
            <a:off x="381000" y="0"/>
            <a:ext cx="6553200" cy="858838"/>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Variables of Mixed Types</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9221" name="Rectangle 3"/>
          <p:cNvSpPr>
            <a:spLocks noGrp="1" noChangeArrowheads="1"/>
          </p:cNvSpPr>
          <p:nvPr>
            <p:ph sz="quarter" idx="1"/>
          </p:nvPr>
        </p:nvSpPr>
        <p:spPr>
          <a:xfrm>
            <a:off x="381000" y="1371600"/>
            <a:ext cx="7239000" cy="4876800"/>
          </a:xfrm>
        </p:spPr>
        <p:txBody>
          <a:bodyPr vert="horz" wrap="square" lIns="92075" tIns="46038" rIns="92075" bIns="46038" numCol="1" anchor="t" anchorCtr="0" compatLnSpc="1">
            <a:normAutofit lnSpcReduction="10000"/>
          </a:bodyPr>
          <a:lstStyle/>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 database may contain all the six types of variables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symmetric binary, asymmetric binary, nominal, ordinal, interval and ratio.</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One may use a weighted formula to combine their effects.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sz="2100" b="0" i="1" u="none" strike="noStrike" kern="1200" cap="none" spc="0" normalizeH="0" baseline="0" noProof="0" dirty="0" smtClean="0">
                <a:ln>
                  <a:noFill/>
                </a:ln>
                <a:solidFill>
                  <a:schemeClr val="tx1"/>
                </a:solidFill>
                <a:effectLst/>
                <a:uLnTx/>
                <a:uFillTx/>
                <a:latin typeface="+mn-lt"/>
                <a:ea typeface="+mn-ea"/>
                <a:cs typeface="+mn-cs"/>
              </a:rPr>
              <a:t>f</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is binary or nominal:</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2" indent="-182880" algn="just" defTabSz="914400" rtl="0" eaLnBrk="1" fontAlgn="auto" latinLnBrk="0" hangingPunct="1">
              <a:lnSpc>
                <a:spcPct val="100000"/>
              </a:lnSpc>
              <a:spcBef>
                <a:spcPct val="20000"/>
              </a:spcBef>
              <a:spcAft>
                <a:spcPts val="0"/>
              </a:spcAft>
              <a:buClr>
                <a:schemeClr val="accent1">
                  <a:shade val="75000"/>
                </a:schemeClr>
              </a:buClr>
              <a:buSzPct val="60000"/>
              <a:buFont typeface="Wingdings" panose="05000000000000000000" pitchFamily="2" charset="2"/>
              <a:buNone/>
              <a:defRPr/>
            </a:pPr>
            <a:r>
              <a:rPr kumimoji="0" lang="en-US" sz="1800" b="0" i="1" u="none" strike="noStrike" kern="1200" cap="none" spc="0" normalizeH="0" baseline="0" noProof="0" dirty="0" smtClean="0">
                <a:ln>
                  <a:noFill/>
                </a:ln>
                <a:solidFill>
                  <a:schemeClr val="tx1"/>
                </a:solidFill>
                <a:effectLst/>
                <a:uLnTx/>
                <a:uFillTx/>
                <a:latin typeface="+mn-lt"/>
                <a:ea typeface="+mn-ea"/>
                <a:cs typeface="+mn-cs"/>
              </a:rPr>
              <a:t>d</a:t>
            </a:r>
            <a:r>
              <a:rPr kumimoji="0" lang="en-US" sz="1800" b="0" i="0" u="none" strike="noStrike" kern="1200" cap="none" spc="0" normalizeH="0" baseline="-25000" noProof="0" dirty="0" smtClean="0">
                <a:ln>
                  <a:noFill/>
                </a:ln>
                <a:solidFill>
                  <a:schemeClr val="tx1"/>
                </a:solidFill>
                <a:effectLst/>
                <a:uLnTx/>
                <a:uFillTx/>
                <a:latin typeface="+mn-lt"/>
                <a:ea typeface="+mn-ea"/>
                <a:cs typeface="+mn-cs"/>
              </a:rPr>
              <a:t>ij</a:t>
            </a:r>
            <a:r>
              <a:rPr kumimoji="0" lang="en-US" sz="1800" b="0" i="0" u="none" strike="noStrike" kern="1200" cap="none" spc="0" normalizeH="0" baseline="30000" noProof="0" dirty="0" smtClean="0">
                <a:ln>
                  <a:noFill/>
                </a:ln>
                <a:solidFill>
                  <a:schemeClr val="tx1"/>
                </a:solidFill>
                <a:effectLst/>
                <a:uLnTx/>
                <a:uFillTx/>
                <a:latin typeface="+mn-lt"/>
                <a:ea typeface="+mn-ea"/>
                <a:cs typeface="+mn-cs"/>
              </a:rPr>
              <a:t>(f)</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 0  if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x</a:t>
            </a:r>
            <a:r>
              <a:rPr kumimoji="0" lang="en-US" sz="1800" b="0" i="0" u="none" strike="noStrike" kern="1200" cap="none" spc="0" normalizeH="0" baseline="-25000" noProof="0" dirty="0" smtClean="0">
                <a:ln>
                  <a:noFill/>
                </a:ln>
                <a:solidFill>
                  <a:schemeClr val="tx1"/>
                </a:solidFill>
                <a:effectLst/>
                <a:uLnTx/>
                <a:uFillTx/>
                <a:latin typeface="+mn-lt"/>
                <a:ea typeface="+mn-ea"/>
                <a:cs typeface="+mn-cs"/>
              </a:rPr>
              <a:t>if </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x</a:t>
            </a:r>
            <a:r>
              <a:rPr kumimoji="0" lang="en-US" sz="1800" b="0" i="0" u="none" strike="noStrike" kern="1200" cap="none" spc="0" normalizeH="0" baseline="-25000" noProof="0" dirty="0" smtClean="0">
                <a:ln>
                  <a:noFill/>
                </a:ln>
                <a:solidFill>
                  <a:schemeClr val="tx1"/>
                </a:solidFill>
                <a:effectLst/>
                <a:uLnTx/>
                <a:uFillTx/>
                <a:latin typeface="+mn-lt"/>
                <a:ea typeface="+mn-ea"/>
                <a:cs typeface="+mn-cs"/>
              </a:rPr>
              <a:t>jf</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 or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d</a:t>
            </a:r>
            <a:r>
              <a:rPr kumimoji="0" lang="en-US" sz="1800" b="0" i="0" u="none" strike="noStrike" kern="1200" cap="none" spc="0" normalizeH="0" baseline="-25000" noProof="0" dirty="0" smtClean="0">
                <a:ln>
                  <a:noFill/>
                </a:ln>
                <a:solidFill>
                  <a:schemeClr val="tx1"/>
                </a:solidFill>
                <a:effectLst/>
                <a:uLnTx/>
                <a:uFillTx/>
                <a:latin typeface="+mn-lt"/>
                <a:ea typeface="+mn-ea"/>
                <a:cs typeface="+mn-cs"/>
              </a:rPr>
              <a:t>ij</a:t>
            </a:r>
            <a:r>
              <a:rPr kumimoji="0" lang="en-US" sz="1800" b="0" i="0" u="none" strike="noStrike" kern="1200" cap="none" spc="0" normalizeH="0" baseline="30000" noProof="0" dirty="0" smtClean="0">
                <a:ln>
                  <a:noFill/>
                </a:ln>
                <a:solidFill>
                  <a:schemeClr val="tx1"/>
                </a:solidFill>
                <a:effectLst/>
                <a:uLnTx/>
                <a:uFillTx/>
                <a:latin typeface="+mn-lt"/>
                <a:ea typeface="+mn-ea"/>
                <a:cs typeface="+mn-cs"/>
              </a:rPr>
              <a:t>(f)</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 1</a:t>
            </a: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sz="2100" b="0" i="1" u="none" strike="noStrike" kern="1200" cap="none" spc="0" normalizeH="0" baseline="0" noProof="0" dirty="0" smtClean="0">
                <a:ln>
                  <a:noFill/>
                </a:ln>
                <a:solidFill>
                  <a:schemeClr val="tx1"/>
                </a:solidFill>
                <a:effectLst/>
                <a:uLnTx/>
                <a:uFillTx/>
                <a:latin typeface="+mn-lt"/>
                <a:ea typeface="+mn-ea"/>
                <a:cs typeface="+mn-cs"/>
              </a:rPr>
              <a:t>f</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is interval-based: use the normalized distance</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432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sz="2100" b="0" i="1" u="none" strike="noStrike" kern="1200" cap="none" spc="0" normalizeH="0" baseline="0" noProof="0" dirty="0" smtClean="0">
                <a:ln>
                  <a:noFill/>
                </a:ln>
                <a:solidFill>
                  <a:schemeClr val="tx1"/>
                </a:solidFill>
                <a:effectLst/>
                <a:uLnTx/>
                <a:uFillTx/>
                <a:latin typeface="+mn-lt"/>
                <a:ea typeface="+mn-ea"/>
                <a:cs typeface="+mn-cs"/>
              </a:rPr>
              <a:t>f</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is ordinal or ratio-scaled</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2" indent="-182880" algn="just" defTabSz="914400" rtl="0" eaLnBrk="1" fontAlgn="auto" latinLnBrk="0" hangingPunct="1">
              <a:lnSpc>
                <a:spcPct val="100000"/>
              </a:lnSpc>
              <a:spcBef>
                <a:spcPct val="20000"/>
              </a:spcBef>
              <a:spcAft>
                <a:spcPts val="0"/>
              </a:spcAft>
              <a:buClr>
                <a:schemeClr val="accent1">
                  <a:shade val="75000"/>
                </a:schemeClr>
              </a:buClr>
              <a:buSzPct val="60000"/>
              <a:buFont typeface="Wingdings" panose="05000000000000000000"/>
              <a:buChar char=""/>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rPr>
              <a:t>compute ranks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r</a:t>
            </a:r>
            <a:r>
              <a:rPr kumimoji="0" lang="en-US" sz="1800" b="0" i="0" u="none" strike="noStrike" kern="1200" cap="none" spc="0" normalizeH="0" baseline="-25000" noProof="0" dirty="0" smtClean="0">
                <a:ln>
                  <a:noFill/>
                </a:ln>
                <a:solidFill>
                  <a:schemeClr val="tx1"/>
                </a:solidFill>
                <a:effectLst/>
                <a:uLnTx/>
                <a:uFillTx/>
                <a:latin typeface="+mn-lt"/>
                <a:ea typeface="+mn-ea"/>
                <a:cs typeface="+mn-cs"/>
              </a:rPr>
              <a:t>if</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and  </a:t>
            </a: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2" indent="-182880" algn="just" defTabSz="914400" rtl="0" eaLnBrk="1" fontAlgn="auto" latinLnBrk="0" hangingPunct="1">
              <a:lnSpc>
                <a:spcPct val="100000"/>
              </a:lnSpc>
              <a:spcBef>
                <a:spcPct val="20000"/>
              </a:spcBef>
              <a:spcAft>
                <a:spcPts val="0"/>
              </a:spcAft>
              <a:buClr>
                <a:schemeClr val="accent1">
                  <a:shade val="75000"/>
                </a:schemeClr>
              </a:buClr>
              <a:buSzPct val="60000"/>
              <a:buFont typeface="Wingdings" panose="05000000000000000000"/>
              <a:buChar char=""/>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rPr>
              <a:t>and treat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z</a:t>
            </a:r>
            <a:r>
              <a:rPr kumimoji="0" lang="en-US" sz="1800" b="0" i="0" u="none" strike="noStrike" kern="1200" cap="none" spc="0" normalizeH="0" baseline="-25000" noProof="0" dirty="0" smtClean="0">
                <a:ln>
                  <a:noFill/>
                </a:ln>
                <a:solidFill>
                  <a:schemeClr val="tx1"/>
                </a:solidFill>
                <a:effectLst/>
                <a:uLnTx/>
                <a:uFillTx/>
                <a:latin typeface="+mn-lt"/>
                <a:ea typeface="+mn-ea"/>
                <a:cs typeface="+mn-cs"/>
              </a:rPr>
              <a:t>if</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as interval-scaled</a:t>
            </a: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915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4915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49157" name="Object 4"/>
          <p:cNvGraphicFramePr/>
          <p:nvPr/>
        </p:nvGraphicFramePr>
        <p:xfrm>
          <a:off x="2743200" y="3200400"/>
          <a:ext cx="3124200" cy="660400"/>
        </p:xfrm>
        <a:graphic>
          <a:graphicData uri="http://schemas.openxmlformats.org/presentationml/2006/ole">
            <mc:AlternateContent xmlns:mc="http://schemas.openxmlformats.org/markup-compatibility/2006">
              <mc:Choice xmlns:v="urn:schemas-microsoft-com:vml" Requires="v">
                <p:oleObj spid="_x0000_s3097" name="" r:id="rId1" imgW="2108200" imgH="736600" progId="Equation.3">
                  <p:embed/>
                </p:oleObj>
              </mc:Choice>
              <mc:Fallback>
                <p:oleObj name="" r:id="rId1" imgW="2108200" imgH="736600" progId="Equation.3">
                  <p:embed/>
                  <p:pic>
                    <p:nvPicPr>
                      <p:cNvPr id="0" name="Picture 3096"/>
                      <p:cNvPicPr/>
                      <p:nvPr/>
                    </p:nvPicPr>
                    <p:blipFill>
                      <a:blip r:embed="rId2"/>
                      <a:stretch>
                        <a:fillRect/>
                      </a:stretch>
                    </p:blipFill>
                    <p:spPr>
                      <a:xfrm>
                        <a:off x="2743200" y="3200400"/>
                        <a:ext cx="3124200" cy="660400"/>
                      </a:xfrm>
                      <a:prstGeom prst="rect">
                        <a:avLst/>
                      </a:prstGeom>
                      <a:noFill/>
                      <a:ln w="38100">
                        <a:noFill/>
                        <a:miter/>
                      </a:ln>
                    </p:spPr>
                  </p:pic>
                </p:oleObj>
              </mc:Fallback>
            </mc:AlternateContent>
          </a:graphicData>
        </a:graphic>
      </p:graphicFrame>
      <p:graphicFrame>
        <p:nvGraphicFramePr>
          <p:cNvPr id="49158" name="Object 6"/>
          <p:cNvGraphicFramePr/>
          <p:nvPr/>
        </p:nvGraphicFramePr>
        <p:xfrm>
          <a:off x="4724400" y="5562600"/>
          <a:ext cx="1622425" cy="654050"/>
        </p:xfrm>
        <a:graphic>
          <a:graphicData uri="http://schemas.openxmlformats.org/presentationml/2006/ole">
            <mc:AlternateContent xmlns:mc="http://schemas.openxmlformats.org/markup-compatibility/2006">
              <mc:Choice xmlns:v="urn:schemas-microsoft-com:vml" Requires="v">
                <p:oleObj spid="_x0000_s3096" name="" r:id="rId3" imgW="1002665" imgH="533400" progId="Equation.3">
                  <p:embed/>
                </p:oleObj>
              </mc:Choice>
              <mc:Fallback>
                <p:oleObj name="" r:id="rId3" imgW="1002665" imgH="533400" progId="Equation.3">
                  <p:embed/>
                  <p:pic>
                    <p:nvPicPr>
                      <p:cNvPr id="0" name="Picture 3095"/>
                      <p:cNvPicPr/>
                      <p:nvPr/>
                    </p:nvPicPr>
                    <p:blipFill>
                      <a:blip r:embed="rId4"/>
                      <a:stretch>
                        <a:fillRect/>
                      </a:stretch>
                    </p:blipFill>
                    <p:spPr>
                      <a:xfrm>
                        <a:off x="4724400" y="5562600"/>
                        <a:ext cx="1622425" cy="654050"/>
                      </a:xfrm>
                      <a:prstGeom prst="rect">
                        <a:avLst/>
                      </a:prstGeom>
                      <a:noFill/>
                      <a:ln w="38100">
                        <a:noFill/>
                        <a:miter/>
                      </a:ln>
                    </p:spPr>
                  </p:pic>
                </p:oleObj>
              </mc:Fallback>
            </mc:AlternateContent>
          </a:graphicData>
        </a:graphic>
      </p:graphicFrame>
    </p:spTree>
  </p:cSld>
  <p:clrMapOvr>
    <a:masterClrMapping/>
  </p:clrMapOvr>
  <p:transition>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228600" y="304800"/>
            <a:ext cx="42672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32774"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hlink"/>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5017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018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5018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noChangeArrowheads="1"/>
          </p:cNvSpPr>
          <p:nvPr>
            <p:ph type="title"/>
          </p:nvPr>
        </p:nvSpPr>
        <p:spPr>
          <a:xfrm>
            <a:off x="228600" y="381000"/>
            <a:ext cx="6324600" cy="6858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Major Clustering Approaches</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5843" name="Rectangle 3"/>
          <p:cNvSpPr>
            <a:spLocks noGrp="1" noChangeArrowheads="1"/>
          </p:cNvSpPr>
          <p:nvPr>
            <p:ph sz="quarter" idx="1"/>
          </p:nvPr>
        </p:nvSpPr>
        <p:spPr>
          <a:xfrm>
            <a:off x="304800" y="1524000"/>
            <a:ext cx="8534400" cy="4724400"/>
          </a:xfrm>
        </p:spPr>
        <p:txBody>
          <a:bodyPr vert="horz" wrap="square" lIns="92075" tIns="46038" rIns="92075" bIns="46038" numCol="1" anchor="t" anchorCtr="0" compatLnSpc="1">
            <a:normAutofit fontScale="92500"/>
          </a:bodyPr>
          <a:lstStyle/>
          <a:p>
            <a:pPr marL="274320" marR="0" lvl="0" indent="-274320" algn="l" defTabSz="914400" rtl="0" eaLnBrk="1" fontAlgn="auto" latinLnBrk="0" hangingPunct="1">
              <a:lnSpc>
                <a:spcPct val="13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Partitioning algorithms</a:t>
            </a:r>
            <a:r>
              <a:rPr kumimoji="0" lang="en-US" sz="2400" b="0" i="0" u="none" strike="noStrike" kern="1200" cap="none" spc="0" normalizeH="0" baseline="0" noProof="0" smtClean="0">
                <a:ln>
                  <a:noFill/>
                </a:ln>
                <a:solidFill>
                  <a:schemeClr val="tx1"/>
                </a:solidFill>
                <a:effectLst/>
                <a:uLnTx/>
                <a:uFillTx/>
                <a:latin typeface="+mn-lt"/>
                <a:ea typeface="+mn-ea"/>
                <a:cs typeface="+mn-cs"/>
              </a:rPr>
              <a:t>: Construct various partitions and then evaluate them by some criterion</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3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Hierarchy algorithms</a:t>
            </a:r>
            <a:r>
              <a:rPr kumimoji="0" lang="en-US" sz="2400" b="0" i="0" u="none" strike="noStrike" kern="1200" cap="none" spc="0" normalizeH="0" baseline="0" noProof="0" smtClean="0">
                <a:ln>
                  <a:noFill/>
                </a:ln>
                <a:solidFill>
                  <a:schemeClr val="tx1"/>
                </a:solidFill>
                <a:effectLst/>
                <a:uLnTx/>
                <a:uFillTx/>
                <a:latin typeface="+mn-lt"/>
                <a:ea typeface="+mn-ea"/>
                <a:cs typeface="+mn-cs"/>
              </a:rPr>
              <a:t>: Create a hierarchical decomposition of the set of data (or objects) using some criterion</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3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Density-based</a:t>
            </a:r>
            <a:r>
              <a:rPr kumimoji="0" lang="en-US" sz="2400" b="0" i="0" u="none" strike="noStrike" kern="1200" cap="none" spc="0" normalizeH="0" baseline="0" noProof="0" smtClean="0">
                <a:ln>
                  <a:noFill/>
                </a:ln>
                <a:solidFill>
                  <a:schemeClr val="tx1"/>
                </a:solidFill>
                <a:effectLst/>
                <a:uLnTx/>
                <a:uFillTx/>
                <a:latin typeface="+mn-lt"/>
                <a:ea typeface="+mn-ea"/>
                <a:cs typeface="+mn-cs"/>
              </a:rPr>
              <a:t>: based on connectivity and density functions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3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Grid-based</a:t>
            </a:r>
            <a:r>
              <a:rPr kumimoji="0" lang="en-US" sz="2400" b="0" i="0" u="none" strike="noStrike" kern="1200" cap="none" spc="0" normalizeH="0" baseline="0" noProof="0" smtClean="0">
                <a:ln>
                  <a:noFill/>
                </a:ln>
                <a:solidFill>
                  <a:schemeClr val="tx1"/>
                </a:solidFill>
                <a:effectLst/>
                <a:uLnTx/>
                <a:uFillTx/>
                <a:latin typeface="+mn-lt"/>
                <a:ea typeface="+mn-ea"/>
                <a:cs typeface="+mn-cs"/>
              </a:rPr>
              <a:t>: based on a multiple-level granularity structure</a:t>
            </a:r>
            <a:endParaRPr kumimoji="0" lang="en-US" sz="2400" b="1"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3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Model-based</a:t>
            </a:r>
            <a:r>
              <a:rPr kumimoji="0" lang="en-US" sz="2400" b="0" i="0" u="none" strike="noStrike" kern="1200" cap="none" spc="0" normalizeH="0" baseline="0" noProof="0" smtClean="0">
                <a:ln>
                  <a:noFill/>
                </a:ln>
                <a:solidFill>
                  <a:schemeClr val="tx1"/>
                </a:solidFill>
                <a:effectLst/>
                <a:uLnTx/>
                <a:uFillTx/>
                <a:latin typeface="+mn-lt"/>
                <a:ea typeface="+mn-ea"/>
                <a:cs typeface="+mn-cs"/>
              </a:rPr>
              <a:t>: A model is hypothesized for each of the clusters and the idea is to find the best fit of that model to each other</a:t>
            </a:r>
            <a:endParaRPr kumimoji="0" lang="en-US" sz="2400" b="1" i="0" u="none" strike="noStrike" kern="1200" cap="none" spc="0" normalizeH="0" baseline="0" noProof="0" smtClean="0">
              <a:ln>
                <a:noFill/>
              </a:ln>
              <a:solidFill>
                <a:schemeClr val="tx1"/>
              </a:solidFill>
              <a:effectLst/>
              <a:uLnTx/>
              <a:uFillTx/>
              <a:latin typeface="+mn-lt"/>
              <a:ea typeface="+mn-ea"/>
              <a:cs typeface="+mn-cs"/>
            </a:endParaRPr>
          </a:p>
        </p:txBody>
      </p:sp>
      <p:sp>
        <p:nvSpPr>
          <p:cNvPr id="5120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120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21" name="Rectangle 2"/>
          <p:cNvSpPr>
            <a:spLocks noGrp="1" noChangeArrowheads="1"/>
          </p:cNvSpPr>
          <p:nvPr>
            <p:ph type="title"/>
          </p:nvPr>
        </p:nvSpPr>
        <p:spPr>
          <a:xfrm>
            <a:off x="533400" y="228600"/>
            <a:ext cx="6781800" cy="990600"/>
          </a:xfrm>
        </p:spPr>
        <p:txBody>
          <a:bodyPr vert="horz" wrap="square" lIns="92075" tIns="46038" rIns="92075" bIns="46038"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AU" altLang="zh-TW" sz="3000" b="1" i="0" u="none" strike="noStrike" kern="1200" cap="small" spc="0" normalizeH="0" baseline="0" noProof="1" dirty="0">
                <a:solidFill>
                  <a:srgbClr val="D519FF"/>
                </a:solidFill>
                <a:effectLst>
                  <a:outerShdw blurRad="38100" dist="38100" dir="2700000">
                    <a:srgbClr val="C0C0C0"/>
                  </a:outerShdw>
                </a:effectLst>
                <a:latin typeface="+mj-lt"/>
                <a:ea typeface="PMingLiU" pitchFamily="18" charset="-120"/>
                <a:cs typeface="+mj-cs"/>
              </a:rPr>
              <a:t>Cluster Analysis</a:t>
            </a:r>
            <a:endParaRPr kumimoji="0" lang="en-US" altLang="zh-CN" sz="3000" b="1" i="0" u="none" strike="noStrike" kern="1200" cap="small" spc="0" normalizeH="0" baseline="0" noProof="1" dirty="0">
              <a:solidFill>
                <a:srgbClr val="D519FF"/>
              </a:solidFill>
              <a:effectLst>
                <a:outerShdw blurRad="38100" dist="38100" dir="2700000">
                  <a:srgbClr val="C0C0C0"/>
                </a:outerShdw>
              </a:effectLst>
              <a:latin typeface="+mj-lt"/>
              <a:ea typeface="PMingLiU" pitchFamily="18" charset="-120"/>
              <a:cs typeface="+mj-cs"/>
            </a:endParaRPr>
          </a:p>
        </p:txBody>
      </p:sp>
      <p:sp>
        <p:nvSpPr>
          <p:cNvPr id="34822"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5325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325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noChangeArrowheads="1"/>
          </p:cNvSpPr>
          <p:nvPr>
            <p:ph type="title"/>
          </p:nvPr>
        </p:nvSpPr>
        <p:spPr>
          <a:xfrm>
            <a:off x="228600" y="0"/>
            <a:ext cx="8305800" cy="8382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Partitioning Algorithms: Basic Concept</a:t>
            </a:r>
            <a:endPar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35846" name="Rectangle 3"/>
          <p:cNvSpPr>
            <a:spLocks noGrp="1" noChangeArrowheads="1"/>
          </p:cNvSpPr>
          <p:nvPr>
            <p:ph sz="quarter" idx="1"/>
          </p:nvPr>
        </p:nvSpPr>
        <p:spPr>
          <a:xfrm>
            <a:off x="685800" y="1219200"/>
            <a:ext cx="7315200" cy="4800600"/>
          </a:xfrm>
        </p:spPr>
        <p:txBody>
          <a:bodyPr vert="horz" wrap="square" lIns="92075" tIns="46038" rIns="92075" bIns="46038" numCol="1" anchor="t" anchorCtr="0" compatLnSpc="1">
            <a:normAutofit lnSpcReduction="10000"/>
          </a:bodyPr>
          <a:lstStyle/>
          <a:p>
            <a:pPr marL="274320" marR="0" lvl="0" indent="-274320" algn="just"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sng" strike="noStrike" kern="1200" cap="none" spc="0" normalizeH="0" baseline="0" noProof="0" dirty="0" smtClean="0">
                <a:ln>
                  <a:noFill/>
                </a:ln>
                <a:solidFill>
                  <a:schemeClr val="tx1"/>
                </a:solidFill>
                <a:effectLst/>
                <a:uLnTx/>
                <a:uFillTx/>
                <a:latin typeface="+mn-lt"/>
                <a:ea typeface="+mn-ea"/>
                <a:cs typeface="+mn-cs"/>
              </a:rPr>
              <a:t>Partitioning method:</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Construct a partition of a database </a:t>
            </a:r>
            <a:r>
              <a:rPr kumimoji="0" lang="en-US" sz="2400" b="1" i="1" u="none" strike="noStrike" kern="1200" cap="none" spc="0" normalizeH="0" baseline="0" noProof="0" dirty="0" smtClean="0">
                <a:ln>
                  <a:noFill/>
                </a:ln>
                <a:solidFill>
                  <a:schemeClr val="tx1"/>
                </a:solidFill>
                <a:effectLst/>
                <a:uLnTx/>
                <a:uFillTx/>
                <a:latin typeface="+mn-lt"/>
                <a:ea typeface="+mn-ea"/>
                <a:cs typeface="+mn-cs"/>
              </a:rPr>
              <a:t>D</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en-US" sz="2400" b="1" i="1" u="none" strike="noStrike" kern="1200" cap="none" spc="0" normalizeH="0" baseline="0" noProof="0" dirty="0" smtClean="0">
                <a:ln>
                  <a:noFill/>
                </a:ln>
                <a:solidFill>
                  <a:schemeClr val="tx1"/>
                </a:solidFill>
                <a:effectLst/>
                <a:uLnTx/>
                <a:uFillTx/>
                <a:latin typeface="+mn-lt"/>
                <a:ea typeface="+mn-ea"/>
                <a:cs typeface="+mn-cs"/>
              </a:rPr>
              <a:t>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objects into a set of </a:t>
            </a:r>
            <a:r>
              <a:rPr kumimoji="0" lang="en-US" sz="2400" b="1" i="1" u="none" strike="noStrike" kern="1200" cap="none" spc="0" normalizeH="0" baseline="0" noProof="0" dirty="0" smtClean="0">
                <a:ln>
                  <a:noFill/>
                </a:ln>
                <a:solidFill>
                  <a:schemeClr val="tx1"/>
                </a:solidFill>
                <a:effectLst/>
                <a:uLnTx/>
                <a:uFillTx/>
                <a:latin typeface="+mn-lt"/>
                <a:ea typeface="+mn-ea"/>
                <a:cs typeface="+mn-cs"/>
              </a:rPr>
              <a:t>k</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clusters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10000"/>
              </a:lnSpc>
              <a:spcBef>
                <a:spcPts val="600"/>
              </a:spcBef>
              <a:spcAft>
                <a:spcPts val="0"/>
              </a:spcAft>
              <a:buClr>
                <a:schemeClr val="accent3"/>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Given a </a:t>
            </a:r>
            <a:r>
              <a:rPr kumimoji="0" lang="en-US" sz="2400" b="0" i="1" u="none" strike="noStrike" kern="1200" cap="none" spc="0" normalizeH="0" baseline="0" noProof="0" dirty="0" smtClean="0">
                <a:ln>
                  <a:noFill/>
                </a:ln>
                <a:solidFill>
                  <a:schemeClr val="tx1"/>
                </a:solidFill>
                <a:effectLst/>
                <a:uLnTx/>
                <a:uFillTx/>
                <a:latin typeface="+mn-lt"/>
                <a:ea typeface="+mn-ea"/>
                <a:cs typeface="+mn-cs"/>
              </a:rPr>
              <a:t>k</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find a partition of </a:t>
            </a:r>
            <a:r>
              <a:rPr kumimoji="0" lang="en-US" sz="2400" b="0" i="1" u="none" strike="noStrike" kern="1200" cap="none" spc="0" normalizeH="0" baseline="0" noProof="0" dirty="0" smtClean="0">
                <a:ln>
                  <a:noFill/>
                </a:ln>
                <a:solidFill>
                  <a:schemeClr val="tx1"/>
                </a:solidFill>
                <a:effectLst/>
                <a:uLnTx/>
                <a:uFillTx/>
                <a:latin typeface="+mn-lt"/>
                <a:ea typeface="+mn-ea"/>
                <a:cs typeface="+mn-cs"/>
              </a:rPr>
              <a:t>k clusters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that optimizes the chosen partitioning criterion</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1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Global optimal: exhaustively enumerate all partitions</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1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Heuristic methods: </a:t>
            </a:r>
            <a:r>
              <a:rPr kumimoji="0" lang="en-US" sz="2100" b="0" i="1" u="none" strike="noStrike" kern="1200" cap="none" spc="0" normalizeH="0" baseline="0" noProof="0" dirty="0" smtClean="0">
                <a:ln>
                  <a:noFill/>
                </a:ln>
                <a:solidFill>
                  <a:schemeClr val="tx1"/>
                </a:solidFill>
                <a:effectLst/>
                <a:uLnTx/>
                <a:uFillTx/>
                <a:latin typeface="+mn-lt"/>
                <a:ea typeface="+mn-ea"/>
                <a:cs typeface="+mn-cs"/>
              </a:rPr>
              <a:t>k-means</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2100" b="0" i="1" u="none" strike="noStrike" kern="1200" cap="none" spc="0" normalizeH="0" baseline="0" noProof="0" dirty="0" smtClean="0">
                <a:ln>
                  <a:noFill/>
                </a:ln>
                <a:solidFill>
                  <a:schemeClr val="tx1"/>
                </a:solidFill>
                <a:effectLst/>
                <a:uLnTx/>
                <a:uFillTx/>
                <a:latin typeface="+mn-lt"/>
                <a:ea typeface="+mn-ea"/>
                <a:cs typeface="+mn-cs"/>
              </a:rPr>
              <a:t>k-</a:t>
            </a:r>
            <a:r>
              <a:rPr kumimoji="0" lang="en-US" sz="2100" b="0" i="1" u="none" strike="noStrike" kern="1200" cap="none" spc="0" normalizeH="0" baseline="0" noProof="0" dirty="0" err="1" smtClean="0">
                <a:ln>
                  <a:noFill/>
                </a:ln>
                <a:solidFill>
                  <a:schemeClr val="tx1"/>
                </a:solidFill>
                <a:effectLst/>
                <a:uLnTx/>
                <a:uFillTx/>
                <a:latin typeface="+mn-lt"/>
                <a:ea typeface="+mn-ea"/>
                <a:cs typeface="+mn-cs"/>
              </a:rPr>
              <a:t>medoids</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algorithms</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10000"/>
              </a:lnSpc>
              <a:spcBef>
                <a:spcPct val="20000"/>
              </a:spcBef>
              <a:spcAft>
                <a:spcPts val="0"/>
              </a:spcAft>
              <a:buClr>
                <a:schemeClr val="accent1"/>
              </a:buClr>
              <a:buSzPct val="80000"/>
              <a:buFont typeface="Wingdings 2" panose="05020102010507070707"/>
              <a:buChar char=""/>
              <a:defRPr/>
            </a:pPr>
            <a:r>
              <a:rPr kumimoji="0" lang="en-US" sz="2100" b="0" i="1" u="sng" strike="noStrike" kern="1200" cap="none" spc="0" normalizeH="0" baseline="0" noProof="0" dirty="0" smtClean="0">
                <a:ln>
                  <a:noFill/>
                </a:ln>
                <a:solidFill>
                  <a:schemeClr val="tx1"/>
                </a:solidFill>
                <a:effectLst/>
                <a:uLnTx/>
                <a:uFillTx/>
                <a:latin typeface="+mn-lt"/>
                <a:ea typeface="+mn-ea"/>
                <a:cs typeface="+mn-cs"/>
              </a:rPr>
              <a:t>k-means</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(MacQueen’67): Each cluster is represented by the center of the cluster</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just" defTabSz="914400" rtl="0" eaLnBrk="1" fontAlgn="auto" latinLnBrk="0" hangingPunct="1">
              <a:lnSpc>
                <a:spcPct val="110000"/>
              </a:lnSpc>
              <a:spcBef>
                <a:spcPct val="20000"/>
              </a:spcBef>
              <a:spcAft>
                <a:spcPts val="0"/>
              </a:spcAft>
              <a:buClr>
                <a:schemeClr val="accent1"/>
              </a:buClr>
              <a:buSzPct val="80000"/>
              <a:buFont typeface="Wingdings 2" panose="05020102010507070707"/>
              <a:buChar char=""/>
              <a:defRPr/>
            </a:pPr>
            <a:r>
              <a:rPr kumimoji="0" lang="en-US" sz="2100" b="0" i="1" u="sng" strike="noStrike" kern="1200" cap="none" spc="0" normalizeH="0" baseline="0" noProof="0" dirty="0" smtClean="0">
                <a:ln>
                  <a:noFill/>
                </a:ln>
                <a:solidFill>
                  <a:schemeClr val="tx1"/>
                </a:solidFill>
                <a:effectLst/>
                <a:uLnTx/>
                <a:uFillTx/>
                <a:latin typeface="+mn-lt"/>
                <a:ea typeface="+mn-ea"/>
                <a:cs typeface="+mn-cs"/>
              </a:rPr>
              <a:t>k-</a:t>
            </a:r>
            <a:r>
              <a:rPr kumimoji="0" lang="en-US" sz="2100" b="0" i="1" u="sng" strike="noStrike" kern="1200" cap="none" spc="0" normalizeH="0" baseline="0" noProof="0" dirty="0" err="1" smtClean="0">
                <a:ln>
                  <a:noFill/>
                </a:ln>
                <a:solidFill>
                  <a:schemeClr val="tx1"/>
                </a:solidFill>
                <a:effectLst/>
                <a:uLnTx/>
                <a:uFillTx/>
                <a:latin typeface="+mn-lt"/>
                <a:ea typeface="+mn-ea"/>
                <a:cs typeface="+mn-cs"/>
              </a:rPr>
              <a:t>medoids</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or PAM (Partition around </a:t>
            </a:r>
            <a:r>
              <a:rPr kumimoji="0" lang="en-US" sz="2100" b="0" i="0" u="none" strike="noStrike" kern="1200" cap="none" spc="0" normalizeH="0" baseline="0" noProof="0" dirty="0" err="1" smtClean="0">
                <a:ln>
                  <a:noFill/>
                </a:ln>
                <a:solidFill>
                  <a:schemeClr val="tx1"/>
                </a:solidFill>
                <a:effectLst/>
                <a:uLnTx/>
                <a:uFillTx/>
                <a:latin typeface="+mn-lt"/>
                <a:ea typeface="+mn-ea"/>
                <a:cs typeface="+mn-cs"/>
              </a:rPr>
              <a:t>medoids</a:t>
            </a:r>
            <a:r>
              <a:rPr kumimoji="0" lang="en-US" sz="2100" b="0" i="0" u="none" strike="noStrike" kern="1200" cap="none" spc="0" normalizeH="0" baseline="0" noProof="0" dirty="0" smtClean="0">
                <a:ln>
                  <a:noFill/>
                </a:ln>
                <a:solidFill>
                  <a:schemeClr val="tx1"/>
                </a:solidFill>
                <a:effectLst/>
                <a:uLnTx/>
                <a:uFillTx/>
                <a:latin typeface="+mn-lt"/>
                <a:ea typeface="+mn-ea"/>
                <a:cs typeface="+mn-cs"/>
              </a:rPr>
              <a:t>) (Kaufman &amp; Rousseeuw’87): Each cluster is represented by one of the objects in the cluster  </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427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427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9" name="Rectangle 2"/>
          <p:cNvSpPr>
            <a:spLocks noGrp="1" noChangeArrowheads="1"/>
          </p:cNvSpPr>
          <p:nvPr>
            <p:ph type="title"/>
          </p:nvPr>
        </p:nvSpPr>
        <p:spPr>
          <a:xfrm>
            <a:off x="381000" y="609600"/>
            <a:ext cx="7296150" cy="4984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Method</a:t>
            </a:r>
            <a:r>
              <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a:t>
            </a:r>
            <a:endPar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56322" name="Rectangle 3"/>
          <p:cNvSpPr>
            <a:spLocks noGrp="1"/>
          </p:cNvSpPr>
          <p:nvPr>
            <p:ph sz="quarter" idx="1"/>
          </p:nvPr>
        </p:nvSpPr>
        <p:spPr>
          <a:xfrm>
            <a:off x="304800" y="1752600"/>
            <a:ext cx="7856538" cy="4576763"/>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Given </a:t>
            </a:r>
            <a:r>
              <a:rPr lang="en-US" i="1" dirty="0"/>
              <a:t>k</a:t>
            </a:r>
            <a:r>
              <a:rPr lang="en-US" dirty="0"/>
              <a:t>, the </a:t>
            </a:r>
            <a:r>
              <a:rPr lang="en-US" i="1" dirty="0"/>
              <a:t>k-means</a:t>
            </a:r>
            <a:r>
              <a:rPr lang="en-US" dirty="0"/>
              <a:t> algorithm is implemented in 4 steps:</a:t>
            </a:r>
            <a:endParaRPr lang="en-US" dirty="0"/>
          </a:p>
          <a:p>
            <a:pPr lvl="1" eaLnBrk="1" hangingPunct="1">
              <a:buClr>
                <a:schemeClr val="accent1"/>
              </a:buClr>
              <a:buSzPct val="80000"/>
              <a:buFont typeface="Wingdings 2" panose="05020102010507070707" pitchFamily="18" charset="2"/>
            </a:pPr>
            <a:r>
              <a:rPr lang="en-US" dirty="0">
                <a:solidFill>
                  <a:srgbClr val="000000"/>
                </a:solidFill>
              </a:rPr>
              <a:t>Partition objects into </a:t>
            </a:r>
            <a:r>
              <a:rPr lang="en-US" i="1" dirty="0">
                <a:solidFill>
                  <a:srgbClr val="000000"/>
                </a:solidFill>
              </a:rPr>
              <a:t>k</a:t>
            </a:r>
            <a:r>
              <a:rPr lang="en-US" dirty="0">
                <a:solidFill>
                  <a:srgbClr val="000000"/>
                </a:solidFill>
              </a:rPr>
              <a:t> nonempty subsets</a:t>
            </a:r>
            <a:endParaRPr lang="en-US" dirty="0">
              <a:solidFill>
                <a:srgbClr val="000000"/>
              </a:solidFill>
            </a:endParaRPr>
          </a:p>
          <a:p>
            <a:pPr lvl="1" eaLnBrk="1" hangingPunct="1">
              <a:buClr>
                <a:schemeClr val="accent1"/>
              </a:buClr>
              <a:buSzPct val="80000"/>
              <a:buFont typeface="Wingdings 2" panose="05020102010507070707" pitchFamily="18" charset="2"/>
            </a:pPr>
            <a:r>
              <a:rPr lang="en-US" dirty="0">
                <a:solidFill>
                  <a:srgbClr val="000000"/>
                </a:solidFill>
              </a:rPr>
              <a:t>Compute seed points as the centroids of the clusters of the current partition.  The centroid is the center (mean point) of the cluster.</a:t>
            </a:r>
            <a:endParaRPr lang="en-US" dirty="0">
              <a:solidFill>
                <a:srgbClr val="000000"/>
              </a:solidFill>
            </a:endParaRPr>
          </a:p>
          <a:p>
            <a:pPr lvl="1" eaLnBrk="1" hangingPunct="1">
              <a:buClr>
                <a:schemeClr val="accent1"/>
              </a:buClr>
              <a:buSzPct val="80000"/>
              <a:buFont typeface="Wingdings 2" panose="05020102010507070707" pitchFamily="18" charset="2"/>
            </a:pPr>
            <a:r>
              <a:rPr lang="en-US" dirty="0">
                <a:solidFill>
                  <a:srgbClr val="000000"/>
                </a:solidFill>
              </a:rPr>
              <a:t>Assign each object to the cluster with the nearest seed point.  </a:t>
            </a:r>
            <a:endParaRPr lang="en-US" dirty="0">
              <a:solidFill>
                <a:srgbClr val="000000"/>
              </a:solidFill>
            </a:endParaRPr>
          </a:p>
          <a:p>
            <a:pPr lvl="1" eaLnBrk="1" hangingPunct="1">
              <a:buClr>
                <a:schemeClr val="accent1"/>
              </a:buClr>
              <a:buSzPct val="80000"/>
              <a:buFont typeface="Wingdings 2" panose="05020102010507070707" pitchFamily="18" charset="2"/>
            </a:pPr>
            <a:r>
              <a:rPr lang="en-US" dirty="0">
                <a:solidFill>
                  <a:srgbClr val="000000"/>
                </a:solidFill>
              </a:rPr>
              <a:t>Go back to Step 2, stop when no more new assignment.</a:t>
            </a:r>
            <a:endParaRPr lang="en-US" dirty="0">
              <a:solidFill>
                <a:srgbClr val="000000"/>
              </a:solidFill>
            </a:endParaRPr>
          </a:p>
        </p:txBody>
      </p:sp>
      <p:sp>
        <p:nvSpPr>
          <p:cNvPr id="5632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632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6" name="Rectangle 2"/>
          <p:cNvSpPr>
            <a:spLocks noGrp="1" noChangeArrowheads="1"/>
          </p:cNvSpPr>
          <p:nvPr>
            <p:ph type="title"/>
          </p:nvPr>
        </p:nvSpPr>
        <p:spPr>
          <a:xfrm>
            <a:off x="533400" y="228600"/>
            <a:ext cx="7296150" cy="4984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The </a:t>
            </a:r>
            <a:r>
              <a:rPr kumimoji="0" lang="en-US" sz="3200" b="1" i="1"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 Clustering Method</a:t>
            </a:r>
            <a:r>
              <a:rPr kumimoji="0" lang="en-US" sz="24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 </a:t>
            </a:r>
            <a:endParaRPr kumimoji="0" lang="en-US" sz="28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sp>
        <p:nvSpPr>
          <p:cNvPr id="57346" name="Rectangle 3"/>
          <p:cNvSpPr>
            <a:spLocks noGrp="1"/>
          </p:cNvSpPr>
          <p:nvPr>
            <p:ph sz="quarter" idx="1"/>
          </p:nvPr>
        </p:nvSpPr>
        <p:spPr>
          <a:xfrm>
            <a:off x="914400" y="1066800"/>
            <a:ext cx="6781800" cy="50292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solidFill>
                  <a:srgbClr val="000000"/>
                </a:solidFill>
              </a:rPr>
              <a:t>Example</a:t>
            </a:r>
            <a:endParaRPr lang="en-US" dirty="0">
              <a:solidFill>
                <a:srgbClr val="000000"/>
              </a:solidFill>
            </a:endParaRPr>
          </a:p>
        </p:txBody>
      </p:sp>
      <p:sp>
        <p:nvSpPr>
          <p:cNvPr id="5734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734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pSp>
        <p:nvGrpSpPr>
          <p:cNvPr id="57349" name="Group 4"/>
          <p:cNvGrpSpPr/>
          <p:nvPr/>
        </p:nvGrpSpPr>
        <p:grpSpPr>
          <a:xfrm>
            <a:off x="1828800" y="2057400"/>
            <a:ext cx="2286000" cy="2057400"/>
            <a:chOff x="528" y="240"/>
            <a:chExt cx="2142" cy="1872"/>
          </a:xfrm>
        </p:grpSpPr>
        <p:graphicFrame>
          <p:nvGraphicFramePr>
            <p:cNvPr id="57350" name="Object 5"/>
            <p:cNvGraphicFramePr/>
            <p:nvPr/>
          </p:nvGraphicFramePr>
          <p:xfrm>
            <a:off x="528" y="240"/>
            <a:ext cx="2142" cy="1872"/>
          </p:xfrm>
          <a:graphic>
            <a:graphicData uri="http://schemas.openxmlformats.org/presentationml/2006/ole">
              <mc:AlternateContent xmlns:mc="http://schemas.openxmlformats.org/markup-compatibility/2006">
                <mc:Choice xmlns:v="urn:schemas-microsoft-com:vml" Requires="v">
                  <p:oleObj spid="_x0000_s3091" name="" r:id="rId1" imgW="4041140" imgH="3465830" progId="Excel.Sheet.8">
                    <p:embed/>
                  </p:oleObj>
                </mc:Choice>
                <mc:Fallback>
                  <p:oleObj name="" r:id="rId1" imgW="4041140" imgH="3465830" progId="Excel.Sheet.8">
                    <p:embed/>
                    <p:pic>
                      <p:nvPicPr>
                        <p:cNvPr id="0" name="Picture 3090"/>
                        <p:cNvPicPr/>
                        <p:nvPr/>
                      </p:nvPicPr>
                      <p:blipFill>
                        <a:blip r:embed="rId2"/>
                        <a:stretch>
                          <a:fillRect/>
                        </a:stretch>
                      </p:blipFill>
                      <p:spPr>
                        <a:xfrm>
                          <a:off x="528" y="240"/>
                          <a:ext cx="2142" cy="1872"/>
                        </a:xfrm>
                        <a:prstGeom prst="rect">
                          <a:avLst/>
                        </a:prstGeom>
                        <a:noFill/>
                        <a:ln w="38100">
                          <a:noFill/>
                          <a:miter/>
                        </a:ln>
                      </p:spPr>
                    </p:pic>
                  </p:oleObj>
                </mc:Fallback>
              </mc:AlternateContent>
            </a:graphicData>
          </a:graphic>
        </p:graphicFrame>
        <p:sp>
          <p:nvSpPr>
            <p:cNvPr id="57351" name="Freeform 6"/>
            <p:cNvSpPr/>
            <p:nvPr/>
          </p:nvSpPr>
          <p:spPr>
            <a:xfrm>
              <a:off x="1008" y="557"/>
              <a:ext cx="852" cy="1260"/>
            </a:xfrm>
            <a:custGeom>
              <a:avLst/>
              <a:gdLst/>
              <a:ahLst/>
              <a:cxnLst>
                <a:cxn ang="0">
                  <a:pos x="518" y="280"/>
                </a:cxn>
                <a:cxn ang="0">
                  <a:pos x="392" y="36"/>
                </a:cxn>
                <a:cxn ang="0">
                  <a:pos x="237" y="21"/>
                </a:cxn>
                <a:cxn ang="0">
                  <a:pos x="133" y="73"/>
                </a:cxn>
                <a:cxn ang="0">
                  <a:pos x="0" y="369"/>
                </a:cxn>
                <a:cxn ang="0">
                  <a:pos x="44" y="688"/>
                </a:cxn>
                <a:cxn ang="0">
                  <a:pos x="362" y="1117"/>
                </a:cxn>
                <a:cxn ang="0">
                  <a:pos x="429" y="1139"/>
                </a:cxn>
                <a:cxn ang="0">
                  <a:pos x="451" y="1154"/>
                </a:cxn>
                <a:cxn ang="0">
                  <a:pos x="525" y="1176"/>
                </a:cxn>
                <a:cxn ang="0">
                  <a:pos x="622" y="1228"/>
                </a:cxn>
                <a:cxn ang="0">
                  <a:pos x="792" y="1243"/>
                </a:cxn>
                <a:cxn ang="0">
                  <a:pos x="785" y="1021"/>
                </a:cxn>
                <a:cxn ang="0">
                  <a:pos x="748" y="954"/>
                </a:cxn>
                <a:cxn ang="0">
                  <a:pos x="688" y="858"/>
                </a:cxn>
                <a:cxn ang="0">
                  <a:pos x="622" y="762"/>
                </a:cxn>
                <a:cxn ang="0">
                  <a:pos x="607" y="732"/>
                </a:cxn>
                <a:cxn ang="0">
                  <a:pos x="592" y="710"/>
                </a:cxn>
                <a:cxn ang="0">
                  <a:pos x="555" y="643"/>
                </a:cxn>
                <a:cxn ang="0">
                  <a:pos x="540" y="621"/>
                </a:cxn>
                <a:cxn ang="0">
                  <a:pos x="518" y="280"/>
                </a:cxn>
              </a:cxnLst>
              <a:pathLst>
                <a:path w="852" h="1260">
                  <a:moveTo>
                    <a:pt x="518" y="280"/>
                  </a:moveTo>
                  <a:cubicBezTo>
                    <a:pt x="509" y="187"/>
                    <a:pt x="497" y="69"/>
                    <a:pt x="392" y="36"/>
                  </a:cubicBezTo>
                  <a:cubicBezTo>
                    <a:pt x="339" y="0"/>
                    <a:pt x="309" y="15"/>
                    <a:pt x="237" y="21"/>
                  </a:cubicBezTo>
                  <a:cubicBezTo>
                    <a:pt x="194" y="31"/>
                    <a:pt x="168" y="45"/>
                    <a:pt x="133" y="73"/>
                  </a:cubicBezTo>
                  <a:cubicBezTo>
                    <a:pt x="84" y="168"/>
                    <a:pt x="20" y="262"/>
                    <a:pt x="0" y="369"/>
                  </a:cubicBezTo>
                  <a:cubicBezTo>
                    <a:pt x="5" y="481"/>
                    <a:pt x="3" y="584"/>
                    <a:pt x="44" y="688"/>
                  </a:cubicBezTo>
                  <a:cubicBezTo>
                    <a:pt x="78" y="870"/>
                    <a:pt x="173" y="1057"/>
                    <a:pt x="362" y="1117"/>
                  </a:cubicBezTo>
                  <a:cubicBezTo>
                    <a:pt x="415" y="1152"/>
                    <a:pt x="347" y="1112"/>
                    <a:pt x="429" y="1139"/>
                  </a:cubicBezTo>
                  <a:cubicBezTo>
                    <a:pt x="437" y="1142"/>
                    <a:pt x="443" y="1150"/>
                    <a:pt x="451" y="1154"/>
                  </a:cubicBezTo>
                  <a:cubicBezTo>
                    <a:pt x="473" y="1165"/>
                    <a:pt x="501" y="1168"/>
                    <a:pt x="525" y="1176"/>
                  </a:cubicBezTo>
                  <a:cubicBezTo>
                    <a:pt x="562" y="1201"/>
                    <a:pt x="581" y="1218"/>
                    <a:pt x="622" y="1228"/>
                  </a:cubicBezTo>
                  <a:cubicBezTo>
                    <a:pt x="684" y="1260"/>
                    <a:pt x="714" y="1249"/>
                    <a:pt x="792" y="1243"/>
                  </a:cubicBezTo>
                  <a:cubicBezTo>
                    <a:pt x="852" y="1183"/>
                    <a:pt x="819" y="1088"/>
                    <a:pt x="785" y="1021"/>
                  </a:cubicBezTo>
                  <a:cubicBezTo>
                    <a:pt x="770" y="992"/>
                    <a:pt x="773" y="979"/>
                    <a:pt x="748" y="954"/>
                  </a:cubicBezTo>
                  <a:cubicBezTo>
                    <a:pt x="735" y="917"/>
                    <a:pt x="711" y="888"/>
                    <a:pt x="688" y="858"/>
                  </a:cubicBezTo>
                  <a:cubicBezTo>
                    <a:pt x="676" y="821"/>
                    <a:pt x="643" y="795"/>
                    <a:pt x="622" y="762"/>
                  </a:cubicBezTo>
                  <a:cubicBezTo>
                    <a:pt x="616" y="753"/>
                    <a:pt x="613" y="742"/>
                    <a:pt x="607" y="732"/>
                  </a:cubicBezTo>
                  <a:cubicBezTo>
                    <a:pt x="603" y="724"/>
                    <a:pt x="597" y="717"/>
                    <a:pt x="592" y="710"/>
                  </a:cubicBezTo>
                  <a:cubicBezTo>
                    <a:pt x="580" y="671"/>
                    <a:pt x="589" y="694"/>
                    <a:pt x="555" y="643"/>
                  </a:cubicBezTo>
                  <a:cubicBezTo>
                    <a:pt x="550" y="636"/>
                    <a:pt x="540" y="621"/>
                    <a:pt x="540" y="621"/>
                  </a:cubicBezTo>
                  <a:cubicBezTo>
                    <a:pt x="519" y="510"/>
                    <a:pt x="518" y="392"/>
                    <a:pt x="518" y="280"/>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57352" name="Freeform 7"/>
            <p:cNvSpPr/>
            <p:nvPr/>
          </p:nvSpPr>
          <p:spPr>
            <a:xfrm>
              <a:off x="1587" y="889"/>
              <a:ext cx="768" cy="630"/>
            </a:xfrm>
            <a:custGeom>
              <a:avLst/>
              <a:gdLst/>
              <a:ahLst/>
              <a:cxnLst>
                <a:cxn ang="0">
                  <a:pos x="183" y="67"/>
                </a:cxn>
                <a:cxn ang="0">
                  <a:pos x="72" y="74"/>
                </a:cxn>
                <a:cxn ang="0">
                  <a:pos x="5" y="170"/>
                </a:cxn>
                <a:cxn ang="0">
                  <a:pos x="13" y="311"/>
                </a:cxn>
                <a:cxn ang="0">
                  <a:pos x="57" y="356"/>
                </a:cxn>
                <a:cxn ang="0">
                  <a:pos x="109" y="415"/>
                </a:cxn>
                <a:cxn ang="0">
                  <a:pos x="235" y="548"/>
                </a:cxn>
                <a:cxn ang="0">
                  <a:pos x="257" y="570"/>
                </a:cxn>
                <a:cxn ang="0">
                  <a:pos x="331" y="593"/>
                </a:cxn>
                <a:cxn ang="0">
                  <a:pos x="450" y="630"/>
                </a:cxn>
                <a:cxn ang="0">
                  <a:pos x="598" y="607"/>
                </a:cxn>
                <a:cxn ang="0">
                  <a:pos x="657" y="585"/>
                </a:cxn>
                <a:cxn ang="0">
                  <a:pos x="687" y="533"/>
                </a:cxn>
                <a:cxn ang="0">
                  <a:pos x="717" y="474"/>
                </a:cxn>
                <a:cxn ang="0">
                  <a:pos x="724" y="437"/>
                </a:cxn>
                <a:cxn ang="0">
                  <a:pos x="739" y="415"/>
                </a:cxn>
                <a:cxn ang="0">
                  <a:pos x="768" y="296"/>
                </a:cxn>
                <a:cxn ang="0">
                  <a:pos x="761" y="178"/>
                </a:cxn>
                <a:cxn ang="0">
                  <a:pos x="724" y="111"/>
                </a:cxn>
                <a:cxn ang="0">
                  <a:pos x="465" y="0"/>
                </a:cxn>
                <a:cxn ang="0">
                  <a:pos x="205" y="30"/>
                </a:cxn>
                <a:cxn ang="0">
                  <a:pos x="183" y="67"/>
                </a:cxn>
              </a:cxnLst>
              <a:pathLst>
                <a:path w="768" h="630">
                  <a:moveTo>
                    <a:pt x="183" y="67"/>
                  </a:moveTo>
                  <a:cubicBezTo>
                    <a:pt x="146" y="41"/>
                    <a:pt x="112" y="61"/>
                    <a:pt x="72" y="74"/>
                  </a:cubicBezTo>
                  <a:cubicBezTo>
                    <a:pt x="13" y="114"/>
                    <a:pt x="28" y="107"/>
                    <a:pt x="5" y="170"/>
                  </a:cubicBezTo>
                  <a:cubicBezTo>
                    <a:pt x="8" y="217"/>
                    <a:pt x="0" y="266"/>
                    <a:pt x="13" y="311"/>
                  </a:cubicBezTo>
                  <a:cubicBezTo>
                    <a:pt x="19" y="331"/>
                    <a:pt x="45" y="339"/>
                    <a:pt x="57" y="356"/>
                  </a:cubicBezTo>
                  <a:cubicBezTo>
                    <a:pt x="92" y="407"/>
                    <a:pt x="72" y="390"/>
                    <a:pt x="109" y="415"/>
                  </a:cubicBezTo>
                  <a:cubicBezTo>
                    <a:pt x="145" y="467"/>
                    <a:pt x="187" y="508"/>
                    <a:pt x="235" y="548"/>
                  </a:cubicBezTo>
                  <a:cubicBezTo>
                    <a:pt x="243" y="555"/>
                    <a:pt x="248" y="565"/>
                    <a:pt x="257" y="570"/>
                  </a:cubicBezTo>
                  <a:cubicBezTo>
                    <a:pt x="283" y="584"/>
                    <a:pt x="305" y="583"/>
                    <a:pt x="331" y="593"/>
                  </a:cubicBezTo>
                  <a:cubicBezTo>
                    <a:pt x="371" y="608"/>
                    <a:pt x="408" y="621"/>
                    <a:pt x="450" y="630"/>
                  </a:cubicBezTo>
                  <a:cubicBezTo>
                    <a:pt x="498" y="625"/>
                    <a:pt x="551" y="623"/>
                    <a:pt x="598" y="607"/>
                  </a:cubicBezTo>
                  <a:cubicBezTo>
                    <a:pt x="618" y="600"/>
                    <a:pt x="657" y="585"/>
                    <a:pt x="657" y="585"/>
                  </a:cubicBezTo>
                  <a:cubicBezTo>
                    <a:pt x="675" y="536"/>
                    <a:pt x="651" y="594"/>
                    <a:pt x="687" y="533"/>
                  </a:cubicBezTo>
                  <a:cubicBezTo>
                    <a:pt x="698" y="514"/>
                    <a:pt x="717" y="474"/>
                    <a:pt x="717" y="474"/>
                  </a:cubicBezTo>
                  <a:cubicBezTo>
                    <a:pt x="719" y="462"/>
                    <a:pt x="720" y="449"/>
                    <a:pt x="724" y="437"/>
                  </a:cubicBezTo>
                  <a:cubicBezTo>
                    <a:pt x="727" y="429"/>
                    <a:pt x="736" y="423"/>
                    <a:pt x="739" y="415"/>
                  </a:cubicBezTo>
                  <a:cubicBezTo>
                    <a:pt x="750" y="382"/>
                    <a:pt x="760" y="332"/>
                    <a:pt x="768" y="296"/>
                  </a:cubicBezTo>
                  <a:cubicBezTo>
                    <a:pt x="766" y="257"/>
                    <a:pt x="766" y="217"/>
                    <a:pt x="761" y="178"/>
                  </a:cubicBezTo>
                  <a:cubicBezTo>
                    <a:pt x="754" y="127"/>
                    <a:pt x="750" y="142"/>
                    <a:pt x="724" y="111"/>
                  </a:cubicBezTo>
                  <a:cubicBezTo>
                    <a:pt x="653" y="27"/>
                    <a:pt x="566" y="24"/>
                    <a:pt x="465" y="0"/>
                  </a:cubicBezTo>
                  <a:cubicBezTo>
                    <a:pt x="370" y="4"/>
                    <a:pt x="294" y="6"/>
                    <a:pt x="205" y="30"/>
                  </a:cubicBezTo>
                  <a:cubicBezTo>
                    <a:pt x="154" y="63"/>
                    <a:pt x="144" y="53"/>
                    <a:pt x="183" y="67"/>
                  </a:cubicBezTo>
                  <a:close/>
                </a:path>
              </a:pathLst>
            </a:custGeom>
            <a:noFill/>
            <a:ln w="19050" cap="flat" cmpd="sng">
              <a:solidFill>
                <a:schemeClr val="tx1"/>
              </a:solidFill>
              <a:prstDash val="solid"/>
              <a:round/>
              <a:headEnd type="none" w="med" len="med"/>
              <a:tailEnd type="none" w="med" len="med"/>
            </a:ln>
          </p:spPr>
          <p:txBody>
            <a:bodyPr/>
            <a:p>
              <a:endParaRPr lang="en-US"/>
            </a:p>
          </p:txBody>
        </p:sp>
      </p:grpSp>
      <p:grpSp>
        <p:nvGrpSpPr>
          <p:cNvPr id="3" name="Group 8"/>
          <p:cNvGrpSpPr/>
          <p:nvPr/>
        </p:nvGrpSpPr>
        <p:grpSpPr>
          <a:xfrm>
            <a:off x="4267200" y="2057400"/>
            <a:ext cx="3200400" cy="2057400"/>
            <a:chOff x="2688" y="1296"/>
            <a:chExt cx="2016" cy="1296"/>
          </a:xfrm>
        </p:grpSpPr>
        <p:grpSp>
          <p:nvGrpSpPr>
            <p:cNvPr id="57354" name="Group 9"/>
            <p:cNvGrpSpPr/>
            <p:nvPr/>
          </p:nvGrpSpPr>
          <p:grpSpPr>
            <a:xfrm>
              <a:off x="3264" y="1296"/>
              <a:ext cx="1440" cy="1296"/>
              <a:chOff x="3108" y="240"/>
              <a:chExt cx="2142" cy="1872"/>
            </a:xfrm>
          </p:grpSpPr>
          <p:graphicFrame>
            <p:nvGraphicFramePr>
              <p:cNvPr id="57355" name="Object 10"/>
              <p:cNvGraphicFramePr/>
              <p:nvPr/>
            </p:nvGraphicFramePr>
            <p:xfrm>
              <a:off x="3108" y="240"/>
              <a:ext cx="2142" cy="1872"/>
            </p:xfrm>
            <a:graphic>
              <a:graphicData uri="http://schemas.openxmlformats.org/presentationml/2006/ole">
                <mc:AlternateContent xmlns:mc="http://schemas.openxmlformats.org/markup-compatibility/2006">
                  <mc:Choice xmlns:v="urn:schemas-microsoft-com:vml" Requires="v">
                    <p:oleObj spid="_x0000_s3093" name="" r:id="rId3" imgW="4041140" imgH="3465830" progId="Excel.Sheet.8">
                      <p:embed/>
                    </p:oleObj>
                  </mc:Choice>
                  <mc:Fallback>
                    <p:oleObj name="" r:id="rId3" imgW="4041140" imgH="3465830" progId="Excel.Sheet.8">
                      <p:embed/>
                      <p:pic>
                        <p:nvPicPr>
                          <p:cNvPr id="0" name="Picture 3092"/>
                          <p:cNvPicPr/>
                          <p:nvPr/>
                        </p:nvPicPr>
                        <p:blipFill>
                          <a:blip r:embed="rId4"/>
                          <a:stretch>
                            <a:fillRect/>
                          </a:stretch>
                        </p:blipFill>
                        <p:spPr>
                          <a:xfrm>
                            <a:off x="3108" y="240"/>
                            <a:ext cx="2142" cy="1872"/>
                          </a:xfrm>
                          <a:prstGeom prst="rect">
                            <a:avLst/>
                          </a:prstGeom>
                          <a:noFill/>
                          <a:ln w="38100">
                            <a:noFill/>
                            <a:miter/>
                          </a:ln>
                        </p:spPr>
                      </p:pic>
                    </p:oleObj>
                  </mc:Fallback>
                </mc:AlternateContent>
              </a:graphicData>
            </a:graphic>
          </p:graphicFrame>
          <p:sp>
            <p:nvSpPr>
              <p:cNvPr id="57356" name="Freeform 11"/>
              <p:cNvSpPr/>
              <p:nvPr/>
            </p:nvSpPr>
            <p:spPr>
              <a:xfrm>
                <a:off x="3552" y="528"/>
                <a:ext cx="852" cy="1260"/>
              </a:xfrm>
              <a:custGeom>
                <a:avLst/>
                <a:gdLst/>
                <a:ahLst/>
                <a:cxnLst>
                  <a:cxn ang="0">
                    <a:pos x="518" y="280"/>
                  </a:cxn>
                  <a:cxn ang="0">
                    <a:pos x="392" y="36"/>
                  </a:cxn>
                  <a:cxn ang="0">
                    <a:pos x="237" y="21"/>
                  </a:cxn>
                  <a:cxn ang="0">
                    <a:pos x="133" y="73"/>
                  </a:cxn>
                  <a:cxn ang="0">
                    <a:pos x="0" y="369"/>
                  </a:cxn>
                  <a:cxn ang="0">
                    <a:pos x="44" y="688"/>
                  </a:cxn>
                  <a:cxn ang="0">
                    <a:pos x="362" y="1117"/>
                  </a:cxn>
                  <a:cxn ang="0">
                    <a:pos x="429" y="1139"/>
                  </a:cxn>
                  <a:cxn ang="0">
                    <a:pos x="451" y="1154"/>
                  </a:cxn>
                  <a:cxn ang="0">
                    <a:pos x="525" y="1176"/>
                  </a:cxn>
                  <a:cxn ang="0">
                    <a:pos x="622" y="1228"/>
                  </a:cxn>
                  <a:cxn ang="0">
                    <a:pos x="792" y="1243"/>
                  </a:cxn>
                  <a:cxn ang="0">
                    <a:pos x="785" y="1021"/>
                  </a:cxn>
                  <a:cxn ang="0">
                    <a:pos x="748" y="954"/>
                  </a:cxn>
                  <a:cxn ang="0">
                    <a:pos x="688" y="858"/>
                  </a:cxn>
                  <a:cxn ang="0">
                    <a:pos x="622" y="762"/>
                  </a:cxn>
                  <a:cxn ang="0">
                    <a:pos x="607" y="732"/>
                  </a:cxn>
                  <a:cxn ang="0">
                    <a:pos x="592" y="710"/>
                  </a:cxn>
                  <a:cxn ang="0">
                    <a:pos x="555" y="643"/>
                  </a:cxn>
                  <a:cxn ang="0">
                    <a:pos x="540" y="621"/>
                  </a:cxn>
                  <a:cxn ang="0">
                    <a:pos x="518" y="280"/>
                  </a:cxn>
                </a:cxnLst>
                <a:pathLst>
                  <a:path w="852" h="1260">
                    <a:moveTo>
                      <a:pt x="518" y="280"/>
                    </a:moveTo>
                    <a:cubicBezTo>
                      <a:pt x="509" y="187"/>
                      <a:pt x="497" y="69"/>
                      <a:pt x="392" y="36"/>
                    </a:cubicBezTo>
                    <a:cubicBezTo>
                      <a:pt x="339" y="0"/>
                      <a:pt x="309" y="15"/>
                      <a:pt x="237" y="21"/>
                    </a:cubicBezTo>
                    <a:cubicBezTo>
                      <a:pt x="194" y="31"/>
                      <a:pt x="168" y="45"/>
                      <a:pt x="133" y="73"/>
                    </a:cubicBezTo>
                    <a:cubicBezTo>
                      <a:pt x="84" y="168"/>
                      <a:pt x="20" y="262"/>
                      <a:pt x="0" y="369"/>
                    </a:cubicBezTo>
                    <a:cubicBezTo>
                      <a:pt x="5" y="481"/>
                      <a:pt x="3" y="584"/>
                      <a:pt x="44" y="688"/>
                    </a:cubicBezTo>
                    <a:cubicBezTo>
                      <a:pt x="78" y="870"/>
                      <a:pt x="173" y="1057"/>
                      <a:pt x="362" y="1117"/>
                    </a:cubicBezTo>
                    <a:cubicBezTo>
                      <a:pt x="415" y="1152"/>
                      <a:pt x="347" y="1112"/>
                      <a:pt x="429" y="1139"/>
                    </a:cubicBezTo>
                    <a:cubicBezTo>
                      <a:pt x="437" y="1142"/>
                      <a:pt x="443" y="1150"/>
                      <a:pt x="451" y="1154"/>
                    </a:cubicBezTo>
                    <a:cubicBezTo>
                      <a:pt x="473" y="1165"/>
                      <a:pt x="501" y="1168"/>
                      <a:pt x="525" y="1176"/>
                    </a:cubicBezTo>
                    <a:cubicBezTo>
                      <a:pt x="562" y="1201"/>
                      <a:pt x="581" y="1218"/>
                      <a:pt x="622" y="1228"/>
                    </a:cubicBezTo>
                    <a:cubicBezTo>
                      <a:pt x="684" y="1260"/>
                      <a:pt x="714" y="1249"/>
                      <a:pt x="792" y="1243"/>
                    </a:cubicBezTo>
                    <a:cubicBezTo>
                      <a:pt x="852" y="1183"/>
                      <a:pt x="819" y="1088"/>
                      <a:pt x="785" y="1021"/>
                    </a:cubicBezTo>
                    <a:cubicBezTo>
                      <a:pt x="770" y="992"/>
                      <a:pt x="773" y="979"/>
                      <a:pt x="748" y="954"/>
                    </a:cubicBezTo>
                    <a:cubicBezTo>
                      <a:pt x="735" y="917"/>
                      <a:pt x="711" y="888"/>
                      <a:pt x="688" y="858"/>
                    </a:cubicBezTo>
                    <a:cubicBezTo>
                      <a:pt x="676" y="821"/>
                      <a:pt x="643" y="795"/>
                      <a:pt x="622" y="762"/>
                    </a:cubicBezTo>
                    <a:cubicBezTo>
                      <a:pt x="616" y="753"/>
                      <a:pt x="613" y="742"/>
                      <a:pt x="607" y="732"/>
                    </a:cubicBezTo>
                    <a:cubicBezTo>
                      <a:pt x="603" y="724"/>
                      <a:pt x="597" y="717"/>
                      <a:pt x="592" y="710"/>
                    </a:cubicBezTo>
                    <a:cubicBezTo>
                      <a:pt x="580" y="671"/>
                      <a:pt x="589" y="694"/>
                      <a:pt x="555" y="643"/>
                    </a:cubicBezTo>
                    <a:cubicBezTo>
                      <a:pt x="550" y="636"/>
                      <a:pt x="540" y="621"/>
                      <a:pt x="540" y="621"/>
                    </a:cubicBezTo>
                    <a:cubicBezTo>
                      <a:pt x="519" y="510"/>
                      <a:pt x="518" y="392"/>
                      <a:pt x="518" y="280"/>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57357" name="Freeform 12"/>
              <p:cNvSpPr/>
              <p:nvPr/>
            </p:nvSpPr>
            <p:spPr>
              <a:xfrm>
                <a:off x="4176" y="912"/>
                <a:ext cx="768" cy="630"/>
              </a:xfrm>
              <a:custGeom>
                <a:avLst/>
                <a:gdLst/>
                <a:ahLst/>
                <a:cxnLst>
                  <a:cxn ang="0">
                    <a:pos x="183" y="67"/>
                  </a:cxn>
                  <a:cxn ang="0">
                    <a:pos x="72" y="74"/>
                  </a:cxn>
                  <a:cxn ang="0">
                    <a:pos x="5" y="170"/>
                  </a:cxn>
                  <a:cxn ang="0">
                    <a:pos x="13" y="311"/>
                  </a:cxn>
                  <a:cxn ang="0">
                    <a:pos x="57" y="356"/>
                  </a:cxn>
                  <a:cxn ang="0">
                    <a:pos x="109" y="415"/>
                  </a:cxn>
                  <a:cxn ang="0">
                    <a:pos x="235" y="548"/>
                  </a:cxn>
                  <a:cxn ang="0">
                    <a:pos x="257" y="570"/>
                  </a:cxn>
                  <a:cxn ang="0">
                    <a:pos x="331" y="593"/>
                  </a:cxn>
                  <a:cxn ang="0">
                    <a:pos x="450" y="630"/>
                  </a:cxn>
                  <a:cxn ang="0">
                    <a:pos x="598" y="607"/>
                  </a:cxn>
                  <a:cxn ang="0">
                    <a:pos x="657" y="585"/>
                  </a:cxn>
                  <a:cxn ang="0">
                    <a:pos x="687" y="533"/>
                  </a:cxn>
                  <a:cxn ang="0">
                    <a:pos x="717" y="474"/>
                  </a:cxn>
                  <a:cxn ang="0">
                    <a:pos x="724" y="437"/>
                  </a:cxn>
                  <a:cxn ang="0">
                    <a:pos x="739" y="415"/>
                  </a:cxn>
                  <a:cxn ang="0">
                    <a:pos x="768" y="296"/>
                  </a:cxn>
                  <a:cxn ang="0">
                    <a:pos x="761" y="178"/>
                  </a:cxn>
                  <a:cxn ang="0">
                    <a:pos x="724" y="111"/>
                  </a:cxn>
                  <a:cxn ang="0">
                    <a:pos x="465" y="0"/>
                  </a:cxn>
                  <a:cxn ang="0">
                    <a:pos x="205" y="30"/>
                  </a:cxn>
                  <a:cxn ang="0">
                    <a:pos x="183" y="67"/>
                  </a:cxn>
                </a:cxnLst>
                <a:pathLst>
                  <a:path w="768" h="630">
                    <a:moveTo>
                      <a:pt x="183" y="67"/>
                    </a:moveTo>
                    <a:cubicBezTo>
                      <a:pt x="146" y="41"/>
                      <a:pt x="112" y="61"/>
                      <a:pt x="72" y="74"/>
                    </a:cubicBezTo>
                    <a:cubicBezTo>
                      <a:pt x="13" y="114"/>
                      <a:pt x="28" y="107"/>
                      <a:pt x="5" y="170"/>
                    </a:cubicBezTo>
                    <a:cubicBezTo>
                      <a:pt x="8" y="217"/>
                      <a:pt x="0" y="266"/>
                      <a:pt x="13" y="311"/>
                    </a:cubicBezTo>
                    <a:cubicBezTo>
                      <a:pt x="19" y="331"/>
                      <a:pt x="45" y="339"/>
                      <a:pt x="57" y="356"/>
                    </a:cubicBezTo>
                    <a:cubicBezTo>
                      <a:pt x="92" y="407"/>
                      <a:pt x="72" y="390"/>
                      <a:pt x="109" y="415"/>
                    </a:cubicBezTo>
                    <a:cubicBezTo>
                      <a:pt x="145" y="467"/>
                      <a:pt x="187" y="508"/>
                      <a:pt x="235" y="548"/>
                    </a:cubicBezTo>
                    <a:cubicBezTo>
                      <a:pt x="243" y="555"/>
                      <a:pt x="248" y="565"/>
                      <a:pt x="257" y="570"/>
                    </a:cubicBezTo>
                    <a:cubicBezTo>
                      <a:pt x="283" y="584"/>
                      <a:pt x="305" y="583"/>
                      <a:pt x="331" y="593"/>
                    </a:cubicBezTo>
                    <a:cubicBezTo>
                      <a:pt x="371" y="608"/>
                      <a:pt x="408" y="621"/>
                      <a:pt x="450" y="630"/>
                    </a:cubicBezTo>
                    <a:cubicBezTo>
                      <a:pt x="498" y="625"/>
                      <a:pt x="551" y="623"/>
                      <a:pt x="598" y="607"/>
                    </a:cubicBezTo>
                    <a:cubicBezTo>
                      <a:pt x="618" y="600"/>
                      <a:pt x="657" y="585"/>
                      <a:pt x="657" y="585"/>
                    </a:cubicBezTo>
                    <a:cubicBezTo>
                      <a:pt x="675" y="536"/>
                      <a:pt x="651" y="594"/>
                      <a:pt x="687" y="533"/>
                    </a:cubicBezTo>
                    <a:cubicBezTo>
                      <a:pt x="698" y="514"/>
                      <a:pt x="717" y="474"/>
                      <a:pt x="717" y="474"/>
                    </a:cubicBezTo>
                    <a:cubicBezTo>
                      <a:pt x="719" y="462"/>
                      <a:pt x="720" y="449"/>
                      <a:pt x="724" y="437"/>
                    </a:cubicBezTo>
                    <a:cubicBezTo>
                      <a:pt x="727" y="429"/>
                      <a:pt x="736" y="423"/>
                      <a:pt x="739" y="415"/>
                    </a:cubicBezTo>
                    <a:cubicBezTo>
                      <a:pt x="750" y="382"/>
                      <a:pt x="760" y="332"/>
                      <a:pt x="768" y="296"/>
                    </a:cubicBezTo>
                    <a:cubicBezTo>
                      <a:pt x="766" y="257"/>
                      <a:pt x="766" y="217"/>
                      <a:pt x="761" y="178"/>
                    </a:cubicBezTo>
                    <a:cubicBezTo>
                      <a:pt x="754" y="127"/>
                      <a:pt x="750" y="142"/>
                      <a:pt x="724" y="111"/>
                    </a:cubicBezTo>
                    <a:cubicBezTo>
                      <a:pt x="653" y="27"/>
                      <a:pt x="566" y="24"/>
                      <a:pt x="465" y="0"/>
                    </a:cubicBezTo>
                    <a:cubicBezTo>
                      <a:pt x="370" y="4"/>
                      <a:pt x="294" y="6"/>
                      <a:pt x="205" y="30"/>
                    </a:cubicBezTo>
                    <a:cubicBezTo>
                      <a:pt x="154" y="63"/>
                      <a:pt x="144" y="53"/>
                      <a:pt x="183" y="67"/>
                    </a:cubicBezTo>
                    <a:close/>
                  </a:path>
                </a:pathLst>
              </a:custGeom>
              <a:noFill/>
              <a:ln w="19050" cap="flat" cmpd="sng">
                <a:solidFill>
                  <a:schemeClr val="tx1"/>
                </a:solidFill>
                <a:prstDash val="solid"/>
                <a:round/>
                <a:headEnd type="none" w="med" len="med"/>
                <a:tailEnd type="none" w="med" len="med"/>
              </a:ln>
            </p:spPr>
            <p:txBody>
              <a:bodyPr/>
              <a:p>
                <a:endParaRPr lang="en-US"/>
              </a:p>
            </p:txBody>
          </p:sp>
        </p:grpSp>
        <p:sp>
          <p:nvSpPr>
            <p:cNvPr id="57358" name="Line 13"/>
            <p:cNvSpPr/>
            <p:nvPr/>
          </p:nvSpPr>
          <p:spPr>
            <a:xfrm>
              <a:off x="2688" y="1920"/>
              <a:ext cx="432" cy="0"/>
            </a:xfrm>
            <a:prstGeom prst="line">
              <a:avLst/>
            </a:prstGeom>
            <a:ln w="9525" cap="flat" cmpd="sng">
              <a:solidFill>
                <a:schemeClr val="tx1"/>
              </a:solidFill>
              <a:prstDash val="solid"/>
              <a:round/>
              <a:headEnd type="none" w="med" len="med"/>
              <a:tailEnd type="triangle" w="med" len="med"/>
            </a:ln>
          </p:spPr>
        </p:sp>
      </p:grpSp>
      <p:grpSp>
        <p:nvGrpSpPr>
          <p:cNvPr id="5" name="Group 14"/>
          <p:cNvGrpSpPr/>
          <p:nvPr/>
        </p:nvGrpSpPr>
        <p:grpSpPr>
          <a:xfrm>
            <a:off x="5257800" y="4191000"/>
            <a:ext cx="2286000" cy="2286000"/>
            <a:chOff x="3312" y="2640"/>
            <a:chExt cx="1440" cy="1440"/>
          </a:xfrm>
        </p:grpSpPr>
        <p:graphicFrame>
          <p:nvGraphicFramePr>
            <p:cNvPr id="57360" name="Object 15"/>
            <p:cNvGraphicFramePr/>
            <p:nvPr/>
          </p:nvGraphicFramePr>
          <p:xfrm>
            <a:off x="3312" y="2832"/>
            <a:ext cx="1440" cy="1248"/>
          </p:xfrm>
          <a:graphic>
            <a:graphicData uri="http://schemas.openxmlformats.org/presentationml/2006/ole">
              <mc:AlternateContent xmlns:mc="http://schemas.openxmlformats.org/markup-compatibility/2006">
                <mc:Choice xmlns:v="urn:schemas-microsoft-com:vml" Requires="v">
                  <p:oleObj spid="_x0000_s3092" name="" r:id="rId5" imgW="4064000" imgH="3488055" progId="Excel.Sheet.8">
                    <p:embed/>
                  </p:oleObj>
                </mc:Choice>
                <mc:Fallback>
                  <p:oleObj name="" r:id="rId5" imgW="4064000" imgH="3488055" progId="Excel.Sheet.8">
                    <p:embed/>
                    <p:pic>
                      <p:nvPicPr>
                        <p:cNvPr id="0" name="Picture 3091"/>
                        <p:cNvPicPr/>
                        <p:nvPr/>
                      </p:nvPicPr>
                      <p:blipFill>
                        <a:blip r:embed="rId6"/>
                        <a:stretch>
                          <a:fillRect/>
                        </a:stretch>
                      </p:blipFill>
                      <p:spPr>
                        <a:xfrm>
                          <a:off x="3312" y="2832"/>
                          <a:ext cx="1440" cy="1248"/>
                        </a:xfrm>
                        <a:prstGeom prst="rect">
                          <a:avLst/>
                        </a:prstGeom>
                        <a:noFill/>
                        <a:ln w="38100">
                          <a:noFill/>
                          <a:miter/>
                        </a:ln>
                      </p:spPr>
                    </p:pic>
                  </p:oleObj>
                </mc:Fallback>
              </mc:AlternateContent>
            </a:graphicData>
          </a:graphic>
        </p:graphicFrame>
        <p:sp>
          <p:nvSpPr>
            <p:cNvPr id="57361" name="Line 16"/>
            <p:cNvSpPr/>
            <p:nvPr/>
          </p:nvSpPr>
          <p:spPr>
            <a:xfrm>
              <a:off x="3984" y="2640"/>
              <a:ext cx="0" cy="144"/>
            </a:xfrm>
            <a:prstGeom prst="line">
              <a:avLst/>
            </a:prstGeom>
            <a:ln w="9525" cap="flat" cmpd="sng">
              <a:solidFill>
                <a:schemeClr val="tx1"/>
              </a:solidFill>
              <a:prstDash val="solid"/>
              <a:round/>
              <a:headEnd type="none" w="med" len="med"/>
              <a:tailEnd type="triangle" w="med" len="med"/>
            </a:ln>
          </p:spPr>
        </p:sp>
      </p:grpSp>
      <p:grpSp>
        <p:nvGrpSpPr>
          <p:cNvPr id="6" name="Group 17"/>
          <p:cNvGrpSpPr/>
          <p:nvPr/>
        </p:nvGrpSpPr>
        <p:grpSpPr>
          <a:xfrm>
            <a:off x="1905000" y="4495800"/>
            <a:ext cx="3200400" cy="1981200"/>
            <a:chOff x="1200" y="2832"/>
            <a:chExt cx="2016" cy="1248"/>
          </a:xfrm>
        </p:grpSpPr>
        <p:grpSp>
          <p:nvGrpSpPr>
            <p:cNvPr id="57363" name="Group 18"/>
            <p:cNvGrpSpPr/>
            <p:nvPr/>
          </p:nvGrpSpPr>
          <p:grpSpPr>
            <a:xfrm>
              <a:off x="1200" y="2832"/>
              <a:ext cx="1440" cy="1248"/>
              <a:chOff x="3108" y="2256"/>
              <a:chExt cx="2148" cy="1872"/>
            </a:xfrm>
          </p:grpSpPr>
          <p:graphicFrame>
            <p:nvGraphicFramePr>
              <p:cNvPr id="57364" name="Object 19"/>
              <p:cNvGraphicFramePr/>
              <p:nvPr/>
            </p:nvGraphicFramePr>
            <p:xfrm>
              <a:off x="3108" y="2256"/>
              <a:ext cx="2148" cy="1872"/>
            </p:xfrm>
            <a:graphic>
              <a:graphicData uri="http://schemas.openxmlformats.org/presentationml/2006/ole">
                <mc:AlternateContent xmlns:mc="http://schemas.openxmlformats.org/markup-compatibility/2006">
                  <mc:Choice xmlns:v="urn:schemas-microsoft-com:vml" Requires="v">
                    <p:oleObj spid="_x0000_s3095" name="" r:id="rId7" imgW="4052570" imgH="3477260" progId="Excel.Sheet.8">
                      <p:embed/>
                    </p:oleObj>
                  </mc:Choice>
                  <mc:Fallback>
                    <p:oleObj name="" r:id="rId7" imgW="4052570" imgH="3477260" progId="Excel.Sheet.8">
                      <p:embed/>
                      <p:pic>
                        <p:nvPicPr>
                          <p:cNvPr id="0" name="Picture 3094"/>
                          <p:cNvPicPr/>
                          <p:nvPr/>
                        </p:nvPicPr>
                        <p:blipFill>
                          <a:blip r:embed="rId8"/>
                          <a:stretch>
                            <a:fillRect/>
                          </a:stretch>
                        </p:blipFill>
                        <p:spPr>
                          <a:xfrm>
                            <a:off x="3108" y="2256"/>
                            <a:ext cx="2148" cy="1872"/>
                          </a:xfrm>
                          <a:prstGeom prst="rect">
                            <a:avLst/>
                          </a:prstGeom>
                          <a:noFill/>
                          <a:ln w="38100">
                            <a:noFill/>
                            <a:miter/>
                          </a:ln>
                        </p:spPr>
                      </p:pic>
                    </p:oleObj>
                  </mc:Fallback>
                </mc:AlternateContent>
              </a:graphicData>
            </a:graphic>
          </p:graphicFrame>
          <p:sp>
            <p:nvSpPr>
              <p:cNvPr id="57365" name="Freeform 20"/>
              <p:cNvSpPr/>
              <p:nvPr/>
            </p:nvSpPr>
            <p:spPr>
              <a:xfrm>
                <a:off x="3638" y="2571"/>
                <a:ext cx="728" cy="896"/>
              </a:xfrm>
              <a:custGeom>
                <a:avLst/>
                <a:gdLst/>
                <a:ahLst/>
                <a:cxnLst>
                  <a:cxn ang="0">
                    <a:pos x="199" y="7"/>
                  </a:cxn>
                  <a:cxn ang="0">
                    <a:pos x="110" y="96"/>
                  </a:cxn>
                  <a:cxn ang="0">
                    <a:pos x="80" y="140"/>
                  </a:cxn>
                  <a:cxn ang="0">
                    <a:pos x="65" y="162"/>
                  </a:cxn>
                  <a:cxn ang="0">
                    <a:pos x="21" y="303"/>
                  </a:cxn>
                  <a:cxn ang="0">
                    <a:pos x="65" y="703"/>
                  </a:cxn>
                  <a:cxn ang="0">
                    <a:pos x="110" y="763"/>
                  </a:cxn>
                  <a:cxn ang="0">
                    <a:pos x="332" y="896"/>
                  </a:cxn>
                  <a:cxn ang="0">
                    <a:pos x="495" y="851"/>
                  </a:cxn>
                  <a:cxn ang="0">
                    <a:pos x="636" y="711"/>
                  </a:cxn>
                  <a:cxn ang="0">
                    <a:pos x="688" y="607"/>
                  </a:cxn>
                  <a:cxn ang="0">
                    <a:pos x="702" y="563"/>
                  </a:cxn>
                  <a:cxn ang="0">
                    <a:pos x="710" y="540"/>
                  </a:cxn>
                  <a:cxn ang="0">
                    <a:pos x="680" y="296"/>
                  </a:cxn>
                  <a:cxn ang="0">
                    <a:pos x="569" y="133"/>
                  </a:cxn>
                  <a:cxn ang="0">
                    <a:pos x="510" y="88"/>
                  </a:cxn>
                  <a:cxn ang="0">
                    <a:pos x="465" y="59"/>
                  </a:cxn>
                  <a:cxn ang="0">
                    <a:pos x="295" y="0"/>
                  </a:cxn>
                  <a:cxn ang="0">
                    <a:pos x="206" y="7"/>
                  </a:cxn>
                  <a:cxn ang="0">
                    <a:pos x="184" y="14"/>
                  </a:cxn>
                  <a:cxn ang="0">
                    <a:pos x="199" y="7"/>
                  </a:cxn>
                </a:cxnLst>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57366" name="Freeform 21"/>
              <p:cNvSpPr/>
              <p:nvPr/>
            </p:nvSpPr>
            <p:spPr>
              <a:xfrm>
                <a:off x="4090" y="2934"/>
                <a:ext cx="802" cy="889"/>
              </a:xfrm>
              <a:custGeom>
                <a:avLst/>
                <a:gdLst/>
                <a:ahLst/>
                <a:cxnLst>
                  <a:cxn ang="0">
                    <a:pos x="510" y="44"/>
                  </a:cxn>
                  <a:cxn ang="0">
                    <a:pos x="376" y="177"/>
                  </a:cxn>
                  <a:cxn ang="0">
                    <a:pos x="236" y="296"/>
                  </a:cxn>
                  <a:cxn ang="0">
                    <a:pos x="221" y="318"/>
                  </a:cxn>
                  <a:cxn ang="0">
                    <a:pos x="199" y="333"/>
                  </a:cxn>
                  <a:cxn ang="0">
                    <a:pos x="191" y="355"/>
                  </a:cxn>
                  <a:cxn ang="0">
                    <a:pos x="169" y="385"/>
                  </a:cxn>
                  <a:cxn ang="0">
                    <a:pos x="132" y="496"/>
                  </a:cxn>
                  <a:cxn ang="0">
                    <a:pos x="110" y="518"/>
                  </a:cxn>
                  <a:cxn ang="0">
                    <a:pos x="80" y="562"/>
                  </a:cxn>
                  <a:cxn ang="0">
                    <a:pos x="43" y="629"/>
                  </a:cxn>
                  <a:cxn ang="0">
                    <a:pos x="13" y="703"/>
                  </a:cxn>
                  <a:cxn ang="0">
                    <a:pos x="36" y="844"/>
                  </a:cxn>
                  <a:cxn ang="0">
                    <a:pos x="80" y="874"/>
                  </a:cxn>
                  <a:cxn ang="0">
                    <a:pos x="124" y="888"/>
                  </a:cxn>
                  <a:cxn ang="0">
                    <a:pos x="354" y="874"/>
                  </a:cxn>
                  <a:cxn ang="0">
                    <a:pos x="517" y="822"/>
                  </a:cxn>
                  <a:cxn ang="0">
                    <a:pos x="569" y="792"/>
                  </a:cxn>
                  <a:cxn ang="0">
                    <a:pos x="673" y="651"/>
                  </a:cxn>
                  <a:cxn ang="0">
                    <a:pos x="695" y="600"/>
                  </a:cxn>
                  <a:cxn ang="0">
                    <a:pos x="747" y="533"/>
                  </a:cxn>
                  <a:cxn ang="0">
                    <a:pos x="784" y="451"/>
                  </a:cxn>
                  <a:cxn ang="0">
                    <a:pos x="798" y="385"/>
                  </a:cxn>
                  <a:cxn ang="0">
                    <a:pos x="650" y="0"/>
                  </a:cxn>
                  <a:cxn ang="0">
                    <a:pos x="532" y="22"/>
                  </a:cxn>
                  <a:cxn ang="0">
                    <a:pos x="510" y="44"/>
                  </a:cxn>
                </a:cxnLst>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cap="flat" cmpd="sng">
                <a:solidFill>
                  <a:schemeClr val="tx1"/>
                </a:solidFill>
                <a:prstDash val="solid"/>
                <a:round/>
                <a:headEnd type="none" w="med" len="med"/>
                <a:tailEnd type="none" w="med" len="med"/>
              </a:ln>
            </p:spPr>
            <p:txBody>
              <a:bodyPr/>
              <a:p>
                <a:endParaRPr lang="en-US"/>
              </a:p>
            </p:txBody>
          </p:sp>
        </p:grpSp>
        <p:sp>
          <p:nvSpPr>
            <p:cNvPr id="57367" name="Line 22"/>
            <p:cNvSpPr/>
            <p:nvPr/>
          </p:nvSpPr>
          <p:spPr>
            <a:xfrm flipH="1">
              <a:off x="2784" y="3264"/>
              <a:ext cx="432" cy="0"/>
            </a:xfrm>
            <a:prstGeom prst="line">
              <a:avLst/>
            </a:prstGeom>
            <a:ln w="9525" cap="flat" cmpd="sng">
              <a:solidFill>
                <a:schemeClr val="tx1"/>
              </a:solidFill>
              <a:prstDash val="solid"/>
              <a:round/>
              <a:headEnd type="none" w="med" len="med"/>
              <a:tailEnd type="triangle" w="med" len="med"/>
            </a:ln>
          </p:spPr>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837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533400" y="152400"/>
            <a:ext cx="7924800" cy="731838"/>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Flowchart</a:t>
            </a:r>
            <a:endPar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pic>
        <p:nvPicPr>
          <p:cNvPr id="58372" name="Content Placeholder 7" descr="http://people.revoledu.com/kardi/tutorial/kMean/Image/Algorithm_clip_image002_0002.gif"/>
          <p:cNvPicPr>
            <a:picLocks noGrp="1"/>
          </p:cNvPicPr>
          <p:nvPr>
            <p:ph sz="quarter" idx="1"/>
          </p:nvPr>
        </p:nvPicPr>
        <p:blipFill>
          <a:blip r:embed="rId1"/>
          <a:stretch>
            <a:fillRect/>
          </a:stretch>
        </p:blipFill>
        <p:spPr>
          <a:xfrm>
            <a:off x="2209800" y="1447800"/>
            <a:ext cx="3048000" cy="4648200"/>
          </a:xfr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Content Placeholder 2"/>
          <p:cNvSpPr>
            <a:spLocks noGrp="1"/>
          </p:cNvSpPr>
          <p:nvPr>
            <p:ph sz="quarter" idx="1"/>
          </p:nvPr>
        </p:nvSpPr>
        <p:spPr>
          <a:xfrm>
            <a:off x="609600" y="1143000"/>
            <a:ext cx="7620000" cy="1905000"/>
          </a:xfrm>
          <a:ln/>
        </p:spPr>
        <p:txBody>
          <a:bodyPr vert="horz" wrap="square" lIns="91440" tIns="45720" rIns="91440" bIns="45720" anchor="t" anchorCtr="0"/>
          <a:p>
            <a:pPr algn="just">
              <a:buClr>
                <a:schemeClr val="accent1"/>
              </a:buClr>
              <a:buSzPct val="70000"/>
              <a:buFont typeface="Wingdings" panose="05000000000000000000" pitchFamily="2" charset="2"/>
              <a:buNone/>
            </a:pPr>
            <a:r>
              <a:rPr lang="en-US" sz="2000" dirty="0"/>
              <a:t>   Suppose we have several objects (4 types of medicines) and each object have two attributes or features as shown in table below. Our goal is to group these objects into K=2 group of medicine based on the two features (pH and weight index). </a:t>
            </a:r>
            <a:endParaRPr lang="en-IN" altLang="x-none" sz="2000" dirty="0"/>
          </a:p>
          <a:p>
            <a:pPr algn="just">
              <a:buClr>
                <a:schemeClr val="accent1"/>
              </a:buClr>
              <a:buSzPct val="70000"/>
              <a:buFont typeface="Wingdings" panose="05000000000000000000" pitchFamily="2" charset="2"/>
            </a:pPr>
            <a:endParaRPr lang="en-IN" altLang="x-none" sz="2000" dirty="0"/>
          </a:p>
        </p:txBody>
      </p:sp>
      <p:sp>
        <p:nvSpPr>
          <p:cNvPr id="59394"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59395"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76200" y="304800"/>
            <a:ext cx="8839200" cy="5032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uLnTx/>
              <a:uFillTx/>
              <a:latin typeface="+mj-lt"/>
              <a:ea typeface="+mj-ea"/>
              <a:cs typeface="+mj-cs"/>
            </a:endParaRPr>
          </a:p>
        </p:txBody>
      </p:sp>
      <p:graphicFrame>
        <p:nvGraphicFramePr>
          <p:cNvPr id="8" name="Table 7"/>
          <p:cNvGraphicFramePr>
            <a:graphicFrameLocks noGrp="1"/>
          </p:cNvGraphicFramePr>
          <p:nvPr/>
        </p:nvGraphicFramePr>
        <p:xfrm>
          <a:off x="1905000" y="2667000"/>
          <a:ext cx="4267200" cy="2286000"/>
        </p:xfrm>
        <a:graphic>
          <a:graphicData uri="http://schemas.openxmlformats.org/drawingml/2006/table">
            <a:tbl>
              <a:tblPr firstRow="1" bandRow="1">
                <a:tableStyleId>{5C22544A-7EE6-4342-B048-85BDC9FD1C3A}</a:tableStyleId>
              </a:tblPr>
              <a:tblGrid>
                <a:gridCol w="1219200"/>
                <a:gridCol w="1524000"/>
                <a:gridCol w="1523999"/>
              </a:tblGrid>
              <a:tr h="879231">
                <a:tc>
                  <a:txBody>
                    <a:bodyPr/>
                    <a:lstStyle/>
                    <a:p>
                      <a:pPr algn="ctr"/>
                      <a:r>
                        <a:rPr kumimoji="0" lang="en-US" sz="1400" b="1" kern="1200" dirty="0" smtClean="0">
                          <a:solidFill>
                            <a:schemeClr val="lt1"/>
                          </a:solidFill>
                          <a:latin typeface="+mn-lt"/>
                          <a:ea typeface="+mn-ea"/>
                          <a:cs typeface="+mn-cs"/>
                        </a:rPr>
                        <a:t>Object</a:t>
                      </a:r>
                      <a:endParaRPr lang="en-IN" sz="1400" dirty="0"/>
                    </a:p>
                  </a:txBody>
                  <a:tcPr/>
                </a:tc>
                <a:tc>
                  <a:txBody>
                    <a:bodyPr/>
                    <a:lstStyle/>
                    <a:p>
                      <a:pPr algn="ctr"/>
                      <a:r>
                        <a:rPr kumimoji="0" lang="en-US" sz="1400" b="1" kern="1200" dirty="0" smtClean="0">
                          <a:solidFill>
                            <a:schemeClr val="lt1"/>
                          </a:solidFill>
                          <a:latin typeface="+mn-lt"/>
                          <a:ea typeface="+mn-ea"/>
                          <a:cs typeface="+mn-cs"/>
                        </a:rPr>
                        <a:t>attribute 1 (X): weight index </a:t>
                      </a:r>
                      <a:endParaRPr lang="en-IN" sz="1400" dirty="0"/>
                    </a:p>
                  </a:txBody>
                  <a:tcPr/>
                </a:tc>
                <a:tc>
                  <a:txBody>
                    <a:bodyPr/>
                    <a:lstStyle/>
                    <a:p>
                      <a:pPr algn="ctr"/>
                      <a:r>
                        <a:rPr kumimoji="0" lang="en-US" sz="1400" b="1" kern="1200" dirty="0" smtClean="0">
                          <a:solidFill>
                            <a:schemeClr val="lt1"/>
                          </a:solidFill>
                          <a:latin typeface="+mn-lt"/>
                          <a:ea typeface="+mn-ea"/>
                          <a:cs typeface="+mn-cs"/>
                        </a:rPr>
                        <a:t>attribute 2 (Y): pH </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A </a:t>
                      </a:r>
                      <a:endParaRPr lang="en-IN" sz="1400" dirty="0"/>
                    </a:p>
                  </a:txBody>
                  <a:tcPr/>
                </a:tc>
                <a:tc>
                  <a:txBody>
                    <a:bodyPr/>
                    <a:lstStyle/>
                    <a:p>
                      <a:pPr algn="ctr"/>
                      <a:r>
                        <a:rPr kumimoji="0" lang="en-US" sz="1400" kern="1200" dirty="0" smtClean="0">
                          <a:solidFill>
                            <a:schemeClr val="dk1"/>
                          </a:solidFill>
                          <a:latin typeface="+mn-lt"/>
                          <a:ea typeface="+mn-ea"/>
                          <a:cs typeface="+mn-cs"/>
                        </a:rPr>
                        <a:t>1</a:t>
                      </a:r>
                      <a:endParaRPr lang="en-IN" sz="1400" dirty="0"/>
                    </a:p>
                  </a:txBody>
                  <a:tcPr/>
                </a:tc>
                <a:tc>
                  <a:txBody>
                    <a:bodyPr/>
                    <a:lstStyle/>
                    <a:p>
                      <a:pPr algn="ctr"/>
                      <a:r>
                        <a:rPr kumimoji="0" lang="en-US" sz="1400" kern="1200" dirty="0" smtClean="0">
                          <a:solidFill>
                            <a:schemeClr val="dk1"/>
                          </a:solidFill>
                          <a:latin typeface="+mn-lt"/>
                          <a:ea typeface="+mn-ea"/>
                          <a:cs typeface="+mn-cs"/>
                        </a:rPr>
                        <a:t>1</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B </a:t>
                      </a:r>
                      <a:endParaRPr lang="en-IN" sz="1400" dirty="0"/>
                    </a:p>
                  </a:txBody>
                  <a:tcPr/>
                </a:tc>
                <a:tc>
                  <a:txBody>
                    <a:bodyPr/>
                    <a:lstStyle/>
                    <a:p>
                      <a:pPr algn="ctr"/>
                      <a:r>
                        <a:rPr lang="en-US" sz="1400" dirty="0" smtClean="0"/>
                        <a:t>2</a:t>
                      </a:r>
                      <a:endParaRPr lang="en-IN" sz="1400" dirty="0"/>
                    </a:p>
                  </a:txBody>
                  <a:tcPr/>
                </a:tc>
                <a:tc>
                  <a:txBody>
                    <a:bodyPr/>
                    <a:lstStyle/>
                    <a:p>
                      <a:pPr algn="ctr"/>
                      <a:r>
                        <a:rPr kumimoji="0" lang="en-US" sz="1400" kern="1200" dirty="0" smtClean="0">
                          <a:solidFill>
                            <a:schemeClr val="dk1"/>
                          </a:solidFill>
                          <a:latin typeface="+mn-lt"/>
                          <a:ea typeface="+mn-ea"/>
                          <a:cs typeface="+mn-cs"/>
                        </a:rPr>
                        <a:t>1</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C</a:t>
                      </a:r>
                      <a:endParaRPr lang="en-IN" sz="1400" b="1" dirty="0"/>
                    </a:p>
                  </a:txBody>
                  <a:tcPr/>
                </a:tc>
                <a:tc>
                  <a:txBody>
                    <a:bodyPr/>
                    <a:lstStyle/>
                    <a:p>
                      <a:pPr algn="ctr"/>
                      <a:r>
                        <a:rPr lang="en-US" sz="1400" dirty="0" smtClean="0"/>
                        <a:t>4</a:t>
                      </a:r>
                      <a:endParaRPr lang="en-IN" sz="1400" dirty="0"/>
                    </a:p>
                  </a:txBody>
                  <a:tcPr/>
                </a:tc>
                <a:tc>
                  <a:txBody>
                    <a:bodyPr/>
                    <a:lstStyle/>
                    <a:p>
                      <a:pPr algn="ctr"/>
                      <a:r>
                        <a:rPr lang="en-US" sz="1400" dirty="0" smtClean="0"/>
                        <a:t>3</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D </a:t>
                      </a:r>
                      <a:endParaRPr lang="en-IN" sz="1400" dirty="0"/>
                    </a:p>
                  </a:txBody>
                  <a:tcPr/>
                </a:tc>
                <a:tc>
                  <a:txBody>
                    <a:bodyPr/>
                    <a:lstStyle/>
                    <a:p>
                      <a:pPr algn="ctr"/>
                      <a:r>
                        <a:rPr lang="en-US" sz="1400" dirty="0" smtClean="0"/>
                        <a:t>5</a:t>
                      </a:r>
                      <a:endParaRPr lang="en-IN" sz="1400" dirty="0"/>
                    </a:p>
                  </a:txBody>
                  <a:tcPr/>
                </a:tc>
                <a:tc>
                  <a:txBody>
                    <a:bodyPr/>
                    <a:lstStyle/>
                    <a:p>
                      <a:pPr algn="ctr"/>
                      <a:r>
                        <a:rPr lang="en-US" sz="1400" dirty="0" smtClean="0"/>
                        <a:t>4</a:t>
                      </a:r>
                      <a:endParaRPr lang="en-IN" sz="1400" dirty="0"/>
                    </a:p>
                  </a:txBody>
                  <a:tcPr/>
                </a:tc>
              </a:tr>
            </a:tbl>
          </a:graphicData>
        </a:graphic>
      </p:graphicFrame>
      <p:sp>
        <p:nvSpPr>
          <p:cNvPr id="152577" name="Rectangle 1"/>
          <p:cNvSpPr>
            <a:spLocks noChangeArrowheads="1"/>
          </p:cNvSpPr>
          <p:nvPr/>
        </p:nvSpPr>
        <p:spPr bwMode="auto">
          <a:xfrm>
            <a:off x="609600" y="5105400"/>
            <a:ext cx="7772400" cy="1016000"/>
          </a:xfrm>
          <a:prstGeom prst="rect">
            <a:avLst/>
          </a:prstGeom>
          <a:noFill/>
          <a:ln w="9525" cap="flat" cmpd="sng">
            <a:noFill/>
            <a:prstDash val="solid"/>
            <a:miter lim="800000"/>
            <a:headEnd type="none" w="med" len="med"/>
            <a:tailEnd type="none" w="med" len="med"/>
          </a:ln>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dirty="0">
                <a:ln>
                  <a:noFill/>
                </a:ln>
                <a:solidFill>
                  <a:schemeClr val="tx1"/>
                </a:solidFill>
                <a:effectLst/>
                <a:uLnTx/>
                <a:uFillTx/>
                <a:latin typeface="+mn-lt"/>
                <a:ea typeface="+mn-ea"/>
                <a:cs typeface="+mn-cs"/>
              </a:rPr>
              <a:t>Each medicine represents one point with two attributes (X, Y) that we can represent it as coordinate in an attribute space as shown in the figure next slide.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041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0" y="228600"/>
            <a:ext cx="8832850" cy="4270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pic>
        <p:nvPicPr>
          <p:cNvPr id="60420" name="Content Placeholder 7" descr="features space"/>
          <p:cNvPicPr>
            <a:picLocks noGrp="1"/>
          </p:cNvPicPr>
          <p:nvPr>
            <p:ph sz="quarter" idx="1"/>
          </p:nvPr>
        </p:nvPicPr>
        <p:blipFill>
          <a:blip r:embed="rId1"/>
          <a:stretch>
            <a:fillRect/>
          </a:stretch>
        </p:blipFill>
        <p:spPr>
          <a:xfrm>
            <a:off x="304800" y="685800"/>
            <a:ext cx="2743200" cy="2362200"/>
          </a:xfrm>
          <a:ln/>
        </p:spPr>
      </p:pic>
      <p:sp>
        <p:nvSpPr>
          <p:cNvPr id="167941" name="Rectangle 5"/>
          <p:cNvSpPr>
            <a:spLocks noChangeArrowheads="1"/>
          </p:cNvSpPr>
          <p:nvPr/>
        </p:nvSpPr>
        <p:spPr bwMode="auto">
          <a:xfrm>
            <a:off x="3200400" y="838200"/>
            <a:ext cx="4724400" cy="1836738"/>
          </a:xfrm>
          <a:prstGeom prst="rect">
            <a:avLst/>
          </a:prstGeom>
          <a:noFill/>
          <a:ln w="9525" cap="flat" cmpd="sng">
            <a:noFill/>
            <a:prstDash val="solid"/>
            <a:miter lim="800000"/>
            <a:headEnd type="none" w="med" len="med"/>
            <a:tailEnd type="none" w="med" len="med"/>
          </a:ln>
          <a:effectLst/>
        </p:spPr>
        <p:txBody>
          <a:bodyPr anchor="ct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dirty="0">
                <a:ln>
                  <a:noFill/>
                </a:ln>
                <a:solidFill>
                  <a:schemeClr val="tx1"/>
                </a:solidFill>
                <a:effectLst/>
                <a:uLnTx/>
                <a:uFillTx/>
                <a:latin typeface="+mn-lt"/>
                <a:ea typeface="+mn-ea"/>
                <a:cs typeface="+mn-cs"/>
              </a:rPr>
              <a:t>1. </a:t>
            </a:r>
            <a:r>
              <a:rPr kumimoji="0" lang="en-US" sz="2000" b="1" i="0" u="none" strike="noStrike" kern="1200" cap="none" spc="0" normalizeH="0" baseline="0" noProof="0" dirty="0">
                <a:ln>
                  <a:noFill/>
                </a:ln>
                <a:solidFill>
                  <a:schemeClr val="accent2">
                    <a:lumMod val="60000"/>
                    <a:lumOff val="40000"/>
                  </a:schemeClr>
                </a:solidFill>
                <a:effectLst/>
                <a:uLnTx/>
                <a:uFillTx/>
                <a:latin typeface="+mn-lt"/>
                <a:ea typeface="+mn-ea"/>
                <a:cs typeface="+mn-cs"/>
              </a:rPr>
              <a:t>Initial value of centroids </a:t>
            </a:r>
            <a:r>
              <a:rPr kumimoji="0" lang="en-US" sz="2000" b="0" i="0" u="none" strike="noStrike" kern="1200" cap="none" spc="0" normalizeH="0" baseline="0" noProof="0" dirty="0">
                <a:ln>
                  <a:noFill/>
                </a:ln>
                <a:solidFill>
                  <a:schemeClr val="tx1"/>
                </a:solidFill>
                <a:effectLst/>
                <a:uLnTx/>
                <a:uFillTx/>
                <a:latin typeface="+mn-lt"/>
                <a:ea typeface="+mn-ea"/>
                <a:cs typeface="+mn-cs"/>
              </a:rPr>
              <a:t>: Suppose we use medicine A and medicine B as the first centroids. Let c1 and c2 denote the coordinate of the centroids, then c1=(1,1) and c2= (2,1)</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000" b="0" i="0" u="none" strike="noStrike" kern="1200" cap="none" spc="0" normalizeH="0" baseline="-25000" noProof="0" dirty="0">
              <a:ln>
                <a:noFill/>
              </a:ln>
              <a:solidFill>
                <a:schemeClr val="tx1"/>
              </a:solidFill>
              <a:effectLst/>
              <a:uLnTx/>
              <a:uFillTx/>
              <a:latin typeface="+mn-lt"/>
              <a:ea typeface="+mn-ea"/>
              <a:cs typeface="+mn-cs"/>
            </a:endParaRPr>
          </a:p>
        </p:txBody>
      </p:sp>
      <p:sp>
        <p:nvSpPr>
          <p:cNvPr id="60422" name="Rectangle 9"/>
          <p:cNvSpPr/>
          <p:nvPr/>
        </p:nvSpPr>
        <p:spPr>
          <a:xfrm>
            <a:off x="0" y="1371600"/>
            <a:ext cx="9144000" cy="0"/>
          </a:xfrm>
          <a:prstGeom prst="rect">
            <a:avLst/>
          </a:prstGeom>
          <a:noFill/>
          <a:ln w="9525">
            <a:noFill/>
          </a:ln>
        </p:spPr>
        <p:txBody>
          <a:bodyPr wrap="none" anchor="ctr" anchorCtr="0">
            <a:spAutoFit/>
          </a:bodyPr>
          <a:p>
            <a:pPr eaLnBrk="0" hangingPunct="0"/>
            <a:endParaRPr lang="en-US" dirty="0">
              <a:latin typeface="Tahoma" panose="020B0604030504040204" pitchFamily="34" charset="0"/>
            </a:endParaRPr>
          </a:p>
        </p:txBody>
      </p:sp>
      <p:pic>
        <p:nvPicPr>
          <p:cNvPr id="60423" name="Picture 17" descr="k means clustering iteration 0"/>
          <p:cNvPicPr>
            <a:picLocks noChangeAspect="1"/>
          </p:cNvPicPr>
          <p:nvPr/>
        </p:nvPicPr>
        <p:blipFill>
          <a:blip r:embed="rId2"/>
          <a:stretch>
            <a:fillRect/>
          </a:stretch>
        </p:blipFill>
        <p:spPr>
          <a:xfrm>
            <a:off x="5029200" y="2895600"/>
            <a:ext cx="3581400" cy="2895600"/>
          </a:xfrm>
          <a:prstGeom prst="rect">
            <a:avLst/>
          </a:prstGeom>
          <a:noFill/>
          <a:ln w="9525">
            <a:noFill/>
          </a:ln>
        </p:spPr>
      </p:pic>
      <p:sp>
        <p:nvSpPr>
          <p:cNvPr id="167946" name="Rectangle 10"/>
          <p:cNvSpPr>
            <a:spLocks noChangeArrowheads="1"/>
          </p:cNvSpPr>
          <p:nvPr/>
        </p:nvSpPr>
        <p:spPr bwMode="auto">
          <a:xfrm>
            <a:off x="381000" y="3048000"/>
            <a:ext cx="4343400" cy="1938338"/>
          </a:xfrm>
          <a:prstGeom prst="rect">
            <a:avLst/>
          </a:prstGeom>
          <a:noFill/>
          <a:ln w="9525" cap="flat" cmpd="sng">
            <a:noFill/>
            <a:prstDash val="solid"/>
            <a:miter lim="800000"/>
            <a:headEnd type="none" w="med" len="med"/>
            <a:tailEnd type="none" w="med" len="med"/>
          </a:ln>
          <a:effectLst/>
        </p:spPr>
        <p:txBody>
          <a:bodyPr anchor="ct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dirty="0">
                <a:ln>
                  <a:noFill/>
                </a:ln>
                <a:solidFill>
                  <a:schemeClr val="tx1"/>
                </a:solidFill>
                <a:effectLst/>
                <a:uLnTx/>
                <a:uFillTx/>
                <a:latin typeface="+mn-lt"/>
                <a:ea typeface="+mn-ea"/>
                <a:cs typeface="+mn-cs"/>
              </a:rPr>
              <a:t>2.</a:t>
            </a:r>
            <a:r>
              <a:rPr kumimoji="0" lang="en-US" sz="2000" b="1" i="0" u="none" strike="noStrike" kern="1200" cap="none" spc="0" normalizeH="0" baseline="0" noProof="0" dirty="0">
                <a:ln>
                  <a:noFill/>
                </a:ln>
                <a:solidFill>
                  <a:schemeClr val="accent2">
                    <a:lumMod val="60000"/>
                    <a:lumOff val="40000"/>
                  </a:schemeClr>
                </a:solidFill>
                <a:effectLst/>
                <a:uLnTx/>
                <a:uFillTx/>
                <a:latin typeface="+mn-lt"/>
                <a:ea typeface="+mn-ea"/>
                <a:cs typeface="+mn-cs"/>
              </a:rPr>
              <a:t>Objects-Centroids distance </a:t>
            </a:r>
            <a:r>
              <a:rPr kumimoji="0" lang="en-US" sz="2000" b="0" i="0" u="none" strike="noStrike" kern="1200" cap="none" spc="0" normalizeH="0" baseline="0" noProof="0" dirty="0">
                <a:ln>
                  <a:noFill/>
                </a:ln>
                <a:solidFill>
                  <a:schemeClr val="tx1"/>
                </a:solidFill>
                <a:effectLst/>
                <a:uLnTx/>
                <a:uFillTx/>
                <a:latin typeface="+mn-lt"/>
                <a:ea typeface="+mn-ea"/>
                <a:cs typeface="+mn-cs"/>
              </a:rPr>
              <a:t>: we calculate the distance between cluster centroid to each object. Let us use </a:t>
            </a:r>
            <a:r>
              <a:rPr kumimoji="0" lang="en-US" sz="2000" b="0" i="0" u="none" strike="noStrike" kern="1200" cap="none" spc="0" normalizeH="0" baseline="0" noProof="0" dirty="0">
                <a:ln>
                  <a:noFill/>
                </a:ln>
                <a:solidFill>
                  <a:schemeClr val="tx1"/>
                </a:solidFill>
                <a:effectLst/>
                <a:uLnTx/>
                <a:uFillTx/>
                <a:latin typeface="+mn-lt"/>
                <a:ea typeface="+mn-ea"/>
                <a:cs typeface="+mn-cs"/>
                <a:hlinkClick r:id="rId3"/>
              </a:rPr>
              <a:t>Euclidean distance</a:t>
            </a:r>
            <a:r>
              <a:rPr kumimoji="0" lang="en-US" sz="2000" b="0" i="0" u="none" strike="noStrike" kern="1200" cap="none" spc="0" normalizeH="0" baseline="0" noProof="0" dirty="0">
                <a:ln>
                  <a:noFill/>
                </a:ln>
                <a:solidFill>
                  <a:schemeClr val="tx1"/>
                </a:solidFill>
                <a:effectLst/>
                <a:uLnTx/>
                <a:uFillTx/>
                <a:latin typeface="+mn-lt"/>
                <a:ea typeface="+mn-ea"/>
                <a:cs typeface="+mn-cs"/>
              </a:rPr>
              <a:t>, then we have distance matrix at iteration 0 is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60425" name="Content Placeholder 6" descr="http://people.revoledu.com/kardi/tutorial/kMean/Image/NumericalExample_clip_image012.gif"/>
          <p:cNvPicPr/>
          <p:nvPr/>
        </p:nvPicPr>
        <p:blipFill>
          <a:blip r:embed="rId4"/>
          <a:stretch>
            <a:fillRect/>
          </a:stretch>
        </p:blipFill>
        <p:spPr>
          <a:xfrm>
            <a:off x="1066800" y="4800600"/>
            <a:ext cx="3352800" cy="167640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144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8" name="Rectangle 2"/>
          <p:cNvSpPr>
            <a:spLocks noGrp="1" noChangeArrowheads="1"/>
          </p:cNvSpPr>
          <p:nvPr>
            <p:ph type="title"/>
          </p:nvPr>
        </p:nvSpPr>
        <p:spPr>
          <a:xfrm>
            <a:off x="76200" y="228600"/>
            <a:ext cx="8839200" cy="5794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61444" name="Content Placeholder 8"/>
          <p:cNvSpPr>
            <a:spLocks noGrp="1"/>
          </p:cNvSpPr>
          <p:nvPr>
            <p:ph sz="quarter" idx="1"/>
          </p:nvPr>
        </p:nvSpPr>
        <p:spPr>
          <a:xfrm>
            <a:off x="304800" y="2057400"/>
            <a:ext cx="8077200" cy="2438400"/>
          </a:xfrm>
          <a:ln/>
        </p:spPr>
        <p:txBody>
          <a:bodyPr vert="horz" wrap="square" lIns="91440" tIns="45720" rIns="91440" bIns="45720" anchor="t" anchorCtr="0"/>
          <a:p>
            <a:pPr algn="just">
              <a:buClr>
                <a:schemeClr val="accent1"/>
              </a:buClr>
              <a:buSzPct val="70000"/>
              <a:buFont typeface="Wingdings" panose="05000000000000000000" pitchFamily="2" charset="2"/>
            </a:pPr>
            <a:r>
              <a:rPr lang="en-US" sz="2000" dirty="0"/>
              <a:t>Each column in the distance matrix symbolizes the object. The first row of the distance matrix corresponds to the distance of each object to the first centroid and the second row is the distance of each object to the second centroid. </a:t>
            </a:r>
            <a:endParaRPr lang="en-US" sz="2000" dirty="0"/>
          </a:p>
          <a:p>
            <a:pPr algn="just">
              <a:buClr>
                <a:schemeClr val="accent1"/>
              </a:buClr>
              <a:buSzPct val="70000"/>
              <a:buFont typeface="Wingdings" panose="05000000000000000000" pitchFamily="2" charset="2"/>
            </a:pPr>
            <a:r>
              <a:rPr lang="en-US" sz="2000" dirty="0"/>
              <a:t>For example, distance from medicine C = (4, 3) to the first centroid  c1=(1,1) is </a:t>
            </a:r>
            <a:endParaRPr lang="en-US" sz="2000" dirty="0"/>
          </a:p>
          <a:p>
            <a:pPr algn="just">
              <a:buClr>
                <a:schemeClr val="accent1"/>
              </a:buClr>
              <a:buSzPct val="70000"/>
              <a:buFont typeface="Wingdings" panose="05000000000000000000" pitchFamily="2" charset="2"/>
            </a:pPr>
            <a:r>
              <a:rPr lang="en-US" sz="2000" dirty="0"/>
              <a:t>and its distance to the second centroid c2= (2,1) is </a:t>
            </a:r>
            <a:endParaRPr lang="en-IN" altLang="x-none" sz="2000" dirty="0"/>
          </a:p>
        </p:txBody>
      </p:sp>
      <p:pic>
        <p:nvPicPr>
          <p:cNvPr id="61445" name="Picture 9" descr="http://people.revoledu.com/kardi/tutorial/kMean/Image/NumericalExample_clip_image014.gif"/>
          <p:cNvPicPr>
            <a:picLocks noChangeAspect="1"/>
          </p:cNvPicPr>
          <p:nvPr/>
        </p:nvPicPr>
        <p:blipFill>
          <a:blip r:embed="rId1"/>
          <a:stretch>
            <a:fillRect/>
          </a:stretch>
        </p:blipFill>
        <p:spPr>
          <a:xfrm>
            <a:off x="3200400" y="3733800"/>
            <a:ext cx="1828800" cy="381000"/>
          </a:xfrm>
          <a:prstGeom prst="rect">
            <a:avLst/>
          </a:prstGeom>
          <a:noFill/>
          <a:ln w="9525">
            <a:noFill/>
          </a:ln>
        </p:spPr>
      </p:pic>
      <p:pic>
        <p:nvPicPr>
          <p:cNvPr id="61446" name="Picture 10" descr="http://people.revoledu.com/kardi/tutorial/kMean/Image/NumericalExample_clip_image016.gif"/>
          <p:cNvPicPr>
            <a:picLocks noChangeAspect="1"/>
          </p:cNvPicPr>
          <p:nvPr/>
        </p:nvPicPr>
        <p:blipFill>
          <a:blip r:embed="rId2"/>
          <a:stretch>
            <a:fillRect/>
          </a:stretch>
        </p:blipFill>
        <p:spPr>
          <a:xfrm>
            <a:off x="6718300" y="4038600"/>
            <a:ext cx="1587500" cy="35242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246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sz="quarter" idx="1"/>
          </p:nvPr>
        </p:nvSpPr>
        <p:spPr>
          <a:xfrm>
            <a:off x="457200" y="1219200"/>
            <a:ext cx="7467600" cy="1631950"/>
          </a:xfrm>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3. </a:t>
            </a:r>
            <a:r>
              <a:rPr kumimoji="0" lang="en-US" sz="2000" b="1" i="0" u="none" strike="noStrike" kern="1200" cap="none" spc="0" normalizeH="0" baseline="0" noProof="0" dirty="0" smtClean="0">
                <a:ln>
                  <a:noFill/>
                </a:ln>
                <a:solidFill>
                  <a:schemeClr val="accent2">
                    <a:lumMod val="60000"/>
                    <a:lumOff val="40000"/>
                  </a:schemeClr>
                </a:solidFill>
                <a:effectLst/>
                <a:uLnTx/>
                <a:uFillTx/>
                <a:latin typeface="+mn-lt"/>
                <a:ea typeface="+mn-ea"/>
                <a:cs typeface="+mn-cs"/>
              </a:rPr>
              <a:t>Objects </a:t>
            </a:r>
            <a:r>
              <a:rPr kumimoji="0" lang="en-US" sz="2000" b="1" i="0" u="none" strike="noStrike" kern="1200" cap="none" spc="0" normalizeH="0" baseline="0" noProof="0" dirty="0">
                <a:ln>
                  <a:noFill/>
                </a:ln>
                <a:solidFill>
                  <a:schemeClr val="accent2">
                    <a:lumMod val="60000"/>
                    <a:lumOff val="40000"/>
                  </a:schemeClr>
                </a:solidFill>
                <a:effectLst/>
                <a:uLnTx/>
                <a:uFillTx/>
                <a:latin typeface="+mn-lt"/>
                <a:ea typeface="+mn-ea"/>
                <a:cs typeface="+mn-cs"/>
              </a:rPr>
              <a:t>clustering </a:t>
            </a:r>
            <a:r>
              <a:rPr kumimoji="0" lang="en-US" sz="2000" b="0" i="0" u="none" strike="noStrike" kern="1200" cap="none" spc="0" normalizeH="0" baseline="0" noProof="0" dirty="0">
                <a:ln>
                  <a:noFill/>
                </a:ln>
                <a:solidFill>
                  <a:schemeClr val="tx1"/>
                </a:solidFill>
                <a:effectLst/>
                <a:uLnTx/>
                <a:uFillTx/>
                <a:latin typeface="+mn-lt"/>
                <a:ea typeface="+mn-ea"/>
                <a:cs typeface="+mn-cs"/>
              </a:rPr>
              <a:t>: We assign each object based on the minimum distance. Thus, medicine A is assigned to group 1, medicine B to group 2, medicine C to group 2 and medicine D to group 2. The element of Group matrix below is 1 if and only if the object is assigned to that group.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62468" name="Picture 7" descr="http://people.revoledu.com/kardi/tutorial/kMean/Image/NumericalExample_clip_image018.gif"/>
          <p:cNvPicPr>
            <a:picLocks noChangeAspect="1"/>
          </p:cNvPicPr>
          <p:nvPr/>
        </p:nvPicPr>
        <p:blipFill>
          <a:blip r:embed="rId1"/>
          <a:stretch>
            <a:fillRect/>
          </a:stretch>
        </p:blipFill>
        <p:spPr>
          <a:xfrm>
            <a:off x="2819400" y="2971800"/>
            <a:ext cx="2819400" cy="1371600"/>
          </a:xfrm>
          <a:prstGeom prst="rect">
            <a:avLst/>
          </a:prstGeom>
          <a:noFill/>
          <a:ln w="9525">
            <a:noFill/>
          </a:ln>
        </p:spPr>
      </p:pic>
      <p:sp>
        <p:nvSpPr>
          <p:cNvPr id="9" name="Rectangle 2"/>
          <p:cNvSpPr>
            <a:spLocks noGrp="1" noChangeArrowheads="1"/>
          </p:cNvSpPr>
          <p:nvPr>
            <p:ph type="title"/>
          </p:nvPr>
        </p:nvSpPr>
        <p:spPr>
          <a:xfrm>
            <a:off x="0" y="381000"/>
            <a:ext cx="8991600" cy="533400"/>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169986" name="Rectangle 2"/>
          <p:cNvSpPr>
            <a:spLocks noChangeArrowheads="1"/>
          </p:cNvSpPr>
          <p:nvPr/>
        </p:nvSpPr>
        <p:spPr bwMode="auto">
          <a:xfrm>
            <a:off x="381000" y="4724400"/>
            <a:ext cx="7696200" cy="1323975"/>
          </a:xfrm>
          <a:prstGeom prst="rect">
            <a:avLst/>
          </a:prstGeom>
          <a:noFill/>
          <a:ln w="9525" cap="flat" cmpd="sng">
            <a:noFill/>
            <a:prstDash val="solid"/>
            <a:miter lim="800000"/>
            <a:headEnd type="none" w="med" len="med"/>
            <a:tailEnd type="none" w="med" len="med"/>
          </a:ln>
          <a:effectLst/>
        </p:spPr>
        <p:txBody>
          <a:bodyPr anchor="ct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dirty="0">
                <a:ln>
                  <a:noFill/>
                </a:ln>
                <a:solidFill>
                  <a:schemeClr val="tx1"/>
                </a:solidFill>
                <a:effectLst/>
                <a:uLnTx/>
                <a:uFillTx/>
                <a:latin typeface="+mn-lt"/>
                <a:ea typeface="+mn-ea"/>
                <a:cs typeface="+mn-cs"/>
              </a:rPr>
              <a:t>4. </a:t>
            </a:r>
            <a:r>
              <a:rPr kumimoji="0" lang="en-US" sz="2000" b="1" i="0" u="none" strike="noStrike" kern="1200" cap="none" spc="0" normalizeH="0" baseline="0" noProof="0" dirty="0">
                <a:ln>
                  <a:noFill/>
                </a:ln>
                <a:solidFill>
                  <a:schemeClr val="accent2">
                    <a:lumMod val="60000"/>
                    <a:lumOff val="40000"/>
                  </a:schemeClr>
                </a:solidFill>
                <a:effectLst/>
                <a:uLnTx/>
                <a:uFillTx/>
                <a:latin typeface="+mn-lt"/>
                <a:ea typeface="+mn-ea"/>
                <a:cs typeface="+mn-cs"/>
              </a:rPr>
              <a:t>Iteration-1, determine centroids </a:t>
            </a:r>
            <a:r>
              <a:rPr kumimoji="0" lang="en-US" sz="2000" b="0" i="0" u="none" strike="noStrike" kern="1200" cap="none" spc="0" normalizeH="0" baseline="0" noProof="0" dirty="0">
                <a:ln>
                  <a:noFill/>
                </a:ln>
                <a:solidFill>
                  <a:schemeClr val="tx1"/>
                </a:solidFill>
                <a:effectLst/>
                <a:uLnTx/>
                <a:uFillTx/>
                <a:latin typeface="+mn-lt"/>
                <a:ea typeface="+mn-ea"/>
                <a:cs typeface="+mn-cs"/>
              </a:rPr>
              <a:t>: Knowing the members of each group, now we compute the new centroid of each group based on these new memberships. Group 1 only has one member thus the centroid remains in </a:t>
            </a:r>
            <a:r>
              <a:rPr kumimoji="0" lang="en-US" sz="2000" b="0" i="0" u="none" strike="noStrike" kern="1200" cap="none" spc="0" normalizeH="0" baseline="0" noProof="0" dirty="0" err="1">
                <a:ln>
                  <a:noFill/>
                </a:ln>
                <a:solidFill>
                  <a:schemeClr val="tx1"/>
                </a:solidFill>
                <a:effectLst/>
                <a:uLnTx/>
                <a:uFillTx/>
                <a:latin typeface="+mn-lt"/>
                <a:ea typeface="+mn-ea"/>
                <a:cs typeface="+mn-cs"/>
              </a:rPr>
              <a:t>i.e</a:t>
            </a:r>
            <a:r>
              <a:rPr kumimoji="0" lang="en-US" sz="2000" b="0" i="0" u="none" strike="noStrike" kern="1200" cap="none" spc="0" normalizeH="0" baseline="0" noProof="0" dirty="0">
                <a:ln>
                  <a:noFill/>
                </a:ln>
                <a:solidFill>
                  <a:schemeClr val="tx1"/>
                </a:solidFill>
                <a:effectLst/>
                <a:uLnTx/>
                <a:uFillTx/>
                <a:latin typeface="+mn-lt"/>
                <a:ea typeface="+mn-ea"/>
                <a:cs typeface="+mn-cs"/>
              </a:rPr>
              <a:t> c</a:t>
            </a:r>
            <a:r>
              <a:rPr kumimoji="0" lang="en-US" sz="2000" b="0" i="0" u="none" strike="noStrike" kern="1200" cap="none" spc="0" normalizeH="0" baseline="-25000" noProof="0" dirty="0">
                <a:ln>
                  <a:noFill/>
                </a:ln>
                <a:solidFill>
                  <a:schemeClr val="tx1"/>
                </a:solidFill>
                <a:effectLst/>
                <a:uLnTx/>
                <a:uFillTx/>
                <a:latin typeface="+mn-lt"/>
                <a:ea typeface="+mn-ea"/>
                <a:cs typeface="+mn-cs"/>
              </a:rPr>
              <a:t>1</a:t>
            </a:r>
            <a:r>
              <a:rPr kumimoji="0" lang="en-US" sz="2000" b="0" i="0" u="none" strike="noStrike" kern="1200" cap="none" spc="0" normalizeH="0" baseline="0" noProof="0" dirty="0">
                <a:ln>
                  <a:noFill/>
                </a:ln>
                <a:solidFill>
                  <a:schemeClr val="tx1"/>
                </a:solidFill>
                <a:effectLst/>
                <a:uLnTx/>
                <a:uFillTx/>
                <a:latin typeface="+mn-lt"/>
                <a:ea typeface="+mn-ea"/>
                <a:cs typeface="+mn-cs"/>
              </a:rPr>
              <a:t>= (1,1) and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quarter" idx="1"/>
          </p:nvPr>
        </p:nvSpPr>
        <p:spPr>
          <a:xfrm>
            <a:off x="457200" y="1600200"/>
            <a:ext cx="7467600" cy="1905000"/>
          </a:xfrm>
        </p:spPr>
        <p:txBody>
          <a:bodyPr vert="horz" wrap="square" lIns="91440" tIns="45720" rIns="91440" bIns="45720" numCol="1" anchor="t" anchorCtr="0" compatLnSpc="1"/>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000" b="1" i="0" u="none" strike="noStrike" kern="1200" cap="none" spc="0" normalizeH="0" baseline="0" noProof="0" dirty="0" smtClean="0">
                <a:ln>
                  <a:noFill/>
                </a:ln>
                <a:solidFill>
                  <a:schemeClr val="accent2">
                    <a:lumMod val="60000"/>
                    <a:lumOff val="40000"/>
                  </a:schemeClr>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Group 2 now has three members, thus the centroid is the average coordinate among the three members: c1=(1,1) and  </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6349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3491"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63492" name="Picture 6" descr="http://people.revoledu.com/kardi/tutorial/kMean/Image/NumericalExample_clip_image020.gif"/>
          <p:cNvPicPr>
            <a:picLocks noChangeAspect="1"/>
          </p:cNvPicPr>
          <p:nvPr/>
        </p:nvPicPr>
        <p:blipFill>
          <a:blip r:embed="rId1"/>
          <a:stretch>
            <a:fillRect/>
          </a:stretch>
        </p:blipFill>
        <p:spPr>
          <a:xfrm>
            <a:off x="990600" y="2438400"/>
            <a:ext cx="2514600" cy="609600"/>
          </a:xfrm>
          <a:prstGeom prst="rect">
            <a:avLst/>
          </a:prstGeom>
          <a:noFill/>
          <a:ln w="9525">
            <a:noFill/>
          </a:ln>
        </p:spPr>
      </p:pic>
      <p:pic>
        <p:nvPicPr>
          <p:cNvPr id="63493" name="Picture 7" descr="http://people.revoledu.com/kardi/tutorial/kMean/Image/NumericalExample_clip_image002_0002.gif"/>
          <p:cNvPicPr>
            <a:picLocks noChangeAspect="1"/>
          </p:cNvPicPr>
          <p:nvPr/>
        </p:nvPicPr>
        <p:blipFill>
          <a:blip r:embed="rId2"/>
          <a:stretch>
            <a:fillRect/>
          </a:stretch>
        </p:blipFill>
        <p:spPr>
          <a:xfrm>
            <a:off x="3352800" y="3048000"/>
            <a:ext cx="3886200" cy="3200400"/>
          </a:xfrm>
          <a:prstGeom prst="rect">
            <a:avLst/>
          </a:prstGeom>
          <a:noFill/>
          <a:ln w="9525">
            <a:noFill/>
          </a:ln>
        </p:spPr>
      </p:pic>
      <p:sp>
        <p:nvSpPr>
          <p:cNvPr id="10" name="Rectangle 2"/>
          <p:cNvSpPr>
            <a:spLocks noGrp="1" noChangeArrowheads="1"/>
          </p:cNvSpPr>
          <p:nvPr>
            <p:ph type="title"/>
          </p:nvPr>
        </p:nvSpPr>
        <p:spPr>
          <a:xfrm>
            <a:off x="76200" y="304800"/>
            <a:ext cx="8763000" cy="5794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quarter" idx="1"/>
          </p:nvPr>
        </p:nvSpPr>
        <p:spPr>
          <a:xfrm>
            <a:off x="457200" y="1828800"/>
            <a:ext cx="7848600" cy="1143000"/>
          </a:xfrm>
        </p:spPr>
        <p:txBody>
          <a:bodyPr vert="horz" wrap="square" lIns="91440" tIns="45720" rIns="91440" bIns="45720" numCol="1" anchor="t" anchorCtr="0" compatLnSpc="1"/>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IN" sz="2000" b="1"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rPr>
              <a:t>	5. Iteration-1, Objects-</a:t>
            </a:r>
            <a:r>
              <a:rPr kumimoji="0" lang="en-IN" sz="2000" b="1" i="0" u="none" strike="noStrike" kern="1200" cap="none" spc="0" normalizeH="0" baseline="0" noProof="0" dirty="0" err="1" smtClean="0">
                <a:ln>
                  <a:noFill/>
                </a:ln>
                <a:solidFill>
                  <a:schemeClr val="accent1">
                    <a:lumMod val="60000"/>
                    <a:lumOff val="40000"/>
                  </a:schemeClr>
                </a:solidFill>
                <a:effectLst/>
                <a:uLnTx/>
                <a:uFillTx/>
                <a:latin typeface="+mn-lt"/>
                <a:ea typeface="+mn-ea"/>
                <a:cs typeface="+mn-cs"/>
              </a:rPr>
              <a:t>Centroids</a:t>
            </a:r>
            <a:r>
              <a:rPr kumimoji="0" lang="en-IN" sz="2000" b="1"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rPr>
              <a:t> distances </a:t>
            </a:r>
            <a:r>
              <a:rPr kumimoji="0" lang="en-IN" sz="2000" b="0" i="0" u="none" strike="noStrike" kern="1200" cap="none" spc="0" normalizeH="0" baseline="0" noProof="0" dirty="0" smtClean="0">
                <a:ln>
                  <a:noFill/>
                </a:ln>
                <a:solidFill>
                  <a:schemeClr val="tx1"/>
                </a:solidFill>
                <a:effectLst/>
                <a:uLnTx/>
                <a:uFillTx/>
                <a:latin typeface="+mn-lt"/>
                <a:ea typeface="+mn-ea"/>
                <a:cs typeface="+mn-cs"/>
              </a:rPr>
              <a:t>: The next step is to compute the distance of all objects to the new </a:t>
            </a:r>
            <a:r>
              <a:rPr kumimoji="0" lang="en-IN" sz="2000" b="0" i="0" u="none" strike="noStrike" kern="1200" cap="none" spc="0" normalizeH="0" baseline="0" noProof="0" dirty="0" err="1" smtClean="0">
                <a:ln>
                  <a:noFill/>
                </a:ln>
                <a:solidFill>
                  <a:schemeClr val="tx1"/>
                </a:solidFill>
                <a:effectLst/>
                <a:uLnTx/>
                <a:uFillTx/>
                <a:latin typeface="+mn-lt"/>
                <a:ea typeface="+mn-ea"/>
                <a:cs typeface="+mn-cs"/>
              </a:rPr>
              <a:t>centroids</a:t>
            </a:r>
            <a:r>
              <a:rPr kumimoji="0" lang="en-IN" sz="2000" b="0" i="0" u="none" strike="noStrike" kern="1200" cap="none" spc="0" normalizeH="0" baseline="0" noProof="0" dirty="0" smtClean="0">
                <a:ln>
                  <a:noFill/>
                </a:ln>
                <a:solidFill>
                  <a:schemeClr val="tx1"/>
                </a:solidFill>
                <a:effectLst/>
                <a:uLnTx/>
                <a:uFillTx/>
                <a:latin typeface="+mn-lt"/>
                <a:ea typeface="+mn-ea"/>
                <a:cs typeface="+mn-cs"/>
              </a:rPr>
              <a:t>. Similar to step 2, we have distance matrix at iteration 1 is </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64514"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4515"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64516" name="Picture 2"/>
          <p:cNvPicPr>
            <a:picLocks noChangeAspect="1"/>
          </p:cNvPicPr>
          <p:nvPr/>
        </p:nvPicPr>
        <p:blipFill>
          <a:blip r:embed="rId1"/>
          <a:srcRect l="33749" t="45000" r="37500" b="38000"/>
          <a:stretch>
            <a:fillRect/>
          </a:stretch>
        </p:blipFill>
        <p:spPr>
          <a:xfrm>
            <a:off x="1752600" y="3810000"/>
            <a:ext cx="5105400" cy="2057400"/>
          </a:xfrm>
          <a:prstGeom prst="rect">
            <a:avLst/>
          </a:prstGeom>
          <a:noFill/>
          <a:ln w="9525">
            <a:noFill/>
          </a:ln>
        </p:spPr>
      </p:pic>
      <p:sp>
        <p:nvSpPr>
          <p:cNvPr id="8" name="Rectangle 2"/>
          <p:cNvSpPr>
            <a:spLocks noGrp="1" noChangeArrowheads="1"/>
          </p:cNvSpPr>
          <p:nvPr>
            <p:ph type="title"/>
          </p:nvPr>
        </p:nvSpPr>
        <p:spPr>
          <a:xfrm>
            <a:off x="76200" y="304800"/>
            <a:ext cx="8763000" cy="5794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quarter" idx="1"/>
          </p:nvPr>
        </p:nvSpPr>
        <p:spPr>
          <a:xfrm>
            <a:off x="457200" y="1524000"/>
            <a:ext cx="7543800" cy="2057400"/>
          </a:xfrm>
        </p:spPr>
        <p:txBody>
          <a:bodyPr vert="horz" wrap="square" lIns="91440" tIns="45720" rIns="91440" bIns="45720" numCol="1" anchor="t" anchorCtr="0" compatLnSpc="1"/>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IN" sz="2000" b="0" i="0" u="none" strike="noStrike" kern="1200" cap="none" spc="0" normalizeH="0" baseline="0" noProof="0" dirty="0" smtClean="0">
                <a:ln>
                  <a:noFill/>
                </a:ln>
                <a:solidFill>
                  <a:schemeClr val="tx1"/>
                </a:solidFill>
                <a:effectLst/>
                <a:uLnTx/>
                <a:uFillTx/>
                <a:latin typeface="+mn-lt"/>
                <a:ea typeface="+mn-ea"/>
                <a:cs typeface="+mn-cs"/>
              </a:rPr>
              <a:t>	6. </a:t>
            </a:r>
            <a:r>
              <a:rPr kumimoji="0" lang="en-IN" sz="2000" b="1"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rPr>
              <a:t>Iteration-1, Objects clustering</a:t>
            </a:r>
            <a:r>
              <a:rPr kumimoji="0" lang="en-IN" sz="2000" b="0" i="1" u="none" strike="noStrike" kern="1200" cap="none" spc="0" normalizeH="0" baseline="0" noProof="0" dirty="0" smtClean="0">
                <a:ln>
                  <a:noFill/>
                </a:ln>
                <a:solidFill>
                  <a:schemeClr val="tx1"/>
                </a:solidFill>
                <a:effectLst/>
                <a:uLnTx/>
                <a:uFillTx/>
                <a:latin typeface="+mn-lt"/>
                <a:ea typeface="+mn-ea"/>
                <a:cs typeface="+mn-cs"/>
              </a:rPr>
              <a:t>: </a:t>
            </a:r>
            <a:r>
              <a:rPr kumimoji="0" lang="en-IN" sz="2000" b="0" i="0" u="none" strike="noStrike" kern="1200" cap="none" spc="0" normalizeH="0" baseline="0" noProof="0" dirty="0" smtClean="0">
                <a:ln>
                  <a:noFill/>
                </a:ln>
                <a:solidFill>
                  <a:schemeClr val="tx1"/>
                </a:solidFill>
                <a:effectLst/>
                <a:uLnTx/>
                <a:uFillTx/>
                <a:latin typeface="+mn-lt"/>
                <a:ea typeface="+mn-ea"/>
                <a:cs typeface="+mn-cs"/>
              </a:rPr>
              <a:t>Similar to step 3, we assign each object based on the minimum distance. Based on the new distance matrix, we move the medicine B to Group 1 while all the other objects remain. The Group matrix is shown below </a:t>
            </a:r>
            <a:endParaRPr kumimoji="0" lang="en-IN" sz="20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65538"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5539"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65540" name="Picture 2"/>
          <p:cNvPicPr>
            <a:picLocks noChangeAspect="1"/>
          </p:cNvPicPr>
          <p:nvPr/>
        </p:nvPicPr>
        <p:blipFill>
          <a:blip r:embed="rId1"/>
          <a:srcRect l="33749" t="57001" r="48750" b="31000"/>
          <a:stretch>
            <a:fillRect/>
          </a:stretch>
        </p:blipFill>
        <p:spPr>
          <a:xfrm>
            <a:off x="2819400" y="3733800"/>
            <a:ext cx="3048000" cy="1600200"/>
          </a:xfrm>
          <a:prstGeom prst="rect">
            <a:avLst/>
          </a:prstGeom>
          <a:noFill/>
          <a:ln w="9525">
            <a:noFill/>
          </a:ln>
        </p:spPr>
      </p:pic>
      <p:sp>
        <p:nvSpPr>
          <p:cNvPr id="13" name="Rectangle 2"/>
          <p:cNvSpPr>
            <a:spLocks noGrp="1" noChangeArrowheads="1"/>
          </p:cNvSpPr>
          <p:nvPr>
            <p:ph type="title"/>
          </p:nvPr>
        </p:nvSpPr>
        <p:spPr>
          <a:xfrm>
            <a:off x="0" y="304800"/>
            <a:ext cx="8763000" cy="4270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Date Placeholder 3"/>
          <p:cNvSpPr>
            <a:spLocks noGrp="1"/>
          </p:cNvSpPr>
          <p:nvPr>
            <p:ph type="dt" sz="half" idx="2"/>
          </p:nvPr>
        </p:nvSpPr>
        <p:spPr>
          <a:xfrm rot="5400000">
            <a:off x="7716838" y="2486025"/>
            <a:ext cx="2011362"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656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66563" name="Picture 3"/>
          <p:cNvPicPr>
            <a:picLocks noGrp="1" noChangeAspect="1"/>
          </p:cNvPicPr>
          <p:nvPr>
            <p:ph sz="quarter" idx="1"/>
          </p:nvPr>
        </p:nvPicPr>
        <p:blipFill>
          <a:blip r:embed="rId1"/>
          <a:srcRect l="41216" t="28810" r="29591" b="27109"/>
          <a:stretch>
            <a:fillRect/>
          </a:stretch>
        </p:blipFill>
        <p:spPr>
          <a:xfrm>
            <a:off x="4038600" y="3505200"/>
            <a:ext cx="3581400" cy="3048000"/>
          </a:xfrm>
          <a:ln/>
        </p:spPr>
      </p:pic>
      <p:sp>
        <p:nvSpPr>
          <p:cNvPr id="10" name="Rectangle 9"/>
          <p:cNvSpPr/>
          <p:nvPr/>
        </p:nvSpPr>
        <p:spPr>
          <a:xfrm>
            <a:off x="533400" y="1600200"/>
            <a:ext cx="7543800" cy="1631950"/>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7. </a:t>
            </a:r>
            <a:r>
              <a:rPr kumimoji="0" lang="en-IN" sz="2000" b="1" i="0" u="none" strike="noStrike" kern="1200" cap="none" spc="0" normalizeH="0" baseline="0" noProof="0" dirty="0">
                <a:ln>
                  <a:noFill/>
                </a:ln>
                <a:solidFill>
                  <a:schemeClr val="accent1">
                    <a:lumMod val="60000"/>
                    <a:lumOff val="40000"/>
                  </a:schemeClr>
                </a:solidFill>
                <a:effectLst/>
                <a:uLnTx/>
                <a:uFillTx/>
                <a:latin typeface="+mn-lt"/>
                <a:ea typeface="+mn-ea"/>
                <a:cs typeface="+mn-cs"/>
              </a:rPr>
              <a:t>Iteration 2, determine </a:t>
            </a:r>
            <a:r>
              <a:rPr kumimoji="0" lang="en-IN" sz="2000" b="1" i="0" u="none" strike="noStrike" kern="1200" cap="none" spc="0" normalizeH="0" baseline="0" noProof="0" dirty="0" err="1">
                <a:ln>
                  <a:noFill/>
                </a:ln>
                <a:solidFill>
                  <a:schemeClr val="accent1">
                    <a:lumMod val="60000"/>
                    <a:lumOff val="40000"/>
                  </a:schemeClr>
                </a:solidFill>
                <a:effectLst/>
                <a:uLnTx/>
                <a:uFillTx/>
                <a:latin typeface="+mn-lt"/>
                <a:ea typeface="+mn-ea"/>
                <a:cs typeface="+mn-cs"/>
              </a:rPr>
              <a:t>centroids</a:t>
            </a:r>
            <a:r>
              <a:rPr kumimoji="0" lang="en-IN" sz="2000" b="0" i="0" u="none" strike="noStrike" kern="1200" cap="none" spc="0" normalizeH="0" baseline="0" noProof="0" dirty="0">
                <a:ln>
                  <a:noFill/>
                </a:ln>
                <a:solidFill>
                  <a:schemeClr val="tx1"/>
                </a:solidFill>
                <a:effectLst/>
                <a:uLnTx/>
                <a:uFillTx/>
                <a:latin typeface="+mn-lt"/>
                <a:ea typeface="+mn-ea"/>
                <a:cs typeface="+mn-cs"/>
              </a:rPr>
              <a:t>: Now we repeat step 4 to calculate the new </a:t>
            </a:r>
            <a:r>
              <a:rPr kumimoji="0" lang="en-IN" sz="2000" b="0" i="0" u="none" strike="noStrike" kern="1200" cap="none" spc="0" normalizeH="0" baseline="0" noProof="0" dirty="0" err="1">
                <a:ln>
                  <a:noFill/>
                </a:ln>
                <a:solidFill>
                  <a:schemeClr val="tx1"/>
                </a:solidFill>
                <a:effectLst/>
                <a:uLnTx/>
                <a:uFillTx/>
                <a:latin typeface="+mn-lt"/>
                <a:ea typeface="+mn-ea"/>
                <a:cs typeface="+mn-cs"/>
              </a:rPr>
              <a:t>centroids</a:t>
            </a:r>
            <a:r>
              <a:rPr kumimoji="0" lang="en-IN" sz="2000" b="0" i="0" u="none" strike="noStrike" kern="1200" cap="none" spc="0" normalizeH="0" baseline="0" noProof="0" dirty="0">
                <a:ln>
                  <a:noFill/>
                </a:ln>
                <a:solidFill>
                  <a:schemeClr val="tx1"/>
                </a:solidFill>
                <a:effectLst/>
                <a:uLnTx/>
                <a:uFillTx/>
                <a:latin typeface="+mn-lt"/>
                <a:ea typeface="+mn-ea"/>
                <a:cs typeface="+mn-cs"/>
              </a:rPr>
              <a:t> coordinate based on the clustering of previous iteration. Group1 and group 2 both has two members, thus the new </a:t>
            </a:r>
            <a:r>
              <a:rPr kumimoji="0" lang="en-IN" sz="2000" b="0" i="0" u="none" strike="noStrike" kern="1200" cap="none" spc="0" normalizeH="0" baseline="0" noProof="0" dirty="0" err="1">
                <a:ln>
                  <a:noFill/>
                </a:ln>
                <a:solidFill>
                  <a:schemeClr val="tx1"/>
                </a:solidFill>
                <a:effectLst/>
                <a:uLnTx/>
                <a:uFillTx/>
                <a:latin typeface="+mn-lt"/>
                <a:ea typeface="+mn-ea"/>
                <a:cs typeface="+mn-cs"/>
              </a:rPr>
              <a:t>centroids</a:t>
            </a:r>
            <a:r>
              <a:rPr kumimoji="0" lang="en-IN" sz="2000" b="0" i="0" u="none" strike="noStrike" kern="1200" cap="none" spc="0" normalizeH="0" baseline="0" noProof="0" dirty="0">
                <a:ln>
                  <a:noFill/>
                </a:ln>
                <a:solidFill>
                  <a:schemeClr val="tx1"/>
                </a:solidFill>
                <a:effectLst/>
                <a:uLnTx/>
                <a:uFillTx/>
                <a:latin typeface="+mn-lt"/>
                <a:ea typeface="+mn-ea"/>
                <a:cs typeface="+mn-cs"/>
              </a:rPr>
              <a:t> are 		          and </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66565" name="Picture 2"/>
          <p:cNvPicPr>
            <a:picLocks noChangeAspect="1"/>
          </p:cNvPicPr>
          <p:nvPr/>
        </p:nvPicPr>
        <p:blipFill>
          <a:blip r:embed="rId2"/>
          <a:srcRect l="51019" t="50034" r="35715" b="43436"/>
          <a:stretch>
            <a:fillRect/>
          </a:stretch>
        </p:blipFill>
        <p:spPr>
          <a:xfrm>
            <a:off x="5562600" y="2667000"/>
            <a:ext cx="1676400" cy="609600"/>
          </a:xfrm>
          <a:prstGeom prst="rect">
            <a:avLst/>
          </a:prstGeom>
          <a:noFill/>
          <a:ln w="9525">
            <a:noFill/>
          </a:ln>
        </p:spPr>
      </p:pic>
      <p:pic>
        <p:nvPicPr>
          <p:cNvPr id="66566" name="Picture 2"/>
          <p:cNvPicPr>
            <a:picLocks noChangeAspect="1"/>
          </p:cNvPicPr>
          <p:nvPr/>
        </p:nvPicPr>
        <p:blipFill>
          <a:blip r:embed="rId2"/>
          <a:srcRect l="33675" t="56177" r="51021" b="38538"/>
          <a:stretch>
            <a:fillRect/>
          </a:stretch>
        </p:blipFill>
        <p:spPr>
          <a:xfrm>
            <a:off x="1219200" y="2971800"/>
            <a:ext cx="1905000" cy="533400"/>
          </a:xfrm>
          <a:prstGeom prst="rect">
            <a:avLst/>
          </a:prstGeom>
          <a:noFill/>
          <a:ln w="9525">
            <a:noFill/>
          </a:ln>
        </p:spPr>
      </p:pic>
      <p:sp>
        <p:nvSpPr>
          <p:cNvPr id="13" name="Rectangle 2"/>
          <p:cNvSpPr>
            <a:spLocks noGrp="1" noChangeArrowheads="1"/>
          </p:cNvSpPr>
          <p:nvPr>
            <p:ph type="title"/>
          </p:nvPr>
        </p:nvSpPr>
        <p:spPr>
          <a:xfrm>
            <a:off x="228600" y="304800"/>
            <a:ext cx="8915400" cy="5032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758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1"/>
          <p:cNvSpPr>
            <a:spLocks noGrp="1" noChangeArrowheads="1"/>
          </p:cNvSpPr>
          <p:nvPr>
            <p:ph sz="quarter" idx="1"/>
          </p:nvPr>
        </p:nvSpPr>
        <p:spPr>
          <a:xfrm>
            <a:off x="457200" y="1295400"/>
            <a:ext cx="7467600" cy="1200150"/>
          </a:xfrm>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8.</a:t>
            </a:r>
            <a:r>
              <a:rPr kumimoji="0" lang="en-US" sz="2400" b="1" i="0" u="none" strike="noStrike" kern="1200" cap="none" spc="0" normalizeH="0" baseline="0" noProof="0" dirty="0" smtClean="0">
                <a:ln>
                  <a:noFill/>
                </a:ln>
                <a:solidFill>
                  <a:schemeClr val="accent2">
                    <a:lumMod val="60000"/>
                    <a:lumOff val="40000"/>
                  </a:schemeClr>
                </a:solidFill>
                <a:effectLst/>
                <a:uLnTx/>
                <a:uFillTx/>
                <a:latin typeface="+mn-lt"/>
                <a:ea typeface="+mn-ea"/>
                <a:cs typeface="+mn-cs"/>
              </a:rPr>
              <a:t>Iteration-2,Objects-Centroids </a:t>
            </a:r>
            <a:r>
              <a:rPr kumimoji="0" lang="en-US" sz="2400" b="1" i="0" u="none" strike="noStrike" kern="1200" cap="none" spc="0" normalizeH="0" baseline="0" noProof="0" dirty="0">
                <a:ln>
                  <a:noFill/>
                </a:ln>
                <a:solidFill>
                  <a:schemeClr val="accent2">
                    <a:lumMod val="60000"/>
                    <a:lumOff val="40000"/>
                  </a:schemeClr>
                </a:solidFill>
                <a:effectLst/>
                <a:uLnTx/>
                <a:uFillTx/>
                <a:latin typeface="+mn-lt"/>
                <a:ea typeface="+mn-ea"/>
                <a:cs typeface="+mn-cs"/>
              </a:rPr>
              <a:t>distances </a:t>
            </a:r>
            <a:r>
              <a:rPr kumimoji="0" lang="en-US" sz="2400" b="0" i="0" u="none" strike="noStrike" kern="1200" cap="none" spc="0" normalizeH="0" baseline="0" noProof="0" dirty="0">
                <a:ln>
                  <a:noFill/>
                </a:ln>
                <a:solidFill>
                  <a:schemeClr val="tx1"/>
                </a:solidFill>
                <a:effectLst/>
                <a:uLnTx/>
                <a:uFillTx/>
                <a:latin typeface="+mn-lt"/>
                <a:ea typeface="+mn-ea"/>
                <a:cs typeface="+mn-cs"/>
              </a:rPr>
              <a:t>: Repeat step 2 again, we have new distance matrix at iteration 2 as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67588" name="Picture 7" descr="http://people.revoledu.com/kardi/tutorial/kMean/Image/NumericalExample_clip_image102_0000.gif"/>
          <p:cNvPicPr>
            <a:picLocks noChangeAspect="1"/>
          </p:cNvPicPr>
          <p:nvPr/>
        </p:nvPicPr>
        <p:blipFill>
          <a:blip r:embed="rId1"/>
          <a:stretch>
            <a:fillRect/>
          </a:stretch>
        </p:blipFill>
        <p:spPr>
          <a:xfrm>
            <a:off x="2738438" y="2590800"/>
            <a:ext cx="4500562" cy="1958975"/>
          </a:xfrm>
          <a:prstGeom prst="rect">
            <a:avLst/>
          </a:prstGeom>
          <a:noFill/>
          <a:ln w="9525">
            <a:noFill/>
          </a:ln>
        </p:spPr>
      </p:pic>
      <p:sp>
        <p:nvSpPr>
          <p:cNvPr id="172033" name="Rectangle 1"/>
          <p:cNvSpPr>
            <a:spLocks noChangeArrowheads="1"/>
          </p:cNvSpPr>
          <p:nvPr/>
        </p:nvSpPr>
        <p:spPr bwMode="auto">
          <a:xfrm>
            <a:off x="457200" y="4724400"/>
            <a:ext cx="7772400" cy="830263"/>
          </a:xfrm>
          <a:prstGeom prst="rect">
            <a:avLst/>
          </a:prstGeom>
          <a:noFill/>
          <a:ln w="9525" cap="flat" cmpd="sng">
            <a:noFill/>
            <a:prstDash val="solid"/>
            <a:miter lim="800000"/>
            <a:headEnd type="none" w="med" len="med"/>
            <a:tailEnd type="none" w="med" len="med"/>
          </a:ln>
          <a:effectLst/>
        </p:spPr>
        <p:txBody>
          <a:bodyPr anchor="ct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9.</a:t>
            </a:r>
            <a:r>
              <a:rPr kumimoji="0" lang="en-US" sz="2400" b="1" i="0" u="none" strike="noStrike" kern="1200" cap="none" spc="0" normalizeH="0" baseline="0" noProof="0" dirty="0">
                <a:ln>
                  <a:noFill/>
                </a:ln>
                <a:solidFill>
                  <a:schemeClr val="accent2">
                    <a:lumMod val="60000"/>
                    <a:lumOff val="40000"/>
                  </a:schemeClr>
                </a:solidFill>
                <a:effectLst/>
                <a:uLnTx/>
                <a:uFillTx/>
                <a:latin typeface="+mn-lt"/>
                <a:ea typeface="+mn-ea"/>
                <a:cs typeface="+mn-cs"/>
              </a:rPr>
              <a:t>Iteration-2, Objects clustering </a:t>
            </a:r>
            <a:r>
              <a:rPr kumimoji="0" lang="en-US" sz="2400" b="0" i="0" u="none" strike="noStrike" kern="1200" cap="none" spc="0" normalizeH="0" baseline="0" noProof="0" dirty="0">
                <a:ln>
                  <a:noFill/>
                </a:ln>
                <a:solidFill>
                  <a:schemeClr val="tx1"/>
                </a:solidFill>
                <a:effectLst/>
                <a:uLnTx/>
                <a:uFillTx/>
                <a:latin typeface="+mn-lt"/>
                <a:ea typeface="+mn-ea"/>
                <a:cs typeface="+mn-cs"/>
              </a:rPr>
              <a:t>: Again, we assign each object based on the minimum distance.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67590" name="Picture 9" descr="http://people.revoledu.com/kardi/tutorial/kMean/Image/NumericalExample_clip_image032.gif"/>
          <p:cNvPicPr>
            <a:picLocks noChangeAspect="1"/>
          </p:cNvPicPr>
          <p:nvPr/>
        </p:nvPicPr>
        <p:blipFill>
          <a:blip r:embed="rId2"/>
          <a:stretch>
            <a:fillRect/>
          </a:stretch>
        </p:blipFill>
        <p:spPr>
          <a:xfrm>
            <a:off x="2971800" y="5638800"/>
            <a:ext cx="2438400" cy="1071563"/>
          </a:xfrm>
          <a:prstGeom prst="rect">
            <a:avLst/>
          </a:prstGeom>
          <a:noFill/>
          <a:ln w="9525">
            <a:noFill/>
          </a:ln>
        </p:spPr>
      </p:pic>
      <p:sp>
        <p:nvSpPr>
          <p:cNvPr id="11" name="Rectangle 2"/>
          <p:cNvSpPr>
            <a:spLocks noGrp="1" noChangeArrowheads="1"/>
          </p:cNvSpPr>
          <p:nvPr>
            <p:ph type="title"/>
          </p:nvPr>
        </p:nvSpPr>
        <p:spPr>
          <a:xfrm>
            <a:off x="152400" y="304800"/>
            <a:ext cx="8763000" cy="533400"/>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Content Placeholder 2"/>
          <p:cNvSpPr>
            <a:spLocks noGrp="1"/>
          </p:cNvSpPr>
          <p:nvPr>
            <p:ph sz="quarter" idx="1"/>
          </p:nvPr>
        </p:nvSpPr>
        <p:spPr>
          <a:xfrm>
            <a:off x="152400" y="1143000"/>
            <a:ext cx="8077200" cy="2590800"/>
          </a:xfrm>
          <a:ln/>
        </p:spPr>
        <p:txBody>
          <a:bodyPr vert="horz" wrap="square" lIns="91440" tIns="45720" rIns="91440" bIns="45720" anchor="t" anchorCtr="0"/>
          <a:p>
            <a:pPr algn="just">
              <a:buClr>
                <a:schemeClr val="accent1"/>
              </a:buClr>
              <a:buSzPct val="70000"/>
              <a:buFont typeface="Wingdings" panose="05000000000000000000" pitchFamily="2" charset="2"/>
            </a:pPr>
            <a:r>
              <a:rPr lang="en-US" dirty="0"/>
              <a:t>We obtain result that G</a:t>
            </a:r>
            <a:r>
              <a:rPr lang="en-US" baseline="30000" dirty="0"/>
              <a:t>2</a:t>
            </a:r>
            <a:r>
              <a:rPr lang="en-US" dirty="0"/>
              <a:t> = G</a:t>
            </a:r>
            <a:r>
              <a:rPr lang="en-US" baseline="30000" dirty="0"/>
              <a:t>1</a:t>
            </a:r>
            <a:r>
              <a:rPr lang="en-US" dirty="0"/>
              <a:t>. Comparing the grouping of last iteration and this iteration reveals that the objects does not move group anymore. Thus, the computation of the k-mean clustering has reached its stability and no more iteration is needed. We get the final grouping as the results </a:t>
            </a:r>
            <a:endParaRPr lang="en-IN" altLang="x-none" dirty="0"/>
          </a:p>
          <a:p>
            <a:pPr algn="just">
              <a:buClr>
                <a:schemeClr val="accent1"/>
              </a:buClr>
              <a:buSzPct val="70000"/>
              <a:buFont typeface="Wingdings" panose="05000000000000000000" pitchFamily="2" charset="2"/>
            </a:pPr>
            <a:endParaRPr lang="en-IN" altLang="x-none" dirty="0"/>
          </a:p>
        </p:txBody>
      </p:sp>
      <p:sp>
        <p:nvSpPr>
          <p:cNvPr id="6861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8611"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152400" y="228600"/>
            <a:ext cx="8991600" cy="427038"/>
          </a:xfrm>
        </p:spPr>
        <p:txBody>
          <a:bodyPr vert="horz"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 </a:t>
            </a:r>
            <a:r>
              <a:rPr kumimoji="0" lang="en-US" sz="28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28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Numerical Example</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graphicFrame>
        <p:nvGraphicFramePr>
          <p:cNvPr id="8" name="Table 7"/>
          <p:cNvGraphicFramePr>
            <a:graphicFrameLocks noGrp="1"/>
          </p:cNvGraphicFramePr>
          <p:nvPr/>
        </p:nvGraphicFramePr>
        <p:xfrm>
          <a:off x="1219200" y="3657600"/>
          <a:ext cx="5181600" cy="2286000"/>
        </p:xfrm>
        <a:graphic>
          <a:graphicData uri="http://schemas.openxmlformats.org/drawingml/2006/table">
            <a:tbl>
              <a:tblPr firstRow="1" bandRow="1">
                <a:tableStyleId>{5C22544A-7EE6-4342-B048-85BDC9FD1C3A}</a:tableStyleId>
              </a:tblPr>
              <a:tblGrid>
                <a:gridCol w="1233715"/>
                <a:gridCol w="1433285"/>
                <a:gridCol w="1295400"/>
                <a:gridCol w="1219201"/>
              </a:tblGrid>
              <a:tr h="879231">
                <a:tc>
                  <a:txBody>
                    <a:bodyPr/>
                    <a:lstStyle/>
                    <a:p>
                      <a:pPr algn="ctr"/>
                      <a:r>
                        <a:rPr kumimoji="0" lang="en-US" sz="1400" b="1" kern="1200" dirty="0" smtClean="0">
                          <a:solidFill>
                            <a:schemeClr val="lt1"/>
                          </a:solidFill>
                          <a:latin typeface="+mn-lt"/>
                          <a:ea typeface="+mn-ea"/>
                          <a:cs typeface="+mn-cs"/>
                        </a:rPr>
                        <a:t>Object</a:t>
                      </a:r>
                      <a:endParaRPr lang="en-IN" sz="1400" dirty="0"/>
                    </a:p>
                  </a:txBody>
                  <a:tcPr/>
                </a:tc>
                <a:tc>
                  <a:txBody>
                    <a:bodyPr/>
                    <a:lstStyle/>
                    <a:p>
                      <a:pPr algn="ctr"/>
                      <a:r>
                        <a:rPr kumimoji="0" lang="en-US" sz="1400" b="1" kern="1200" dirty="0" smtClean="0">
                          <a:solidFill>
                            <a:schemeClr val="lt1"/>
                          </a:solidFill>
                          <a:latin typeface="+mn-lt"/>
                          <a:ea typeface="+mn-ea"/>
                          <a:cs typeface="+mn-cs"/>
                        </a:rPr>
                        <a:t>attribute 1 (X): weight index </a:t>
                      </a:r>
                      <a:endParaRPr lang="en-IN" sz="1400" dirty="0"/>
                    </a:p>
                  </a:txBody>
                  <a:tcPr/>
                </a:tc>
                <a:tc>
                  <a:txBody>
                    <a:bodyPr/>
                    <a:lstStyle/>
                    <a:p>
                      <a:pPr algn="ctr"/>
                      <a:r>
                        <a:rPr kumimoji="0" lang="en-US" sz="1400" b="1" kern="1200" dirty="0" smtClean="0">
                          <a:solidFill>
                            <a:schemeClr val="lt1"/>
                          </a:solidFill>
                          <a:latin typeface="+mn-lt"/>
                          <a:ea typeface="+mn-ea"/>
                          <a:cs typeface="+mn-cs"/>
                        </a:rPr>
                        <a:t>attribute 2 (Y): pH </a:t>
                      </a:r>
                      <a:endParaRPr lang="en-IN" sz="1400" dirty="0"/>
                    </a:p>
                  </a:txBody>
                  <a:tcPr/>
                </a:tc>
                <a:tc>
                  <a:txBody>
                    <a:bodyPr/>
                    <a:lstStyle/>
                    <a:p>
                      <a:pPr algn="ctr"/>
                      <a:r>
                        <a:rPr kumimoji="0" lang="en-US" sz="1800" b="1" kern="1200" dirty="0" smtClean="0">
                          <a:solidFill>
                            <a:schemeClr val="lt1"/>
                          </a:solidFill>
                          <a:latin typeface="+mn-lt"/>
                          <a:ea typeface="+mn-ea"/>
                          <a:cs typeface="+mn-cs"/>
                        </a:rPr>
                        <a:t>Group (result) </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A </a:t>
                      </a:r>
                      <a:endParaRPr lang="en-IN" sz="1400" dirty="0"/>
                    </a:p>
                  </a:txBody>
                  <a:tcPr/>
                </a:tc>
                <a:tc>
                  <a:txBody>
                    <a:bodyPr/>
                    <a:lstStyle/>
                    <a:p>
                      <a:pPr algn="ctr"/>
                      <a:r>
                        <a:rPr kumimoji="0" lang="en-US" sz="1400" kern="1200" dirty="0" smtClean="0">
                          <a:solidFill>
                            <a:schemeClr val="dk1"/>
                          </a:solidFill>
                          <a:latin typeface="+mn-lt"/>
                          <a:ea typeface="+mn-ea"/>
                          <a:cs typeface="+mn-cs"/>
                        </a:rPr>
                        <a:t>1</a:t>
                      </a:r>
                      <a:endParaRPr lang="en-IN" sz="1400" dirty="0"/>
                    </a:p>
                  </a:txBody>
                  <a:tcPr/>
                </a:tc>
                <a:tc>
                  <a:txBody>
                    <a:bodyPr/>
                    <a:lstStyle/>
                    <a:p>
                      <a:pPr algn="ctr"/>
                      <a:r>
                        <a:rPr kumimoji="0" lang="en-US" sz="1400" kern="1200" dirty="0" smtClean="0">
                          <a:solidFill>
                            <a:schemeClr val="dk1"/>
                          </a:solidFill>
                          <a:latin typeface="+mn-lt"/>
                          <a:ea typeface="+mn-ea"/>
                          <a:cs typeface="+mn-cs"/>
                        </a:rPr>
                        <a:t>1</a:t>
                      </a:r>
                      <a:endParaRPr lang="en-IN" sz="1400" dirty="0"/>
                    </a:p>
                  </a:txBody>
                  <a:tcPr/>
                </a:tc>
                <a:tc>
                  <a:txBody>
                    <a:bodyPr/>
                    <a:lstStyle/>
                    <a:p>
                      <a:pPr algn="ctr"/>
                      <a:r>
                        <a:rPr lang="en-US" sz="1400" dirty="0" smtClean="0"/>
                        <a:t>1</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B </a:t>
                      </a:r>
                      <a:endParaRPr lang="en-IN" sz="1400" dirty="0"/>
                    </a:p>
                  </a:txBody>
                  <a:tcPr/>
                </a:tc>
                <a:tc>
                  <a:txBody>
                    <a:bodyPr/>
                    <a:lstStyle/>
                    <a:p>
                      <a:pPr algn="ctr"/>
                      <a:r>
                        <a:rPr lang="en-US" sz="1400" dirty="0" smtClean="0"/>
                        <a:t>2</a:t>
                      </a:r>
                      <a:endParaRPr lang="en-IN" sz="1400" dirty="0"/>
                    </a:p>
                  </a:txBody>
                  <a:tcPr/>
                </a:tc>
                <a:tc>
                  <a:txBody>
                    <a:bodyPr/>
                    <a:lstStyle/>
                    <a:p>
                      <a:pPr algn="ctr"/>
                      <a:r>
                        <a:rPr kumimoji="0" lang="en-US" sz="1400" kern="1200" dirty="0" smtClean="0">
                          <a:solidFill>
                            <a:schemeClr val="dk1"/>
                          </a:solidFill>
                          <a:latin typeface="+mn-lt"/>
                          <a:ea typeface="+mn-ea"/>
                          <a:cs typeface="+mn-cs"/>
                        </a:rPr>
                        <a:t>1</a:t>
                      </a:r>
                      <a:endParaRPr lang="en-IN" sz="1400" dirty="0"/>
                    </a:p>
                  </a:txBody>
                  <a:tcPr/>
                </a:tc>
                <a:tc>
                  <a:txBody>
                    <a:bodyPr/>
                    <a:lstStyle/>
                    <a:p>
                      <a:pPr algn="ctr"/>
                      <a:r>
                        <a:rPr lang="en-US" sz="1400" dirty="0" smtClean="0"/>
                        <a:t>1</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C</a:t>
                      </a:r>
                      <a:endParaRPr lang="en-IN" sz="1400" b="1" dirty="0"/>
                    </a:p>
                  </a:txBody>
                  <a:tcPr/>
                </a:tc>
                <a:tc>
                  <a:txBody>
                    <a:bodyPr/>
                    <a:lstStyle/>
                    <a:p>
                      <a:pPr algn="ctr"/>
                      <a:r>
                        <a:rPr lang="en-US" sz="1400" dirty="0" smtClean="0"/>
                        <a:t>4</a:t>
                      </a:r>
                      <a:endParaRPr lang="en-IN" sz="1400" dirty="0"/>
                    </a:p>
                  </a:txBody>
                  <a:tcPr/>
                </a:tc>
                <a:tc>
                  <a:txBody>
                    <a:bodyPr/>
                    <a:lstStyle/>
                    <a:p>
                      <a:pPr algn="ctr"/>
                      <a:r>
                        <a:rPr lang="en-US" sz="1400" dirty="0" smtClean="0"/>
                        <a:t>3</a:t>
                      </a:r>
                      <a:endParaRPr lang="en-IN" sz="1400" dirty="0"/>
                    </a:p>
                  </a:txBody>
                  <a:tcPr/>
                </a:tc>
                <a:tc>
                  <a:txBody>
                    <a:bodyPr/>
                    <a:lstStyle/>
                    <a:p>
                      <a:pPr algn="ctr"/>
                      <a:r>
                        <a:rPr lang="en-US" sz="1400" dirty="0" smtClean="0"/>
                        <a:t>2</a:t>
                      </a:r>
                      <a:endParaRPr lang="en-IN" sz="1400" dirty="0"/>
                    </a:p>
                  </a:txBody>
                  <a:tcPr/>
                </a:tc>
              </a:tr>
              <a:tr h="351692">
                <a:tc>
                  <a:txBody>
                    <a:bodyPr/>
                    <a:lstStyle/>
                    <a:p>
                      <a:pPr algn="ctr"/>
                      <a:r>
                        <a:rPr kumimoji="0" lang="en-US" sz="1400" kern="1200" dirty="0" smtClean="0">
                          <a:solidFill>
                            <a:schemeClr val="dk1"/>
                          </a:solidFill>
                          <a:latin typeface="+mn-lt"/>
                          <a:ea typeface="+mn-ea"/>
                          <a:cs typeface="+mn-cs"/>
                        </a:rPr>
                        <a:t>Medicine D </a:t>
                      </a:r>
                      <a:endParaRPr lang="en-IN" sz="1400" dirty="0"/>
                    </a:p>
                  </a:txBody>
                  <a:tcPr/>
                </a:tc>
                <a:tc>
                  <a:txBody>
                    <a:bodyPr/>
                    <a:lstStyle/>
                    <a:p>
                      <a:pPr algn="ctr"/>
                      <a:r>
                        <a:rPr lang="en-US" sz="1400" dirty="0" smtClean="0"/>
                        <a:t>5</a:t>
                      </a:r>
                      <a:endParaRPr lang="en-IN" sz="1400" dirty="0"/>
                    </a:p>
                  </a:txBody>
                  <a:tcPr/>
                </a:tc>
                <a:tc>
                  <a:txBody>
                    <a:bodyPr/>
                    <a:lstStyle/>
                    <a:p>
                      <a:pPr algn="ctr"/>
                      <a:r>
                        <a:rPr lang="en-US" sz="1400" dirty="0" smtClean="0"/>
                        <a:t>4</a:t>
                      </a:r>
                      <a:endParaRPr lang="en-IN" sz="1400" dirty="0"/>
                    </a:p>
                  </a:txBody>
                  <a:tcPr/>
                </a:tc>
                <a:tc>
                  <a:txBody>
                    <a:bodyPr/>
                    <a:lstStyle/>
                    <a:p>
                      <a:pPr algn="ctr"/>
                      <a:r>
                        <a:rPr lang="en-US" sz="1400" dirty="0" smtClean="0"/>
                        <a:t>2</a:t>
                      </a:r>
                      <a:endParaRPr lang="en-IN" sz="1400" dirty="0"/>
                    </a:p>
                  </a:txBody>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noChangeArrowheads="1"/>
          </p:cNvSpPr>
          <p:nvPr>
            <p:ph type="title"/>
          </p:nvPr>
        </p:nvSpPr>
        <p:spPr>
          <a:xfrm>
            <a:off x="304800" y="381000"/>
            <a:ext cx="7439025" cy="442913"/>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Strengths of </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Method</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69634" name="Rectangle 3"/>
          <p:cNvSpPr>
            <a:spLocks noGrp="1"/>
          </p:cNvSpPr>
          <p:nvPr>
            <p:ph sz="quarter" idx="1"/>
          </p:nvPr>
        </p:nvSpPr>
        <p:spPr>
          <a:xfrm>
            <a:off x="914400" y="1143000"/>
            <a:ext cx="7010400" cy="4953000"/>
          </a:xfrm>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US" u="sng" dirty="0"/>
              <a:t>Strength</a:t>
            </a:r>
            <a:r>
              <a:rPr lang="en-US" dirty="0"/>
              <a:t> </a:t>
            </a:r>
            <a:endParaRPr lang="en-US" dirty="0"/>
          </a:p>
          <a:p>
            <a:pPr algn="just">
              <a:buClr>
                <a:schemeClr val="accent1"/>
              </a:buClr>
              <a:buSzPct val="70000"/>
              <a:buFont typeface="Wingdings" panose="05000000000000000000" pitchFamily="2" charset="2"/>
            </a:pPr>
            <a:r>
              <a:rPr lang="en-US" dirty="0"/>
              <a:t>It is sensitive with respect to data ordering</a:t>
            </a:r>
            <a:endParaRPr lang="en-IN" altLang="x-none" dirty="0"/>
          </a:p>
          <a:p>
            <a:pPr algn="just">
              <a:buClr>
                <a:schemeClr val="accent1"/>
              </a:buClr>
              <a:buSzPct val="70000"/>
              <a:buFont typeface="Wingdings" panose="05000000000000000000" pitchFamily="2" charset="2"/>
            </a:pPr>
            <a:r>
              <a:rPr lang="en-US" dirty="0"/>
              <a:t>Easily understood</a:t>
            </a:r>
            <a:endParaRPr lang="en-IN" altLang="x-none" dirty="0"/>
          </a:p>
          <a:p>
            <a:pPr algn="just">
              <a:buClr>
                <a:schemeClr val="accent1"/>
              </a:buClr>
              <a:buSzPct val="70000"/>
              <a:buFont typeface="Wingdings" panose="05000000000000000000" pitchFamily="2" charset="2"/>
            </a:pPr>
            <a:r>
              <a:rPr lang="en-US" dirty="0"/>
              <a:t>k-means is most used method</a:t>
            </a:r>
            <a:endParaRPr lang="en-IN" altLang="x-none" dirty="0"/>
          </a:p>
          <a:p>
            <a:pPr algn="just">
              <a:buClr>
                <a:schemeClr val="accent1"/>
              </a:buClr>
              <a:buSzPct val="70000"/>
              <a:buFont typeface="Wingdings" panose="05000000000000000000" pitchFamily="2" charset="2"/>
            </a:pPr>
            <a:r>
              <a:rPr lang="en-US" i="1" dirty="0"/>
              <a:t>Relatively efficient</a:t>
            </a:r>
            <a:r>
              <a:rPr lang="en-US" dirty="0"/>
              <a:t>: </a:t>
            </a:r>
            <a:r>
              <a:rPr lang="en-US" i="1" dirty="0"/>
              <a:t>O</a:t>
            </a:r>
            <a:r>
              <a:rPr lang="en-US" dirty="0"/>
              <a:t>(</a:t>
            </a:r>
            <a:r>
              <a:rPr lang="en-US" i="1" dirty="0"/>
              <a:t>tkn</a:t>
            </a:r>
            <a:r>
              <a:rPr lang="en-US" dirty="0"/>
              <a:t>), where </a:t>
            </a:r>
            <a:r>
              <a:rPr lang="en-US" i="1" dirty="0"/>
              <a:t>n</a:t>
            </a:r>
            <a:r>
              <a:rPr lang="en-US" dirty="0"/>
              <a:t> is # objects, </a:t>
            </a:r>
            <a:r>
              <a:rPr lang="en-US" i="1" dirty="0"/>
              <a:t>k</a:t>
            </a:r>
            <a:r>
              <a:rPr lang="en-US" dirty="0"/>
              <a:t> is # clusters, and </a:t>
            </a:r>
            <a:r>
              <a:rPr lang="en-US" i="1" dirty="0"/>
              <a:t>t  </a:t>
            </a:r>
            <a:r>
              <a:rPr lang="en-US" dirty="0"/>
              <a:t>is # iterations. Normally, </a:t>
            </a:r>
            <a:r>
              <a:rPr lang="en-US" i="1" dirty="0"/>
              <a:t>k</a:t>
            </a:r>
            <a:r>
              <a:rPr lang="en-US" dirty="0"/>
              <a:t>, </a:t>
            </a:r>
            <a:r>
              <a:rPr lang="en-US" i="1" dirty="0"/>
              <a:t>t</a:t>
            </a:r>
            <a:r>
              <a:rPr lang="en-US" dirty="0"/>
              <a:t> &lt;&lt; </a:t>
            </a:r>
            <a:r>
              <a:rPr lang="en-US" i="1" dirty="0"/>
              <a:t>n</a:t>
            </a:r>
            <a:r>
              <a:rPr lang="en-US" dirty="0"/>
              <a:t>.</a:t>
            </a:r>
            <a:endParaRPr lang="en-US" dirty="0"/>
          </a:p>
          <a:p>
            <a:pPr lvl="1" algn="just" eaLnBrk="1" hangingPunct="1">
              <a:buClr>
                <a:schemeClr val="accent1"/>
              </a:buClr>
              <a:buSzPct val="80000"/>
              <a:buFont typeface="Wingdings 2" panose="05020102010507070707" pitchFamily="18" charset="2"/>
              <a:buNone/>
            </a:pPr>
            <a:endParaRPr lang="en-US" i="1" dirty="0"/>
          </a:p>
        </p:txBody>
      </p:sp>
      <p:sp>
        <p:nvSpPr>
          <p:cNvPr id="69635" name="Date Placeholder 3"/>
          <p:cNvSpPr>
            <a:spLocks noGrp="1"/>
          </p:cNvSpPr>
          <p:nvPr>
            <p:ph type="dt" sz="half" idx="2"/>
          </p:nvPr>
        </p:nvSpPr>
        <p:spPr>
          <a:xfrm rot="5400000">
            <a:off x="7640638" y="811213"/>
            <a:ext cx="2011362"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6963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Content Placeholder 2"/>
          <p:cNvSpPr>
            <a:spLocks noGrp="1"/>
          </p:cNvSpPr>
          <p:nvPr>
            <p:ph sz="quarter" idx="1"/>
          </p:nvPr>
        </p:nvSpPr>
        <p:spPr>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US" sz="2000" u="sng" dirty="0"/>
              <a:t>Weakness</a:t>
            </a:r>
            <a:endParaRPr lang="en-US" sz="2000" dirty="0"/>
          </a:p>
          <a:p>
            <a:pPr lvl="1" algn="just" eaLnBrk="1" hangingPunct="1">
              <a:buClr>
                <a:schemeClr val="accent1"/>
              </a:buClr>
              <a:buSzPct val="80000"/>
              <a:buFont typeface="Wingdings 2" panose="05020102010507070707" pitchFamily="18" charset="2"/>
            </a:pPr>
            <a:r>
              <a:rPr lang="en-US" sz="2000" dirty="0"/>
              <a:t>Applicable only when </a:t>
            </a:r>
            <a:r>
              <a:rPr lang="en-US" sz="2000" i="1" dirty="0"/>
              <a:t>mean</a:t>
            </a:r>
            <a:r>
              <a:rPr lang="en-US" sz="2000" dirty="0"/>
              <a:t> is defined, then what about categorical data?</a:t>
            </a:r>
            <a:endParaRPr lang="en-US" sz="2000" dirty="0"/>
          </a:p>
          <a:p>
            <a:pPr lvl="1" algn="just" eaLnBrk="1" hangingPunct="1">
              <a:buClr>
                <a:schemeClr val="accent1"/>
              </a:buClr>
              <a:buSzPct val="80000"/>
              <a:buFont typeface="Wingdings 2" panose="05020102010507070707" pitchFamily="18" charset="2"/>
            </a:pPr>
            <a:r>
              <a:rPr lang="en-US" sz="2000" dirty="0"/>
              <a:t>Need to specify </a:t>
            </a:r>
            <a:r>
              <a:rPr lang="en-US" sz="2000" i="1" dirty="0"/>
              <a:t>k, </a:t>
            </a:r>
            <a:r>
              <a:rPr lang="en-US" sz="2000" dirty="0"/>
              <a:t>the </a:t>
            </a:r>
            <a:r>
              <a:rPr lang="en-US" sz="2000" i="1" dirty="0"/>
              <a:t>number</a:t>
            </a:r>
            <a:r>
              <a:rPr lang="en-US" sz="2000" dirty="0"/>
              <a:t> of clusters, in advance</a:t>
            </a:r>
            <a:endParaRPr lang="en-US" sz="2000" dirty="0"/>
          </a:p>
          <a:p>
            <a:pPr lvl="1" algn="just" eaLnBrk="1" hangingPunct="1">
              <a:buClr>
                <a:schemeClr val="accent1"/>
              </a:buClr>
              <a:buSzPct val="80000"/>
              <a:buFont typeface="Wingdings 2" panose="05020102010507070707" pitchFamily="18" charset="2"/>
            </a:pPr>
            <a:r>
              <a:rPr lang="en-US" sz="2000" dirty="0"/>
              <a:t>It is not obvious what is a good k to use</a:t>
            </a:r>
            <a:endParaRPr lang="en-IN" altLang="x-none" sz="2000" dirty="0"/>
          </a:p>
          <a:p>
            <a:pPr lvl="1" algn="just" eaLnBrk="1" hangingPunct="1">
              <a:buClr>
                <a:schemeClr val="accent1"/>
              </a:buClr>
              <a:buSzPct val="80000"/>
              <a:buFont typeface="Wingdings 2" panose="05020102010507070707" pitchFamily="18" charset="2"/>
            </a:pPr>
            <a:r>
              <a:rPr lang="en-US" sz="2000" dirty="0"/>
              <a:t>The process is sensitive with respect to outliers</a:t>
            </a:r>
            <a:endParaRPr lang="en-IN" altLang="x-none" sz="2000" dirty="0"/>
          </a:p>
          <a:p>
            <a:pPr lvl="1" algn="just" eaLnBrk="1" hangingPunct="1">
              <a:buClr>
                <a:schemeClr val="accent1"/>
              </a:buClr>
              <a:buSzPct val="80000"/>
              <a:buFont typeface="Wingdings 2" panose="05020102010507070707" pitchFamily="18" charset="2"/>
            </a:pPr>
            <a:r>
              <a:rPr lang="en-US" sz="2000" dirty="0"/>
              <a:t>The algorithm lacks scalability</a:t>
            </a:r>
            <a:endParaRPr lang="en-IN" altLang="x-none" sz="2000" dirty="0"/>
          </a:p>
          <a:p>
            <a:pPr lvl="1" algn="just" eaLnBrk="1" hangingPunct="1">
              <a:buClr>
                <a:schemeClr val="accent1"/>
              </a:buClr>
              <a:buSzPct val="80000"/>
              <a:buFont typeface="Wingdings 2" panose="05020102010507070707" pitchFamily="18" charset="2"/>
            </a:pPr>
            <a:r>
              <a:rPr lang="en-US" sz="2000" dirty="0"/>
              <a:t>Only numerical attributes are covered</a:t>
            </a:r>
            <a:endParaRPr lang="en-IN" altLang="x-none" sz="2000" dirty="0"/>
          </a:p>
          <a:p>
            <a:pPr lvl="1" algn="just" eaLnBrk="1" hangingPunct="1">
              <a:buClr>
                <a:schemeClr val="accent1"/>
              </a:buClr>
              <a:buSzPct val="80000"/>
              <a:buFont typeface="Wingdings 2" panose="05020102010507070707" pitchFamily="18" charset="2"/>
            </a:pPr>
            <a:r>
              <a:rPr lang="en-US" sz="2000" dirty="0"/>
              <a:t>Resulting clusters can be unbalanced </a:t>
            </a:r>
            <a:endParaRPr lang="en-IN" altLang="x-none" sz="2000" dirty="0"/>
          </a:p>
          <a:p>
            <a:pPr lvl="1" algn="just" eaLnBrk="1" hangingPunct="1">
              <a:buClr>
                <a:schemeClr val="accent1"/>
              </a:buClr>
              <a:buSzPct val="80000"/>
              <a:buFont typeface="Wingdings 2" panose="05020102010507070707" pitchFamily="18" charset="2"/>
            </a:pPr>
            <a:r>
              <a:rPr lang="en-US" sz="2000" dirty="0"/>
              <a:t>Unable to handle noisy data and outliers</a:t>
            </a:r>
            <a:endParaRPr lang="en-US" sz="2000" dirty="0"/>
          </a:p>
          <a:p>
            <a:pPr lvl="1" algn="just" eaLnBrk="1" hangingPunct="1">
              <a:buClr>
                <a:schemeClr val="accent1"/>
              </a:buClr>
              <a:buSzPct val="80000"/>
              <a:buFont typeface="Wingdings 2" panose="05020102010507070707" pitchFamily="18" charset="2"/>
            </a:pPr>
            <a:r>
              <a:rPr lang="en-US" sz="2000" dirty="0"/>
              <a:t>Not suitable to discover clusters with non-convex shapes</a:t>
            </a:r>
            <a:endParaRPr lang="en-US" sz="2000" dirty="0"/>
          </a:p>
          <a:p>
            <a:pPr lvl="1" algn="just" eaLnBrk="1" hangingPunct="1">
              <a:buClr>
                <a:schemeClr val="accent1"/>
              </a:buClr>
              <a:buSzPct val="80000"/>
              <a:buFont typeface="Wingdings 2" panose="05020102010507070707" pitchFamily="18" charset="2"/>
            </a:pPr>
            <a:r>
              <a:rPr lang="en-US" sz="2000" dirty="0"/>
              <a:t>The result strongly depends on the initial guess of centroids (or assignments)</a:t>
            </a:r>
            <a:endParaRPr lang="en-IN" altLang="x-none" sz="2000" dirty="0"/>
          </a:p>
          <a:p>
            <a:pPr algn="just">
              <a:buClr>
                <a:schemeClr val="accent1"/>
              </a:buClr>
              <a:buSzPct val="70000"/>
              <a:buFont typeface="Wingdings" panose="05000000000000000000" pitchFamily="2" charset="2"/>
            </a:pPr>
            <a:endParaRPr lang="en-IN" altLang="x-none" sz="2000" dirty="0"/>
          </a:p>
        </p:txBody>
      </p:sp>
      <p:sp>
        <p:nvSpPr>
          <p:cNvPr id="70658"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0659"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381000"/>
            <a:ext cx="7467600" cy="731838"/>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Weaknesses  of </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Method</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lang="en-US" b="1" dirty="0"/>
              <a:t>Complexity: </a:t>
            </a:r>
            <a:endParaRPr lang="en-IN" altLang="x-none" b="1" dirty="0"/>
          </a:p>
          <a:p>
            <a:pPr lvl="1">
              <a:buClr>
                <a:schemeClr val="accent1"/>
              </a:buClr>
              <a:buSzPct val="80000"/>
              <a:buFont typeface="Wingdings 2" panose="05020102010507070707" pitchFamily="18" charset="2"/>
            </a:pPr>
            <a:r>
              <a:rPr lang="en-US" dirty="0"/>
              <a:t>K-Means: </a:t>
            </a:r>
            <a:r>
              <a:rPr lang="en-US" i="1" dirty="0"/>
              <a:t>O(kn) </a:t>
            </a:r>
            <a:r>
              <a:rPr lang="en-US" dirty="0"/>
              <a:t>per iteration</a:t>
            </a:r>
            <a:endParaRPr lang="en-IN" altLang="x-none" dirty="0"/>
          </a:p>
          <a:p>
            <a:pPr>
              <a:buClr>
                <a:schemeClr val="accent1"/>
              </a:buClr>
              <a:buSzPct val="70000"/>
              <a:buFont typeface="Wingdings" panose="05000000000000000000" pitchFamily="2" charset="2"/>
              <a:buNone/>
            </a:pPr>
            <a:endParaRPr lang="en-IN" altLang="x-none" dirty="0"/>
          </a:p>
          <a:p>
            <a:pPr>
              <a:buClr>
                <a:schemeClr val="accent1"/>
              </a:buClr>
              <a:buSzPct val="70000"/>
              <a:buFont typeface="Wingdings" panose="05000000000000000000" pitchFamily="2" charset="2"/>
            </a:pPr>
            <a:r>
              <a:rPr lang="en-US" b="1" dirty="0"/>
              <a:t>Uses: </a:t>
            </a:r>
            <a:endParaRPr lang="en-IN" altLang="x-none" b="1" dirty="0"/>
          </a:p>
          <a:p>
            <a:pPr lvl="1">
              <a:buClr>
                <a:schemeClr val="accent1"/>
              </a:buClr>
              <a:buSzPct val="80000"/>
              <a:buFont typeface="Wingdings 2" panose="05020102010507070707" pitchFamily="18" charset="2"/>
            </a:pPr>
            <a:r>
              <a:rPr lang="en-US" dirty="0"/>
              <a:t>All data sizes,</a:t>
            </a:r>
            <a:endParaRPr lang="en-IN" altLang="x-none" dirty="0"/>
          </a:p>
          <a:p>
            <a:pPr lvl="1">
              <a:buClr>
                <a:schemeClr val="accent1"/>
              </a:buClr>
              <a:buSzPct val="80000"/>
              <a:buFont typeface="Wingdings 2" panose="05020102010507070707" pitchFamily="18" charset="2"/>
            </a:pPr>
            <a:r>
              <a:rPr lang="en-US" dirty="0"/>
              <a:t>Best with well separated clusters</a:t>
            </a:r>
            <a:endParaRPr lang="en-IN" altLang="x-none" dirty="0"/>
          </a:p>
          <a:p>
            <a:pPr>
              <a:buClr>
                <a:schemeClr val="accent1"/>
              </a:buClr>
              <a:buSzPct val="70000"/>
              <a:buFont typeface="Wingdings" panose="05000000000000000000" pitchFamily="2" charset="2"/>
            </a:pPr>
            <a:endParaRPr lang="en-IN" altLang="x-none" dirty="0"/>
          </a:p>
          <a:p>
            <a:pPr>
              <a:buClr>
                <a:schemeClr val="accent1"/>
              </a:buClr>
              <a:buSzPct val="70000"/>
              <a:buFont typeface="Wingdings" panose="05000000000000000000" pitchFamily="2" charset="2"/>
            </a:pPr>
            <a:r>
              <a:rPr lang="en-US" b="1" dirty="0"/>
              <a:t>Examples: </a:t>
            </a:r>
            <a:endParaRPr lang="en-US" b="1" dirty="0"/>
          </a:p>
          <a:p>
            <a:pPr>
              <a:buClr>
                <a:schemeClr val="accent1"/>
              </a:buClr>
              <a:buSzPct val="70000"/>
              <a:buFont typeface="Wingdings" panose="05000000000000000000" pitchFamily="2" charset="2"/>
              <a:buNone/>
            </a:pPr>
            <a:r>
              <a:rPr lang="en-US" b="1" dirty="0"/>
              <a:t>		</a:t>
            </a:r>
            <a:r>
              <a:rPr lang="en-US" dirty="0"/>
              <a:t>PAM, CLARA, CLARANS, HMETIS, BAG</a:t>
            </a:r>
            <a:endParaRPr lang="en-IN" altLang="x-none" dirty="0"/>
          </a:p>
          <a:p>
            <a:pPr>
              <a:buClr>
                <a:schemeClr val="accent1"/>
              </a:buClr>
              <a:buSzPct val="70000"/>
              <a:buFont typeface="Wingdings" panose="05000000000000000000" pitchFamily="2" charset="2"/>
            </a:pPr>
            <a:endParaRPr lang="en-IN" altLang="x-none" dirty="0"/>
          </a:p>
          <a:p>
            <a:pPr>
              <a:buClr>
                <a:schemeClr val="accent1"/>
              </a:buClr>
              <a:buSzPct val="70000"/>
              <a:buFont typeface="Wingdings" panose="05000000000000000000" pitchFamily="2" charset="2"/>
            </a:pPr>
            <a:endParaRPr lang="en-IN" altLang="x-none" dirty="0"/>
          </a:p>
        </p:txBody>
      </p:sp>
      <p:sp>
        <p:nvSpPr>
          <p:cNvPr id="71682"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1683"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304800"/>
            <a:ext cx="7467600" cy="579438"/>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Comments on </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Method</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noChangeArrowheads="1"/>
          </p:cNvSpPr>
          <p:nvPr>
            <p:ph type="title"/>
          </p:nvPr>
        </p:nvSpPr>
        <p:spPr>
          <a:xfrm>
            <a:off x="304800" y="381000"/>
            <a:ext cx="7510463" cy="4984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Variations of the </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K-Means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Method</a:t>
            </a:r>
            <a:endParaRPr kumimoji="0" lang="en-US" sz="2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72706"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2707"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3"/>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lang="en-US" b="1" dirty="0"/>
              <a:t>K-medoids</a:t>
            </a:r>
            <a:r>
              <a:rPr lang="en-US" dirty="0"/>
              <a:t> – instead of mean, use medians of each cluster</a:t>
            </a:r>
            <a:endParaRPr lang="en-US" dirty="0"/>
          </a:p>
          <a:p>
            <a:pPr lvl="1">
              <a:buClr>
                <a:schemeClr val="accent1"/>
              </a:buClr>
              <a:buSzPct val="80000"/>
              <a:buFont typeface="Wingdings 2" panose="05020102010507070707" pitchFamily="18" charset="2"/>
            </a:pPr>
            <a:r>
              <a:rPr lang="en-US" dirty="0"/>
              <a:t>Mean of 1, 3, 5, 7, 9 is </a:t>
            </a:r>
            <a:endParaRPr lang="en-US" dirty="0"/>
          </a:p>
          <a:p>
            <a:pPr lvl="1">
              <a:buClr>
                <a:schemeClr val="accent1"/>
              </a:buClr>
              <a:buSzPct val="80000"/>
              <a:buFont typeface="Wingdings 2" panose="05020102010507070707" pitchFamily="18" charset="2"/>
            </a:pPr>
            <a:r>
              <a:rPr lang="en-US" dirty="0"/>
              <a:t>Mean of 1, 3, 5, 7, 1009 is</a:t>
            </a:r>
            <a:endParaRPr lang="en-US" dirty="0"/>
          </a:p>
          <a:p>
            <a:pPr lvl="1">
              <a:buClr>
                <a:schemeClr val="accent1"/>
              </a:buClr>
              <a:buSzPct val="80000"/>
              <a:buFont typeface="Wingdings 2" panose="05020102010507070707" pitchFamily="18" charset="2"/>
            </a:pPr>
            <a:r>
              <a:rPr lang="en-US" dirty="0"/>
              <a:t>Median of 1, 3, 5, 7, 1009 is </a:t>
            </a:r>
            <a:endParaRPr lang="en-US" dirty="0"/>
          </a:p>
          <a:p>
            <a:pPr lvl="1">
              <a:buClr>
                <a:schemeClr val="accent1"/>
              </a:buClr>
              <a:buSzPct val="80000"/>
              <a:buFont typeface="Wingdings 2" panose="05020102010507070707" pitchFamily="18" charset="2"/>
            </a:pPr>
            <a:r>
              <a:rPr lang="en-US" dirty="0"/>
              <a:t>Median advantage: not affected by extreme values</a:t>
            </a:r>
            <a:endParaRPr lang="en-US" dirty="0"/>
          </a:p>
          <a:p>
            <a:pPr>
              <a:buClr>
                <a:schemeClr val="accent1"/>
              </a:buClr>
              <a:buSzPct val="70000"/>
              <a:buFont typeface="Wingdings" panose="05000000000000000000" pitchFamily="2" charset="2"/>
            </a:pPr>
            <a:r>
              <a:rPr lang="en-US" dirty="0"/>
              <a:t>For large databases, use sampling</a:t>
            </a:r>
            <a:endParaRPr lang="en-US" dirty="0"/>
          </a:p>
          <a:p>
            <a:pPr>
              <a:buClr>
                <a:schemeClr val="accent1"/>
              </a:buClr>
              <a:buSzPct val="70000"/>
              <a:buFont typeface="Wingdings" panose="05000000000000000000" pitchFamily="2" charset="2"/>
              <a:buNone/>
            </a:pPr>
            <a:endParaRPr lang="en-US" dirty="0"/>
          </a:p>
        </p:txBody>
      </p:sp>
      <p:sp>
        <p:nvSpPr>
          <p:cNvPr id="8" name="Text Box 4"/>
          <p:cNvSpPr txBox="1"/>
          <p:nvPr/>
        </p:nvSpPr>
        <p:spPr>
          <a:xfrm>
            <a:off x="4114800" y="2362200"/>
            <a:ext cx="331788" cy="369888"/>
          </a:xfrm>
          <a:prstGeom prst="rect">
            <a:avLst/>
          </a:prstGeom>
          <a:solidFill>
            <a:schemeClr val="tx2"/>
          </a:solidFill>
          <a:ln w="9525">
            <a:noFill/>
          </a:ln>
        </p:spPr>
        <p:txBody>
          <a:bodyPr wrap="none" anchor="t" anchorCtr="0">
            <a:spAutoFit/>
          </a:bodyPr>
          <a:p>
            <a:r>
              <a:rPr lang="en-US" sz="1800" b="1" dirty="0">
                <a:solidFill>
                  <a:srgbClr val="FFFF00"/>
                </a:solidFill>
                <a:latin typeface="Tahoma" panose="020B0604030504040204" pitchFamily="34" charset="0"/>
              </a:rPr>
              <a:t>5</a:t>
            </a:r>
            <a:endParaRPr lang="en-US" sz="1800" b="1" dirty="0">
              <a:solidFill>
                <a:srgbClr val="FFFF00"/>
              </a:solidFill>
              <a:latin typeface="Tahoma" panose="020B0604030504040204" pitchFamily="34" charset="0"/>
            </a:endParaRPr>
          </a:p>
        </p:txBody>
      </p:sp>
      <p:sp>
        <p:nvSpPr>
          <p:cNvPr id="9" name="Text Box 5"/>
          <p:cNvSpPr txBox="1"/>
          <p:nvPr/>
        </p:nvSpPr>
        <p:spPr>
          <a:xfrm>
            <a:off x="4572000" y="2819400"/>
            <a:ext cx="627063" cy="369888"/>
          </a:xfrm>
          <a:prstGeom prst="rect">
            <a:avLst/>
          </a:prstGeom>
          <a:solidFill>
            <a:schemeClr val="tx2"/>
          </a:solidFill>
          <a:ln w="9525">
            <a:noFill/>
          </a:ln>
        </p:spPr>
        <p:txBody>
          <a:bodyPr wrap="none" anchor="t" anchorCtr="0">
            <a:spAutoFit/>
          </a:bodyPr>
          <a:p>
            <a:r>
              <a:rPr lang="en-US" sz="1800" b="1" dirty="0">
                <a:solidFill>
                  <a:srgbClr val="FFFF00"/>
                </a:solidFill>
                <a:latin typeface="Tahoma" panose="020B0604030504040204" pitchFamily="34" charset="0"/>
              </a:rPr>
              <a:t>205</a:t>
            </a:r>
            <a:endParaRPr lang="en-US" sz="1800" b="1" dirty="0">
              <a:solidFill>
                <a:srgbClr val="FFFF00"/>
              </a:solidFill>
              <a:latin typeface="Tahoma" panose="020B0604030504040204" pitchFamily="34" charset="0"/>
            </a:endParaRPr>
          </a:p>
        </p:txBody>
      </p:sp>
      <p:sp>
        <p:nvSpPr>
          <p:cNvPr id="10" name="Text Box 6"/>
          <p:cNvSpPr txBox="1"/>
          <p:nvPr/>
        </p:nvSpPr>
        <p:spPr>
          <a:xfrm>
            <a:off x="4953000" y="3276600"/>
            <a:ext cx="331788" cy="369888"/>
          </a:xfrm>
          <a:prstGeom prst="rect">
            <a:avLst/>
          </a:prstGeom>
          <a:solidFill>
            <a:schemeClr val="tx2"/>
          </a:solidFill>
          <a:ln w="9525">
            <a:noFill/>
          </a:ln>
        </p:spPr>
        <p:txBody>
          <a:bodyPr wrap="none" anchor="t" anchorCtr="0">
            <a:spAutoFit/>
          </a:bodyPr>
          <a:p>
            <a:r>
              <a:rPr lang="en-US" sz="1800" b="1" dirty="0">
                <a:solidFill>
                  <a:srgbClr val="FFFF00"/>
                </a:solidFill>
                <a:latin typeface="Tahoma" panose="020B0604030504040204" pitchFamily="34" charset="0"/>
              </a:rPr>
              <a:t>5</a:t>
            </a:r>
            <a:endParaRPr lang="en-US" sz="1800" b="1" dirty="0">
              <a:solidFill>
                <a:srgbClr val="FFFF00"/>
              </a:solidFill>
              <a:latin typeface="Tahoma" panose="020B0604030504040204" pitchFamily="34" charset="0"/>
            </a:endParaRPr>
          </a:p>
        </p:txBody>
      </p:sp>
    </p:spTree>
  </p:cSld>
  <p:clrMapOvr>
    <a:masterClrMapping/>
  </p:clrMapOvr>
  <p:transition advClick="0">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charRg st="142" end="191"/>
                                            </p:txEl>
                                          </p:spTgt>
                                        </p:tgtEl>
                                        <p:attrNameLst>
                                          <p:attrName>style.visibility</p:attrName>
                                        </p:attrNameLst>
                                      </p:cBhvr>
                                      <p:to>
                                        <p:strVal val="visible"/>
                                      </p:to>
                                    </p:set>
                                    <p:animEffect transition="in" filter="blinds(horizontal)">
                                      <p:cBhvr>
                                        <p:cTn id="7" dur="500"/>
                                        <p:tgtEl>
                                          <p:spTgt spid="7">
                                            <p:txEl>
                                              <p:charRg st="142" end="19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charRg st="191" end="225"/>
                                            </p:txEl>
                                          </p:spTgt>
                                        </p:tgtEl>
                                        <p:attrNameLst>
                                          <p:attrName>style.visibility</p:attrName>
                                        </p:attrNameLst>
                                      </p:cBhvr>
                                      <p:to>
                                        <p:strVal val="visible"/>
                                      </p:to>
                                    </p:set>
                                    <p:animEffect transition="in" filter="blinds(horizontal)">
                                      <p:cBhvr>
                                        <p:cTn id="12" dur="500"/>
                                        <p:tgtEl>
                                          <p:spTgt spid="7">
                                            <p:txEl>
                                              <p:charRg st="191" end="2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ChangeArrowheads="1"/>
          </p:cNvSpPr>
          <p:nvPr>
            <p:ph type="title"/>
          </p:nvPr>
        </p:nvSpPr>
        <p:spPr>
          <a:xfrm>
            <a:off x="228600" y="457200"/>
            <a:ext cx="7721600" cy="442913"/>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The</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K</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a:t>
            </a:r>
            <a:r>
              <a:rPr kumimoji="0" lang="en-US" sz="3200" b="1" i="1" u="none" strike="noStrike" kern="1200" cap="small" spc="0" normalizeH="0" baseline="0" noProof="0" dirty="0" err="1"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Medoids</a:t>
            </a: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Clustering Method</a:t>
            </a:r>
            <a:endPar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73730" name="Rectangle 3"/>
          <p:cNvSpPr>
            <a:spLocks noGrp="1"/>
          </p:cNvSpPr>
          <p:nvPr>
            <p:ph sz="quarter" idx="1"/>
          </p:nvPr>
        </p:nvSpPr>
        <p:spPr>
          <a:xfrm>
            <a:off x="533400" y="1143000"/>
            <a:ext cx="7391400" cy="5257800"/>
          </a:xfrm>
          <a:ln/>
        </p:spPr>
        <p:txBody>
          <a:bodyPr vert="horz" wrap="square" lIns="91440" tIns="45720" rIns="91440" bIns="45720" anchor="t" anchorCtr="0"/>
          <a:p>
            <a:pPr algn="just" eaLnBrk="1" hangingPunct="1">
              <a:lnSpc>
                <a:spcPct val="110000"/>
              </a:lnSpc>
              <a:buClr>
                <a:schemeClr val="accent1"/>
              </a:buClr>
              <a:buSzPct val="70000"/>
              <a:buFont typeface="Wingdings" panose="05000000000000000000" pitchFamily="2" charset="2"/>
            </a:pPr>
            <a:r>
              <a:rPr lang="en-US" dirty="0"/>
              <a:t>Find </a:t>
            </a:r>
            <a:r>
              <a:rPr lang="en-US" i="1" dirty="0"/>
              <a:t>representative</a:t>
            </a:r>
            <a:r>
              <a:rPr lang="en-US" dirty="0"/>
              <a:t> objects, called </a:t>
            </a:r>
            <a:r>
              <a:rPr lang="en-US" u="sng" dirty="0"/>
              <a:t>medoids</a:t>
            </a:r>
            <a:r>
              <a:rPr lang="en-US" dirty="0"/>
              <a:t>, in clusters</a:t>
            </a:r>
            <a:endParaRPr lang="en-US" dirty="0"/>
          </a:p>
          <a:p>
            <a:pPr algn="just" eaLnBrk="1" hangingPunct="1">
              <a:lnSpc>
                <a:spcPct val="110000"/>
              </a:lnSpc>
              <a:buClr>
                <a:schemeClr val="accent1"/>
              </a:buClr>
              <a:buSzPct val="70000"/>
              <a:buFont typeface="Wingdings" panose="05000000000000000000" pitchFamily="2" charset="2"/>
            </a:pPr>
            <a:r>
              <a:rPr lang="en-US" i="1" dirty="0"/>
              <a:t>PAM</a:t>
            </a:r>
            <a:r>
              <a:rPr lang="en-US" dirty="0"/>
              <a:t> (Partitioning Around Medoids, 1987)</a:t>
            </a:r>
            <a:endParaRPr lang="en-US" dirty="0"/>
          </a:p>
          <a:p>
            <a:pPr lvl="1" algn="just" eaLnBrk="1" hangingPunct="1">
              <a:lnSpc>
                <a:spcPct val="110000"/>
              </a:lnSpc>
              <a:buClr>
                <a:schemeClr val="accent1"/>
              </a:buClr>
              <a:buSzPct val="80000"/>
              <a:buFont typeface="Wingdings 2" panose="05020102010507070707" pitchFamily="18" charset="2"/>
            </a:pPr>
            <a:r>
              <a:rPr lang="en-US" dirty="0"/>
              <a:t>Starts from an initial set of medoids and iteratively replaces one of the medoids by one of the non-medoids if it improves the total distance of the resulting clustering</a:t>
            </a:r>
            <a:endParaRPr lang="en-US" dirty="0"/>
          </a:p>
          <a:p>
            <a:pPr lvl="1" algn="just" eaLnBrk="1" hangingPunct="1">
              <a:lnSpc>
                <a:spcPct val="110000"/>
              </a:lnSpc>
              <a:buClr>
                <a:schemeClr val="accent1"/>
              </a:buClr>
              <a:buSzPct val="80000"/>
              <a:buFont typeface="Wingdings 2" panose="05020102010507070707" pitchFamily="18" charset="2"/>
            </a:pPr>
            <a:r>
              <a:rPr lang="en-US" i="1" dirty="0"/>
              <a:t>PAM</a:t>
            </a:r>
            <a:r>
              <a:rPr lang="en-US" dirty="0"/>
              <a:t> works effectively for small data sets, but does not scale well for large data sets</a:t>
            </a:r>
            <a:endParaRPr lang="en-US" dirty="0"/>
          </a:p>
          <a:p>
            <a:pPr algn="just" eaLnBrk="1" hangingPunct="1">
              <a:lnSpc>
                <a:spcPct val="110000"/>
              </a:lnSpc>
              <a:buClr>
                <a:schemeClr val="accent1"/>
              </a:buClr>
              <a:buSzPct val="70000"/>
              <a:buFont typeface="Wingdings" panose="05000000000000000000" pitchFamily="2" charset="2"/>
            </a:pPr>
            <a:r>
              <a:rPr lang="en-US" i="1" dirty="0"/>
              <a:t>CLARA</a:t>
            </a:r>
            <a:r>
              <a:rPr lang="en-US" dirty="0"/>
              <a:t> (Kaufmann &amp; Rousseeuw, 1990)</a:t>
            </a:r>
            <a:endParaRPr lang="en-US" dirty="0"/>
          </a:p>
          <a:p>
            <a:pPr algn="just" eaLnBrk="1" hangingPunct="1">
              <a:lnSpc>
                <a:spcPct val="110000"/>
              </a:lnSpc>
              <a:buClr>
                <a:schemeClr val="accent1"/>
              </a:buClr>
              <a:buSzPct val="70000"/>
              <a:buFont typeface="Wingdings" panose="05000000000000000000" pitchFamily="2" charset="2"/>
            </a:pPr>
            <a:r>
              <a:rPr lang="en-US" i="1" dirty="0"/>
              <a:t>CLARANS</a:t>
            </a:r>
            <a:r>
              <a:rPr lang="en-US" dirty="0"/>
              <a:t> (Ng &amp; Han, 1994): Randomized sampling</a:t>
            </a:r>
            <a:endParaRPr lang="en-US" dirty="0"/>
          </a:p>
        </p:txBody>
      </p:sp>
      <p:sp>
        <p:nvSpPr>
          <p:cNvPr id="7373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373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475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74755" name="Picture 2"/>
          <p:cNvPicPr>
            <a:picLocks noGrp="1" noChangeAspect="1"/>
          </p:cNvPicPr>
          <p:nvPr>
            <p:ph sz="quarter" idx="1"/>
          </p:nvPr>
        </p:nvPicPr>
        <p:blipFill>
          <a:blip r:embed="rId1"/>
          <a:stretch>
            <a:fillRect/>
          </a:stretch>
        </p:blipFill>
        <p:spPr>
          <a:xfrm>
            <a:off x="990600" y="1752600"/>
            <a:ext cx="6858000" cy="3962400"/>
          </a:xfrm>
          <a:ln/>
        </p:spPr>
      </p:pic>
      <p:sp>
        <p:nvSpPr>
          <p:cNvPr id="8" name="Text Box 3"/>
          <p:cNvSpPr txBox="1">
            <a:spLocks noGrp="1" noChangeArrowheads="1"/>
          </p:cNvSpPr>
          <p:nvPr>
            <p:ph type="title"/>
          </p:nvPr>
        </p:nvSpPr>
        <p:spPr bwMode="auto">
          <a:xfrm>
            <a:off x="381000" y="381000"/>
            <a:ext cx="7467600" cy="769938"/>
          </a:xfrm>
          <a:ln>
            <a:noFill/>
            <a:miter lim="800000"/>
          </a:ln>
        </p:spPr>
        <p:txBody>
          <a:bodyPr vert="horz" wrap="square" anchor="b">
            <a:spAutoFit/>
          </a:bodyPr>
          <a:lstStyle/>
          <a:p>
            <a:pPr marL="0" marR="0" lvl="0" indent="0" algn="l" defTabSz="914400" rtl="0" eaLnBrk="0" fontAlgn="base" latinLnBrk="0" hangingPunct="0">
              <a:lnSpc>
                <a:spcPct val="100000"/>
              </a:lnSpc>
              <a:spcBef>
                <a:spcPct val="50000"/>
              </a:spcBef>
              <a:spcAft>
                <a:spcPct val="0"/>
              </a:spcAft>
              <a:buClr>
                <a:schemeClr val="folHlink"/>
              </a:buClr>
              <a:buSzPct val="75000"/>
              <a:buFont typeface="Wingdings" panose="05000000000000000000" pitchFamily="2" charset="2"/>
              <a:buNone/>
              <a:defRPr/>
            </a:pPr>
            <a:r>
              <a:rPr kumimoji="1" lang="en-US" sz="44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Tahoma" panose="020B0604030504040204" pitchFamily="34" charset="0"/>
                <a:ea typeface="+mj-ea"/>
                <a:cs typeface="+mj-cs"/>
              </a:rPr>
              <a:t>K-</a:t>
            </a:r>
            <a:r>
              <a:rPr kumimoji="1" lang="en-US" sz="4400" b="1" i="0" u="none" strike="noStrike" kern="1200" cap="small" spc="0" normalizeH="0" baseline="0" noProof="0" dirty="0" err="1">
                <a:ln>
                  <a:noFill/>
                </a:ln>
                <a:solidFill>
                  <a:schemeClr val="accent4">
                    <a:lumMod val="60000"/>
                    <a:lumOff val="40000"/>
                  </a:schemeClr>
                </a:solidFill>
                <a:effectLst>
                  <a:outerShdw blurRad="38100" dist="38100" dir="2700000" algn="tl">
                    <a:srgbClr val="000000">
                      <a:alpha val="43137"/>
                    </a:srgbClr>
                  </a:outerShdw>
                </a:effectLst>
                <a:uLnTx/>
                <a:uFillTx/>
                <a:latin typeface="Tahoma" panose="020B0604030504040204" pitchFamily="34" charset="0"/>
                <a:ea typeface="+mj-ea"/>
                <a:cs typeface="+mj-cs"/>
              </a:rPr>
              <a:t>medoids</a:t>
            </a:r>
            <a:endParaRPr kumimoji="1" lang="en-US" sz="44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Tahoma" panose="020B0604030504040204" pitchFamily="34" charset="0"/>
              <a:ea typeface="+mj-ea"/>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577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txBox="1">
            <a:spLocks noChangeArrowheads="1"/>
          </p:cNvSpPr>
          <p:nvPr/>
        </p:nvSpPr>
        <p:spPr>
          <a:xfrm>
            <a:off x="304800" y="381000"/>
            <a:ext cx="8077200" cy="874713"/>
          </a:xfrm>
          <a:prstGeom prst="rect">
            <a:avLst/>
          </a:prstGeom>
        </p:spPr>
        <p:txBody>
          <a:bodyPr anchor="b">
            <a:normAutofit fontScale="85000" lnSpcReduction="10000"/>
          </a:bodyPr>
          <a:lstStyle/>
          <a:p>
            <a:pPr marR="0" defTabSz="914400">
              <a:buClrTx/>
              <a:buSzTx/>
              <a:buFontTx/>
              <a:buNone/>
              <a:defRPr/>
            </a:pPr>
            <a:r>
              <a:rPr kumimoji="0" lang="en-US" sz="3600" b="1" kern="1200" cap="small" spc="0" normalizeH="0" baseline="0" noProof="0" dirty="0">
                <a:solidFill>
                  <a:schemeClr val="accent4">
                    <a:lumMod val="60000"/>
                    <a:lumOff val="40000"/>
                  </a:schemeClr>
                </a:solidFill>
                <a:effectLst>
                  <a:outerShdw blurRad="38100" dist="38100" dir="2700000" algn="tl">
                    <a:srgbClr val="000000">
                      <a:alpha val="43137"/>
                    </a:srgbClr>
                  </a:outerShdw>
                </a:effectLst>
                <a:latin typeface="+mj-lt"/>
                <a:ea typeface="+mj-ea"/>
                <a:cs typeface="+mj-cs"/>
              </a:rPr>
              <a:t>PAM (Partitioning Around </a:t>
            </a:r>
            <a:r>
              <a:rPr kumimoji="0" lang="en-US" sz="3600" b="1" kern="1200" cap="small" spc="0" normalizeH="0" baseline="0" noProof="0" dirty="0" err="1">
                <a:solidFill>
                  <a:schemeClr val="accent4">
                    <a:lumMod val="60000"/>
                    <a:lumOff val="40000"/>
                  </a:schemeClr>
                </a:solidFill>
                <a:effectLst>
                  <a:outerShdw blurRad="38100" dist="38100" dir="2700000" algn="tl">
                    <a:srgbClr val="000000">
                      <a:alpha val="43137"/>
                    </a:srgbClr>
                  </a:outerShdw>
                </a:effectLst>
                <a:latin typeface="+mj-lt"/>
                <a:ea typeface="+mj-ea"/>
                <a:cs typeface="+mj-cs"/>
              </a:rPr>
              <a:t>Medoids</a:t>
            </a:r>
            <a:r>
              <a:rPr kumimoji="0" lang="en-US" sz="3600" b="1" kern="1200" cap="small" spc="0" normalizeH="0" baseline="0" noProof="0" dirty="0">
                <a:solidFill>
                  <a:schemeClr val="accent4">
                    <a:lumMod val="60000"/>
                    <a:lumOff val="40000"/>
                  </a:schemeClr>
                </a:solidFill>
                <a:effectLst>
                  <a:outerShdw blurRad="38100" dist="38100" dir="2700000" algn="tl">
                    <a:srgbClr val="000000">
                      <a:alpha val="43137"/>
                    </a:srgbClr>
                  </a:outerShdw>
                </a:effectLst>
                <a:latin typeface="+mj-lt"/>
                <a:ea typeface="+mj-ea"/>
                <a:cs typeface="+mj-cs"/>
              </a:rPr>
              <a:t>)</a:t>
            </a:r>
            <a:endParaRPr kumimoji="0" lang="en-US" sz="3600" b="1" kern="1200" cap="small" spc="0" normalizeH="0" baseline="0" noProof="0" dirty="0">
              <a:solidFill>
                <a:schemeClr val="accent4">
                  <a:lumMod val="60000"/>
                  <a:lumOff val="40000"/>
                </a:schemeClr>
              </a:solidFill>
              <a:effectLst>
                <a:outerShdw blurRad="38100" dist="38100" dir="2700000" algn="tl">
                  <a:srgbClr val="000000">
                    <a:alpha val="43137"/>
                  </a:srgbClr>
                </a:outerShdw>
              </a:effectLst>
              <a:latin typeface="+mj-lt"/>
              <a:ea typeface="+mj-ea"/>
              <a:cs typeface="+mj-cs"/>
            </a:endParaRPr>
          </a:p>
        </p:txBody>
      </p:sp>
      <p:sp>
        <p:nvSpPr>
          <p:cNvPr id="8" name="Rectangle 3"/>
          <p:cNvSpPr txBox="1">
            <a:spLocks noChangeArrowheads="1"/>
          </p:cNvSpPr>
          <p:nvPr/>
        </p:nvSpPr>
        <p:spPr bwMode="auto">
          <a:xfrm>
            <a:off x="685800" y="1676400"/>
            <a:ext cx="7315200" cy="4454525"/>
          </a:xfrm>
          <a:prstGeom prst="rect">
            <a:avLst/>
          </a:prstGeom>
          <a:noFill/>
          <a:ln w="9525">
            <a:noFill/>
            <a:miter lim="800000"/>
          </a:ln>
        </p:spPr>
        <p:txBody>
          <a:bodyPr/>
          <a:lstStyle/>
          <a:p>
            <a:pPr marL="273050" marR="0" indent="-273050" algn="just" defTabSz="914400">
              <a:spcBef>
                <a:spcPts val="600"/>
              </a:spcBef>
              <a:buClr>
                <a:schemeClr val="accent1"/>
              </a:buClr>
              <a:buSzPct val="70000"/>
              <a:buFontTx/>
              <a:buNone/>
              <a:defRPr/>
            </a:pPr>
            <a:r>
              <a:rPr kumimoji="0" lang="en-US" sz="3600" b="1" kern="1200" cap="none" spc="0" normalizeH="0" baseline="0" noProof="0" dirty="0">
                <a:solidFill>
                  <a:schemeClr val="accent3">
                    <a:lumMod val="60000"/>
                    <a:lumOff val="40000"/>
                  </a:schemeClr>
                </a:solidFill>
                <a:latin typeface="+mn-lt"/>
                <a:ea typeface="+mn-ea"/>
                <a:cs typeface="+mn-cs"/>
              </a:rPr>
              <a:t>K-</a:t>
            </a:r>
            <a:r>
              <a:rPr kumimoji="0" lang="en-US" sz="3600" b="1" kern="1200" cap="none" spc="0" normalizeH="0" baseline="0" noProof="0" dirty="0" err="1">
                <a:solidFill>
                  <a:schemeClr val="accent3">
                    <a:lumMod val="60000"/>
                    <a:lumOff val="40000"/>
                  </a:schemeClr>
                </a:solidFill>
                <a:latin typeface="+mn-lt"/>
                <a:ea typeface="+mn-ea"/>
                <a:cs typeface="+mn-cs"/>
              </a:rPr>
              <a:t>Medoids</a:t>
            </a:r>
            <a:endParaRPr kumimoji="0" lang="en-US" sz="3600" b="1" kern="1200" cap="none" spc="0" normalizeH="0" baseline="0" noProof="0" dirty="0">
              <a:solidFill>
                <a:schemeClr val="accent3">
                  <a:lumMod val="60000"/>
                  <a:lumOff val="40000"/>
                </a:schemeClr>
              </a:solidFill>
              <a:latin typeface="+mn-lt"/>
              <a:ea typeface="+mn-ea"/>
              <a:cs typeface="+mn-cs"/>
            </a:endParaRPr>
          </a:p>
          <a:p>
            <a:pPr marL="730250" marR="0" lvl="1"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Handles outliers well.</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730250" marR="0" lvl="1"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Ordering of input does not impact results.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730250" marR="0" lvl="1"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Does not scale well.</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730250" marR="0" lvl="1"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Each cluster represented by one item, called the </a:t>
            </a:r>
            <a:r>
              <a:rPr kumimoji="0" lang="en-US" sz="2400" b="0" i="1" u="none" strike="noStrike" kern="1200" cap="none" spc="0" normalizeH="0" baseline="0" noProof="0" dirty="0" err="1">
                <a:ln>
                  <a:noFill/>
                </a:ln>
                <a:solidFill>
                  <a:schemeClr val="tx1"/>
                </a:solidFill>
                <a:effectLst/>
                <a:uLnTx/>
                <a:uFillTx/>
                <a:latin typeface="+mn-lt"/>
                <a:ea typeface="+mn-ea"/>
                <a:cs typeface="+mn-cs"/>
              </a:rPr>
              <a:t>medoid</a:t>
            </a:r>
            <a:r>
              <a:rPr kumimoji="0" lang="en-US" sz="2400" b="0" i="0" u="none" strike="noStrike" kern="1200" cap="none" spc="0" normalizeH="0" baseline="0" noProof="0" dirty="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730250" marR="0" lvl="1"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Initial set of k </a:t>
            </a:r>
            <a:r>
              <a:rPr kumimoji="0" lang="en-US" sz="2400" b="0" i="0" u="none" strike="noStrike" kern="1200" cap="none" spc="0" normalizeH="0" baseline="0" noProof="0" dirty="0" err="1">
                <a:ln>
                  <a:noFill/>
                </a:ln>
                <a:solidFill>
                  <a:schemeClr val="tx1"/>
                </a:solidFill>
                <a:effectLst/>
                <a:uLnTx/>
                <a:uFillTx/>
                <a:latin typeface="+mn-lt"/>
                <a:ea typeface="+mn-ea"/>
                <a:cs typeface="+mn-cs"/>
              </a:rPr>
              <a:t>medoids</a:t>
            </a:r>
            <a:r>
              <a:rPr kumimoji="0" lang="en-US" sz="2400" b="0" i="0" u="none" strike="noStrike" kern="1200" cap="none" spc="0" normalizeH="0" baseline="0" noProof="0" dirty="0">
                <a:ln>
                  <a:noFill/>
                </a:ln>
                <a:solidFill>
                  <a:schemeClr val="tx1"/>
                </a:solidFill>
                <a:effectLst/>
                <a:uLnTx/>
                <a:uFillTx/>
                <a:latin typeface="+mn-lt"/>
                <a:ea typeface="+mn-ea"/>
                <a:cs typeface="+mn-cs"/>
              </a:rPr>
              <a:t> randomly chosen.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680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txBox="1">
            <a:spLocks noChangeArrowheads="1"/>
          </p:cNvSpPr>
          <p:nvPr/>
        </p:nvSpPr>
        <p:spPr>
          <a:xfrm>
            <a:off x="304800" y="228600"/>
            <a:ext cx="7543800" cy="874713"/>
          </a:xfrm>
          <a:prstGeom prst="rect">
            <a:avLst/>
          </a:prstGeom>
        </p:spPr>
        <p:txBody>
          <a:bodyPr anchor="b">
            <a:normAutofit/>
          </a:bodyPr>
          <a:lstStyle/>
          <a:p>
            <a:pPr marR="0" defTabSz="914400">
              <a:buClrTx/>
              <a:buSzTx/>
              <a:buFontTx/>
              <a:buNone/>
              <a:defRPr/>
            </a:pPr>
            <a:r>
              <a:rPr kumimoji="0" lang="en-US" sz="3000" b="1" kern="1200" cap="small" spc="0" normalizeH="0" baseline="0" noProof="0" dirty="0">
                <a:solidFill>
                  <a:schemeClr val="accent4">
                    <a:lumMod val="60000"/>
                    <a:lumOff val="40000"/>
                  </a:schemeClr>
                </a:solidFill>
                <a:effectLst>
                  <a:outerShdw blurRad="38100" dist="38100" dir="2700000" algn="tl">
                    <a:srgbClr val="000000">
                      <a:alpha val="43137"/>
                    </a:srgbClr>
                  </a:outerShdw>
                </a:effectLst>
                <a:latin typeface="+mj-lt"/>
                <a:ea typeface="+mj-ea"/>
                <a:cs typeface="+mj-cs"/>
              </a:rPr>
              <a:t>PAM: Basic Strategy</a:t>
            </a:r>
            <a:endParaRPr kumimoji="0" lang="en-US" sz="3000" b="1" kern="1200" cap="small" spc="0" normalizeH="0" baseline="0" noProof="0" dirty="0">
              <a:solidFill>
                <a:schemeClr val="accent4">
                  <a:lumMod val="60000"/>
                  <a:lumOff val="40000"/>
                </a:schemeClr>
              </a:solidFill>
              <a:effectLst>
                <a:outerShdw blurRad="38100" dist="38100" dir="2700000" algn="tl">
                  <a:srgbClr val="000000">
                    <a:alpha val="43137"/>
                  </a:srgbClr>
                </a:outerShdw>
              </a:effectLst>
              <a:latin typeface="+mj-lt"/>
              <a:ea typeface="+mj-ea"/>
              <a:cs typeface="+mj-cs"/>
            </a:endParaRPr>
          </a:p>
        </p:txBody>
      </p:sp>
      <p:sp>
        <p:nvSpPr>
          <p:cNvPr id="76804" name="Rectangle 3"/>
          <p:cNvSpPr txBox="1"/>
          <p:nvPr/>
        </p:nvSpPr>
        <p:spPr>
          <a:xfrm>
            <a:off x="685800" y="1524000"/>
            <a:ext cx="7086600" cy="4454525"/>
          </a:xfrm>
          <a:prstGeom prst="rect">
            <a:avLst/>
          </a:prstGeom>
          <a:noFill/>
          <a:ln w="9525">
            <a:noFill/>
          </a:ln>
        </p:spPr>
        <p:txBody>
          <a:bodyPr anchor="t" anchorCtr="0"/>
          <a:p>
            <a:pPr marL="273050" indent="-273050" algn="just">
              <a:spcBef>
                <a:spcPts val="600"/>
              </a:spcBef>
              <a:buClr>
                <a:srgbClr val="666699"/>
              </a:buClr>
              <a:buSzPct val="130000"/>
              <a:buFont typeface="Wingdings" panose="05000000000000000000" pitchFamily="2" charset="2"/>
              <a:buChar char="§"/>
            </a:pPr>
            <a:r>
              <a:rPr lang="en-US" altLang="zh-CN" dirty="0">
                <a:latin typeface="Century Schoolbook" panose="02040604050505020304" pitchFamily="18" charset="0"/>
                <a:ea typeface="SimSun" panose="02010600030101010101" pitchFamily="2" charset="-122"/>
              </a:rPr>
              <a:t>First find a </a:t>
            </a:r>
            <a:r>
              <a:rPr lang="en-US" altLang="zh-CN" dirty="0">
                <a:solidFill>
                  <a:srgbClr val="FF5698"/>
                </a:solidFill>
                <a:latin typeface="Century Schoolbook" panose="02040604050505020304" pitchFamily="18" charset="0"/>
                <a:ea typeface="SimSun" panose="02010600030101010101" pitchFamily="2" charset="-122"/>
              </a:rPr>
              <a:t>representative object </a:t>
            </a:r>
            <a:r>
              <a:rPr lang="en-US" altLang="zh-CN" dirty="0">
                <a:latin typeface="Century Schoolbook" panose="02040604050505020304" pitchFamily="18" charset="0"/>
                <a:ea typeface="SimSun" panose="02010600030101010101" pitchFamily="2" charset="-122"/>
              </a:rPr>
              <a:t>(the medoid) for each cluster</a:t>
            </a:r>
            <a:endParaRPr lang="en-US" altLang="zh-CN" dirty="0">
              <a:latin typeface="Century Schoolbook" panose="02040604050505020304" pitchFamily="18" charset="0"/>
              <a:ea typeface="SimSun" panose="02010600030101010101" pitchFamily="2" charset="-122"/>
            </a:endParaRPr>
          </a:p>
          <a:p>
            <a:pPr marL="273050" indent="-273050" algn="just">
              <a:spcBef>
                <a:spcPts val="600"/>
              </a:spcBef>
              <a:buClr>
                <a:srgbClr val="666699"/>
              </a:buClr>
              <a:buSzPct val="130000"/>
              <a:buFont typeface="Wingdings" panose="05000000000000000000" pitchFamily="2" charset="2"/>
              <a:buChar char="§"/>
            </a:pPr>
            <a:r>
              <a:rPr lang="en-US" altLang="zh-CN" dirty="0">
                <a:latin typeface="Century Schoolbook" panose="02040604050505020304" pitchFamily="18" charset="0"/>
                <a:ea typeface="SimSun" panose="02010600030101010101" pitchFamily="2" charset="-122"/>
              </a:rPr>
              <a:t>Each remaining object is clustered with the medoid to which it is most “similar”</a:t>
            </a:r>
            <a:endParaRPr lang="en-US" altLang="zh-CN" dirty="0">
              <a:latin typeface="Century Schoolbook" panose="02040604050505020304" pitchFamily="18" charset="0"/>
              <a:ea typeface="SimSun" panose="02010600030101010101" pitchFamily="2" charset="-122"/>
            </a:endParaRPr>
          </a:p>
          <a:p>
            <a:pPr marL="273050" indent="-273050" algn="just">
              <a:spcBef>
                <a:spcPts val="600"/>
              </a:spcBef>
              <a:buClr>
                <a:srgbClr val="666699"/>
              </a:buClr>
              <a:buSzPct val="130000"/>
              <a:buFont typeface="Wingdings" panose="05000000000000000000" pitchFamily="2" charset="2"/>
              <a:buChar char="§"/>
            </a:pPr>
            <a:r>
              <a:rPr lang="en-US" altLang="zh-CN" dirty="0">
                <a:latin typeface="Century Schoolbook" panose="02040604050505020304" pitchFamily="18" charset="0"/>
                <a:ea typeface="SimSun" panose="02010600030101010101" pitchFamily="2" charset="-122"/>
              </a:rPr>
              <a:t>Iteratively replace one of the medoids by a non-medoid as long as the “quality” of the clustering is improved</a:t>
            </a:r>
            <a:endParaRPr lang="en-US" altLang="zh-CN" dirty="0">
              <a:latin typeface="Century Schoolbook" panose="02040604050505020304" pitchFamily="18" charset="0"/>
              <a:ea typeface="SimSun"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4800" y="304800"/>
            <a:ext cx="7848600" cy="503238"/>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Demonstration of PAM</a:t>
            </a:r>
            <a:endParaRPr kumimoji="0" lang="en-IN" sz="30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77826" name="Content Placeholder 2"/>
          <p:cNvSpPr>
            <a:spLocks noGrp="1"/>
          </p:cNvSpPr>
          <p:nvPr>
            <p:ph sz="quarter" idx="1"/>
          </p:nvPr>
        </p:nvSpPr>
        <p:spPr>
          <a:xfrm>
            <a:off x="533400" y="1295400"/>
            <a:ext cx="7467600" cy="1447800"/>
          </a:xfrm>
          <a:ln/>
        </p:spPr>
        <p:txBody>
          <a:bodyPr vert="horz" wrap="square" lIns="91440" tIns="45720" rIns="91440" bIns="45720" anchor="t" anchorCtr="0"/>
          <a:p>
            <a:pPr>
              <a:buClr>
                <a:schemeClr val="accent1"/>
              </a:buClr>
              <a:buSzPct val="70000"/>
              <a:buFont typeface="Wingdings" panose="05000000000000000000" pitchFamily="2" charset="2"/>
            </a:pPr>
            <a:r>
              <a:rPr lang="en-IN" altLang="x-none" dirty="0"/>
              <a:t>Cluster the following data set of ten objects into two clusters i.e </a:t>
            </a:r>
            <a:r>
              <a:rPr lang="en-IN" altLang="x-none" i="1" dirty="0"/>
              <a:t>k</a:t>
            </a:r>
            <a:r>
              <a:rPr lang="en-IN" altLang="x-none" dirty="0"/>
              <a:t> = 2.</a:t>
            </a:r>
            <a:endParaRPr lang="en-IN" altLang="x-none" dirty="0"/>
          </a:p>
          <a:p>
            <a:pPr>
              <a:buClr>
                <a:schemeClr val="accent1"/>
              </a:buClr>
              <a:buSzPct val="70000"/>
              <a:buFont typeface="Wingdings" panose="05000000000000000000" pitchFamily="2" charset="2"/>
            </a:pPr>
            <a:r>
              <a:rPr lang="en-IN" altLang="x-none" dirty="0"/>
              <a:t>Consider a data set of ten objects as follows:</a:t>
            </a:r>
            <a:endParaRPr lang="en-IN" altLang="x-none" dirty="0"/>
          </a:p>
          <a:p>
            <a:pPr>
              <a:buClr>
                <a:schemeClr val="accent1"/>
              </a:buClr>
              <a:buSzPct val="70000"/>
              <a:buFont typeface="Wingdings" panose="05000000000000000000" pitchFamily="2" charset="2"/>
            </a:pPr>
            <a:endParaRPr lang="en-IN" altLang="x-none" dirty="0"/>
          </a:p>
        </p:txBody>
      </p:sp>
      <p:sp>
        <p:nvSpPr>
          <p:cNvPr id="7782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782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77829" name="Picture 2"/>
          <p:cNvPicPr>
            <a:picLocks noChangeAspect="1"/>
          </p:cNvPicPr>
          <p:nvPr/>
        </p:nvPicPr>
        <p:blipFill>
          <a:blip r:embed="rId1"/>
          <a:srcRect l="13126" t="47000" r="44376" b="21001"/>
          <a:stretch>
            <a:fillRect/>
          </a:stretch>
        </p:blipFill>
        <p:spPr>
          <a:xfrm>
            <a:off x="533400" y="3124200"/>
            <a:ext cx="3657600" cy="2286000"/>
          </a:xfrm>
          <a:prstGeom prst="rect">
            <a:avLst/>
          </a:prstGeom>
          <a:noFill/>
          <a:ln w="9525">
            <a:noFill/>
          </a:ln>
        </p:spPr>
      </p:pic>
      <p:pic>
        <p:nvPicPr>
          <p:cNvPr id="77830" name="Picture 3"/>
          <p:cNvPicPr>
            <a:picLocks noChangeAspect="1"/>
          </p:cNvPicPr>
          <p:nvPr/>
        </p:nvPicPr>
        <p:blipFill>
          <a:blip r:embed="rId2"/>
          <a:srcRect l="16875" t="37000" r="56876" b="28999"/>
          <a:stretch>
            <a:fillRect/>
          </a:stretch>
        </p:blipFill>
        <p:spPr>
          <a:xfrm>
            <a:off x="5029200" y="3048000"/>
            <a:ext cx="2971800" cy="2590800"/>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Content Placeholder 2"/>
          <p:cNvSpPr>
            <a:spLocks noGrp="1"/>
          </p:cNvSpPr>
          <p:nvPr>
            <p:ph sz="quarter" idx="1"/>
          </p:nvPr>
        </p:nvSpPr>
        <p:spPr>
          <a:xfrm>
            <a:off x="457200" y="1143000"/>
            <a:ext cx="8001000" cy="2667000"/>
          </a:xfrm>
          <a:ln/>
        </p:spPr>
        <p:txBody>
          <a:bodyPr vert="horz" wrap="square" lIns="91440" tIns="45720" rIns="91440" bIns="45720" anchor="t" anchorCtr="0"/>
          <a:p>
            <a:pPr>
              <a:buClr>
                <a:schemeClr val="accent1"/>
              </a:buClr>
              <a:buSzPct val="70000"/>
              <a:buFont typeface="Wingdings" panose="05000000000000000000" pitchFamily="2" charset="2"/>
            </a:pPr>
            <a:r>
              <a:rPr lang="en-IN" altLang="x-none" sz="2800" b="1" dirty="0"/>
              <a:t>Step 1</a:t>
            </a:r>
            <a:endParaRPr lang="en-IN" altLang="x-none" sz="2800" b="1" dirty="0"/>
          </a:p>
          <a:p>
            <a:pPr lvl="1">
              <a:buClr>
                <a:schemeClr val="accent1"/>
              </a:buClr>
              <a:buSzPct val="80000"/>
              <a:buFont typeface="Wingdings 2" panose="05020102010507070707" pitchFamily="18" charset="2"/>
            </a:pPr>
            <a:r>
              <a:rPr lang="en-IN" altLang="x-none" sz="2000" dirty="0"/>
              <a:t>Initialise </a:t>
            </a:r>
            <a:r>
              <a:rPr lang="en-IN" altLang="x-none" sz="2000" i="1" dirty="0"/>
              <a:t>k</a:t>
            </a:r>
            <a:r>
              <a:rPr lang="en-IN" altLang="x-none" sz="2000" dirty="0"/>
              <a:t> centre</a:t>
            </a:r>
            <a:endParaRPr lang="en-IN" altLang="x-none" sz="2000" dirty="0"/>
          </a:p>
          <a:p>
            <a:pPr lvl="1">
              <a:buClr>
                <a:schemeClr val="accent1"/>
              </a:buClr>
              <a:buSzPct val="80000"/>
              <a:buFont typeface="Wingdings 2" panose="05020102010507070707" pitchFamily="18" charset="2"/>
            </a:pPr>
            <a:r>
              <a:rPr lang="en-IN" altLang="x-none" sz="2000" dirty="0"/>
              <a:t>Let us assume c</a:t>
            </a:r>
            <a:r>
              <a:rPr lang="en-IN" altLang="x-none" sz="2000" baseline="-25000" dirty="0"/>
              <a:t>1</a:t>
            </a:r>
            <a:r>
              <a:rPr lang="en-IN" altLang="x-none" sz="2000" dirty="0"/>
              <a:t> = (3,4) and c</a:t>
            </a:r>
            <a:r>
              <a:rPr lang="en-IN" altLang="x-none" sz="2000" baseline="-25000" dirty="0"/>
              <a:t>2</a:t>
            </a:r>
            <a:r>
              <a:rPr lang="en-IN" altLang="x-none" sz="2000" dirty="0"/>
              <a:t> = (7,4)</a:t>
            </a:r>
            <a:endParaRPr lang="en-IN" altLang="x-none" sz="2000" dirty="0"/>
          </a:p>
          <a:p>
            <a:pPr lvl="1">
              <a:buClr>
                <a:schemeClr val="accent1"/>
              </a:buClr>
              <a:buSzPct val="80000"/>
              <a:buFont typeface="Wingdings 2" panose="05020102010507070707" pitchFamily="18" charset="2"/>
            </a:pPr>
            <a:r>
              <a:rPr lang="en-IN" altLang="x-none" sz="2000" dirty="0"/>
              <a:t>So here c</a:t>
            </a:r>
            <a:r>
              <a:rPr lang="en-IN" altLang="x-none" sz="2000" baseline="-25000" dirty="0"/>
              <a:t>1</a:t>
            </a:r>
            <a:r>
              <a:rPr lang="en-IN" altLang="x-none" sz="2000" dirty="0"/>
              <a:t> and c</a:t>
            </a:r>
            <a:r>
              <a:rPr lang="en-IN" altLang="x-none" sz="2000" baseline="-25000" dirty="0"/>
              <a:t>2</a:t>
            </a:r>
            <a:r>
              <a:rPr lang="en-IN" altLang="x-none" sz="2000" dirty="0"/>
              <a:t> are selected as medoid.</a:t>
            </a:r>
            <a:endParaRPr lang="en-IN" altLang="x-none" sz="2000" dirty="0"/>
          </a:p>
          <a:p>
            <a:pPr lvl="1">
              <a:buClr>
                <a:schemeClr val="accent1"/>
              </a:buClr>
              <a:buSzPct val="80000"/>
              <a:buFont typeface="Wingdings 2" panose="05020102010507070707" pitchFamily="18" charset="2"/>
            </a:pPr>
            <a:r>
              <a:rPr lang="en-IN" altLang="x-none" sz="2000" dirty="0"/>
              <a:t>Calculating distance so as to associate each data object to its nearest medoid. Cost is calculated using </a:t>
            </a:r>
            <a:r>
              <a:rPr lang="en-IN" altLang="x-none" sz="2000" dirty="0">
                <a:hlinkClick r:id="rId1" tooltip="Minkowski distance" action="ppaction://hlinkfile"/>
              </a:rPr>
              <a:t>Minkowski distance</a:t>
            </a:r>
            <a:r>
              <a:rPr lang="en-IN" altLang="x-none" sz="2000" dirty="0"/>
              <a:t> metric with </a:t>
            </a:r>
            <a:r>
              <a:rPr lang="en-IN" altLang="x-none" sz="2000" i="1" dirty="0"/>
              <a:t>r</a:t>
            </a:r>
            <a:r>
              <a:rPr lang="en-IN" altLang="x-none" sz="2000" dirty="0"/>
              <a:t> = 1.</a:t>
            </a:r>
            <a:endParaRPr lang="en-IN" altLang="x-none" sz="2000" dirty="0"/>
          </a:p>
        </p:txBody>
      </p:sp>
      <p:sp>
        <p:nvSpPr>
          <p:cNvPr id="7885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8851"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78852" name="Picture 2"/>
          <p:cNvPicPr>
            <a:picLocks noChangeAspect="1"/>
          </p:cNvPicPr>
          <p:nvPr/>
        </p:nvPicPr>
        <p:blipFill>
          <a:blip r:embed="rId2"/>
          <a:srcRect l="13126" t="28000" r="43750" b="39999"/>
          <a:stretch>
            <a:fillRect/>
          </a:stretch>
        </p:blipFill>
        <p:spPr>
          <a:xfrm>
            <a:off x="1905000" y="3810000"/>
            <a:ext cx="5257800" cy="2438400"/>
          </a:xfrm>
          <a:prstGeom prst="rect">
            <a:avLst/>
          </a:prstGeom>
          <a:noFill/>
          <a:ln w="9525">
            <a:noFill/>
          </a:ln>
        </p:spPr>
      </p:pic>
      <p:sp>
        <p:nvSpPr>
          <p:cNvPr id="8" name="Title 1"/>
          <p:cNvSpPr>
            <a:spLocks noGrp="1"/>
          </p:cNvSpPr>
          <p:nvPr>
            <p:ph type="title"/>
          </p:nvPr>
        </p:nvSpPr>
        <p:spPr>
          <a:xfrm>
            <a:off x="381000" y="152400"/>
            <a:ext cx="7467600" cy="655638"/>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Demonstration of PAM (Cont…)</a:t>
            </a:r>
            <a:endParaRPr kumimoji="0" lang="en-IN" sz="30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7987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79875" name="Picture 2"/>
          <p:cNvPicPr>
            <a:picLocks noGrp="1" noChangeAspect="1"/>
          </p:cNvPicPr>
          <p:nvPr>
            <p:ph sz="quarter" idx="1"/>
          </p:nvPr>
        </p:nvPicPr>
        <p:blipFill>
          <a:blip r:embed="rId1"/>
          <a:srcRect l="13126" t="60001" r="43750" b="8000"/>
          <a:stretch>
            <a:fillRect/>
          </a:stretch>
        </p:blipFill>
        <p:spPr>
          <a:xfrm>
            <a:off x="1524000" y="838200"/>
            <a:ext cx="5257800" cy="2438400"/>
          </a:xfrm>
          <a:ln/>
        </p:spPr>
      </p:pic>
      <p:sp>
        <p:nvSpPr>
          <p:cNvPr id="8" name="Rectangle 7"/>
          <p:cNvSpPr/>
          <p:nvPr/>
        </p:nvSpPr>
        <p:spPr>
          <a:xfrm>
            <a:off x="685800" y="3276600"/>
            <a:ext cx="7239000" cy="2554288"/>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Then so the clusters become:</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Cluster</a:t>
            </a:r>
            <a:r>
              <a:rPr kumimoji="0" lang="en-IN" sz="2000" b="0" i="0" u="none" strike="noStrike" kern="1200" cap="none" spc="0" normalizeH="0" baseline="-25000" noProof="0" dirty="0">
                <a:ln>
                  <a:noFill/>
                </a:ln>
                <a:solidFill>
                  <a:schemeClr val="tx1"/>
                </a:solidFill>
                <a:effectLst/>
                <a:uLnTx/>
                <a:uFillTx/>
                <a:latin typeface="+mn-lt"/>
                <a:ea typeface="+mn-ea"/>
                <a:cs typeface="+mn-cs"/>
              </a:rPr>
              <a:t>1</a:t>
            </a:r>
            <a:r>
              <a:rPr kumimoji="0" lang="en-IN" sz="2000" b="0" i="0" u="none" strike="noStrike" kern="1200" cap="none" spc="0" normalizeH="0" baseline="0" noProof="0" dirty="0">
                <a:ln>
                  <a:noFill/>
                </a:ln>
                <a:solidFill>
                  <a:schemeClr val="tx1"/>
                </a:solidFill>
                <a:effectLst/>
                <a:uLnTx/>
                <a:uFillTx/>
                <a:latin typeface="+mn-lt"/>
                <a:ea typeface="+mn-ea"/>
                <a:cs typeface="+mn-cs"/>
              </a:rPr>
              <a:t> = {(3,4)(2,6)(3,8)(4,7)}</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Cluster</a:t>
            </a:r>
            <a:r>
              <a:rPr kumimoji="0" lang="en-IN" sz="2000" b="0" i="0" u="none" strike="noStrike" kern="1200" cap="none" spc="0" normalizeH="0" baseline="-25000" noProof="0" dirty="0">
                <a:ln>
                  <a:noFill/>
                </a:ln>
                <a:solidFill>
                  <a:schemeClr val="tx1"/>
                </a:solidFill>
                <a:effectLst/>
                <a:uLnTx/>
                <a:uFillTx/>
                <a:latin typeface="+mn-lt"/>
                <a:ea typeface="+mn-ea"/>
                <a:cs typeface="+mn-cs"/>
              </a:rPr>
              <a:t>2</a:t>
            </a:r>
            <a:r>
              <a:rPr kumimoji="0" lang="en-IN" sz="2000" b="0" i="0" u="none" strike="noStrike" kern="1200" cap="none" spc="0" normalizeH="0" baseline="0" noProof="0" dirty="0">
                <a:ln>
                  <a:noFill/>
                </a:ln>
                <a:solidFill>
                  <a:schemeClr val="tx1"/>
                </a:solidFill>
                <a:effectLst/>
                <a:uLnTx/>
                <a:uFillTx/>
                <a:latin typeface="+mn-lt"/>
                <a:ea typeface="+mn-ea"/>
                <a:cs typeface="+mn-cs"/>
              </a:rPr>
              <a:t> = {(7,4)(6,2)(6,4)(7,3)(8,5)(7,6)}</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Since the points (2,6) (3,8) and (4,7) are close to c</a:t>
            </a:r>
            <a:r>
              <a:rPr kumimoji="0" lang="en-IN" sz="2000" b="0" i="0" u="none" strike="noStrike" kern="1200" cap="none" spc="0" normalizeH="0" baseline="-25000" noProof="0" dirty="0">
                <a:ln>
                  <a:noFill/>
                </a:ln>
                <a:solidFill>
                  <a:schemeClr val="tx1"/>
                </a:solidFill>
                <a:effectLst/>
                <a:uLnTx/>
                <a:uFillTx/>
                <a:latin typeface="+mn-lt"/>
                <a:ea typeface="+mn-ea"/>
                <a:cs typeface="+mn-cs"/>
              </a:rPr>
              <a:t>1</a:t>
            </a:r>
            <a:r>
              <a:rPr kumimoji="0" lang="en-IN" sz="2000" b="0" i="0" u="none" strike="noStrike" kern="1200" cap="none" spc="0" normalizeH="0" baseline="0" noProof="0" dirty="0">
                <a:ln>
                  <a:noFill/>
                </a:ln>
                <a:solidFill>
                  <a:schemeClr val="tx1"/>
                </a:solidFill>
                <a:effectLst/>
                <a:uLnTx/>
                <a:uFillTx/>
                <a:latin typeface="+mn-lt"/>
                <a:ea typeface="+mn-ea"/>
                <a:cs typeface="+mn-cs"/>
              </a:rPr>
              <a:t> hence they form one cluster whilst remaining points form another cluster.</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So the total cost involved is 20.</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Where cost between any two points is found using formula</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79877" name="Picture 2"/>
          <p:cNvPicPr>
            <a:picLocks noChangeAspect="1"/>
          </p:cNvPicPr>
          <p:nvPr/>
        </p:nvPicPr>
        <p:blipFill>
          <a:blip r:embed="rId2"/>
          <a:srcRect l="13264" t="31747" r="70409" b="59763"/>
          <a:stretch>
            <a:fillRect/>
          </a:stretch>
        </p:blipFill>
        <p:spPr>
          <a:xfrm>
            <a:off x="3124200" y="5867400"/>
            <a:ext cx="2514600" cy="762000"/>
          </a:xfrm>
          <a:prstGeom prst="rect">
            <a:avLst/>
          </a:prstGeom>
          <a:noFill/>
          <a:ln w="9525">
            <a:noFill/>
          </a:ln>
        </p:spPr>
      </p:pic>
      <p:sp>
        <p:nvSpPr>
          <p:cNvPr id="10" name="Title 1"/>
          <p:cNvSpPr>
            <a:spLocks noGrp="1"/>
          </p:cNvSpPr>
          <p:nvPr>
            <p:ph type="title"/>
          </p:nvPr>
        </p:nvSpPr>
        <p:spPr>
          <a:xfrm>
            <a:off x="457200" y="274638"/>
            <a:ext cx="7467600" cy="487363"/>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Demonstration of PAM (Cont…)</a:t>
            </a:r>
            <a:endParaRPr kumimoji="0" lang="en-IN" sz="30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089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80899" name="Picture 2"/>
          <p:cNvPicPr>
            <a:picLocks noGrp="1" noChangeAspect="1"/>
          </p:cNvPicPr>
          <p:nvPr>
            <p:ph sz="quarter" idx="1"/>
          </p:nvPr>
        </p:nvPicPr>
        <p:blipFill>
          <a:blip r:embed="rId1"/>
          <a:srcRect l="13264" t="46117" r="38249" b="36250"/>
          <a:stretch>
            <a:fillRect/>
          </a:stretch>
        </p:blipFill>
        <p:spPr>
          <a:xfrm>
            <a:off x="685800" y="2971800"/>
            <a:ext cx="4419600" cy="1524000"/>
          </a:xfrm>
          <a:ln/>
        </p:spPr>
      </p:pic>
      <p:sp>
        <p:nvSpPr>
          <p:cNvPr id="8" name="Rectangle 7"/>
          <p:cNvSpPr/>
          <p:nvPr/>
        </p:nvSpPr>
        <p:spPr>
          <a:xfrm>
            <a:off x="533400" y="1219200"/>
            <a:ext cx="6858000" cy="1631950"/>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where </a:t>
            </a:r>
            <a:r>
              <a:rPr kumimoji="0" lang="en-IN" sz="2000" b="0" i="1" u="none" strike="noStrike" kern="1200" cap="none" spc="0" normalizeH="0" baseline="0" noProof="0" dirty="0">
                <a:ln>
                  <a:noFill/>
                </a:ln>
                <a:solidFill>
                  <a:schemeClr val="tx1"/>
                </a:solidFill>
                <a:effectLst/>
                <a:uLnTx/>
                <a:uFillTx/>
                <a:latin typeface="+mn-lt"/>
                <a:ea typeface="+mn-ea"/>
                <a:cs typeface="+mn-cs"/>
              </a:rPr>
              <a:t>x</a:t>
            </a:r>
            <a:r>
              <a:rPr kumimoji="0" lang="en-IN" sz="2000" b="0" i="0" u="none" strike="noStrike" kern="1200" cap="none" spc="0" normalizeH="0" baseline="0" noProof="0" dirty="0">
                <a:ln>
                  <a:noFill/>
                </a:ln>
                <a:solidFill>
                  <a:schemeClr val="tx1"/>
                </a:solidFill>
                <a:effectLst/>
                <a:uLnTx/>
                <a:uFillTx/>
                <a:latin typeface="+mn-lt"/>
                <a:ea typeface="+mn-ea"/>
                <a:cs typeface="+mn-cs"/>
              </a:rPr>
              <a:t> is any data object, </a:t>
            </a:r>
            <a:r>
              <a:rPr kumimoji="0" lang="en-IN" sz="2000" b="0" i="1" u="none" strike="noStrike" kern="1200" cap="none" spc="0" normalizeH="0" baseline="0" noProof="0" dirty="0">
                <a:ln>
                  <a:noFill/>
                </a:ln>
                <a:solidFill>
                  <a:schemeClr val="tx1"/>
                </a:solidFill>
                <a:effectLst/>
                <a:uLnTx/>
                <a:uFillTx/>
                <a:latin typeface="+mn-lt"/>
                <a:ea typeface="+mn-ea"/>
                <a:cs typeface="+mn-cs"/>
              </a:rPr>
              <a:t>c</a:t>
            </a:r>
            <a:r>
              <a:rPr kumimoji="0" lang="en-IN" sz="2000" b="0" i="0" u="none" strike="noStrike" kern="1200" cap="none" spc="0" normalizeH="0" baseline="0" noProof="0" dirty="0">
                <a:ln>
                  <a:noFill/>
                </a:ln>
                <a:solidFill>
                  <a:schemeClr val="tx1"/>
                </a:solidFill>
                <a:effectLst/>
                <a:uLnTx/>
                <a:uFillTx/>
                <a:latin typeface="+mn-lt"/>
                <a:ea typeface="+mn-ea"/>
                <a:cs typeface="+mn-cs"/>
              </a:rPr>
              <a:t> is the </a:t>
            </a:r>
            <a:r>
              <a:rPr kumimoji="0" lang="en-IN" sz="2000" b="0" i="0" u="none" strike="noStrike" kern="1200" cap="none" spc="0" normalizeH="0" baseline="0" noProof="0" dirty="0" err="1">
                <a:ln>
                  <a:noFill/>
                </a:ln>
                <a:solidFill>
                  <a:schemeClr val="tx1"/>
                </a:solidFill>
                <a:effectLst/>
                <a:uLnTx/>
                <a:uFillTx/>
                <a:latin typeface="+mn-lt"/>
                <a:ea typeface="+mn-ea"/>
                <a:cs typeface="+mn-cs"/>
              </a:rPr>
              <a:t>medoid</a:t>
            </a:r>
            <a:r>
              <a:rPr kumimoji="0" lang="en-IN" sz="2000" b="0" i="0" u="none" strike="noStrike" kern="1200" cap="none" spc="0" normalizeH="0" baseline="0" noProof="0" dirty="0">
                <a:ln>
                  <a:noFill/>
                </a:ln>
                <a:solidFill>
                  <a:schemeClr val="tx1"/>
                </a:solidFill>
                <a:effectLst/>
                <a:uLnTx/>
                <a:uFillTx/>
                <a:latin typeface="+mn-lt"/>
                <a:ea typeface="+mn-ea"/>
                <a:cs typeface="+mn-cs"/>
              </a:rPr>
              <a:t>, and </a:t>
            </a:r>
            <a:r>
              <a:rPr kumimoji="0" lang="en-IN" sz="2000" b="0" i="1" u="none" strike="noStrike" kern="1200" cap="none" spc="0" normalizeH="0" baseline="0" noProof="0" dirty="0">
                <a:ln>
                  <a:noFill/>
                </a:ln>
                <a:solidFill>
                  <a:schemeClr val="tx1"/>
                </a:solidFill>
                <a:effectLst/>
                <a:uLnTx/>
                <a:uFillTx/>
                <a:latin typeface="+mn-lt"/>
                <a:ea typeface="+mn-ea"/>
                <a:cs typeface="+mn-cs"/>
              </a:rPr>
              <a:t>d</a:t>
            </a:r>
            <a:r>
              <a:rPr kumimoji="0" lang="en-IN" sz="2000" b="0" i="0" u="none" strike="noStrike" kern="1200" cap="none" spc="0" normalizeH="0" baseline="0" noProof="0" dirty="0">
                <a:ln>
                  <a:noFill/>
                </a:ln>
                <a:solidFill>
                  <a:schemeClr val="tx1"/>
                </a:solidFill>
                <a:effectLst/>
                <a:uLnTx/>
                <a:uFillTx/>
                <a:latin typeface="+mn-lt"/>
                <a:ea typeface="+mn-ea"/>
                <a:cs typeface="+mn-cs"/>
              </a:rPr>
              <a:t> is the dimension of the object which in this case is 2.</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0" lang="en-I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IN" sz="2000" b="0" i="0" u="none" strike="noStrike" kern="1200" cap="none" spc="0" normalizeH="0" baseline="0" noProof="0" dirty="0">
                <a:ln>
                  <a:noFill/>
                </a:ln>
                <a:solidFill>
                  <a:schemeClr val="tx1"/>
                </a:solidFill>
                <a:effectLst/>
                <a:uLnTx/>
                <a:uFillTx/>
                <a:latin typeface="+mn-lt"/>
                <a:ea typeface="+mn-ea"/>
                <a:cs typeface="+mn-cs"/>
              </a:rPr>
              <a:t>Total cost is the summation of the cost of data object from its </a:t>
            </a:r>
            <a:r>
              <a:rPr kumimoji="0" lang="en-IN" sz="2000" b="0" i="0" u="none" strike="noStrike" kern="1200" cap="none" spc="0" normalizeH="0" baseline="0" noProof="0" dirty="0" err="1">
                <a:ln>
                  <a:noFill/>
                </a:ln>
                <a:solidFill>
                  <a:schemeClr val="tx1"/>
                </a:solidFill>
                <a:effectLst/>
                <a:uLnTx/>
                <a:uFillTx/>
                <a:latin typeface="+mn-lt"/>
                <a:ea typeface="+mn-ea"/>
                <a:cs typeface="+mn-cs"/>
              </a:rPr>
              <a:t>medoid</a:t>
            </a:r>
            <a:r>
              <a:rPr kumimoji="0" lang="en-IN" sz="2000" b="0" i="0" u="none" strike="noStrike" kern="1200" cap="none" spc="0" normalizeH="0" baseline="0" noProof="0" dirty="0">
                <a:ln>
                  <a:noFill/>
                </a:ln>
                <a:solidFill>
                  <a:schemeClr val="tx1"/>
                </a:solidFill>
                <a:effectLst/>
                <a:uLnTx/>
                <a:uFillTx/>
                <a:latin typeface="+mn-lt"/>
                <a:ea typeface="+mn-ea"/>
                <a:cs typeface="+mn-cs"/>
              </a:rPr>
              <a:t> in its cluster so here:</a:t>
            </a: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80901" name="Picture 3"/>
          <p:cNvPicPr>
            <a:picLocks noChangeAspect="1"/>
          </p:cNvPicPr>
          <p:nvPr/>
        </p:nvPicPr>
        <p:blipFill>
          <a:blip r:embed="rId2"/>
          <a:srcRect l="13126" t="17999" r="54375" b="44000"/>
          <a:stretch>
            <a:fillRect/>
          </a:stretch>
        </p:blipFill>
        <p:spPr>
          <a:xfrm>
            <a:off x="4419600" y="3810000"/>
            <a:ext cx="3505200" cy="2743200"/>
          </a:xfrm>
          <a:prstGeom prst="rect">
            <a:avLst/>
          </a:prstGeom>
          <a:noFill/>
          <a:ln w="9525">
            <a:noFill/>
          </a:ln>
        </p:spPr>
      </p:pic>
      <p:sp>
        <p:nvSpPr>
          <p:cNvPr id="10" name="Title 1"/>
          <p:cNvSpPr>
            <a:spLocks noGrp="1"/>
          </p:cNvSpPr>
          <p:nvPr>
            <p:ph type="title"/>
          </p:nvPr>
        </p:nvSpPr>
        <p:spPr>
          <a:xfrm>
            <a:off x="457200" y="228600"/>
            <a:ext cx="7467600" cy="609600"/>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Demonstration of PAM (Cont…)</a:t>
            </a:r>
            <a:endParaRPr kumimoji="0" lang="en-IN" sz="30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Content Placeholder 2"/>
          <p:cNvSpPr>
            <a:spLocks noGrp="1"/>
          </p:cNvSpPr>
          <p:nvPr>
            <p:ph sz="quarter" idx="1"/>
          </p:nvPr>
        </p:nvSpPr>
        <p:spPr>
          <a:xfrm>
            <a:off x="381000" y="838200"/>
            <a:ext cx="7467600" cy="2133600"/>
          </a:xfrm>
          <a:ln/>
        </p:spPr>
        <p:txBody>
          <a:bodyPr vert="horz" wrap="square" lIns="91440" tIns="45720" rIns="91440" bIns="45720" anchor="t" anchorCtr="0"/>
          <a:p>
            <a:pPr>
              <a:buClr>
                <a:schemeClr val="accent1"/>
              </a:buClr>
              <a:buSzPct val="70000"/>
              <a:buFont typeface="Wingdings" panose="05000000000000000000" pitchFamily="2" charset="2"/>
            </a:pPr>
            <a:r>
              <a:rPr lang="en-IN" altLang="x-none" b="1" dirty="0"/>
              <a:t>Step 2</a:t>
            </a:r>
            <a:endParaRPr lang="en-IN" altLang="x-none" b="1" dirty="0"/>
          </a:p>
          <a:p>
            <a:pPr lvl="1">
              <a:buClr>
                <a:schemeClr val="accent1"/>
              </a:buClr>
              <a:buSzPct val="80000"/>
              <a:buFont typeface="Wingdings 2" panose="05020102010507070707" pitchFamily="18" charset="2"/>
            </a:pPr>
            <a:r>
              <a:rPr lang="en-IN" altLang="x-none" sz="1800" dirty="0"/>
              <a:t>Selection of nonmedoid O′ randomly</a:t>
            </a:r>
            <a:endParaRPr lang="en-IN" altLang="x-none" sz="1800" dirty="0"/>
          </a:p>
          <a:p>
            <a:pPr lvl="1">
              <a:buClr>
                <a:schemeClr val="accent1"/>
              </a:buClr>
              <a:buSzPct val="80000"/>
              <a:buFont typeface="Wingdings 2" panose="05020102010507070707" pitchFamily="18" charset="2"/>
            </a:pPr>
            <a:r>
              <a:rPr lang="en-IN" altLang="x-none" sz="1800" dirty="0"/>
              <a:t>Let us assume O′ = (7,3)</a:t>
            </a:r>
            <a:endParaRPr lang="en-IN" altLang="x-none" sz="1800" dirty="0"/>
          </a:p>
          <a:p>
            <a:pPr lvl="1">
              <a:buClr>
                <a:schemeClr val="accent1"/>
              </a:buClr>
              <a:buSzPct val="80000"/>
              <a:buFont typeface="Wingdings 2" panose="05020102010507070707" pitchFamily="18" charset="2"/>
            </a:pPr>
            <a:r>
              <a:rPr lang="en-IN" altLang="x-none" sz="1800" dirty="0"/>
              <a:t>So now the medoids are c</a:t>
            </a:r>
            <a:r>
              <a:rPr lang="en-IN" altLang="x-none" sz="1800" baseline="-25000" dirty="0"/>
              <a:t>1</a:t>
            </a:r>
            <a:r>
              <a:rPr lang="en-IN" altLang="x-none" sz="1800" dirty="0"/>
              <a:t>(3,4) and O′(7,3)</a:t>
            </a:r>
            <a:endParaRPr lang="en-IN" altLang="x-none" sz="1800" dirty="0"/>
          </a:p>
          <a:p>
            <a:pPr lvl="1">
              <a:buClr>
                <a:schemeClr val="accent1"/>
              </a:buClr>
              <a:buSzPct val="80000"/>
              <a:buFont typeface="Wingdings 2" panose="05020102010507070707" pitchFamily="18" charset="2"/>
            </a:pPr>
            <a:r>
              <a:rPr lang="en-IN" altLang="x-none" sz="1800" dirty="0"/>
              <a:t>If c1 and O′ are new medoids, calculate the total cost involved</a:t>
            </a:r>
            <a:endParaRPr lang="en-IN" altLang="x-none" sz="1800" dirty="0"/>
          </a:p>
          <a:p>
            <a:pPr lvl="1">
              <a:buClr>
                <a:schemeClr val="accent1"/>
              </a:buClr>
              <a:buSzPct val="80000"/>
              <a:buFont typeface="Wingdings 2" panose="05020102010507070707" pitchFamily="18" charset="2"/>
            </a:pPr>
            <a:r>
              <a:rPr lang="en-IN" altLang="x-none" sz="1800" dirty="0"/>
              <a:t>By using the formula in the step 1</a:t>
            </a:r>
            <a:endParaRPr lang="en-IN" altLang="x-none" sz="1800" dirty="0"/>
          </a:p>
          <a:p>
            <a:pPr>
              <a:buClr>
                <a:schemeClr val="accent1"/>
              </a:buClr>
              <a:buSzPct val="70000"/>
              <a:buFont typeface="Wingdings" panose="05000000000000000000" pitchFamily="2" charset="2"/>
              <a:buNone/>
            </a:pPr>
            <a:endParaRPr lang="en-IN" altLang="x-none" dirty="0"/>
          </a:p>
        </p:txBody>
      </p:sp>
      <p:sp>
        <p:nvSpPr>
          <p:cNvPr id="81922"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1923"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81924" name="Picture 2"/>
          <p:cNvPicPr>
            <a:picLocks noChangeAspect="1"/>
          </p:cNvPicPr>
          <p:nvPr/>
        </p:nvPicPr>
        <p:blipFill>
          <a:blip r:embed="rId1"/>
          <a:srcRect l="13126" t="28000" r="44376" b="42999"/>
          <a:stretch>
            <a:fillRect/>
          </a:stretch>
        </p:blipFill>
        <p:spPr>
          <a:xfrm>
            <a:off x="533400" y="3279775"/>
            <a:ext cx="3573463" cy="1524000"/>
          </a:xfrm>
          <a:prstGeom prst="rect">
            <a:avLst/>
          </a:prstGeom>
          <a:noFill/>
          <a:ln w="9525">
            <a:noFill/>
          </a:ln>
        </p:spPr>
      </p:pic>
      <p:pic>
        <p:nvPicPr>
          <p:cNvPr id="81925" name="Picture 2"/>
          <p:cNvPicPr>
            <a:picLocks noChangeAspect="1"/>
          </p:cNvPicPr>
          <p:nvPr/>
        </p:nvPicPr>
        <p:blipFill>
          <a:blip r:embed="rId1"/>
          <a:srcRect l="13126" t="58450" r="43375" b="11099"/>
          <a:stretch>
            <a:fillRect/>
          </a:stretch>
        </p:blipFill>
        <p:spPr>
          <a:xfrm>
            <a:off x="4419600" y="3203575"/>
            <a:ext cx="3657600" cy="1600200"/>
          </a:xfrm>
          <a:prstGeom prst="rect">
            <a:avLst/>
          </a:prstGeom>
          <a:noFill/>
          <a:ln w="9525">
            <a:noFill/>
          </a:ln>
        </p:spPr>
      </p:pic>
      <p:pic>
        <p:nvPicPr>
          <p:cNvPr id="81926" name="Picture 2"/>
          <p:cNvPicPr>
            <a:picLocks noChangeAspect="1"/>
          </p:cNvPicPr>
          <p:nvPr/>
        </p:nvPicPr>
        <p:blipFill>
          <a:blip r:embed="rId2"/>
          <a:srcRect l="13264" t="20647" r="54082" b="40170"/>
          <a:stretch>
            <a:fillRect/>
          </a:stretch>
        </p:blipFill>
        <p:spPr>
          <a:xfrm>
            <a:off x="2819400" y="4876800"/>
            <a:ext cx="2438400" cy="1828800"/>
          </a:xfrm>
          <a:prstGeom prst="rect">
            <a:avLst/>
          </a:prstGeom>
          <a:noFill/>
          <a:ln w="9525">
            <a:noFill/>
          </a:ln>
        </p:spPr>
      </p:pic>
      <p:sp>
        <p:nvSpPr>
          <p:cNvPr id="10" name="Title 1"/>
          <p:cNvSpPr>
            <a:spLocks noGrp="1"/>
          </p:cNvSpPr>
          <p:nvPr>
            <p:ph type="title"/>
          </p:nvPr>
        </p:nvSpPr>
        <p:spPr>
          <a:xfrm>
            <a:off x="457200" y="274638"/>
            <a:ext cx="7467600" cy="411163"/>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Demonstration of PAM (Cont…)</a:t>
            </a:r>
            <a:endParaRPr kumimoji="0" lang="en-IN" sz="30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294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82947" name="Picture 3"/>
          <p:cNvPicPr>
            <a:picLocks noGrp="1" noChangeAspect="1"/>
          </p:cNvPicPr>
          <p:nvPr>
            <p:ph sz="quarter" idx="1"/>
          </p:nvPr>
        </p:nvPicPr>
        <p:blipFill>
          <a:blip r:embed="rId1"/>
          <a:srcRect l="12962" t="40237" r="22449" b="32007"/>
          <a:stretch>
            <a:fillRect/>
          </a:stretch>
        </p:blipFill>
        <p:spPr>
          <a:xfrm>
            <a:off x="914400" y="1676400"/>
            <a:ext cx="6858000" cy="2743200"/>
          </a:xfrm>
          <a:ln/>
        </p:spPr>
      </p:pic>
      <p:sp>
        <p:nvSpPr>
          <p:cNvPr id="10" name="Title 1"/>
          <p:cNvSpPr>
            <a:spLocks noGrp="1"/>
          </p:cNvSpPr>
          <p:nvPr>
            <p:ph type="title"/>
          </p:nvPr>
        </p:nvSpPr>
        <p:spPr>
          <a:xfrm>
            <a:off x="457200" y="381000"/>
            <a:ext cx="7467600" cy="579438"/>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Demonstration of PAM (Cont…)</a:t>
            </a:r>
            <a:endParaRPr kumimoji="0" lang="en-IN" sz="3000" b="1" i="0" u="none" strike="noStrike" kern="1200" cap="small" spc="0" normalizeH="0" baseline="0" noProof="0" dirty="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noChangeArrowheads="1"/>
          </p:cNvSpPr>
          <p:nvPr>
            <p:ph type="title"/>
          </p:nvPr>
        </p:nvSpPr>
        <p:spPr>
          <a:xfrm>
            <a:off x="228600" y="533400"/>
            <a:ext cx="8610600" cy="442913"/>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PAM (Partitioning Around </a:t>
            </a:r>
            <a:r>
              <a:rPr kumimoji="0" lang="en-US" sz="3200" b="1" i="0" u="none" strike="noStrike" kern="1200" cap="small" spc="0" normalizeH="0" baseline="0" noProof="0" dirty="0" err="1"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Medoids</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a:t>
            </a:r>
            <a:endParaRPr kumimoji="0" lang="en-US" sz="44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3970" name="Rectangle 3"/>
          <p:cNvSpPr>
            <a:spLocks noGrp="1"/>
          </p:cNvSpPr>
          <p:nvPr>
            <p:ph sz="quarter" idx="1"/>
          </p:nvPr>
        </p:nvSpPr>
        <p:spPr>
          <a:xfrm>
            <a:off x="457200" y="1295400"/>
            <a:ext cx="7848600" cy="5029200"/>
          </a:xfrm>
          <a:ln/>
        </p:spPr>
        <p:txBody>
          <a:bodyPr vert="horz" wrap="square" lIns="91440" tIns="45720" rIns="91440" bIns="45720" anchor="t" anchorCtr="0"/>
          <a:p>
            <a:pPr eaLnBrk="1" hangingPunct="1">
              <a:lnSpc>
                <a:spcPct val="120000"/>
              </a:lnSpc>
              <a:buClr>
                <a:schemeClr val="accent1"/>
              </a:buClr>
              <a:buSzPct val="70000"/>
              <a:buFont typeface="Wingdings" panose="05000000000000000000" pitchFamily="2" charset="2"/>
            </a:pPr>
            <a:r>
              <a:rPr lang="en-US" dirty="0"/>
              <a:t>PAM (Kaufman and Rousseeuw, 1987), built in Splus</a:t>
            </a:r>
            <a:endParaRPr lang="en-US" dirty="0"/>
          </a:p>
          <a:p>
            <a:pPr eaLnBrk="1" hangingPunct="1">
              <a:lnSpc>
                <a:spcPct val="120000"/>
              </a:lnSpc>
              <a:buClr>
                <a:schemeClr val="accent1"/>
              </a:buClr>
              <a:buSzPct val="70000"/>
              <a:buFont typeface="Wingdings" panose="05000000000000000000" pitchFamily="2" charset="2"/>
            </a:pPr>
            <a:r>
              <a:rPr lang="en-US" dirty="0"/>
              <a:t>Use real object to represent the cluster</a:t>
            </a:r>
            <a:endParaRPr lang="en-US" dirty="0"/>
          </a:p>
          <a:p>
            <a:pPr lvl="1" eaLnBrk="1" hangingPunct="1">
              <a:lnSpc>
                <a:spcPct val="120000"/>
              </a:lnSpc>
              <a:buClr>
                <a:schemeClr val="accent1"/>
              </a:buClr>
              <a:buSzPct val="80000"/>
              <a:buFont typeface="Wingdings 2" panose="05020102010507070707" pitchFamily="18" charset="2"/>
            </a:pPr>
            <a:r>
              <a:rPr lang="en-US" dirty="0"/>
              <a:t>Select </a:t>
            </a:r>
            <a:r>
              <a:rPr lang="en-US" b="1" i="1" dirty="0"/>
              <a:t>k</a:t>
            </a:r>
            <a:r>
              <a:rPr lang="en-US" dirty="0"/>
              <a:t> representative objects arbitrarily</a:t>
            </a:r>
            <a:endParaRPr lang="en-US" dirty="0"/>
          </a:p>
          <a:p>
            <a:pPr lvl="1" eaLnBrk="1" hangingPunct="1">
              <a:lnSpc>
                <a:spcPct val="120000"/>
              </a:lnSpc>
              <a:buClr>
                <a:schemeClr val="accent1"/>
              </a:buClr>
              <a:buSzPct val="80000"/>
              <a:buFont typeface="Wingdings 2" panose="05020102010507070707" pitchFamily="18" charset="2"/>
            </a:pPr>
            <a:r>
              <a:rPr lang="en-US" dirty="0"/>
              <a:t>For each pair of non-selected object </a:t>
            </a:r>
            <a:r>
              <a:rPr lang="en-US" b="1" i="1" dirty="0"/>
              <a:t>h</a:t>
            </a:r>
            <a:r>
              <a:rPr lang="en-US" dirty="0"/>
              <a:t> and selected object </a:t>
            </a:r>
            <a:r>
              <a:rPr lang="en-US" b="1" i="1" dirty="0"/>
              <a:t>i</a:t>
            </a:r>
            <a:r>
              <a:rPr lang="en-US" dirty="0"/>
              <a:t>, calculate the total swapping cost </a:t>
            </a:r>
            <a:r>
              <a:rPr lang="en-US" b="1" i="1" dirty="0"/>
              <a:t>TC</a:t>
            </a:r>
            <a:r>
              <a:rPr lang="en-US" b="1" i="1" baseline="-25000" dirty="0"/>
              <a:t>ih</a:t>
            </a:r>
            <a:endParaRPr lang="en-US" dirty="0"/>
          </a:p>
          <a:p>
            <a:pPr lvl="1" eaLnBrk="1" hangingPunct="1">
              <a:lnSpc>
                <a:spcPct val="120000"/>
              </a:lnSpc>
              <a:buClr>
                <a:schemeClr val="accent1"/>
              </a:buClr>
              <a:buSzPct val="80000"/>
              <a:buFont typeface="Wingdings 2" panose="05020102010507070707" pitchFamily="18" charset="2"/>
            </a:pPr>
            <a:r>
              <a:rPr lang="en-US" dirty="0"/>
              <a:t>For each pair of </a:t>
            </a:r>
            <a:r>
              <a:rPr lang="en-US" b="1" i="1" dirty="0"/>
              <a:t>i</a:t>
            </a:r>
            <a:r>
              <a:rPr lang="en-US" dirty="0"/>
              <a:t> and </a:t>
            </a:r>
            <a:r>
              <a:rPr lang="en-US" b="1" i="1" dirty="0"/>
              <a:t>h</a:t>
            </a:r>
            <a:r>
              <a:rPr lang="en-US" dirty="0"/>
              <a:t>, </a:t>
            </a:r>
            <a:endParaRPr lang="en-US" dirty="0"/>
          </a:p>
          <a:p>
            <a:pPr lvl="2" indent="-182245" eaLnBrk="1" hangingPunct="1">
              <a:lnSpc>
                <a:spcPct val="120000"/>
              </a:lnSpc>
              <a:buClr>
                <a:srgbClr val="E1307B"/>
              </a:buClr>
              <a:buSzPct val="60000"/>
              <a:buFont typeface="Wingdings" panose="05000000000000000000" pitchFamily="2" charset="2"/>
            </a:pPr>
            <a:r>
              <a:rPr lang="en-US" sz="1800" dirty="0"/>
              <a:t>If </a:t>
            </a:r>
            <a:r>
              <a:rPr lang="en-US" sz="1800" i="1" dirty="0"/>
              <a:t>TC</a:t>
            </a:r>
            <a:r>
              <a:rPr lang="en-US" sz="1800" i="1" baseline="-25000" dirty="0"/>
              <a:t>ih</a:t>
            </a:r>
            <a:r>
              <a:rPr lang="en-US" sz="1800" dirty="0"/>
              <a:t> &lt; 0, </a:t>
            </a:r>
            <a:r>
              <a:rPr lang="en-US" sz="1800" b="1" i="1" dirty="0"/>
              <a:t>i</a:t>
            </a:r>
            <a:r>
              <a:rPr lang="en-US" sz="1800" dirty="0"/>
              <a:t> is replaced by </a:t>
            </a:r>
            <a:r>
              <a:rPr lang="en-US" sz="1800" b="1" i="1" dirty="0"/>
              <a:t>h</a:t>
            </a:r>
            <a:endParaRPr lang="en-US" sz="1800" dirty="0"/>
          </a:p>
          <a:p>
            <a:pPr lvl="2" indent="-182245" eaLnBrk="1" hangingPunct="1">
              <a:lnSpc>
                <a:spcPct val="120000"/>
              </a:lnSpc>
              <a:buClr>
                <a:srgbClr val="E1307B"/>
              </a:buClr>
              <a:buSzPct val="60000"/>
              <a:buFont typeface="Wingdings" panose="05000000000000000000" pitchFamily="2" charset="2"/>
            </a:pPr>
            <a:r>
              <a:rPr lang="en-US" sz="1800" dirty="0"/>
              <a:t>Then assign each non-selected object to the most similar representative object</a:t>
            </a:r>
            <a:endParaRPr lang="en-US" sz="1800" dirty="0"/>
          </a:p>
          <a:p>
            <a:pPr lvl="1" eaLnBrk="1" hangingPunct="1">
              <a:lnSpc>
                <a:spcPct val="120000"/>
              </a:lnSpc>
              <a:buClr>
                <a:schemeClr val="accent1"/>
              </a:buClr>
              <a:buSzPct val="80000"/>
              <a:buFont typeface="Wingdings 2" panose="05020102010507070707" pitchFamily="18" charset="2"/>
            </a:pPr>
            <a:r>
              <a:rPr lang="en-US" dirty="0"/>
              <a:t>repeat steps 2-3 until there is no change</a:t>
            </a:r>
            <a:endParaRPr lang="en-US" dirty="0"/>
          </a:p>
        </p:txBody>
      </p:sp>
      <p:sp>
        <p:nvSpPr>
          <p:cNvPr id="8397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397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499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ChangeArrowheads="1"/>
          </p:cNvSpPr>
          <p:nvPr/>
        </p:nvSpPr>
        <p:spPr bwMode="auto">
          <a:xfrm>
            <a:off x="381000" y="1447800"/>
            <a:ext cx="7848600" cy="3046413"/>
          </a:xfrm>
          <a:prstGeom prst="rect">
            <a:avLst/>
          </a:prstGeom>
          <a:noFill/>
          <a:ln w="9525">
            <a:noFill/>
            <a:miter lim="800000"/>
          </a:ln>
        </p:spPr>
        <p:txBody>
          <a:bodyPr>
            <a:spAutoFit/>
          </a:bodyPr>
          <a:lstStyle/>
          <a:p>
            <a:pPr marL="0" marR="0" lvl="0" indent="0" algn="just" defTabSz="914400" rtl="0" eaLnBrk="0" fontAlgn="base" latinLnBrk="0" hangingPunct="0">
              <a:lnSpc>
                <a:spcPct val="100000"/>
              </a:lnSpc>
              <a:spcBef>
                <a:spcPts val="0"/>
              </a:spcBef>
              <a:spcAft>
                <a:spcPct val="0"/>
              </a:spcAft>
              <a:buClr>
                <a:srgbClr val="666699"/>
              </a:buClr>
              <a:buSzPct val="130000"/>
              <a:buFont typeface="Courier New" panose="02070309020205020404" pitchFamily="49" charset="0"/>
              <a:buChar char="o"/>
              <a:defRPr/>
            </a:pP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PAM is more robust than k-means in the   	presence of noise and outliers</a:t>
            </a:r>
            <a:endPar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endParaRPr>
          </a:p>
          <a:p>
            <a:pPr marL="0" marR="0" lvl="0" indent="0" algn="just" defTabSz="914400" rtl="0" eaLnBrk="0" fontAlgn="base" latinLnBrk="0" hangingPunct="0">
              <a:lnSpc>
                <a:spcPct val="100000"/>
              </a:lnSpc>
              <a:spcBef>
                <a:spcPts val="0"/>
              </a:spcBef>
              <a:spcAft>
                <a:spcPct val="0"/>
              </a:spcAft>
              <a:buClr>
                <a:srgbClr val="666699"/>
              </a:buClr>
              <a:buSzPct val="130000"/>
              <a:buFont typeface="Courier New" panose="02070309020205020404" pitchFamily="49" charset="0"/>
              <a:buChar char="o"/>
              <a:defRPr/>
            </a:pP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a:t>
            </a:r>
            <a:r>
              <a:rPr kumimoji="1" lang="en-US" sz="2400" b="0" i="0" u="none" strike="noStrike" kern="1200" cap="none" spc="0" normalizeH="0" baseline="0" noProof="0" dirty="0" err="1">
                <a:ln>
                  <a:noFill/>
                </a:ln>
                <a:solidFill>
                  <a:srgbClr val="000000"/>
                </a:solidFill>
                <a:effectLst/>
                <a:uLnTx/>
                <a:uFillTx/>
                <a:latin typeface="+mn-lt"/>
                <a:ea typeface="+mn-ea"/>
                <a:cs typeface="Sakkal Majalla" pitchFamily="2" charset="-78"/>
              </a:rPr>
              <a:t>Medoids</a:t>
            </a: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are less influenced by outliers</a:t>
            </a:r>
            <a:endPar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endParaRPr>
          </a:p>
          <a:p>
            <a:pPr marL="0" marR="0" lvl="0" indent="0" algn="just" defTabSz="914400" rtl="0" eaLnBrk="0" fontAlgn="base" latinLnBrk="0" hangingPunct="0">
              <a:lnSpc>
                <a:spcPct val="100000"/>
              </a:lnSpc>
              <a:spcBef>
                <a:spcPts val="0"/>
              </a:spcBef>
              <a:spcAft>
                <a:spcPct val="0"/>
              </a:spcAft>
              <a:buClr>
                <a:srgbClr val="666699"/>
              </a:buClr>
              <a:buSzPct val="130000"/>
              <a:buFont typeface="Courier New" panose="02070309020205020404" pitchFamily="49" charset="0"/>
              <a:buChar char="o"/>
              <a:defRPr/>
            </a:pP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PAM is efficiently for small data sets 	but does 	not scale well for large data 	sets</a:t>
            </a:r>
            <a:endPar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endParaRPr>
          </a:p>
          <a:p>
            <a:pPr marL="0" marR="0" lvl="0" indent="0" algn="just" defTabSz="914400" rtl="0" eaLnBrk="0" fontAlgn="base" latinLnBrk="0" hangingPunct="0">
              <a:lnSpc>
                <a:spcPct val="100000"/>
              </a:lnSpc>
              <a:spcBef>
                <a:spcPts val="0"/>
              </a:spcBef>
              <a:spcAft>
                <a:spcPct val="0"/>
              </a:spcAft>
              <a:buClr>
                <a:srgbClr val="666699"/>
              </a:buClr>
              <a:buSzPct val="130000"/>
              <a:buFont typeface="Courier New" panose="02070309020205020404" pitchFamily="49" charset="0"/>
              <a:buChar char="o"/>
              <a:defRPr/>
            </a:pP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For each iteration Cost </a:t>
            </a:r>
            <a:r>
              <a:rPr kumimoji="1" lang="en-US" sz="2400" b="0" i="0" u="none" strike="noStrike" kern="1200" cap="none" spc="0" normalizeH="0" baseline="0" noProof="0" dirty="0" err="1">
                <a:ln>
                  <a:noFill/>
                </a:ln>
                <a:solidFill>
                  <a:srgbClr val="000000"/>
                </a:solidFill>
                <a:effectLst/>
                <a:uLnTx/>
                <a:uFillTx/>
                <a:latin typeface="+mn-lt"/>
                <a:ea typeface="+mn-ea"/>
                <a:cs typeface="Sakkal Majalla" pitchFamily="2" charset="-78"/>
              </a:rPr>
              <a:t>TC</a:t>
            </a:r>
            <a:r>
              <a:rPr kumimoji="1" lang="en-US" sz="2400" b="0" i="0" u="none" strike="noStrike" kern="1200" cap="none" spc="0" normalizeH="0" baseline="-25000" noProof="0" dirty="0" err="1">
                <a:ln>
                  <a:noFill/>
                </a:ln>
                <a:solidFill>
                  <a:srgbClr val="000000"/>
                </a:solidFill>
                <a:effectLst/>
                <a:uLnTx/>
                <a:uFillTx/>
                <a:latin typeface="+mn-lt"/>
                <a:ea typeface="+mn-ea"/>
                <a:cs typeface="Sakkal Majalla" pitchFamily="2" charset="-78"/>
              </a:rPr>
              <a:t>ih</a:t>
            </a: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for k(n-k) 	pairs is 	to be determined</a:t>
            </a:r>
            <a:endPar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endParaRPr>
          </a:p>
          <a:p>
            <a:pPr marL="0" marR="0" lvl="0" indent="0" algn="just" defTabSz="914400" rtl="0" eaLnBrk="0" fontAlgn="base" latinLnBrk="0" hangingPunct="0">
              <a:lnSpc>
                <a:spcPct val="100000"/>
              </a:lnSpc>
              <a:spcBef>
                <a:spcPts val="0"/>
              </a:spcBef>
              <a:spcAft>
                <a:spcPct val="0"/>
              </a:spcAft>
              <a:buClr>
                <a:srgbClr val="666699"/>
              </a:buClr>
              <a:buSzPct val="130000"/>
              <a:buFont typeface="Courier New" panose="02070309020205020404" pitchFamily="49" charset="0"/>
              <a:buChar char="o"/>
              <a:defRPr/>
            </a:pPr>
            <a:r>
              <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rPr>
              <a:t> 	Sampling based method: CLARA</a:t>
            </a:r>
            <a:endParaRPr kumimoji="1" lang="en-US" sz="2400" b="0" i="0" u="none" strike="noStrike" kern="1200" cap="none" spc="0" normalizeH="0" baseline="0" noProof="0" dirty="0">
              <a:ln>
                <a:noFill/>
              </a:ln>
              <a:solidFill>
                <a:srgbClr val="000000"/>
              </a:solidFill>
              <a:effectLst/>
              <a:uLnTx/>
              <a:uFillTx/>
              <a:latin typeface="+mn-lt"/>
              <a:ea typeface="+mn-ea"/>
              <a:cs typeface="Sakkal Majalla" pitchFamily="2" charset="-78"/>
            </a:endParaRPr>
          </a:p>
        </p:txBody>
      </p:sp>
      <p:sp>
        <p:nvSpPr>
          <p:cNvPr id="8" name="Text Box 3"/>
          <p:cNvSpPr txBox="1">
            <a:spLocks noChangeArrowheads="1"/>
          </p:cNvSpPr>
          <p:nvPr/>
        </p:nvSpPr>
        <p:spPr bwMode="auto">
          <a:xfrm>
            <a:off x="304800" y="152400"/>
            <a:ext cx="7391400" cy="769938"/>
          </a:xfrm>
          <a:prstGeom prst="rect">
            <a:avLst/>
          </a:prstGeom>
          <a:noFill/>
          <a:ln w="9525">
            <a:noFill/>
            <a:miter lim="800000"/>
          </a:ln>
        </p:spPr>
        <p:txBody>
          <a:bodyPr>
            <a:spAutoFit/>
          </a:bodyPr>
          <a:lstStyle/>
          <a:p>
            <a:pPr marR="0" defTabSz="914400" eaLnBrk="0" hangingPunct="0">
              <a:spcBef>
                <a:spcPct val="50000"/>
              </a:spcBef>
              <a:buClr>
                <a:schemeClr val="folHlink"/>
              </a:buClr>
              <a:buSzPct val="75000"/>
              <a:buFont typeface="Wingdings" panose="05000000000000000000" pitchFamily="2" charset="2"/>
              <a:buNone/>
              <a:defRPr/>
            </a:pPr>
            <a:r>
              <a:rPr kumimoji="1" lang="en-US" sz="4400" b="1" kern="1200" cap="none" spc="0" normalizeH="0" baseline="0" noProof="0" dirty="0">
                <a:solidFill>
                  <a:schemeClr val="accent4">
                    <a:lumMod val="60000"/>
                    <a:lumOff val="40000"/>
                  </a:schemeClr>
                </a:solidFill>
                <a:effectLst>
                  <a:outerShdw blurRad="38100" dist="38100" dir="2700000" algn="tl">
                    <a:srgbClr val="000000">
                      <a:alpha val="43137"/>
                    </a:srgbClr>
                  </a:outerShdw>
                </a:effectLst>
                <a:latin typeface="Sakkal Majalla" pitchFamily="2" charset="-78"/>
                <a:ea typeface="+mn-ea"/>
                <a:cs typeface="Sakkal Majalla" pitchFamily="2" charset="-78"/>
              </a:rPr>
              <a:t>Adv &amp; Disadvantages  of PAM</a:t>
            </a:r>
            <a:endParaRPr kumimoji="1" lang="en-US" sz="4400" b="1" kern="1200" cap="none" spc="0" normalizeH="0" baseline="0" noProof="0" dirty="0">
              <a:solidFill>
                <a:schemeClr val="accent4">
                  <a:lumMod val="60000"/>
                  <a:lumOff val="40000"/>
                </a:schemeClr>
              </a:solidFill>
              <a:effectLst>
                <a:outerShdw blurRad="38100" dist="38100" dir="2700000" algn="tl">
                  <a:srgbClr val="000000">
                    <a:alpha val="43137"/>
                  </a:srgbClr>
                </a:outerShdw>
              </a:effectLst>
              <a:latin typeface="Sakkal Majalla" pitchFamily="2" charset="-78"/>
              <a:ea typeface="+mn-ea"/>
              <a:cs typeface="Sakkal Majalla" pitchFamily="2" charset="-78"/>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noChangeArrowheads="1"/>
          </p:cNvSpPr>
          <p:nvPr>
            <p:ph type="title"/>
          </p:nvPr>
        </p:nvSpPr>
        <p:spPr>
          <a:xfrm>
            <a:off x="381000" y="304800"/>
            <a:ext cx="8458200" cy="914400"/>
          </a:xfrm>
        </p:spPr>
        <p:txBody>
          <a:bodyPr vert="horz" anchor="b">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CLARA</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(Clustering Large Applications) (1990)</a:t>
            </a:r>
            <a:endParaRPr kumimoji="0" lang="en-US" sz="21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44035" name="Rectangle 3"/>
          <p:cNvSpPr>
            <a:spLocks noGrp="1" noChangeArrowheads="1"/>
          </p:cNvSpPr>
          <p:nvPr>
            <p:ph sz="quarter" idx="1"/>
          </p:nvPr>
        </p:nvSpPr>
        <p:spPr>
          <a:xfrm>
            <a:off x="381000" y="1524000"/>
            <a:ext cx="8001000" cy="4724400"/>
          </a:xfrm>
        </p:spPr>
        <p:txBody>
          <a:bodyPr vert="horz" wrap="square" lIns="91440" tIns="45720" rIns="91440" bIns="45720" numCol="1" anchor="t" anchorCtr="0" compatLnSpc="1">
            <a:normAutofit fontScale="92500"/>
          </a:bodyPr>
          <a:lstStyle/>
          <a:p>
            <a:pPr marL="274320" marR="0" lvl="0" indent="-274320" algn="l"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1" u="none" strike="noStrike" kern="1200" cap="none" spc="0" normalizeH="0" baseline="0" noProof="0" smtClean="0">
                <a:ln>
                  <a:noFill/>
                </a:ln>
                <a:solidFill>
                  <a:schemeClr val="tx1"/>
                </a:solidFill>
                <a:effectLst/>
                <a:uLnTx/>
                <a:uFillTx/>
                <a:latin typeface="+mn-lt"/>
                <a:ea typeface="+mn-ea"/>
                <a:cs typeface="+mn-cs"/>
              </a:rPr>
              <a:t>CLARA</a:t>
            </a:r>
            <a:r>
              <a:rPr kumimoji="0" lang="en-US" sz="2400" b="0" i="0" u="none" strike="noStrike" kern="1200" cap="none" spc="0" normalizeH="0" baseline="0" noProof="0" smtClean="0">
                <a:ln>
                  <a:noFill/>
                </a:ln>
                <a:solidFill>
                  <a:schemeClr val="tx1"/>
                </a:solidFill>
                <a:effectLst/>
                <a:uLnTx/>
                <a:uFillTx/>
                <a:latin typeface="+mn-lt"/>
                <a:ea typeface="+mn-ea"/>
                <a:cs typeface="+mn-cs"/>
              </a:rPr>
              <a:t> (Kaufmann and Rousseeuw in 1990)</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20000"/>
              </a:lnSpc>
              <a:spcBef>
                <a:spcPct val="50000"/>
              </a:spcBef>
              <a:spcAft>
                <a:spcPts val="0"/>
              </a:spcAft>
              <a:buClr>
                <a:schemeClr val="tx1"/>
              </a:buClr>
              <a:buSzPct val="80000"/>
              <a:buFont typeface="Wingdings 2" panose="05020102010507070707"/>
              <a:buChar char=""/>
              <a:defRPr/>
            </a:pPr>
            <a:r>
              <a:rPr kumimoji="0" lang="en-US" sz="2100" b="0" i="0" u="none" strike="noStrike" kern="1200" cap="none" spc="0" normalizeH="0" baseline="0" noProof="0" smtClean="0">
                <a:ln>
                  <a:noFill/>
                </a:ln>
                <a:solidFill>
                  <a:schemeClr val="tx1"/>
                </a:solidFill>
                <a:effectLst/>
                <a:uLnTx/>
                <a:uFillTx/>
                <a:latin typeface="+mn-lt"/>
                <a:ea typeface="+mn-ea"/>
                <a:cs typeface="+mn-cs"/>
              </a:rPr>
              <a:t>Built in statistical analysis packages, such as S+</a:t>
            </a:r>
            <a:endParaRPr kumimoji="0" lang="en-US" sz="21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It draws </a:t>
            </a:r>
            <a:r>
              <a:rPr kumimoji="0" lang="en-US" sz="2400" b="0" i="1" u="none" strike="noStrike" kern="1200" cap="none" spc="0" normalizeH="0" baseline="0" noProof="0" smtClean="0">
                <a:ln>
                  <a:noFill/>
                </a:ln>
                <a:solidFill>
                  <a:schemeClr val="tx1"/>
                </a:solidFill>
                <a:effectLst/>
                <a:uLnTx/>
                <a:uFillTx/>
                <a:latin typeface="+mn-lt"/>
                <a:ea typeface="+mn-ea"/>
                <a:cs typeface="+mn-cs"/>
              </a:rPr>
              <a:t>multiple samples</a:t>
            </a:r>
            <a:r>
              <a:rPr kumimoji="0" lang="en-US" sz="2400" b="0" i="0" u="none" strike="noStrike" kern="1200" cap="none" spc="0" normalizeH="0" baseline="0" noProof="0" smtClean="0">
                <a:ln>
                  <a:noFill/>
                </a:ln>
                <a:solidFill>
                  <a:schemeClr val="tx1"/>
                </a:solidFill>
                <a:effectLst/>
                <a:uLnTx/>
                <a:uFillTx/>
                <a:latin typeface="+mn-lt"/>
                <a:ea typeface="+mn-ea"/>
                <a:cs typeface="+mn-cs"/>
              </a:rPr>
              <a:t> of the data set, applies </a:t>
            </a:r>
            <a:r>
              <a:rPr kumimoji="0" lang="en-US" sz="2400" b="0" i="1" u="none" strike="noStrike" kern="1200" cap="none" spc="0" normalizeH="0" baseline="0" noProof="0" smtClean="0">
                <a:ln>
                  <a:noFill/>
                </a:ln>
                <a:solidFill>
                  <a:schemeClr val="tx1"/>
                </a:solidFill>
                <a:effectLst/>
                <a:uLnTx/>
                <a:uFillTx/>
                <a:latin typeface="+mn-lt"/>
                <a:ea typeface="+mn-ea"/>
                <a:cs typeface="+mn-cs"/>
              </a:rPr>
              <a:t>PAM</a:t>
            </a:r>
            <a:r>
              <a:rPr kumimoji="0" lang="en-US" sz="2400" b="0" i="0" u="none" strike="noStrike" kern="1200" cap="none" spc="0" normalizeH="0" baseline="0" noProof="0" smtClean="0">
                <a:ln>
                  <a:noFill/>
                </a:ln>
                <a:solidFill>
                  <a:schemeClr val="tx1"/>
                </a:solidFill>
                <a:effectLst/>
                <a:uLnTx/>
                <a:uFillTx/>
                <a:latin typeface="+mn-lt"/>
                <a:ea typeface="+mn-ea"/>
                <a:cs typeface="+mn-cs"/>
              </a:rPr>
              <a:t> on each sample, and gives the best clustering as the output</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Strength</a:t>
            </a:r>
            <a:r>
              <a:rPr kumimoji="0" lang="en-US" sz="2400" b="0" i="0" u="none" strike="noStrike" kern="1200" cap="none" spc="0" normalizeH="0" baseline="0" noProof="0" smtClean="0">
                <a:ln>
                  <a:noFill/>
                </a:ln>
                <a:solidFill>
                  <a:schemeClr val="tx1"/>
                </a:solidFill>
                <a:effectLst/>
                <a:uLnTx/>
                <a:uFillTx/>
                <a:latin typeface="+mn-lt"/>
                <a:ea typeface="+mn-ea"/>
                <a:cs typeface="+mn-cs"/>
              </a:rPr>
              <a:t>: deals with larger data sets than </a:t>
            </a:r>
            <a:r>
              <a:rPr kumimoji="0" lang="en-US" sz="2400" b="0" i="1" u="none" strike="noStrike" kern="1200" cap="none" spc="0" normalizeH="0" baseline="0" noProof="0" smtClean="0">
                <a:ln>
                  <a:noFill/>
                </a:ln>
                <a:solidFill>
                  <a:schemeClr val="tx1"/>
                </a:solidFill>
                <a:effectLst/>
                <a:uLnTx/>
                <a:uFillTx/>
                <a:latin typeface="+mn-lt"/>
                <a:ea typeface="+mn-ea"/>
                <a:cs typeface="+mn-cs"/>
              </a:rPr>
              <a:t>PAM</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20000"/>
              </a:lnSpc>
              <a:spcBef>
                <a:spcPts val="600"/>
              </a:spcBef>
              <a:spcAft>
                <a:spcPts val="0"/>
              </a:spcAft>
              <a:buClr>
                <a:schemeClr val="accent1"/>
              </a:buClr>
              <a:buSzPct val="70000"/>
              <a:buFont typeface="Wingdings" panose="05000000000000000000"/>
              <a:buChar char=""/>
              <a:defRPr/>
            </a:pPr>
            <a:r>
              <a:rPr kumimoji="0" lang="en-US" sz="2400" b="0" i="0" u="sng" strike="noStrike" kern="1200" cap="none" spc="0" normalizeH="0" baseline="0" noProof="0" smtClean="0">
                <a:ln>
                  <a:noFill/>
                </a:ln>
                <a:solidFill>
                  <a:schemeClr val="tx1"/>
                </a:solidFill>
                <a:effectLst/>
                <a:uLnTx/>
                <a:uFillTx/>
                <a:latin typeface="+mn-lt"/>
                <a:ea typeface="+mn-ea"/>
                <a:cs typeface="+mn-cs"/>
              </a:rPr>
              <a:t>Weakness: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smtClean="0">
                <a:ln>
                  <a:noFill/>
                </a:ln>
                <a:solidFill>
                  <a:schemeClr val="tx1"/>
                </a:solidFill>
                <a:effectLst/>
                <a:uLnTx/>
                <a:uFillTx/>
                <a:latin typeface="+mn-lt"/>
                <a:ea typeface="+mn-ea"/>
                <a:cs typeface="+mn-cs"/>
              </a:rPr>
              <a:t>Efficiency depends on the sample size</a:t>
            </a:r>
            <a:endParaRPr kumimoji="0" lang="en-US" sz="2100" b="0" i="0" u="none" strike="noStrike" kern="1200" cap="none" spc="0" normalizeH="0" baseline="0" noProof="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20000"/>
              </a:lnSpc>
              <a:spcBef>
                <a:spcPct val="20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smtClean="0">
                <a:ln>
                  <a:noFill/>
                </a:ln>
                <a:solidFill>
                  <a:schemeClr val="tx1"/>
                </a:solidFill>
                <a:effectLst/>
                <a:uLnTx/>
                <a:uFillTx/>
                <a:latin typeface="+mn-lt"/>
                <a:ea typeface="+mn-ea"/>
                <a:cs typeface="+mn-cs"/>
              </a:rPr>
              <a:t>A good clustering based on samples will not necessarily represent a good clustering of the whole data set if the sample is biased</a:t>
            </a:r>
            <a:endParaRPr kumimoji="0" lang="en-US" sz="2100" b="0" i="0" u="none" strike="noStrike" kern="1200" cap="none" spc="0" normalizeH="0" baseline="0" noProof="0" smtClean="0">
              <a:ln>
                <a:noFill/>
              </a:ln>
              <a:solidFill>
                <a:schemeClr val="tx1"/>
              </a:solidFill>
              <a:effectLst/>
              <a:uLnTx/>
              <a:uFillTx/>
              <a:latin typeface="+mn-lt"/>
              <a:ea typeface="+mn-ea"/>
              <a:cs typeface="+mn-cs"/>
            </a:endParaRPr>
          </a:p>
        </p:txBody>
      </p:sp>
      <p:sp>
        <p:nvSpPr>
          <p:cNvPr id="8601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602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noChangeArrowheads="1"/>
          </p:cNvSpPr>
          <p:nvPr>
            <p:ph type="title"/>
          </p:nvPr>
        </p:nvSpPr>
        <p:spPr>
          <a:xfrm>
            <a:off x="152400" y="228600"/>
            <a:ext cx="8077200" cy="91440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CLARANS </a:t>
            </a:r>
            <a:r>
              <a:rPr kumimoji="0" lang="en-US"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(“Randomized” CLARA)</a:t>
            </a:r>
            <a:r>
              <a:rPr kumimoji="0" lang="en-US" sz="3200" b="1" i="1"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 (1994)</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7042" name="Rectangle 3"/>
          <p:cNvSpPr>
            <a:spLocks noGrp="1"/>
          </p:cNvSpPr>
          <p:nvPr>
            <p:ph sz="quarter" idx="1"/>
          </p:nvPr>
        </p:nvSpPr>
        <p:spPr>
          <a:xfrm>
            <a:off x="304800" y="1600200"/>
            <a:ext cx="7772400" cy="2667000"/>
          </a:xfrm>
          <a:ln/>
        </p:spPr>
        <p:txBody>
          <a:bodyPr vert="horz" wrap="square" lIns="91440" tIns="45720" rIns="91440" bIns="45720" anchor="t" anchorCtr="0"/>
          <a:p>
            <a:pPr algn="just" eaLnBrk="1" hangingPunct="1">
              <a:lnSpc>
                <a:spcPct val="110000"/>
              </a:lnSpc>
              <a:buClr>
                <a:schemeClr val="accent1"/>
              </a:buClr>
              <a:buSzPct val="70000"/>
              <a:buFont typeface="Wingdings" panose="05000000000000000000" pitchFamily="2" charset="2"/>
            </a:pPr>
            <a:r>
              <a:rPr lang="en-US" i="1" dirty="0"/>
              <a:t>CLARANS</a:t>
            </a:r>
            <a:r>
              <a:rPr lang="en-US" dirty="0"/>
              <a:t> (A Clustering Algorithm based on Randomized Search)  (Ng and Han’94)</a:t>
            </a:r>
            <a:endParaRPr lang="en-US" dirty="0"/>
          </a:p>
          <a:p>
            <a:pPr algn="just" eaLnBrk="1" hangingPunct="1">
              <a:lnSpc>
                <a:spcPct val="110000"/>
              </a:lnSpc>
              <a:buClr>
                <a:schemeClr val="accent1"/>
              </a:buClr>
              <a:buSzPct val="70000"/>
              <a:buFont typeface="Wingdings" panose="05000000000000000000" pitchFamily="2" charset="2"/>
            </a:pPr>
            <a:r>
              <a:rPr lang="en-US" dirty="0"/>
              <a:t>CLARANS draws sample of neighbors dynamically</a:t>
            </a:r>
            <a:endParaRPr lang="en-US" dirty="0"/>
          </a:p>
          <a:p>
            <a:pPr algn="just" eaLnBrk="1" hangingPunct="1">
              <a:lnSpc>
                <a:spcPct val="110000"/>
              </a:lnSpc>
              <a:buClr>
                <a:schemeClr val="accent1"/>
              </a:buClr>
              <a:buSzPct val="70000"/>
              <a:buFont typeface="Wingdings" panose="05000000000000000000" pitchFamily="2" charset="2"/>
            </a:pPr>
            <a:r>
              <a:rPr lang="en-US" dirty="0"/>
              <a:t>The clustering process can be presented as searching a graph where every node is a potential solution, that is, a set of </a:t>
            </a:r>
            <a:r>
              <a:rPr lang="en-US" i="1" dirty="0"/>
              <a:t>k</a:t>
            </a:r>
            <a:r>
              <a:rPr lang="en-US" dirty="0"/>
              <a:t> medoids</a:t>
            </a:r>
            <a:endParaRPr lang="en-US" dirty="0"/>
          </a:p>
        </p:txBody>
      </p:sp>
      <p:sp>
        <p:nvSpPr>
          <p:cNvPr id="8704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704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1600200" y="3048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Chapter 8. </a:t>
            </a: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46083"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8806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806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8806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8909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8" name="Rectangle 2"/>
          <p:cNvSpPr>
            <a:spLocks noGrp="1" noChangeArrowheads="1"/>
          </p:cNvSpPr>
          <p:nvPr>
            <p:ph type="title"/>
          </p:nvPr>
        </p:nvSpPr>
        <p:spPr>
          <a:xfrm>
            <a:off x="228600" y="228600"/>
            <a:ext cx="7467600" cy="6096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Hierarchical Clustering</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9092" name="Rectangle 3"/>
          <p:cNvSpPr>
            <a:spLocks noGrp="1"/>
          </p:cNvSpPr>
          <p:nvPr>
            <p:ph sz="quarter" idx="1"/>
          </p:nvPr>
        </p:nvSpPr>
        <p:spPr>
          <a:xfrm>
            <a:off x="533400" y="1447800"/>
            <a:ext cx="7467600" cy="4873625"/>
          </a:xfrm>
          <a:ln/>
        </p:spPr>
        <p:txBody>
          <a:bodyPr vert="horz" wrap="square" lIns="91440" tIns="45720" rIns="91440" bIns="45720" anchor="t" anchorCtr="0"/>
          <a:p>
            <a:pPr algn="just" eaLnBrk="1" hangingPunct="1">
              <a:lnSpc>
                <a:spcPct val="90000"/>
              </a:lnSpc>
              <a:buClr>
                <a:schemeClr val="accent1"/>
              </a:buClr>
              <a:buSzPct val="70000"/>
              <a:buFont typeface="Wingdings" panose="05000000000000000000" pitchFamily="2" charset="2"/>
            </a:pPr>
            <a:r>
              <a:rPr lang="en-US" sz="2800" dirty="0"/>
              <a:t>Clusters are created in levels actually creating sets of clusters at each level.</a:t>
            </a:r>
            <a:endParaRPr lang="en-US" sz="2800" dirty="0"/>
          </a:p>
          <a:p>
            <a:pPr algn="just" eaLnBrk="1" hangingPunct="1">
              <a:lnSpc>
                <a:spcPct val="90000"/>
              </a:lnSpc>
              <a:buClr>
                <a:schemeClr val="accent1"/>
              </a:buClr>
              <a:buSzPct val="70000"/>
              <a:buFont typeface="Wingdings" panose="05000000000000000000" pitchFamily="2" charset="2"/>
            </a:pPr>
            <a:r>
              <a:rPr lang="en-US" sz="2800" b="1" i="1" dirty="0">
                <a:solidFill>
                  <a:schemeClr val="tx2"/>
                </a:solidFill>
              </a:rPr>
              <a:t>Agglomerative Nesting( AGNES)</a:t>
            </a:r>
            <a:endParaRPr lang="en-US" sz="2800" b="1" i="1" dirty="0">
              <a:solidFill>
                <a:schemeClr val="tx2"/>
              </a:solidFill>
            </a:endParaRPr>
          </a:p>
          <a:p>
            <a:pPr lvl="1" algn="just" eaLnBrk="1" hangingPunct="1">
              <a:lnSpc>
                <a:spcPct val="90000"/>
              </a:lnSpc>
              <a:buClr>
                <a:schemeClr val="accent1"/>
              </a:buClr>
              <a:buSzPct val="80000"/>
              <a:buFont typeface="Wingdings 2" panose="05020102010507070707" pitchFamily="18" charset="2"/>
            </a:pPr>
            <a:r>
              <a:rPr lang="en-US" sz="2400" dirty="0"/>
              <a:t>Initially each item in its own cluster</a:t>
            </a:r>
            <a:endParaRPr lang="en-US" sz="2400" dirty="0"/>
          </a:p>
          <a:p>
            <a:pPr lvl="1" algn="just" eaLnBrk="1" hangingPunct="1">
              <a:lnSpc>
                <a:spcPct val="90000"/>
              </a:lnSpc>
              <a:buClr>
                <a:schemeClr val="accent1"/>
              </a:buClr>
              <a:buSzPct val="80000"/>
              <a:buFont typeface="Wingdings 2" panose="05020102010507070707" pitchFamily="18" charset="2"/>
            </a:pPr>
            <a:r>
              <a:rPr lang="en-US" sz="2400" dirty="0"/>
              <a:t>Iteratively clusters are merged together</a:t>
            </a:r>
            <a:endParaRPr lang="en-US" sz="2400" dirty="0"/>
          </a:p>
          <a:p>
            <a:pPr lvl="1" algn="just" eaLnBrk="1" hangingPunct="1">
              <a:lnSpc>
                <a:spcPct val="90000"/>
              </a:lnSpc>
              <a:buClr>
                <a:schemeClr val="accent1"/>
              </a:buClr>
              <a:buSzPct val="80000"/>
              <a:buFont typeface="Wingdings 2" panose="05020102010507070707" pitchFamily="18" charset="2"/>
            </a:pPr>
            <a:r>
              <a:rPr lang="en-US" sz="2400" dirty="0"/>
              <a:t>Bottom Up</a:t>
            </a:r>
            <a:endParaRPr lang="en-US" sz="2400" dirty="0"/>
          </a:p>
          <a:p>
            <a:pPr algn="just" eaLnBrk="1" hangingPunct="1">
              <a:lnSpc>
                <a:spcPct val="90000"/>
              </a:lnSpc>
              <a:buClr>
                <a:schemeClr val="accent1"/>
              </a:buClr>
              <a:buSzPct val="70000"/>
              <a:buFont typeface="Wingdings" panose="05000000000000000000" pitchFamily="2" charset="2"/>
            </a:pPr>
            <a:r>
              <a:rPr lang="en-US" sz="2800" b="1" i="1" dirty="0">
                <a:solidFill>
                  <a:schemeClr val="tx2"/>
                </a:solidFill>
              </a:rPr>
              <a:t>Divisive Analysis(DIANA)</a:t>
            </a:r>
            <a:endParaRPr lang="en-US" sz="2800" b="1" i="1" dirty="0">
              <a:solidFill>
                <a:schemeClr val="tx2"/>
              </a:solidFill>
            </a:endParaRPr>
          </a:p>
          <a:p>
            <a:pPr lvl="1" algn="just" eaLnBrk="1" hangingPunct="1">
              <a:lnSpc>
                <a:spcPct val="90000"/>
              </a:lnSpc>
              <a:buClr>
                <a:schemeClr val="accent1"/>
              </a:buClr>
              <a:buSzPct val="80000"/>
              <a:buFont typeface="Wingdings 2" panose="05020102010507070707" pitchFamily="18" charset="2"/>
            </a:pPr>
            <a:r>
              <a:rPr lang="en-US" sz="2400" dirty="0"/>
              <a:t>Initially all items in one cluster</a:t>
            </a:r>
            <a:endParaRPr lang="en-US" sz="2400" dirty="0"/>
          </a:p>
          <a:p>
            <a:pPr lvl="1" algn="just" eaLnBrk="1" hangingPunct="1">
              <a:lnSpc>
                <a:spcPct val="90000"/>
              </a:lnSpc>
              <a:buClr>
                <a:schemeClr val="accent1"/>
              </a:buClr>
              <a:buSzPct val="80000"/>
              <a:buFont typeface="Wingdings 2" panose="05020102010507070707" pitchFamily="18" charset="2"/>
            </a:pPr>
            <a:r>
              <a:rPr lang="en-US" sz="2400" dirty="0"/>
              <a:t>Large clusters are successively divided</a:t>
            </a:r>
            <a:endParaRPr lang="en-US" sz="2400" dirty="0"/>
          </a:p>
          <a:p>
            <a:pPr lvl="1" algn="just" eaLnBrk="1" hangingPunct="1">
              <a:lnSpc>
                <a:spcPct val="90000"/>
              </a:lnSpc>
              <a:buClr>
                <a:schemeClr val="accent1"/>
              </a:buClr>
              <a:buSzPct val="80000"/>
              <a:buFont typeface="Wingdings 2" panose="05020102010507070707" pitchFamily="18" charset="2"/>
            </a:pPr>
            <a:r>
              <a:rPr lang="en-US" sz="2400" dirty="0"/>
              <a:t>Top Down	</a:t>
            </a:r>
            <a:endParaRPr lang="en-US" sz="2400" dirty="0"/>
          </a:p>
          <a:p>
            <a:pPr algn="just" eaLnBrk="1" hangingPunct="1">
              <a:lnSpc>
                <a:spcPct val="90000"/>
              </a:lnSpc>
              <a:buClr>
                <a:schemeClr val="accent1"/>
              </a:buClr>
              <a:buSzPct val="70000"/>
              <a:buFont typeface="Wingdings" panose="05000000000000000000" pitchFamily="2" charset="2"/>
            </a:pPr>
            <a:endParaRPr lang="en-US"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011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381000"/>
            <a:ext cx="7467600" cy="5794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pic>
        <p:nvPicPr>
          <p:cNvPr id="90116" name="Picture 3"/>
          <p:cNvPicPr>
            <a:picLocks noGrp="1" noChangeAspect="1"/>
          </p:cNvPicPr>
          <p:nvPr>
            <p:ph sz="quarter" idx="1"/>
          </p:nvPr>
        </p:nvPicPr>
        <p:blipFill>
          <a:blip r:embed="rId1"/>
          <a:stretch>
            <a:fillRect/>
          </a:stretch>
        </p:blipFill>
        <p:spPr>
          <a:xfrm>
            <a:off x="914400" y="1676400"/>
            <a:ext cx="6477000" cy="3956050"/>
          </a:xfrm>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113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152400"/>
            <a:ext cx="8153400" cy="1143000"/>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Difficulties with Hierarchical Clustering</a:t>
            </a:r>
            <a:endParaRPr kumimoji="0" lang="en-US" sz="4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91140" name="Rectangle 3"/>
          <p:cNvSpPr>
            <a:spLocks noGrp="1"/>
          </p:cNvSpPr>
          <p:nvPr>
            <p:ph sz="quarter" idx="1"/>
          </p:nvPr>
        </p:nvSpPr>
        <p:spPr>
          <a:xfrm>
            <a:off x="457200" y="1984375"/>
            <a:ext cx="8001000" cy="3121025"/>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Can never undo.</a:t>
            </a:r>
            <a:endParaRPr lang="en-US" dirty="0"/>
          </a:p>
          <a:p>
            <a:pPr eaLnBrk="1" hangingPunct="1">
              <a:buClr>
                <a:schemeClr val="accent1"/>
              </a:buClr>
              <a:buSzPct val="70000"/>
              <a:buFont typeface="Wingdings" panose="05000000000000000000" pitchFamily="2" charset="2"/>
            </a:pPr>
            <a:r>
              <a:rPr lang="en-US" dirty="0"/>
              <a:t>No object swapping is allowed</a:t>
            </a:r>
            <a:endParaRPr lang="en-US" dirty="0"/>
          </a:p>
          <a:p>
            <a:pPr eaLnBrk="1" hangingPunct="1">
              <a:buClr>
                <a:schemeClr val="accent1"/>
              </a:buClr>
              <a:buSzPct val="70000"/>
              <a:buFont typeface="Wingdings" panose="05000000000000000000" pitchFamily="2" charset="2"/>
            </a:pPr>
            <a:r>
              <a:rPr lang="en-US" dirty="0"/>
              <a:t>Merge or split decisions ,if not well chosen may lead to poor quality clusters.</a:t>
            </a:r>
            <a:endParaRPr lang="en-US" dirty="0"/>
          </a:p>
          <a:p>
            <a:pPr eaLnBrk="1" hangingPunct="1">
              <a:buClr>
                <a:schemeClr val="accent1"/>
              </a:buClr>
              <a:buSzPct val="70000"/>
              <a:buFont typeface="Wingdings" panose="05000000000000000000" pitchFamily="2" charset="2"/>
            </a:pPr>
            <a:r>
              <a:rPr lang="en-US" altLang="zh-CN" dirty="0">
                <a:ea typeface="SimSun" panose="02010600030101010101" pitchFamily="2" charset="-122"/>
              </a:rPr>
              <a:t>do not scale well: time complexity of at least </a:t>
            </a:r>
            <a:r>
              <a:rPr lang="en-US" altLang="zh-CN" i="1" dirty="0">
                <a:ea typeface="SimSun" panose="02010600030101010101" pitchFamily="2" charset="-122"/>
              </a:rPr>
              <a:t>O</a:t>
            </a:r>
            <a:r>
              <a:rPr lang="en-US" altLang="zh-CN" dirty="0">
                <a:ea typeface="SimSun" panose="02010600030101010101" pitchFamily="2" charset="-122"/>
              </a:rPr>
              <a:t>(</a:t>
            </a:r>
            <a:r>
              <a:rPr lang="en-US" altLang="zh-CN" i="1" dirty="0">
                <a:ea typeface="SimSun" panose="02010600030101010101" pitchFamily="2" charset="-122"/>
              </a:rPr>
              <a:t>n</a:t>
            </a:r>
            <a:r>
              <a:rPr lang="en-US" altLang="zh-CN" i="1" baseline="30000" dirty="0">
                <a:ea typeface="SimSun" panose="02010600030101010101" pitchFamily="2" charset="-122"/>
              </a:rPr>
              <a:t>2</a:t>
            </a:r>
            <a:r>
              <a:rPr lang="en-US" altLang="zh-CN" dirty="0">
                <a:ea typeface="SimSun" panose="02010600030101010101" pitchFamily="2" charset="-122"/>
              </a:rPr>
              <a:t>), where </a:t>
            </a:r>
            <a:r>
              <a:rPr lang="en-US" altLang="zh-CN" i="1" dirty="0">
                <a:ea typeface="SimSun" panose="02010600030101010101" pitchFamily="2" charset="-122"/>
              </a:rPr>
              <a:t>n</a:t>
            </a:r>
            <a:r>
              <a:rPr lang="en-US" altLang="zh-CN" dirty="0">
                <a:ea typeface="SimSun" panose="02010600030101010101" pitchFamily="2" charset="-122"/>
              </a:rPr>
              <a:t> is the number of total objects.</a:t>
            </a:r>
            <a:endParaRPr lang="en-US" dirty="0">
              <a:ea typeface="SimSun"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216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381000"/>
            <a:ext cx="7467600" cy="7318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Hierarchical Algorithms</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92164" name="Rectangle 3"/>
          <p:cNvSpPr>
            <a:spLocks noGrp="1"/>
          </p:cNvSpPr>
          <p:nvPr>
            <p:ph sz="quarter" idx="1"/>
          </p:nvPr>
        </p:nvSpPr>
        <p:spPr>
          <a:xfrm>
            <a:off x="990600" y="1981200"/>
            <a:ext cx="6019800" cy="15240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Single Link</a:t>
            </a:r>
            <a:endParaRPr lang="en-US" dirty="0"/>
          </a:p>
          <a:p>
            <a:pPr eaLnBrk="1" hangingPunct="1">
              <a:buClr>
                <a:schemeClr val="accent1"/>
              </a:buClr>
              <a:buSzPct val="70000"/>
              <a:buFont typeface="Wingdings" panose="05000000000000000000" pitchFamily="2" charset="2"/>
            </a:pPr>
            <a:r>
              <a:rPr lang="en-US" dirty="0"/>
              <a:t>Complete Link</a:t>
            </a:r>
            <a:endParaRPr lang="en-US" dirty="0"/>
          </a:p>
          <a:p>
            <a:pPr eaLnBrk="1" hangingPunct="1">
              <a:buClr>
                <a:schemeClr val="accent1"/>
              </a:buClr>
              <a:buSzPct val="70000"/>
              <a:buFont typeface="Wingdings" panose="05000000000000000000" pitchFamily="2" charset="2"/>
            </a:pPr>
            <a:r>
              <a:rPr lang="en-US" dirty="0"/>
              <a:t>Average Link</a:t>
            </a:r>
            <a:endParaRPr lang="en-US" dirty="0"/>
          </a:p>
          <a:p>
            <a:pPr eaLnBrk="1" hangingPunct="1">
              <a:buClr>
                <a:schemeClr val="accent1"/>
              </a:buClr>
              <a:buSzPct val="70000"/>
              <a:buFont typeface="Wingdings" panose="05000000000000000000" pitchFamily="2" charset="2"/>
            </a:pP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318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81000" y="457200"/>
            <a:ext cx="7467600" cy="503238"/>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err="1"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Dendrogram</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txBox="1">
            <a:spLocks noChangeArrowheads="1"/>
          </p:cNvSpPr>
          <p:nvPr/>
        </p:nvSpPr>
        <p:spPr bwMode="auto">
          <a:xfrm>
            <a:off x="457200" y="1447800"/>
            <a:ext cx="4343400" cy="4724400"/>
          </a:xfrm>
          <a:prstGeom prst="rect">
            <a:avLst/>
          </a:prstGeom>
          <a:noFill/>
          <a:ln w="9525">
            <a:noFill/>
            <a:miter lim="800000"/>
          </a:ln>
        </p:spPr>
        <p:txBody>
          <a:bodyPr/>
          <a:lstStyle/>
          <a:p>
            <a:pPr marL="273050" marR="0" indent="-273050" algn="just" defTabSz="914400">
              <a:spcBef>
                <a:spcPts val="600"/>
              </a:spcBef>
              <a:buClr>
                <a:schemeClr val="accent1"/>
              </a:buClr>
              <a:buSzPct val="70000"/>
              <a:buFont typeface="Wingdings" panose="05000000000000000000" pitchFamily="2" charset="2"/>
              <a:buChar char=""/>
              <a:defRPr/>
            </a:pPr>
            <a:r>
              <a:rPr kumimoji="0" lang="en-US" b="1" i="1" kern="1200" cap="none" spc="0" normalizeH="0" baseline="0" noProof="0" dirty="0" err="1">
                <a:solidFill>
                  <a:schemeClr val="tx2"/>
                </a:solidFill>
                <a:latin typeface="+mn-lt"/>
                <a:ea typeface="+mn-ea"/>
                <a:cs typeface="+mn-cs"/>
              </a:rPr>
              <a:t>Dendrogram</a:t>
            </a:r>
            <a:r>
              <a:rPr kumimoji="0" lang="en-US" b="1" i="1" kern="1200" cap="none" spc="0" normalizeH="0" baseline="0" noProof="0" dirty="0">
                <a:solidFill>
                  <a:schemeClr val="tx2"/>
                </a:solidFill>
                <a:latin typeface="+mn-lt"/>
                <a:ea typeface="+mn-ea"/>
                <a:cs typeface="+mn-cs"/>
              </a:rPr>
              <a:t>:</a:t>
            </a:r>
            <a:r>
              <a:rPr kumimoji="0" lang="en-US" kern="1200" cap="none" spc="0" normalizeH="0" baseline="0" noProof="0" dirty="0">
                <a:latin typeface="+mn-lt"/>
                <a:ea typeface="+mn-ea"/>
                <a:cs typeface="+mn-cs"/>
              </a:rPr>
              <a:t> a tree data structure which illustrates hierarchical clustering techniques.</a:t>
            </a:r>
            <a:endParaRPr kumimoji="0" lang="en-US" kern="1200" cap="none" spc="0" normalizeH="0" baseline="0" noProof="0" dirty="0">
              <a:latin typeface="+mn-lt"/>
              <a:ea typeface="+mn-ea"/>
              <a:cs typeface="+mn-cs"/>
            </a:endParaRPr>
          </a:p>
          <a:p>
            <a:pPr marL="273050" marR="0" indent="-273050" algn="just" defTabSz="914400">
              <a:spcBef>
                <a:spcPts val="600"/>
              </a:spcBef>
              <a:buClr>
                <a:schemeClr val="accent1"/>
              </a:buClr>
              <a:buSzPct val="70000"/>
              <a:buFont typeface="Wingdings" panose="05000000000000000000" pitchFamily="2" charset="2"/>
              <a:buChar char=""/>
              <a:defRPr/>
            </a:pPr>
            <a:r>
              <a:rPr kumimoji="0" lang="en-US" kern="1200" cap="none" spc="0" normalizeH="0" baseline="0" noProof="0" dirty="0">
                <a:latin typeface="+mn-lt"/>
                <a:ea typeface="+mn-ea"/>
                <a:cs typeface="+mn-cs"/>
              </a:rPr>
              <a:t>Each level shows clusters for that level.</a:t>
            </a:r>
            <a:endParaRPr kumimoji="0" lang="en-US" kern="1200" cap="none" spc="0" normalizeH="0" baseline="0" noProof="0" dirty="0">
              <a:latin typeface="+mn-lt"/>
              <a:ea typeface="+mn-ea"/>
              <a:cs typeface="+mn-cs"/>
            </a:endParaRPr>
          </a:p>
          <a:p>
            <a:pPr marL="640080" marR="0" lvl="1" indent="-273050" algn="just"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en-US" sz="2000" b="0" i="0" u="none" strike="noStrike" kern="1200" cap="none" spc="0" normalizeH="0" baseline="0" noProof="0" dirty="0">
                <a:ln>
                  <a:noFill/>
                </a:ln>
                <a:solidFill>
                  <a:schemeClr val="tx1"/>
                </a:solidFill>
                <a:effectLst/>
                <a:uLnTx/>
                <a:uFillTx/>
                <a:latin typeface="+mn-lt"/>
                <a:ea typeface="+mn-ea"/>
                <a:cs typeface="+mn-cs"/>
              </a:rPr>
              <a:t>Leaf – individual clusters</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just"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en-US" sz="2000" b="0" i="0" u="none" strike="noStrike" kern="1200" cap="none" spc="0" normalizeH="0" baseline="0" noProof="0" dirty="0">
                <a:ln>
                  <a:noFill/>
                </a:ln>
                <a:solidFill>
                  <a:schemeClr val="tx1"/>
                </a:solidFill>
                <a:effectLst/>
                <a:uLnTx/>
                <a:uFillTx/>
                <a:latin typeface="+mn-lt"/>
                <a:ea typeface="+mn-ea"/>
                <a:cs typeface="+mn-cs"/>
              </a:rPr>
              <a:t>Root – one cluster</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273050" marR="0" indent="-273050" algn="just" defTabSz="914400">
              <a:spcBef>
                <a:spcPts val="600"/>
              </a:spcBef>
              <a:buClr>
                <a:schemeClr val="accent1"/>
              </a:buClr>
              <a:buSzPct val="70000"/>
              <a:buFont typeface="Wingdings" panose="05000000000000000000" pitchFamily="2" charset="2"/>
              <a:buChar char=""/>
              <a:defRPr/>
            </a:pPr>
            <a:r>
              <a:rPr kumimoji="0" lang="en-US" kern="1200" cap="none" spc="0" normalizeH="0" baseline="0" noProof="0" dirty="0">
                <a:latin typeface="+mn-lt"/>
                <a:ea typeface="+mn-ea"/>
                <a:cs typeface="+mn-cs"/>
              </a:rPr>
              <a:t>A cluster at level </a:t>
            </a:r>
            <a:r>
              <a:rPr kumimoji="0" lang="en-US" kern="1200" cap="none" spc="0" normalizeH="0" baseline="0" noProof="0" dirty="0" err="1">
                <a:latin typeface="+mn-lt"/>
                <a:ea typeface="+mn-ea"/>
                <a:cs typeface="+mn-cs"/>
              </a:rPr>
              <a:t>i</a:t>
            </a:r>
            <a:r>
              <a:rPr kumimoji="0" lang="en-US" kern="1200" cap="none" spc="0" normalizeH="0" baseline="0" noProof="0" dirty="0">
                <a:latin typeface="+mn-lt"/>
                <a:ea typeface="+mn-ea"/>
                <a:cs typeface="+mn-cs"/>
              </a:rPr>
              <a:t> is the union of its children clusters at level i+1.</a:t>
            </a:r>
            <a:endParaRPr kumimoji="0" lang="en-US" kern="1200" cap="none" spc="0" normalizeH="0" baseline="0" noProof="0" dirty="0">
              <a:latin typeface="+mn-lt"/>
              <a:ea typeface="+mn-ea"/>
              <a:cs typeface="+mn-cs"/>
            </a:endParaRPr>
          </a:p>
        </p:txBody>
      </p:sp>
      <p:pic>
        <p:nvPicPr>
          <p:cNvPr id="93189" name="Picture 4" descr="dendro"/>
          <p:cNvPicPr>
            <a:picLocks noChangeAspect="1"/>
          </p:cNvPicPr>
          <p:nvPr/>
        </p:nvPicPr>
        <p:blipFill>
          <a:blip r:embed="rId1"/>
          <a:stretch>
            <a:fillRect/>
          </a:stretch>
        </p:blipFill>
        <p:spPr>
          <a:xfrm>
            <a:off x="5029200" y="1600200"/>
            <a:ext cx="3200400" cy="403860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421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81000" y="457200"/>
            <a:ext cx="7467600" cy="5794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Levels of Clustering</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pic>
        <p:nvPicPr>
          <p:cNvPr id="94212" name="Picture 3" descr="hierarchical"/>
          <p:cNvPicPr>
            <a:picLocks noGrp="1" noChangeAspect="1"/>
          </p:cNvPicPr>
          <p:nvPr>
            <p:ph sz="quarter" idx="1"/>
          </p:nvPr>
        </p:nvPicPr>
        <p:blipFill>
          <a:blip r:embed="rId1"/>
          <a:stretch>
            <a:fillRect/>
          </a:stretch>
        </p:blipFill>
        <p:spPr>
          <a:xfrm>
            <a:off x="609600" y="1676400"/>
            <a:ext cx="7467600" cy="4343400"/>
          </a:xfrm>
          <a:ln w="38100">
            <a:solidFill>
              <a:schemeClr val="tx2"/>
            </a:solidFill>
            <a:miter/>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523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533400" y="381000"/>
            <a:ext cx="7467600" cy="5794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Single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a:spLocks noGrp="1" noChangeArrowheads="1"/>
          </p:cNvSpPr>
          <p:nvPr>
            <p:ph sz="quarter" idx="1"/>
          </p:nvPr>
        </p:nvSpPr>
        <p:spPr>
          <a:xfrm>
            <a:off x="914400" y="1600200"/>
            <a:ext cx="6553200" cy="3505200"/>
          </a:xfrm>
        </p:spPr>
        <p:txBody>
          <a:bodyPr vert="horz" wrap="square" lIns="91440" tIns="45720" rIns="91440" bIns="45720" numCol="1" anchor="t" anchorCtr="0" compatLnSpc="1"/>
          <a:lstStyle/>
          <a:p>
            <a:pPr marL="273050" marR="0" lvl="0" indent="-273050" algn="just"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View all items with links (distances) between them.</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Finds maximal connected components in this graph.</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Two clusters are merged if there is at </a:t>
            </a:r>
            <a:r>
              <a:rPr kumimoji="0" lang="en-US" sz="2400" b="0" i="0" u="none" strike="noStrike" kern="1200" cap="none" spc="0" normalizeH="0" baseline="0" noProof="0" dirty="0" smtClean="0">
                <a:ln>
                  <a:noFill/>
                </a:ln>
                <a:solidFill>
                  <a:schemeClr val="accent3">
                    <a:lumMod val="60000"/>
                    <a:lumOff val="40000"/>
                  </a:schemeClr>
                </a:solidFill>
                <a:effectLst/>
                <a:uLnTx/>
                <a:uFillTx/>
                <a:latin typeface="+mn-lt"/>
                <a:ea typeface="+mn-ea"/>
                <a:cs typeface="+mn-cs"/>
              </a:rPr>
              <a:t>least</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one edge which connects them.</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Uses threshold distances at each level.</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Could be agglomerative or divisive.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625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457200" y="304800"/>
            <a:ext cx="7467600" cy="7318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Single Linkage Clustering</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a:spLocks noGrp="1" noChangeArrowheads="1"/>
          </p:cNvSpPr>
          <p:nvPr>
            <p:ph sz="quarter" idx="1"/>
          </p:nvPr>
        </p:nvSpPr>
        <p:spPr>
          <a:xfrm>
            <a:off x="685800" y="1828800"/>
            <a:ext cx="7162800" cy="2590800"/>
          </a:xfrm>
        </p:spPr>
        <p:txBody>
          <a:bodyPr vert="horz" wrap="square" lIns="91440" tIns="45720" rIns="91440" bIns="45720" numCol="1" anchor="t" anchorCtr="0" compatLnSpc="1"/>
          <a:lstStyle/>
          <a:p>
            <a:pPr marL="273050" marR="0" lvl="0"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altLang="ko-KR" sz="2400" b="0" i="0" u="none" strike="noStrike" kern="1200" cap="none" spc="0" normalizeH="0" baseline="0" noProof="0" dirty="0" smtClean="0">
                <a:ln>
                  <a:noFill/>
                </a:ln>
                <a:solidFill>
                  <a:schemeClr val="tx1"/>
                </a:solidFill>
                <a:effectLst/>
                <a:uLnTx/>
                <a:uFillTx/>
                <a:latin typeface="+mn-lt"/>
                <a:ea typeface="Gulim" pitchFamily="34" charset="-127"/>
                <a:cs typeface="+mn-cs"/>
              </a:rPr>
              <a:t>It is an example of </a:t>
            </a:r>
            <a:r>
              <a:rPr kumimoji="0" lang="en-US" altLang="ko-KR" sz="2400" b="0" i="0" u="none" strike="noStrike" kern="1200" cap="none" spc="0" normalizeH="0" baseline="0" noProof="0" dirty="0" smtClean="0">
                <a:ln>
                  <a:noFill/>
                </a:ln>
                <a:solidFill>
                  <a:schemeClr val="accent3">
                    <a:lumMod val="60000"/>
                    <a:lumOff val="40000"/>
                  </a:schemeClr>
                </a:solidFill>
                <a:effectLst/>
                <a:uLnTx/>
                <a:uFillTx/>
                <a:latin typeface="+mn-lt"/>
                <a:ea typeface="Gulim" pitchFamily="34" charset="-127"/>
                <a:cs typeface="+mn-cs"/>
              </a:rPr>
              <a:t>agglomerative hierarchical </a:t>
            </a:r>
            <a:r>
              <a:rPr kumimoji="0" lang="en-US" altLang="ko-KR" sz="2400" b="0" i="0" u="none" strike="noStrike" kern="1200" cap="none" spc="0" normalizeH="0" baseline="0" noProof="0" dirty="0" smtClean="0">
                <a:ln>
                  <a:noFill/>
                </a:ln>
                <a:solidFill>
                  <a:schemeClr val="tx1"/>
                </a:solidFill>
                <a:effectLst/>
                <a:uLnTx/>
                <a:uFillTx/>
                <a:latin typeface="+mn-lt"/>
                <a:ea typeface="Gulim" pitchFamily="34" charset="-127"/>
                <a:cs typeface="+mn-cs"/>
              </a:rPr>
              <a:t>clustering.</a:t>
            </a:r>
            <a:endParaRPr kumimoji="0" lang="en-US" altLang="ko-KR" sz="2400" b="0" i="0" u="none" strike="noStrike" kern="1200" cap="none" spc="0" normalizeH="0" baseline="0" noProof="0" dirty="0" smtClean="0">
              <a:ln>
                <a:noFill/>
              </a:ln>
              <a:solidFill>
                <a:schemeClr val="tx1"/>
              </a:solidFill>
              <a:effectLst/>
              <a:uLnTx/>
              <a:uFillTx/>
              <a:latin typeface="+mn-lt"/>
              <a:ea typeface="Gulim" pitchFamily="34" charset="-127"/>
              <a:cs typeface="+mn-cs"/>
            </a:endParaRPr>
          </a:p>
          <a:p>
            <a:pPr marL="273050" marR="0" lvl="0" indent="-273050" algn="just" defTabSz="914400" rtl="0" eaLnBrk="1" fontAlgn="base" latinLnBrk="0" hangingPunct="1">
              <a:lnSpc>
                <a:spcPct val="100000"/>
              </a:lnSpc>
              <a:spcBef>
                <a:spcPts val="600"/>
              </a:spcBef>
              <a:spcAft>
                <a:spcPct val="0"/>
              </a:spcAft>
              <a:buClr>
                <a:srgbClr val="666699"/>
              </a:buClr>
              <a:buSzPct val="130000"/>
              <a:buFont typeface="Wingdings" panose="05000000000000000000" pitchFamily="2" charset="2"/>
              <a:buChar char="§"/>
              <a:defRPr/>
            </a:pPr>
            <a:r>
              <a:rPr kumimoji="0" lang="en-US" altLang="ko-KR" sz="2400" b="0" i="0" u="none" strike="noStrike" kern="1200" cap="none" spc="0" normalizeH="0" baseline="0" noProof="0" dirty="0" smtClean="0">
                <a:ln>
                  <a:noFill/>
                </a:ln>
                <a:solidFill>
                  <a:schemeClr val="tx1"/>
                </a:solidFill>
                <a:effectLst/>
                <a:uLnTx/>
                <a:uFillTx/>
                <a:latin typeface="+mn-lt"/>
                <a:ea typeface="Gulim" pitchFamily="34" charset="-127"/>
                <a:cs typeface="+mn-cs"/>
              </a:rPr>
              <a:t>We consider the distance between one cluster and another cluster to be equal to the </a:t>
            </a:r>
            <a:r>
              <a:rPr kumimoji="0" lang="en-US" altLang="ko-KR" sz="2400" b="0" i="0" u="none" strike="noStrike" kern="1200" cap="none" spc="0" normalizeH="0" baseline="0" noProof="0" dirty="0" smtClean="0">
                <a:ln>
                  <a:noFill/>
                </a:ln>
                <a:solidFill>
                  <a:schemeClr val="accent3">
                    <a:lumMod val="60000"/>
                    <a:lumOff val="40000"/>
                  </a:schemeClr>
                </a:solidFill>
                <a:effectLst/>
                <a:uLnTx/>
                <a:uFillTx/>
                <a:latin typeface="+mn-lt"/>
                <a:ea typeface="Gulim" pitchFamily="34" charset="-127"/>
                <a:cs typeface="+mn-cs"/>
              </a:rPr>
              <a:t>shortest distance </a:t>
            </a:r>
            <a:r>
              <a:rPr kumimoji="0" lang="en-US" altLang="ko-KR" sz="2400" b="0" i="0" u="none" strike="noStrike" kern="1200" cap="none" spc="0" normalizeH="0" baseline="0" noProof="0" dirty="0" smtClean="0">
                <a:ln>
                  <a:noFill/>
                </a:ln>
                <a:solidFill>
                  <a:schemeClr val="tx1"/>
                </a:solidFill>
                <a:effectLst/>
                <a:uLnTx/>
                <a:uFillTx/>
                <a:latin typeface="+mn-lt"/>
                <a:ea typeface="Gulim" pitchFamily="34" charset="-127"/>
                <a:cs typeface="+mn-cs"/>
              </a:rPr>
              <a:t>from any member of one cluster to any member of the other cluster.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81000" y="0"/>
            <a:ext cx="7467600" cy="5794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Algorithm</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a:spLocks noGrp="1"/>
          </p:cNvSpPr>
          <p:nvPr>
            <p:ph sz="quarter" idx="1"/>
          </p:nvPr>
        </p:nvSpPr>
        <p:spPr>
          <a:xfrm>
            <a:off x="228600" y="990600"/>
            <a:ext cx="8001000" cy="5402263"/>
          </a:xfrm>
          <a:ln/>
        </p:spPr>
        <p:txBody>
          <a:bodyPr vert="horz" wrap="square" lIns="91440" tIns="45720" rIns="91440" bIns="45720" anchor="t" anchorCtr="0">
            <a:spAutoFit/>
          </a:bodyPr>
          <a:p>
            <a:pPr algn="just">
              <a:buClr>
                <a:schemeClr val="accent1"/>
              </a:buClr>
              <a:buSzPct val="70000"/>
              <a:buFont typeface="Wingdings" panose="05000000000000000000" pitchFamily="2" charset="2"/>
              <a:buNone/>
            </a:pPr>
            <a:r>
              <a:rPr lang="en-GB" altLang="x-none" sz="2000" dirty="0">
                <a:solidFill>
                  <a:srgbClr val="000000"/>
                </a:solidFill>
                <a:latin typeface="Tahoma" panose="020B0604030504040204" pitchFamily="34" charset="0"/>
              </a:rPr>
              <a:t>   Given a set of N items to be clustered, and an NxN distance (or similarity) matrix, the basic process of single linkage clustering is this: </a:t>
            </a:r>
            <a:endParaRPr lang="en-GB" altLang="x-none" sz="2000" dirty="0">
              <a:solidFill>
                <a:srgbClr val="000000"/>
              </a:solidFill>
              <a:latin typeface="Tahoma" panose="020B0604030504040204" pitchFamily="34" charset="0"/>
            </a:endParaRPr>
          </a:p>
          <a:p>
            <a:pPr algn="just">
              <a:buClr>
                <a:schemeClr val="accent1"/>
              </a:buClr>
              <a:buSzPct val="70000"/>
              <a:buFont typeface="Wingdings" panose="05000000000000000000" pitchFamily="2" charset="2"/>
              <a:buNone/>
            </a:pPr>
            <a:r>
              <a:rPr lang="en-GB" altLang="x-none" sz="2000" dirty="0">
                <a:solidFill>
                  <a:srgbClr val="000000"/>
                </a:solidFill>
                <a:latin typeface="Tahoma" panose="020B0604030504040204" pitchFamily="34" charset="0"/>
              </a:rPr>
              <a:t>	</a:t>
            </a:r>
            <a:endParaRPr lang="en-GB" altLang="x-none" sz="2000" dirty="0">
              <a:solidFill>
                <a:srgbClr val="000000"/>
              </a:solidFill>
              <a:latin typeface="Tahoma" panose="020B0604030504040204" pitchFamily="34" charset="0"/>
            </a:endParaRPr>
          </a:p>
          <a:p>
            <a:pPr algn="just">
              <a:buClr>
                <a:schemeClr val="accent1"/>
              </a:buClr>
              <a:buSzPct val="70000"/>
              <a:buFont typeface="Wingdings" panose="05000000000000000000" pitchFamily="2" charset="2"/>
              <a:buNone/>
            </a:pPr>
            <a:r>
              <a:rPr lang="en-GB" altLang="x-none" sz="2000" dirty="0">
                <a:solidFill>
                  <a:srgbClr val="000000"/>
                </a:solidFill>
                <a:latin typeface="Tahoma" panose="020B0604030504040204" pitchFamily="34" charset="0"/>
              </a:rPr>
              <a:t>	1.	Start by assigning each item to its own cluster, so that if 	we 	have N items, we now have N clusters, each  containing 	just 	one item. Let the distances (similarities) between the 	clusters equal the distances (similarities) between the 	items they contain.</a:t>
            </a:r>
            <a:endParaRPr lang="en-GB" altLang="x-none" sz="2000" dirty="0">
              <a:solidFill>
                <a:srgbClr val="000000"/>
              </a:solidFill>
              <a:latin typeface="Tahoma" panose="020B0604030504040204" pitchFamily="34" charset="0"/>
            </a:endParaRPr>
          </a:p>
          <a:p>
            <a:pPr algn="just">
              <a:buClr>
                <a:schemeClr val="accent1"/>
              </a:buClr>
              <a:buSzPct val="70000"/>
              <a:buFont typeface="Wingdings" panose="05000000000000000000" pitchFamily="2" charset="2"/>
              <a:buNone/>
            </a:pPr>
            <a:r>
              <a:rPr lang="en-GB" altLang="x-none" sz="2000" dirty="0">
                <a:solidFill>
                  <a:srgbClr val="000000"/>
                </a:solidFill>
                <a:latin typeface="Tahoma" panose="020B0604030504040204" pitchFamily="34" charset="0"/>
              </a:rPr>
              <a:t>	2.	Find the closest (most similar) pair of clusters and merge 	them into a single cluster, so that now you have one less 	cluster.</a:t>
            </a:r>
            <a:endParaRPr lang="en-GB" altLang="x-none" sz="2000" dirty="0">
              <a:solidFill>
                <a:srgbClr val="000000"/>
              </a:solidFill>
              <a:latin typeface="Tahoma" panose="020B0604030504040204" pitchFamily="34" charset="0"/>
            </a:endParaRPr>
          </a:p>
          <a:p>
            <a:pPr algn="just">
              <a:buClr>
                <a:schemeClr val="accent1"/>
              </a:buClr>
              <a:buSzPct val="70000"/>
              <a:buFont typeface="Wingdings" panose="05000000000000000000" pitchFamily="2" charset="2"/>
              <a:buNone/>
            </a:pPr>
            <a:r>
              <a:rPr lang="en-GB" altLang="x-none" sz="2000" dirty="0">
                <a:solidFill>
                  <a:srgbClr val="000000"/>
                </a:solidFill>
                <a:latin typeface="Tahoma" panose="020B0604030504040204" pitchFamily="34" charset="0"/>
              </a:rPr>
              <a:t>	 3.	Compute distances (similarities) between the new cluster and 	each of the old clusters.</a:t>
            </a:r>
            <a:endParaRPr lang="en-GB" altLang="x-none" sz="2000" dirty="0">
              <a:solidFill>
                <a:srgbClr val="000000"/>
              </a:solidFill>
              <a:latin typeface="Tahoma" panose="020B0604030504040204" pitchFamily="34" charset="0"/>
            </a:endParaRPr>
          </a:p>
          <a:p>
            <a:pPr algn="just">
              <a:buClr>
                <a:schemeClr val="accent1"/>
              </a:buClr>
              <a:buSzPct val="70000"/>
              <a:buFont typeface="Wingdings" panose="05000000000000000000" pitchFamily="2" charset="2"/>
              <a:buNone/>
            </a:pPr>
            <a:r>
              <a:rPr lang="en-GB" altLang="x-none" sz="2000" dirty="0">
                <a:solidFill>
                  <a:srgbClr val="000000"/>
                </a:solidFill>
                <a:latin typeface="Tahoma" panose="020B0604030504040204" pitchFamily="34" charset="0"/>
              </a:rPr>
              <a:t>	4.	Repeat steps 2 and 3 until all items are clustered into a 	single cluster of size N. </a:t>
            </a:r>
            <a:endParaRPr lang="en-GB" altLang="x-none" sz="2000" dirty="0">
              <a:solidFill>
                <a:srgbClr val="00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xEl>
                                              <p:charRg st="0" end="144"/>
                                            </p:txEl>
                                          </p:spTgt>
                                        </p:tgtEl>
                                        <p:attrNameLst>
                                          <p:attrName>style.visibility</p:attrName>
                                        </p:attrNameLst>
                                      </p:cBhvr>
                                      <p:to>
                                        <p:strVal val="visible"/>
                                      </p:to>
                                    </p:set>
                                    <p:anim calcmode="lin" valueType="num">
                                      <p:cBhvr additive="base">
                                        <p:cTn id="7" dur="500" fill="hold"/>
                                        <p:tgtEl>
                                          <p:spTgt spid="8">
                                            <p:txEl>
                                              <p:charRg st="0" end="14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
                                            <p:txEl>
                                              <p:charRg st="0" end="14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xEl>
                                              <p:charRg st="0" end="144"/>
                                            </p:txEl>
                                          </p:spTgt>
                                        </p:tgtEl>
                                        <p:attrNameLst>
                                          <p:attrName>ppt_c</p:attrName>
                                        </p:attrNameLst>
                                      </p:cBhvr>
                                      <p:to>
                                        <a:schemeClr val="accent1"/>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xEl>
                                              <p:charRg st="144" end="146"/>
                                            </p:txEl>
                                          </p:spTgt>
                                        </p:tgtEl>
                                        <p:attrNameLst>
                                          <p:attrName>style.visibility</p:attrName>
                                        </p:attrNameLst>
                                      </p:cBhvr>
                                      <p:to>
                                        <p:strVal val="visible"/>
                                      </p:to>
                                    </p:set>
                                    <p:anim calcmode="lin" valueType="num">
                                      <p:cBhvr additive="base">
                                        <p:cTn id="13" dur="500" fill="hold"/>
                                        <p:tgtEl>
                                          <p:spTgt spid="8">
                                            <p:txEl>
                                              <p:charRg st="144" end="14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
                                            <p:txEl>
                                              <p:charRg st="144" end="146"/>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xEl>
                                              <p:charRg st="144" end="146"/>
                                            </p:txEl>
                                          </p:spTgt>
                                        </p:tgtEl>
                                        <p:attrNameLst>
                                          <p:attrName>ppt_c</p:attrName>
                                        </p:attrNameLst>
                                      </p:cBhvr>
                                      <p:to>
                                        <a:schemeClr val="accent1"/>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xEl>
                                              <p:charRg st="146" end="410"/>
                                            </p:txEl>
                                          </p:spTgt>
                                        </p:tgtEl>
                                        <p:attrNameLst>
                                          <p:attrName>style.visibility</p:attrName>
                                        </p:attrNameLst>
                                      </p:cBhvr>
                                      <p:to>
                                        <p:strVal val="visible"/>
                                      </p:to>
                                    </p:set>
                                    <p:anim calcmode="lin" valueType="num">
                                      <p:cBhvr additive="base">
                                        <p:cTn id="19" dur="500" fill="hold"/>
                                        <p:tgtEl>
                                          <p:spTgt spid="8">
                                            <p:txEl>
                                              <p:charRg st="146" end="41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txEl>
                                              <p:charRg st="146" end="41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xEl>
                                              <p:charRg st="146" end="410"/>
                                            </p:txEl>
                                          </p:spTgt>
                                        </p:tgtEl>
                                        <p:attrNameLst>
                                          <p:attrName>ppt_c</p:attrName>
                                        </p:attrNameLst>
                                      </p:cBhvr>
                                      <p:to>
                                        <a:schemeClr val="accent1"/>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xEl>
                                              <p:charRg st="410" end="542"/>
                                            </p:txEl>
                                          </p:spTgt>
                                        </p:tgtEl>
                                        <p:attrNameLst>
                                          <p:attrName>style.visibility</p:attrName>
                                        </p:attrNameLst>
                                      </p:cBhvr>
                                      <p:to>
                                        <p:strVal val="visible"/>
                                      </p:to>
                                    </p:set>
                                    <p:anim calcmode="lin" valueType="num">
                                      <p:cBhvr additive="base">
                                        <p:cTn id="25" dur="500" fill="hold"/>
                                        <p:tgtEl>
                                          <p:spTgt spid="8">
                                            <p:txEl>
                                              <p:charRg st="410" end="54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
                                            <p:txEl>
                                              <p:charRg st="410" end="54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xEl>
                                              <p:charRg st="410" end="542"/>
                                            </p:txEl>
                                          </p:spTgt>
                                        </p:tgtEl>
                                        <p:attrNameLst>
                                          <p:attrName>ppt_c</p:attrName>
                                        </p:attrNameLst>
                                      </p:cBhvr>
                                      <p:to>
                                        <a:schemeClr val="accent1"/>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
                                            <p:txEl>
                                              <p:charRg st="542" end="635"/>
                                            </p:txEl>
                                          </p:spTgt>
                                        </p:tgtEl>
                                        <p:attrNameLst>
                                          <p:attrName>style.visibility</p:attrName>
                                        </p:attrNameLst>
                                      </p:cBhvr>
                                      <p:to>
                                        <p:strVal val="visible"/>
                                      </p:to>
                                    </p:set>
                                    <p:anim calcmode="lin" valueType="num">
                                      <p:cBhvr additive="base">
                                        <p:cTn id="31" dur="500" fill="hold"/>
                                        <p:tgtEl>
                                          <p:spTgt spid="8">
                                            <p:txEl>
                                              <p:charRg st="542" end="63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
                                            <p:txEl>
                                              <p:charRg st="542" end="63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xEl>
                                              <p:charRg st="542" end="635"/>
                                            </p:txEl>
                                          </p:spTgt>
                                        </p:tgtEl>
                                        <p:attrNameLst>
                                          <p:attrName>ppt_c</p:attrName>
                                        </p:attrNameLst>
                                      </p:cBhvr>
                                      <p:to>
                                        <a:schemeClr val="accent1"/>
                                      </p:to>
                                    </p:animClr>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
                                            <p:txEl>
                                              <p:charRg st="635" end="725"/>
                                            </p:txEl>
                                          </p:spTgt>
                                        </p:tgtEl>
                                        <p:attrNameLst>
                                          <p:attrName>style.visibility</p:attrName>
                                        </p:attrNameLst>
                                      </p:cBhvr>
                                      <p:to>
                                        <p:strVal val="visible"/>
                                      </p:to>
                                    </p:set>
                                    <p:anim calcmode="lin" valueType="num">
                                      <p:cBhvr additive="base">
                                        <p:cTn id="37" dur="500" fill="hold"/>
                                        <p:tgtEl>
                                          <p:spTgt spid="8">
                                            <p:txEl>
                                              <p:charRg st="635" end="72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
                                            <p:txEl>
                                              <p:charRg st="635" end="72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xEl>
                                              <p:charRg st="635" end="725"/>
                                            </p:txEl>
                                          </p:spTgt>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830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bwMode="auto">
          <a:xfrm>
            <a:off x="304800" y="228600"/>
            <a:ext cx="8077200" cy="503238"/>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ja-JP"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How to Compute Group Similarity?</a:t>
            </a:r>
            <a:endParaRPr kumimoji="0" lang="en-US" altLang="ja-JP"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98308" name="Text Box 3"/>
          <p:cNvSpPr txBox="1"/>
          <p:nvPr/>
        </p:nvSpPr>
        <p:spPr>
          <a:xfrm>
            <a:off x="228600" y="2362200"/>
            <a:ext cx="8305800" cy="1200150"/>
          </a:xfrm>
          <a:prstGeom prst="rect">
            <a:avLst/>
          </a:prstGeom>
          <a:noFill/>
          <a:ln w="9525">
            <a:noFill/>
          </a:ln>
        </p:spPr>
        <p:txBody>
          <a:bodyPr anchor="t" anchorCtr="0">
            <a:spAutoFit/>
          </a:bodyPr>
          <a:p>
            <a:pPr eaLnBrk="0" hangingPunct="0"/>
            <a:r>
              <a:rPr lang="en-US" altLang="ja-JP" dirty="0">
                <a:latin typeface="Tahoma" panose="020B0604030504040204" pitchFamily="34" charset="0"/>
                <a:ea typeface="MS PGothic" panose="020B0600070205080204" pitchFamily="34" charset="-128"/>
              </a:rPr>
              <a:t>Given two groups g1 and g2,</a:t>
            </a:r>
            <a:endParaRPr lang="en-US" altLang="ja-JP" dirty="0">
              <a:latin typeface="Tahoma" panose="020B0604030504040204" pitchFamily="34" charset="0"/>
              <a:ea typeface="MS PGothic" panose="020B0600070205080204" pitchFamily="34" charset="-128"/>
            </a:endParaRPr>
          </a:p>
          <a:p>
            <a:pPr eaLnBrk="0" hangingPunct="0"/>
            <a:endParaRPr lang="en-US" altLang="ja-JP" dirty="0">
              <a:latin typeface="Tahoma" panose="020B0604030504040204" pitchFamily="34" charset="0"/>
              <a:ea typeface="MS PGothic" panose="020B0600070205080204" pitchFamily="34" charset="-128"/>
            </a:endParaRPr>
          </a:p>
          <a:p>
            <a:pPr eaLnBrk="0" hangingPunct="0"/>
            <a:r>
              <a:rPr lang="en-US" altLang="ja-JP" i="1" dirty="0">
                <a:latin typeface="Tahoma" panose="020B0604030504040204" pitchFamily="34" charset="0"/>
                <a:ea typeface="MS PGothic" panose="020B0600070205080204" pitchFamily="34" charset="-128"/>
              </a:rPr>
              <a:t>Single-link algorithm:</a:t>
            </a:r>
            <a:r>
              <a:rPr lang="en-US" altLang="ja-JP" dirty="0">
                <a:latin typeface="Tahoma" panose="020B0604030504040204" pitchFamily="34" charset="0"/>
                <a:ea typeface="MS PGothic" panose="020B0600070205080204" pitchFamily="34" charset="-128"/>
              </a:rPr>
              <a:t> s(g1,g2)= similarity of the </a:t>
            </a:r>
            <a:r>
              <a:rPr lang="en-US" altLang="ja-JP" i="1" dirty="0">
                <a:solidFill>
                  <a:srgbClr val="FF2BD8"/>
                </a:solidFill>
                <a:latin typeface="Tahoma" panose="020B0604030504040204" pitchFamily="34" charset="0"/>
                <a:ea typeface="MS PGothic" panose="020B0600070205080204" pitchFamily="34" charset="-128"/>
              </a:rPr>
              <a:t>closest</a:t>
            </a:r>
            <a:r>
              <a:rPr lang="en-US" altLang="ja-JP" dirty="0">
                <a:latin typeface="Tahoma" panose="020B0604030504040204" pitchFamily="34" charset="0"/>
                <a:ea typeface="MS PGothic" panose="020B0600070205080204" pitchFamily="34" charset="-128"/>
              </a:rPr>
              <a:t> pair</a:t>
            </a:r>
            <a:endParaRPr lang="en-US" altLang="ja-JP" dirty="0">
              <a:latin typeface="Tahoma" panose="020B0604030504040204" pitchFamily="34" charset="0"/>
              <a:ea typeface="MS PGothic" panose="020B0600070205080204" pitchFamily="34" charset="-128"/>
            </a:endParaRPr>
          </a:p>
        </p:txBody>
      </p:sp>
      <p:sp>
        <p:nvSpPr>
          <p:cNvPr id="9" name="Text Box 4"/>
          <p:cNvSpPr txBox="1">
            <a:spLocks noChangeArrowheads="1"/>
          </p:cNvSpPr>
          <p:nvPr/>
        </p:nvSpPr>
        <p:spPr bwMode="auto">
          <a:xfrm>
            <a:off x="228600" y="3886200"/>
            <a:ext cx="8686800" cy="830263"/>
          </a:xfrm>
          <a:prstGeom prst="rect">
            <a:avLst/>
          </a:prstGeom>
          <a:noFill/>
          <a:ln w="9525">
            <a:noFill/>
            <a:miter lim="800000"/>
          </a:ln>
        </p:spPr>
        <p:txBody>
          <a:bodyPr>
            <a:spAutoFit/>
          </a:bodyPr>
          <a:lstStyle/>
          <a:p>
            <a:pPr marR="0" defTabSz="914400" eaLnBrk="0" hangingPunct="0">
              <a:buClrTx/>
              <a:buSzTx/>
              <a:buFontTx/>
              <a:buNone/>
              <a:defRPr/>
            </a:pPr>
            <a:r>
              <a:rPr kumimoji="0" lang="en-US" altLang="ja-JP" i="1" kern="1200" cap="none" spc="0" normalizeH="0" baseline="0" noProof="0" dirty="0">
                <a:latin typeface="Tahoma" panose="020B0604030504040204" pitchFamily="34" charset="0"/>
                <a:ea typeface="MS PGothic" panose="020B0600070205080204" pitchFamily="34" charset="-128"/>
                <a:cs typeface="+mn-cs"/>
              </a:rPr>
              <a:t>Complete-link algorithm:</a:t>
            </a:r>
            <a:r>
              <a:rPr kumimoji="0" lang="en-US" altLang="ja-JP" kern="1200" cap="none" spc="0" normalizeH="0" baseline="0" noProof="0" dirty="0">
                <a:latin typeface="Tahoma" panose="020B0604030504040204" pitchFamily="34" charset="0"/>
                <a:ea typeface="MS PGothic" panose="020B0600070205080204" pitchFamily="34" charset="-128"/>
                <a:cs typeface="+mn-cs"/>
              </a:rPr>
              <a:t> s(g1,g2)= similarity of the </a:t>
            </a:r>
            <a:r>
              <a:rPr kumimoji="0" lang="en-US" altLang="ja-JP" i="1" kern="1200" cap="none" spc="0" normalizeH="0" baseline="0" noProof="0" dirty="0">
                <a:solidFill>
                  <a:schemeClr val="accent3">
                    <a:lumMod val="60000"/>
                    <a:lumOff val="40000"/>
                  </a:schemeClr>
                </a:solidFill>
                <a:latin typeface="Tahoma" panose="020B0604030504040204" pitchFamily="34" charset="0"/>
                <a:ea typeface="MS PGothic" panose="020B0600070205080204" pitchFamily="34" charset="-128"/>
                <a:cs typeface="+mn-cs"/>
              </a:rPr>
              <a:t>farthest</a:t>
            </a:r>
            <a:r>
              <a:rPr kumimoji="0" lang="en-US" altLang="ja-JP" kern="1200" cap="none" spc="0" normalizeH="0" baseline="0" noProof="0" dirty="0">
                <a:latin typeface="Tahoma" panose="020B0604030504040204" pitchFamily="34" charset="0"/>
                <a:ea typeface="MS PGothic" panose="020B0600070205080204" pitchFamily="34" charset="-128"/>
                <a:cs typeface="+mn-cs"/>
              </a:rPr>
              <a:t> pair</a:t>
            </a:r>
            <a:endParaRPr kumimoji="0" lang="en-US" altLang="ja-JP" kern="1200" cap="none" spc="0" normalizeH="0" baseline="0" noProof="0" dirty="0">
              <a:latin typeface="Tahoma" panose="020B0604030504040204" pitchFamily="34" charset="0"/>
              <a:ea typeface="MS PGothic" panose="020B0600070205080204" pitchFamily="34" charset="-128"/>
              <a:cs typeface="+mn-cs"/>
            </a:endParaRPr>
          </a:p>
        </p:txBody>
      </p:sp>
      <p:sp>
        <p:nvSpPr>
          <p:cNvPr id="10" name="Text Box 5"/>
          <p:cNvSpPr txBox="1">
            <a:spLocks noChangeArrowheads="1"/>
          </p:cNvSpPr>
          <p:nvPr/>
        </p:nvSpPr>
        <p:spPr bwMode="auto">
          <a:xfrm>
            <a:off x="304800" y="4876800"/>
            <a:ext cx="8610600" cy="830263"/>
          </a:xfrm>
          <a:prstGeom prst="rect">
            <a:avLst/>
          </a:prstGeom>
          <a:noFill/>
          <a:ln w="9525">
            <a:noFill/>
            <a:miter lim="800000"/>
          </a:ln>
        </p:spPr>
        <p:txBody>
          <a:bodyPr>
            <a:spAutoFit/>
          </a:bodyPr>
          <a:lstStyle/>
          <a:p>
            <a:pPr marR="0" defTabSz="914400" eaLnBrk="0" hangingPunct="0">
              <a:buClrTx/>
              <a:buSzTx/>
              <a:buFontTx/>
              <a:buNone/>
              <a:defRPr/>
            </a:pPr>
            <a:r>
              <a:rPr kumimoji="0" lang="en-US" altLang="ja-JP" i="1" kern="1200" cap="none" spc="0" normalizeH="0" baseline="0" noProof="0" dirty="0">
                <a:latin typeface="Tahoma" panose="020B0604030504040204" pitchFamily="34" charset="0"/>
                <a:ea typeface="MS PGothic" panose="020B0600070205080204" pitchFamily="34" charset="-128"/>
                <a:cs typeface="+mn-cs"/>
              </a:rPr>
              <a:t>Average-link algorithm:</a:t>
            </a:r>
            <a:r>
              <a:rPr kumimoji="0" lang="en-US" altLang="ja-JP" b="1" kern="1200" cap="none" spc="0" normalizeH="0" baseline="0" noProof="0" dirty="0">
                <a:latin typeface="Tahoma" panose="020B0604030504040204" pitchFamily="34" charset="0"/>
                <a:ea typeface="MS PGothic" panose="020B0600070205080204" pitchFamily="34" charset="-128"/>
                <a:cs typeface="+mn-cs"/>
              </a:rPr>
              <a:t> </a:t>
            </a:r>
            <a:r>
              <a:rPr kumimoji="0" lang="en-US" altLang="ja-JP" kern="1200" cap="none" spc="0" normalizeH="0" baseline="0" noProof="0" dirty="0">
                <a:latin typeface="Tahoma" panose="020B0604030504040204" pitchFamily="34" charset="0"/>
                <a:ea typeface="MS PGothic" panose="020B0600070205080204" pitchFamily="34" charset="-128"/>
                <a:cs typeface="+mn-cs"/>
              </a:rPr>
              <a:t>s(g1,g2)= </a:t>
            </a:r>
            <a:r>
              <a:rPr kumimoji="0" lang="en-US" altLang="ja-JP" i="1" kern="1200" cap="none" spc="0" normalizeH="0" baseline="0" noProof="0" dirty="0">
                <a:solidFill>
                  <a:schemeClr val="accent3">
                    <a:lumMod val="60000"/>
                    <a:lumOff val="40000"/>
                  </a:schemeClr>
                </a:solidFill>
                <a:latin typeface="Tahoma" panose="020B0604030504040204" pitchFamily="34" charset="0"/>
                <a:ea typeface="MS PGothic" panose="020B0600070205080204" pitchFamily="34" charset="-128"/>
                <a:cs typeface="+mn-cs"/>
              </a:rPr>
              <a:t>average</a:t>
            </a:r>
            <a:r>
              <a:rPr kumimoji="0" lang="en-US" altLang="ja-JP" i="1" kern="1200" cap="none" spc="0" normalizeH="0" baseline="0" noProof="0" dirty="0">
                <a:latin typeface="Tahoma" panose="020B0604030504040204" pitchFamily="34" charset="0"/>
                <a:ea typeface="MS PGothic" panose="020B0600070205080204" pitchFamily="34" charset="-128"/>
                <a:cs typeface="+mn-cs"/>
              </a:rPr>
              <a:t> </a:t>
            </a:r>
            <a:r>
              <a:rPr kumimoji="0" lang="en-US" altLang="ja-JP" kern="1200" cap="none" spc="0" normalizeH="0" baseline="0" noProof="0" dirty="0">
                <a:latin typeface="Tahoma" panose="020B0604030504040204" pitchFamily="34" charset="0"/>
                <a:ea typeface="MS PGothic" panose="020B0600070205080204" pitchFamily="34" charset="-128"/>
                <a:cs typeface="+mn-cs"/>
              </a:rPr>
              <a:t>of similarity of all pairs</a:t>
            </a:r>
            <a:endParaRPr kumimoji="0" lang="en-US" altLang="ja-JP" kern="1200" cap="none" spc="0" normalizeH="0" baseline="0" noProof="0" dirty="0">
              <a:latin typeface="Tahoma" panose="020B0604030504040204" pitchFamily="34" charset="0"/>
              <a:ea typeface="MS PGothic" panose="020B0600070205080204" pitchFamily="34" charset="-128"/>
              <a:cs typeface="+mn-cs"/>
            </a:endParaRPr>
          </a:p>
        </p:txBody>
      </p:sp>
      <p:sp>
        <p:nvSpPr>
          <p:cNvPr id="98311" name="Rectangle 6"/>
          <p:cNvSpPr/>
          <p:nvPr/>
        </p:nvSpPr>
        <p:spPr>
          <a:xfrm>
            <a:off x="304800" y="1295400"/>
            <a:ext cx="4521200" cy="584200"/>
          </a:xfrm>
          <a:prstGeom prst="rect">
            <a:avLst/>
          </a:prstGeom>
          <a:noFill/>
          <a:ln w="9525">
            <a:noFill/>
          </a:ln>
        </p:spPr>
        <p:txBody>
          <a:bodyPr wrap="none" anchor="t" anchorCtr="0">
            <a:spAutoFit/>
          </a:bodyPr>
          <a:p>
            <a:pPr eaLnBrk="0" hangingPunct="0"/>
            <a:r>
              <a:rPr lang="en-US" altLang="ja-JP" sz="3200" dirty="0">
                <a:latin typeface="Tahoma" panose="020B0604030504040204" pitchFamily="34" charset="0"/>
                <a:ea typeface="MS PGothic" panose="020B0600070205080204" pitchFamily="34" charset="-128"/>
              </a:rPr>
              <a:t>Three Popular Methods:</a:t>
            </a:r>
            <a:endParaRPr lang="en-US" altLang="ja-JP" sz="3200" dirty="0">
              <a:latin typeface="Tahoma" panose="020B0604030504040204" pitchFamily="34" charset="0"/>
              <a:ea typeface="MS PGothic" panose="020B0600070205080204" pitchFamily="34" charset="-128"/>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9933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99331" name="Text Box 3"/>
          <p:cNvSpPr txBox="1"/>
          <p:nvPr/>
        </p:nvSpPr>
        <p:spPr>
          <a:xfrm>
            <a:off x="1295400" y="5029200"/>
            <a:ext cx="2795588"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Single-link algorithm</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32" name="Freeform 4"/>
          <p:cNvSpPr/>
          <p:nvPr/>
        </p:nvSpPr>
        <p:spPr>
          <a:xfrm>
            <a:off x="2514600" y="4038600"/>
            <a:ext cx="2438400" cy="482600"/>
          </a:xfrm>
          <a:custGeom>
            <a:avLst/>
            <a:gdLst/>
            <a:ahLst/>
            <a:cxnLst>
              <a:cxn ang="0">
                <a:pos x="0" y="0"/>
              </a:cxn>
              <a:cxn ang="0">
                <a:pos x="672" y="288"/>
              </a:cxn>
              <a:cxn ang="0">
                <a:pos x="1536" y="96"/>
              </a:cxn>
            </a:cxnLst>
            <a:pathLst>
              <a:path w="1536" h="304">
                <a:moveTo>
                  <a:pt x="0" y="0"/>
                </a:moveTo>
                <a:cubicBezTo>
                  <a:pt x="208" y="136"/>
                  <a:pt x="416" y="272"/>
                  <a:pt x="672" y="288"/>
                </a:cubicBezTo>
                <a:cubicBezTo>
                  <a:pt x="928" y="304"/>
                  <a:pt x="1232" y="200"/>
                  <a:pt x="1536" y="96"/>
                </a:cubicBezTo>
              </a:path>
            </a:pathLst>
          </a:custGeom>
          <a:noFill/>
          <a:ln w="9525" cap="flat" cmpd="sng">
            <a:solidFill>
              <a:srgbClr val="000000"/>
            </a:solidFill>
            <a:prstDash val="solid"/>
            <a:round/>
            <a:headEnd type="triangle" w="med" len="med"/>
            <a:tailEnd type="triangle" w="med" len="med"/>
          </a:ln>
        </p:spPr>
        <p:txBody>
          <a:bodyPr/>
          <a:p>
            <a:endParaRPr lang="en-US"/>
          </a:p>
        </p:txBody>
      </p:sp>
      <p:sp>
        <p:nvSpPr>
          <p:cNvPr id="99333" name="Line 5"/>
          <p:cNvSpPr/>
          <p:nvPr/>
        </p:nvSpPr>
        <p:spPr>
          <a:xfrm flipV="1">
            <a:off x="2438400" y="4495800"/>
            <a:ext cx="838200" cy="457200"/>
          </a:xfrm>
          <a:prstGeom prst="line">
            <a:avLst/>
          </a:prstGeom>
          <a:ln w="9525" cap="flat" cmpd="sng">
            <a:solidFill>
              <a:srgbClr val="000000"/>
            </a:solidFill>
            <a:prstDash val="solid"/>
            <a:round/>
            <a:headEnd type="none" w="med" len="med"/>
            <a:tailEnd type="triangle" w="med" len="med"/>
          </a:ln>
        </p:spPr>
      </p:sp>
      <p:sp>
        <p:nvSpPr>
          <p:cNvPr id="99334" name="Line 6"/>
          <p:cNvSpPr/>
          <p:nvPr/>
        </p:nvSpPr>
        <p:spPr>
          <a:xfrm flipH="1">
            <a:off x="2971800" y="3860800"/>
            <a:ext cx="381000" cy="0"/>
          </a:xfrm>
          <a:prstGeom prst="line">
            <a:avLst/>
          </a:prstGeom>
          <a:ln w="9525" cap="flat" cmpd="sng">
            <a:solidFill>
              <a:srgbClr val="000000"/>
            </a:solidFill>
            <a:prstDash val="solid"/>
            <a:round/>
            <a:headEnd type="none" w="med" len="med"/>
            <a:tailEnd type="triangle" w="med" len="med"/>
          </a:ln>
        </p:spPr>
      </p:sp>
      <p:sp>
        <p:nvSpPr>
          <p:cNvPr id="99335" name="Line 7"/>
          <p:cNvSpPr/>
          <p:nvPr/>
        </p:nvSpPr>
        <p:spPr>
          <a:xfrm>
            <a:off x="3733800" y="3860800"/>
            <a:ext cx="533400" cy="0"/>
          </a:xfrm>
          <a:prstGeom prst="line">
            <a:avLst/>
          </a:prstGeom>
          <a:ln w="9525" cap="flat" cmpd="sng">
            <a:solidFill>
              <a:srgbClr val="000000"/>
            </a:solidFill>
            <a:prstDash val="solid"/>
            <a:round/>
            <a:headEnd type="none" w="med" len="med"/>
            <a:tailEnd type="triangle" w="med" len="med"/>
          </a:ln>
        </p:spPr>
      </p:sp>
      <p:sp>
        <p:nvSpPr>
          <p:cNvPr id="99336" name="Text Box 8"/>
          <p:cNvSpPr txBox="1"/>
          <p:nvPr/>
        </p:nvSpPr>
        <p:spPr>
          <a:xfrm>
            <a:off x="3413125" y="3673475"/>
            <a:ext cx="319088"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37" name="Rectangle 9"/>
          <p:cNvSpPr/>
          <p:nvPr/>
        </p:nvSpPr>
        <p:spPr>
          <a:xfrm>
            <a:off x="1676400" y="42418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38" name="Rectangle 10"/>
          <p:cNvSpPr/>
          <p:nvPr/>
        </p:nvSpPr>
        <p:spPr>
          <a:xfrm>
            <a:off x="1676400" y="34036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39" name="Rectangle 11"/>
          <p:cNvSpPr/>
          <p:nvPr/>
        </p:nvSpPr>
        <p:spPr>
          <a:xfrm>
            <a:off x="1143000" y="3784600"/>
            <a:ext cx="1524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0" name="Rectangle 12"/>
          <p:cNvSpPr/>
          <p:nvPr/>
        </p:nvSpPr>
        <p:spPr>
          <a:xfrm>
            <a:off x="2209800" y="37846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1" name="Rectangle 13"/>
          <p:cNvSpPr/>
          <p:nvPr/>
        </p:nvSpPr>
        <p:spPr>
          <a:xfrm>
            <a:off x="1676400" y="3784600"/>
            <a:ext cx="1524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2" name="Rectangle 14"/>
          <p:cNvSpPr/>
          <p:nvPr/>
        </p:nvSpPr>
        <p:spPr>
          <a:xfrm>
            <a:off x="5029200" y="34798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3" name="Rectangle 15"/>
          <p:cNvSpPr/>
          <p:nvPr/>
        </p:nvSpPr>
        <p:spPr>
          <a:xfrm>
            <a:off x="5943600" y="34798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4" name="Rectangle 16"/>
          <p:cNvSpPr/>
          <p:nvPr/>
        </p:nvSpPr>
        <p:spPr>
          <a:xfrm>
            <a:off x="5410200" y="34798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5" name="Rectangle 17"/>
          <p:cNvSpPr/>
          <p:nvPr/>
        </p:nvSpPr>
        <p:spPr>
          <a:xfrm>
            <a:off x="4876800" y="39370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6" name="Rectangle 18"/>
          <p:cNvSpPr/>
          <p:nvPr/>
        </p:nvSpPr>
        <p:spPr>
          <a:xfrm>
            <a:off x="5181600" y="42418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7" name="Rectangle 19"/>
          <p:cNvSpPr/>
          <p:nvPr/>
        </p:nvSpPr>
        <p:spPr>
          <a:xfrm>
            <a:off x="6019800" y="40132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8" name="Rectangle 20"/>
          <p:cNvSpPr/>
          <p:nvPr/>
        </p:nvSpPr>
        <p:spPr>
          <a:xfrm>
            <a:off x="5486400" y="3937000"/>
            <a:ext cx="2286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49" name="Oval 21"/>
          <p:cNvSpPr/>
          <p:nvPr/>
        </p:nvSpPr>
        <p:spPr>
          <a:xfrm>
            <a:off x="609600" y="3251200"/>
            <a:ext cx="2362200" cy="1371600"/>
          </a:xfrm>
          <a:prstGeom prst="ellipse">
            <a:avLst/>
          </a:prstGeom>
          <a:noFill/>
          <a:ln w="9525" cap="flat" cmpd="sng">
            <a:solidFill>
              <a:schemeClr val="bg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50" name="Oval 22"/>
          <p:cNvSpPr/>
          <p:nvPr/>
        </p:nvSpPr>
        <p:spPr>
          <a:xfrm>
            <a:off x="4267200" y="3251200"/>
            <a:ext cx="2362200" cy="1371600"/>
          </a:xfrm>
          <a:prstGeom prst="ellipse">
            <a:avLst/>
          </a:prstGeom>
          <a:noFill/>
          <a:ln w="9525" cap="flat" cmpd="sng">
            <a:solidFill>
              <a:schemeClr val="bg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51" name="Text Box 23"/>
          <p:cNvSpPr txBox="1"/>
          <p:nvPr/>
        </p:nvSpPr>
        <p:spPr>
          <a:xfrm>
            <a:off x="1355725" y="2835275"/>
            <a:ext cx="488950"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g1</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52" name="Text Box 24"/>
          <p:cNvSpPr txBox="1"/>
          <p:nvPr/>
        </p:nvSpPr>
        <p:spPr>
          <a:xfrm>
            <a:off x="5334000" y="2794000"/>
            <a:ext cx="488950"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g2</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53" name="Text Box 25"/>
          <p:cNvSpPr txBox="1"/>
          <p:nvPr/>
        </p:nvSpPr>
        <p:spPr>
          <a:xfrm>
            <a:off x="2819400" y="1828800"/>
            <a:ext cx="3132138"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complete-link algorithm</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54" name="Freeform 26"/>
          <p:cNvSpPr/>
          <p:nvPr/>
        </p:nvSpPr>
        <p:spPr>
          <a:xfrm>
            <a:off x="1295400" y="2743200"/>
            <a:ext cx="4800600" cy="1346200"/>
          </a:xfrm>
          <a:custGeom>
            <a:avLst/>
            <a:gdLst/>
            <a:ahLst/>
            <a:cxnLst>
              <a:cxn ang="0">
                <a:pos x="0" y="656"/>
              </a:cxn>
              <a:cxn ang="0">
                <a:pos x="1392" y="32"/>
              </a:cxn>
              <a:cxn ang="0">
                <a:pos x="3024" y="848"/>
              </a:cxn>
            </a:cxnLst>
            <a:pathLst>
              <a:path w="3024" h="848">
                <a:moveTo>
                  <a:pt x="0" y="656"/>
                </a:moveTo>
                <a:cubicBezTo>
                  <a:pt x="444" y="328"/>
                  <a:pt x="888" y="0"/>
                  <a:pt x="1392" y="32"/>
                </a:cubicBezTo>
                <a:cubicBezTo>
                  <a:pt x="1896" y="64"/>
                  <a:pt x="2460" y="456"/>
                  <a:pt x="3024" y="848"/>
                </a:cubicBezTo>
              </a:path>
            </a:pathLst>
          </a:custGeom>
          <a:noFill/>
          <a:ln w="9525" cap="flat" cmpd="sng">
            <a:solidFill>
              <a:srgbClr val="000000"/>
            </a:solidFill>
            <a:prstDash val="solid"/>
            <a:round/>
            <a:headEnd type="triangle" w="med" len="med"/>
            <a:tailEnd type="triangle" w="med" len="med"/>
          </a:ln>
        </p:spPr>
        <p:txBody>
          <a:bodyPr/>
          <a:p>
            <a:endParaRPr lang="en-US"/>
          </a:p>
        </p:txBody>
      </p:sp>
      <p:sp>
        <p:nvSpPr>
          <p:cNvPr id="99355" name="Line 27"/>
          <p:cNvSpPr/>
          <p:nvPr/>
        </p:nvSpPr>
        <p:spPr>
          <a:xfrm flipH="1">
            <a:off x="3810000" y="2286000"/>
            <a:ext cx="457200" cy="533400"/>
          </a:xfrm>
          <a:prstGeom prst="line">
            <a:avLst/>
          </a:prstGeom>
          <a:ln w="9525" cap="flat" cmpd="sng">
            <a:solidFill>
              <a:srgbClr val="000000"/>
            </a:solidFill>
            <a:prstDash val="solid"/>
            <a:round/>
            <a:headEnd type="none" w="med" len="med"/>
            <a:tailEnd type="triangle" w="med" len="med"/>
          </a:ln>
        </p:spPr>
      </p:sp>
      <p:sp>
        <p:nvSpPr>
          <p:cNvPr id="99356" name="Freeform 28"/>
          <p:cNvSpPr/>
          <p:nvPr/>
        </p:nvSpPr>
        <p:spPr>
          <a:xfrm>
            <a:off x="1727200" y="3098800"/>
            <a:ext cx="4368800" cy="1193800"/>
          </a:xfrm>
          <a:custGeom>
            <a:avLst/>
            <a:gdLst/>
            <a:ahLst/>
            <a:cxnLst>
              <a:cxn ang="0">
                <a:pos x="112" y="304"/>
              </a:cxn>
              <a:cxn ang="0">
                <a:pos x="160" y="256"/>
              </a:cxn>
              <a:cxn ang="0">
                <a:pos x="1072" y="64"/>
              </a:cxn>
              <a:cxn ang="0">
                <a:pos x="2464" y="640"/>
              </a:cxn>
              <a:cxn ang="0">
                <a:pos x="2752" y="736"/>
              </a:cxn>
            </a:cxnLst>
            <a:pathLst>
              <a:path w="2752" h="752">
                <a:moveTo>
                  <a:pt x="112" y="304"/>
                </a:moveTo>
                <a:cubicBezTo>
                  <a:pt x="56" y="300"/>
                  <a:pt x="0" y="296"/>
                  <a:pt x="160" y="256"/>
                </a:cubicBezTo>
                <a:cubicBezTo>
                  <a:pt x="320" y="216"/>
                  <a:pt x="688" y="0"/>
                  <a:pt x="1072" y="64"/>
                </a:cubicBezTo>
                <a:cubicBezTo>
                  <a:pt x="1456" y="128"/>
                  <a:pt x="2184" y="528"/>
                  <a:pt x="2464" y="640"/>
                </a:cubicBezTo>
                <a:cubicBezTo>
                  <a:pt x="2744" y="752"/>
                  <a:pt x="2748" y="744"/>
                  <a:pt x="2752" y="736"/>
                </a:cubicBezTo>
              </a:path>
            </a:pathLst>
          </a:custGeom>
          <a:noFill/>
          <a:ln w="9525" cap="flat" cmpd="sng">
            <a:solidFill>
              <a:srgbClr val="000000"/>
            </a:solidFill>
            <a:prstDash val="solid"/>
            <a:round/>
            <a:headEnd type="triangle" w="med" len="med"/>
            <a:tailEnd type="triangle" w="med" len="med"/>
          </a:ln>
        </p:spPr>
        <p:txBody>
          <a:bodyPr/>
          <a:p>
            <a:endParaRPr lang="en-US"/>
          </a:p>
        </p:txBody>
      </p:sp>
      <p:sp>
        <p:nvSpPr>
          <p:cNvPr id="99357" name="Freeform 29"/>
          <p:cNvSpPr/>
          <p:nvPr/>
        </p:nvSpPr>
        <p:spPr>
          <a:xfrm>
            <a:off x="1828800" y="3429000"/>
            <a:ext cx="2971800" cy="990600"/>
          </a:xfrm>
          <a:custGeom>
            <a:avLst/>
            <a:gdLst/>
            <a:ahLst/>
            <a:cxnLst>
              <a:cxn ang="0">
                <a:pos x="0" y="624"/>
              </a:cxn>
              <a:cxn ang="0">
                <a:pos x="816" y="48"/>
              </a:cxn>
              <a:cxn ang="0">
                <a:pos x="1872" y="336"/>
              </a:cxn>
            </a:cxnLst>
            <a:pathLst>
              <a:path w="1872" h="624">
                <a:moveTo>
                  <a:pt x="0" y="624"/>
                </a:moveTo>
                <a:cubicBezTo>
                  <a:pt x="252" y="360"/>
                  <a:pt x="504" y="96"/>
                  <a:pt x="816" y="48"/>
                </a:cubicBezTo>
                <a:cubicBezTo>
                  <a:pt x="1128" y="0"/>
                  <a:pt x="1500" y="168"/>
                  <a:pt x="1872" y="336"/>
                </a:cubicBezTo>
              </a:path>
            </a:pathLst>
          </a:custGeom>
          <a:noFill/>
          <a:ln w="9525" cap="flat" cmpd="sng">
            <a:solidFill>
              <a:srgbClr val="000000"/>
            </a:solidFill>
            <a:prstDash val="solid"/>
            <a:round/>
            <a:headEnd type="triangle" w="med" len="med"/>
            <a:tailEnd type="triangle" w="med" len="med"/>
          </a:ln>
        </p:spPr>
        <p:txBody>
          <a:bodyPr/>
          <a:p>
            <a:endParaRPr lang="en-US"/>
          </a:p>
        </p:txBody>
      </p:sp>
      <p:sp>
        <p:nvSpPr>
          <p:cNvPr id="99358" name="Text Box 30"/>
          <p:cNvSpPr txBox="1"/>
          <p:nvPr/>
        </p:nvSpPr>
        <p:spPr>
          <a:xfrm>
            <a:off x="3260725" y="3927475"/>
            <a:ext cx="793750"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59" name="Oval 31"/>
          <p:cNvSpPr/>
          <p:nvPr/>
        </p:nvSpPr>
        <p:spPr>
          <a:xfrm>
            <a:off x="3429000" y="2667000"/>
            <a:ext cx="304800" cy="2286000"/>
          </a:xfrm>
          <a:prstGeom prst="ellipse">
            <a:avLst/>
          </a:prstGeom>
          <a:noFill/>
          <a:ln w="28575" cap="flat" cmpd="sng">
            <a:solidFill>
              <a:schemeClr val="accent2"/>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99360" name="Text Box 32"/>
          <p:cNvSpPr txBox="1"/>
          <p:nvPr/>
        </p:nvSpPr>
        <p:spPr>
          <a:xfrm>
            <a:off x="4648200" y="5181600"/>
            <a:ext cx="2963863" cy="457200"/>
          </a:xfrm>
          <a:prstGeom prst="rect">
            <a:avLst/>
          </a:prstGeom>
          <a:noFill/>
          <a:ln w="9525">
            <a:noFill/>
          </a:ln>
        </p:spPr>
        <p:txBody>
          <a:bodyPr wrap="none" anchor="t" anchorCtr="0">
            <a:spAutoFit/>
          </a:bodyPr>
          <a:p>
            <a:pPr eaLnBrk="0" hangingPunct="0"/>
            <a:r>
              <a:rPr lang="en-US" altLang="ja-JP" dirty="0">
                <a:solidFill>
                  <a:srgbClr val="000000"/>
                </a:solidFill>
                <a:latin typeface="Tahoma" panose="020B0604030504040204" pitchFamily="34" charset="0"/>
                <a:ea typeface="MS PGothic" panose="020B0600070205080204" pitchFamily="34" charset="-128"/>
              </a:rPr>
              <a:t>average-link algorithm</a:t>
            </a:r>
            <a:endParaRPr lang="en-US" altLang="ja-JP" dirty="0">
              <a:solidFill>
                <a:srgbClr val="000000"/>
              </a:solidFill>
              <a:latin typeface="Tahoma" panose="020B0604030504040204" pitchFamily="34" charset="0"/>
              <a:ea typeface="MS PGothic" panose="020B0600070205080204" pitchFamily="34" charset="-128"/>
            </a:endParaRPr>
          </a:p>
        </p:txBody>
      </p:sp>
      <p:sp>
        <p:nvSpPr>
          <p:cNvPr id="99361" name="Line 33"/>
          <p:cNvSpPr/>
          <p:nvPr/>
        </p:nvSpPr>
        <p:spPr>
          <a:xfrm flipH="1" flipV="1">
            <a:off x="4038600" y="4495800"/>
            <a:ext cx="1676400" cy="685800"/>
          </a:xfrm>
          <a:prstGeom prst="line">
            <a:avLst/>
          </a:prstGeom>
          <a:ln w="28575" cap="flat" cmpd="sng">
            <a:solidFill>
              <a:srgbClr val="000000"/>
            </a:solidFill>
            <a:prstDash val="solid"/>
            <a:round/>
            <a:headEnd type="none" w="med" len="med"/>
            <a:tailEnd type="triangle" w="med" len="med"/>
          </a:ln>
        </p:spPr>
      </p:sp>
      <p:sp>
        <p:nvSpPr>
          <p:cNvPr id="38" name="Rectangle 2"/>
          <p:cNvSpPr>
            <a:spLocks noGrp="1" noChangeArrowheads="1"/>
          </p:cNvSpPr>
          <p:nvPr>
            <p:ph type="title"/>
          </p:nvPr>
        </p:nvSpPr>
        <p:spPr bwMode="auto">
          <a:xfrm>
            <a:off x="304800" y="381000"/>
            <a:ext cx="7467600" cy="5032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ja-JP" sz="27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Three Methods Illustrated</a:t>
            </a:r>
            <a:endParaRPr kumimoji="0" lang="en-US" altLang="ja-JP" sz="27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035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04800" y="228600"/>
            <a:ext cx="7772400" cy="7620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Hierarchical: Single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txBox="1">
            <a:spLocks noChangeArrowheads="1"/>
          </p:cNvSpPr>
          <p:nvPr/>
        </p:nvSpPr>
        <p:spPr bwMode="auto">
          <a:xfrm>
            <a:off x="381000" y="1524000"/>
            <a:ext cx="7620000" cy="838200"/>
          </a:xfrm>
          <a:prstGeom prst="rect">
            <a:avLst/>
          </a:prstGeom>
          <a:noFill/>
          <a:ln w="9525">
            <a:noFill/>
            <a:miter lim="800000"/>
          </a:ln>
        </p:spPr>
        <p:txBody>
          <a:bodyPr/>
          <a:lstStyle/>
          <a:p>
            <a:pPr marL="273050" marR="0" indent="-273050" defTabSz="914400">
              <a:lnSpc>
                <a:spcPct val="90000"/>
              </a:lnSpc>
              <a:spcBef>
                <a:spcPts val="600"/>
              </a:spcBef>
              <a:buClr>
                <a:srgbClr val="666699"/>
              </a:buClr>
              <a:buSzPct val="130000"/>
              <a:buFont typeface="Wingdings" panose="05000000000000000000" pitchFamily="2" charset="2"/>
              <a:buChar char="§"/>
              <a:defRPr/>
            </a:pPr>
            <a:r>
              <a:rPr kumimoji="0" lang="en-US" sz="2800" kern="1200" cap="none" spc="0" normalizeH="0" baseline="0" noProof="0" dirty="0">
                <a:latin typeface="+mn-lt"/>
                <a:ea typeface="+mn-ea"/>
                <a:cs typeface="+mn-cs"/>
              </a:rPr>
              <a:t>Cluster similarity = similarity of two </a:t>
            </a:r>
            <a:r>
              <a:rPr kumimoji="0" lang="en-US" sz="2800" i="1" kern="1200" cap="none" spc="0" normalizeH="0" baseline="0" noProof="0" dirty="0">
                <a:solidFill>
                  <a:schemeClr val="accent4">
                    <a:lumMod val="60000"/>
                    <a:lumOff val="40000"/>
                  </a:schemeClr>
                </a:solidFill>
                <a:latin typeface="+mn-lt"/>
                <a:ea typeface="+mn-ea"/>
                <a:cs typeface="+mn-cs"/>
              </a:rPr>
              <a:t>most</a:t>
            </a:r>
            <a:r>
              <a:rPr kumimoji="0" lang="en-US" sz="2800" kern="1200" cap="none" spc="0" normalizeH="0" baseline="0" noProof="0" dirty="0">
                <a:solidFill>
                  <a:schemeClr val="accent4">
                    <a:lumMod val="60000"/>
                    <a:lumOff val="40000"/>
                  </a:schemeClr>
                </a:solidFill>
                <a:latin typeface="+mn-lt"/>
                <a:ea typeface="+mn-ea"/>
                <a:cs typeface="+mn-cs"/>
              </a:rPr>
              <a:t> </a:t>
            </a:r>
            <a:r>
              <a:rPr kumimoji="0" lang="en-US" sz="2800" kern="1200" cap="none" spc="0" normalizeH="0" baseline="0" noProof="0" dirty="0">
                <a:latin typeface="+mn-lt"/>
                <a:ea typeface="+mn-ea"/>
                <a:cs typeface="+mn-cs"/>
              </a:rPr>
              <a:t>similar members</a:t>
            </a:r>
            <a:endParaRPr kumimoji="0" lang="en-US" sz="2800" kern="1200" cap="none" spc="0" normalizeH="0" baseline="0" noProof="0" dirty="0">
              <a:latin typeface="+mn-lt"/>
              <a:ea typeface="+mn-ea"/>
              <a:cs typeface="+mn-cs"/>
            </a:endParaRPr>
          </a:p>
        </p:txBody>
      </p:sp>
      <p:grpSp>
        <p:nvGrpSpPr>
          <p:cNvPr id="100357" name="Group 4"/>
          <p:cNvGrpSpPr/>
          <p:nvPr/>
        </p:nvGrpSpPr>
        <p:grpSpPr>
          <a:xfrm>
            <a:off x="533400" y="3048000"/>
            <a:ext cx="4876800" cy="2895600"/>
            <a:chOff x="432" y="1825"/>
            <a:chExt cx="3170" cy="1487"/>
          </a:xfrm>
        </p:grpSpPr>
        <p:sp>
          <p:nvSpPr>
            <p:cNvPr id="100358" name="Oval 5"/>
            <p:cNvSpPr/>
            <p:nvPr/>
          </p:nvSpPr>
          <p:spPr>
            <a:xfrm>
              <a:off x="1874" y="2593"/>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59" name="Oval 6"/>
            <p:cNvSpPr/>
            <p:nvPr/>
          </p:nvSpPr>
          <p:spPr>
            <a:xfrm>
              <a:off x="3362" y="2545"/>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0" name="Oval 7"/>
            <p:cNvSpPr/>
            <p:nvPr/>
          </p:nvSpPr>
          <p:spPr>
            <a:xfrm>
              <a:off x="2354" y="3217"/>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1" name="Oval 8"/>
            <p:cNvSpPr/>
            <p:nvPr/>
          </p:nvSpPr>
          <p:spPr>
            <a:xfrm>
              <a:off x="2210" y="2737"/>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2" name="Oval 9"/>
            <p:cNvSpPr/>
            <p:nvPr/>
          </p:nvSpPr>
          <p:spPr>
            <a:xfrm>
              <a:off x="3170" y="2545"/>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3" name="Oval 10"/>
            <p:cNvSpPr/>
            <p:nvPr/>
          </p:nvSpPr>
          <p:spPr>
            <a:xfrm>
              <a:off x="3314" y="2353"/>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4" name="Oval 11"/>
            <p:cNvSpPr/>
            <p:nvPr/>
          </p:nvSpPr>
          <p:spPr>
            <a:xfrm>
              <a:off x="1010" y="2401"/>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5" name="Oval 12"/>
            <p:cNvSpPr/>
            <p:nvPr/>
          </p:nvSpPr>
          <p:spPr>
            <a:xfrm>
              <a:off x="962" y="2113"/>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6" name="Oval 13"/>
            <p:cNvSpPr/>
            <p:nvPr/>
          </p:nvSpPr>
          <p:spPr>
            <a:xfrm>
              <a:off x="1250" y="2209"/>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7" name="Oval 14"/>
            <p:cNvSpPr/>
            <p:nvPr/>
          </p:nvSpPr>
          <p:spPr>
            <a:xfrm>
              <a:off x="1058" y="2257"/>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8" name="Oval 15"/>
            <p:cNvSpPr/>
            <p:nvPr/>
          </p:nvSpPr>
          <p:spPr>
            <a:xfrm>
              <a:off x="1202" y="2401"/>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69" name="Oval 16"/>
            <p:cNvSpPr/>
            <p:nvPr/>
          </p:nvSpPr>
          <p:spPr>
            <a:xfrm>
              <a:off x="3122" y="2353"/>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0" name="Oval 17"/>
            <p:cNvSpPr/>
            <p:nvPr/>
          </p:nvSpPr>
          <p:spPr>
            <a:xfrm>
              <a:off x="1010" y="1921"/>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1" name="Oval 18"/>
            <p:cNvSpPr/>
            <p:nvPr/>
          </p:nvSpPr>
          <p:spPr>
            <a:xfrm>
              <a:off x="2978" y="2209"/>
              <a:ext cx="624" cy="521"/>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2" name="Oval 19"/>
            <p:cNvSpPr/>
            <p:nvPr/>
          </p:nvSpPr>
          <p:spPr>
            <a:xfrm>
              <a:off x="770" y="1825"/>
              <a:ext cx="720" cy="682"/>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3" name="Oval 20"/>
            <p:cNvSpPr/>
            <p:nvPr/>
          </p:nvSpPr>
          <p:spPr>
            <a:xfrm rot="2411630">
              <a:off x="1626" y="2590"/>
              <a:ext cx="1152" cy="696"/>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4" name="Oval 21"/>
            <p:cNvSpPr/>
            <p:nvPr/>
          </p:nvSpPr>
          <p:spPr>
            <a:xfrm>
              <a:off x="2306" y="2833"/>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5" name="Oval 22"/>
            <p:cNvSpPr/>
            <p:nvPr/>
          </p:nvSpPr>
          <p:spPr>
            <a:xfrm>
              <a:off x="2114" y="2929"/>
              <a:ext cx="96" cy="8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0376" name="Line 23"/>
            <p:cNvSpPr/>
            <p:nvPr/>
          </p:nvSpPr>
          <p:spPr>
            <a:xfrm>
              <a:off x="1250" y="2449"/>
              <a:ext cx="672" cy="160"/>
            </a:xfrm>
            <a:prstGeom prst="line">
              <a:avLst/>
            </a:prstGeom>
            <a:ln w="38100" cap="sq" cmpd="sng">
              <a:solidFill>
                <a:schemeClr val="hlink"/>
              </a:solidFill>
              <a:prstDash val="solid"/>
              <a:round/>
              <a:headEnd type="none" w="sm" len="sm"/>
              <a:tailEnd type="none" w="sm" len="sm"/>
            </a:ln>
          </p:spPr>
        </p:sp>
        <p:sp>
          <p:nvSpPr>
            <p:cNvPr id="100377" name="Line 24"/>
            <p:cNvSpPr/>
            <p:nvPr/>
          </p:nvSpPr>
          <p:spPr>
            <a:xfrm flipH="1">
              <a:off x="2354" y="2593"/>
              <a:ext cx="864" cy="241"/>
            </a:xfrm>
            <a:prstGeom prst="line">
              <a:avLst/>
            </a:prstGeom>
            <a:ln w="38100" cap="sq" cmpd="sng">
              <a:solidFill>
                <a:schemeClr val="hlink"/>
              </a:solidFill>
              <a:prstDash val="solid"/>
              <a:round/>
              <a:headEnd type="none" w="sm" len="sm"/>
              <a:tailEnd type="none" w="sm" len="sm"/>
            </a:ln>
          </p:spPr>
        </p:sp>
        <p:sp>
          <p:nvSpPr>
            <p:cNvPr id="100378" name="Oval 25"/>
            <p:cNvSpPr/>
            <p:nvPr/>
          </p:nvSpPr>
          <p:spPr>
            <a:xfrm rot="1822447">
              <a:off x="432" y="1920"/>
              <a:ext cx="2640" cy="1392"/>
            </a:xfrm>
            <a:prstGeom prst="ellipse">
              <a:avLst/>
            </a:prstGeom>
            <a:noFill/>
            <a:ln w="38100" cap="rnd" cmpd="sng">
              <a:solidFill>
                <a:schemeClr val="hlink"/>
              </a:solidFill>
              <a:prstDash val="sysDot"/>
              <a:round/>
              <a:headEnd type="none" w="sm" len="sm"/>
              <a:tailEnd type="none" w="sm" len="sm"/>
            </a:ln>
          </p:spPr>
          <p:txBody>
            <a:bodyPr wrap="none" anchor="ctr" anchorCtr="0"/>
            <a:p>
              <a:endParaRPr lang="en-IN" altLang="x-none" dirty="0">
                <a:latin typeface="Tahoma" panose="020B0604030504040204" pitchFamily="34" charset="0"/>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137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228600" y="381000"/>
            <a:ext cx="7848600" cy="685800"/>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single link</a:t>
            </a:r>
            <a:endParaRPr kumimoji="0" lang="en-US" sz="4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graphicFrame>
        <p:nvGraphicFramePr>
          <p:cNvPr id="101380"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098" name="" r:id="rId1" imgW="1371600" imgH="1371600" progId="Equation.3">
                  <p:embed/>
                </p:oleObj>
              </mc:Choice>
              <mc:Fallback>
                <p:oleObj name="" r:id="rId1" imgW="1371600" imgH="1371600" progId="Equation.3">
                  <p:embed/>
                  <p:pic>
                    <p:nvPicPr>
                      <p:cNvPr id="0" name="Picture 3097"/>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01381" name="Object 4"/>
          <p:cNvGraphicFramePr/>
          <p:nvPr/>
        </p:nvGraphicFramePr>
        <p:xfrm>
          <a:off x="3962400" y="1905000"/>
          <a:ext cx="1524000" cy="1458913"/>
        </p:xfrm>
        <a:graphic>
          <a:graphicData uri="http://schemas.openxmlformats.org/presentationml/2006/ole">
            <mc:AlternateContent xmlns:mc="http://schemas.openxmlformats.org/markup-compatibility/2006">
              <mc:Choice xmlns:v="urn:schemas-microsoft-com:vml" Requires="v">
                <p:oleObj spid="_x0000_s3099" name="" r:id="rId3" imgW="1193800" imgH="1143000" progId="Equation.3">
                  <p:embed/>
                </p:oleObj>
              </mc:Choice>
              <mc:Fallback>
                <p:oleObj name="" r:id="rId3" imgW="1193800" imgH="1143000" progId="Equation.3">
                  <p:embed/>
                  <p:pic>
                    <p:nvPicPr>
                      <p:cNvPr id="0" name="Picture 3098"/>
                      <p:cNvPicPr/>
                      <p:nvPr/>
                    </p:nvPicPr>
                    <p:blipFill>
                      <a:blip r:embed="rId4"/>
                      <a:stretch>
                        <a:fillRect/>
                      </a:stretch>
                    </p:blipFill>
                    <p:spPr>
                      <a:xfrm>
                        <a:off x="3962400" y="1905000"/>
                        <a:ext cx="1524000" cy="1458913"/>
                      </a:xfrm>
                      <a:prstGeom prst="rect">
                        <a:avLst/>
                      </a:prstGeom>
                      <a:noFill/>
                      <a:ln w="38100">
                        <a:noFill/>
                        <a:miter/>
                      </a:ln>
                    </p:spPr>
                  </p:pic>
                </p:oleObj>
              </mc:Fallback>
            </mc:AlternateContent>
          </a:graphicData>
        </a:graphic>
      </p:graphicFrame>
      <p:sp>
        <p:nvSpPr>
          <p:cNvPr id="101382" name="Line 5"/>
          <p:cNvSpPr/>
          <p:nvPr/>
        </p:nvSpPr>
        <p:spPr>
          <a:xfrm flipH="1">
            <a:off x="5791200" y="5257800"/>
            <a:ext cx="1524000" cy="0"/>
          </a:xfrm>
          <a:prstGeom prst="line">
            <a:avLst/>
          </a:prstGeom>
          <a:ln w="38100" cap="flat" cmpd="sng">
            <a:solidFill>
              <a:srgbClr val="000000"/>
            </a:solidFill>
            <a:prstDash val="solid"/>
            <a:round/>
            <a:headEnd type="none" w="med" len="med"/>
            <a:tailEnd type="none" w="med" len="med"/>
          </a:ln>
        </p:spPr>
      </p:sp>
      <p:sp>
        <p:nvSpPr>
          <p:cNvPr id="101383" name="Line 6"/>
          <p:cNvSpPr/>
          <p:nvPr/>
        </p:nvSpPr>
        <p:spPr>
          <a:xfrm>
            <a:off x="5791200" y="5257800"/>
            <a:ext cx="0" cy="533400"/>
          </a:xfrm>
          <a:prstGeom prst="line">
            <a:avLst/>
          </a:prstGeom>
          <a:ln w="38100" cap="flat" cmpd="sng">
            <a:solidFill>
              <a:srgbClr val="000000"/>
            </a:solidFill>
            <a:prstDash val="solid"/>
            <a:round/>
            <a:headEnd type="none" w="med" len="med"/>
            <a:tailEnd type="none" w="med" len="med"/>
          </a:ln>
        </p:spPr>
      </p:sp>
      <p:sp>
        <p:nvSpPr>
          <p:cNvPr id="101384" name="Line 7"/>
          <p:cNvSpPr/>
          <p:nvPr/>
        </p:nvSpPr>
        <p:spPr>
          <a:xfrm>
            <a:off x="5791200" y="5791200"/>
            <a:ext cx="1524000" cy="0"/>
          </a:xfrm>
          <a:prstGeom prst="line">
            <a:avLst/>
          </a:prstGeom>
          <a:ln w="38100" cap="flat" cmpd="sng">
            <a:solidFill>
              <a:srgbClr val="000000"/>
            </a:solidFill>
            <a:prstDash val="solid"/>
            <a:round/>
            <a:headEnd type="none" w="med" len="med"/>
            <a:tailEnd type="none" w="med" len="med"/>
          </a:ln>
        </p:spPr>
      </p:sp>
      <p:sp>
        <p:nvSpPr>
          <p:cNvPr id="101385" name="Oval 8"/>
          <p:cNvSpPr/>
          <p:nvPr/>
        </p:nvSpPr>
        <p:spPr>
          <a:xfrm>
            <a:off x="7391400" y="55626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1386" name="Oval 9"/>
          <p:cNvSpPr/>
          <p:nvPr/>
        </p:nvSpPr>
        <p:spPr>
          <a:xfrm>
            <a:off x="7391400" y="51054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1387" name="Oval 10"/>
          <p:cNvSpPr/>
          <p:nvPr/>
        </p:nvSpPr>
        <p:spPr>
          <a:xfrm>
            <a:off x="7391400" y="47244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1388" name="Oval 11"/>
          <p:cNvSpPr/>
          <p:nvPr/>
        </p:nvSpPr>
        <p:spPr>
          <a:xfrm>
            <a:off x="7391400" y="42672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1389" name="Oval 12"/>
          <p:cNvSpPr/>
          <p:nvPr/>
        </p:nvSpPr>
        <p:spPr>
          <a:xfrm>
            <a:off x="7391400" y="37338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1390" name="Text Box 13"/>
          <p:cNvSpPr txBox="1"/>
          <p:nvPr/>
        </p:nvSpPr>
        <p:spPr>
          <a:xfrm>
            <a:off x="7391400" y="5562600"/>
            <a:ext cx="3048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1391" name="Text Box 14"/>
          <p:cNvSpPr txBox="1"/>
          <p:nvPr/>
        </p:nvSpPr>
        <p:spPr>
          <a:xfrm>
            <a:off x="7391400" y="5105400"/>
            <a:ext cx="5334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1392" name="Text Box 15"/>
          <p:cNvSpPr txBox="1"/>
          <p:nvPr/>
        </p:nvSpPr>
        <p:spPr>
          <a:xfrm>
            <a:off x="7391400" y="4724400"/>
            <a:ext cx="4572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1393" name="Text Box 16"/>
          <p:cNvSpPr txBox="1"/>
          <p:nvPr/>
        </p:nvSpPr>
        <p:spPr>
          <a:xfrm>
            <a:off x="7391400" y="4267200"/>
            <a:ext cx="4572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1394" name="Text Box 17"/>
          <p:cNvSpPr txBox="1"/>
          <p:nvPr/>
        </p:nvSpPr>
        <p:spPr>
          <a:xfrm>
            <a:off x="7391400" y="3733800"/>
            <a:ext cx="3048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sp>
        <p:nvSpPr>
          <p:cNvPr id="101395" name="AutoShape 18"/>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1396" name="Object 19"/>
          <p:cNvGraphicFramePr>
            <a:graphicFrameLocks noChangeAspect="1"/>
          </p:cNvGraphicFramePr>
          <p:nvPr/>
        </p:nvGraphicFramePr>
        <p:xfrm>
          <a:off x="609600" y="3962400"/>
          <a:ext cx="4341813" cy="1344613"/>
        </p:xfrm>
        <a:graphic>
          <a:graphicData uri="http://schemas.openxmlformats.org/presentationml/2006/ole">
            <mc:AlternateContent xmlns:mc="http://schemas.openxmlformats.org/markup-compatibility/2006">
              <mc:Choice xmlns:v="urn:schemas-microsoft-com:vml" Requires="v">
                <p:oleObj spid="_x0000_s3100" name="" r:id="rId5" imgW="2371725" imgH="735965" progId="Equation.3">
                  <p:embed/>
                </p:oleObj>
              </mc:Choice>
              <mc:Fallback>
                <p:oleObj name="" r:id="rId5" imgW="2371725" imgH="735965" progId="Equation.3">
                  <p:embed/>
                  <p:pic>
                    <p:nvPicPr>
                      <p:cNvPr id="0" name="Picture 3099"/>
                      <p:cNvPicPr/>
                      <p:nvPr/>
                    </p:nvPicPr>
                    <p:blipFill>
                      <a:blip r:embed="rId6"/>
                      <a:stretch>
                        <a:fillRect/>
                      </a:stretch>
                    </p:blipFill>
                    <p:spPr>
                      <a:xfrm>
                        <a:off x="609600" y="3962400"/>
                        <a:ext cx="4341813" cy="1344613"/>
                      </a:xfrm>
                      <a:prstGeom prst="rect">
                        <a:avLst/>
                      </a:prstGeom>
                      <a:noFill/>
                      <a:ln w="38100">
                        <a:noFill/>
                        <a:miter/>
                      </a:ln>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240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102403" name="Object 3"/>
          <p:cNvGraphicFramePr/>
          <p:nvPr/>
        </p:nvGraphicFramePr>
        <p:xfrm>
          <a:off x="6381750" y="1981200"/>
          <a:ext cx="1408113" cy="1225550"/>
        </p:xfrm>
        <a:graphic>
          <a:graphicData uri="http://schemas.openxmlformats.org/presentationml/2006/ole">
            <mc:AlternateContent xmlns:mc="http://schemas.openxmlformats.org/markup-compatibility/2006">
              <mc:Choice xmlns:v="urn:schemas-microsoft-com:vml" Requires="v">
                <p:oleObj spid="_x0000_s3101" name="" r:id="rId1" imgW="1079500" imgH="939800" progId="Equation.3">
                  <p:embed/>
                </p:oleObj>
              </mc:Choice>
              <mc:Fallback>
                <p:oleObj name="" r:id="rId1" imgW="1079500" imgH="939800" progId="Equation.3">
                  <p:embed/>
                  <p:pic>
                    <p:nvPicPr>
                      <p:cNvPr id="0" name="Picture 3100"/>
                      <p:cNvPicPr/>
                      <p:nvPr/>
                    </p:nvPicPr>
                    <p:blipFill>
                      <a:blip r:embed="rId2"/>
                      <a:stretch>
                        <a:fillRect/>
                      </a:stretch>
                    </p:blipFill>
                    <p:spPr>
                      <a:xfrm>
                        <a:off x="6381750" y="1981200"/>
                        <a:ext cx="1408113" cy="1225550"/>
                      </a:xfrm>
                      <a:prstGeom prst="rect">
                        <a:avLst/>
                      </a:prstGeom>
                      <a:noFill/>
                      <a:ln w="38100">
                        <a:noFill/>
                        <a:miter/>
                      </a:ln>
                    </p:spPr>
                  </p:pic>
                </p:oleObj>
              </mc:Fallback>
            </mc:AlternateContent>
          </a:graphicData>
        </a:graphic>
      </p:graphicFrame>
      <p:sp>
        <p:nvSpPr>
          <p:cNvPr id="102404" name="Line 4"/>
          <p:cNvSpPr/>
          <p:nvPr/>
        </p:nvSpPr>
        <p:spPr>
          <a:xfrm flipH="1">
            <a:off x="6019800" y="5105400"/>
            <a:ext cx="1524000" cy="0"/>
          </a:xfrm>
          <a:prstGeom prst="line">
            <a:avLst/>
          </a:prstGeom>
          <a:ln w="38100" cap="flat" cmpd="sng">
            <a:solidFill>
              <a:srgbClr val="000000"/>
            </a:solidFill>
            <a:prstDash val="solid"/>
            <a:round/>
            <a:headEnd type="none" w="med" len="med"/>
            <a:tailEnd type="none" w="med" len="med"/>
          </a:ln>
        </p:spPr>
      </p:sp>
      <p:sp>
        <p:nvSpPr>
          <p:cNvPr id="102405" name="Line 5"/>
          <p:cNvSpPr/>
          <p:nvPr/>
        </p:nvSpPr>
        <p:spPr>
          <a:xfrm>
            <a:off x="6019800" y="5105400"/>
            <a:ext cx="0" cy="533400"/>
          </a:xfrm>
          <a:prstGeom prst="line">
            <a:avLst/>
          </a:prstGeom>
          <a:ln w="38100" cap="flat" cmpd="sng">
            <a:solidFill>
              <a:srgbClr val="000000"/>
            </a:solidFill>
            <a:prstDash val="solid"/>
            <a:round/>
            <a:headEnd type="none" w="med" len="med"/>
            <a:tailEnd type="none" w="med" len="med"/>
          </a:ln>
        </p:spPr>
      </p:sp>
      <p:sp>
        <p:nvSpPr>
          <p:cNvPr id="102406" name="Line 6"/>
          <p:cNvSpPr/>
          <p:nvPr/>
        </p:nvSpPr>
        <p:spPr>
          <a:xfrm>
            <a:off x="6019800" y="5638800"/>
            <a:ext cx="1524000" cy="0"/>
          </a:xfrm>
          <a:prstGeom prst="line">
            <a:avLst/>
          </a:prstGeom>
          <a:ln w="38100" cap="flat" cmpd="sng">
            <a:solidFill>
              <a:srgbClr val="000000"/>
            </a:solidFill>
            <a:prstDash val="solid"/>
            <a:round/>
            <a:headEnd type="none" w="med" len="med"/>
            <a:tailEnd type="none" w="med" len="med"/>
          </a:ln>
        </p:spPr>
      </p:sp>
      <p:grpSp>
        <p:nvGrpSpPr>
          <p:cNvPr id="102407" name="Group 7"/>
          <p:cNvGrpSpPr/>
          <p:nvPr/>
        </p:nvGrpSpPr>
        <p:grpSpPr>
          <a:xfrm>
            <a:off x="7620000" y="3657600"/>
            <a:ext cx="533400" cy="2286000"/>
            <a:chOff x="4800" y="2304"/>
            <a:chExt cx="336" cy="1440"/>
          </a:xfrm>
        </p:grpSpPr>
        <p:sp>
          <p:nvSpPr>
            <p:cNvPr id="102408" name="Oval 8"/>
            <p:cNvSpPr/>
            <p:nvPr/>
          </p:nvSpPr>
          <p:spPr>
            <a:xfrm>
              <a:off x="4800" y="345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2409" name="Oval 9"/>
            <p:cNvSpPr/>
            <p:nvPr/>
          </p:nvSpPr>
          <p:spPr>
            <a:xfrm>
              <a:off x="4800" y="316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2410" name="Oval 10"/>
            <p:cNvSpPr/>
            <p:nvPr/>
          </p:nvSpPr>
          <p:spPr>
            <a:xfrm>
              <a:off x="4800" y="292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2411" name="Oval 11"/>
            <p:cNvSpPr/>
            <p:nvPr/>
          </p:nvSpPr>
          <p:spPr>
            <a:xfrm>
              <a:off x="4800" y="2640"/>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2412" name="Oval 12"/>
            <p:cNvSpPr/>
            <p:nvPr/>
          </p:nvSpPr>
          <p:spPr>
            <a:xfrm>
              <a:off x="4800" y="2304"/>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2413" name="Text Box 13"/>
            <p:cNvSpPr txBox="1"/>
            <p:nvPr/>
          </p:nvSpPr>
          <p:spPr>
            <a:xfrm>
              <a:off x="4800" y="3456"/>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2414" name="Text Box 14"/>
            <p:cNvSpPr txBox="1"/>
            <p:nvPr/>
          </p:nvSpPr>
          <p:spPr>
            <a:xfrm>
              <a:off x="4800" y="3168"/>
              <a:ext cx="336"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2415" name="Text Box 15"/>
            <p:cNvSpPr txBox="1"/>
            <p:nvPr/>
          </p:nvSpPr>
          <p:spPr>
            <a:xfrm>
              <a:off x="4800" y="2928"/>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2416" name="Text Box 16"/>
            <p:cNvSpPr txBox="1"/>
            <p:nvPr/>
          </p:nvSpPr>
          <p:spPr>
            <a:xfrm>
              <a:off x="4800" y="2640"/>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2417" name="Text Box 17"/>
            <p:cNvSpPr txBox="1"/>
            <p:nvPr/>
          </p:nvSpPr>
          <p:spPr>
            <a:xfrm>
              <a:off x="4800" y="2304"/>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grpSp>
      <p:sp>
        <p:nvSpPr>
          <p:cNvPr id="102418" name="AutoShape 18"/>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2419" name="AutoShape 19"/>
          <p:cNvSpPr/>
          <p:nvPr/>
        </p:nvSpPr>
        <p:spPr>
          <a:xfrm>
            <a:off x="56388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2420" name="Object 20"/>
          <p:cNvGraphicFramePr/>
          <p:nvPr/>
        </p:nvGraphicFramePr>
        <p:xfrm>
          <a:off x="3962400" y="1905000"/>
          <a:ext cx="1524000" cy="1458913"/>
        </p:xfrm>
        <a:graphic>
          <a:graphicData uri="http://schemas.openxmlformats.org/presentationml/2006/ole">
            <mc:AlternateContent xmlns:mc="http://schemas.openxmlformats.org/markup-compatibility/2006">
              <mc:Choice xmlns:v="urn:schemas-microsoft-com:vml" Requires="v">
                <p:oleObj spid="_x0000_s3103" name="" r:id="rId3" imgW="1193800" imgH="1143000" progId="Equation.3">
                  <p:embed/>
                </p:oleObj>
              </mc:Choice>
              <mc:Fallback>
                <p:oleObj name="" r:id="rId3" imgW="1193800" imgH="1143000" progId="Equation.3">
                  <p:embed/>
                  <p:pic>
                    <p:nvPicPr>
                      <p:cNvPr id="0" name="Picture 3102"/>
                      <p:cNvPicPr/>
                      <p:nvPr/>
                    </p:nvPicPr>
                    <p:blipFill>
                      <a:blip r:embed="rId4"/>
                      <a:stretch>
                        <a:fillRect/>
                      </a:stretch>
                    </p:blipFill>
                    <p:spPr>
                      <a:xfrm>
                        <a:off x="3962400" y="1905000"/>
                        <a:ext cx="1524000" cy="1458913"/>
                      </a:xfrm>
                      <a:prstGeom prst="rect">
                        <a:avLst/>
                      </a:prstGeom>
                      <a:noFill/>
                      <a:ln w="38100">
                        <a:noFill/>
                        <a:miter/>
                      </a:ln>
                    </p:spPr>
                  </p:pic>
                </p:oleObj>
              </mc:Fallback>
            </mc:AlternateContent>
          </a:graphicData>
        </a:graphic>
      </p:graphicFrame>
      <p:graphicFrame>
        <p:nvGraphicFramePr>
          <p:cNvPr id="102421" name="Object 21"/>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04" name="" r:id="rId5" imgW="1371600" imgH="1371600" progId="Equation.3">
                  <p:embed/>
                </p:oleObj>
              </mc:Choice>
              <mc:Fallback>
                <p:oleObj name="" r:id="rId5" imgW="1371600" imgH="1371600" progId="Equation.3">
                  <p:embed/>
                  <p:pic>
                    <p:nvPicPr>
                      <p:cNvPr id="0" name="Picture 3103"/>
                      <p:cNvPicPr/>
                      <p:nvPr/>
                    </p:nvPicPr>
                    <p:blipFill>
                      <a:blip r:embed="rId6"/>
                      <a:stretch>
                        <a:fillRect/>
                      </a:stretch>
                    </p:blipFill>
                    <p:spPr>
                      <a:xfrm>
                        <a:off x="1211263" y="1828800"/>
                        <a:ext cx="1676400" cy="1676400"/>
                      </a:xfrm>
                      <a:prstGeom prst="rect">
                        <a:avLst/>
                      </a:prstGeom>
                      <a:noFill/>
                      <a:ln w="38100">
                        <a:noFill/>
                        <a:miter/>
                      </a:ln>
                    </p:spPr>
                  </p:pic>
                </p:oleObj>
              </mc:Fallback>
            </mc:AlternateContent>
          </a:graphicData>
        </a:graphic>
      </p:graphicFrame>
      <p:sp>
        <p:nvSpPr>
          <p:cNvPr id="102422" name="Line 22"/>
          <p:cNvSpPr/>
          <p:nvPr/>
        </p:nvSpPr>
        <p:spPr>
          <a:xfrm flipH="1">
            <a:off x="5486400" y="4800600"/>
            <a:ext cx="2057400" cy="0"/>
          </a:xfrm>
          <a:prstGeom prst="line">
            <a:avLst/>
          </a:prstGeom>
          <a:ln w="38100" cap="flat" cmpd="sng">
            <a:solidFill>
              <a:srgbClr val="000000"/>
            </a:solidFill>
            <a:prstDash val="solid"/>
            <a:round/>
            <a:headEnd type="none" w="med" len="med"/>
            <a:tailEnd type="none" w="med" len="med"/>
          </a:ln>
        </p:spPr>
      </p:sp>
      <p:sp>
        <p:nvSpPr>
          <p:cNvPr id="102423" name="Line 23"/>
          <p:cNvSpPr/>
          <p:nvPr/>
        </p:nvSpPr>
        <p:spPr>
          <a:xfrm>
            <a:off x="5486400" y="4800600"/>
            <a:ext cx="0" cy="533400"/>
          </a:xfrm>
          <a:prstGeom prst="line">
            <a:avLst/>
          </a:prstGeom>
          <a:ln w="38100" cap="flat" cmpd="sng">
            <a:solidFill>
              <a:srgbClr val="000000"/>
            </a:solidFill>
            <a:prstDash val="solid"/>
            <a:round/>
            <a:headEnd type="none" w="med" len="med"/>
            <a:tailEnd type="none" w="med" len="med"/>
          </a:ln>
        </p:spPr>
      </p:sp>
      <p:sp>
        <p:nvSpPr>
          <p:cNvPr id="102424" name="Line 24"/>
          <p:cNvSpPr/>
          <p:nvPr/>
        </p:nvSpPr>
        <p:spPr>
          <a:xfrm>
            <a:off x="5486400" y="5334000"/>
            <a:ext cx="533400" cy="0"/>
          </a:xfrm>
          <a:prstGeom prst="line">
            <a:avLst/>
          </a:prstGeom>
          <a:ln w="38100" cap="flat" cmpd="sng">
            <a:solidFill>
              <a:srgbClr val="000000"/>
            </a:solidFill>
            <a:prstDash val="solid"/>
            <a:round/>
            <a:headEnd type="none" w="med" len="med"/>
            <a:tailEnd type="none" w="med" len="med"/>
          </a:ln>
        </p:spPr>
      </p:sp>
      <p:graphicFrame>
        <p:nvGraphicFramePr>
          <p:cNvPr id="102425" name="Object 25"/>
          <p:cNvGraphicFramePr>
            <a:graphicFrameLocks noChangeAspect="1"/>
          </p:cNvGraphicFramePr>
          <p:nvPr/>
        </p:nvGraphicFramePr>
        <p:xfrm>
          <a:off x="685800" y="4038600"/>
          <a:ext cx="3808413" cy="727075"/>
        </p:xfrm>
        <a:graphic>
          <a:graphicData uri="http://schemas.openxmlformats.org/presentationml/2006/ole">
            <mc:AlternateContent xmlns:mc="http://schemas.openxmlformats.org/markup-compatibility/2006">
              <mc:Choice xmlns:v="urn:schemas-microsoft-com:vml" Requires="v">
                <p:oleObj spid="_x0000_s3102" name="" r:id="rId7" imgW="2522220" imgH="480060" progId="Equation.3">
                  <p:embed/>
                </p:oleObj>
              </mc:Choice>
              <mc:Fallback>
                <p:oleObj name="" r:id="rId7" imgW="2522220" imgH="480060" progId="Equation.3">
                  <p:embed/>
                  <p:pic>
                    <p:nvPicPr>
                      <p:cNvPr id="0" name="Picture 3101"/>
                      <p:cNvPicPr/>
                      <p:nvPr/>
                    </p:nvPicPr>
                    <p:blipFill>
                      <a:blip r:embed="rId8"/>
                      <a:stretch>
                        <a:fillRect/>
                      </a:stretch>
                    </p:blipFill>
                    <p:spPr>
                      <a:xfrm>
                        <a:off x="685800" y="4038600"/>
                        <a:ext cx="3808413" cy="727075"/>
                      </a:xfrm>
                      <a:prstGeom prst="rect">
                        <a:avLst/>
                      </a:prstGeom>
                      <a:noFill/>
                      <a:ln w="38100">
                        <a:noFill/>
                        <a:miter/>
                      </a:ln>
                    </p:spPr>
                  </p:pic>
                </p:oleObj>
              </mc:Fallback>
            </mc:AlternateContent>
          </a:graphicData>
        </a:graphic>
      </p:graphicFrame>
      <p:sp>
        <p:nvSpPr>
          <p:cNvPr id="30" name="Rectangle 2"/>
          <p:cNvSpPr>
            <a:spLocks noGrp="1" noChangeArrowheads="1"/>
          </p:cNvSpPr>
          <p:nvPr>
            <p:ph type="title"/>
          </p:nvPr>
        </p:nvSpPr>
        <p:spPr>
          <a:xfrm>
            <a:off x="228600" y="152400"/>
            <a:ext cx="7848600" cy="9144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single link</a:t>
            </a:r>
            <a:endParaRPr kumimoji="0" lang="en-US" sz="3000" b="0"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342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04800" y="304800"/>
            <a:ext cx="7848600" cy="7620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single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graphicFrame>
        <p:nvGraphicFramePr>
          <p:cNvPr id="103428" name="Object 3"/>
          <p:cNvGraphicFramePr/>
          <p:nvPr/>
        </p:nvGraphicFramePr>
        <p:xfrm>
          <a:off x="6381750" y="1981200"/>
          <a:ext cx="1408113" cy="1225550"/>
        </p:xfrm>
        <a:graphic>
          <a:graphicData uri="http://schemas.openxmlformats.org/presentationml/2006/ole">
            <mc:AlternateContent xmlns:mc="http://schemas.openxmlformats.org/markup-compatibility/2006">
              <mc:Choice xmlns:v="urn:schemas-microsoft-com:vml" Requires="v">
                <p:oleObj spid="_x0000_s3105" name="" r:id="rId1" imgW="1079500" imgH="939800" progId="Equation.3">
                  <p:embed/>
                </p:oleObj>
              </mc:Choice>
              <mc:Fallback>
                <p:oleObj name="" r:id="rId1" imgW="1079500" imgH="939800" progId="Equation.3">
                  <p:embed/>
                  <p:pic>
                    <p:nvPicPr>
                      <p:cNvPr id="0" name="Picture 3104"/>
                      <p:cNvPicPr/>
                      <p:nvPr/>
                    </p:nvPicPr>
                    <p:blipFill>
                      <a:blip r:embed="rId2"/>
                      <a:stretch>
                        <a:fillRect/>
                      </a:stretch>
                    </p:blipFill>
                    <p:spPr>
                      <a:xfrm>
                        <a:off x="6381750" y="1981200"/>
                        <a:ext cx="1408113" cy="1225550"/>
                      </a:xfrm>
                      <a:prstGeom prst="rect">
                        <a:avLst/>
                      </a:prstGeom>
                      <a:noFill/>
                      <a:ln w="38100">
                        <a:noFill/>
                        <a:miter/>
                      </a:ln>
                    </p:spPr>
                  </p:pic>
                </p:oleObj>
              </mc:Fallback>
            </mc:AlternateContent>
          </a:graphicData>
        </a:graphic>
      </p:graphicFrame>
      <p:sp>
        <p:nvSpPr>
          <p:cNvPr id="103429" name="Line 4"/>
          <p:cNvSpPr/>
          <p:nvPr/>
        </p:nvSpPr>
        <p:spPr>
          <a:xfrm flipH="1">
            <a:off x="5943600" y="5105400"/>
            <a:ext cx="1524000" cy="0"/>
          </a:xfrm>
          <a:prstGeom prst="line">
            <a:avLst/>
          </a:prstGeom>
          <a:ln w="38100" cap="flat" cmpd="sng">
            <a:solidFill>
              <a:srgbClr val="000000"/>
            </a:solidFill>
            <a:prstDash val="solid"/>
            <a:round/>
            <a:headEnd type="none" w="med" len="med"/>
            <a:tailEnd type="none" w="med" len="med"/>
          </a:ln>
        </p:spPr>
      </p:sp>
      <p:sp>
        <p:nvSpPr>
          <p:cNvPr id="103430" name="Line 5"/>
          <p:cNvSpPr/>
          <p:nvPr/>
        </p:nvSpPr>
        <p:spPr>
          <a:xfrm>
            <a:off x="5943600" y="5105400"/>
            <a:ext cx="0" cy="533400"/>
          </a:xfrm>
          <a:prstGeom prst="line">
            <a:avLst/>
          </a:prstGeom>
          <a:ln w="38100" cap="flat" cmpd="sng">
            <a:solidFill>
              <a:srgbClr val="000000"/>
            </a:solidFill>
            <a:prstDash val="solid"/>
            <a:round/>
            <a:headEnd type="none" w="med" len="med"/>
            <a:tailEnd type="none" w="med" len="med"/>
          </a:ln>
        </p:spPr>
      </p:sp>
      <p:sp>
        <p:nvSpPr>
          <p:cNvPr id="103431" name="Line 6"/>
          <p:cNvSpPr/>
          <p:nvPr/>
        </p:nvSpPr>
        <p:spPr>
          <a:xfrm>
            <a:off x="5943600" y="5638800"/>
            <a:ext cx="1524000" cy="0"/>
          </a:xfrm>
          <a:prstGeom prst="line">
            <a:avLst/>
          </a:prstGeom>
          <a:ln w="38100" cap="flat" cmpd="sng">
            <a:solidFill>
              <a:srgbClr val="000000"/>
            </a:solidFill>
            <a:prstDash val="solid"/>
            <a:round/>
            <a:headEnd type="none" w="med" len="med"/>
            <a:tailEnd type="none" w="med" len="med"/>
          </a:ln>
        </p:spPr>
      </p:sp>
      <p:sp>
        <p:nvSpPr>
          <p:cNvPr id="103432" name="Text Box 7"/>
          <p:cNvSpPr txBox="1"/>
          <p:nvPr/>
        </p:nvSpPr>
        <p:spPr>
          <a:xfrm>
            <a:off x="7543800" y="5029200"/>
            <a:ext cx="5334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3433" name="Oval 8"/>
          <p:cNvSpPr/>
          <p:nvPr/>
        </p:nvSpPr>
        <p:spPr>
          <a:xfrm>
            <a:off x="7543800" y="54864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3434" name="Oval 9"/>
          <p:cNvSpPr/>
          <p:nvPr/>
        </p:nvSpPr>
        <p:spPr>
          <a:xfrm>
            <a:off x="7543800" y="50292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spcBef>
                <a:spcPct val="20000"/>
              </a:spcBef>
              <a:buClr>
                <a:schemeClr val="folHlink"/>
              </a:buClr>
              <a:buSzPct val="75000"/>
              <a:buFont typeface="Wingdings" panose="05000000000000000000" pitchFamily="2" charset="2"/>
            </a:pPr>
            <a:r>
              <a:rPr lang="en-US" sz="2000" dirty="0">
                <a:latin typeface="Tahoma" panose="020B0604030504040204" pitchFamily="34" charset="0"/>
              </a:rPr>
              <a:t>2</a:t>
            </a:r>
            <a:endParaRPr lang="en-US" sz="2000" dirty="0">
              <a:latin typeface="Tahoma" panose="020B0604030504040204" pitchFamily="34" charset="0"/>
            </a:endParaRPr>
          </a:p>
        </p:txBody>
      </p:sp>
      <p:sp>
        <p:nvSpPr>
          <p:cNvPr id="103435" name="Oval 10"/>
          <p:cNvSpPr/>
          <p:nvPr/>
        </p:nvSpPr>
        <p:spPr>
          <a:xfrm>
            <a:off x="7543800" y="46482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3436" name="Oval 11"/>
          <p:cNvSpPr/>
          <p:nvPr/>
        </p:nvSpPr>
        <p:spPr>
          <a:xfrm>
            <a:off x="7543800" y="41910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3437" name="Oval 12"/>
          <p:cNvSpPr/>
          <p:nvPr/>
        </p:nvSpPr>
        <p:spPr>
          <a:xfrm>
            <a:off x="7543800" y="36576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3438" name="Text Box 13"/>
          <p:cNvSpPr txBox="1"/>
          <p:nvPr/>
        </p:nvSpPr>
        <p:spPr>
          <a:xfrm>
            <a:off x="7543800" y="5486400"/>
            <a:ext cx="3048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3439" name="Text Box 14"/>
          <p:cNvSpPr txBox="1"/>
          <p:nvPr/>
        </p:nvSpPr>
        <p:spPr>
          <a:xfrm>
            <a:off x="7543800" y="4648200"/>
            <a:ext cx="4572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3440" name="Text Box 15"/>
          <p:cNvSpPr txBox="1"/>
          <p:nvPr/>
        </p:nvSpPr>
        <p:spPr>
          <a:xfrm>
            <a:off x="7543800" y="4191000"/>
            <a:ext cx="4572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3441" name="Text Box 16"/>
          <p:cNvSpPr txBox="1"/>
          <p:nvPr/>
        </p:nvSpPr>
        <p:spPr>
          <a:xfrm>
            <a:off x="7543800" y="3657600"/>
            <a:ext cx="3048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sp>
        <p:nvSpPr>
          <p:cNvPr id="103442" name="AutoShape 17"/>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3443" name="AutoShape 18"/>
          <p:cNvSpPr/>
          <p:nvPr/>
        </p:nvSpPr>
        <p:spPr>
          <a:xfrm>
            <a:off x="56388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3444" name="Object 19"/>
          <p:cNvGraphicFramePr/>
          <p:nvPr/>
        </p:nvGraphicFramePr>
        <p:xfrm>
          <a:off x="3962400" y="1905000"/>
          <a:ext cx="1524000" cy="1458913"/>
        </p:xfrm>
        <a:graphic>
          <a:graphicData uri="http://schemas.openxmlformats.org/presentationml/2006/ole">
            <mc:AlternateContent xmlns:mc="http://schemas.openxmlformats.org/markup-compatibility/2006">
              <mc:Choice xmlns:v="urn:schemas-microsoft-com:vml" Requires="v">
                <p:oleObj spid="_x0000_s3106" name="" r:id="rId3" imgW="1193800" imgH="1143000" progId="Equation.3">
                  <p:embed/>
                </p:oleObj>
              </mc:Choice>
              <mc:Fallback>
                <p:oleObj name="" r:id="rId3" imgW="1193800" imgH="1143000" progId="Equation.3">
                  <p:embed/>
                  <p:pic>
                    <p:nvPicPr>
                      <p:cNvPr id="0" name="Picture 3105"/>
                      <p:cNvPicPr/>
                      <p:nvPr/>
                    </p:nvPicPr>
                    <p:blipFill>
                      <a:blip r:embed="rId4"/>
                      <a:stretch>
                        <a:fillRect/>
                      </a:stretch>
                    </p:blipFill>
                    <p:spPr>
                      <a:xfrm>
                        <a:off x="3962400" y="1905000"/>
                        <a:ext cx="1524000" cy="1458913"/>
                      </a:xfrm>
                      <a:prstGeom prst="rect">
                        <a:avLst/>
                      </a:prstGeom>
                      <a:noFill/>
                      <a:ln w="38100">
                        <a:noFill/>
                        <a:miter/>
                      </a:ln>
                    </p:spPr>
                  </p:pic>
                </p:oleObj>
              </mc:Fallback>
            </mc:AlternateContent>
          </a:graphicData>
        </a:graphic>
      </p:graphicFrame>
      <p:graphicFrame>
        <p:nvGraphicFramePr>
          <p:cNvPr id="103445" name="Object 20"/>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07" name="" r:id="rId5" imgW="1371600" imgH="1371600" progId="Equation.3">
                  <p:embed/>
                </p:oleObj>
              </mc:Choice>
              <mc:Fallback>
                <p:oleObj name="" r:id="rId5" imgW="1371600" imgH="1371600" progId="Equation.3">
                  <p:embed/>
                  <p:pic>
                    <p:nvPicPr>
                      <p:cNvPr id="0" name="Picture 3106"/>
                      <p:cNvPicPr/>
                      <p:nvPr/>
                    </p:nvPicPr>
                    <p:blipFill>
                      <a:blip r:embed="rId6"/>
                      <a:stretch>
                        <a:fillRect/>
                      </a:stretch>
                    </p:blipFill>
                    <p:spPr>
                      <a:xfrm>
                        <a:off x="1211263" y="1828800"/>
                        <a:ext cx="1676400" cy="1676400"/>
                      </a:xfrm>
                      <a:prstGeom prst="rect">
                        <a:avLst/>
                      </a:prstGeom>
                      <a:noFill/>
                      <a:ln w="38100">
                        <a:noFill/>
                        <a:miter/>
                      </a:ln>
                    </p:spPr>
                  </p:pic>
                </p:oleObj>
              </mc:Fallback>
            </mc:AlternateContent>
          </a:graphicData>
        </a:graphic>
      </p:graphicFrame>
      <p:sp>
        <p:nvSpPr>
          <p:cNvPr id="103446" name="Line 21"/>
          <p:cNvSpPr/>
          <p:nvPr/>
        </p:nvSpPr>
        <p:spPr>
          <a:xfrm flipH="1">
            <a:off x="5410200" y="4800600"/>
            <a:ext cx="2057400" cy="0"/>
          </a:xfrm>
          <a:prstGeom prst="line">
            <a:avLst/>
          </a:prstGeom>
          <a:ln w="38100" cap="flat" cmpd="sng">
            <a:solidFill>
              <a:srgbClr val="000000"/>
            </a:solidFill>
            <a:prstDash val="solid"/>
            <a:round/>
            <a:headEnd type="none" w="med" len="med"/>
            <a:tailEnd type="none" w="med" len="med"/>
          </a:ln>
        </p:spPr>
      </p:sp>
      <p:sp>
        <p:nvSpPr>
          <p:cNvPr id="103447" name="Line 22"/>
          <p:cNvSpPr/>
          <p:nvPr/>
        </p:nvSpPr>
        <p:spPr>
          <a:xfrm>
            <a:off x="5410200" y="4800600"/>
            <a:ext cx="0" cy="533400"/>
          </a:xfrm>
          <a:prstGeom prst="line">
            <a:avLst/>
          </a:prstGeom>
          <a:ln w="38100" cap="flat" cmpd="sng">
            <a:solidFill>
              <a:srgbClr val="000000"/>
            </a:solidFill>
            <a:prstDash val="solid"/>
            <a:round/>
            <a:headEnd type="none" w="med" len="med"/>
            <a:tailEnd type="none" w="med" len="med"/>
          </a:ln>
        </p:spPr>
      </p:sp>
      <p:sp>
        <p:nvSpPr>
          <p:cNvPr id="103448" name="Line 23"/>
          <p:cNvSpPr/>
          <p:nvPr/>
        </p:nvSpPr>
        <p:spPr>
          <a:xfrm>
            <a:off x="5410200" y="5334000"/>
            <a:ext cx="533400" cy="0"/>
          </a:xfrm>
          <a:prstGeom prst="line">
            <a:avLst/>
          </a:prstGeom>
          <a:ln w="38100" cap="flat" cmpd="sng">
            <a:solidFill>
              <a:srgbClr val="000000"/>
            </a:solidFill>
            <a:prstDash val="solid"/>
            <a:round/>
            <a:headEnd type="none" w="med" len="med"/>
            <a:tailEnd type="none" w="med" len="med"/>
          </a:ln>
        </p:spPr>
      </p:sp>
      <p:sp>
        <p:nvSpPr>
          <p:cNvPr id="103449" name="Line 24"/>
          <p:cNvSpPr/>
          <p:nvPr/>
        </p:nvSpPr>
        <p:spPr>
          <a:xfrm flipH="1">
            <a:off x="5943600" y="3886200"/>
            <a:ext cx="1524000" cy="0"/>
          </a:xfrm>
          <a:prstGeom prst="line">
            <a:avLst/>
          </a:prstGeom>
          <a:ln w="38100" cap="flat" cmpd="sng">
            <a:solidFill>
              <a:srgbClr val="000000"/>
            </a:solidFill>
            <a:prstDash val="solid"/>
            <a:round/>
            <a:headEnd type="none" w="med" len="med"/>
            <a:tailEnd type="none" w="med" len="med"/>
          </a:ln>
        </p:spPr>
      </p:sp>
      <p:sp>
        <p:nvSpPr>
          <p:cNvPr id="103450" name="Line 25"/>
          <p:cNvSpPr/>
          <p:nvPr/>
        </p:nvSpPr>
        <p:spPr>
          <a:xfrm>
            <a:off x="5943600" y="3886200"/>
            <a:ext cx="0" cy="533400"/>
          </a:xfrm>
          <a:prstGeom prst="line">
            <a:avLst/>
          </a:prstGeom>
          <a:ln w="38100" cap="flat" cmpd="sng">
            <a:solidFill>
              <a:srgbClr val="000000"/>
            </a:solidFill>
            <a:prstDash val="solid"/>
            <a:round/>
            <a:headEnd type="none" w="med" len="med"/>
            <a:tailEnd type="none" w="med" len="med"/>
          </a:ln>
        </p:spPr>
      </p:sp>
      <p:sp>
        <p:nvSpPr>
          <p:cNvPr id="103451" name="Line 26"/>
          <p:cNvSpPr/>
          <p:nvPr/>
        </p:nvSpPr>
        <p:spPr>
          <a:xfrm>
            <a:off x="5943600" y="4419600"/>
            <a:ext cx="1524000" cy="0"/>
          </a:xfrm>
          <a:prstGeom prst="line">
            <a:avLst/>
          </a:prstGeom>
          <a:ln w="38100" cap="flat" cmpd="sng">
            <a:solidFill>
              <a:srgbClr val="000000"/>
            </a:solidFill>
            <a:prstDash val="solid"/>
            <a:round/>
            <a:headEnd type="none" w="med" len="med"/>
            <a:tailEnd type="none" w="med" len="med"/>
          </a:ln>
        </p:spPr>
      </p:sp>
      <p:sp>
        <p:nvSpPr>
          <p:cNvPr id="103452" name="Line 27"/>
          <p:cNvSpPr/>
          <p:nvPr/>
        </p:nvSpPr>
        <p:spPr>
          <a:xfrm flipH="1">
            <a:off x="4648200" y="4114800"/>
            <a:ext cx="1295400" cy="0"/>
          </a:xfrm>
          <a:prstGeom prst="line">
            <a:avLst/>
          </a:prstGeom>
          <a:ln w="38100" cap="flat" cmpd="sng">
            <a:solidFill>
              <a:srgbClr val="000000"/>
            </a:solidFill>
            <a:prstDash val="solid"/>
            <a:round/>
            <a:headEnd type="none" w="med" len="med"/>
            <a:tailEnd type="none" w="med" len="med"/>
          </a:ln>
        </p:spPr>
      </p:sp>
      <p:sp>
        <p:nvSpPr>
          <p:cNvPr id="103453" name="Line 28"/>
          <p:cNvSpPr/>
          <p:nvPr/>
        </p:nvSpPr>
        <p:spPr>
          <a:xfrm>
            <a:off x="4648200" y="4114800"/>
            <a:ext cx="0" cy="990600"/>
          </a:xfrm>
          <a:prstGeom prst="line">
            <a:avLst/>
          </a:prstGeom>
          <a:ln w="38100" cap="flat" cmpd="sng">
            <a:solidFill>
              <a:srgbClr val="000000"/>
            </a:solidFill>
            <a:prstDash val="solid"/>
            <a:round/>
            <a:headEnd type="none" w="med" len="med"/>
            <a:tailEnd type="none" w="med" len="med"/>
          </a:ln>
        </p:spPr>
      </p:sp>
      <p:sp>
        <p:nvSpPr>
          <p:cNvPr id="103454" name="Line 29"/>
          <p:cNvSpPr/>
          <p:nvPr/>
        </p:nvSpPr>
        <p:spPr>
          <a:xfrm>
            <a:off x="4648200" y="5105400"/>
            <a:ext cx="762000" cy="0"/>
          </a:xfrm>
          <a:prstGeom prst="line">
            <a:avLst/>
          </a:prstGeom>
          <a:ln w="38100" cap="flat" cmpd="sng">
            <a:solidFill>
              <a:srgbClr val="000000"/>
            </a:solidFill>
            <a:prstDash val="solid"/>
            <a:round/>
            <a:headEnd type="none" w="med" len="med"/>
            <a:tailEnd type="none" w="med" len="med"/>
          </a:ln>
        </p:spPr>
      </p:sp>
      <p:graphicFrame>
        <p:nvGraphicFramePr>
          <p:cNvPr id="103455" name="Object 30"/>
          <p:cNvGraphicFramePr>
            <a:graphicFrameLocks noChangeAspect="1"/>
          </p:cNvGraphicFramePr>
          <p:nvPr/>
        </p:nvGraphicFramePr>
        <p:xfrm>
          <a:off x="457200" y="4114800"/>
          <a:ext cx="3884613" cy="417513"/>
        </p:xfrm>
        <a:graphic>
          <a:graphicData uri="http://schemas.openxmlformats.org/presentationml/2006/ole">
            <mc:AlternateContent xmlns:mc="http://schemas.openxmlformats.org/markup-compatibility/2006">
              <mc:Choice xmlns:v="urn:schemas-microsoft-com:vml" Requires="v">
                <p:oleObj spid="_x0000_s3108" name="" r:id="rId7" imgW="2231390" imgH="238125" progId="Equation.3">
                  <p:embed/>
                </p:oleObj>
              </mc:Choice>
              <mc:Fallback>
                <p:oleObj name="" r:id="rId7" imgW="2231390" imgH="238125" progId="Equation.3">
                  <p:embed/>
                  <p:pic>
                    <p:nvPicPr>
                      <p:cNvPr id="0" name="Picture 3107"/>
                      <p:cNvPicPr/>
                      <p:nvPr/>
                    </p:nvPicPr>
                    <p:blipFill>
                      <a:blip r:embed="rId8"/>
                      <a:stretch>
                        <a:fillRect/>
                      </a:stretch>
                    </p:blipFill>
                    <p:spPr>
                      <a:xfrm>
                        <a:off x="457200" y="4114800"/>
                        <a:ext cx="3884613" cy="417513"/>
                      </a:xfrm>
                      <a:prstGeom prst="rect">
                        <a:avLst/>
                      </a:prstGeom>
                      <a:noFill/>
                      <a:ln w="38100">
                        <a:noFill/>
                        <a:miter/>
                      </a:ln>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445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81000" y="304800"/>
            <a:ext cx="7772400" cy="838200"/>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Hierarchical: Complete Link</a:t>
            </a:r>
            <a:endParaRPr kumimoji="0" lang="en-US" sz="4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txBox="1">
            <a:spLocks noChangeArrowheads="1"/>
          </p:cNvSpPr>
          <p:nvPr/>
        </p:nvSpPr>
        <p:spPr bwMode="auto">
          <a:xfrm>
            <a:off x="609600" y="1828800"/>
            <a:ext cx="7620000" cy="990600"/>
          </a:xfrm>
          <a:prstGeom prst="rect">
            <a:avLst/>
          </a:prstGeom>
          <a:noFill/>
          <a:ln w="9525">
            <a:noFill/>
            <a:miter lim="800000"/>
          </a:ln>
        </p:spPr>
        <p:txBody>
          <a:bodyPr/>
          <a:lstStyle/>
          <a:p>
            <a:pPr marL="273050" marR="0" indent="-273050" defTabSz="914400">
              <a:spcBef>
                <a:spcPts val="600"/>
              </a:spcBef>
              <a:buClr>
                <a:srgbClr val="666699"/>
              </a:buClr>
              <a:buSzPct val="130000"/>
              <a:buFont typeface="Wingdings" panose="05000000000000000000" pitchFamily="2" charset="2"/>
              <a:buChar char="§"/>
              <a:defRPr/>
            </a:pPr>
            <a:r>
              <a:rPr kumimoji="0" lang="en-US" sz="2800" kern="1200" cap="none" spc="0" normalizeH="0" baseline="0" noProof="0" dirty="0">
                <a:latin typeface="+mn-lt"/>
                <a:ea typeface="+mn-ea"/>
                <a:cs typeface="+mn-cs"/>
              </a:rPr>
              <a:t>Cluster similarity = similarity of </a:t>
            </a:r>
            <a:r>
              <a:rPr kumimoji="0" lang="en-US" sz="2800" kern="1200" cap="none" spc="0" normalizeH="0" baseline="0" noProof="0" dirty="0">
                <a:solidFill>
                  <a:schemeClr val="accent4">
                    <a:lumMod val="60000"/>
                    <a:lumOff val="40000"/>
                  </a:schemeClr>
                </a:solidFill>
                <a:latin typeface="+mn-lt"/>
                <a:ea typeface="+mn-ea"/>
                <a:cs typeface="+mn-cs"/>
              </a:rPr>
              <a:t>two </a:t>
            </a:r>
            <a:r>
              <a:rPr kumimoji="0" lang="en-US" sz="2800" i="1" kern="1200" cap="none" spc="0" normalizeH="0" baseline="0" noProof="0" dirty="0">
                <a:solidFill>
                  <a:schemeClr val="accent4">
                    <a:lumMod val="60000"/>
                    <a:lumOff val="40000"/>
                  </a:schemeClr>
                </a:solidFill>
                <a:latin typeface="+mn-lt"/>
                <a:ea typeface="+mn-ea"/>
                <a:cs typeface="+mn-cs"/>
              </a:rPr>
              <a:t>least</a:t>
            </a:r>
            <a:r>
              <a:rPr kumimoji="0" lang="en-US" sz="2800" kern="1200" cap="none" spc="0" normalizeH="0" baseline="0" noProof="0" dirty="0">
                <a:solidFill>
                  <a:schemeClr val="accent4">
                    <a:lumMod val="60000"/>
                    <a:lumOff val="40000"/>
                  </a:schemeClr>
                </a:solidFill>
                <a:latin typeface="+mn-lt"/>
                <a:ea typeface="+mn-ea"/>
                <a:cs typeface="+mn-cs"/>
              </a:rPr>
              <a:t> </a:t>
            </a:r>
            <a:r>
              <a:rPr kumimoji="0" lang="en-US" sz="2800" kern="1200" cap="none" spc="0" normalizeH="0" baseline="0" noProof="0" dirty="0">
                <a:latin typeface="+mn-lt"/>
                <a:ea typeface="+mn-ea"/>
                <a:cs typeface="+mn-cs"/>
              </a:rPr>
              <a:t>similar members</a:t>
            </a:r>
            <a:endParaRPr kumimoji="0" lang="en-US" sz="2800" kern="1200" cap="none" spc="0" normalizeH="0" baseline="0" noProof="0" dirty="0">
              <a:latin typeface="+mn-lt"/>
              <a:ea typeface="+mn-ea"/>
              <a:cs typeface="+mn-cs"/>
            </a:endParaRPr>
          </a:p>
        </p:txBody>
      </p:sp>
      <p:sp>
        <p:nvSpPr>
          <p:cNvPr id="104453" name="Oval 4"/>
          <p:cNvSpPr/>
          <p:nvPr/>
        </p:nvSpPr>
        <p:spPr>
          <a:xfrm>
            <a:off x="2286000" y="4495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54" name="Oval 5"/>
          <p:cNvSpPr/>
          <p:nvPr/>
        </p:nvSpPr>
        <p:spPr>
          <a:xfrm>
            <a:off x="4648200" y="44196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55" name="Oval 6"/>
          <p:cNvSpPr/>
          <p:nvPr/>
        </p:nvSpPr>
        <p:spPr>
          <a:xfrm>
            <a:off x="3048000" y="54864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56" name="Oval 7"/>
          <p:cNvSpPr/>
          <p:nvPr/>
        </p:nvSpPr>
        <p:spPr>
          <a:xfrm>
            <a:off x="2819400" y="47244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57" name="Oval 8"/>
          <p:cNvSpPr/>
          <p:nvPr/>
        </p:nvSpPr>
        <p:spPr>
          <a:xfrm>
            <a:off x="4343400" y="44196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58" name="Oval 9"/>
          <p:cNvSpPr/>
          <p:nvPr/>
        </p:nvSpPr>
        <p:spPr>
          <a:xfrm>
            <a:off x="4572000" y="4114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59" name="Oval 10"/>
          <p:cNvSpPr/>
          <p:nvPr/>
        </p:nvSpPr>
        <p:spPr>
          <a:xfrm>
            <a:off x="914400" y="4191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0" name="Oval 11"/>
          <p:cNvSpPr/>
          <p:nvPr/>
        </p:nvSpPr>
        <p:spPr>
          <a:xfrm>
            <a:off x="838200" y="3733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1" name="Oval 12"/>
          <p:cNvSpPr/>
          <p:nvPr/>
        </p:nvSpPr>
        <p:spPr>
          <a:xfrm>
            <a:off x="1295400" y="38862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2" name="Oval 13"/>
          <p:cNvSpPr/>
          <p:nvPr/>
        </p:nvSpPr>
        <p:spPr>
          <a:xfrm>
            <a:off x="990600" y="39624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3" name="Oval 14"/>
          <p:cNvSpPr/>
          <p:nvPr/>
        </p:nvSpPr>
        <p:spPr>
          <a:xfrm>
            <a:off x="1219200" y="4191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4" name="Oval 15"/>
          <p:cNvSpPr/>
          <p:nvPr/>
        </p:nvSpPr>
        <p:spPr>
          <a:xfrm>
            <a:off x="4267200" y="4114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5" name="Oval 16"/>
          <p:cNvSpPr/>
          <p:nvPr/>
        </p:nvSpPr>
        <p:spPr>
          <a:xfrm>
            <a:off x="914400" y="3429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6" name="Oval 17"/>
          <p:cNvSpPr/>
          <p:nvPr/>
        </p:nvSpPr>
        <p:spPr>
          <a:xfrm>
            <a:off x="4038600" y="3886200"/>
            <a:ext cx="990600" cy="990600"/>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7" name="Oval 18"/>
          <p:cNvSpPr/>
          <p:nvPr/>
        </p:nvSpPr>
        <p:spPr>
          <a:xfrm>
            <a:off x="533400" y="3276600"/>
            <a:ext cx="1143000" cy="1295400"/>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8" name="Oval 19"/>
          <p:cNvSpPr/>
          <p:nvPr/>
        </p:nvSpPr>
        <p:spPr>
          <a:xfrm rot="2411630">
            <a:off x="1905000" y="4495800"/>
            <a:ext cx="1828800" cy="1066800"/>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69" name="Oval 20"/>
          <p:cNvSpPr/>
          <p:nvPr/>
        </p:nvSpPr>
        <p:spPr>
          <a:xfrm>
            <a:off x="2971800" y="4876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70" name="Oval 21"/>
          <p:cNvSpPr/>
          <p:nvPr/>
        </p:nvSpPr>
        <p:spPr>
          <a:xfrm>
            <a:off x="2667000" y="50292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4471" name="Line 22"/>
          <p:cNvSpPr/>
          <p:nvPr/>
        </p:nvSpPr>
        <p:spPr>
          <a:xfrm>
            <a:off x="990600" y="3505200"/>
            <a:ext cx="2133600" cy="2057400"/>
          </a:xfrm>
          <a:prstGeom prst="line">
            <a:avLst/>
          </a:prstGeom>
          <a:ln w="38100" cap="sq" cmpd="sng">
            <a:solidFill>
              <a:schemeClr val="hlink"/>
            </a:solidFill>
            <a:prstDash val="solid"/>
            <a:round/>
            <a:headEnd type="none" w="sm" len="sm"/>
            <a:tailEnd type="none" w="sm" len="sm"/>
          </a:ln>
        </p:spPr>
      </p:sp>
      <p:sp>
        <p:nvSpPr>
          <p:cNvPr id="104472" name="Line 23"/>
          <p:cNvSpPr/>
          <p:nvPr/>
        </p:nvSpPr>
        <p:spPr>
          <a:xfrm flipH="1">
            <a:off x="2362200" y="4495800"/>
            <a:ext cx="2362200" cy="76200"/>
          </a:xfrm>
          <a:prstGeom prst="line">
            <a:avLst/>
          </a:prstGeom>
          <a:ln w="38100" cap="sq" cmpd="sng">
            <a:solidFill>
              <a:schemeClr val="hlink"/>
            </a:solidFill>
            <a:prstDash val="solid"/>
            <a:round/>
            <a:headEnd type="none" w="sm" len="sm"/>
            <a:tailEnd type="none" w="sm" len="sm"/>
          </a:ln>
        </p:spPr>
      </p:sp>
      <p:sp>
        <p:nvSpPr>
          <p:cNvPr id="104473" name="Oval 24"/>
          <p:cNvSpPr/>
          <p:nvPr/>
        </p:nvSpPr>
        <p:spPr>
          <a:xfrm rot="-931360">
            <a:off x="1597025" y="3713163"/>
            <a:ext cx="3775075" cy="2095500"/>
          </a:xfrm>
          <a:prstGeom prst="ellipse">
            <a:avLst/>
          </a:prstGeom>
          <a:noFill/>
          <a:ln w="38100" cap="rnd" cmpd="sng">
            <a:solidFill>
              <a:schemeClr val="hlink"/>
            </a:solidFill>
            <a:prstDash val="sysDot"/>
            <a:round/>
            <a:headEnd type="none" w="sm" len="sm"/>
            <a:tailEnd type="none" w="sm" len="sm"/>
          </a:ln>
        </p:spPr>
        <p:txBody>
          <a:bodyPr wrap="none" anchor="ctr" anchorCtr="0"/>
          <a:p>
            <a:endParaRPr lang="en-IN" altLang="x-none" dirty="0">
              <a:latin typeface="Tahoma" panose="020B060403050404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547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228600" y="152400"/>
            <a:ext cx="7848600" cy="9144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complete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graphicFrame>
        <p:nvGraphicFramePr>
          <p:cNvPr id="105476"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15" name="" r:id="rId1" imgW="1371600" imgH="1371600" progId="Equation.3">
                  <p:embed/>
                </p:oleObj>
              </mc:Choice>
              <mc:Fallback>
                <p:oleObj name="" r:id="rId1" imgW="1371600" imgH="1371600" progId="Equation.3">
                  <p:embed/>
                  <p:pic>
                    <p:nvPicPr>
                      <p:cNvPr id="0" name="Picture 3114"/>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05477" name="Object 4"/>
          <p:cNvGraphicFramePr/>
          <p:nvPr/>
        </p:nvGraphicFramePr>
        <p:xfrm>
          <a:off x="3922713" y="1905000"/>
          <a:ext cx="1604962" cy="1458913"/>
        </p:xfrm>
        <a:graphic>
          <a:graphicData uri="http://schemas.openxmlformats.org/presentationml/2006/ole">
            <mc:AlternateContent xmlns:mc="http://schemas.openxmlformats.org/markup-compatibility/2006">
              <mc:Choice xmlns:v="urn:schemas-microsoft-com:vml" Requires="v">
                <p:oleObj spid="_x0000_s3117" name="" r:id="rId3" imgW="1257300" imgH="1143000" progId="Equation.3">
                  <p:embed/>
                </p:oleObj>
              </mc:Choice>
              <mc:Fallback>
                <p:oleObj name="" r:id="rId3" imgW="1257300" imgH="1143000" progId="Equation.3">
                  <p:embed/>
                  <p:pic>
                    <p:nvPicPr>
                      <p:cNvPr id="0" name="Picture 3116"/>
                      <p:cNvPicPr/>
                      <p:nvPr/>
                    </p:nvPicPr>
                    <p:blipFill>
                      <a:blip r:embed="rId4"/>
                      <a:stretch>
                        <a:fillRect/>
                      </a:stretch>
                    </p:blipFill>
                    <p:spPr>
                      <a:xfrm>
                        <a:off x="3922713" y="1905000"/>
                        <a:ext cx="1604962" cy="1458913"/>
                      </a:xfrm>
                      <a:prstGeom prst="rect">
                        <a:avLst/>
                      </a:prstGeom>
                      <a:noFill/>
                      <a:ln w="38100">
                        <a:noFill/>
                        <a:miter/>
                      </a:ln>
                    </p:spPr>
                  </p:pic>
                </p:oleObj>
              </mc:Fallback>
            </mc:AlternateContent>
          </a:graphicData>
        </a:graphic>
      </p:graphicFrame>
      <p:sp>
        <p:nvSpPr>
          <p:cNvPr id="105478" name="Line 5"/>
          <p:cNvSpPr/>
          <p:nvPr/>
        </p:nvSpPr>
        <p:spPr>
          <a:xfrm flipH="1">
            <a:off x="5791200" y="5181600"/>
            <a:ext cx="1524000" cy="0"/>
          </a:xfrm>
          <a:prstGeom prst="line">
            <a:avLst/>
          </a:prstGeom>
          <a:ln w="38100" cap="flat" cmpd="sng">
            <a:solidFill>
              <a:srgbClr val="000000"/>
            </a:solidFill>
            <a:prstDash val="solid"/>
            <a:round/>
            <a:headEnd type="none" w="med" len="med"/>
            <a:tailEnd type="none" w="med" len="med"/>
          </a:ln>
        </p:spPr>
      </p:sp>
      <p:sp>
        <p:nvSpPr>
          <p:cNvPr id="105479" name="Line 6"/>
          <p:cNvSpPr/>
          <p:nvPr/>
        </p:nvSpPr>
        <p:spPr>
          <a:xfrm>
            <a:off x="5791200" y="5181600"/>
            <a:ext cx="0" cy="533400"/>
          </a:xfrm>
          <a:prstGeom prst="line">
            <a:avLst/>
          </a:prstGeom>
          <a:ln w="38100" cap="flat" cmpd="sng">
            <a:solidFill>
              <a:srgbClr val="000000"/>
            </a:solidFill>
            <a:prstDash val="solid"/>
            <a:round/>
            <a:headEnd type="none" w="med" len="med"/>
            <a:tailEnd type="none" w="med" len="med"/>
          </a:ln>
        </p:spPr>
      </p:sp>
      <p:sp>
        <p:nvSpPr>
          <p:cNvPr id="105480" name="Line 7"/>
          <p:cNvSpPr/>
          <p:nvPr/>
        </p:nvSpPr>
        <p:spPr>
          <a:xfrm>
            <a:off x="5791200" y="5715000"/>
            <a:ext cx="1524000" cy="0"/>
          </a:xfrm>
          <a:prstGeom prst="line">
            <a:avLst/>
          </a:prstGeom>
          <a:ln w="38100" cap="flat" cmpd="sng">
            <a:solidFill>
              <a:srgbClr val="000000"/>
            </a:solidFill>
            <a:prstDash val="solid"/>
            <a:round/>
            <a:headEnd type="none" w="med" len="med"/>
            <a:tailEnd type="none" w="med" len="med"/>
          </a:ln>
        </p:spPr>
      </p:sp>
      <p:sp>
        <p:nvSpPr>
          <p:cNvPr id="105481" name="Text Box 8"/>
          <p:cNvSpPr txBox="1"/>
          <p:nvPr/>
        </p:nvSpPr>
        <p:spPr>
          <a:xfrm>
            <a:off x="7391400" y="5029200"/>
            <a:ext cx="5334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5482" name="Oval 9"/>
          <p:cNvSpPr/>
          <p:nvPr/>
        </p:nvSpPr>
        <p:spPr>
          <a:xfrm>
            <a:off x="7391400" y="54864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5483" name="Oval 10"/>
          <p:cNvSpPr/>
          <p:nvPr/>
        </p:nvSpPr>
        <p:spPr>
          <a:xfrm>
            <a:off x="7391400" y="50292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spcBef>
                <a:spcPct val="20000"/>
              </a:spcBef>
              <a:buClr>
                <a:schemeClr val="folHlink"/>
              </a:buClr>
              <a:buSzPct val="75000"/>
              <a:buFont typeface="Wingdings" panose="05000000000000000000" pitchFamily="2" charset="2"/>
            </a:pPr>
            <a:r>
              <a:rPr lang="en-US" sz="2000" b="1" dirty="0">
                <a:latin typeface="Tahoma" panose="020B0604030504040204" pitchFamily="34" charset="0"/>
              </a:rPr>
              <a:t>2</a:t>
            </a:r>
            <a:endParaRPr lang="en-US" sz="2000" b="1" dirty="0">
              <a:latin typeface="Tahoma" panose="020B0604030504040204" pitchFamily="34" charset="0"/>
            </a:endParaRPr>
          </a:p>
        </p:txBody>
      </p:sp>
      <p:sp>
        <p:nvSpPr>
          <p:cNvPr id="105484" name="Oval 11"/>
          <p:cNvSpPr/>
          <p:nvPr/>
        </p:nvSpPr>
        <p:spPr>
          <a:xfrm>
            <a:off x="7391400" y="46482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5485" name="Oval 12"/>
          <p:cNvSpPr/>
          <p:nvPr/>
        </p:nvSpPr>
        <p:spPr>
          <a:xfrm>
            <a:off x="7391400" y="41910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5486" name="Oval 13"/>
          <p:cNvSpPr/>
          <p:nvPr/>
        </p:nvSpPr>
        <p:spPr>
          <a:xfrm>
            <a:off x="7391400" y="3657600"/>
            <a:ext cx="381000" cy="3810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5487" name="Text Box 14"/>
          <p:cNvSpPr txBox="1"/>
          <p:nvPr/>
        </p:nvSpPr>
        <p:spPr>
          <a:xfrm>
            <a:off x="7391400" y="5486400"/>
            <a:ext cx="3048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5488" name="Text Box 15"/>
          <p:cNvSpPr txBox="1"/>
          <p:nvPr/>
        </p:nvSpPr>
        <p:spPr>
          <a:xfrm>
            <a:off x="7391400" y="4648200"/>
            <a:ext cx="4572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5489" name="Text Box 16"/>
          <p:cNvSpPr txBox="1"/>
          <p:nvPr/>
        </p:nvSpPr>
        <p:spPr>
          <a:xfrm>
            <a:off x="7391400" y="4191000"/>
            <a:ext cx="4572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5490" name="Text Box 17"/>
          <p:cNvSpPr txBox="1"/>
          <p:nvPr/>
        </p:nvSpPr>
        <p:spPr>
          <a:xfrm>
            <a:off x="7391400" y="3657600"/>
            <a:ext cx="304800" cy="457200"/>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sp>
        <p:nvSpPr>
          <p:cNvPr id="105491" name="AutoShape 18"/>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5492" name="Object 19"/>
          <p:cNvGraphicFramePr>
            <a:graphicFrameLocks noChangeAspect="1"/>
          </p:cNvGraphicFramePr>
          <p:nvPr/>
        </p:nvGraphicFramePr>
        <p:xfrm>
          <a:off x="685800" y="3962400"/>
          <a:ext cx="4037013" cy="1193800"/>
        </p:xfrm>
        <a:graphic>
          <a:graphicData uri="http://schemas.openxmlformats.org/presentationml/2006/ole">
            <mc:AlternateContent xmlns:mc="http://schemas.openxmlformats.org/markup-compatibility/2006">
              <mc:Choice xmlns:v="urn:schemas-microsoft-com:vml" Requires="v">
                <p:oleObj spid="_x0000_s3116" name="" r:id="rId5" imgW="2487295" imgH="735965" progId="Equation.3">
                  <p:embed/>
                </p:oleObj>
              </mc:Choice>
              <mc:Fallback>
                <p:oleObj name="" r:id="rId5" imgW="2487295" imgH="735965" progId="Equation.3">
                  <p:embed/>
                  <p:pic>
                    <p:nvPicPr>
                      <p:cNvPr id="0" name="Picture 3115"/>
                      <p:cNvPicPr/>
                      <p:nvPr/>
                    </p:nvPicPr>
                    <p:blipFill>
                      <a:blip r:embed="rId6"/>
                      <a:stretch>
                        <a:fillRect/>
                      </a:stretch>
                    </p:blipFill>
                    <p:spPr>
                      <a:xfrm>
                        <a:off x="685800" y="3962400"/>
                        <a:ext cx="4037013" cy="1193800"/>
                      </a:xfrm>
                      <a:prstGeom prst="rect">
                        <a:avLst/>
                      </a:prstGeom>
                      <a:noFill/>
                      <a:ln w="38100">
                        <a:noFill/>
                        <a:miter/>
                      </a:ln>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649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152400" y="381000"/>
            <a:ext cx="7848600" cy="8382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complete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graphicFrame>
        <p:nvGraphicFramePr>
          <p:cNvPr id="106500"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19" name="" r:id="rId1" imgW="1371600" imgH="1371600" progId="Equation.3">
                  <p:embed/>
                </p:oleObj>
              </mc:Choice>
              <mc:Fallback>
                <p:oleObj name="" r:id="rId1" imgW="1371600" imgH="1371600" progId="Equation.3">
                  <p:embed/>
                  <p:pic>
                    <p:nvPicPr>
                      <p:cNvPr id="0" name="Picture 3118"/>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06501" name="Object 4"/>
          <p:cNvGraphicFramePr/>
          <p:nvPr/>
        </p:nvGraphicFramePr>
        <p:xfrm>
          <a:off x="3922713" y="1905000"/>
          <a:ext cx="1604962" cy="1458913"/>
        </p:xfrm>
        <a:graphic>
          <a:graphicData uri="http://schemas.openxmlformats.org/presentationml/2006/ole">
            <mc:AlternateContent xmlns:mc="http://schemas.openxmlformats.org/markup-compatibility/2006">
              <mc:Choice xmlns:v="urn:schemas-microsoft-com:vml" Requires="v">
                <p:oleObj spid="_x0000_s3118" name="" r:id="rId3" imgW="1257300" imgH="1143000" progId="Equation.3">
                  <p:embed/>
                </p:oleObj>
              </mc:Choice>
              <mc:Fallback>
                <p:oleObj name="" r:id="rId3" imgW="1257300" imgH="1143000" progId="Equation.3">
                  <p:embed/>
                  <p:pic>
                    <p:nvPicPr>
                      <p:cNvPr id="0" name="Picture 3117"/>
                      <p:cNvPicPr/>
                      <p:nvPr/>
                    </p:nvPicPr>
                    <p:blipFill>
                      <a:blip r:embed="rId4"/>
                      <a:stretch>
                        <a:fillRect/>
                      </a:stretch>
                    </p:blipFill>
                    <p:spPr>
                      <a:xfrm>
                        <a:off x="3922713" y="1905000"/>
                        <a:ext cx="1604962" cy="1458913"/>
                      </a:xfrm>
                      <a:prstGeom prst="rect">
                        <a:avLst/>
                      </a:prstGeom>
                      <a:noFill/>
                      <a:ln w="38100">
                        <a:noFill/>
                        <a:miter/>
                      </a:ln>
                    </p:spPr>
                  </p:pic>
                </p:oleObj>
              </mc:Fallback>
            </mc:AlternateContent>
          </a:graphicData>
        </a:graphic>
      </p:graphicFrame>
      <p:sp>
        <p:nvSpPr>
          <p:cNvPr id="106502" name="Line 5"/>
          <p:cNvSpPr/>
          <p:nvPr/>
        </p:nvSpPr>
        <p:spPr>
          <a:xfrm flipH="1">
            <a:off x="5867400" y="5181600"/>
            <a:ext cx="1524000" cy="0"/>
          </a:xfrm>
          <a:prstGeom prst="line">
            <a:avLst/>
          </a:prstGeom>
          <a:ln w="38100" cap="flat" cmpd="sng">
            <a:solidFill>
              <a:srgbClr val="000000"/>
            </a:solidFill>
            <a:prstDash val="solid"/>
            <a:round/>
            <a:headEnd type="none" w="med" len="med"/>
            <a:tailEnd type="none" w="med" len="med"/>
          </a:ln>
        </p:spPr>
      </p:sp>
      <p:sp>
        <p:nvSpPr>
          <p:cNvPr id="106503" name="Line 6"/>
          <p:cNvSpPr/>
          <p:nvPr/>
        </p:nvSpPr>
        <p:spPr>
          <a:xfrm>
            <a:off x="5867400" y="5181600"/>
            <a:ext cx="0" cy="533400"/>
          </a:xfrm>
          <a:prstGeom prst="line">
            <a:avLst/>
          </a:prstGeom>
          <a:ln w="38100" cap="flat" cmpd="sng">
            <a:solidFill>
              <a:srgbClr val="000000"/>
            </a:solidFill>
            <a:prstDash val="solid"/>
            <a:round/>
            <a:headEnd type="none" w="med" len="med"/>
            <a:tailEnd type="none" w="med" len="med"/>
          </a:ln>
        </p:spPr>
      </p:sp>
      <p:sp>
        <p:nvSpPr>
          <p:cNvPr id="106504" name="Line 7"/>
          <p:cNvSpPr/>
          <p:nvPr/>
        </p:nvSpPr>
        <p:spPr>
          <a:xfrm>
            <a:off x="5867400" y="5715000"/>
            <a:ext cx="1524000" cy="0"/>
          </a:xfrm>
          <a:prstGeom prst="line">
            <a:avLst/>
          </a:prstGeom>
          <a:ln w="38100" cap="flat" cmpd="sng">
            <a:solidFill>
              <a:srgbClr val="000000"/>
            </a:solidFill>
            <a:prstDash val="solid"/>
            <a:round/>
            <a:headEnd type="none" w="med" len="med"/>
            <a:tailEnd type="none" w="med" len="med"/>
          </a:ln>
        </p:spPr>
      </p:sp>
      <p:grpSp>
        <p:nvGrpSpPr>
          <p:cNvPr id="106505" name="Group 8"/>
          <p:cNvGrpSpPr/>
          <p:nvPr/>
        </p:nvGrpSpPr>
        <p:grpSpPr>
          <a:xfrm>
            <a:off x="7467600" y="3657600"/>
            <a:ext cx="533400" cy="2286000"/>
            <a:chOff x="4704" y="2304"/>
            <a:chExt cx="336" cy="1440"/>
          </a:xfrm>
        </p:grpSpPr>
        <p:sp>
          <p:nvSpPr>
            <p:cNvPr id="106506" name="Oval 9"/>
            <p:cNvSpPr/>
            <p:nvPr/>
          </p:nvSpPr>
          <p:spPr>
            <a:xfrm>
              <a:off x="4704" y="345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6507" name="Oval 10"/>
            <p:cNvSpPr/>
            <p:nvPr/>
          </p:nvSpPr>
          <p:spPr>
            <a:xfrm>
              <a:off x="4704" y="316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6508" name="Oval 11"/>
            <p:cNvSpPr/>
            <p:nvPr/>
          </p:nvSpPr>
          <p:spPr>
            <a:xfrm>
              <a:off x="4704" y="292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6509" name="Oval 12"/>
            <p:cNvSpPr/>
            <p:nvPr/>
          </p:nvSpPr>
          <p:spPr>
            <a:xfrm>
              <a:off x="4704" y="2640"/>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6510" name="Oval 13"/>
            <p:cNvSpPr/>
            <p:nvPr/>
          </p:nvSpPr>
          <p:spPr>
            <a:xfrm>
              <a:off x="4704" y="2304"/>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6511" name="Text Box 14"/>
            <p:cNvSpPr txBox="1"/>
            <p:nvPr/>
          </p:nvSpPr>
          <p:spPr>
            <a:xfrm>
              <a:off x="4704" y="3456"/>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6512" name="Text Box 15"/>
            <p:cNvSpPr txBox="1"/>
            <p:nvPr/>
          </p:nvSpPr>
          <p:spPr>
            <a:xfrm>
              <a:off x="4704" y="3168"/>
              <a:ext cx="336"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6513" name="Text Box 16"/>
            <p:cNvSpPr txBox="1"/>
            <p:nvPr/>
          </p:nvSpPr>
          <p:spPr>
            <a:xfrm>
              <a:off x="4704" y="2928"/>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6514" name="Text Box 17"/>
            <p:cNvSpPr txBox="1"/>
            <p:nvPr/>
          </p:nvSpPr>
          <p:spPr>
            <a:xfrm>
              <a:off x="4704" y="2640"/>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6515" name="Text Box 18"/>
            <p:cNvSpPr txBox="1"/>
            <p:nvPr/>
          </p:nvSpPr>
          <p:spPr>
            <a:xfrm>
              <a:off x="4704" y="2304"/>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grpSp>
      <p:sp>
        <p:nvSpPr>
          <p:cNvPr id="106516" name="AutoShape 19"/>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6517" name="AutoShape 20"/>
          <p:cNvSpPr/>
          <p:nvPr/>
        </p:nvSpPr>
        <p:spPr>
          <a:xfrm>
            <a:off x="57150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6518" name="Object 21"/>
          <p:cNvGraphicFramePr/>
          <p:nvPr/>
        </p:nvGraphicFramePr>
        <p:xfrm>
          <a:off x="6477000" y="1981200"/>
          <a:ext cx="1524000" cy="1225550"/>
        </p:xfrm>
        <a:graphic>
          <a:graphicData uri="http://schemas.openxmlformats.org/presentationml/2006/ole">
            <mc:AlternateContent xmlns:mc="http://schemas.openxmlformats.org/markup-compatibility/2006">
              <mc:Choice xmlns:v="urn:schemas-microsoft-com:vml" Requires="v">
                <p:oleObj spid="_x0000_s3123" name="" r:id="rId5" imgW="1168400" imgH="939800" progId="Equation.3">
                  <p:embed/>
                </p:oleObj>
              </mc:Choice>
              <mc:Fallback>
                <p:oleObj name="" r:id="rId5" imgW="1168400" imgH="939800" progId="Equation.3">
                  <p:embed/>
                  <p:pic>
                    <p:nvPicPr>
                      <p:cNvPr id="0" name="Picture 3122"/>
                      <p:cNvPicPr/>
                      <p:nvPr/>
                    </p:nvPicPr>
                    <p:blipFill>
                      <a:blip r:embed="rId6"/>
                      <a:stretch>
                        <a:fillRect/>
                      </a:stretch>
                    </p:blipFill>
                    <p:spPr>
                      <a:xfrm>
                        <a:off x="6477000" y="1981200"/>
                        <a:ext cx="1524000" cy="1225550"/>
                      </a:xfrm>
                      <a:prstGeom prst="rect">
                        <a:avLst/>
                      </a:prstGeom>
                      <a:noFill/>
                      <a:ln w="38100">
                        <a:noFill/>
                        <a:miter/>
                      </a:ln>
                    </p:spPr>
                  </p:pic>
                </p:oleObj>
              </mc:Fallback>
            </mc:AlternateContent>
          </a:graphicData>
        </a:graphic>
      </p:graphicFrame>
      <p:sp>
        <p:nvSpPr>
          <p:cNvPr id="106519" name="Line 22"/>
          <p:cNvSpPr/>
          <p:nvPr/>
        </p:nvSpPr>
        <p:spPr>
          <a:xfrm flipH="1">
            <a:off x="5867400" y="3886200"/>
            <a:ext cx="1524000" cy="0"/>
          </a:xfrm>
          <a:prstGeom prst="line">
            <a:avLst/>
          </a:prstGeom>
          <a:ln w="38100" cap="flat" cmpd="sng">
            <a:solidFill>
              <a:srgbClr val="000000"/>
            </a:solidFill>
            <a:prstDash val="solid"/>
            <a:round/>
            <a:headEnd type="none" w="med" len="med"/>
            <a:tailEnd type="none" w="med" len="med"/>
          </a:ln>
        </p:spPr>
      </p:sp>
      <p:sp>
        <p:nvSpPr>
          <p:cNvPr id="106520" name="Line 23"/>
          <p:cNvSpPr/>
          <p:nvPr/>
        </p:nvSpPr>
        <p:spPr>
          <a:xfrm>
            <a:off x="5867400" y="3886200"/>
            <a:ext cx="0" cy="533400"/>
          </a:xfrm>
          <a:prstGeom prst="line">
            <a:avLst/>
          </a:prstGeom>
          <a:ln w="38100" cap="flat" cmpd="sng">
            <a:solidFill>
              <a:srgbClr val="000000"/>
            </a:solidFill>
            <a:prstDash val="solid"/>
            <a:round/>
            <a:headEnd type="none" w="med" len="med"/>
            <a:tailEnd type="none" w="med" len="med"/>
          </a:ln>
        </p:spPr>
      </p:sp>
      <p:sp>
        <p:nvSpPr>
          <p:cNvPr id="106521" name="Line 24"/>
          <p:cNvSpPr/>
          <p:nvPr/>
        </p:nvSpPr>
        <p:spPr>
          <a:xfrm>
            <a:off x="5867400" y="4419600"/>
            <a:ext cx="1524000" cy="0"/>
          </a:xfrm>
          <a:prstGeom prst="line">
            <a:avLst/>
          </a:prstGeom>
          <a:ln w="38100" cap="flat" cmpd="sng">
            <a:solidFill>
              <a:srgbClr val="000000"/>
            </a:solidFill>
            <a:prstDash val="solid"/>
            <a:round/>
            <a:headEnd type="none" w="med" len="med"/>
            <a:tailEnd type="none" w="med" len="med"/>
          </a:ln>
        </p:spPr>
      </p:sp>
      <p:graphicFrame>
        <p:nvGraphicFramePr>
          <p:cNvPr id="106522" name="Object 25"/>
          <p:cNvGraphicFramePr>
            <a:graphicFrameLocks noChangeAspect="1"/>
          </p:cNvGraphicFramePr>
          <p:nvPr/>
        </p:nvGraphicFramePr>
        <p:xfrm>
          <a:off x="838200" y="4038600"/>
          <a:ext cx="4494213" cy="747713"/>
        </p:xfrm>
        <a:graphic>
          <a:graphicData uri="http://schemas.openxmlformats.org/presentationml/2006/ole">
            <mc:AlternateContent xmlns:mc="http://schemas.openxmlformats.org/markup-compatibility/2006">
              <mc:Choice xmlns:v="urn:schemas-microsoft-com:vml" Requires="v">
                <p:oleObj spid="_x0000_s3120" name="" r:id="rId7" imgW="2893695" imgH="480060" progId="Equation.3">
                  <p:embed/>
                </p:oleObj>
              </mc:Choice>
              <mc:Fallback>
                <p:oleObj name="" r:id="rId7" imgW="2893695" imgH="480060" progId="Equation.3">
                  <p:embed/>
                  <p:pic>
                    <p:nvPicPr>
                      <p:cNvPr id="0" name="Picture 3119"/>
                      <p:cNvPicPr/>
                      <p:nvPr/>
                    </p:nvPicPr>
                    <p:blipFill>
                      <a:blip r:embed="rId8"/>
                      <a:stretch>
                        <a:fillRect/>
                      </a:stretch>
                    </p:blipFill>
                    <p:spPr>
                      <a:xfrm>
                        <a:off x="838200" y="4038600"/>
                        <a:ext cx="4494213" cy="747713"/>
                      </a:xfrm>
                      <a:prstGeom prst="rect">
                        <a:avLst/>
                      </a:prstGeom>
                      <a:noFill/>
                      <a:ln w="38100">
                        <a:noFill/>
                        <a:miter/>
                      </a:ln>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7522"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228600" y="381000"/>
            <a:ext cx="7848600" cy="6096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complete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graphicFrame>
        <p:nvGraphicFramePr>
          <p:cNvPr id="107524"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21" name="" r:id="rId1" imgW="1371600" imgH="1371600" progId="Equation.3">
                  <p:embed/>
                </p:oleObj>
              </mc:Choice>
              <mc:Fallback>
                <p:oleObj name="" r:id="rId1" imgW="1371600" imgH="1371600" progId="Equation.3">
                  <p:embed/>
                  <p:pic>
                    <p:nvPicPr>
                      <p:cNvPr id="0" name="Picture 3120"/>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07525" name="Object 4"/>
          <p:cNvGraphicFramePr/>
          <p:nvPr/>
        </p:nvGraphicFramePr>
        <p:xfrm>
          <a:off x="3922713" y="1905000"/>
          <a:ext cx="1604962" cy="1458913"/>
        </p:xfrm>
        <a:graphic>
          <a:graphicData uri="http://schemas.openxmlformats.org/presentationml/2006/ole">
            <mc:AlternateContent xmlns:mc="http://schemas.openxmlformats.org/markup-compatibility/2006">
              <mc:Choice xmlns:v="urn:schemas-microsoft-com:vml" Requires="v">
                <p:oleObj spid="_x0000_s3124" name="" r:id="rId3" imgW="1257300" imgH="1143000" progId="Equation.3">
                  <p:embed/>
                </p:oleObj>
              </mc:Choice>
              <mc:Fallback>
                <p:oleObj name="" r:id="rId3" imgW="1257300" imgH="1143000" progId="Equation.3">
                  <p:embed/>
                  <p:pic>
                    <p:nvPicPr>
                      <p:cNvPr id="0" name="Picture 3123"/>
                      <p:cNvPicPr/>
                      <p:nvPr/>
                    </p:nvPicPr>
                    <p:blipFill>
                      <a:blip r:embed="rId4"/>
                      <a:stretch>
                        <a:fillRect/>
                      </a:stretch>
                    </p:blipFill>
                    <p:spPr>
                      <a:xfrm>
                        <a:off x="3922713" y="1905000"/>
                        <a:ext cx="1604962" cy="1458913"/>
                      </a:xfrm>
                      <a:prstGeom prst="rect">
                        <a:avLst/>
                      </a:prstGeom>
                      <a:noFill/>
                      <a:ln w="38100">
                        <a:noFill/>
                        <a:miter/>
                      </a:ln>
                    </p:spPr>
                  </p:pic>
                </p:oleObj>
              </mc:Fallback>
            </mc:AlternateContent>
          </a:graphicData>
        </a:graphic>
      </p:graphicFrame>
      <p:sp>
        <p:nvSpPr>
          <p:cNvPr id="107526" name="AutoShape 5"/>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7527" name="AutoShape 6"/>
          <p:cNvSpPr/>
          <p:nvPr/>
        </p:nvSpPr>
        <p:spPr>
          <a:xfrm>
            <a:off x="57150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7528" name="Object 7"/>
          <p:cNvGraphicFramePr/>
          <p:nvPr/>
        </p:nvGraphicFramePr>
        <p:xfrm>
          <a:off x="6477000" y="1981200"/>
          <a:ext cx="1524000" cy="1225550"/>
        </p:xfrm>
        <a:graphic>
          <a:graphicData uri="http://schemas.openxmlformats.org/presentationml/2006/ole">
            <mc:AlternateContent xmlns:mc="http://schemas.openxmlformats.org/markup-compatibility/2006">
              <mc:Choice xmlns:v="urn:schemas-microsoft-com:vml" Requires="v">
                <p:oleObj spid="_x0000_s3122" name="" r:id="rId5" imgW="1168400" imgH="939800" progId="Equation.3">
                  <p:embed/>
                </p:oleObj>
              </mc:Choice>
              <mc:Fallback>
                <p:oleObj name="" r:id="rId5" imgW="1168400" imgH="939800" progId="Equation.3">
                  <p:embed/>
                  <p:pic>
                    <p:nvPicPr>
                      <p:cNvPr id="0" name="Picture 3121"/>
                      <p:cNvPicPr/>
                      <p:nvPr/>
                    </p:nvPicPr>
                    <p:blipFill>
                      <a:blip r:embed="rId6"/>
                      <a:stretch>
                        <a:fillRect/>
                      </a:stretch>
                    </p:blipFill>
                    <p:spPr>
                      <a:xfrm>
                        <a:off x="6477000" y="1981200"/>
                        <a:ext cx="1524000" cy="1225550"/>
                      </a:xfrm>
                      <a:prstGeom prst="rect">
                        <a:avLst/>
                      </a:prstGeom>
                      <a:noFill/>
                      <a:ln w="38100">
                        <a:noFill/>
                        <a:miter/>
                      </a:ln>
                    </p:spPr>
                  </p:pic>
                </p:oleObj>
              </mc:Fallback>
            </mc:AlternateContent>
          </a:graphicData>
        </a:graphic>
      </p:graphicFrame>
      <p:sp>
        <p:nvSpPr>
          <p:cNvPr id="107529" name="Line 8"/>
          <p:cNvSpPr/>
          <p:nvPr/>
        </p:nvSpPr>
        <p:spPr>
          <a:xfrm flipH="1">
            <a:off x="5867400" y="5105400"/>
            <a:ext cx="1524000" cy="0"/>
          </a:xfrm>
          <a:prstGeom prst="line">
            <a:avLst/>
          </a:prstGeom>
          <a:ln w="38100" cap="flat" cmpd="sng">
            <a:solidFill>
              <a:srgbClr val="000000"/>
            </a:solidFill>
            <a:prstDash val="solid"/>
            <a:round/>
            <a:headEnd type="none" w="med" len="med"/>
            <a:tailEnd type="none" w="med" len="med"/>
          </a:ln>
        </p:spPr>
      </p:sp>
      <p:sp>
        <p:nvSpPr>
          <p:cNvPr id="107530" name="Line 9"/>
          <p:cNvSpPr/>
          <p:nvPr/>
        </p:nvSpPr>
        <p:spPr>
          <a:xfrm>
            <a:off x="5867400" y="5105400"/>
            <a:ext cx="0" cy="533400"/>
          </a:xfrm>
          <a:prstGeom prst="line">
            <a:avLst/>
          </a:prstGeom>
          <a:ln w="38100" cap="flat" cmpd="sng">
            <a:solidFill>
              <a:srgbClr val="000000"/>
            </a:solidFill>
            <a:prstDash val="solid"/>
            <a:round/>
            <a:headEnd type="none" w="med" len="med"/>
            <a:tailEnd type="none" w="med" len="med"/>
          </a:ln>
        </p:spPr>
      </p:sp>
      <p:sp>
        <p:nvSpPr>
          <p:cNvPr id="107531" name="Line 10"/>
          <p:cNvSpPr/>
          <p:nvPr/>
        </p:nvSpPr>
        <p:spPr>
          <a:xfrm>
            <a:off x="5867400" y="5638800"/>
            <a:ext cx="1524000" cy="0"/>
          </a:xfrm>
          <a:prstGeom prst="line">
            <a:avLst/>
          </a:prstGeom>
          <a:ln w="38100" cap="flat" cmpd="sng">
            <a:solidFill>
              <a:srgbClr val="000000"/>
            </a:solidFill>
            <a:prstDash val="solid"/>
            <a:round/>
            <a:headEnd type="none" w="med" len="med"/>
            <a:tailEnd type="none" w="med" len="med"/>
          </a:ln>
        </p:spPr>
      </p:sp>
      <p:sp>
        <p:nvSpPr>
          <p:cNvPr id="107532" name="Line 11"/>
          <p:cNvSpPr/>
          <p:nvPr/>
        </p:nvSpPr>
        <p:spPr>
          <a:xfrm flipH="1">
            <a:off x="5867400" y="3886200"/>
            <a:ext cx="1524000" cy="0"/>
          </a:xfrm>
          <a:prstGeom prst="line">
            <a:avLst/>
          </a:prstGeom>
          <a:ln w="38100" cap="flat" cmpd="sng">
            <a:solidFill>
              <a:srgbClr val="000000"/>
            </a:solidFill>
            <a:prstDash val="solid"/>
            <a:round/>
            <a:headEnd type="none" w="med" len="med"/>
            <a:tailEnd type="none" w="med" len="med"/>
          </a:ln>
        </p:spPr>
      </p:sp>
      <p:sp>
        <p:nvSpPr>
          <p:cNvPr id="107533" name="Line 12"/>
          <p:cNvSpPr/>
          <p:nvPr/>
        </p:nvSpPr>
        <p:spPr>
          <a:xfrm>
            <a:off x="5867400" y="3886200"/>
            <a:ext cx="0" cy="533400"/>
          </a:xfrm>
          <a:prstGeom prst="line">
            <a:avLst/>
          </a:prstGeom>
          <a:ln w="38100" cap="flat" cmpd="sng">
            <a:solidFill>
              <a:srgbClr val="000000"/>
            </a:solidFill>
            <a:prstDash val="solid"/>
            <a:round/>
            <a:headEnd type="none" w="med" len="med"/>
            <a:tailEnd type="none" w="med" len="med"/>
          </a:ln>
        </p:spPr>
      </p:sp>
      <p:sp>
        <p:nvSpPr>
          <p:cNvPr id="107534" name="Line 13"/>
          <p:cNvSpPr/>
          <p:nvPr/>
        </p:nvSpPr>
        <p:spPr>
          <a:xfrm>
            <a:off x="5867400" y="4419600"/>
            <a:ext cx="1524000" cy="0"/>
          </a:xfrm>
          <a:prstGeom prst="line">
            <a:avLst/>
          </a:prstGeom>
          <a:ln w="38100" cap="flat" cmpd="sng">
            <a:solidFill>
              <a:srgbClr val="000000"/>
            </a:solidFill>
            <a:prstDash val="solid"/>
            <a:round/>
            <a:headEnd type="none" w="med" len="med"/>
            <a:tailEnd type="none" w="med" len="med"/>
          </a:ln>
        </p:spPr>
      </p:sp>
      <p:sp>
        <p:nvSpPr>
          <p:cNvPr id="107535" name="Line 14"/>
          <p:cNvSpPr/>
          <p:nvPr/>
        </p:nvSpPr>
        <p:spPr>
          <a:xfrm flipH="1">
            <a:off x="5257800" y="5257800"/>
            <a:ext cx="609600" cy="0"/>
          </a:xfrm>
          <a:prstGeom prst="line">
            <a:avLst/>
          </a:prstGeom>
          <a:ln w="38100" cap="flat" cmpd="sng">
            <a:solidFill>
              <a:srgbClr val="000000"/>
            </a:solidFill>
            <a:prstDash val="solid"/>
            <a:round/>
            <a:headEnd type="none" w="med" len="med"/>
            <a:tailEnd type="none" w="med" len="med"/>
          </a:ln>
        </p:spPr>
      </p:sp>
      <p:sp>
        <p:nvSpPr>
          <p:cNvPr id="107536" name="Line 15"/>
          <p:cNvSpPr/>
          <p:nvPr/>
        </p:nvSpPr>
        <p:spPr>
          <a:xfrm>
            <a:off x="5257800" y="4724400"/>
            <a:ext cx="0" cy="533400"/>
          </a:xfrm>
          <a:prstGeom prst="line">
            <a:avLst/>
          </a:prstGeom>
          <a:ln w="38100" cap="flat" cmpd="sng">
            <a:solidFill>
              <a:srgbClr val="000000"/>
            </a:solidFill>
            <a:prstDash val="solid"/>
            <a:round/>
            <a:headEnd type="none" w="med" len="med"/>
            <a:tailEnd type="none" w="med" len="med"/>
          </a:ln>
        </p:spPr>
      </p:sp>
      <p:sp>
        <p:nvSpPr>
          <p:cNvPr id="107537" name="Line 16"/>
          <p:cNvSpPr/>
          <p:nvPr/>
        </p:nvSpPr>
        <p:spPr>
          <a:xfrm>
            <a:off x="5257800" y="4724400"/>
            <a:ext cx="2133600" cy="0"/>
          </a:xfrm>
          <a:prstGeom prst="line">
            <a:avLst/>
          </a:prstGeom>
          <a:ln w="38100" cap="flat" cmpd="sng">
            <a:solidFill>
              <a:srgbClr val="000000"/>
            </a:solidFill>
            <a:prstDash val="solid"/>
            <a:round/>
            <a:headEnd type="none" w="med" len="med"/>
            <a:tailEnd type="none" w="med" len="med"/>
          </a:ln>
        </p:spPr>
      </p:sp>
      <p:sp>
        <p:nvSpPr>
          <p:cNvPr id="107538" name="Line 17"/>
          <p:cNvSpPr/>
          <p:nvPr/>
        </p:nvSpPr>
        <p:spPr>
          <a:xfrm flipH="1">
            <a:off x="4572000" y="5029200"/>
            <a:ext cx="685800" cy="0"/>
          </a:xfrm>
          <a:prstGeom prst="line">
            <a:avLst/>
          </a:prstGeom>
          <a:ln w="38100" cap="flat" cmpd="sng">
            <a:solidFill>
              <a:srgbClr val="000000"/>
            </a:solidFill>
            <a:prstDash val="solid"/>
            <a:round/>
            <a:headEnd type="none" w="med" len="med"/>
            <a:tailEnd type="none" w="med" len="med"/>
          </a:ln>
        </p:spPr>
      </p:sp>
      <p:sp>
        <p:nvSpPr>
          <p:cNvPr id="107539" name="Line 18"/>
          <p:cNvSpPr/>
          <p:nvPr/>
        </p:nvSpPr>
        <p:spPr>
          <a:xfrm>
            <a:off x="4572000" y="4191000"/>
            <a:ext cx="0" cy="838200"/>
          </a:xfrm>
          <a:prstGeom prst="line">
            <a:avLst/>
          </a:prstGeom>
          <a:ln w="38100" cap="flat" cmpd="sng">
            <a:solidFill>
              <a:srgbClr val="000000"/>
            </a:solidFill>
            <a:prstDash val="solid"/>
            <a:round/>
            <a:headEnd type="none" w="med" len="med"/>
            <a:tailEnd type="none" w="med" len="med"/>
          </a:ln>
        </p:spPr>
      </p:sp>
      <p:sp>
        <p:nvSpPr>
          <p:cNvPr id="107540" name="Line 19"/>
          <p:cNvSpPr/>
          <p:nvPr/>
        </p:nvSpPr>
        <p:spPr>
          <a:xfrm>
            <a:off x="4572000" y="4191000"/>
            <a:ext cx="1219200" cy="0"/>
          </a:xfrm>
          <a:prstGeom prst="line">
            <a:avLst/>
          </a:prstGeom>
          <a:ln w="38100" cap="flat" cmpd="sng">
            <a:solidFill>
              <a:srgbClr val="000000"/>
            </a:solidFill>
            <a:prstDash val="solid"/>
            <a:round/>
            <a:headEnd type="none" w="med" len="med"/>
            <a:tailEnd type="none" w="med" len="med"/>
          </a:ln>
        </p:spPr>
      </p:sp>
      <p:grpSp>
        <p:nvGrpSpPr>
          <p:cNvPr id="107541" name="Group 20"/>
          <p:cNvGrpSpPr/>
          <p:nvPr/>
        </p:nvGrpSpPr>
        <p:grpSpPr>
          <a:xfrm>
            <a:off x="7467600" y="3657600"/>
            <a:ext cx="533400" cy="2286000"/>
            <a:chOff x="4704" y="2304"/>
            <a:chExt cx="336" cy="1440"/>
          </a:xfrm>
        </p:grpSpPr>
        <p:sp>
          <p:nvSpPr>
            <p:cNvPr id="107542" name="Oval 21"/>
            <p:cNvSpPr/>
            <p:nvPr/>
          </p:nvSpPr>
          <p:spPr>
            <a:xfrm>
              <a:off x="4704" y="345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7543" name="Oval 22"/>
            <p:cNvSpPr/>
            <p:nvPr/>
          </p:nvSpPr>
          <p:spPr>
            <a:xfrm>
              <a:off x="4704" y="316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7544" name="Oval 23"/>
            <p:cNvSpPr/>
            <p:nvPr/>
          </p:nvSpPr>
          <p:spPr>
            <a:xfrm>
              <a:off x="4704" y="292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7545" name="Oval 24"/>
            <p:cNvSpPr/>
            <p:nvPr/>
          </p:nvSpPr>
          <p:spPr>
            <a:xfrm>
              <a:off x="4704" y="2640"/>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7546" name="Oval 25"/>
            <p:cNvSpPr/>
            <p:nvPr/>
          </p:nvSpPr>
          <p:spPr>
            <a:xfrm>
              <a:off x="4704" y="2304"/>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7547" name="Text Box 26"/>
            <p:cNvSpPr txBox="1"/>
            <p:nvPr/>
          </p:nvSpPr>
          <p:spPr>
            <a:xfrm>
              <a:off x="4704" y="3456"/>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7548" name="Text Box 27"/>
            <p:cNvSpPr txBox="1"/>
            <p:nvPr/>
          </p:nvSpPr>
          <p:spPr>
            <a:xfrm>
              <a:off x="4704" y="3168"/>
              <a:ext cx="336"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7549" name="Text Box 28"/>
            <p:cNvSpPr txBox="1"/>
            <p:nvPr/>
          </p:nvSpPr>
          <p:spPr>
            <a:xfrm>
              <a:off x="4704" y="2928"/>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7550" name="Text Box 29"/>
            <p:cNvSpPr txBox="1"/>
            <p:nvPr/>
          </p:nvSpPr>
          <p:spPr>
            <a:xfrm>
              <a:off x="4704" y="2640"/>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7551" name="Text Box 30"/>
            <p:cNvSpPr txBox="1"/>
            <p:nvPr/>
          </p:nvSpPr>
          <p:spPr>
            <a:xfrm>
              <a:off x="4704" y="2304"/>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grpSp>
      <p:graphicFrame>
        <p:nvGraphicFramePr>
          <p:cNvPr id="107552" name="Object 31"/>
          <p:cNvGraphicFramePr>
            <a:graphicFrameLocks noChangeAspect="1"/>
          </p:cNvGraphicFramePr>
          <p:nvPr/>
        </p:nvGraphicFramePr>
        <p:xfrm>
          <a:off x="457200" y="4191000"/>
          <a:ext cx="3884613" cy="400050"/>
        </p:xfrm>
        <a:graphic>
          <a:graphicData uri="http://schemas.openxmlformats.org/presentationml/2006/ole">
            <mc:AlternateContent xmlns:mc="http://schemas.openxmlformats.org/markup-compatibility/2006">
              <mc:Choice xmlns:v="urn:schemas-microsoft-com:vml" Requires="v">
                <p:oleObj spid="_x0000_s3125" name="" r:id="rId7" imgW="2332990" imgH="238125" progId="Equation.3">
                  <p:embed/>
                </p:oleObj>
              </mc:Choice>
              <mc:Fallback>
                <p:oleObj name="" r:id="rId7" imgW="2332990" imgH="238125" progId="Equation.3">
                  <p:embed/>
                  <p:pic>
                    <p:nvPicPr>
                      <p:cNvPr id="0" name="Picture 3124"/>
                      <p:cNvPicPr/>
                      <p:nvPr/>
                    </p:nvPicPr>
                    <p:blipFill>
                      <a:blip r:embed="rId8"/>
                      <a:stretch>
                        <a:fillRect/>
                      </a:stretch>
                    </p:blipFill>
                    <p:spPr>
                      <a:xfrm>
                        <a:off x="457200" y="4191000"/>
                        <a:ext cx="3884613" cy="400050"/>
                      </a:xfrm>
                      <a:prstGeom prst="rect">
                        <a:avLst/>
                      </a:prstGeom>
                      <a:noFill/>
                      <a:ln w="38100">
                        <a:noFill/>
                        <a:miter/>
                      </a:ln>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8546"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7" name="Rectangle 2"/>
          <p:cNvSpPr>
            <a:spLocks noGrp="1" noChangeArrowheads="1"/>
          </p:cNvSpPr>
          <p:nvPr>
            <p:ph type="title"/>
          </p:nvPr>
        </p:nvSpPr>
        <p:spPr>
          <a:xfrm>
            <a:off x="304800" y="304800"/>
            <a:ext cx="7467600" cy="503238"/>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Hierarchical: Average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8" name="Rectangle 3"/>
          <p:cNvSpPr txBox="1">
            <a:spLocks noChangeArrowheads="1"/>
          </p:cNvSpPr>
          <p:nvPr/>
        </p:nvSpPr>
        <p:spPr bwMode="auto">
          <a:xfrm>
            <a:off x="381000" y="1905000"/>
            <a:ext cx="7620000" cy="990600"/>
          </a:xfrm>
          <a:prstGeom prst="rect">
            <a:avLst/>
          </a:prstGeom>
          <a:noFill/>
          <a:ln w="9525">
            <a:noFill/>
            <a:miter lim="800000"/>
          </a:ln>
        </p:spPr>
        <p:txBody>
          <a:bodyPr/>
          <a:lstStyle/>
          <a:p>
            <a:pPr marL="273050" marR="0" indent="-273050" defTabSz="914400">
              <a:spcBef>
                <a:spcPts val="600"/>
              </a:spcBef>
              <a:buClr>
                <a:schemeClr val="accent1"/>
              </a:buClr>
              <a:buSzPct val="70000"/>
              <a:buFont typeface="Wingdings" panose="05000000000000000000" pitchFamily="2" charset="2"/>
              <a:buChar char=""/>
              <a:defRPr/>
            </a:pPr>
            <a:r>
              <a:rPr kumimoji="0" lang="en-US" sz="2800" kern="1200" cap="none" spc="0" normalizeH="0" baseline="0" noProof="0" dirty="0">
                <a:latin typeface="+mn-lt"/>
                <a:ea typeface="+mn-ea"/>
                <a:cs typeface="+mn-cs"/>
              </a:rPr>
              <a:t>Cluster similarity = </a:t>
            </a:r>
            <a:r>
              <a:rPr kumimoji="0" lang="en-US" sz="2800" i="1" kern="1200" cap="none" spc="0" normalizeH="0" baseline="0" noProof="0" dirty="0">
                <a:solidFill>
                  <a:schemeClr val="accent4">
                    <a:lumMod val="60000"/>
                    <a:lumOff val="40000"/>
                  </a:schemeClr>
                </a:solidFill>
                <a:latin typeface="+mn-lt"/>
                <a:ea typeface="+mn-ea"/>
                <a:cs typeface="+mn-cs"/>
              </a:rPr>
              <a:t>average</a:t>
            </a:r>
            <a:r>
              <a:rPr kumimoji="0" lang="en-US" sz="2800" kern="1200" cap="none" spc="0" normalizeH="0" baseline="0" noProof="0" dirty="0">
                <a:latin typeface="+mn-lt"/>
                <a:ea typeface="+mn-ea"/>
                <a:cs typeface="+mn-cs"/>
              </a:rPr>
              <a:t> similarity of all pairs</a:t>
            </a:r>
            <a:endParaRPr kumimoji="0" lang="en-US" kern="1200" cap="none" spc="0" normalizeH="0" baseline="0" noProof="0" dirty="0">
              <a:latin typeface="+mn-lt"/>
              <a:ea typeface="+mn-ea"/>
              <a:cs typeface="+mn-cs"/>
            </a:endParaRPr>
          </a:p>
        </p:txBody>
      </p:sp>
      <p:sp>
        <p:nvSpPr>
          <p:cNvPr id="108549" name="Oval 4"/>
          <p:cNvSpPr/>
          <p:nvPr/>
        </p:nvSpPr>
        <p:spPr>
          <a:xfrm>
            <a:off x="2514600" y="4572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0" name="Oval 5"/>
          <p:cNvSpPr/>
          <p:nvPr/>
        </p:nvSpPr>
        <p:spPr>
          <a:xfrm>
            <a:off x="4876800" y="4495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1" name="Oval 6"/>
          <p:cNvSpPr/>
          <p:nvPr/>
        </p:nvSpPr>
        <p:spPr>
          <a:xfrm>
            <a:off x="3276600" y="55626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2" name="Oval 7"/>
          <p:cNvSpPr/>
          <p:nvPr/>
        </p:nvSpPr>
        <p:spPr>
          <a:xfrm>
            <a:off x="3048000" y="48006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3" name="Oval 8"/>
          <p:cNvSpPr/>
          <p:nvPr/>
        </p:nvSpPr>
        <p:spPr>
          <a:xfrm>
            <a:off x="4572000" y="44958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4" name="Oval 9"/>
          <p:cNvSpPr/>
          <p:nvPr/>
        </p:nvSpPr>
        <p:spPr>
          <a:xfrm>
            <a:off x="4800600" y="4191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5" name="Oval 10"/>
          <p:cNvSpPr/>
          <p:nvPr/>
        </p:nvSpPr>
        <p:spPr>
          <a:xfrm>
            <a:off x="1143000" y="42672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6" name="Oval 11"/>
          <p:cNvSpPr/>
          <p:nvPr/>
        </p:nvSpPr>
        <p:spPr>
          <a:xfrm>
            <a:off x="1066800" y="3810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7" name="Oval 12"/>
          <p:cNvSpPr/>
          <p:nvPr/>
        </p:nvSpPr>
        <p:spPr>
          <a:xfrm>
            <a:off x="1524000" y="39624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8" name="Oval 13"/>
          <p:cNvSpPr/>
          <p:nvPr/>
        </p:nvSpPr>
        <p:spPr>
          <a:xfrm>
            <a:off x="1219200" y="40386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59" name="Oval 14"/>
          <p:cNvSpPr/>
          <p:nvPr/>
        </p:nvSpPr>
        <p:spPr>
          <a:xfrm>
            <a:off x="1447800" y="42672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0" name="Oval 15"/>
          <p:cNvSpPr/>
          <p:nvPr/>
        </p:nvSpPr>
        <p:spPr>
          <a:xfrm>
            <a:off x="4495800" y="4191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1" name="Oval 16"/>
          <p:cNvSpPr/>
          <p:nvPr/>
        </p:nvSpPr>
        <p:spPr>
          <a:xfrm>
            <a:off x="1143000" y="35052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2" name="Oval 17"/>
          <p:cNvSpPr/>
          <p:nvPr/>
        </p:nvSpPr>
        <p:spPr>
          <a:xfrm>
            <a:off x="4267200" y="3962400"/>
            <a:ext cx="990600" cy="990600"/>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3" name="Oval 18"/>
          <p:cNvSpPr/>
          <p:nvPr/>
        </p:nvSpPr>
        <p:spPr>
          <a:xfrm>
            <a:off x="762000" y="3352800"/>
            <a:ext cx="1143000" cy="1295400"/>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4" name="Oval 19"/>
          <p:cNvSpPr/>
          <p:nvPr/>
        </p:nvSpPr>
        <p:spPr>
          <a:xfrm rot="2411630">
            <a:off x="2133600" y="4572000"/>
            <a:ext cx="1828800" cy="1066800"/>
          </a:xfrm>
          <a:prstGeom prst="ellipse">
            <a:avLst/>
          </a:prstGeom>
          <a:noFill/>
          <a:ln w="38100" cap="sq" cmpd="sng">
            <a:solidFill>
              <a:srgbClr val="33CC33"/>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5" name="Oval 20"/>
          <p:cNvSpPr/>
          <p:nvPr/>
        </p:nvSpPr>
        <p:spPr>
          <a:xfrm>
            <a:off x="3200400" y="49530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6" name="Oval 21"/>
          <p:cNvSpPr/>
          <p:nvPr/>
        </p:nvSpPr>
        <p:spPr>
          <a:xfrm>
            <a:off x="2895600" y="5105400"/>
            <a:ext cx="152400" cy="152400"/>
          </a:xfrm>
          <a:prstGeom prst="ellipse">
            <a:avLst/>
          </a:prstGeom>
          <a:solidFill>
            <a:srgbClr val="0000FF"/>
          </a:solidFill>
          <a:ln w="12700" cap="sq" cmpd="sng">
            <a:solidFill>
              <a:schemeClr val="tx1"/>
            </a:solidFill>
            <a:prstDash val="solid"/>
            <a:round/>
            <a:headEnd type="none" w="sm" len="sm"/>
            <a:tailEnd type="none" w="sm" len="sm"/>
          </a:ln>
        </p:spPr>
        <p:txBody>
          <a:bodyPr wrap="none" anchor="ctr" anchorCtr="0"/>
          <a:p>
            <a:endParaRPr lang="en-IN" altLang="x-none" dirty="0">
              <a:latin typeface="Tahoma" panose="020B0604030504040204" pitchFamily="34" charset="0"/>
            </a:endParaRPr>
          </a:p>
        </p:txBody>
      </p:sp>
      <p:sp>
        <p:nvSpPr>
          <p:cNvPr id="108567" name="Line 22"/>
          <p:cNvSpPr/>
          <p:nvPr/>
        </p:nvSpPr>
        <p:spPr>
          <a:xfrm flipH="1">
            <a:off x="3124200" y="4267200"/>
            <a:ext cx="1447800" cy="609600"/>
          </a:xfrm>
          <a:prstGeom prst="line">
            <a:avLst/>
          </a:prstGeom>
          <a:ln w="38100" cap="sq" cmpd="sng">
            <a:solidFill>
              <a:schemeClr val="hlink"/>
            </a:solidFill>
            <a:prstDash val="solid"/>
            <a:round/>
            <a:headEnd type="none" w="sm" len="sm"/>
            <a:tailEnd type="none" w="sm" len="sm"/>
          </a:ln>
        </p:spPr>
      </p:sp>
      <p:sp>
        <p:nvSpPr>
          <p:cNvPr id="108568" name="Line 24"/>
          <p:cNvSpPr/>
          <p:nvPr/>
        </p:nvSpPr>
        <p:spPr>
          <a:xfrm flipH="1">
            <a:off x="2971800" y="4267200"/>
            <a:ext cx="1600200" cy="914400"/>
          </a:xfrm>
          <a:prstGeom prst="line">
            <a:avLst/>
          </a:prstGeom>
          <a:ln w="38100" cap="sq" cmpd="sng">
            <a:solidFill>
              <a:schemeClr val="hlink"/>
            </a:solidFill>
            <a:prstDash val="solid"/>
            <a:round/>
            <a:headEnd type="none" w="sm" len="sm"/>
            <a:tailEnd type="none" w="sm" len="sm"/>
          </a:ln>
        </p:spPr>
      </p:sp>
      <p:sp>
        <p:nvSpPr>
          <p:cNvPr id="108569" name="Line 25"/>
          <p:cNvSpPr/>
          <p:nvPr/>
        </p:nvSpPr>
        <p:spPr>
          <a:xfrm flipH="1">
            <a:off x="3352800" y="4267200"/>
            <a:ext cx="1219200" cy="1371600"/>
          </a:xfrm>
          <a:prstGeom prst="line">
            <a:avLst/>
          </a:prstGeom>
          <a:ln w="38100" cap="sq" cmpd="sng">
            <a:solidFill>
              <a:schemeClr val="hlink"/>
            </a:solidFill>
            <a:prstDash val="solid"/>
            <a:round/>
            <a:headEnd type="none" w="sm" len="sm"/>
            <a:tailEnd type="none" w="sm" len="sm"/>
          </a:ln>
        </p:spPr>
      </p:sp>
      <p:sp>
        <p:nvSpPr>
          <p:cNvPr id="108570" name="Line 26"/>
          <p:cNvSpPr/>
          <p:nvPr/>
        </p:nvSpPr>
        <p:spPr>
          <a:xfrm flipH="1">
            <a:off x="3352800" y="4267200"/>
            <a:ext cx="1219200" cy="762000"/>
          </a:xfrm>
          <a:prstGeom prst="line">
            <a:avLst/>
          </a:prstGeom>
          <a:ln w="38100" cap="sq" cmpd="sng">
            <a:solidFill>
              <a:schemeClr val="hlink"/>
            </a:solidFill>
            <a:prstDash val="solid"/>
            <a:round/>
            <a:headEnd type="none" w="sm" len="sm"/>
            <a:tailEnd type="none" w="sm" len="sm"/>
          </a:ln>
        </p:spPr>
      </p:sp>
      <p:sp>
        <p:nvSpPr>
          <p:cNvPr id="108571" name="Line 27"/>
          <p:cNvSpPr/>
          <p:nvPr/>
        </p:nvSpPr>
        <p:spPr>
          <a:xfrm flipH="1">
            <a:off x="2590800" y="4572000"/>
            <a:ext cx="2057400" cy="76200"/>
          </a:xfrm>
          <a:prstGeom prst="line">
            <a:avLst/>
          </a:prstGeom>
          <a:ln w="38100" cap="sq" cmpd="sng">
            <a:solidFill>
              <a:schemeClr val="hlink"/>
            </a:solidFill>
            <a:prstDash val="solid"/>
            <a:round/>
            <a:headEnd type="none" w="sm" len="sm"/>
            <a:tailEnd type="none" w="sm" len="sm"/>
          </a:ln>
        </p:spPr>
      </p:sp>
      <p:sp>
        <p:nvSpPr>
          <p:cNvPr id="108572" name="Line 28"/>
          <p:cNvSpPr/>
          <p:nvPr/>
        </p:nvSpPr>
        <p:spPr>
          <a:xfrm flipH="1">
            <a:off x="3124200" y="4572000"/>
            <a:ext cx="1524000" cy="304800"/>
          </a:xfrm>
          <a:prstGeom prst="line">
            <a:avLst/>
          </a:prstGeom>
          <a:ln w="38100" cap="sq" cmpd="sng">
            <a:solidFill>
              <a:schemeClr val="hlink"/>
            </a:solidFill>
            <a:prstDash val="solid"/>
            <a:round/>
            <a:headEnd type="none" w="sm" len="sm"/>
            <a:tailEnd type="none" w="sm" len="sm"/>
          </a:ln>
        </p:spPr>
      </p:sp>
      <p:sp>
        <p:nvSpPr>
          <p:cNvPr id="108573" name="Line 29"/>
          <p:cNvSpPr/>
          <p:nvPr/>
        </p:nvSpPr>
        <p:spPr>
          <a:xfrm flipH="1">
            <a:off x="2590800" y="4267200"/>
            <a:ext cx="1981200" cy="381000"/>
          </a:xfrm>
          <a:prstGeom prst="line">
            <a:avLst/>
          </a:prstGeom>
          <a:ln w="38100" cap="sq" cmpd="sng">
            <a:solidFill>
              <a:schemeClr val="hlink"/>
            </a:solidFill>
            <a:prstDash val="solid"/>
            <a:round/>
            <a:headEnd type="none" w="sm" len="sm"/>
            <a:tailEnd type="none" w="sm" len="sm"/>
          </a:ln>
        </p:spPr>
      </p:sp>
      <p:sp>
        <p:nvSpPr>
          <p:cNvPr id="108574" name="Line 30"/>
          <p:cNvSpPr/>
          <p:nvPr/>
        </p:nvSpPr>
        <p:spPr>
          <a:xfrm flipH="1">
            <a:off x="3276600" y="4572000"/>
            <a:ext cx="1371600" cy="457200"/>
          </a:xfrm>
          <a:prstGeom prst="line">
            <a:avLst/>
          </a:prstGeom>
          <a:ln w="38100" cap="sq" cmpd="sng">
            <a:solidFill>
              <a:schemeClr val="hlink"/>
            </a:solidFill>
            <a:prstDash val="solid"/>
            <a:round/>
            <a:headEnd type="none" w="sm" len="sm"/>
            <a:tailEnd type="none" w="sm" len="sm"/>
          </a:ln>
        </p:spPr>
      </p:sp>
      <p:sp>
        <p:nvSpPr>
          <p:cNvPr id="108575" name="Line 31"/>
          <p:cNvSpPr/>
          <p:nvPr/>
        </p:nvSpPr>
        <p:spPr>
          <a:xfrm flipH="1">
            <a:off x="2971800" y="4572000"/>
            <a:ext cx="1676400" cy="609600"/>
          </a:xfrm>
          <a:prstGeom prst="line">
            <a:avLst/>
          </a:prstGeom>
          <a:ln w="38100" cap="sq" cmpd="sng">
            <a:solidFill>
              <a:schemeClr val="hlink"/>
            </a:solidFill>
            <a:prstDash val="solid"/>
            <a:round/>
            <a:headEnd type="none" w="sm" len="sm"/>
            <a:tailEnd type="none" w="sm" len="sm"/>
          </a:ln>
        </p:spPr>
      </p:sp>
      <p:sp>
        <p:nvSpPr>
          <p:cNvPr id="108576" name="Line 32"/>
          <p:cNvSpPr/>
          <p:nvPr/>
        </p:nvSpPr>
        <p:spPr>
          <a:xfrm flipH="1">
            <a:off x="3352800" y="4572000"/>
            <a:ext cx="1295400" cy="1066800"/>
          </a:xfrm>
          <a:prstGeom prst="line">
            <a:avLst/>
          </a:prstGeom>
          <a:ln w="38100" cap="sq" cmpd="sng">
            <a:solidFill>
              <a:schemeClr val="hlink"/>
            </a:solidFill>
            <a:prstDash val="solid"/>
            <a:round/>
            <a:headEnd type="none" w="sm" len="sm"/>
            <a:tailEnd type="none" w="sm" len="sm"/>
          </a:ln>
        </p:spPr>
      </p:sp>
      <p:sp>
        <p:nvSpPr>
          <p:cNvPr id="108577" name="Oval 23"/>
          <p:cNvSpPr/>
          <p:nvPr/>
        </p:nvSpPr>
        <p:spPr>
          <a:xfrm rot="-931360">
            <a:off x="1825625" y="3789363"/>
            <a:ext cx="3775075" cy="2095500"/>
          </a:xfrm>
          <a:prstGeom prst="ellipse">
            <a:avLst/>
          </a:prstGeom>
          <a:noFill/>
          <a:ln w="38100" cap="rnd" cmpd="sng">
            <a:solidFill>
              <a:schemeClr val="hlink"/>
            </a:solidFill>
            <a:prstDash val="sysDot"/>
            <a:round/>
            <a:headEnd type="none" w="sm" len="sm"/>
            <a:tailEnd type="none" w="sm" len="sm"/>
          </a:ln>
        </p:spPr>
        <p:txBody>
          <a:bodyPr wrap="none" anchor="ctr" anchorCtr="0"/>
          <a:p>
            <a:endParaRPr lang="en-IN" altLang="x-none" dirty="0">
              <a:latin typeface="Tahoma" panose="020B060403050404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09570"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109571"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26" name="" r:id="rId1" imgW="1371600" imgH="1371600" progId="Equation.3">
                  <p:embed/>
                </p:oleObj>
              </mc:Choice>
              <mc:Fallback>
                <p:oleObj name="" r:id="rId1" imgW="1371600" imgH="1371600" progId="Equation.3">
                  <p:embed/>
                  <p:pic>
                    <p:nvPicPr>
                      <p:cNvPr id="0" name="Picture 3125"/>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09572" name="Object 4"/>
          <p:cNvGraphicFramePr/>
          <p:nvPr/>
        </p:nvGraphicFramePr>
        <p:xfrm>
          <a:off x="3890963" y="1905000"/>
          <a:ext cx="1670050" cy="1458913"/>
        </p:xfrm>
        <a:graphic>
          <a:graphicData uri="http://schemas.openxmlformats.org/presentationml/2006/ole">
            <mc:AlternateContent xmlns:mc="http://schemas.openxmlformats.org/markup-compatibility/2006">
              <mc:Choice xmlns:v="urn:schemas-microsoft-com:vml" Requires="v">
                <p:oleObj spid="_x0000_s3127" name="" r:id="rId3" imgW="1308100" imgH="1143000" progId="Equation.3">
                  <p:embed/>
                </p:oleObj>
              </mc:Choice>
              <mc:Fallback>
                <p:oleObj name="" r:id="rId3" imgW="1308100" imgH="1143000" progId="Equation.3">
                  <p:embed/>
                  <p:pic>
                    <p:nvPicPr>
                      <p:cNvPr id="0" name="Picture 3126"/>
                      <p:cNvPicPr/>
                      <p:nvPr/>
                    </p:nvPicPr>
                    <p:blipFill>
                      <a:blip r:embed="rId4"/>
                      <a:stretch>
                        <a:fillRect/>
                      </a:stretch>
                    </p:blipFill>
                    <p:spPr>
                      <a:xfrm>
                        <a:off x="3890963" y="1905000"/>
                        <a:ext cx="1670050" cy="1458913"/>
                      </a:xfrm>
                      <a:prstGeom prst="rect">
                        <a:avLst/>
                      </a:prstGeom>
                      <a:noFill/>
                      <a:ln w="38100">
                        <a:noFill/>
                        <a:miter/>
                      </a:ln>
                    </p:spPr>
                  </p:pic>
                </p:oleObj>
              </mc:Fallback>
            </mc:AlternateContent>
          </a:graphicData>
        </a:graphic>
      </p:graphicFrame>
      <p:sp>
        <p:nvSpPr>
          <p:cNvPr id="109573" name="Line 5"/>
          <p:cNvSpPr/>
          <p:nvPr/>
        </p:nvSpPr>
        <p:spPr>
          <a:xfrm flipH="1">
            <a:off x="5943600" y="5181600"/>
            <a:ext cx="1524000" cy="0"/>
          </a:xfrm>
          <a:prstGeom prst="line">
            <a:avLst/>
          </a:prstGeom>
          <a:ln w="38100" cap="flat" cmpd="sng">
            <a:solidFill>
              <a:srgbClr val="000000"/>
            </a:solidFill>
            <a:prstDash val="solid"/>
            <a:round/>
            <a:headEnd type="none" w="med" len="med"/>
            <a:tailEnd type="none" w="med" len="med"/>
          </a:ln>
        </p:spPr>
      </p:sp>
      <p:sp>
        <p:nvSpPr>
          <p:cNvPr id="109574" name="Line 6"/>
          <p:cNvSpPr/>
          <p:nvPr/>
        </p:nvSpPr>
        <p:spPr>
          <a:xfrm>
            <a:off x="5943600" y="5181600"/>
            <a:ext cx="0" cy="533400"/>
          </a:xfrm>
          <a:prstGeom prst="line">
            <a:avLst/>
          </a:prstGeom>
          <a:ln w="38100" cap="flat" cmpd="sng">
            <a:solidFill>
              <a:srgbClr val="000000"/>
            </a:solidFill>
            <a:prstDash val="solid"/>
            <a:round/>
            <a:headEnd type="none" w="med" len="med"/>
            <a:tailEnd type="none" w="med" len="med"/>
          </a:ln>
        </p:spPr>
      </p:sp>
      <p:sp>
        <p:nvSpPr>
          <p:cNvPr id="109575" name="Line 7"/>
          <p:cNvSpPr/>
          <p:nvPr/>
        </p:nvSpPr>
        <p:spPr>
          <a:xfrm>
            <a:off x="5943600" y="5715000"/>
            <a:ext cx="1524000" cy="0"/>
          </a:xfrm>
          <a:prstGeom prst="line">
            <a:avLst/>
          </a:prstGeom>
          <a:ln w="38100" cap="flat" cmpd="sng">
            <a:solidFill>
              <a:srgbClr val="000000"/>
            </a:solidFill>
            <a:prstDash val="solid"/>
            <a:round/>
            <a:headEnd type="none" w="med" len="med"/>
            <a:tailEnd type="none" w="med" len="med"/>
          </a:ln>
        </p:spPr>
      </p:sp>
      <p:grpSp>
        <p:nvGrpSpPr>
          <p:cNvPr id="109576" name="Group 8"/>
          <p:cNvGrpSpPr/>
          <p:nvPr/>
        </p:nvGrpSpPr>
        <p:grpSpPr>
          <a:xfrm>
            <a:off x="7543800" y="3657600"/>
            <a:ext cx="533400" cy="2286000"/>
            <a:chOff x="4752" y="2304"/>
            <a:chExt cx="336" cy="1440"/>
          </a:xfrm>
        </p:grpSpPr>
        <p:sp>
          <p:nvSpPr>
            <p:cNvPr id="109577" name="Oval 9"/>
            <p:cNvSpPr/>
            <p:nvPr/>
          </p:nvSpPr>
          <p:spPr>
            <a:xfrm>
              <a:off x="4752" y="345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9578" name="Oval 10"/>
            <p:cNvSpPr/>
            <p:nvPr/>
          </p:nvSpPr>
          <p:spPr>
            <a:xfrm>
              <a:off x="4752" y="316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9579" name="Oval 11"/>
            <p:cNvSpPr/>
            <p:nvPr/>
          </p:nvSpPr>
          <p:spPr>
            <a:xfrm>
              <a:off x="4752" y="292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9580" name="Oval 12"/>
            <p:cNvSpPr/>
            <p:nvPr/>
          </p:nvSpPr>
          <p:spPr>
            <a:xfrm>
              <a:off x="4752" y="2640"/>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9581" name="Oval 13"/>
            <p:cNvSpPr/>
            <p:nvPr/>
          </p:nvSpPr>
          <p:spPr>
            <a:xfrm>
              <a:off x="4752" y="2304"/>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09582" name="Text Box 14"/>
            <p:cNvSpPr txBox="1"/>
            <p:nvPr/>
          </p:nvSpPr>
          <p:spPr>
            <a:xfrm>
              <a:off x="4752" y="3456"/>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09583" name="Text Box 15"/>
            <p:cNvSpPr txBox="1"/>
            <p:nvPr/>
          </p:nvSpPr>
          <p:spPr>
            <a:xfrm>
              <a:off x="4752" y="3168"/>
              <a:ext cx="336"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09584" name="Text Box 16"/>
            <p:cNvSpPr txBox="1"/>
            <p:nvPr/>
          </p:nvSpPr>
          <p:spPr>
            <a:xfrm>
              <a:off x="4752" y="2928"/>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09585" name="Text Box 17"/>
            <p:cNvSpPr txBox="1"/>
            <p:nvPr/>
          </p:nvSpPr>
          <p:spPr>
            <a:xfrm>
              <a:off x="4752" y="2640"/>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09586" name="Text Box 18"/>
            <p:cNvSpPr txBox="1"/>
            <p:nvPr/>
          </p:nvSpPr>
          <p:spPr>
            <a:xfrm>
              <a:off x="4752" y="2304"/>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grpSp>
      <p:sp>
        <p:nvSpPr>
          <p:cNvPr id="109587" name="AutoShape 19"/>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09588" name="Object 20"/>
          <p:cNvGraphicFramePr>
            <a:graphicFrameLocks noChangeAspect="1"/>
          </p:cNvGraphicFramePr>
          <p:nvPr/>
        </p:nvGraphicFramePr>
        <p:xfrm>
          <a:off x="990600" y="3733800"/>
          <a:ext cx="3656013" cy="2008188"/>
        </p:xfrm>
        <a:graphic>
          <a:graphicData uri="http://schemas.openxmlformats.org/presentationml/2006/ole">
            <mc:AlternateContent xmlns:mc="http://schemas.openxmlformats.org/markup-compatibility/2006">
              <mc:Choice xmlns:v="urn:schemas-microsoft-com:vml" Requires="v">
                <p:oleObj spid="_x0000_s3111" name="" r:id="rId5" imgW="2193290" imgH="1205230" progId="Equation.3">
                  <p:embed/>
                </p:oleObj>
              </mc:Choice>
              <mc:Fallback>
                <p:oleObj name="" r:id="rId5" imgW="2193290" imgH="1205230" progId="Equation.3">
                  <p:embed/>
                  <p:pic>
                    <p:nvPicPr>
                      <p:cNvPr id="0" name="Picture 3110"/>
                      <p:cNvPicPr/>
                      <p:nvPr/>
                    </p:nvPicPr>
                    <p:blipFill>
                      <a:blip r:embed="rId6"/>
                      <a:stretch>
                        <a:fillRect/>
                      </a:stretch>
                    </p:blipFill>
                    <p:spPr>
                      <a:xfrm>
                        <a:off x="990600" y="3733800"/>
                        <a:ext cx="3656013" cy="2008188"/>
                      </a:xfrm>
                      <a:prstGeom prst="rect">
                        <a:avLst/>
                      </a:prstGeom>
                      <a:noFill/>
                      <a:ln w="38100">
                        <a:noFill/>
                        <a:miter/>
                      </a:ln>
                    </p:spPr>
                  </p:pic>
                </p:oleObj>
              </mc:Fallback>
            </mc:AlternateContent>
          </a:graphicData>
        </a:graphic>
      </p:graphicFrame>
      <p:sp>
        <p:nvSpPr>
          <p:cNvPr id="25" name="Rectangle 2"/>
          <p:cNvSpPr>
            <a:spLocks noGrp="1" noChangeArrowheads="1"/>
          </p:cNvSpPr>
          <p:nvPr>
            <p:ph type="title"/>
          </p:nvPr>
        </p:nvSpPr>
        <p:spPr>
          <a:xfrm>
            <a:off x="381000" y="228600"/>
            <a:ext cx="7848600" cy="9144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average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0594"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110595"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09" name="" r:id="rId1" imgW="1371600" imgH="1371600" progId="Equation.3">
                  <p:embed/>
                </p:oleObj>
              </mc:Choice>
              <mc:Fallback>
                <p:oleObj name="" r:id="rId1" imgW="1371600" imgH="1371600" progId="Equation.3">
                  <p:embed/>
                  <p:pic>
                    <p:nvPicPr>
                      <p:cNvPr id="0" name="Picture 3108"/>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10596" name="Object 4"/>
          <p:cNvGraphicFramePr/>
          <p:nvPr/>
        </p:nvGraphicFramePr>
        <p:xfrm>
          <a:off x="3890963" y="1905000"/>
          <a:ext cx="1670050" cy="1458913"/>
        </p:xfrm>
        <a:graphic>
          <a:graphicData uri="http://schemas.openxmlformats.org/presentationml/2006/ole">
            <mc:AlternateContent xmlns:mc="http://schemas.openxmlformats.org/markup-compatibility/2006">
              <mc:Choice xmlns:v="urn:schemas-microsoft-com:vml" Requires="v">
                <p:oleObj spid="_x0000_s3110" name="" r:id="rId3" imgW="1308100" imgH="1143000" progId="Equation.3">
                  <p:embed/>
                </p:oleObj>
              </mc:Choice>
              <mc:Fallback>
                <p:oleObj name="" r:id="rId3" imgW="1308100" imgH="1143000" progId="Equation.3">
                  <p:embed/>
                  <p:pic>
                    <p:nvPicPr>
                      <p:cNvPr id="0" name="Picture 3109"/>
                      <p:cNvPicPr/>
                      <p:nvPr/>
                    </p:nvPicPr>
                    <p:blipFill>
                      <a:blip r:embed="rId4"/>
                      <a:stretch>
                        <a:fillRect/>
                      </a:stretch>
                    </p:blipFill>
                    <p:spPr>
                      <a:xfrm>
                        <a:off x="3890963" y="1905000"/>
                        <a:ext cx="1670050" cy="1458913"/>
                      </a:xfrm>
                      <a:prstGeom prst="rect">
                        <a:avLst/>
                      </a:prstGeom>
                      <a:noFill/>
                      <a:ln w="38100">
                        <a:noFill/>
                        <a:miter/>
                      </a:ln>
                    </p:spPr>
                  </p:pic>
                </p:oleObj>
              </mc:Fallback>
            </mc:AlternateContent>
          </a:graphicData>
        </a:graphic>
      </p:graphicFrame>
      <p:sp>
        <p:nvSpPr>
          <p:cNvPr id="110597" name="Line 5"/>
          <p:cNvSpPr/>
          <p:nvPr/>
        </p:nvSpPr>
        <p:spPr>
          <a:xfrm flipH="1">
            <a:off x="5867400" y="5257800"/>
            <a:ext cx="1524000" cy="0"/>
          </a:xfrm>
          <a:prstGeom prst="line">
            <a:avLst/>
          </a:prstGeom>
          <a:ln w="38100" cap="flat" cmpd="sng">
            <a:solidFill>
              <a:srgbClr val="000000"/>
            </a:solidFill>
            <a:prstDash val="solid"/>
            <a:round/>
            <a:headEnd type="none" w="med" len="med"/>
            <a:tailEnd type="none" w="med" len="med"/>
          </a:ln>
        </p:spPr>
      </p:sp>
      <p:sp>
        <p:nvSpPr>
          <p:cNvPr id="110598" name="Line 6"/>
          <p:cNvSpPr/>
          <p:nvPr/>
        </p:nvSpPr>
        <p:spPr>
          <a:xfrm>
            <a:off x="5867400" y="5257800"/>
            <a:ext cx="0" cy="533400"/>
          </a:xfrm>
          <a:prstGeom prst="line">
            <a:avLst/>
          </a:prstGeom>
          <a:ln w="38100" cap="flat" cmpd="sng">
            <a:solidFill>
              <a:srgbClr val="000000"/>
            </a:solidFill>
            <a:prstDash val="solid"/>
            <a:round/>
            <a:headEnd type="none" w="med" len="med"/>
            <a:tailEnd type="none" w="med" len="med"/>
          </a:ln>
        </p:spPr>
      </p:sp>
      <p:sp>
        <p:nvSpPr>
          <p:cNvPr id="110599" name="Line 7"/>
          <p:cNvSpPr/>
          <p:nvPr/>
        </p:nvSpPr>
        <p:spPr>
          <a:xfrm>
            <a:off x="5867400" y="5791200"/>
            <a:ext cx="1524000" cy="0"/>
          </a:xfrm>
          <a:prstGeom prst="line">
            <a:avLst/>
          </a:prstGeom>
          <a:ln w="38100" cap="flat" cmpd="sng">
            <a:solidFill>
              <a:srgbClr val="000000"/>
            </a:solidFill>
            <a:prstDash val="solid"/>
            <a:round/>
            <a:headEnd type="none" w="med" len="med"/>
            <a:tailEnd type="none" w="med" len="med"/>
          </a:ln>
        </p:spPr>
      </p:sp>
      <p:grpSp>
        <p:nvGrpSpPr>
          <p:cNvPr id="110600" name="Group 8"/>
          <p:cNvGrpSpPr/>
          <p:nvPr/>
        </p:nvGrpSpPr>
        <p:grpSpPr>
          <a:xfrm>
            <a:off x="7467600" y="3733800"/>
            <a:ext cx="533400" cy="2286000"/>
            <a:chOff x="4704" y="2352"/>
            <a:chExt cx="336" cy="1440"/>
          </a:xfrm>
        </p:grpSpPr>
        <p:sp>
          <p:nvSpPr>
            <p:cNvPr id="110601" name="Oval 9"/>
            <p:cNvSpPr/>
            <p:nvPr/>
          </p:nvSpPr>
          <p:spPr>
            <a:xfrm>
              <a:off x="4704" y="3504"/>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0602" name="Oval 10"/>
            <p:cNvSpPr/>
            <p:nvPr/>
          </p:nvSpPr>
          <p:spPr>
            <a:xfrm>
              <a:off x="4704" y="321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0603" name="Oval 11"/>
            <p:cNvSpPr/>
            <p:nvPr/>
          </p:nvSpPr>
          <p:spPr>
            <a:xfrm>
              <a:off x="4704" y="297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0604" name="Oval 12"/>
            <p:cNvSpPr/>
            <p:nvPr/>
          </p:nvSpPr>
          <p:spPr>
            <a:xfrm>
              <a:off x="4704" y="268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0605" name="Oval 13"/>
            <p:cNvSpPr/>
            <p:nvPr/>
          </p:nvSpPr>
          <p:spPr>
            <a:xfrm>
              <a:off x="4704" y="2352"/>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0606" name="Text Box 14"/>
            <p:cNvSpPr txBox="1"/>
            <p:nvPr/>
          </p:nvSpPr>
          <p:spPr>
            <a:xfrm>
              <a:off x="4704" y="3504"/>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10607" name="Text Box 15"/>
            <p:cNvSpPr txBox="1"/>
            <p:nvPr/>
          </p:nvSpPr>
          <p:spPr>
            <a:xfrm>
              <a:off x="4704" y="3216"/>
              <a:ext cx="336"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10608" name="Text Box 16"/>
            <p:cNvSpPr txBox="1"/>
            <p:nvPr/>
          </p:nvSpPr>
          <p:spPr>
            <a:xfrm>
              <a:off x="4704" y="2976"/>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10609" name="Text Box 17"/>
            <p:cNvSpPr txBox="1"/>
            <p:nvPr/>
          </p:nvSpPr>
          <p:spPr>
            <a:xfrm>
              <a:off x="4704" y="2688"/>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10610" name="Text Box 18"/>
            <p:cNvSpPr txBox="1"/>
            <p:nvPr/>
          </p:nvSpPr>
          <p:spPr>
            <a:xfrm>
              <a:off x="4704" y="2352"/>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grpSp>
      <p:sp>
        <p:nvSpPr>
          <p:cNvPr id="110611" name="AutoShape 19"/>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0612" name="AutoShape 20"/>
          <p:cNvSpPr/>
          <p:nvPr/>
        </p:nvSpPr>
        <p:spPr>
          <a:xfrm>
            <a:off x="57150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10613" name="Object 21"/>
          <p:cNvGraphicFramePr/>
          <p:nvPr/>
        </p:nvGraphicFramePr>
        <p:xfrm>
          <a:off x="6477000" y="1981200"/>
          <a:ext cx="1524000" cy="1225550"/>
        </p:xfrm>
        <a:graphic>
          <a:graphicData uri="http://schemas.openxmlformats.org/presentationml/2006/ole">
            <mc:AlternateContent xmlns:mc="http://schemas.openxmlformats.org/markup-compatibility/2006">
              <mc:Choice xmlns:v="urn:schemas-microsoft-com:vml" Requires="v">
                <p:oleObj spid="_x0000_s3114" name="" r:id="rId5" imgW="1168400" imgH="939800" progId="Equation.3">
                  <p:embed/>
                </p:oleObj>
              </mc:Choice>
              <mc:Fallback>
                <p:oleObj name="" r:id="rId5" imgW="1168400" imgH="939800" progId="Equation.3">
                  <p:embed/>
                  <p:pic>
                    <p:nvPicPr>
                      <p:cNvPr id="0" name="Picture 3113"/>
                      <p:cNvPicPr/>
                      <p:nvPr/>
                    </p:nvPicPr>
                    <p:blipFill>
                      <a:blip r:embed="rId6"/>
                      <a:stretch>
                        <a:fillRect/>
                      </a:stretch>
                    </p:blipFill>
                    <p:spPr>
                      <a:xfrm>
                        <a:off x="6477000" y="1981200"/>
                        <a:ext cx="1524000" cy="1225550"/>
                      </a:xfrm>
                      <a:prstGeom prst="rect">
                        <a:avLst/>
                      </a:prstGeom>
                      <a:noFill/>
                      <a:ln w="38100">
                        <a:noFill/>
                        <a:miter/>
                      </a:ln>
                    </p:spPr>
                  </p:pic>
                </p:oleObj>
              </mc:Fallback>
            </mc:AlternateContent>
          </a:graphicData>
        </a:graphic>
      </p:graphicFrame>
      <p:sp>
        <p:nvSpPr>
          <p:cNvPr id="110614" name="Line 22"/>
          <p:cNvSpPr/>
          <p:nvPr/>
        </p:nvSpPr>
        <p:spPr>
          <a:xfrm flipH="1">
            <a:off x="5867400" y="3962400"/>
            <a:ext cx="1524000" cy="0"/>
          </a:xfrm>
          <a:prstGeom prst="line">
            <a:avLst/>
          </a:prstGeom>
          <a:ln w="38100" cap="flat" cmpd="sng">
            <a:solidFill>
              <a:srgbClr val="000000"/>
            </a:solidFill>
            <a:prstDash val="solid"/>
            <a:round/>
            <a:headEnd type="none" w="med" len="med"/>
            <a:tailEnd type="none" w="med" len="med"/>
          </a:ln>
        </p:spPr>
      </p:sp>
      <p:sp>
        <p:nvSpPr>
          <p:cNvPr id="110615" name="Line 23"/>
          <p:cNvSpPr/>
          <p:nvPr/>
        </p:nvSpPr>
        <p:spPr>
          <a:xfrm>
            <a:off x="5867400" y="3962400"/>
            <a:ext cx="0" cy="533400"/>
          </a:xfrm>
          <a:prstGeom prst="line">
            <a:avLst/>
          </a:prstGeom>
          <a:ln w="38100" cap="flat" cmpd="sng">
            <a:solidFill>
              <a:srgbClr val="000000"/>
            </a:solidFill>
            <a:prstDash val="solid"/>
            <a:round/>
            <a:headEnd type="none" w="med" len="med"/>
            <a:tailEnd type="none" w="med" len="med"/>
          </a:ln>
        </p:spPr>
      </p:sp>
      <p:sp>
        <p:nvSpPr>
          <p:cNvPr id="110616" name="Line 24"/>
          <p:cNvSpPr/>
          <p:nvPr/>
        </p:nvSpPr>
        <p:spPr>
          <a:xfrm>
            <a:off x="5867400" y="4495800"/>
            <a:ext cx="1524000" cy="0"/>
          </a:xfrm>
          <a:prstGeom prst="line">
            <a:avLst/>
          </a:prstGeom>
          <a:ln w="38100" cap="flat" cmpd="sng">
            <a:solidFill>
              <a:srgbClr val="000000"/>
            </a:solidFill>
            <a:prstDash val="solid"/>
            <a:round/>
            <a:headEnd type="none" w="med" len="med"/>
            <a:tailEnd type="none" w="med" len="med"/>
          </a:ln>
        </p:spPr>
      </p:sp>
      <p:graphicFrame>
        <p:nvGraphicFramePr>
          <p:cNvPr id="110617" name="Object 25"/>
          <p:cNvGraphicFramePr>
            <a:graphicFrameLocks noChangeAspect="1"/>
          </p:cNvGraphicFramePr>
          <p:nvPr/>
        </p:nvGraphicFramePr>
        <p:xfrm>
          <a:off x="1066800" y="4038600"/>
          <a:ext cx="3656013" cy="1236663"/>
        </p:xfrm>
        <a:graphic>
          <a:graphicData uri="http://schemas.openxmlformats.org/presentationml/2006/ole">
            <mc:AlternateContent xmlns:mc="http://schemas.openxmlformats.org/markup-compatibility/2006">
              <mc:Choice xmlns:v="urn:schemas-microsoft-com:vml" Requires="v">
                <p:oleObj spid="_x0000_s3113" name="" r:id="rId7" imgW="2396490" imgH="808990" progId="Equation.3">
                  <p:embed/>
                </p:oleObj>
              </mc:Choice>
              <mc:Fallback>
                <p:oleObj name="" r:id="rId7" imgW="2396490" imgH="808990" progId="Equation.3">
                  <p:embed/>
                  <p:pic>
                    <p:nvPicPr>
                      <p:cNvPr id="0" name="Picture 3112"/>
                      <p:cNvPicPr/>
                      <p:nvPr/>
                    </p:nvPicPr>
                    <p:blipFill>
                      <a:blip r:embed="rId8"/>
                      <a:stretch>
                        <a:fillRect/>
                      </a:stretch>
                    </p:blipFill>
                    <p:spPr>
                      <a:xfrm>
                        <a:off x="1066800" y="4038600"/>
                        <a:ext cx="3656013" cy="1236663"/>
                      </a:xfrm>
                      <a:prstGeom prst="rect">
                        <a:avLst/>
                      </a:prstGeom>
                      <a:noFill/>
                      <a:ln w="38100">
                        <a:noFill/>
                        <a:miter/>
                      </a:ln>
                    </p:spPr>
                  </p:pic>
                </p:oleObj>
              </mc:Fallback>
            </mc:AlternateContent>
          </a:graphicData>
        </a:graphic>
      </p:graphicFrame>
      <p:sp>
        <p:nvSpPr>
          <p:cNvPr id="30" name="Rectangle 2"/>
          <p:cNvSpPr>
            <a:spLocks noGrp="1" noChangeArrowheads="1"/>
          </p:cNvSpPr>
          <p:nvPr>
            <p:ph type="title"/>
          </p:nvPr>
        </p:nvSpPr>
        <p:spPr>
          <a:xfrm>
            <a:off x="304800" y="228600"/>
            <a:ext cx="7848600" cy="6858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average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1618" name="Slide Number Placeholder 4"/>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111619" name="Object 3"/>
          <p:cNvGraphicFramePr/>
          <p:nvPr/>
        </p:nvGraphicFramePr>
        <p:xfrm>
          <a:off x="1211263" y="1828800"/>
          <a:ext cx="1676400" cy="1676400"/>
        </p:xfrm>
        <a:graphic>
          <a:graphicData uri="http://schemas.openxmlformats.org/presentationml/2006/ole">
            <mc:AlternateContent xmlns:mc="http://schemas.openxmlformats.org/markup-compatibility/2006">
              <mc:Choice xmlns:v="urn:schemas-microsoft-com:vml" Requires="v">
                <p:oleObj spid="_x0000_s3112" name="" r:id="rId1" imgW="1371600" imgH="1371600" progId="Equation.3">
                  <p:embed/>
                </p:oleObj>
              </mc:Choice>
              <mc:Fallback>
                <p:oleObj name="" r:id="rId1" imgW="1371600" imgH="1371600" progId="Equation.3">
                  <p:embed/>
                  <p:pic>
                    <p:nvPicPr>
                      <p:cNvPr id="0" name="Picture 3111"/>
                      <p:cNvPicPr/>
                      <p:nvPr/>
                    </p:nvPicPr>
                    <p:blipFill>
                      <a:blip r:embed="rId2"/>
                      <a:stretch>
                        <a:fillRect/>
                      </a:stretch>
                    </p:blipFill>
                    <p:spPr>
                      <a:xfrm>
                        <a:off x="1211263" y="1828800"/>
                        <a:ext cx="1676400" cy="1676400"/>
                      </a:xfrm>
                      <a:prstGeom prst="rect">
                        <a:avLst/>
                      </a:prstGeom>
                      <a:noFill/>
                      <a:ln w="38100">
                        <a:noFill/>
                        <a:miter/>
                      </a:ln>
                    </p:spPr>
                  </p:pic>
                </p:oleObj>
              </mc:Fallback>
            </mc:AlternateContent>
          </a:graphicData>
        </a:graphic>
      </p:graphicFrame>
      <p:graphicFrame>
        <p:nvGraphicFramePr>
          <p:cNvPr id="111620" name="Object 4"/>
          <p:cNvGraphicFramePr/>
          <p:nvPr/>
        </p:nvGraphicFramePr>
        <p:xfrm>
          <a:off x="3890963" y="1905000"/>
          <a:ext cx="1670050" cy="1458913"/>
        </p:xfrm>
        <a:graphic>
          <a:graphicData uri="http://schemas.openxmlformats.org/presentationml/2006/ole">
            <mc:AlternateContent xmlns:mc="http://schemas.openxmlformats.org/markup-compatibility/2006">
              <mc:Choice xmlns:v="urn:schemas-microsoft-com:vml" Requires="v">
                <p:oleObj spid="_x0000_s3094" name="" r:id="rId3" imgW="1308100" imgH="1143000" progId="Equation.3">
                  <p:embed/>
                </p:oleObj>
              </mc:Choice>
              <mc:Fallback>
                <p:oleObj name="" r:id="rId3" imgW="1308100" imgH="1143000" progId="Equation.3">
                  <p:embed/>
                  <p:pic>
                    <p:nvPicPr>
                      <p:cNvPr id="0" name="Picture 3093"/>
                      <p:cNvPicPr/>
                      <p:nvPr/>
                    </p:nvPicPr>
                    <p:blipFill>
                      <a:blip r:embed="rId4"/>
                      <a:stretch>
                        <a:fillRect/>
                      </a:stretch>
                    </p:blipFill>
                    <p:spPr>
                      <a:xfrm>
                        <a:off x="3890963" y="1905000"/>
                        <a:ext cx="1670050" cy="1458913"/>
                      </a:xfrm>
                      <a:prstGeom prst="rect">
                        <a:avLst/>
                      </a:prstGeom>
                      <a:noFill/>
                      <a:ln w="38100">
                        <a:noFill/>
                        <a:miter/>
                      </a:ln>
                    </p:spPr>
                  </p:pic>
                </p:oleObj>
              </mc:Fallback>
            </mc:AlternateContent>
          </a:graphicData>
        </a:graphic>
      </p:graphicFrame>
      <p:sp>
        <p:nvSpPr>
          <p:cNvPr id="111621" name="AutoShape 5"/>
          <p:cNvSpPr/>
          <p:nvPr/>
        </p:nvSpPr>
        <p:spPr>
          <a:xfrm>
            <a:off x="31242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1622" name="AutoShape 6"/>
          <p:cNvSpPr/>
          <p:nvPr/>
        </p:nvSpPr>
        <p:spPr>
          <a:xfrm>
            <a:off x="5715000" y="2514600"/>
            <a:ext cx="533400" cy="457200"/>
          </a:xfrm>
          <a:prstGeom prst="rightArrow">
            <a:avLst>
              <a:gd name="adj1" fmla="val 50000"/>
              <a:gd name="adj2" fmla="val 29155"/>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IN" altLang="x-none" dirty="0">
              <a:latin typeface="Tahoma" panose="020B0604030504040204" pitchFamily="34" charset="0"/>
            </a:endParaRPr>
          </a:p>
        </p:txBody>
      </p:sp>
      <p:graphicFrame>
        <p:nvGraphicFramePr>
          <p:cNvPr id="111623" name="Object 7"/>
          <p:cNvGraphicFramePr/>
          <p:nvPr/>
        </p:nvGraphicFramePr>
        <p:xfrm>
          <a:off x="6477000" y="1981200"/>
          <a:ext cx="1524000" cy="1225550"/>
        </p:xfrm>
        <a:graphic>
          <a:graphicData uri="http://schemas.openxmlformats.org/presentationml/2006/ole">
            <mc:AlternateContent xmlns:mc="http://schemas.openxmlformats.org/markup-compatibility/2006">
              <mc:Choice xmlns:v="urn:schemas-microsoft-com:vml" Requires="v">
                <p:oleObj spid="_x0000_s3128" name="" r:id="rId5" imgW="1168400" imgH="939800" progId="Equation.3">
                  <p:embed/>
                </p:oleObj>
              </mc:Choice>
              <mc:Fallback>
                <p:oleObj name="" r:id="rId5" imgW="1168400" imgH="939800" progId="Equation.3">
                  <p:embed/>
                  <p:pic>
                    <p:nvPicPr>
                      <p:cNvPr id="0" name="Picture 3127"/>
                      <p:cNvPicPr/>
                      <p:nvPr/>
                    </p:nvPicPr>
                    <p:blipFill>
                      <a:blip r:embed="rId6"/>
                      <a:stretch>
                        <a:fillRect/>
                      </a:stretch>
                    </p:blipFill>
                    <p:spPr>
                      <a:xfrm>
                        <a:off x="6477000" y="1981200"/>
                        <a:ext cx="1524000" cy="1225550"/>
                      </a:xfrm>
                      <a:prstGeom prst="rect">
                        <a:avLst/>
                      </a:prstGeom>
                      <a:noFill/>
                      <a:ln w="38100">
                        <a:noFill/>
                        <a:miter/>
                      </a:ln>
                    </p:spPr>
                  </p:pic>
                </p:oleObj>
              </mc:Fallback>
            </mc:AlternateContent>
          </a:graphicData>
        </a:graphic>
      </p:graphicFrame>
      <p:sp>
        <p:nvSpPr>
          <p:cNvPr id="111624" name="Line 8"/>
          <p:cNvSpPr/>
          <p:nvPr/>
        </p:nvSpPr>
        <p:spPr>
          <a:xfrm flipH="1">
            <a:off x="5867400" y="5105400"/>
            <a:ext cx="1524000" cy="0"/>
          </a:xfrm>
          <a:prstGeom prst="line">
            <a:avLst/>
          </a:prstGeom>
          <a:ln w="38100" cap="flat" cmpd="sng">
            <a:solidFill>
              <a:srgbClr val="000000"/>
            </a:solidFill>
            <a:prstDash val="solid"/>
            <a:round/>
            <a:headEnd type="none" w="med" len="med"/>
            <a:tailEnd type="none" w="med" len="med"/>
          </a:ln>
        </p:spPr>
      </p:sp>
      <p:sp>
        <p:nvSpPr>
          <p:cNvPr id="111625" name="Line 9"/>
          <p:cNvSpPr/>
          <p:nvPr/>
        </p:nvSpPr>
        <p:spPr>
          <a:xfrm>
            <a:off x="5867400" y="5105400"/>
            <a:ext cx="0" cy="533400"/>
          </a:xfrm>
          <a:prstGeom prst="line">
            <a:avLst/>
          </a:prstGeom>
          <a:ln w="38100" cap="flat" cmpd="sng">
            <a:solidFill>
              <a:srgbClr val="000000"/>
            </a:solidFill>
            <a:prstDash val="solid"/>
            <a:round/>
            <a:headEnd type="none" w="med" len="med"/>
            <a:tailEnd type="none" w="med" len="med"/>
          </a:ln>
        </p:spPr>
      </p:sp>
      <p:sp>
        <p:nvSpPr>
          <p:cNvPr id="111626" name="Line 10"/>
          <p:cNvSpPr/>
          <p:nvPr/>
        </p:nvSpPr>
        <p:spPr>
          <a:xfrm>
            <a:off x="5867400" y="5638800"/>
            <a:ext cx="1524000" cy="0"/>
          </a:xfrm>
          <a:prstGeom prst="line">
            <a:avLst/>
          </a:prstGeom>
          <a:ln w="38100" cap="flat" cmpd="sng">
            <a:solidFill>
              <a:srgbClr val="000000"/>
            </a:solidFill>
            <a:prstDash val="solid"/>
            <a:round/>
            <a:headEnd type="none" w="med" len="med"/>
            <a:tailEnd type="none" w="med" len="med"/>
          </a:ln>
        </p:spPr>
      </p:sp>
      <p:sp>
        <p:nvSpPr>
          <p:cNvPr id="111627" name="Line 11"/>
          <p:cNvSpPr/>
          <p:nvPr/>
        </p:nvSpPr>
        <p:spPr>
          <a:xfrm flipH="1">
            <a:off x="5867400" y="3886200"/>
            <a:ext cx="1524000" cy="0"/>
          </a:xfrm>
          <a:prstGeom prst="line">
            <a:avLst/>
          </a:prstGeom>
          <a:ln w="38100" cap="flat" cmpd="sng">
            <a:solidFill>
              <a:srgbClr val="000000"/>
            </a:solidFill>
            <a:prstDash val="solid"/>
            <a:round/>
            <a:headEnd type="none" w="med" len="med"/>
            <a:tailEnd type="none" w="med" len="med"/>
          </a:ln>
        </p:spPr>
      </p:sp>
      <p:sp>
        <p:nvSpPr>
          <p:cNvPr id="111628" name="Line 12"/>
          <p:cNvSpPr/>
          <p:nvPr/>
        </p:nvSpPr>
        <p:spPr>
          <a:xfrm>
            <a:off x="5867400" y="3886200"/>
            <a:ext cx="0" cy="533400"/>
          </a:xfrm>
          <a:prstGeom prst="line">
            <a:avLst/>
          </a:prstGeom>
          <a:ln w="38100" cap="flat" cmpd="sng">
            <a:solidFill>
              <a:srgbClr val="000000"/>
            </a:solidFill>
            <a:prstDash val="solid"/>
            <a:round/>
            <a:headEnd type="none" w="med" len="med"/>
            <a:tailEnd type="none" w="med" len="med"/>
          </a:ln>
        </p:spPr>
      </p:sp>
      <p:sp>
        <p:nvSpPr>
          <p:cNvPr id="111629" name="Line 13"/>
          <p:cNvSpPr/>
          <p:nvPr/>
        </p:nvSpPr>
        <p:spPr>
          <a:xfrm>
            <a:off x="5867400" y="4419600"/>
            <a:ext cx="1524000" cy="0"/>
          </a:xfrm>
          <a:prstGeom prst="line">
            <a:avLst/>
          </a:prstGeom>
          <a:ln w="38100" cap="flat" cmpd="sng">
            <a:solidFill>
              <a:srgbClr val="000000"/>
            </a:solidFill>
            <a:prstDash val="solid"/>
            <a:round/>
            <a:headEnd type="none" w="med" len="med"/>
            <a:tailEnd type="none" w="med" len="med"/>
          </a:ln>
        </p:spPr>
      </p:sp>
      <p:sp>
        <p:nvSpPr>
          <p:cNvPr id="111630" name="Line 14"/>
          <p:cNvSpPr/>
          <p:nvPr/>
        </p:nvSpPr>
        <p:spPr>
          <a:xfrm flipH="1">
            <a:off x="5257800" y="5257800"/>
            <a:ext cx="609600" cy="0"/>
          </a:xfrm>
          <a:prstGeom prst="line">
            <a:avLst/>
          </a:prstGeom>
          <a:ln w="38100" cap="flat" cmpd="sng">
            <a:solidFill>
              <a:srgbClr val="000000"/>
            </a:solidFill>
            <a:prstDash val="solid"/>
            <a:round/>
            <a:headEnd type="none" w="med" len="med"/>
            <a:tailEnd type="none" w="med" len="med"/>
          </a:ln>
        </p:spPr>
      </p:sp>
      <p:sp>
        <p:nvSpPr>
          <p:cNvPr id="111631" name="Line 15"/>
          <p:cNvSpPr/>
          <p:nvPr/>
        </p:nvSpPr>
        <p:spPr>
          <a:xfrm>
            <a:off x="5257800" y="4724400"/>
            <a:ext cx="0" cy="533400"/>
          </a:xfrm>
          <a:prstGeom prst="line">
            <a:avLst/>
          </a:prstGeom>
          <a:ln w="38100" cap="flat" cmpd="sng">
            <a:solidFill>
              <a:srgbClr val="000000"/>
            </a:solidFill>
            <a:prstDash val="solid"/>
            <a:round/>
            <a:headEnd type="none" w="med" len="med"/>
            <a:tailEnd type="none" w="med" len="med"/>
          </a:ln>
        </p:spPr>
      </p:sp>
      <p:sp>
        <p:nvSpPr>
          <p:cNvPr id="111632" name="Line 16"/>
          <p:cNvSpPr/>
          <p:nvPr/>
        </p:nvSpPr>
        <p:spPr>
          <a:xfrm>
            <a:off x="5257800" y="4724400"/>
            <a:ext cx="2133600" cy="0"/>
          </a:xfrm>
          <a:prstGeom prst="line">
            <a:avLst/>
          </a:prstGeom>
          <a:ln w="38100" cap="flat" cmpd="sng">
            <a:solidFill>
              <a:srgbClr val="000000"/>
            </a:solidFill>
            <a:prstDash val="solid"/>
            <a:round/>
            <a:headEnd type="none" w="med" len="med"/>
            <a:tailEnd type="none" w="med" len="med"/>
          </a:ln>
        </p:spPr>
      </p:sp>
      <p:sp>
        <p:nvSpPr>
          <p:cNvPr id="111633" name="Line 17"/>
          <p:cNvSpPr/>
          <p:nvPr/>
        </p:nvSpPr>
        <p:spPr>
          <a:xfrm flipH="1">
            <a:off x="4572000" y="5029200"/>
            <a:ext cx="685800" cy="0"/>
          </a:xfrm>
          <a:prstGeom prst="line">
            <a:avLst/>
          </a:prstGeom>
          <a:ln w="38100" cap="flat" cmpd="sng">
            <a:solidFill>
              <a:srgbClr val="000000"/>
            </a:solidFill>
            <a:prstDash val="solid"/>
            <a:round/>
            <a:headEnd type="none" w="med" len="med"/>
            <a:tailEnd type="none" w="med" len="med"/>
          </a:ln>
        </p:spPr>
      </p:sp>
      <p:sp>
        <p:nvSpPr>
          <p:cNvPr id="111634" name="Line 18"/>
          <p:cNvSpPr/>
          <p:nvPr/>
        </p:nvSpPr>
        <p:spPr>
          <a:xfrm>
            <a:off x="4572000" y="4191000"/>
            <a:ext cx="0" cy="838200"/>
          </a:xfrm>
          <a:prstGeom prst="line">
            <a:avLst/>
          </a:prstGeom>
          <a:ln w="38100" cap="flat" cmpd="sng">
            <a:solidFill>
              <a:srgbClr val="000000"/>
            </a:solidFill>
            <a:prstDash val="solid"/>
            <a:round/>
            <a:headEnd type="none" w="med" len="med"/>
            <a:tailEnd type="none" w="med" len="med"/>
          </a:ln>
        </p:spPr>
      </p:sp>
      <p:sp>
        <p:nvSpPr>
          <p:cNvPr id="111635" name="Line 19"/>
          <p:cNvSpPr/>
          <p:nvPr/>
        </p:nvSpPr>
        <p:spPr>
          <a:xfrm>
            <a:off x="4572000" y="4191000"/>
            <a:ext cx="1219200" cy="0"/>
          </a:xfrm>
          <a:prstGeom prst="line">
            <a:avLst/>
          </a:prstGeom>
          <a:ln w="38100" cap="flat" cmpd="sng">
            <a:solidFill>
              <a:srgbClr val="000000"/>
            </a:solidFill>
            <a:prstDash val="solid"/>
            <a:round/>
            <a:headEnd type="none" w="med" len="med"/>
            <a:tailEnd type="none" w="med" len="med"/>
          </a:ln>
        </p:spPr>
      </p:sp>
      <p:grpSp>
        <p:nvGrpSpPr>
          <p:cNvPr id="111636" name="Group 20"/>
          <p:cNvGrpSpPr/>
          <p:nvPr/>
        </p:nvGrpSpPr>
        <p:grpSpPr>
          <a:xfrm>
            <a:off x="7467600" y="3657600"/>
            <a:ext cx="533400" cy="2286000"/>
            <a:chOff x="4704" y="2304"/>
            <a:chExt cx="336" cy="1440"/>
          </a:xfrm>
        </p:grpSpPr>
        <p:sp>
          <p:nvSpPr>
            <p:cNvPr id="111637" name="Oval 21"/>
            <p:cNvSpPr/>
            <p:nvPr/>
          </p:nvSpPr>
          <p:spPr>
            <a:xfrm>
              <a:off x="4704" y="3456"/>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1638" name="Oval 22"/>
            <p:cNvSpPr/>
            <p:nvPr/>
          </p:nvSpPr>
          <p:spPr>
            <a:xfrm>
              <a:off x="4704" y="316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1639" name="Oval 23"/>
            <p:cNvSpPr/>
            <p:nvPr/>
          </p:nvSpPr>
          <p:spPr>
            <a:xfrm>
              <a:off x="4704" y="2928"/>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1640" name="Oval 24"/>
            <p:cNvSpPr/>
            <p:nvPr/>
          </p:nvSpPr>
          <p:spPr>
            <a:xfrm>
              <a:off x="4704" y="2640"/>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1641" name="Oval 25"/>
            <p:cNvSpPr/>
            <p:nvPr/>
          </p:nvSpPr>
          <p:spPr>
            <a:xfrm>
              <a:off x="4704" y="2304"/>
              <a:ext cx="240" cy="24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IN" altLang="x-none" dirty="0">
                <a:latin typeface="Tahoma" panose="020B0604030504040204" pitchFamily="34" charset="0"/>
              </a:endParaRPr>
            </a:p>
          </p:txBody>
        </p:sp>
        <p:sp>
          <p:nvSpPr>
            <p:cNvPr id="111642" name="Text Box 26"/>
            <p:cNvSpPr txBox="1"/>
            <p:nvPr/>
          </p:nvSpPr>
          <p:spPr>
            <a:xfrm>
              <a:off x="4704" y="3456"/>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1</a:t>
              </a:r>
              <a:endParaRPr lang="en-US" dirty="0">
                <a:latin typeface="Tahoma" panose="020B0604030504040204" pitchFamily="34" charset="0"/>
              </a:endParaRPr>
            </a:p>
          </p:txBody>
        </p:sp>
        <p:sp>
          <p:nvSpPr>
            <p:cNvPr id="111643" name="Text Box 27"/>
            <p:cNvSpPr txBox="1"/>
            <p:nvPr/>
          </p:nvSpPr>
          <p:spPr>
            <a:xfrm>
              <a:off x="4704" y="3168"/>
              <a:ext cx="336"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2</a:t>
              </a:r>
              <a:endParaRPr lang="en-US" dirty="0">
                <a:latin typeface="Tahoma" panose="020B0604030504040204" pitchFamily="34" charset="0"/>
              </a:endParaRPr>
            </a:p>
          </p:txBody>
        </p:sp>
        <p:sp>
          <p:nvSpPr>
            <p:cNvPr id="111644" name="Text Box 28"/>
            <p:cNvSpPr txBox="1"/>
            <p:nvPr/>
          </p:nvSpPr>
          <p:spPr>
            <a:xfrm>
              <a:off x="4704" y="2928"/>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3</a:t>
              </a:r>
              <a:endParaRPr lang="en-US" dirty="0">
                <a:latin typeface="Tahoma" panose="020B0604030504040204" pitchFamily="34" charset="0"/>
              </a:endParaRPr>
            </a:p>
          </p:txBody>
        </p:sp>
        <p:sp>
          <p:nvSpPr>
            <p:cNvPr id="111645" name="Text Box 29"/>
            <p:cNvSpPr txBox="1"/>
            <p:nvPr/>
          </p:nvSpPr>
          <p:spPr>
            <a:xfrm>
              <a:off x="4704" y="2640"/>
              <a:ext cx="288"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4</a:t>
              </a:r>
              <a:endParaRPr lang="en-US" dirty="0">
                <a:latin typeface="Tahoma" panose="020B0604030504040204" pitchFamily="34" charset="0"/>
              </a:endParaRPr>
            </a:p>
          </p:txBody>
        </p:sp>
        <p:sp>
          <p:nvSpPr>
            <p:cNvPr id="111646" name="Text Box 30"/>
            <p:cNvSpPr txBox="1"/>
            <p:nvPr/>
          </p:nvSpPr>
          <p:spPr>
            <a:xfrm>
              <a:off x="4704" y="2304"/>
              <a:ext cx="192" cy="288"/>
            </a:xfrm>
            <a:prstGeom prst="rect">
              <a:avLst/>
            </a:prstGeom>
            <a:noFill/>
            <a:ln w="9525">
              <a:noFill/>
            </a:ln>
          </p:spPr>
          <p:txBody>
            <a:bodyPr anchor="t" anchorCtr="0">
              <a:spAutoFit/>
            </a:bodyPr>
            <a:p>
              <a:pPr eaLnBrk="0" hangingPunct="0">
                <a:spcBef>
                  <a:spcPct val="50000"/>
                </a:spcBef>
              </a:pPr>
              <a:r>
                <a:rPr lang="en-US" dirty="0">
                  <a:latin typeface="Tahoma" panose="020B0604030504040204" pitchFamily="34" charset="0"/>
                </a:rPr>
                <a:t>5</a:t>
              </a:r>
              <a:endParaRPr lang="en-US" dirty="0">
                <a:latin typeface="Tahoma" panose="020B0604030504040204" pitchFamily="34" charset="0"/>
              </a:endParaRPr>
            </a:p>
          </p:txBody>
        </p:sp>
      </p:grpSp>
      <p:graphicFrame>
        <p:nvGraphicFramePr>
          <p:cNvPr id="111647" name="Object 31"/>
          <p:cNvGraphicFramePr>
            <a:graphicFrameLocks noChangeAspect="1"/>
          </p:cNvGraphicFramePr>
          <p:nvPr/>
        </p:nvGraphicFramePr>
        <p:xfrm>
          <a:off x="304800" y="4114800"/>
          <a:ext cx="4189413" cy="520700"/>
        </p:xfrm>
        <a:graphic>
          <a:graphicData uri="http://schemas.openxmlformats.org/presentationml/2006/ole">
            <mc:AlternateContent xmlns:mc="http://schemas.openxmlformats.org/markup-compatibility/2006">
              <mc:Choice xmlns:v="urn:schemas-microsoft-com:vml" Requires="v">
                <p:oleObj spid="_x0000_s3129" name="" r:id="rId7" imgW="3160395" imgH="392430" progId="Equation.3">
                  <p:embed/>
                </p:oleObj>
              </mc:Choice>
              <mc:Fallback>
                <p:oleObj name="" r:id="rId7" imgW="3160395" imgH="392430" progId="Equation.3">
                  <p:embed/>
                  <p:pic>
                    <p:nvPicPr>
                      <p:cNvPr id="0" name="Picture 3128"/>
                      <p:cNvPicPr/>
                      <p:nvPr/>
                    </p:nvPicPr>
                    <p:blipFill>
                      <a:blip r:embed="rId8"/>
                      <a:stretch>
                        <a:fillRect/>
                      </a:stretch>
                    </p:blipFill>
                    <p:spPr>
                      <a:xfrm>
                        <a:off x="304800" y="4114800"/>
                        <a:ext cx="4189413" cy="520700"/>
                      </a:xfrm>
                      <a:prstGeom prst="rect">
                        <a:avLst/>
                      </a:prstGeom>
                      <a:noFill/>
                      <a:ln w="38100">
                        <a:noFill/>
                        <a:miter/>
                      </a:ln>
                    </p:spPr>
                  </p:pic>
                </p:oleObj>
              </mc:Fallback>
            </mc:AlternateContent>
          </a:graphicData>
        </a:graphic>
      </p:graphicFrame>
      <p:sp>
        <p:nvSpPr>
          <p:cNvPr id="36" name="Rectangle 2"/>
          <p:cNvSpPr>
            <a:spLocks noGrp="1" noChangeArrowheads="1"/>
          </p:cNvSpPr>
          <p:nvPr>
            <p:ph type="title"/>
          </p:nvPr>
        </p:nvSpPr>
        <p:spPr>
          <a:xfrm>
            <a:off x="228600" y="228600"/>
            <a:ext cx="7467600" cy="73183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Example: average link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noChangeArrowheads="1"/>
          </p:cNvSpPr>
          <p:nvPr>
            <p:ph type="title"/>
          </p:nvPr>
        </p:nvSpPr>
        <p:spPr>
          <a:xfrm>
            <a:off x="304800" y="152400"/>
            <a:ext cx="8839200" cy="6858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rPr>
              <a:t>More on Hierarchical Clustering Methods</a:t>
            </a:r>
            <a:endPar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endParaRPr>
          </a:p>
        </p:txBody>
      </p:sp>
      <p:sp>
        <p:nvSpPr>
          <p:cNvPr id="112642" name="Rectangle 3"/>
          <p:cNvSpPr>
            <a:spLocks noGrp="1"/>
          </p:cNvSpPr>
          <p:nvPr>
            <p:ph sz="quarter" idx="1"/>
          </p:nvPr>
        </p:nvSpPr>
        <p:spPr>
          <a:xfrm>
            <a:off x="457200" y="990600"/>
            <a:ext cx="7620000" cy="5029200"/>
          </a:xfrm>
          <a:ln/>
        </p:spPr>
        <p:txBody>
          <a:bodyPr vert="horz" wrap="square" lIns="92075" tIns="46038" rIns="92075" bIns="46038" anchor="t" anchorCtr="0"/>
          <a:p>
            <a:pPr eaLnBrk="1" hangingPunct="1">
              <a:buClr>
                <a:schemeClr val="accent1"/>
              </a:buClr>
              <a:buSzPct val="70000"/>
              <a:buFont typeface="Wingdings" panose="05000000000000000000" pitchFamily="2" charset="2"/>
            </a:pPr>
            <a:r>
              <a:rPr lang="en-US" altLang="zh-CN" dirty="0">
                <a:ea typeface="SimSun" panose="02010600030101010101" pitchFamily="2" charset="-122"/>
              </a:rPr>
              <a:t>Major weakness of agglomerative clustering methods</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do not scale</a:t>
            </a:r>
            <a:r>
              <a:rPr lang="en-US" altLang="zh-CN" dirty="0">
                <a:ea typeface="SimSun" panose="02010600030101010101" pitchFamily="2" charset="-122"/>
              </a:rPr>
              <a:t> well: time complexity of at least </a:t>
            </a:r>
            <a:r>
              <a:rPr lang="en-US" altLang="zh-CN" i="1" dirty="0">
                <a:ea typeface="SimSun" panose="02010600030101010101" pitchFamily="2" charset="-122"/>
              </a:rPr>
              <a:t>O</a:t>
            </a:r>
            <a:r>
              <a:rPr lang="en-US" altLang="zh-CN" dirty="0">
                <a:ea typeface="SimSun" panose="02010600030101010101" pitchFamily="2" charset="-122"/>
              </a:rPr>
              <a:t>(</a:t>
            </a:r>
            <a:r>
              <a:rPr lang="en-US" altLang="zh-CN" i="1" dirty="0">
                <a:ea typeface="SimSun" panose="02010600030101010101" pitchFamily="2" charset="-122"/>
              </a:rPr>
              <a:t>n</a:t>
            </a:r>
            <a:r>
              <a:rPr lang="en-US" altLang="zh-CN" i="1" baseline="30000" dirty="0">
                <a:ea typeface="SimSun" panose="02010600030101010101" pitchFamily="2" charset="-122"/>
              </a:rPr>
              <a:t>2</a:t>
            </a:r>
            <a:r>
              <a:rPr lang="en-US" altLang="zh-CN" dirty="0">
                <a:ea typeface="SimSun" panose="02010600030101010101" pitchFamily="2" charset="-122"/>
              </a:rPr>
              <a:t>), where </a:t>
            </a:r>
            <a:r>
              <a:rPr lang="en-US" altLang="zh-CN" i="1" dirty="0">
                <a:ea typeface="SimSun" panose="02010600030101010101" pitchFamily="2" charset="-122"/>
              </a:rPr>
              <a:t>n</a:t>
            </a:r>
            <a:r>
              <a:rPr lang="en-US" altLang="zh-CN" dirty="0">
                <a:ea typeface="SimSun" panose="02010600030101010101" pitchFamily="2" charset="-122"/>
              </a:rPr>
              <a:t> is the number of total objects</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can </a:t>
            </a:r>
            <a:r>
              <a:rPr lang="en-US" altLang="zh-CN" u="sng" dirty="0">
                <a:ea typeface="SimSun" panose="02010600030101010101" pitchFamily="2" charset="-122"/>
              </a:rPr>
              <a:t>never undo </a:t>
            </a:r>
            <a:r>
              <a:rPr lang="en-US" altLang="zh-CN" dirty="0">
                <a:ea typeface="SimSun" panose="02010600030101010101" pitchFamily="2" charset="-122"/>
              </a:rPr>
              <a:t>what was done previously</a:t>
            </a:r>
            <a:endParaRPr lang="en-US" altLang="zh-CN" dirty="0">
              <a:ea typeface="SimSun"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SimSun" panose="02010600030101010101" pitchFamily="2" charset="-122"/>
              </a:rPr>
              <a:t>Integration of hierarchical with distance-based clustering</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BIRCH (1996)</a:t>
            </a:r>
            <a:r>
              <a:rPr lang="en-US" altLang="zh-CN" dirty="0">
                <a:ea typeface="SimSun" panose="02010600030101010101" pitchFamily="2" charset="-122"/>
              </a:rPr>
              <a:t>: uses CF-tree and incrementally adjusts the quality of sub-clusters</a:t>
            </a:r>
            <a:endParaRPr lang="en-US" altLang="zh-CN" u="sng"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CURE (1998</a:t>
            </a:r>
            <a:r>
              <a:rPr lang="en-US" altLang="zh-CN" dirty="0">
                <a:ea typeface="SimSun" panose="02010600030101010101" pitchFamily="2" charset="-122"/>
              </a:rPr>
              <a:t>): selects well-scattered points from the cluster and then shrinks them towards the center of the cluster by a specified fraction</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CHAMELEON (1999)</a:t>
            </a:r>
            <a:r>
              <a:rPr lang="en-US" altLang="zh-CN" dirty="0">
                <a:ea typeface="SimSun" panose="02010600030101010101" pitchFamily="2" charset="-122"/>
              </a:rPr>
              <a:t>: hierarchical clustering using dynamic modeling</a:t>
            </a:r>
            <a:endParaRPr lang="en-US" altLang="zh-CN" dirty="0">
              <a:ea typeface="SimSun" panose="02010600030101010101" pitchFamily="2" charset="-122"/>
            </a:endParaRPr>
          </a:p>
        </p:txBody>
      </p:sp>
      <p:sp>
        <p:nvSpPr>
          <p:cNvPr id="11264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264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noChangeArrowheads="1"/>
          </p:cNvSpPr>
          <p:nvPr>
            <p:ph type="title"/>
          </p:nvPr>
        </p:nvSpPr>
        <p:spPr>
          <a:xfrm>
            <a:off x="228600" y="304800"/>
            <a:ext cx="7224713" cy="615950"/>
          </a:xfrm>
        </p:spPr>
        <p:txBody>
          <a:bodyPr vert="horz" wrap="square" lIns="91440" tIns="45720" rIns="91440" bIns="45720" numCol="1" anchor="b"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rPr>
              <a:t>BIRCH (1996)</a:t>
            </a:r>
            <a:endParaRPr kumimoji="0" lang="en-US" altLang="zh-CN" sz="18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endParaRPr>
          </a:p>
        </p:txBody>
      </p:sp>
      <p:sp>
        <p:nvSpPr>
          <p:cNvPr id="114690" name="Rectangle 3"/>
          <p:cNvSpPr>
            <a:spLocks noGrp="1"/>
          </p:cNvSpPr>
          <p:nvPr>
            <p:ph sz="quarter" idx="1"/>
          </p:nvPr>
        </p:nvSpPr>
        <p:spPr>
          <a:xfrm>
            <a:off x="381000" y="1295400"/>
            <a:ext cx="7924800" cy="5029200"/>
          </a:xfrm>
          <a:ln/>
        </p:spPr>
        <p:txBody>
          <a:bodyPr vert="horz" wrap="square" lIns="91440" tIns="45720" rIns="91440" bIns="45720" anchor="t" anchorCtr="0"/>
          <a:p>
            <a:pPr algn="just" eaLnBrk="1" hangingPunct="1">
              <a:lnSpc>
                <a:spcPct val="90000"/>
              </a:lnSpc>
              <a:spcBef>
                <a:spcPct val="50000"/>
              </a:spcBef>
              <a:buClr>
                <a:schemeClr val="accent1"/>
              </a:buClr>
              <a:buSzPct val="70000"/>
              <a:buFont typeface="Wingdings" panose="05000000000000000000" pitchFamily="2" charset="2"/>
            </a:pPr>
            <a:r>
              <a:rPr lang="en-US" altLang="zh-CN" sz="2200" dirty="0">
                <a:ea typeface="SimSun" panose="02010600030101010101" pitchFamily="2" charset="-122"/>
              </a:rPr>
              <a:t>Birch: Balanced Iterative Reducing and Clustering using Hierarchies,  by Zhang, Ramakrishnan, Livny (SIGMOD</a:t>
            </a:r>
            <a:r>
              <a:rPr lang="en-US" altLang="zh-CN" sz="2200" dirty="0">
                <a:latin typeface="Times New Roman" panose="02020603050405020304" pitchFamily="18" charset="0"/>
                <a:ea typeface="SimSun" panose="02010600030101010101" pitchFamily="2" charset="-122"/>
              </a:rPr>
              <a:t>’</a:t>
            </a:r>
            <a:r>
              <a:rPr lang="en-US" altLang="zh-CN" sz="2200" dirty="0">
                <a:ea typeface="SimSun" panose="02010600030101010101" pitchFamily="2" charset="-122"/>
              </a:rPr>
              <a:t>96)</a:t>
            </a:r>
            <a:endParaRPr lang="en-US" altLang="zh-CN" sz="2200" dirty="0">
              <a:ea typeface="SimSun" panose="02010600030101010101" pitchFamily="2" charset="-122"/>
            </a:endParaRPr>
          </a:p>
          <a:p>
            <a:pPr algn="just" eaLnBrk="1" hangingPunct="1">
              <a:lnSpc>
                <a:spcPct val="90000"/>
              </a:lnSpc>
              <a:spcBef>
                <a:spcPct val="50000"/>
              </a:spcBef>
              <a:buClr>
                <a:schemeClr val="accent1"/>
              </a:buClr>
              <a:buSzPct val="70000"/>
              <a:buFont typeface="Wingdings" panose="05000000000000000000" pitchFamily="2" charset="2"/>
            </a:pPr>
            <a:r>
              <a:rPr lang="en-US" altLang="zh-CN" sz="2200" dirty="0">
                <a:ea typeface="SimSun" panose="02010600030101010101" pitchFamily="2" charset="-122"/>
              </a:rPr>
              <a:t>Incrementally construct a CF (Clustering Feature) tree, a hierarchical data structure for multiphase clustering</a:t>
            </a:r>
            <a:endParaRPr lang="en-US" altLang="zh-CN" sz="2200" dirty="0">
              <a:ea typeface="SimSun" panose="02010600030101010101" pitchFamily="2" charset="-122"/>
            </a:endParaRPr>
          </a:p>
          <a:p>
            <a:pPr lvl="1" algn="just" eaLnBrk="1" hangingPunct="1">
              <a:lnSpc>
                <a:spcPct val="90000"/>
              </a:lnSpc>
              <a:spcBef>
                <a:spcPct val="50000"/>
              </a:spcBef>
              <a:buClr>
                <a:schemeClr val="accent1"/>
              </a:buClr>
              <a:buSzPct val="80000"/>
              <a:buFont typeface="Wingdings 2" panose="05020102010507070707" pitchFamily="18" charset="2"/>
            </a:pPr>
            <a:r>
              <a:rPr lang="en-US" altLang="zh-CN" sz="1900" dirty="0">
                <a:ea typeface="SimSun" panose="02010600030101010101" pitchFamily="2" charset="-122"/>
              </a:rPr>
              <a:t>Phase 1: scan DB to build an initial in-memory CF tree (a multi-level compression of the data that tries to preserve the inherent clustering structure of the data)  </a:t>
            </a:r>
            <a:endParaRPr lang="en-US" altLang="zh-CN" sz="1900" dirty="0">
              <a:ea typeface="SimSun" panose="02010600030101010101" pitchFamily="2" charset="-122"/>
            </a:endParaRPr>
          </a:p>
          <a:p>
            <a:pPr lvl="1" algn="just" eaLnBrk="1" hangingPunct="1">
              <a:lnSpc>
                <a:spcPct val="80000"/>
              </a:lnSpc>
              <a:spcBef>
                <a:spcPct val="50000"/>
              </a:spcBef>
              <a:buClr>
                <a:schemeClr val="accent1"/>
              </a:buClr>
              <a:buSzPct val="80000"/>
              <a:buFont typeface="Wingdings 2" panose="05020102010507070707" pitchFamily="18" charset="2"/>
            </a:pPr>
            <a:r>
              <a:rPr lang="en-US" altLang="zh-CN" sz="1900" dirty="0">
                <a:ea typeface="SimSun" panose="02010600030101010101" pitchFamily="2" charset="-122"/>
              </a:rPr>
              <a:t>Phase 2: use an arbitrary clustering algorithm to cluster the leaf nodes of the CF-tree </a:t>
            </a:r>
            <a:endParaRPr lang="en-US" altLang="zh-CN" sz="1900" i="1" dirty="0">
              <a:ea typeface="SimSun" panose="02010600030101010101" pitchFamily="2" charset="-122"/>
            </a:endParaRPr>
          </a:p>
          <a:p>
            <a:pPr algn="just" eaLnBrk="1" hangingPunct="1">
              <a:lnSpc>
                <a:spcPct val="90000"/>
              </a:lnSpc>
              <a:spcBef>
                <a:spcPct val="50000"/>
              </a:spcBef>
              <a:buClr>
                <a:schemeClr val="accent1"/>
              </a:buClr>
              <a:buSzPct val="70000"/>
              <a:buFont typeface="Wingdings" panose="05000000000000000000" pitchFamily="2" charset="2"/>
            </a:pPr>
            <a:r>
              <a:rPr lang="en-US" altLang="zh-CN" sz="2200" i="1" dirty="0">
                <a:ea typeface="SimSun" panose="02010600030101010101" pitchFamily="2" charset="-122"/>
              </a:rPr>
              <a:t>Scales linearly</a:t>
            </a:r>
            <a:r>
              <a:rPr lang="en-US" altLang="zh-CN" sz="2200" dirty="0">
                <a:ea typeface="SimSun" panose="02010600030101010101" pitchFamily="2" charset="-122"/>
              </a:rPr>
              <a:t>: finds a good clustering with a single scan and improves the quality with a few additional scans</a:t>
            </a:r>
            <a:endParaRPr lang="en-US" altLang="zh-CN" sz="2200" dirty="0">
              <a:ea typeface="SimSun" panose="02010600030101010101" pitchFamily="2" charset="-122"/>
            </a:endParaRPr>
          </a:p>
          <a:p>
            <a:pPr algn="just" eaLnBrk="1" hangingPunct="1">
              <a:lnSpc>
                <a:spcPct val="90000"/>
              </a:lnSpc>
              <a:spcBef>
                <a:spcPct val="50000"/>
              </a:spcBef>
              <a:buClr>
                <a:schemeClr val="accent1"/>
              </a:buClr>
              <a:buSzPct val="70000"/>
              <a:buFont typeface="Wingdings" panose="05000000000000000000" pitchFamily="2" charset="2"/>
            </a:pPr>
            <a:r>
              <a:rPr lang="en-US" altLang="zh-CN" sz="2200" i="1" dirty="0">
                <a:ea typeface="SimSun" panose="02010600030101010101" pitchFamily="2" charset="-122"/>
              </a:rPr>
              <a:t>Weakness:</a:t>
            </a:r>
            <a:r>
              <a:rPr lang="en-US" altLang="zh-CN" sz="2200" dirty="0">
                <a:ea typeface="SimSun" panose="02010600030101010101" pitchFamily="2" charset="-122"/>
              </a:rPr>
              <a:t> handles only numeric data, and sensitive to the order of the data record.</a:t>
            </a:r>
            <a:endParaRPr lang="en-US" altLang="zh-CN" sz="2200" dirty="0">
              <a:ea typeface="SimSun" panose="02010600030101010101" pitchFamily="2" charset="-122"/>
            </a:endParaRPr>
          </a:p>
        </p:txBody>
      </p:sp>
      <p:sp>
        <p:nvSpPr>
          <p:cNvPr id="11469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469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Date Placeholder 1"/>
          <p:cNvSpPr>
            <a:spLocks noGrp="1"/>
          </p:cNvSpPr>
          <p:nvPr>
            <p:ph type="dt" sz="half" idx="10"/>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ea typeface="SimSun" panose="02010600030101010101" pitchFamily="2" charset="-122"/>
              </a:rPr>
            </a:fld>
            <a:endParaRPr lang="en-US" altLang="zh-CN" sz="1200" dirty="0">
              <a:solidFill>
                <a:schemeClr val="tx2"/>
              </a:solidFill>
              <a:ea typeface="SimSun" panose="02010600030101010101" pitchFamily="2" charset="-122"/>
            </a:endParaRPr>
          </a:p>
        </p:txBody>
      </p:sp>
      <p:sp>
        <p:nvSpPr>
          <p:cNvPr id="115714" name="Slide Number Placeholder 3"/>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ea typeface="SimSun" panose="02010600030101010101" pitchFamily="2" charset="-122"/>
              </a:rPr>
            </a:fld>
            <a:endParaRPr lang="en-US" altLang="zh-CN" sz="1400" b="1" dirty="0">
              <a:solidFill>
                <a:srgbClr val="FFFFFF"/>
              </a:solidFill>
              <a:ea typeface="SimSun" panose="02010600030101010101" pitchFamily="2" charset="-122"/>
            </a:endParaRPr>
          </a:p>
        </p:txBody>
      </p:sp>
      <p:sp>
        <p:nvSpPr>
          <p:cNvPr id="15366" name="Rectangle 2"/>
          <p:cNvSpPr>
            <a:spLocks noChangeArrowheads="1"/>
          </p:cNvSpPr>
          <p:nvPr/>
        </p:nvSpPr>
        <p:spPr bwMode="auto">
          <a:xfrm>
            <a:off x="304800" y="304800"/>
            <a:ext cx="7239000" cy="685800"/>
          </a:xfrm>
          <a:prstGeom prst="rect">
            <a:avLst/>
          </a:prstGeom>
          <a:noFill/>
          <a:ln w="9525">
            <a:noFill/>
            <a:miter lim="800000"/>
          </a:ln>
        </p:spPr>
        <p:txBody>
          <a:bodyPr lIns="92075" tIns="46038" rIns="92075" bIns="46038" anchor="ctr"/>
          <a:p>
            <a:pPr fontAlgn="base"/>
            <a:r>
              <a:rPr lang="en-US" altLang="zh-CN" sz="3200" b="1" strike="noStrike" noProof="1" dirty="0">
                <a:solidFill>
                  <a:srgbClr val="D519FF"/>
                </a:solidFill>
                <a:effectLst>
                  <a:outerShdw blurRad="38100" dist="38100" dir="2700000">
                    <a:srgbClr val="C0C0C0"/>
                  </a:outerShdw>
                </a:effectLst>
                <a:latin typeface="Century Schoolbook" panose="02040604050505020304" pitchFamily="18" charset="0"/>
                <a:ea typeface="SimSun" panose="02010600030101010101" pitchFamily="2" charset="-122"/>
                <a:cs typeface="+mn-cs"/>
              </a:rPr>
              <a:t>Clustering Feature Vector</a:t>
            </a:r>
            <a:endParaRPr lang="en-US" altLang="zh-CN" sz="2000" b="1" strike="noStrike" noProof="1" dirty="0">
              <a:solidFill>
                <a:srgbClr val="D519FF"/>
              </a:solidFill>
              <a:effectLst>
                <a:outerShdw blurRad="38100" dist="38100" dir="2700000">
                  <a:srgbClr val="C0C0C0"/>
                </a:outerShdw>
              </a:effectLst>
              <a:latin typeface="Century Schoolbook" panose="02040604050505020304" pitchFamily="18" charset="0"/>
              <a:ea typeface="SimSun" panose="02010600030101010101" pitchFamily="2" charset="-122"/>
            </a:endParaRPr>
          </a:p>
        </p:txBody>
      </p:sp>
      <p:grpSp>
        <p:nvGrpSpPr>
          <p:cNvPr id="115716" name="Group 3"/>
          <p:cNvGrpSpPr/>
          <p:nvPr/>
        </p:nvGrpSpPr>
        <p:grpSpPr>
          <a:xfrm>
            <a:off x="381000" y="1295400"/>
            <a:ext cx="5791200" cy="2124075"/>
            <a:chOff x="672" y="1566"/>
            <a:chExt cx="3648" cy="1338"/>
          </a:xfrm>
        </p:grpSpPr>
        <p:sp>
          <p:nvSpPr>
            <p:cNvPr id="115717" name="Text Box 4"/>
            <p:cNvSpPr txBox="1"/>
            <p:nvPr/>
          </p:nvSpPr>
          <p:spPr>
            <a:xfrm>
              <a:off x="672" y="1566"/>
              <a:ext cx="3648" cy="1338"/>
            </a:xfrm>
            <a:prstGeom prst="rect">
              <a:avLst/>
            </a:prstGeom>
            <a:noFill/>
            <a:ln w="9525">
              <a:noFill/>
            </a:ln>
          </p:spPr>
          <p:txBody>
            <a:bodyPr anchor="t" anchorCtr="0">
              <a:spAutoFit/>
            </a:bodyPr>
            <a:p>
              <a:pPr eaLnBrk="0" hangingPunct="0">
                <a:spcBef>
                  <a:spcPct val="50000"/>
                </a:spcBef>
              </a:pPr>
              <a:r>
                <a:rPr lang="en-US" altLang="zh-CN" b="1" dirty="0">
                  <a:latin typeface="Times New Roman" panose="02020603050405020304" pitchFamily="18" charset="0"/>
                  <a:ea typeface="SimSun" panose="02010600030101010101" pitchFamily="2" charset="-122"/>
                </a:rPr>
                <a:t>Clustering Feature:</a:t>
              </a:r>
              <a:r>
                <a:rPr lang="en-US" altLang="zh-CN" dirty="0">
                  <a:latin typeface="Times New Roman" panose="02020603050405020304" pitchFamily="18" charset="0"/>
                  <a:ea typeface="SimSun" panose="02010600030101010101" pitchFamily="2" charset="-122"/>
                </a:rPr>
                <a:t>  </a:t>
              </a:r>
              <a:r>
                <a:rPr lang="en-US" altLang="zh-CN" b="1" i="1" dirty="0">
                  <a:latin typeface="Times New Roman" panose="02020603050405020304" pitchFamily="18" charset="0"/>
                  <a:ea typeface="SimSun" panose="02010600030101010101" pitchFamily="2" charset="-122"/>
                </a:rPr>
                <a:t>CF = (N, LS, SS)</a:t>
              </a:r>
              <a:endParaRPr lang="en-US" altLang="zh-CN" dirty="0">
                <a:latin typeface="Times New Roman" panose="02020603050405020304" pitchFamily="18" charset="0"/>
                <a:ea typeface="SimSun" panose="02010600030101010101" pitchFamily="2" charset="-122"/>
              </a:endParaRPr>
            </a:p>
            <a:p>
              <a:pPr eaLnBrk="0" hangingPunct="0">
                <a:spcBef>
                  <a:spcPct val="50000"/>
                </a:spcBef>
              </a:pPr>
              <a:r>
                <a:rPr lang="en-US" altLang="zh-CN" i="1" dirty="0">
                  <a:latin typeface="Times New Roman" panose="02020603050405020304" pitchFamily="18" charset="0"/>
                  <a:ea typeface="SimSun" panose="02010600030101010101" pitchFamily="2" charset="-122"/>
                </a:rPr>
                <a:t>N</a:t>
              </a:r>
              <a:r>
                <a:rPr lang="en-US" altLang="zh-CN" dirty="0">
                  <a:latin typeface="Times New Roman" panose="02020603050405020304" pitchFamily="18" charset="0"/>
                  <a:ea typeface="SimSun" panose="02010600030101010101" pitchFamily="2" charset="-122"/>
                </a:rPr>
                <a:t>: </a:t>
              </a:r>
              <a:r>
                <a:rPr lang="en-US" altLang="zh-CN" b="1" dirty="0">
                  <a:latin typeface="Times New Roman" panose="02020603050405020304" pitchFamily="18" charset="0"/>
                  <a:ea typeface="SimSun" panose="02010600030101010101" pitchFamily="2" charset="-122"/>
                </a:rPr>
                <a:t>Number of data points</a:t>
              </a:r>
              <a:endParaRPr lang="en-US" altLang="zh-CN" b="1" dirty="0">
                <a:latin typeface="Times New Roman" panose="02020603050405020304" pitchFamily="18" charset="0"/>
                <a:ea typeface="SimSun" panose="02010600030101010101" pitchFamily="2" charset="-122"/>
              </a:endParaRPr>
            </a:p>
            <a:p>
              <a:pPr eaLnBrk="0" hangingPunct="0">
                <a:spcBef>
                  <a:spcPct val="50000"/>
                </a:spcBef>
              </a:pPr>
              <a:r>
                <a:rPr lang="en-US" altLang="zh-CN" i="1" dirty="0">
                  <a:latin typeface="Times New Roman" panose="02020603050405020304" pitchFamily="18" charset="0"/>
                  <a:ea typeface="SimSun" panose="02010600030101010101" pitchFamily="2" charset="-122"/>
                </a:rPr>
                <a:t>LS: </a:t>
              </a:r>
              <a:r>
                <a:rPr lang="en-US" altLang="zh-CN" i="1" dirty="0">
                  <a:latin typeface="Times New Roman" panose="02020603050405020304" pitchFamily="18" charset="0"/>
                  <a:ea typeface="SimSun" panose="02010600030101010101" pitchFamily="2" charset="-122"/>
                  <a:sym typeface="Symbol" panose="05050102010706020507" pitchFamily="18" charset="2"/>
                </a:rPr>
                <a:t></a:t>
              </a:r>
              <a:r>
                <a:rPr lang="en-US" altLang="zh-CN" i="1" baseline="30000" dirty="0">
                  <a:latin typeface="Times New Roman" panose="02020603050405020304" pitchFamily="18" charset="0"/>
                  <a:ea typeface="SimSun" panose="02010600030101010101" pitchFamily="2" charset="-122"/>
                  <a:sym typeface="Symbol" panose="05050102010706020507" pitchFamily="18" charset="2"/>
                </a:rPr>
                <a:t>N</a:t>
              </a:r>
              <a:r>
                <a:rPr lang="en-US" altLang="zh-CN" i="1" baseline="-25000" dirty="0">
                  <a:latin typeface="Times New Roman" panose="02020603050405020304" pitchFamily="18" charset="0"/>
                  <a:ea typeface="SimSun" panose="02010600030101010101" pitchFamily="2" charset="-122"/>
                  <a:sym typeface="Symbol" panose="05050102010706020507" pitchFamily="18" charset="2"/>
                </a:rPr>
                <a:t>i=1</a:t>
              </a:r>
              <a:r>
                <a:rPr lang="en-US" altLang="zh-CN" i="1" dirty="0">
                  <a:latin typeface="Times New Roman" panose="02020603050405020304" pitchFamily="18" charset="0"/>
                  <a:ea typeface="SimSun" panose="02010600030101010101" pitchFamily="2" charset="-122"/>
                  <a:sym typeface="Symbol" panose="05050102010706020507" pitchFamily="18" charset="2"/>
                </a:rPr>
                <a:t>=X</a:t>
              </a:r>
              <a:r>
                <a:rPr lang="en-US" altLang="zh-CN" i="1" baseline="-25000" dirty="0">
                  <a:latin typeface="Times New Roman" panose="02020603050405020304" pitchFamily="18" charset="0"/>
                  <a:ea typeface="SimSun" panose="02010600030101010101" pitchFamily="2" charset="-122"/>
                  <a:sym typeface="Symbol" panose="05050102010706020507" pitchFamily="18" charset="2"/>
                </a:rPr>
                <a:t>i</a:t>
              </a:r>
              <a:endParaRPr lang="en-US" altLang="zh-CN" i="1" baseline="-25000" dirty="0">
                <a:latin typeface="Times New Roman" panose="02020603050405020304" pitchFamily="18" charset="0"/>
                <a:ea typeface="SimSun" panose="02010600030101010101" pitchFamily="2" charset="-122"/>
                <a:sym typeface="Symbol" panose="05050102010706020507" pitchFamily="18" charset="2"/>
              </a:endParaRPr>
            </a:p>
            <a:p>
              <a:pPr eaLnBrk="0" hangingPunct="0">
                <a:spcBef>
                  <a:spcPct val="50000"/>
                </a:spcBef>
              </a:pPr>
              <a:r>
                <a:rPr lang="en-US" altLang="zh-CN" i="1" dirty="0">
                  <a:latin typeface="Times New Roman" panose="02020603050405020304" pitchFamily="18" charset="0"/>
                  <a:ea typeface="SimSun" panose="02010600030101010101" pitchFamily="2" charset="-122"/>
                </a:rPr>
                <a:t>SS: </a:t>
              </a:r>
              <a:r>
                <a:rPr lang="en-US" altLang="zh-CN" i="1" dirty="0">
                  <a:latin typeface="Times New Roman" panose="02020603050405020304" pitchFamily="18" charset="0"/>
                  <a:ea typeface="SimSun" panose="02010600030101010101" pitchFamily="2" charset="-122"/>
                  <a:sym typeface="Symbol" panose="05050102010706020507" pitchFamily="18" charset="2"/>
                </a:rPr>
                <a:t></a:t>
              </a:r>
              <a:r>
                <a:rPr lang="en-US" altLang="zh-CN" i="1" baseline="30000" dirty="0">
                  <a:latin typeface="Times New Roman" panose="02020603050405020304" pitchFamily="18" charset="0"/>
                  <a:ea typeface="SimSun" panose="02010600030101010101" pitchFamily="2" charset="-122"/>
                  <a:sym typeface="Symbol" panose="05050102010706020507" pitchFamily="18" charset="2"/>
                </a:rPr>
                <a:t>N</a:t>
              </a:r>
              <a:r>
                <a:rPr lang="en-US" altLang="zh-CN" i="1" baseline="-25000" dirty="0">
                  <a:latin typeface="Times New Roman" panose="02020603050405020304" pitchFamily="18" charset="0"/>
                  <a:ea typeface="SimSun" panose="02010600030101010101" pitchFamily="2" charset="-122"/>
                  <a:sym typeface="Symbol" panose="05050102010706020507" pitchFamily="18" charset="2"/>
                </a:rPr>
                <a:t>i=1</a:t>
              </a:r>
              <a:r>
                <a:rPr lang="en-US" altLang="zh-CN" i="1" dirty="0">
                  <a:latin typeface="Times New Roman" panose="02020603050405020304" pitchFamily="18" charset="0"/>
                  <a:ea typeface="SimSun" panose="02010600030101010101" pitchFamily="2" charset="-122"/>
                  <a:sym typeface="Symbol" panose="05050102010706020507" pitchFamily="18" charset="2"/>
                </a:rPr>
                <a:t>=X</a:t>
              </a:r>
              <a:r>
                <a:rPr lang="en-US" altLang="zh-CN" i="1" baseline="-25000" dirty="0">
                  <a:latin typeface="Times New Roman" panose="02020603050405020304" pitchFamily="18" charset="0"/>
                  <a:ea typeface="SimSun" panose="02010600030101010101" pitchFamily="2" charset="-122"/>
                  <a:sym typeface="Symbol" panose="05050102010706020507" pitchFamily="18" charset="2"/>
                </a:rPr>
                <a:t>i</a:t>
              </a:r>
              <a:r>
                <a:rPr lang="en-US" altLang="zh-CN" i="1" baseline="30000" dirty="0">
                  <a:latin typeface="Times New Roman" panose="02020603050405020304" pitchFamily="18" charset="0"/>
                  <a:ea typeface="SimSun" panose="02010600030101010101" pitchFamily="2" charset="-122"/>
                  <a:sym typeface="Symbol" panose="05050102010706020507" pitchFamily="18" charset="2"/>
                </a:rPr>
                <a:t>2</a:t>
              </a:r>
              <a:endParaRPr lang="en-US" altLang="zh-CN" b="1" i="1" baseline="-25000" dirty="0">
                <a:latin typeface="Times New Roman" panose="02020603050405020304" pitchFamily="18" charset="0"/>
                <a:ea typeface="SimSun" panose="02010600030101010101" pitchFamily="2" charset="-122"/>
                <a:sym typeface="Symbol" panose="05050102010706020507" pitchFamily="18" charset="2"/>
              </a:endParaRPr>
            </a:p>
          </p:txBody>
        </p:sp>
        <p:sp>
          <p:nvSpPr>
            <p:cNvPr id="115718" name="Line 5"/>
            <p:cNvSpPr/>
            <p:nvPr/>
          </p:nvSpPr>
          <p:spPr>
            <a:xfrm>
              <a:off x="1584" y="2640"/>
              <a:ext cx="192" cy="0"/>
            </a:xfrm>
            <a:prstGeom prst="line">
              <a:avLst/>
            </a:prstGeom>
            <a:ln w="9525" cap="flat" cmpd="sng">
              <a:solidFill>
                <a:schemeClr val="tx1"/>
              </a:solidFill>
              <a:prstDash val="solid"/>
              <a:round/>
              <a:headEnd type="none" w="med" len="med"/>
              <a:tailEnd type="triangle" w="med" len="med"/>
            </a:ln>
          </p:spPr>
        </p:sp>
        <p:sp>
          <p:nvSpPr>
            <p:cNvPr id="115719" name="Line 6"/>
            <p:cNvSpPr/>
            <p:nvPr/>
          </p:nvSpPr>
          <p:spPr>
            <a:xfrm>
              <a:off x="3120" y="1584"/>
              <a:ext cx="192" cy="0"/>
            </a:xfrm>
            <a:prstGeom prst="line">
              <a:avLst/>
            </a:prstGeom>
            <a:ln w="9525" cap="flat" cmpd="sng">
              <a:solidFill>
                <a:schemeClr val="tx1"/>
              </a:solidFill>
              <a:prstDash val="solid"/>
              <a:round/>
              <a:headEnd type="none" w="med" len="med"/>
              <a:tailEnd type="triangle" w="med" len="med"/>
            </a:ln>
          </p:spPr>
        </p:sp>
        <p:sp>
          <p:nvSpPr>
            <p:cNvPr id="115720" name="Line 7"/>
            <p:cNvSpPr/>
            <p:nvPr/>
          </p:nvSpPr>
          <p:spPr>
            <a:xfrm>
              <a:off x="1584" y="2304"/>
              <a:ext cx="192" cy="0"/>
            </a:xfrm>
            <a:prstGeom prst="line">
              <a:avLst/>
            </a:prstGeom>
            <a:ln w="9525" cap="flat" cmpd="sng">
              <a:solidFill>
                <a:schemeClr val="tx1"/>
              </a:solidFill>
              <a:prstDash val="solid"/>
              <a:round/>
              <a:headEnd type="none" w="med" len="med"/>
              <a:tailEnd type="triangle" w="med" len="med"/>
            </a:ln>
          </p:spPr>
        </p:sp>
      </p:grpSp>
      <p:graphicFrame>
        <p:nvGraphicFramePr>
          <p:cNvPr id="115721" name="Object 8"/>
          <p:cNvGraphicFramePr/>
          <p:nvPr/>
        </p:nvGraphicFramePr>
        <p:xfrm>
          <a:off x="3352800" y="4078288"/>
          <a:ext cx="2209800" cy="2017712"/>
        </p:xfrm>
        <a:graphic>
          <a:graphicData uri="http://schemas.openxmlformats.org/presentationml/2006/ole">
            <mc:AlternateContent xmlns:mc="http://schemas.openxmlformats.org/markup-compatibility/2006">
              <mc:Choice xmlns:v="urn:schemas-microsoft-com:vml" Requires="v">
                <p:oleObj spid="_x0000_s3130" name="" r:id="rId1" imgW="2618740" imgH="2472055" progId="Excel.Sheet.8">
                  <p:embed/>
                </p:oleObj>
              </mc:Choice>
              <mc:Fallback>
                <p:oleObj name="" r:id="rId1" imgW="2618740" imgH="2472055" progId="Excel.Sheet.8">
                  <p:embed/>
                  <p:pic>
                    <p:nvPicPr>
                      <p:cNvPr id="0" name="Picture 3129"/>
                      <p:cNvPicPr/>
                      <p:nvPr/>
                    </p:nvPicPr>
                    <p:blipFill>
                      <a:blip r:embed="rId2"/>
                      <a:stretch>
                        <a:fillRect/>
                      </a:stretch>
                    </p:blipFill>
                    <p:spPr>
                      <a:xfrm>
                        <a:off x="3352800" y="4078288"/>
                        <a:ext cx="2209800" cy="2017712"/>
                      </a:xfrm>
                      <a:prstGeom prst="rect">
                        <a:avLst/>
                      </a:prstGeom>
                      <a:noFill/>
                      <a:ln w="38100">
                        <a:noFill/>
                        <a:miter/>
                      </a:ln>
                    </p:spPr>
                  </p:pic>
                </p:oleObj>
              </mc:Fallback>
            </mc:AlternateContent>
          </a:graphicData>
        </a:graphic>
      </p:graphicFrame>
      <p:sp>
        <p:nvSpPr>
          <p:cNvPr id="115722" name="Oval 9"/>
          <p:cNvSpPr/>
          <p:nvPr/>
        </p:nvSpPr>
        <p:spPr>
          <a:xfrm>
            <a:off x="3886200" y="4383088"/>
            <a:ext cx="609600" cy="990600"/>
          </a:xfrm>
          <a:prstGeom prst="ellipse">
            <a:avLst/>
          </a:prstGeom>
          <a:noFill/>
          <a:ln w="28575" cap="flat" cmpd="sng">
            <a:solidFill>
              <a:schemeClr val="tx1"/>
            </a:solidFill>
            <a:prstDash val="lgDash"/>
            <a:round/>
            <a:headEnd type="none" w="med" len="med"/>
            <a:tailEnd type="none" w="med" len="med"/>
          </a:ln>
        </p:spPr>
        <p:txBody>
          <a:bodyPr anchor="ctr" anchorCtr="0">
            <a:spAutoFit/>
          </a:bodyPr>
          <a:p>
            <a:endParaRPr lang="en-US" dirty="0">
              <a:latin typeface="Tahoma" panose="020B0604030504040204" pitchFamily="34" charset="0"/>
            </a:endParaRPr>
          </a:p>
        </p:txBody>
      </p:sp>
      <p:sp>
        <p:nvSpPr>
          <p:cNvPr id="115723" name="Oval 10"/>
          <p:cNvSpPr/>
          <p:nvPr/>
        </p:nvSpPr>
        <p:spPr>
          <a:xfrm>
            <a:off x="4495800" y="4916488"/>
            <a:ext cx="762000" cy="762000"/>
          </a:xfrm>
          <a:prstGeom prst="ellipse">
            <a:avLst/>
          </a:prstGeom>
          <a:noFill/>
          <a:ln w="28575" cap="flat" cmpd="sng">
            <a:solidFill>
              <a:schemeClr val="tx1"/>
            </a:solidFill>
            <a:prstDash val="lgDash"/>
            <a:round/>
            <a:headEnd type="none" w="med" len="med"/>
            <a:tailEnd type="none" w="med" len="med"/>
          </a:ln>
        </p:spPr>
        <p:txBody>
          <a:bodyPr anchor="ctr" anchorCtr="0">
            <a:spAutoFit/>
          </a:bodyPr>
          <a:p>
            <a:endParaRPr lang="en-US" dirty="0">
              <a:latin typeface="Tahoma" panose="020B0604030504040204" pitchFamily="34" charset="0"/>
            </a:endParaRPr>
          </a:p>
        </p:txBody>
      </p:sp>
      <p:sp>
        <p:nvSpPr>
          <p:cNvPr id="115724" name="AutoShape 11"/>
          <p:cNvSpPr/>
          <p:nvPr/>
        </p:nvSpPr>
        <p:spPr>
          <a:xfrm>
            <a:off x="5562600" y="3367088"/>
            <a:ext cx="3429000" cy="485775"/>
          </a:xfrm>
          <a:prstGeom prst="borderCallout2">
            <a:avLst>
              <a:gd name="adj1" fmla="val 23528"/>
              <a:gd name="adj2" fmla="val -2222"/>
              <a:gd name="adj3" fmla="val 23528"/>
              <a:gd name="adj4" fmla="val -20417"/>
              <a:gd name="adj5" fmla="val 212417"/>
              <a:gd name="adj6" fmla="val -39306"/>
            </a:avLst>
          </a:prstGeom>
          <a:noFill/>
          <a:ln w="28575" cap="flat" cmpd="sng">
            <a:solidFill>
              <a:schemeClr val="tx1"/>
            </a:solidFill>
            <a:prstDash val="solid"/>
            <a:miter/>
            <a:headEnd type="none" w="med" len="med"/>
            <a:tailEnd type="triangle" w="med" len="med"/>
          </a:ln>
        </p:spPr>
        <p:txBody>
          <a:bodyPr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 = (5, (16,30),(54,190))</a:t>
            </a:r>
            <a:endParaRPr lang="en-US" altLang="zh-CN" dirty="0">
              <a:latin typeface="Times New Roman" panose="02020603050405020304" pitchFamily="18" charset="0"/>
              <a:ea typeface="SimSun" panose="02010600030101010101" pitchFamily="2" charset="-122"/>
            </a:endParaRPr>
          </a:p>
        </p:txBody>
      </p:sp>
      <p:sp>
        <p:nvSpPr>
          <p:cNvPr id="115725" name="Text Box 12"/>
          <p:cNvSpPr txBox="1"/>
          <p:nvPr/>
        </p:nvSpPr>
        <p:spPr>
          <a:xfrm>
            <a:off x="6477000" y="4178300"/>
            <a:ext cx="990600" cy="1917700"/>
          </a:xfrm>
          <a:prstGeom prst="rect">
            <a:avLst/>
          </a:prstGeom>
          <a:noFill/>
          <a:ln w="9525">
            <a:noFill/>
          </a:ln>
        </p:spPr>
        <p:txBody>
          <a:bodyPr anchor="t" anchorCtr="0">
            <a:spAutoFit/>
          </a:bodyPr>
          <a:p>
            <a:pPr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(3,4)</a:t>
            </a:r>
            <a:endParaRPr lang="zh-CN" altLang="en-US" dirty="0">
              <a:latin typeface="Times New Roman" panose="02020603050405020304" pitchFamily="18" charset="0"/>
              <a:ea typeface="SimSun" panose="02010600030101010101" pitchFamily="2" charset="-122"/>
            </a:endParaRPr>
          </a:p>
          <a:p>
            <a:pPr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(2,6)</a:t>
            </a:r>
            <a:endParaRPr lang="zh-CN" altLang="en-US" dirty="0">
              <a:latin typeface="Times New Roman" panose="02020603050405020304" pitchFamily="18" charset="0"/>
              <a:ea typeface="SimSun" panose="02010600030101010101" pitchFamily="2" charset="-122"/>
            </a:endParaRPr>
          </a:p>
          <a:p>
            <a:pPr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(4,5)</a:t>
            </a:r>
            <a:endParaRPr lang="zh-CN" altLang="en-US" dirty="0">
              <a:latin typeface="Times New Roman" panose="02020603050405020304" pitchFamily="18" charset="0"/>
              <a:ea typeface="SimSun" panose="02010600030101010101" pitchFamily="2" charset="-122"/>
            </a:endParaRPr>
          </a:p>
          <a:p>
            <a:pPr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(4,7)</a:t>
            </a:r>
            <a:endParaRPr lang="zh-CN" altLang="en-US" dirty="0">
              <a:latin typeface="Times New Roman" panose="02020603050405020304" pitchFamily="18" charset="0"/>
              <a:ea typeface="SimSun" panose="02010600030101010101" pitchFamily="2" charset="-122"/>
            </a:endParaRPr>
          </a:p>
          <a:p>
            <a:pPr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(3,8)</a:t>
            </a:r>
            <a:endParaRPr lang="zh-CN" altLang="en-US" dirty="0">
              <a:latin typeface="Times New Roman" panose="02020603050405020304" pitchFamily="18" charset="0"/>
              <a:ea typeface="SimSun" panose="02010600030101010101" pitchFamily="2" charset="-122"/>
            </a:endParaRPr>
          </a:p>
        </p:txBody>
      </p:sp>
    </p:spTree>
  </p:cSld>
  <p:clrMapOvr>
    <a:masterClrMapping/>
  </p:clrMapOvr>
  <p:transition>
    <p:strips dir="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noChangeArrowheads="1"/>
          </p:cNvSpPr>
          <p:nvPr>
            <p:ph type="title"/>
          </p:nvPr>
        </p:nvSpPr>
        <p:spPr>
          <a:xfrm>
            <a:off x="457200" y="533400"/>
            <a:ext cx="2266950" cy="387350"/>
          </a:xfrm>
        </p:spPr>
        <p:txBody>
          <a:bodyPr vert="horz" wrap="square" lIns="91440" tIns="45720" rIns="91440" bIns="45720" numCol="1" anchor="b"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29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rPr>
              <a:t>CF TREE</a:t>
            </a:r>
            <a:endParaRPr kumimoji="0" lang="en-US" altLang="zh-CN" sz="36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endParaRPr>
          </a:p>
        </p:txBody>
      </p:sp>
      <p:sp>
        <p:nvSpPr>
          <p:cNvPr id="116738"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6739"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pSp>
        <p:nvGrpSpPr>
          <p:cNvPr id="116740" name="Group 3"/>
          <p:cNvGrpSpPr/>
          <p:nvPr/>
        </p:nvGrpSpPr>
        <p:grpSpPr>
          <a:xfrm>
            <a:off x="1828800" y="1295400"/>
            <a:ext cx="4953000" cy="914400"/>
            <a:chOff x="1152" y="816"/>
            <a:chExt cx="3120" cy="576"/>
          </a:xfrm>
        </p:grpSpPr>
        <p:sp>
          <p:nvSpPr>
            <p:cNvPr id="116741" name="Line 4"/>
            <p:cNvSpPr/>
            <p:nvPr/>
          </p:nvSpPr>
          <p:spPr>
            <a:xfrm>
              <a:off x="2187" y="816"/>
              <a:ext cx="0" cy="576"/>
            </a:xfrm>
            <a:prstGeom prst="line">
              <a:avLst/>
            </a:prstGeom>
            <a:ln w="12700" cap="flat" cmpd="sng">
              <a:solidFill>
                <a:schemeClr val="tx1"/>
              </a:solidFill>
              <a:prstDash val="solid"/>
              <a:round/>
              <a:headEnd type="none" w="sm" len="sm"/>
              <a:tailEnd type="none" w="sm" len="sm"/>
            </a:ln>
          </p:spPr>
        </p:sp>
        <p:sp>
          <p:nvSpPr>
            <p:cNvPr id="116742" name="Rectangle 5"/>
            <p:cNvSpPr/>
            <p:nvPr/>
          </p:nvSpPr>
          <p:spPr>
            <a:xfrm>
              <a:off x="1156" y="820"/>
              <a:ext cx="3016" cy="568"/>
            </a:xfrm>
            <a:prstGeom prst="rect">
              <a:avLst/>
            </a:prstGeom>
            <a:noFill/>
            <a:ln w="12700"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16743" name="Line 6"/>
            <p:cNvSpPr/>
            <p:nvPr/>
          </p:nvSpPr>
          <p:spPr>
            <a:xfrm>
              <a:off x="1670" y="816"/>
              <a:ext cx="0" cy="576"/>
            </a:xfrm>
            <a:prstGeom prst="line">
              <a:avLst/>
            </a:prstGeom>
            <a:ln w="12700" cap="flat" cmpd="sng">
              <a:solidFill>
                <a:schemeClr val="tx1"/>
              </a:solidFill>
              <a:prstDash val="solid"/>
              <a:round/>
              <a:headEnd type="none" w="sm" len="sm"/>
              <a:tailEnd type="none" w="sm" len="sm"/>
            </a:ln>
          </p:spPr>
        </p:sp>
        <p:sp>
          <p:nvSpPr>
            <p:cNvPr id="116744" name="Line 7"/>
            <p:cNvSpPr/>
            <p:nvPr/>
          </p:nvSpPr>
          <p:spPr>
            <a:xfrm>
              <a:off x="3570" y="816"/>
              <a:ext cx="0" cy="576"/>
            </a:xfrm>
            <a:prstGeom prst="line">
              <a:avLst/>
            </a:prstGeom>
            <a:ln w="12700" cap="flat" cmpd="sng">
              <a:solidFill>
                <a:schemeClr val="tx1"/>
              </a:solidFill>
              <a:prstDash val="solid"/>
              <a:round/>
              <a:headEnd type="none" w="sm" len="sm"/>
              <a:tailEnd type="none" w="sm" len="sm"/>
            </a:ln>
          </p:spPr>
        </p:sp>
        <p:sp>
          <p:nvSpPr>
            <p:cNvPr id="116745" name="Line 8"/>
            <p:cNvSpPr/>
            <p:nvPr/>
          </p:nvSpPr>
          <p:spPr>
            <a:xfrm>
              <a:off x="2708" y="816"/>
              <a:ext cx="0" cy="576"/>
            </a:xfrm>
            <a:prstGeom prst="line">
              <a:avLst/>
            </a:prstGeom>
            <a:ln w="12700" cap="flat" cmpd="sng">
              <a:solidFill>
                <a:schemeClr val="tx1"/>
              </a:solidFill>
              <a:prstDash val="solid"/>
              <a:round/>
              <a:headEnd type="none" w="sm" len="sm"/>
              <a:tailEnd type="none" w="sm" len="sm"/>
            </a:ln>
          </p:spPr>
        </p:sp>
        <p:sp>
          <p:nvSpPr>
            <p:cNvPr id="116746" name="Line 9"/>
            <p:cNvSpPr/>
            <p:nvPr/>
          </p:nvSpPr>
          <p:spPr>
            <a:xfrm>
              <a:off x="1152" y="1104"/>
              <a:ext cx="1728" cy="0"/>
            </a:xfrm>
            <a:prstGeom prst="line">
              <a:avLst/>
            </a:prstGeom>
            <a:ln w="12700" cap="flat" cmpd="sng">
              <a:solidFill>
                <a:schemeClr val="tx1"/>
              </a:solidFill>
              <a:prstDash val="lgDash"/>
              <a:round/>
              <a:headEnd type="none" w="sm" len="sm"/>
              <a:tailEnd type="none" w="sm" len="sm"/>
            </a:ln>
          </p:spPr>
        </p:sp>
        <p:sp>
          <p:nvSpPr>
            <p:cNvPr id="116747" name="Line 10"/>
            <p:cNvSpPr/>
            <p:nvPr/>
          </p:nvSpPr>
          <p:spPr>
            <a:xfrm>
              <a:off x="3408" y="1104"/>
              <a:ext cx="768" cy="0"/>
            </a:xfrm>
            <a:prstGeom prst="line">
              <a:avLst/>
            </a:prstGeom>
            <a:ln w="12700" cap="flat" cmpd="sng">
              <a:solidFill>
                <a:schemeClr val="tx1"/>
              </a:solidFill>
              <a:prstDash val="lgDash"/>
              <a:round/>
              <a:headEnd type="none" w="sm" len="sm"/>
              <a:tailEnd type="none" w="sm" len="sm"/>
            </a:ln>
          </p:spPr>
        </p:sp>
        <p:sp>
          <p:nvSpPr>
            <p:cNvPr id="116748" name="Rectangle 11"/>
            <p:cNvSpPr/>
            <p:nvPr/>
          </p:nvSpPr>
          <p:spPr>
            <a:xfrm>
              <a:off x="1200" y="816"/>
              <a:ext cx="432" cy="2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16749" name="Rectangle 12"/>
            <p:cNvSpPr/>
            <p:nvPr/>
          </p:nvSpPr>
          <p:spPr>
            <a:xfrm>
              <a:off x="1200" y="1152"/>
              <a:ext cx="576" cy="231"/>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16750" name="Rectangle 13"/>
            <p:cNvSpPr/>
            <p:nvPr/>
          </p:nvSpPr>
          <p:spPr>
            <a:xfrm>
              <a:off x="2208" y="816"/>
              <a:ext cx="432" cy="2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116751" name="Rectangle 14"/>
            <p:cNvSpPr/>
            <p:nvPr/>
          </p:nvSpPr>
          <p:spPr>
            <a:xfrm>
              <a:off x="2208" y="1152"/>
              <a:ext cx="576" cy="231"/>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116752" name="Rectangle 15"/>
            <p:cNvSpPr/>
            <p:nvPr/>
          </p:nvSpPr>
          <p:spPr>
            <a:xfrm>
              <a:off x="1728" y="816"/>
              <a:ext cx="432" cy="2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16753" name="Rectangle 16"/>
            <p:cNvSpPr/>
            <p:nvPr/>
          </p:nvSpPr>
          <p:spPr>
            <a:xfrm>
              <a:off x="1728" y="1152"/>
              <a:ext cx="576" cy="231"/>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16754" name="Rectangle 17"/>
            <p:cNvSpPr/>
            <p:nvPr/>
          </p:nvSpPr>
          <p:spPr>
            <a:xfrm>
              <a:off x="3696" y="816"/>
              <a:ext cx="432" cy="2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6</a:t>
              </a:r>
              <a:endParaRPr lang="en-US" altLang="zh-CN" baseline="-25000" dirty="0">
                <a:latin typeface="Times New Roman" panose="02020603050405020304" pitchFamily="18" charset="0"/>
                <a:ea typeface="SimSun" panose="02010600030101010101" pitchFamily="2" charset="-122"/>
              </a:endParaRPr>
            </a:p>
          </p:txBody>
        </p:sp>
        <p:sp>
          <p:nvSpPr>
            <p:cNvPr id="116755" name="Rectangle 18"/>
            <p:cNvSpPr/>
            <p:nvPr/>
          </p:nvSpPr>
          <p:spPr>
            <a:xfrm>
              <a:off x="3696" y="1152"/>
              <a:ext cx="576" cy="231"/>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6</a:t>
              </a:r>
              <a:endParaRPr lang="en-US" altLang="zh-CN" baseline="-25000" dirty="0">
                <a:latin typeface="Times New Roman" panose="02020603050405020304" pitchFamily="18" charset="0"/>
                <a:ea typeface="SimSun" panose="02010600030101010101" pitchFamily="2" charset="-122"/>
              </a:endParaRPr>
            </a:p>
          </p:txBody>
        </p:sp>
      </p:grpSp>
      <p:sp>
        <p:nvSpPr>
          <p:cNvPr id="116756" name="Line 19"/>
          <p:cNvSpPr/>
          <p:nvPr/>
        </p:nvSpPr>
        <p:spPr>
          <a:xfrm>
            <a:off x="2557463" y="3276600"/>
            <a:ext cx="0" cy="914400"/>
          </a:xfrm>
          <a:prstGeom prst="line">
            <a:avLst/>
          </a:prstGeom>
          <a:ln w="12700" cap="flat" cmpd="sng">
            <a:solidFill>
              <a:schemeClr val="tx1"/>
            </a:solidFill>
            <a:prstDash val="solid"/>
            <a:round/>
            <a:headEnd type="none" w="sm" len="sm"/>
            <a:tailEnd type="none" w="sm" len="sm"/>
          </a:ln>
        </p:spPr>
      </p:sp>
      <p:sp>
        <p:nvSpPr>
          <p:cNvPr id="116757" name="Rectangle 20"/>
          <p:cNvSpPr/>
          <p:nvPr/>
        </p:nvSpPr>
        <p:spPr>
          <a:xfrm>
            <a:off x="920750" y="3282950"/>
            <a:ext cx="4787900" cy="90170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16758" name="Line 21"/>
          <p:cNvSpPr/>
          <p:nvPr/>
        </p:nvSpPr>
        <p:spPr>
          <a:xfrm>
            <a:off x="1736725" y="3276600"/>
            <a:ext cx="0" cy="914400"/>
          </a:xfrm>
          <a:prstGeom prst="line">
            <a:avLst/>
          </a:prstGeom>
          <a:ln w="12700" cap="flat" cmpd="sng">
            <a:solidFill>
              <a:schemeClr val="tx1"/>
            </a:solidFill>
            <a:prstDash val="solid"/>
            <a:round/>
            <a:headEnd type="none" w="sm" len="sm"/>
            <a:tailEnd type="none" w="sm" len="sm"/>
          </a:ln>
        </p:spPr>
      </p:sp>
      <p:sp>
        <p:nvSpPr>
          <p:cNvPr id="116759" name="Line 22"/>
          <p:cNvSpPr/>
          <p:nvPr/>
        </p:nvSpPr>
        <p:spPr>
          <a:xfrm>
            <a:off x="4752975" y="3276600"/>
            <a:ext cx="0" cy="914400"/>
          </a:xfrm>
          <a:prstGeom prst="line">
            <a:avLst/>
          </a:prstGeom>
          <a:ln w="12700" cap="flat" cmpd="sng">
            <a:solidFill>
              <a:schemeClr val="tx1"/>
            </a:solidFill>
            <a:prstDash val="solid"/>
            <a:round/>
            <a:headEnd type="none" w="sm" len="sm"/>
            <a:tailEnd type="none" w="sm" len="sm"/>
          </a:ln>
        </p:spPr>
      </p:sp>
      <p:sp>
        <p:nvSpPr>
          <p:cNvPr id="116760" name="Line 23"/>
          <p:cNvSpPr/>
          <p:nvPr/>
        </p:nvSpPr>
        <p:spPr>
          <a:xfrm>
            <a:off x="3384550" y="3276600"/>
            <a:ext cx="0" cy="914400"/>
          </a:xfrm>
          <a:prstGeom prst="line">
            <a:avLst/>
          </a:prstGeom>
          <a:ln w="12700" cap="flat" cmpd="sng">
            <a:solidFill>
              <a:schemeClr val="tx1"/>
            </a:solidFill>
            <a:prstDash val="solid"/>
            <a:round/>
            <a:headEnd type="none" w="sm" len="sm"/>
            <a:tailEnd type="none" w="sm" len="sm"/>
          </a:ln>
        </p:spPr>
      </p:sp>
      <p:sp>
        <p:nvSpPr>
          <p:cNvPr id="116761" name="Line 24"/>
          <p:cNvSpPr/>
          <p:nvPr/>
        </p:nvSpPr>
        <p:spPr>
          <a:xfrm>
            <a:off x="914400" y="3733800"/>
            <a:ext cx="2743200" cy="0"/>
          </a:xfrm>
          <a:prstGeom prst="line">
            <a:avLst/>
          </a:prstGeom>
          <a:ln w="12700" cap="flat" cmpd="sng">
            <a:solidFill>
              <a:schemeClr val="tx1"/>
            </a:solidFill>
            <a:prstDash val="lgDash"/>
            <a:round/>
            <a:headEnd type="none" w="sm" len="sm"/>
            <a:tailEnd type="none" w="sm" len="sm"/>
          </a:ln>
        </p:spPr>
      </p:sp>
      <p:sp>
        <p:nvSpPr>
          <p:cNvPr id="116762" name="Line 25"/>
          <p:cNvSpPr/>
          <p:nvPr/>
        </p:nvSpPr>
        <p:spPr>
          <a:xfrm>
            <a:off x="4495800" y="3733800"/>
            <a:ext cx="1219200" cy="0"/>
          </a:xfrm>
          <a:prstGeom prst="line">
            <a:avLst/>
          </a:prstGeom>
          <a:ln w="12700" cap="flat" cmpd="sng">
            <a:solidFill>
              <a:schemeClr val="tx1"/>
            </a:solidFill>
            <a:prstDash val="lgDash"/>
            <a:round/>
            <a:headEnd type="none" w="sm" len="sm"/>
            <a:tailEnd type="none" w="sm" len="sm"/>
          </a:ln>
        </p:spPr>
      </p:sp>
      <p:sp>
        <p:nvSpPr>
          <p:cNvPr id="116763" name="Rectangle 26"/>
          <p:cNvSpPr/>
          <p:nvPr/>
        </p:nvSpPr>
        <p:spPr>
          <a:xfrm>
            <a:off x="990600" y="32766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16764" name="Rectangle 27"/>
          <p:cNvSpPr/>
          <p:nvPr/>
        </p:nvSpPr>
        <p:spPr>
          <a:xfrm>
            <a:off x="990600" y="3810000"/>
            <a:ext cx="914400" cy="366713"/>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16765" name="Rectangle 28"/>
          <p:cNvSpPr/>
          <p:nvPr/>
        </p:nvSpPr>
        <p:spPr>
          <a:xfrm>
            <a:off x="2590800" y="32766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116766" name="Rectangle 29"/>
          <p:cNvSpPr/>
          <p:nvPr/>
        </p:nvSpPr>
        <p:spPr>
          <a:xfrm>
            <a:off x="2590800" y="3810000"/>
            <a:ext cx="914400" cy="366713"/>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116767" name="Rectangle 30"/>
          <p:cNvSpPr/>
          <p:nvPr/>
        </p:nvSpPr>
        <p:spPr>
          <a:xfrm>
            <a:off x="1828800" y="32766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16768" name="Rectangle 31"/>
          <p:cNvSpPr/>
          <p:nvPr/>
        </p:nvSpPr>
        <p:spPr>
          <a:xfrm>
            <a:off x="1828800" y="3810000"/>
            <a:ext cx="914400" cy="366713"/>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16769" name="Rectangle 32"/>
          <p:cNvSpPr/>
          <p:nvPr/>
        </p:nvSpPr>
        <p:spPr>
          <a:xfrm>
            <a:off x="4953000" y="32766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5</a:t>
            </a:r>
            <a:endParaRPr lang="en-US" altLang="zh-CN" baseline="-25000" dirty="0">
              <a:latin typeface="Times New Roman" panose="02020603050405020304" pitchFamily="18" charset="0"/>
              <a:ea typeface="SimSun" panose="02010600030101010101" pitchFamily="2" charset="-122"/>
            </a:endParaRPr>
          </a:p>
        </p:txBody>
      </p:sp>
      <p:sp>
        <p:nvSpPr>
          <p:cNvPr id="116770" name="Rectangle 33"/>
          <p:cNvSpPr/>
          <p:nvPr/>
        </p:nvSpPr>
        <p:spPr>
          <a:xfrm>
            <a:off x="4953000" y="3810000"/>
            <a:ext cx="914400" cy="366713"/>
          </a:xfrm>
          <a:prstGeom prst="rect">
            <a:avLst/>
          </a:prstGeom>
          <a:noFill/>
          <a:ln w="9525">
            <a:noFill/>
          </a:ln>
        </p:spPr>
        <p:txBody>
          <a:bodyPr lIns="92075" tIns="46038" rIns="92075" bIns="46038" anchor="t" anchorCtr="0">
            <a:spAutoFit/>
          </a:bodyPr>
          <a:p>
            <a:pPr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5</a:t>
            </a:r>
            <a:endParaRPr lang="en-US" altLang="zh-CN" baseline="-25000" dirty="0">
              <a:latin typeface="Times New Roman" panose="02020603050405020304" pitchFamily="18" charset="0"/>
              <a:ea typeface="SimSun" panose="02010600030101010101" pitchFamily="2" charset="-122"/>
            </a:endParaRPr>
          </a:p>
        </p:txBody>
      </p:sp>
      <p:sp>
        <p:nvSpPr>
          <p:cNvPr id="116771" name="Line 34"/>
          <p:cNvSpPr/>
          <p:nvPr/>
        </p:nvSpPr>
        <p:spPr>
          <a:xfrm flipH="1">
            <a:off x="1295400" y="2209800"/>
            <a:ext cx="990600" cy="1066800"/>
          </a:xfrm>
          <a:prstGeom prst="line">
            <a:avLst/>
          </a:prstGeom>
          <a:ln w="25400" cap="flat" cmpd="sng">
            <a:solidFill>
              <a:schemeClr val="tx1"/>
            </a:solidFill>
            <a:prstDash val="solid"/>
            <a:round/>
            <a:headEnd type="none" w="sm" len="sm"/>
            <a:tailEnd type="stealth" w="med" len="lg"/>
          </a:ln>
        </p:spPr>
      </p:sp>
      <p:sp>
        <p:nvSpPr>
          <p:cNvPr id="116772" name="Line 35"/>
          <p:cNvSpPr/>
          <p:nvPr/>
        </p:nvSpPr>
        <p:spPr>
          <a:xfrm>
            <a:off x="3048000" y="2209800"/>
            <a:ext cx="4191000" cy="990600"/>
          </a:xfrm>
          <a:prstGeom prst="line">
            <a:avLst/>
          </a:prstGeom>
          <a:ln w="25400" cap="flat" cmpd="sng">
            <a:solidFill>
              <a:schemeClr val="tx1"/>
            </a:solidFill>
            <a:prstDash val="solid"/>
            <a:round/>
            <a:headEnd type="none" w="sm" len="sm"/>
            <a:tailEnd type="stealth" w="med" len="lg"/>
          </a:ln>
        </p:spPr>
      </p:sp>
      <p:sp>
        <p:nvSpPr>
          <p:cNvPr id="116773" name="Line 36"/>
          <p:cNvSpPr/>
          <p:nvPr/>
        </p:nvSpPr>
        <p:spPr>
          <a:xfrm>
            <a:off x="3733800" y="2209800"/>
            <a:ext cx="5029200" cy="990600"/>
          </a:xfrm>
          <a:prstGeom prst="line">
            <a:avLst/>
          </a:prstGeom>
          <a:ln w="25400" cap="flat" cmpd="sng">
            <a:solidFill>
              <a:schemeClr val="tx1"/>
            </a:solidFill>
            <a:prstDash val="solid"/>
            <a:round/>
            <a:headEnd type="none" w="sm" len="sm"/>
            <a:tailEnd type="stealth" w="med" len="lg"/>
          </a:ln>
        </p:spPr>
      </p:sp>
      <p:sp>
        <p:nvSpPr>
          <p:cNvPr id="116774" name="Rectangle 37"/>
          <p:cNvSpPr/>
          <p:nvPr/>
        </p:nvSpPr>
        <p:spPr>
          <a:xfrm>
            <a:off x="311150" y="5035550"/>
            <a:ext cx="3797300" cy="59690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16775" name="Rectangle 38"/>
          <p:cNvSpPr/>
          <p:nvPr/>
        </p:nvSpPr>
        <p:spPr>
          <a:xfrm>
            <a:off x="990600" y="51054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16776" name="Line 39"/>
          <p:cNvSpPr/>
          <p:nvPr/>
        </p:nvSpPr>
        <p:spPr>
          <a:xfrm>
            <a:off x="990600" y="5029200"/>
            <a:ext cx="0" cy="609600"/>
          </a:xfrm>
          <a:prstGeom prst="line">
            <a:avLst/>
          </a:prstGeom>
          <a:ln w="12700" cap="flat" cmpd="sng">
            <a:solidFill>
              <a:schemeClr val="tx1"/>
            </a:solidFill>
            <a:prstDash val="solid"/>
            <a:round/>
            <a:headEnd type="none" w="sm" len="sm"/>
            <a:tailEnd type="none" w="sm" len="sm"/>
          </a:ln>
        </p:spPr>
      </p:sp>
      <p:sp>
        <p:nvSpPr>
          <p:cNvPr id="116777" name="Rectangle 40"/>
          <p:cNvSpPr/>
          <p:nvPr/>
        </p:nvSpPr>
        <p:spPr>
          <a:xfrm>
            <a:off x="1600200" y="51054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16778" name="Line 41"/>
          <p:cNvSpPr/>
          <p:nvPr/>
        </p:nvSpPr>
        <p:spPr>
          <a:xfrm>
            <a:off x="1600200" y="5029200"/>
            <a:ext cx="0" cy="609600"/>
          </a:xfrm>
          <a:prstGeom prst="line">
            <a:avLst/>
          </a:prstGeom>
          <a:ln w="12700" cap="flat" cmpd="sng">
            <a:solidFill>
              <a:schemeClr val="tx1"/>
            </a:solidFill>
            <a:prstDash val="solid"/>
            <a:round/>
            <a:headEnd type="none" w="sm" len="sm"/>
            <a:tailEnd type="none" w="sm" len="sm"/>
          </a:ln>
        </p:spPr>
      </p:sp>
      <p:sp>
        <p:nvSpPr>
          <p:cNvPr id="116779" name="Rectangle 42"/>
          <p:cNvSpPr/>
          <p:nvPr/>
        </p:nvSpPr>
        <p:spPr>
          <a:xfrm>
            <a:off x="2819400" y="51054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6</a:t>
            </a:r>
            <a:endParaRPr lang="en-US" altLang="zh-CN" baseline="-25000" dirty="0">
              <a:latin typeface="Times New Roman" panose="02020603050405020304" pitchFamily="18" charset="0"/>
              <a:ea typeface="SimSun" panose="02010600030101010101" pitchFamily="2" charset="-122"/>
            </a:endParaRPr>
          </a:p>
        </p:txBody>
      </p:sp>
      <p:sp>
        <p:nvSpPr>
          <p:cNvPr id="116780" name="Line 43"/>
          <p:cNvSpPr/>
          <p:nvPr/>
        </p:nvSpPr>
        <p:spPr>
          <a:xfrm>
            <a:off x="2819400" y="5029200"/>
            <a:ext cx="0" cy="609600"/>
          </a:xfrm>
          <a:prstGeom prst="line">
            <a:avLst/>
          </a:prstGeom>
          <a:ln w="12700" cap="flat" cmpd="sng">
            <a:solidFill>
              <a:schemeClr val="tx1"/>
            </a:solidFill>
            <a:prstDash val="solid"/>
            <a:round/>
            <a:headEnd type="none" w="sm" len="sm"/>
            <a:tailEnd type="none" w="sm" len="sm"/>
          </a:ln>
        </p:spPr>
      </p:sp>
      <p:sp>
        <p:nvSpPr>
          <p:cNvPr id="116781" name="Line 44"/>
          <p:cNvSpPr/>
          <p:nvPr/>
        </p:nvSpPr>
        <p:spPr>
          <a:xfrm>
            <a:off x="2209800" y="5029200"/>
            <a:ext cx="0" cy="609600"/>
          </a:xfrm>
          <a:prstGeom prst="line">
            <a:avLst/>
          </a:prstGeom>
          <a:ln w="12700" cap="flat" cmpd="sng">
            <a:solidFill>
              <a:schemeClr val="tx1"/>
            </a:solidFill>
            <a:prstDash val="solid"/>
            <a:round/>
            <a:headEnd type="none" w="sm" len="sm"/>
            <a:tailEnd type="none" w="sm" len="sm"/>
          </a:ln>
        </p:spPr>
      </p:sp>
      <p:sp>
        <p:nvSpPr>
          <p:cNvPr id="116782" name="Line 45"/>
          <p:cNvSpPr/>
          <p:nvPr/>
        </p:nvSpPr>
        <p:spPr>
          <a:xfrm>
            <a:off x="3429000" y="5029200"/>
            <a:ext cx="0" cy="609600"/>
          </a:xfrm>
          <a:prstGeom prst="line">
            <a:avLst/>
          </a:prstGeom>
          <a:ln w="12700" cap="flat" cmpd="sng">
            <a:solidFill>
              <a:schemeClr val="tx1"/>
            </a:solidFill>
            <a:prstDash val="solid"/>
            <a:round/>
            <a:headEnd type="none" w="sm" len="sm"/>
            <a:tailEnd type="none" w="sm" len="sm"/>
          </a:ln>
        </p:spPr>
      </p:sp>
      <p:sp>
        <p:nvSpPr>
          <p:cNvPr id="116783" name="Line 46"/>
          <p:cNvSpPr/>
          <p:nvPr/>
        </p:nvSpPr>
        <p:spPr>
          <a:xfrm>
            <a:off x="2362200" y="5334000"/>
            <a:ext cx="304800" cy="0"/>
          </a:xfrm>
          <a:prstGeom prst="line">
            <a:avLst/>
          </a:prstGeom>
          <a:ln w="25400" cap="flat" cmpd="sng">
            <a:solidFill>
              <a:schemeClr val="tx1"/>
            </a:solidFill>
            <a:prstDash val="sysDot"/>
            <a:round/>
            <a:headEnd type="none" w="sm" len="sm"/>
            <a:tailEnd type="none" w="sm" len="sm"/>
          </a:ln>
        </p:spPr>
      </p:sp>
      <p:sp>
        <p:nvSpPr>
          <p:cNvPr id="116784" name="Rectangle 47"/>
          <p:cNvSpPr/>
          <p:nvPr/>
        </p:nvSpPr>
        <p:spPr>
          <a:xfrm>
            <a:off x="381000" y="5105400"/>
            <a:ext cx="685800" cy="396875"/>
          </a:xfrm>
          <a:prstGeom prst="rect">
            <a:avLst/>
          </a:prstGeom>
          <a:noFill/>
          <a:ln w="9525">
            <a:noFill/>
          </a:ln>
        </p:spPr>
        <p:txBody>
          <a:bodyPr lIns="92075" tIns="46038" rIns="92075" bIns="46038" anchor="t" anchorCtr="0">
            <a:spAutoFit/>
          </a:bodyPr>
          <a:p>
            <a:pPr eaLnBrk="0" hangingPunct="0">
              <a:spcBef>
                <a:spcPct val="50000"/>
              </a:spcBef>
            </a:pPr>
            <a:r>
              <a:rPr lang="en-US" altLang="zh-CN" sz="2000" dirty="0">
                <a:latin typeface="Times New Roman" panose="02020603050405020304" pitchFamily="18" charset="0"/>
                <a:ea typeface="SimSun" panose="02010600030101010101" pitchFamily="2" charset="-122"/>
              </a:rPr>
              <a:t>prev</a:t>
            </a:r>
            <a:endParaRPr lang="en-US" altLang="zh-CN" sz="2000" dirty="0">
              <a:latin typeface="Times New Roman" panose="02020603050405020304" pitchFamily="18" charset="0"/>
              <a:ea typeface="SimSun" panose="02010600030101010101" pitchFamily="2" charset="-122"/>
            </a:endParaRPr>
          </a:p>
        </p:txBody>
      </p:sp>
      <p:sp>
        <p:nvSpPr>
          <p:cNvPr id="116785" name="Rectangle 48"/>
          <p:cNvSpPr/>
          <p:nvPr/>
        </p:nvSpPr>
        <p:spPr>
          <a:xfrm>
            <a:off x="3429000" y="5105400"/>
            <a:ext cx="685800" cy="396875"/>
          </a:xfrm>
          <a:prstGeom prst="rect">
            <a:avLst/>
          </a:prstGeom>
          <a:noFill/>
          <a:ln w="9525">
            <a:noFill/>
          </a:ln>
        </p:spPr>
        <p:txBody>
          <a:bodyPr lIns="92075" tIns="46038" rIns="92075" bIns="46038" anchor="t" anchorCtr="0">
            <a:spAutoFit/>
          </a:bodyPr>
          <a:p>
            <a:pPr eaLnBrk="0" hangingPunct="0">
              <a:spcBef>
                <a:spcPct val="50000"/>
              </a:spcBef>
            </a:pPr>
            <a:r>
              <a:rPr lang="en-US" altLang="zh-CN" sz="2000" dirty="0">
                <a:latin typeface="Times New Roman" panose="02020603050405020304" pitchFamily="18" charset="0"/>
                <a:ea typeface="SimSun" panose="02010600030101010101" pitchFamily="2" charset="-122"/>
              </a:rPr>
              <a:t>next</a:t>
            </a:r>
            <a:endParaRPr lang="en-US" altLang="zh-CN" sz="2000" dirty="0">
              <a:latin typeface="Times New Roman" panose="02020603050405020304" pitchFamily="18" charset="0"/>
              <a:ea typeface="SimSun" panose="02010600030101010101" pitchFamily="2" charset="-122"/>
            </a:endParaRPr>
          </a:p>
        </p:txBody>
      </p:sp>
      <p:sp>
        <p:nvSpPr>
          <p:cNvPr id="116786" name="Line 49"/>
          <p:cNvSpPr/>
          <p:nvPr/>
        </p:nvSpPr>
        <p:spPr>
          <a:xfrm flipH="1">
            <a:off x="914400" y="4191000"/>
            <a:ext cx="381000" cy="838200"/>
          </a:xfrm>
          <a:prstGeom prst="line">
            <a:avLst/>
          </a:prstGeom>
          <a:ln w="25400" cap="flat" cmpd="sng">
            <a:solidFill>
              <a:schemeClr val="tx1"/>
            </a:solidFill>
            <a:prstDash val="solid"/>
            <a:round/>
            <a:headEnd type="none" w="sm" len="sm"/>
            <a:tailEnd type="stealth" w="med" len="lg"/>
          </a:ln>
        </p:spPr>
      </p:sp>
      <p:sp>
        <p:nvSpPr>
          <p:cNvPr id="116787" name="Rectangle 50"/>
          <p:cNvSpPr/>
          <p:nvPr/>
        </p:nvSpPr>
        <p:spPr>
          <a:xfrm>
            <a:off x="4730750" y="5035550"/>
            <a:ext cx="3797300" cy="59690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16788" name="Rectangle 51"/>
          <p:cNvSpPr/>
          <p:nvPr/>
        </p:nvSpPr>
        <p:spPr>
          <a:xfrm>
            <a:off x="5410200" y="51054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16789" name="Line 52"/>
          <p:cNvSpPr/>
          <p:nvPr/>
        </p:nvSpPr>
        <p:spPr>
          <a:xfrm>
            <a:off x="5410200" y="5029200"/>
            <a:ext cx="0" cy="609600"/>
          </a:xfrm>
          <a:prstGeom prst="line">
            <a:avLst/>
          </a:prstGeom>
          <a:ln w="12700" cap="flat" cmpd="sng">
            <a:solidFill>
              <a:schemeClr val="tx1"/>
            </a:solidFill>
            <a:prstDash val="solid"/>
            <a:round/>
            <a:headEnd type="none" w="sm" len="sm"/>
            <a:tailEnd type="none" w="sm" len="sm"/>
          </a:ln>
        </p:spPr>
      </p:sp>
      <p:sp>
        <p:nvSpPr>
          <p:cNvPr id="116790" name="Rectangle 53"/>
          <p:cNvSpPr/>
          <p:nvPr/>
        </p:nvSpPr>
        <p:spPr>
          <a:xfrm>
            <a:off x="6019800" y="51054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16791" name="Line 54"/>
          <p:cNvSpPr/>
          <p:nvPr/>
        </p:nvSpPr>
        <p:spPr>
          <a:xfrm>
            <a:off x="6019800" y="5029200"/>
            <a:ext cx="0" cy="609600"/>
          </a:xfrm>
          <a:prstGeom prst="line">
            <a:avLst/>
          </a:prstGeom>
          <a:ln w="12700" cap="flat" cmpd="sng">
            <a:solidFill>
              <a:schemeClr val="tx1"/>
            </a:solidFill>
            <a:prstDash val="solid"/>
            <a:round/>
            <a:headEnd type="none" w="sm" len="sm"/>
            <a:tailEnd type="none" w="sm" len="sm"/>
          </a:ln>
        </p:spPr>
      </p:sp>
      <p:sp>
        <p:nvSpPr>
          <p:cNvPr id="116792" name="Rectangle 55"/>
          <p:cNvSpPr/>
          <p:nvPr/>
        </p:nvSpPr>
        <p:spPr>
          <a:xfrm>
            <a:off x="7239000" y="5105400"/>
            <a:ext cx="685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4</a:t>
            </a:r>
            <a:endParaRPr lang="en-US" altLang="zh-CN" baseline="-25000" dirty="0">
              <a:latin typeface="Times New Roman" panose="02020603050405020304" pitchFamily="18" charset="0"/>
              <a:ea typeface="SimSun" panose="02010600030101010101" pitchFamily="2" charset="-122"/>
            </a:endParaRPr>
          </a:p>
        </p:txBody>
      </p:sp>
      <p:sp>
        <p:nvSpPr>
          <p:cNvPr id="116793" name="Line 56"/>
          <p:cNvSpPr/>
          <p:nvPr/>
        </p:nvSpPr>
        <p:spPr>
          <a:xfrm>
            <a:off x="7239000" y="5029200"/>
            <a:ext cx="0" cy="609600"/>
          </a:xfrm>
          <a:prstGeom prst="line">
            <a:avLst/>
          </a:prstGeom>
          <a:ln w="12700" cap="flat" cmpd="sng">
            <a:solidFill>
              <a:schemeClr val="tx1"/>
            </a:solidFill>
            <a:prstDash val="solid"/>
            <a:round/>
            <a:headEnd type="none" w="sm" len="sm"/>
            <a:tailEnd type="none" w="sm" len="sm"/>
          </a:ln>
        </p:spPr>
      </p:sp>
      <p:sp>
        <p:nvSpPr>
          <p:cNvPr id="116794" name="Line 57"/>
          <p:cNvSpPr/>
          <p:nvPr/>
        </p:nvSpPr>
        <p:spPr>
          <a:xfrm>
            <a:off x="6629400" y="5029200"/>
            <a:ext cx="0" cy="609600"/>
          </a:xfrm>
          <a:prstGeom prst="line">
            <a:avLst/>
          </a:prstGeom>
          <a:ln w="12700" cap="flat" cmpd="sng">
            <a:solidFill>
              <a:schemeClr val="tx1"/>
            </a:solidFill>
            <a:prstDash val="solid"/>
            <a:round/>
            <a:headEnd type="none" w="sm" len="sm"/>
            <a:tailEnd type="none" w="sm" len="sm"/>
          </a:ln>
        </p:spPr>
      </p:sp>
      <p:sp>
        <p:nvSpPr>
          <p:cNvPr id="116795" name="Line 58"/>
          <p:cNvSpPr/>
          <p:nvPr/>
        </p:nvSpPr>
        <p:spPr>
          <a:xfrm>
            <a:off x="7848600" y="5029200"/>
            <a:ext cx="0" cy="609600"/>
          </a:xfrm>
          <a:prstGeom prst="line">
            <a:avLst/>
          </a:prstGeom>
          <a:ln w="12700" cap="flat" cmpd="sng">
            <a:solidFill>
              <a:schemeClr val="tx1"/>
            </a:solidFill>
            <a:prstDash val="solid"/>
            <a:round/>
            <a:headEnd type="none" w="sm" len="sm"/>
            <a:tailEnd type="none" w="sm" len="sm"/>
          </a:ln>
        </p:spPr>
      </p:sp>
      <p:sp>
        <p:nvSpPr>
          <p:cNvPr id="116796" name="Line 59"/>
          <p:cNvSpPr/>
          <p:nvPr/>
        </p:nvSpPr>
        <p:spPr>
          <a:xfrm>
            <a:off x="6781800" y="5334000"/>
            <a:ext cx="304800" cy="0"/>
          </a:xfrm>
          <a:prstGeom prst="line">
            <a:avLst/>
          </a:prstGeom>
          <a:ln w="25400" cap="flat" cmpd="sng">
            <a:solidFill>
              <a:schemeClr val="tx1"/>
            </a:solidFill>
            <a:prstDash val="sysDot"/>
            <a:round/>
            <a:headEnd type="none" w="sm" len="sm"/>
            <a:tailEnd type="none" w="sm" len="sm"/>
          </a:ln>
        </p:spPr>
      </p:sp>
      <p:sp>
        <p:nvSpPr>
          <p:cNvPr id="116797" name="Rectangle 60"/>
          <p:cNvSpPr/>
          <p:nvPr/>
        </p:nvSpPr>
        <p:spPr>
          <a:xfrm>
            <a:off x="4800600" y="5105400"/>
            <a:ext cx="685800" cy="396875"/>
          </a:xfrm>
          <a:prstGeom prst="rect">
            <a:avLst/>
          </a:prstGeom>
          <a:noFill/>
          <a:ln w="9525">
            <a:noFill/>
          </a:ln>
        </p:spPr>
        <p:txBody>
          <a:bodyPr lIns="92075" tIns="46038" rIns="92075" bIns="46038" anchor="t" anchorCtr="0">
            <a:spAutoFit/>
          </a:bodyPr>
          <a:p>
            <a:pPr eaLnBrk="0" hangingPunct="0">
              <a:spcBef>
                <a:spcPct val="50000"/>
              </a:spcBef>
            </a:pPr>
            <a:r>
              <a:rPr lang="en-US" altLang="zh-CN" sz="2000" dirty="0">
                <a:latin typeface="Times New Roman" panose="02020603050405020304" pitchFamily="18" charset="0"/>
                <a:ea typeface="SimSun" panose="02010600030101010101" pitchFamily="2" charset="-122"/>
              </a:rPr>
              <a:t>prev</a:t>
            </a:r>
            <a:endParaRPr lang="en-US" altLang="zh-CN" sz="2000" dirty="0">
              <a:latin typeface="Times New Roman" panose="02020603050405020304" pitchFamily="18" charset="0"/>
              <a:ea typeface="SimSun" panose="02010600030101010101" pitchFamily="2" charset="-122"/>
            </a:endParaRPr>
          </a:p>
        </p:txBody>
      </p:sp>
      <p:sp>
        <p:nvSpPr>
          <p:cNvPr id="116798" name="Rectangle 61"/>
          <p:cNvSpPr/>
          <p:nvPr/>
        </p:nvSpPr>
        <p:spPr>
          <a:xfrm>
            <a:off x="7848600" y="5105400"/>
            <a:ext cx="685800" cy="396875"/>
          </a:xfrm>
          <a:prstGeom prst="rect">
            <a:avLst/>
          </a:prstGeom>
          <a:noFill/>
          <a:ln w="9525">
            <a:noFill/>
          </a:ln>
        </p:spPr>
        <p:txBody>
          <a:bodyPr lIns="92075" tIns="46038" rIns="92075" bIns="46038" anchor="t" anchorCtr="0">
            <a:spAutoFit/>
          </a:bodyPr>
          <a:p>
            <a:pPr eaLnBrk="0" hangingPunct="0">
              <a:spcBef>
                <a:spcPct val="50000"/>
              </a:spcBef>
            </a:pPr>
            <a:r>
              <a:rPr lang="en-US" altLang="zh-CN" sz="2000" dirty="0">
                <a:latin typeface="Times New Roman" panose="02020603050405020304" pitchFamily="18" charset="0"/>
                <a:ea typeface="SimSun" panose="02010600030101010101" pitchFamily="2" charset="-122"/>
              </a:rPr>
              <a:t>next</a:t>
            </a:r>
            <a:endParaRPr lang="en-US" altLang="zh-CN" sz="2000" dirty="0">
              <a:latin typeface="Times New Roman" panose="02020603050405020304" pitchFamily="18" charset="0"/>
              <a:ea typeface="SimSun" panose="02010600030101010101" pitchFamily="2" charset="-122"/>
            </a:endParaRPr>
          </a:p>
        </p:txBody>
      </p:sp>
      <p:sp>
        <p:nvSpPr>
          <p:cNvPr id="116799" name="Line 62"/>
          <p:cNvSpPr/>
          <p:nvPr/>
        </p:nvSpPr>
        <p:spPr>
          <a:xfrm>
            <a:off x="2133600" y="4191000"/>
            <a:ext cx="4800600" cy="838200"/>
          </a:xfrm>
          <a:prstGeom prst="line">
            <a:avLst/>
          </a:prstGeom>
          <a:ln w="25400" cap="flat" cmpd="sng">
            <a:solidFill>
              <a:schemeClr val="tx1"/>
            </a:solidFill>
            <a:prstDash val="solid"/>
            <a:round/>
            <a:headEnd type="none" w="sm" len="sm"/>
            <a:tailEnd type="stealth" w="med" len="lg"/>
          </a:ln>
        </p:spPr>
      </p:sp>
      <p:sp>
        <p:nvSpPr>
          <p:cNvPr id="116800" name="Line 63"/>
          <p:cNvSpPr/>
          <p:nvPr/>
        </p:nvSpPr>
        <p:spPr>
          <a:xfrm flipH="1">
            <a:off x="4114800" y="5181600"/>
            <a:ext cx="609600" cy="0"/>
          </a:xfrm>
          <a:prstGeom prst="line">
            <a:avLst/>
          </a:prstGeom>
          <a:ln w="25400" cap="flat" cmpd="sng">
            <a:solidFill>
              <a:schemeClr val="tx1"/>
            </a:solidFill>
            <a:prstDash val="solid"/>
            <a:round/>
            <a:headEnd type="none" w="sm" len="sm"/>
            <a:tailEnd type="stealth" w="med" len="lg"/>
          </a:ln>
        </p:spPr>
      </p:sp>
      <p:sp>
        <p:nvSpPr>
          <p:cNvPr id="116801" name="Line 64"/>
          <p:cNvSpPr/>
          <p:nvPr/>
        </p:nvSpPr>
        <p:spPr>
          <a:xfrm>
            <a:off x="4114800" y="5486400"/>
            <a:ext cx="609600" cy="0"/>
          </a:xfrm>
          <a:prstGeom prst="line">
            <a:avLst/>
          </a:prstGeom>
          <a:ln w="25400" cap="flat" cmpd="sng">
            <a:solidFill>
              <a:schemeClr val="tx1"/>
            </a:solidFill>
            <a:prstDash val="solid"/>
            <a:round/>
            <a:headEnd type="none" w="sm" len="sm"/>
            <a:tailEnd type="stealth" w="med" len="lg"/>
          </a:ln>
        </p:spPr>
      </p:sp>
      <p:sp>
        <p:nvSpPr>
          <p:cNvPr id="116802" name="Line 65"/>
          <p:cNvSpPr/>
          <p:nvPr/>
        </p:nvSpPr>
        <p:spPr>
          <a:xfrm>
            <a:off x="8534400" y="5562600"/>
            <a:ext cx="381000" cy="0"/>
          </a:xfrm>
          <a:prstGeom prst="line">
            <a:avLst/>
          </a:prstGeom>
          <a:ln w="25400" cap="flat" cmpd="sng">
            <a:solidFill>
              <a:schemeClr val="tx1"/>
            </a:solidFill>
            <a:prstDash val="solid"/>
            <a:round/>
            <a:headEnd type="none" w="sm" len="sm"/>
            <a:tailEnd type="stealth" w="med" len="lg"/>
          </a:ln>
        </p:spPr>
      </p:sp>
      <p:sp>
        <p:nvSpPr>
          <p:cNvPr id="116803" name="Line 66"/>
          <p:cNvSpPr/>
          <p:nvPr/>
        </p:nvSpPr>
        <p:spPr>
          <a:xfrm flipH="1">
            <a:off x="8534400" y="5334000"/>
            <a:ext cx="381000" cy="0"/>
          </a:xfrm>
          <a:prstGeom prst="line">
            <a:avLst/>
          </a:prstGeom>
          <a:ln w="25400" cap="flat" cmpd="sng">
            <a:solidFill>
              <a:schemeClr val="tx1"/>
            </a:solidFill>
            <a:prstDash val="solid"/>
            <a:round/>
            <a:headEnd type="none" w="sm" len="sm"/>
            <a:tailEnd type="stealth" w="med" len="lg"/>
          </a:ln>
        </p:spPr>
      </p:sp>
      <p:sp>
        <p:nvSpPr>
          <p:cNvPr id="116804" name="Rectangle 67"/>
          <p:cNvSpPr/>
          <p:nvPr/>
        </p:nvSpPr>
        <p:spPr>
          <a:xfrm>
            <a:off x="304800" y="1371600"/>
            <a:ext cx="1066800" cy="10048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B = 7</a:t>
            </a:r>
            <a:endParaRPr lang="en-US" altLang="zh-CN" dirty="0">
              <a:latin typeface="Times New Roman" panose="02020603050405020304" pitchFamily="18" charset="0"/>
              <a:ea typeface="SimSun" panose="02010600030101010101" pitchFamily="2" charset="-122"/>
            </a:endParaRPr>
          </a:p>
          <a:p>
            <a:pPr eaLnBrk="0" hangingPunct="0">
              <a:spcBef>
                <a:spcPct val="50000"/>
              </a:spcBef>
            </a:pPr>
            <a:r>
              <a:rPr lang="en-US" altLang="zh-CN" dirty="0">
                <a:latin typeface="Times New Roman" panose="02020603050405020304" pitchFamily="18" charset="0"/>
                <a:ea typeface="SimSun" panose="02010600030101010101" pitchFamily="2" charset="-122"/>
              </a:rPr>
              <a:t>L = 6</a:t>
            </a:r>
            <a:endParaRPr lang="en-US" altLang="zh-CN" dirty="0">
              <a:latin typeface="Times New Roman" panose="02020603050405020304" pitchFamily="18" charset="0"/>
              <a:ea typeface="SimSun" panose="02010600030101010101" pitchFamily="2" charset="-122"/>
            </a:endParaRPr>
          </a:p>
        </p:txBody>
      </p:sp>
      <p:sp>
        <p:nvSpPr>
          <p:cNvPr id="116805" name="Line 68"/>
          <p:cNvSpPr/>
          <p:nvPr/>
        </p:nvSpPr>
        <p:spPr>
          <a:xfrm>
            <a:off x="3962400" y="3733800"/>
            <a:ext cx="304800" cy="0"/>
          </a:xfrm>
          <a:prstGeom prst="line">
            <a:avLst/>
          </a:prstGeom>
          <a:ln w="25400" cap="flat" cmpd="sng">
            <a:solidFill>
              <a:schemeClr val="tx1"/>
            </a:solidFill>
            <a:prstDash val="sysDot"/>
            <a:round/>
            <a:headEnd type="none" w="sm" len="sm"/>
            <a:tailEnd type="none" w="sm" len="sm"/>
          </a:ln>
        </p:spPr>
      </p:sp>
      <p:sp>
        <p:nvSpPr>
          <p:cNvPr id="116806" name="Line 69"/>
          <p:cNvSpPr/>
          <p:nvPr/>
        </p:nvSpPr>
        <p:spPr>
          <a:xfrm>
            <a:off x="4876800" y="1752600"/>
            <a:ext cx="304800" cy="0"/>
          </a:xfrm>
          <a:prstGeom prst="line">
            <a:avLst/>
          </a:prstGeom>
          <a:ln w="25400" cap="flat" cmpd="sng">
            <a:solidFill>
              <a:schemeClr val="tx1"/>
            </a:solidFill>
            <a:prstDash val="sysDot"/>
            <a:round/>
            <a:headEnd type="none" w="sm" len="sm"/>
            <a:tailEnd type="none" w="sm" len="sm"/>
          </a:ln>
        </p:spPr>
      </p:sp>
      <p:sp>
        <p:nvSpPr>
          <p:cNvPr id="116807" name="Line 70"/>
          <p:cNvSpPr/>
          <p:nvPr/>
        </p:nvSpPr>
        <p:spPr>
          <a:xfrm>
            <a:off x="7391400" y="3733800"/>
            <a:ext cx="838200" cy="0"/>
          </a:xfrm>
          <a:prstGeom prst="line">
            <a:avLst/>
          </a:prstGeom>
          <a:ln w="25400" cap="flat" cmpd="sng">
            <a:solidFill>
              <a:schemeClr val="tx1"/>
            </a:solidFill>
            <a:prstDash val="sysDot"/>
            <a:round/>
            <a:headEnd type="none" w="sm" len="sm"/>
            <a:tailEnd type="none" w="sm" len="sm"/>
          </a:ln>
        </p:spPr>
      </p:sp>
      <p:sp>
        <p:nvSpPr>
          <p:cNvPr id="116808" name="Rectangle 71"/>
          <p:cNvSpPr/>
          <p:nvPr/>
        </p:nvSpPr>
        <p:spPr>
          <a:xfrm>
            <a:off x="3733800" y="762000"/>
            <a:ext cx="9906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Root</a:t>
            </a:r>
            <a:endParaRPr lang="en-US" altLang="zh-CN" dirty="0">
              <a:latin typeface="Times New Roman" panose="02020603050405020304" pitchFamily="18" charset="0"/>
              <a:ea typeface="SimSun" panose="02010600030101010101" pitchFamily="2" charset="-122"/>
            </a:endParaRPr>
          </a:p>
        </p:txBody>
      </p:sp>
      <p:sp>
        <p:nvSpPr>
          <p:cNvPr id="116809" name="Rectangle 72"/>
          <p:cNvSpPr/>
          <p:nvPr/>
        </p:nvSpPr>
        <p:spPr>
          <a:xfrm>
            <a:off x="2438400" y="2819400"/>
            <a:ext cx="19812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Non-leaf node</a:t>
            </a:r>
            <a:endParaRPr lang="en-US" altLang="zh-CN" dirty="0">
              <a:latin typeface="Times New Roman" panose="02020603050405020304" pitchFamily="18" charset="0"/>
              <a:ea typeface="SimSun" panose="02010600030101010101" pitchFamily="2" charset="-122"/>
            </a:endParaRPr>
          </a:p>
        </p:txBody>
      </p:sp>
      <p:sp>
        <p:nvSpPr>
          <p:cNvPr id="116810" name="Rectangle 73"/>
          <p:cNvSpPr/>
          <p:nvPr/>
        </p:nvSpPr>
        <p:spPr>
          <a:xfrm>
            <a:off x="2362200" y="4572000"/>
            <a:ext cx="1447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Leaf node</a:t>
            </a:r>
            <a:endParaRPr lang="en-US" altLang="zh-CN" dirty="0">
              <a:latin typeface="Times New Roman" panose="02020603050405020304" pitchFamily="18" charset="0"/>
              <a:ea typeface="SimSun" panose="02010600030101010101" pitchFamily="2" charset="-122"/>
            </a:endParaRPr>
          </a:p>
        </p:txBody>
      </p:sp>
      <p:sp>
        <p:nvSpPr>
          <p:cNvPr id="116811" name="Rectangle 74"/>
          <p:cNvSpPr/>
          <p:nvPr/>
        </p:nvSpPr>
        <p:spPr>
          <a:xfrm>
            <a:off x="7010400" y="4572000"/>
            <a:ext cx="14478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Leaf node</a:t>
            </a:r>
            <a:endParaRPr lang="en-US" altLang="zh-CN" dirty="0">
              <a:latin typeface="Times New Roman" panose="02020603050405020304" pitchFamily="18" charset="0"/>
              <a:ea typeface="SimSun" panose="02010600030101010101" pitchFamily="2" charset="-122"/>
            </a:endParaRPr>
          </a:p>
        </p:txBody>
      </p:sp>
      <p:grpSp>
        <p:nvGrpSpPr>
          <p:cNvPr id="116812" name="Group 75"/>
          <p:cNvGrpSpPr/>
          <p:nvPr/>
        </p:nvGrpSpPr>
        <p:grpSpPr>
          <a:xfrm>
            <a:off x="920750" y="5949950"/>
            <a:ext cx="749300" cy="749300"/>
            <a:chOff x="580" y="3748"/>
            <a:chExt cx="472" cy="472"/>
          </a:xfrm>
        </p:grpSpPr>
        <p:sp>
          <p:nvSpPr>
            <p:cNvPr id="116813" name="Oval 76"/>
            <p:cNvSpPr/>
            <p:nvPr/>
          </p:nvSpPr>
          <p:spPr>
            <a:xfrm>
              <a:off x="724" y="3892"/>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14" name="Oval 77"/>
            <p:cNvSpPr/>
            <p:nvPr/>
          </p:nvSpPr>
          <p:spPr>
            <a:xfrm>
              <a:off x="820" y="3988"/>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15" name="Oval 78"/>
            <p:cNvSpPr/>
            <p:nvPr/>
          </p:nvSpPr>
          <p:spPr>
            <a:xfrm>
              <a:off x="820" y="3892"/>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16" name="Oval 79"/>
            <p:cNvSpPr/>
            <p:nvPr/>
          </p:nvSpPr>
          <p:spPr>
            <a:xfrm>
              <a:off x="676" y="4084"/>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17" name="Oval 80"/>
            <p:cNvSpPr/>
            <p:nvPr/>
          </p:nvSpPr>
          <p:spPr>
            <a:xfrm>
              <a:off x="676" y="3988"/>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18" name="Oval 81"/>
            <p:cNvSpPr/>
            <p:nvPr/>
          </p:nvSpPr>
          <p:spPr>
            <a:xfrm>
              <a:off x="772" y="4036"/>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19" name="Oval 82"/>
            <p:cNvSpPr/>
            <p:nvPr/>
          </p:nvSpPr>
          <p:spPr>
            <a:xfrm>
              <a:off x="916" y="4084"/>
              <a:ext cx="40" cy="40"/>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6820" name="Oval 83"/>
            <p:cNvSpPr/>
            <p:nvPr/>
          </p:nvSpPr>
          <p:spPr>
            <a:xfrm>
              <a:off x="580" y="3748"/>
              <a:ext cx="472" cy="472"/>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grpSp>
      <p:sp>
        <p:nvSpPr>
          <p:cNvPr id="116821" name="Line 84"/>
          <p:cNvSpPr/>
          <p:nvPr/>
        </p:nvSpPr>
        <p:spPr>
          <a:xfrm>
            <a:off x="1295400" y="5715000"/>
            <a:ext cx="0" cy="152400"/>
          </a:xfrm>
          <a:prstGeom prst="line">
            <a:avLst/>
          </a:prstGeom>
          <a:ln w="38100" cap="flat" cmpd="dbl">
            <a:solidFill>
              <a:schemeClr val="tx1"/>
            </a:solidFill>
            <a:prstDash val="solid"/>
            <a:round/>
            <a:headEnd type="none" w="sm" len="sm"/>
            <a:tailEnd type="none" w="sm" len="sm"/>
          </a:ln>
        </p:spPr>
      </p:sp>
    </p:spTree>
  </p:cSld>
  <p:clrMapOvr>
    <a:masterClrMapping/>
  </p:clrMapOvr>
  <p:transition>
    <p:strips dir="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noChangeArrowheads="1"/>
          </p:cNvSpPr>
          <p:nvPr>
            <p:ph type="title"/>
          </p:nvPr>
        </p:nvSpPr>
        <p:spPr>
          <a:xfrm>
            <a:off x="76200" y="304800"/>
            <a:ext cx="8686800" cy="630238"/>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rPr>
              <a:t>CURE </a:t>
            </a:r>
            <a:r>
              <a:rPr kumimoji="0" lang="en-US" altLang="zh-CN"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rPr>
              <a:t>(Clustering Using Representatives)</a:t>
            </a:r>
            <a:endParaRPr kumimoji="0" lang="en-US" altLang="zh-CN" sz="32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endParaRPr>
          </a:p>
        </p:txBody>
      </p:sp>
      <p:sp>
        <p:nvSpPr>
          <p:cNvPr id="117762" name="Rectangle 3"/>
          <p:cNvSpPr>
            <a:spLocks noGrp="1"/>
          </p:cNvSpPr>
          <p:nvPr>
            <p:ph sz="quarter" idx="1"/>
          </p:nvPr>
        </p:nvSpPr>
        <p:spPr>
          <a:xfrm>
            <a:off x="457200" y="3810000"/>
            <a:ext cx="7620000" cy="2743200"/>
          </a:xfrm>
          <a:ln/>
        </p:spPr>
        <p:txBody>
          <a:bodyPr vert="horz" wrap="square" lIns="91440" tIns="45720" rIns="91440" bIns="45720" anchor="t" anchorCtr="0"/>
          <a:p>
            <a:pPr eaLnBrk="1" hangingPunct="1">
              <a:spcBef>
                <a:spcPct val="50000"/>
              </a:spcBef>
              <a:buClr>
                <a:schemeClr val="tx1"/>
              </a:buClr>
              <a:buSzPct val="70000"/>
              <a:buFont typeface="Wingdings" panose="05000000000000000000" pitchFamily="2" charset="2"/>
            </a:pPr>
            <a:r>
              <a:rPr lang="en-US" altLang="zh-CN" dirty="0">
                <a:ea typeface="SimSun" panose="02010600030101010101" pitchFamily="2" charset="-122"/>
              </a:rPr>
              <a:t>CURE: proposed by Guha, Rastogi &amp; Shim, 1998</a:t>
            </a:r>
            <a:endParaRPr lang="en-US" altLang="zh-CN" dirty="0">
              <a:ea typeface="SimSun" panose="02010600030101010101" pitchFamily="2" charset="-122"/>
            </a:endParaRPr>
          </a:p>
          <a:p>
            <a:pPr lvl="1" eaLnBrk="1" hangingPunct="1">
              <a:spcBef>
                <a:spcPct val="50000"/>
              </a:spcBef>
              <a:buClr>
                <a:schemeClr val="tx1"/>
              </a:buClr>
              <a:buSzPct val="80000"/>
              <a:buFont typeface="Wingdings 2" panose="05020102010507070707" pitchFamily="18" charset="2"/>
            </a:pPr>
            <a:r>
              <a:rPr lang="en-US" altLang="zh-CN" dirty="0">
                <a:ea typeface="SimSun" panose="02010600030101010101" pitchFamily="2" charset="-122"/>
              </a:rPr>
              <a:t>Stops the creation of a cluster hierarchy if a level consists of</a:t>
            </a:r>
            <a:r>
              <a:rPr lang="en-US" altLang="zh-CN" i="1" dirty="0">
                <a:ea typeface="SimSun" panose="02010600030101010101" pitchFamily="2" charset="-122"/>
              </a:rPr>
              <a:t> k </a:t>
            </a:r>
            <a:r>
              <a:rPr lang="en-US" altLang="zh-CN" dirty="0">
                <a:ea typeface="SimSun" panose="02010600030101010101" pitchFamily="2" charset="-122"/>
              </a:rPr>
              <a:t>clusters</a:t>
            </a:r>
            <a:endParaRPr lang="en-US" altLang="zh-CN" dirty="0">
              <a:ea typeface="SimSun" panose="02010600030101010101" pitchFamily="2" charset="-122"/>
            </a:endParaRPr>
          </a:p>
          <a:p>
            <a:pPr lvl="1" eaLnBrk="1" hangingPunct="1">
              <a:spcBef>
                <a:spcPct val="50000"/>
              </a:spcBef>
              <a:buClr>
                <a:schemeClr val="tx1"/>
              </a:buClr>
              <a:buSzPct val="80000"/>
              <a:buFont typeface="Wingdings 2" panose="05020102010507070707" pitchFamily="18" charset="2"/>
            </a:pPr>
            <a:r>
              <a:rPr lang="en-US" altLang="zh-CN" dirty="0">
                <a:ea typeface="SimSun" panose="02010600030101010101" pitchFamily="2" charset="-122"/>
              </a:rPr>
              <a:t>Uses multiple representative points to evaluate the distance between clusters, adjusts well to arbitrary shaped clusters and avoids single-link effect</a:t>
            </a:r>
            <a:endParaRPr lang="en-US" altLang="zh-CN" dirty="0">
              <a:ea typeface="SimSun" panose="02010600030101010101" pitchFamily="2" charset="-122"/>
            </a:endParaRPr>
          </a:p>
        </p:txBody>
      </p:sp>
      <p:sp>
        <p:nvSpPr>
          <p:cNvPr id="11776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776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pic>
        <p:nvPicPr>
          <p:cNvPr id="117765" name="Picture 4" descr="H:\thesis\presentation\cure1.bmp"/>
          <p:cNvPicPr>
            <a:picLocks noChangeAspect="1"/>
          </p:cNvPicPr>
          <p:nvPr/>
        </p:nvPicPr>
        <p:blipFill>
          <a:blip r:embed="rId1"/>
          <a:stretch>
            <a:fillRect/>
          </a:stretch>
        </p:blipFill>
        <p:spPr>
          <a:xfrm>
            <a:off x="1524000" y="1524000"/>
            <a:ext cx="6172200" cy="2179638"/>
          </a:xfrm>
          <a:prstGeom prst="rect">
            <a:avLst/>
          </a:prstGeom>
          <a:noFill/>
          <a:ln w="9525">
            <a:noFill/>
          </a:ln>
        </p:spPr>
      </p:pic>
    </p:spTree>
  </p:cSld>
  <p:clrMapOvr>
    <a:masterClrMapping/>
  </p:clrMapOvr>
  <p:transition>
    <p:strips dir="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noChangeArrowheads="1"/>
          </p:cNvSpPr>
          <p:nvPr>
            <p:ph type="title"/>
          </p:nvPr>
        </p:nvSpPr>
        <p:spPr>
          <a:xfrm>
            <a:off x="152400" y="381000"/>
            <a:ext cx="7224713" cy="498475"/>
          </a:xfrm>
        </p:spPr>
        <p:txBody>
          <a:bodyPr vert="horz" wrap="square" lIns="91440" tIns="45720" rIns="91440" bIns="45720" numCol="1" anchor="b"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27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rPr>
              <a:t>CURE: THE ALGORITHM</a:t>
            </a:r>
            <a:endParaRPr kumimoji="0" lang="en-US" altLang="zh-CN" sz="19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endParaRPr>
          </a:p>
        </p:txBody>
      </p:sp>
      <p:sp>
        <p:nvSpPr>
          <p:cNvPr id="118786" name="Rectangle 3"/>
          <p:cNvSpPr>
            <a:spLocks noGrp="1"/>
          </p:cNvSpPr>
          <p:nvPr>
            <p:ph sz="quarter" idx="1"/>
          </p:nvPr>
        </p:nvSpPr>
        <p:spPr>
          <a:xfrm>
            <a:off x="833438" y="1752600"/>
            <a:ext cx="6862762" cy="4724400"/>
          </a:xfrm>
          <a:ln/>
        </p:spPr>
        <p:txBody>
          <a:bodyPr vert="horz" wrap="square" lIns="91440" tIns="45720" rIns="91440" bIns="45720" anchor="t" anchorCtr="0"/>
          <a:p>
            <a:pPr lvl="1" eaLnBrk="1" hangingPunct="1">
              <a:lnSpc>
                <a:spcPct val="140000"/>
              </a:lnSpc>
              <a:buClr>
                <a:schemeClr val="accent1"/>
              </a:buClr>
              <a:buSzPct val="80000"/>
              <a:buFont typeface="Wingdings 2" panose="05020102010507070707" pitchFamily="18" charset="2"/>
            </a:pPr>
            <a:r>
              <a:rPr lang="en-US" altLang="zh-CN" dirty="0">
                <a:ea typeface="SimSun" panose="02010600030101010101" pitchFamily="2" charset="-122"/>
              </a:rPr>
              <a:t>Draw random sample </a:t>
            </a:r>
            <a:r>
              <a:rPr lang="en-US" altLang="zh-CN" i="1" dirty="0">
                <a:ea typeface="SimSun" panose="02010600030101010101" pitchFamily="2" charset="-122"/>
              </a:rPr>
              <a:t>s</a:t>
            </a:r>
            <a:r>
              <a:rPr lang="en-US" altLang="zh-CN" dirty="0">
                <a:ea typeface="SimSun" panose="02010600030101010101" pitchFamily="2" charset="-122"/>
              </a:rPr>
              <a:t>.</a:t>
            </a:r>
            <a:endParaRPr lang="en-US" altLang="zh-CN" dirty="0">
              <a:ea typeface="SimSun" panose="02010600030101010101" pitchFamily="2" charset="-122"/>
            </a:endParaRPr>
          </a:p>
          <a:p>
            <a:pPr lvl="1" eaLnBrk="1" hangingPunct="1">
              <a:lnSpc>
                <a:spcPct val="140000"/>
              </a:lnSpc>
              <a:buClr>
                <a:schemeClr val="accent1"/>
              </a:buClr>
              <a:buSzPct val="80000"/>
              <a:buFont typeface="Wingdings 2" panose="05020102010507070707" pitchFamily="18" charset="2"/>
            </a:pPr>
            <a:r>
              <a:rPr lang="en-US" altLang="zh-CN" dirty="0">
                <a:ea typeface="SimSun" panose="02010600030101010101" pitchFamily="2" charset="-122"/>
              </a:rPr>
              <a:t>Partition sample to </a:t>
            </a:r>
            <a:r>
              <a:rPr lang="en-US" altLang="zh-CN" i="1" dirty="0">
                <a:ea typeface="SimSun" panose="02010600030101010101" pitchFamily="2" charset="-122"/>
              </a:rPr>
              <a:t>p</a:t>
            </a:r>
            <a:r>
              <a:rPr lang="en-US" altLang="zh-CN" dirty="0">
                <a:ea typeface="SimSun" panose="02010600030101010101" pitchFamily="2" charset="-122"/>
              </a:rPr>
              <a:t> partitions with size </a:t>
            </a:r>
            <a:r>
              <a:rPr lang="en-US" altLang="zh-CN" i="1" dirty="0">
                <a:ea typeface="SimSun" panose="02010600030101010101" pitchFamily="2" charset="-122"/>
              </a:rPr>
              <a:t>s/p</a:t>
            </a:r>
            <a:endParaRPr lang="en-US" altLang="zh-CN" dirty="0">
              <a:ea typeface="SimSun" panose="02010600030101010101" pitchFamily="2" charset="-122"/>
            </a:endParaRPr>
          </a:p>
          <a:p>
            <a:pPr lvl="1" eaLnBrk="1" hangingPunct="1">
              <a:lnSpc>
                <a:spcPct val="140000"/>
              </a:lnSpc>
              <a:buClr>
                <a:schemeClr val="accent1"/>
              </a:buClr>
              <a:buSzPct val="80000"/>
              <a:buFont typeface="Wingdings 2" panose="05020102010507070707" pitchFamily="18" charset="2"/>
            </a:pPr>
            <a:r>
              <a:rPr lang="en-US" altLang="zh-CN" dirty="0">
                <a:ea typeface="SimSun" panose="02010600030101010101" pitchFamily="2" charset="-122"/>
              </a:rPr>
              <a:t>Partially cluster partitions into </a:t>
            </a:r>
            <a:r>
              <a:rPr lang="en-US" altLang="zh-CN" i="1" dirty="0">
                <a:ea typeface="SimSun" panose="02010600030101010101" pitchFamily="2" charset="-122"/>
              </a:rPr>
              <a:t>s/pq</a:t>
            </a:r>
            <a:r>
              <a:rPr lang="en-US" altLang="zh-CN" dirty="0">
                <a:ea typeface="SimSun" panose="02010600030101010101" pitchFamily="2" charset="-122"/>
              </a:rPr>
              <a:t> clusters</a:t>
            </a:r>
            <a:endParaRPr lang="en-US" altLang="zh-CN" dirty="0">
              <a:ea typeface="SimSun" panose="02010600030101010101" pitchFamily="2" charset="-122"/>
            </a:endParaRPr>
          </a:p>
          <a:p>
            <a:pPr lvl="1" eaLnBrk="1" hangingPunct="1">
              <a:lnSpc>
                <a:spcPct val="140000"/>
              </a:lnSpc>
              <a:buClr>
                <a:schemeClr val="accent1"/>
              </a:buClr>
              <a:buSzPct val="80000"/>
              <a:buFont typeface="Wingdings 2" panose="05020102010507070707" pitchFamily="18" charset="2"/>
            </a:pPr>
            <a:r>
              <a:rPr lang="en-US" altLang="zh-CN" dirty="0">
                <a:ea typeface="SimSun" panose="02010600030101010101" pitchFamily="2" charset="-122"/>
              </a:rPr>
              <a:t>Eliminate outliers</a:t>
            </a:r>
            <a:endParaRPr lang="en-US" altLang="zh-CN" dirty="0">
              <a:ea typeface="SimSun" panose="02010600030101010101" pitchFamily="2" charset="-122"/>
            </a:endParaRPr>
          </a:p>
          <a:p>
            <a:pPr lvl="2" indent="-182245" eaLnBrk="1" hangingPunct="1">
              <a:lnSpc>
                <a:spcPct val="140000"/>
              </a:lnSpc>
              <a:buClr>
                <a:srgbClr val="E1307B"/>
              </a:buClr>
              <a:buSzPct val="60000"/>
              <a:buFont typeface="Wingdings" panose="05000000000000000000" pitchFamily="2" charset="2"/>
            </a:pPr>
            <a:r>
              <a:rPr lang="en-US" altLang="zh-CN" sz="1800" dirty="0">
                <a:ea typeface="SimSun" panose="02010600030101010101" pitchFamily="2" charset="-122"/>
              </a:rPr>
              <a:t>By random sampling</a:t>
            </a:r>
            <a:endParaRPr lang="en-US" altLang="zh-CN" sz="1800" dirty="0">
              <a:ea typeface="SimSun" panose="02010600030101010101" pitchFamily="2" charset="-122"/>
            </a:endParaRPr>
          </a:p>
          <a:p>
            <a:pPr lvl="2" indent="-182245" eaLnBrk="1" hangingPunct="1">
              <a:lnSpc>
                <a:spcPct val="140000"/>
              </a:lnSpc>
              <a:buClr>
                <a:srgbClr val="E1307B"/>
              </a:buClr>
              <a:buSzPct val="60000"/>
              <a:buFont typeface="Wingdings" panose="05000000000000000000" pitchFamily="2" charset="2"/>
            </a:pPr>
            <a:r>
              <a:rPr lang="en-US" altLang="zh-CN" sz="1800" dirty="0">
                <a:ea typeface="SimSun" panose="02010600030101010101" pitchFamily="2" charset="-122"/>
              </a:rPr>
              <a:t>If a cluster grows too slow, eliminate it.</a:t>
            </a:r>
            <a:endParaRPr lang="en-US" altLang="zh-CN" sz="1800" dirty="0">
              <a:ea typeface="SimSun" panose="02010600030101010101" pitchFamily="2" charset="-122"/>
            </a:endParaRPr>
          </a:p>
          <a:p>
            <a:pPr lvl="1" eaLnBrk="1" hangingPunct="1">
              <a:lnSpc>
                <a:spcPct val="140000"/>
              </a:lnSpc>
              <a:buClr>
                <a:schemeClr val="accent1"/>
              </a:buClr>
              <a:buSzPct val="80000"/>
              <a:buFont typeface="Wingdings 2" panose="05020102010507070707" pitchFamily="18" charset="2"/>
            </a:pPr>
            <a:r>
              <a:rPr lang="en-US" altLang="zh-CN" dirty="0">
                <a:ea typeface="SimSun" panose="02010600030101010101" pitchFamily="2" charset="-122"/>
              </a:rPr>
              <a:t>Cluster partial clusters.</a:t>
            </a:r>
            <a:endParaRPr lang="en-US" altLang="zh-CN" dirty="0">
              <a:ea typeface="SimSun" panose="02010600030101010101" pitchFamily="2" charset="-122"/>
            </a:endParaRPr>
          </a:p>
          <a:p>
            <a:pPr lvl="1" eaLnBrk="1" hangingPunct="1">
              <a:lnSpc>
                <a:spcPct val="140000"/>
              </a:lnSpc>
              <a:buClr>
                <a:schemeClr val="accent1"/>
              </a:buClr>
              <a:buSzPct val="80000"/>
              <a:buFont typeface="Wingdings 2" panose="05020102010507070707" pitchFamily="18" charset="2"/>
            </a:pPr>
            <a:r>
              <a:rPr lang="en-US" altLang="zh-CN" dirty="0">
                <a:ea typeface="SimSun" panose="02010600030101010101" pitchFamily="2" charset="-122"/>
              </a:rPr>
              <a:t>Label data in disk</a:t>
            </a:r>
            <a:endParaRPr lang="en-US" altLang="zh-CN" b="1" dirty="0">
              <a:ea typeface="SimSun" panose="02010600030101010101" pitchFamily="2" charset="-122"/>
            </a:endParaRPr>
          </a:p>
        </p:txBody>
      </p:sp>
      <p:sp>
        <p:nvSpPr>
          <p:cNvPr id="11878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878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1026"/>
          <p:cNvSpPr>
            <a:spLocks noGrp="1"/>
          </p:cNvSpPr>
          <p:nvPr>
            <p:ph type="title"/>
          </p:nvPr>
        </p:nvSpPr>
        <p:spPr>
          <a:xfrm>
            <a:off x="1427163" y="741363"/>
            <a:ext cx="7224713" cy="498475"/>
          </a:xfrm>
          <a:noFill/>
          <a:ln>
            <a:noFill/>
          </a:ln>
        </p:spPr>
        <p:txBody>
          <a:bodyPr vert="horz" wrap="square" lIns="91440" tIns="45720" rIns="91440" bIns="45720" anchor="b"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kern="1200" cap="small" spc="0" normalizeH="0" baseline="0" noProof="1" dirty="0">
                <a:solidFill>
                  <a:schemeClr val="tx2"/>
                </a:solidFill>
                <a:latin typeface="+mj-lt"/>
                <a:ea typeface="SimSun" panose="02010600030101010101" pitchFamily="2" charset="-122"/>
                <a:cs typeface="+mj-cs"/>
              </a:rPr>
              <a:t>DATA PARTITIONING AND CLUSTERING</a:t>
            </a:r>
            <a:endParaRPr kumimoji="0" lang="en-US" altLang="zh-CN" sz="19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19810" name="Rectangle 1027"/>
          <p:cNvSpPr>
            <a:spLocks noGrp="1"/>
          </p:cNvSpPr>
          <p:nvPr>
            <p:ph sz="quarter" idx="1"/>
          </p:nvPr>
        </p:nvSpPr>
        <p:spPr>
          <a:xfrm>
            <a:off x="914400" y="1524000"/>
            <a:ext cx="2355850" cy="1143000"/>
          </a:xfrm>
          <a:ln/>
        </p:spPr>
        <p:txBody>
          <a:bodyPr vert="horz" wrap="square" lIns="91440" tIns="45720" rIns="91440" bIns="45720" anchor="t" anchorCtr="0"/>
          <a:p>
            <a:pPr lvl="1" eaLnBrk="1" hangingPunct="1">
              <a:lnSpc>
                <a:spcPct val="7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s = 50</a:t>
            </a:r>
            <a:endParaRPr lang="en-US" altLang="zh-CN" dirty="0">
              <a:ea typeface="SimSun" panose="02010600030101010101" pitchFamily="2" charset="-122"/>
            </a:endParaRPr>
          </a:p>
          <a:p>
            <a:pPr lvl="1" eaLnBrk="1" hangingPunct="1">
              <a:lnSpc>
                <a:spcPct val="7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p = 2</a:t>
            </a:r>
            <a:endParaRPr lang="en-US" altLang="zh-CN" dirty="0">
              <a:ea typeface="SimSun" panose="02010600030101010101" pitchFamily="2" charset="-122"/>
            </a:endParaRPr>
          </a:p>
          <a:p>
            <a:pPr lvl="1" eaLnBrk="1" hangingPunct="1">
              <a:lnSpc>
                <a:spcPct val="7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s/p = 25</a:t>
            </a:r>
            <a:endParaRPr lang="en-US" altLang="zh-CN" dirty="0">
              <a:ea typeface="SimSun" panose="02010600030101010101" pitchFamily="2" charset="-122"/>
            </a:endParaRPr>
          </a:p>
        </p:txBody>
      </p:sp>
      <p:sp>
        <p:nvSpPr>
          <p:cNvPr id="11981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1981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19813"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119814" name="Rectangle 1124"/>
          <p:cNvSpPr/>
          <p:nvPr/>
        </p:nvSpPr>
        <p:spPr>
          <a:xfrm>
            <a:off x="4343400" y="6019800"/>
            <a:ext cx="336550" cy="457200"/>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sp>
        <p:nvSpPr>
          <p:cNvPr id="119815" name="Rectangle 1150"/>
          <p:cNvSpPr/>
          <p:nvPr/>
        </p:nvSpPr>
        <p:spPr>
          <a:xfrm>
            <a:off x="7696200" y="5943600"/>
            <a:ext cx="336550" cy="457200"/>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grpSp>
        <p:nvGrpSpPr>
          <p:cNvPr id="119816" name="Group 1154"/>
          <p:cNvGrpSpPr/>
          <p:nvPr/>
        </p:nvGrpSpPr>
        <p:grpSpPr>
          <a:xfrm>
            <a:off x="304800" y="2895600"/>
            <a:ext cx="3733800" cy="3216275"/>
            <a:chOff x="912" y="1344"/>
            <a:chExt cx="3946" cy="2506"/>
          </a:xfrm>
        </p:grpSpPr>
        <p:sp>
          <p:nvSpPr>
            <p:cNvPr id="119817" name="Line 1028"/>
            <p:cNvSpPr/>
            <p:nvPr/>
          </p:nvSpPr>
          <p:spPr>
            <a:xfrm flipH="1">
              <a:off x="1776" y="2544"/>
              <a:ext cx="384" cy="240"/>
            </a:xfrm>
            <a:prstGeom prst="line">
              <a:avLst/>
            </a:prstGeom>
            <a:ln w="25400" cap="flat" cmpd="sng">
              <a:solidFill>
                <a:schemeClr val="tx1"/>
              </a:solidFill>
              <a:prstDash val="solid"/>
              <a:round/>
              <a:headEnd type="none" w="sm" len="sm"/>
              <a:tailEnd type="triangle" w="med" len="med"/>
            </a:ln>
          </p:spPr>
        </p:sp>
        <p:sp>
          <p:nvSpPr>
            <p:cNvPr id="119818" name="Line 1029"/>
            <p:cNvSpPr/>
            <p:nvPr/>
          </p:nvSpPr>
          <p:spPr>
            <a:xfrm>
              <a:off x="3120" y="2592"/>
              <a:ext cx="384" cy="240"/>
            </a:xfrm>
            <a:prstGeom prst="line">
              <a:avLst/>
            </a:prstGeom>
            <a:ln w="28575" cap="flat" cmpd="sng">
              <a:solidFill>
                <a:schemeClr val="tx1"/>
              </a:solidFill>
              <a:prstDash val="solid"/>
              <a:round/>
              <a:headEnd type="none" w="sm" len="sm"/>
              <a:tailEnd type="triangle" w="med" len="med"/>
            </a:ln>
          </p:spPr>
        </p:sp>
        <p:sp>
          <p:nvSpPr>
            <p:cNvPr id="119819" name="Line 1030"/>
            <p:cNvSpPr/>
            <p:nvPr/>
          </p:nvSpPr>
          <p:spPr>
            <a:xfrm>
              <a:off x="1920" y="1440"/>
              <a:ext cx="0" cy="1008"/>
            </a:xfrm>
            <a:prstGeom prst="line">
              <a:avLst/>
            </a:prstGeom>
            <a:ln w="12700" cap="flat" cmpd="sng">
              <a:solidFill>
                <a:schemeClr val="tx1"/>
              </a:solidFill>
              <a:prstDash val="solid"/>
              <a:round/>
              <a:headEnd type="stealth" w="med" len="med"/>
              <a:tailEnd type="none" w="sm" len="sm"/>
            </a:ln>
          </p:spPr>
        </p:sp>
        <p:sp>
          <p:nvSpPr>
            <p:cNvPr id="119820" name="Line 1031"/>
            <p:cNvSpPr/>
            <p:nvPr/>
          </p:nvSpPr>
          <p:spPr>
            <a:xfrm>
              <a:off x="1920" y="2448"/>
              <a:ext cx="1680" cy="0"/>
            </a:xfrm>
            <a:prstGeom prst="line">
              <a:avLst/>
            </a:prstGeom>
            <a:ln w="12700" cap="flat" cmpd="sng">
              <a:solidFill>
                <a:schemeClr val="tx1"/>
              </a:solidFill>
              <a:prstDash val="solid"/>
              <a:round/>
              <a:headEnd type="none" w="sm" len="sm"/>
              <a:tailEnd type="stealth" w="med" len="med"/>
            </a:ln>
          </p:spPr>
        </p:sp>
        <p:sp>
          <p:nvSpPr>
            <p:cNvPr id="119821" name="Oval 1032"/>
            <p:cNvSpPr/>
            <p:nvPr/>
          </p:nvSpPr>
          <p:spPr>
            <a:xfrm>
              <a:off x="2168" y="192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2" name="Oval 1033"/>
            <p:cNvSpPr/>
            <p:nvPr/>
          </p:nvSpPr>
          <p:spPr>
            <a:xfrm>
              <a:off x="2072" y="206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3" name="Oval 1034"/>
            <p:cNvSpPr/>
            <p:nvPr/>
          </p:nvSpPr>
          <p:spPr>
            <a:xfrm>
              <a:off x="2168" y="201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4" name="Oval 1035"/>
            <p:cNvSpPr/>
            <p:nvPr/>
          </p:nvSpPr>
          <p:spPr>
            <a:xfrm>
              <a:off x="2116" y="187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5" name="Oval 1036"/>
            <p:cNvSpPr/>
            <p:nvPr/>
          </p:nvSpPr>
          <p:spPr>
            <a:xfrm>
              <a:off x="2068" y="211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6" name="Oval 1037"/>
            <p:cNvSpPr/>
            <p:nvPr/>
          </p:nvSpPr>
          <p:spPr>
            <a:xfrm>
              <a:off x="2164" y="206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7" name="Oval 1038"/>
            <p:cNvSpPr/>
            <p:nvPr/>
          </p:nvSpPr>
          <p:spPr>
            <a:xfrm>
              <a:off x="2260" y="202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8" name="Oval 1039"/>
            <p:cNvSpPr/>
            <p:nvPr/>
          </p:nvSpPr>
          <p:spPr>
            <a:xfrm>
              <a:off x="2212" y="187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29" name="Oval 1040"/>
            <p:cNvSpPr/>
            <p:nvPr/>
          </p:nvSpPr>
          <p:spPr>
            <a:xfrm>
              <a:off x="2016" y="212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0" name="Oval 1041"/>
            <p:cNvSpPr/>
            <p:nvPr/>
          </p:nvSpPr>
          <p:spPr>
            <a:xfrm>
              <a:off x="2308" y="182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1" name="Oval 1042"/>
            <p:cNvSpPr/>
            <p:nvPr/>
          </p:nvSpPr>
          <p:spPr>
            <a:xfrm>
              <a:off x="2404" y="178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2" name="Oval 1043"/>
            <p:cNvSpPr/>
            <p:nvPr/>
          </p:nvSpPr>
          <p:spPr>
            <a:xfrm>
              <a:off x="2312" y="178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3" name="Oval 1044"/>
            <p:cNvSpPr/>
            <p:nvPr/>
          </p:nvSpPr>
          <p:spPr>
            <a:xfrm>
              <a:off x="2068" y="221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4" name="Oval 1045"/>
            <p:cNvSpPr/>
            <p:nvPr/>
          </p:nvSpPr>
          <p:spPr>
            <a:xfrm>
              <a:off x="2356" y="192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5" name="Oval 1046"/>
            <p:cNvSpPr/>
            <p:nvPr/>
          </p:nvSpPr>
          <p:spPr>
            <a:xfrm>
              <a:off x="2356" y="202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6" name="Oval 1047"/>
            <p:cNvSpPr/>
            <p:nvPr/>
          </p:nvSpPr>
          <p:spPr>
            <a:xfrm>
              <a:off x="2404" y="173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7" name="Oval 1048"/>
            <p:cNvSpPr/>
            <p:nvPr/>
          </p:nvSpPr>
          <p:spPr>
            <a:xfrm>
              <a:off x="2788" y="226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8" name="Oval 1049"/>
            <p:cNvSpPr/>
            <p:nvPr/>
          </p:nvSpPr>
          <p:spPr>
            <a:xfrm>
              <a:off x="2836" y="226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39" name="Oval 1050"/>
            <p:cNvSpPr/>
            <p:nvPr/>
          </p:nvSpPr>
          <p:spPr>
            <a:xfrm>
              <a:off x="2836" y="221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0" name="Oval 1051"/>
            <p:cNvSpPr/>
            <p:nvPr/>
          </p:nvSpPr>
          <p:spPr>
            <a:xfrm>
              <a:off x="2788" y="230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1" name="Oval 1052"/>
            <p:cNvSpPr/>
            <p:nvPr/>
          </p:nvSpPr>
          <p:spPr>
            <a:xfrm>
              <a:off x="2884" y="230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2" name="Oval 1053"/>
            <p:cNvSpPr/>
            <p:nvPr/>
          </p:nvSpPr>
          <p:spPr>
            <a:xfrm>
              <a:off x="2836" y="235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3" name="Oval 1054"/>
            <p:cNvSpPr/>
            <p:nvPr/>
          </p:nvSpPr>
          <p:spPr>
            <a:xfrm>
              <a:off x="2212" y="211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4" name="Oval 1055"/>
            <p:cNvSpPr/>
            <p:nvPr/>
          </p:nvSpPr>
          <p:spPr>
            <a:xfrm>
              <a:off x="2260" y="192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5" name="Oval 1056"/>
            <p:cNvSpPr/>
            <p:nvPr/>
          </p:nvSpPr>
          <p:spPr>
            <a:xfrm>
              <a:off x="2212" y="206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6" name="Oval 1057"/>
            <p:cNvSpPr/>
            <p:nvPr/>
          </p:nvSpPr>
          <p:spPr>
            <a:xfrm>
              <a:off x="2212" y="197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7" name="Oval 1058"/>
            <p:cNvSpPr/>
            <p:nvPr/>
          </p:nvSpPr>
          <p:spPr>
            <a:xfrm>
              <a:off x="2164" y="221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8" name="Oval 1059"/>
            <p:cNvSpPr/>
            <p:nvPr/>
          </p:nvSpPr>
          <p:spPr>
            <a:xfrm>
              <a:off x="2160" y="212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49" name="Oval 1060"/>
            <p:cNvSpPr/>
            <p:nvPr/>
          </p:nvSpPr>
          <p:spPr>
            <a:xfrm>
              <a:off x="2264" y="196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0" name="Oval 1061"/>
            <p:cNvSpPr/>
            <p:nvPr/>
          </p:nvSpPr>
          <p:spPr>
            <a:xfrm>
              <a:off x="2308" y="197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1" name="Oval 1062"/>
            <p:cNvSpPr/>
            <p:nvPr/>
          </p:nvSpPr>
          <p:spPr>
            <a:xfrm>
              <a:off x="2112" y="221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2" name="Oval 1063"/>
            <p:cNvSpPr/>
            <p:nvPr/>
          </p:nvSpPr>
          <p:spPr>
            <a:xfrm>
              <a:off x="2404" y="192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3" name="Oval 1064"/>
            <p:cNvSpPr/>
            <p:nvPr/>
          </p:nvSpPr>
          <p:spPr>
            <a:xfrm>
              <a:off x="2500" y="187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4" name="Oval 1065"/>
            <p:cNvSpPr/>
            <p:nvPr/>
          </p:nvSpPr>
          <p:spPr>
            <a:xfrm>
              <a:off x="2356" y="182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5" name="Oval 1066"/>
            <p:cNvSpPr/>
            <p:nvPr/>
          </p:nvSpPr>
          <p:spPr>
            <a:xfrm>
              <a:off x="2164" y="230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6" name="Oval 1067"/>
            <p:cNvSpPr/>
            <p:nvPr/>
          </p:nvSpPr>
          <p:spPr>
            <a:xfrm>
              <a:off x="2360" y="187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7" name="Oval 1068"/>
            <p:cNvSpPr/>
            <p:nvPr/>
          </p:nvSpPr>
          <p:spPr>
            <a:xfrm>
              <a:off x="2360" y="196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8" name="Oval 1069"/>
            <p:cNvSpPr/>
            <p:nvPr/>
          </p:nvSpPr>
          <p:spPr>
            <a:xfrm>
              <a:off x="2448" y="172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59" name="Oval 1070"/>
            <p:cNvSpPr/>
            <p:nvPr/>
          </p:nvSpPr>
          <p:spPr>
            <a:xfrm>
              <a:off x="2216" y="206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0" name="Oval 1071"/>
            <p:cNvSpPr/>
            <p:nvPr/>
          </p:nvSpPr>
          <p:spPr>
            <a:xfrm>
              <a:off x="2356" y="202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1" name="Oval 1072"/>
            <p:cNvSpPr/>
            <p:nvPr/>
          </p:nvSpPr>
          <p:spPr>
            <a:xfrm>
              <a:off x="2740" y="211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2" name="Oval 1073"/>
            <p:cNvSpPr/>
            <p:nvPr/>
          </p:nvSpPr>
          <p:spPr>
            <a:xfrm>
              <a:off x="2788" y="211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3" name="Oval 1074"/>
            <p:cNvSpPr/>
            <p:nvPr/>
          </p:nvSpPr>
          <p:spPr>
            <a:xfrm>
              <a:off x="2788" y="206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4" name="Oval 1075"/>
            <p:cNvSpPr/>
            <p:nvPr/>
          </p:nvSpPr>
          <p:spPr>
            <a:xfrm>
              <a:off x="2740" y="216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5" name="Oval 1076"/>
            <p:cNvSpPr/>
            <p:nvPr/>
          </p:nvSpPr>
          <p:spPr>
            <a:xfrm>
              <a:off x="2836" y="216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6" name="Oval 1077"/>
            <p:cNvSpPr/>
            <p:nvPr/>
          </p:nvSpPr>
          <p:spPr>
            <a:xfrm>
              <a:off x="2788" y="221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7" name="Oval 1078"/>
            <p:cNvSpPr/>
            <p:nvPr/>
          </p:nvSpPr>
          <p:spPr>
            <a:xfrm>
              <a:off x="2072" y="196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8" name="Oval 1079"/>
            <p:cNvSpPr/>
            <p:nvPr/>
          </p:nvSpPr>
          <p:spPr>
            <a:xfrm>
              <a:off x="2116" y="1876"/>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69" name="Oval 1080"/>
            <p:cNvSpPr/>
            <p:nvPr/>
          </p:nvSpPr>
          <p:spPr>
            <a:xfrm>
              <a:off x="2168" y="182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0" name="Oval 1081"/>
            <p:cNvSpPr/>
            <p:nvPr/>
          </p:nvSpPr>
          <p:spPr>
            <a:xfrm>
              <a:off x="2068" y="202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1" name="Oval 1082"/>
            <p:cNvSpPr/>
            <p:nvPr/>
          </p:nvSpPr>
          <p:spPr>
            <a:xfrm>
              <a:off x="2312" y="168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2" name="Oval 1083"/>
            <p:cNvSpPr/>
            <p:nvPr/>
          </p:nvSpPr>
          <p:spPr>
            <a:xfrm>
              <a:off x="2120" y="216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3" name="Oval 1084"/>
            <p:cNvSpPr/>
            <p:nvPr/>
          </p:nvSpPr>
          <p:spPr>
            <a:xfrm>
              <a:off x="2260" y="1828"/>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4" name="Rectangle 1085"/>
            <p:cNvSpPr/>
            <p:nvPr/>
          </p:nvSpPr>
          <p:spPr>
            <a:xfrm>
              <a:off x="3590" y="2342"/>
              <a:ext cx="355" cy="356"/>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sp>
          <p:nvSpPr>
            <p:cNvPr id="119875" name="Rectangle 1086"/>
            <p:cNvSpPr/>
            <p:nvPr/>
          </p:nvSpPr>
          <p:spPr>
            <a:xfrm>
              <a:off x="1727" y="1344"/>
              <a:ext cx="1499" cy="356"/>
            </a:xfrm>
            <a:prstGeom prst="rect">
              <a:avLst/>
            </a:prstGeom>
            <a:noFill/>
            <a:ln w="9525">
              <a:noFill/>
            </a:ln>
          </p:spPr>
          <p:txBody>
            <a:bodyPr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sp>
          <p:nvSpPr>
            <p:cNvPr id="119876" name="Oval 1087"/>
            <p:cNvSpPr/>
            <p:nvPr/>
          </p:nvSpPr>
          <p:spPr>
            <a:xfrm>
              <a:off x="3028" y="1780"/>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7" name="Oval 1088"/>
            <p:cNvSpPr/>
            <p:nvPr/>
          </p:nvSpPr>
          <p:spPr>
            <a:xfrm>
              <a:off x="3172" y="2164"/>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8" name="Oval 1089"/>
            <p:cNvSpPr/>
            <p:nvPr/>
          </p:nvSpPr>
          <p:spPr>
            <a:xfrm>
              <a:off x="2112" y="1392"/>
              <a:ext cx="40" cy="4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79" name="Line 1090"/>
            <p:cNvSpPr/>
            <p:nvPr/>
          </p:nvSpPr>
          <p:spPr>
            <a:xfrm>
              <a:off x="1114" y="2842"/>
              <a:ext cx="0" cy="1008"/>
            </a:xfrm>
            <a:prstGeom prst="line">
              <a:avLst/>
            </a:prstGeom>
            <a:ln w="12700" cap="flat" cmpd="sng">
              <a:solidFill>
                <a:schemeClr val="tx1"/>
              </a:solidFill>
              <a:prstDash val="solid"/>
              <a:round/>
              <a:headEnd type="stealth" w="med" len="med"/>
              <a:tailEnd type="none" w="sm" len="sm"/>
            </a:ln>
          </p:spPr>
        </p:sp>
        <p:sp>
          <p:nvSpPr>
            <p:cNvPr id="119880" name="Line 1091"/>
            <p:cNvSpPr/>
            <p:nvPr/>
          </p:nvSpPr>
          <p:spPr>
            <a:xfrm>
              <a:off x="1114" y="3850"/>
              <a:ext cx="1680" cy="0"/>
            </a:xfrm>
            <a:prstGeom prst="line">
              <a:avLst/>
            </a:prstGeom>
            <a:ln w="12700" cap="flat" cmpd="sng">
              <a:solidFill>
                <a:schemeClr val="tx1"/>
              </a:solidFill>
              <a:prstDash val="solid"/>
              <a:round/>
              <a:headEnd type="none" w="sm" len="sm"/>
              <a:tailEnd type="stealth" w="med" len="med"/>
            </a:ln>
          </p:spPr>
        </p:sp>
        <p:sp>
          <p:nvSpPr>
            <p:cNvPr id="119881" name="Oval 1092"/>
            <p:cNvSpPr/>
            <p:nvPr/>
          </p:nvSpPr>
          <p:spPr>
            <a:xfrm>
              <a:off x="1362" y="3326"/>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2" name="Oval 1093"/>
            <p:cNvSpPr/>
            <p:nvPr/>
          </p:nvSpPr>
          <p:spPr>
            <a:xfrm>
              <a:off x="1266" y="3466"/>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3" name="Oval 1094"/>
            <p:cNvSpPr/>
            <p:nvPr/>
          </p:nvSpPr>
          <p:spPr>
            <a:xfrm>
              <a:off x="1362" y="341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4" name="Oval 1095"/>
            <p:cNvSpPr/>
            <p:nvPr/>
          </p:nvSpPr>
          <p:spPr>
            <a:xfrm>
              <a:off x="1310" y="327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5" name="Oval 1096"/>
            <p:cNvSpPr/>
            <p:nvPr/>
          </p:nvSpPr>
          <p:spPr>
            <a:xfrm>
              <a:off x="1262" y="351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6" name="Oval 1097"/>
            <p:cNvSpPr/>
            <p:nvPr/>
          </p:nvSpPr>
          <p:spPr>
            <a:xfrm>
              <a:off x="1358" y="347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7" name="Oval 1098"/>
            <p:cNvSpPr/>
            <p:nvPr/>
          </p:nvSpPr>
          <p:spPr>
            <a:xfrm>
              <a:off x="1454" y="3422"/>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8" name="Oval 1099"/>
            <p:cNvSpPr/>
            <p:nvPr/>
          </p:nvSpPr>
          <p:spPr>
            <a:xfrm>
              <a:off x="1406" y="327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89" name="Oval 1100"/>
            <p:cNvSpPr/>
            <p:nvPr/>
          </p:nvSpPr>
          <p:spPr>
            <a:xfrm>
              <a:off x="1210" y="3522"/>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0" name="Oval 1101"/>
            <p:cNvSpPr/>
            <p:nvPr/>
          </p:nvSpPr>
          <p:spPr>
            <a:xfrm>
              <a:off x="1502" y="323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1" name="Oval 1102"/>
            <p:cNvSpPr/>
            <p:nvPr/>
          </p:nvSpPr>
          <p:spPr>
            <a:xfrm>
              <a:off x="1506" y="3186"/>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2" name="Oval 1103"/>
            <p:cNvSpPr/>
            <p:nvPr/>
          </p:nvSpPr>
          <p:spPr>
            <a:xfrm>
              <a:off x="1262" y="3614"/>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3" name="Oval 1104"/>
            <p:cNvSpPr/>
            <p:nvPr/>
          </p:nvSpPr>
          <p:spPr>
            <a:xfrm>
              <a:off x="1406" y="351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4" name="Oval 1105"/>
            <p:cNvSpPr/>
            <p:nvPr/>
          </p:nvSpPr>
          <p:spPr>
            <a:xfrm>
              <a:off x="1454" y="3326"/>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5" name="Oval 1106"/>
            <p:cNvSpPr/>
            <p:nvPr/>
          </p:nvSpPr>
          <p:spPr>
            <a:xfrm>
              <a:off x="1406" y="347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6" name="Oval 1107"/>
            <p:cNvSpPr/>
            <p:nvPr/>
          </p:nvSpPr>
          <p:spPr>
            <a:xfrm>
              <a:off x="1406" y="3374"/>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7" name="Oval 1108"/>
            <p:cNvSpPr/>
            <p:nvPr/>
          </p:nvSpPr>
          <p:spPr>
            <a:xfrm>
              <a:off x="1358" y="3614"/>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8" name="Oval 1109"/>
            <p:cNvSpPr/>
            <p:nvPr/>
          </p:nvSpPr>
          <p:spPr>
            <a:xfrm>
              <a:off x="1354" y="3522"/>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899" name="Oval 1110"/>
            <p:cNvSpPr/>
            <p:nvPr/>
          </p:nvSpPr>
          <p:spPr>
            <a:xfrm>
              <a:off x="1458" y="337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0" name="Oval 1111"/>
            <p:cNvSpPr/>
            <p:nvPr/>
          </p:nvSpPr>
          <p:spPr>
            <a:xfrm>
              <a:off x="1502" y="3374"/>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1" name="Oval 1112"/>
            <p:cNvSpPr/>
            <p:nvPr/>
          </p:nvSpPr>
          <p:spPr>
            <a:xfrm>
              <a:off x="1306" y="361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2" name="Oval 1113"/>
            <p:cNvSpPr/>
            <p:nvPr/>
          </p:nvSpPr>
          <p:spPr>
            <a:xfrm>
              <a:off x="1358" y="371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3" name="Oval 1114"/>
            <p:cNvSpPr/>
            <p:nvPr/>
          </p:nvSpPr>
          <p:spPr>
            <a:xfrm>
              <a:off x="1410" y="3466"/>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4" name="Oval 1115"/>
            <p:cNvSpPr/>
            <p:nvPr/>
          </p:nvSpPr>
          <p:spPr>
            <a:xfrm>
              <a:off x="1266" y="337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5" name="Oval 1116"/>
            <p:cNvSpPr/>
            <p:nvPr/>
          </p:nvSpPr>
          <p:spPr>
            <a:xfrm>
              <a:off x="1310" y="3278"/>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6" name="Oval 1117"/>
            <p:cNvSpPr/>
            <p:nvPr/>
          </p:nvSpPr>
          <p:spPr>
            <a:xfrm>
              <a:off x="1362" y="3226"/>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7" name="Oval 1118"/>
            <p:cNvSpPr/>
            <p:nvPr/>
          </p:nvSpPr>
          <p:spPr>
            <a:xfrm>
              <a:off x="1262" y="3422"/>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8" name="Oval 1119"/>
            <p:cNvSpPr/>
            <p:nvPr/>
          </p:nvSpPr>
          <p:spPr>
            <a:xfrm>
              <a:off x="1506" y="309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09" name="Oval 1120"/>
            <p:cNvSpPr/>
            <p:nvPr/>
          </p:nvSpPr>
          <p:spPr>
            <a:xfrm>
              <a:off x="1314" y="3562"/>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0" name="Oval 1121"/>
            <p:cNvSpPr/>
            <p:nvPr/>
          </p:nvSpPr>
          <p:spPr>
            <a:xfrm>
              <a:off x="1454" y="3230"/>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1" name="Rectangle 1122"/>
            <p:cNvSpPr/>
            <p:nvPr/>
          </p:nvSpPr>
          <p:spPr>
            <a:xfrm>
              <a:off x="912" y="2784"/>
              <a:ext cx="356" cy="356"/>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sp>
          <p:nvSpPr>
            <p:cNvPr id="119912" name="Oval 1123"/>
            <p:cNvSpPr/>
            <p:nvPr/>
          </p:nvSpPr>
          <p:spPr>
            <a:xfrm>
              <a:off x="1306" y="2794"/>
              <a:ext cx="40" cy="4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3" name="Line 1125"/>
            <p:cNvSpPr/>
            <p:nvPr/>
          </p:nvSpPr>
          <p:spPr>
            <a:xfrm>
              <a:off x="3178" y="2842"/>
              <a:ext cx="0" cy="1008"/>
            </a:xfrm>
            <a:prstGeom prst="line">
              <a:avLst/>
            </a:prstGeom>
            <a:ln w="12700" cap="flat" cmpd="sng">
              <a:solidFill>
                <a:schemeClr val="tx1"/>
              </a:solidFill>
              <a:prstDash val="solid"/>
              <a:round/>
              <a:headEnd type="stealth" w="med" len="med"/>
              <a:tailEnd type="none" w="sm" len="sm"/>
            </a:ln>
          </p:spPr>
        </p:sp>
        <p:sp>
          <p:nvSpPr>
            <p:cNvPr id="119914" name="Line 1126"/>
            <p:cNvSpPr/>
            <p:nvPr/>
          </p:nvSpPr>
          <p:spPr>
            <a:xfrm>
              <a:off x="3178" y="3850"/>
              <a:ext cx="1680" cy="0"/>
            </a:xfrm>
            <a:prstGeom prst="line">
              <a:avLst/>
            </a:prstGeom>
            <a:ln w="12700" cap="flat" cmpd="sng">
              <a:solidFill>
                <a:schemeClr val="tx1"/>
              </a:solidFill>
              <a:prstDash val="solid"/>
              <a:round/>
              <a:headEnd type="none" w="sm" len="sm"/>
              <a:tailEnd type="stealth" w="med" len="med"/>
            </a:ln>
          </p:spPr>
        </p:sp>
        <p:sp>
          <p:nvSpPr>
            <p:cNvPr id="119915" name="Oval 1127"/>
            <p:cNvSpPr/>
            <p:nvPr/>
          </p:nvSpPr>
          <p:spPr>
            <a:xfrm>
              <a:off x="3662" y="3182"/>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6" name="Oval 1128"/>
            <p:cNvSpPr/>
            <p:nvPr/>
          </p:nvSpPr>
          <p:spPr>
            <a:xfrm>
              <a:off x="3614" y="3326"/>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7" name="Oval 1129"/>
            <p:cNvSpPr/>
            <p:nvPr/>
          </p:nvSpPr>
          <p:spPr>
            <a:xfrm>
              <a:off x="3614" y="3422"/>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8" name="Oval 1130"/>
            <p:cNvSpPr/>
            <p:nvPr/>
          </p:nvSpPr>
          <p:spPr>
            <a:xfrm>
              <a:off x="3662" y="3134"/>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19" name="Oval 1131"/>
            <p:cNvSpPr/>
            <p:nvPr/>
          </p:nvSpPr>
          <p:spPr>
            <a:xfrm>
              <a:off x="4046" y="3662"/>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0" name="Oval 1132"/>
            <p:cNvSpPr/>
            <p:nvPr/>
          </p:nvSpPr>
          <p:spPr>
            <a:xfrm>
              <a:off x="4094" y="3662"/>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1" name="Oval 1133"/>
            <p:cNvSpPr/>
            <p:nvPr/>
          </p:nvSpPr>
          <p:spPr>
            <a:xfrm>
              <a:off x="4094" y="3614"/>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2" name="Oval 1134"/>
            <p:cNvSpPr/>
            <p:nvPr/>
          </p:nvSpPr>
          <p:spPr>
            <a:xfrm>
              <a:off x="4046" y="3710"/>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3" name="Oval 1135"/>
            <p:cNvSpPr/>
            <p:nvPr/>
          </p:nvSpPr>
          <p:spPr>
            <a:xfrm>
              <a:off x="4142" y="3710"/>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4" name="Oval 1136"/>
            <p:cNvSpPr/>
            <p:nvPr/>
          </p:nvSpPr>
          <p:spPr>
            <a:xfrm>
              <a:off x="4094" y="3758"/>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5" name="Oval 1137"/>
            <p:cNvSpPr/>
            <p:nvPr/>
          </p:nvSpPr>
          <p:spPr>
            <a:xfrm>
              <a:off x="3662" y="3326"/>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6" name="Oval 1138"/>
            <p:cNvSpPr/>
            <p:nvPr/>
          </p:nvSpPr>
          <p:spPr>
            <a:xfrm>
              <a:off x="3758" y="3278"/>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7" name="Oval 1139"/>
            <p:cNvSpPr/>
            <p:nvPr/>
          </p:nvSpPr>
          <p:spPr>
            <a:xfrm>
              <a:off x="3614" y="3230"/>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8" name="Oval 1140"/>
            <p:cNvSpPr/>
            <p:nvPr/>
          </p:nvSpPr>
          <p:spPr>
            <a:xfrm>
              <a:off x="3618" y="3274"/>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29" name="Oval 1141"/>
            <p:cNvSpPr/>
            <p:nvPr/>
          </p:nvSpPr>
          <p:spPr>
            <a:xfrm>
              <a:off x="3618" y="3370"/>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0" name="Oval 1142"/>
            <p:cNvSpPr/>
            <p:nvPr/>
          </p:nvSpPr>
          <p:spPr>
            <a:xfrm>
              <a:off x="3706" y="3130"/>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1" name="Oval 1143"/>
            <p:cNvSpPr/>
            <p:nvPr/>
          </p:nvSpPr>
          <p:spPr>
            <a:xfrm>
              <a:off x="3614" y="3422"/>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2" name="Oval 1144"/>
            <p:cNvSpPr/>
            <p:nvPr/>
          </p:nvSpPr>
          <p:spPr>
            <a:xfrm>
              <a:off x="3998" y="3518"/>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3" name="Oval 1145"/>
            <p:cNvSpPr/>
            <p:nvPr/>
          </p:nvSpPr>
          <p:spPr>
            <a:xfrm>
              <a:off x="4046" y="3518"/>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4" name="Oval 1146"/>
            <p:cNvSpPr/>
            <p:nvPr/>
          </p:nvSpPr>
          <p:spPr>
            <a:xfrm>
              <a:off x="4046" y="3470"/>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5" name="Oval 1147"/>
            <p:cNvSpPr/>
            <p:nvPr/>
          </p:nvSpPr>
          <p:spPr>
            <a:xfrm>
              <a:off x="3998" y="3566"/>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6" name="Oval 1148"/>
            <p:cNvSpPr/>
            <p:nvPr/>
          </p:nvSpPr>
          <p:spPr>
            <a:xfrm>
              <a:off x="4094" y="3566"/>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7" name="Oval 1149"/>
            <p:cNvSpPr/>
            <p:nvPr/>
          </p:nvSpPr>
          <p:spPr>
            <a:xfrm>
              <a:off x="4046" y="3614"/>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38" name="Rectangle 1151"/>
            <p:cNvSpPr/>
            <p:nvPr/>
          </p:nvSpPr>
          <p:spPr>
            <a:xfrm>
              <a:off x="2976" y="2784"/>
              <a:ext cx="355" cy="356"/>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sp>
          <p:nvSpPr>
            <p:cNvPr id="119939" name="Oval 1152"/>
            <p:cNvSpPr/>
            <p:nvPr/>
          </p:nvSpPr>
          <p:spPr>
            <a:xfrm>
              <a:off x="4286" y="3182"/>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40" name="Oval 1153"/>
            <p:cNvSpPr/>
            <p:nvPr/>
          </p:nvSpPr>
          <p:spPr>
            <a:xfrm>
              <a:off x="4430" y="3566"/>
              <a:ext cx="40" cy="40"/>
            </a:xfrm>
            <a:prstGeom prst="ellipse">
              <a:avLst/>
            </a:prstGeom>
            <a:solidFill>
              <a:srgbClr val="33CCFF"/>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grpSp>
      <p:grpSp>
        <p:nvGrpSpPr>
          <p:cNvPr id="119941" name="Group 1155"/>
          <p:cNvGrpSpPr/>
          <p:nvPr/>
        </p:nvGrpSpPr>
        <p:grpSpPr>
          <a:xfrm>
            <a:off x="4038600" y="3276600"/>
            <a:ext cx="4511675" cy="2686050"/>
            <a:chOff x="747" y="1872"/>
            <a:chExt cx="4247" cy="2140"/>
          </a:xfrm>
        </p:grpSpPr>
        <p:sp>
          <p:nvSpPr>
            <p:cNvPr id="119942" name="Line 1156"/>
            <p:cNvSpPr/>
            <p:nvPr/>
          </p:nvSpPr>
          <p:spPr>
            <a:xfrm>
              <a:off x="2496" y="2880"/>
              <a:ext cx="192" cy="0"/>
            </a:xfrm>
            <a:prstGeom prst="line">
              <a:avLst/>
            </a:prstGeom>
            <a:ln w="28575" cap="flat" cmpd="sng">
              <a:solidFill>
                <a:schemeClr val="tx1"/>
              </a:solidFill>
              <a:prstDash val="solid"/>
              <a:round/>
              <a:headEnd type="none" w="med" len="med"/>
              <a:tailEnd type="triangle" w="med" len="med"/>
            </a:ln>
          </p:spPr>
        </p:sp>
        <p:sp>
          <p:nvSpPr>
            <p:cNvPr id="119943" name="Line 1157"/>
            <p:cNvSpPr/>
            <p:nvPr/>
          </p:nvSpPr>
          <p:spPr>
            <a:xfrm>
              <a:off x="1031" y="2016"/>
              <a:ext cx="0" cy="1804"/>
            </a:xfrm>
            <a:prstGeom prst="line">
              <a:avLst/>
            </a:prstGeom>
            <a:ln w="12700" cap="flat" cmpd="sng">
              <a:solidFill>
                <a:schemeClr val="tx1"/>
              </a:solidFill>
              <a:prstDash val="solid"/>
              <a:round/>
              <a:headEnd type="stealth" w="med" len="med"/>
              <a:tailEnd type="none" w="sm" len="sm"/>
            </a:ln>
          </p:spPr>
        </p:sp>
        <p:sp>
          <p:nvSpPr>
            <p:cNvPr id="119944" name="Line 1158"/>
            <p:cNvSpPr/>
            <p:nvPr/>
          </p:nvSpPr>
          <p:spPr>
            <a:xfrm>
              <a:off x="1031" y="3820"/>
              <a:ext cx="1465" cy="0"/>
            </a:xfrm>
            <a:prstGeom prst="line">
              <a:avLst/>
            </a:prstGeom>
            <a:ln w="12700" cap="flat" cmpd="sng">
              <a:solidFill>
                <a:schemeClr val="tx1"/>
              </a:solidFill>
              <a:prstDash val="solid"/>
              <a:round/>
              <a:headEnd type="none" w="sm" len="sm"/>
              <a:tailEnd type="stealth" w="med" len="med"/>
            </a:ln>
          </p:spPr>
        </p:sp>
        <p:sp>
          <p:nvSpPr>
            <p:cNvPr id="119945" name="Oval 1159"/>
            <p:cNvSpPr/>
            <p:nvPr/>
          </p:nvSpPr>
          <p:spPr>
            <a:xfrm>
              <a:off x="1369" y="3028"/>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46" name="Oval 1160"/>
            <p:cNvSpPr/>
            <p:nvPr/>
          </p:nvSpPr>
          <p:spPr>
            <a:xfrm>
              <a:off x="1238" y="3239"/>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47" name="Oval 1161"/>
            <p:cNvSpPr/>
            <p:nvPr/>
          </p:nvSpPr>
          <p:spPr>
            <a:xfrm>
              <a:off x="1369" y="3167"/>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48" name="Oval 1162"/>
            <p:cNvSpPr/>
            <p:nvPr/>
          </p:nvSpPr>
          <p:spPr>
            <a:xfrm>
              <a:off x="1298" y="2955"/>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49" name="Oval 1163"/>
            <p:cNvSpPr/>
            <p:nvPr/>
          </p:nvSpPr>
          <p:spPr>
            <a:xfrm>
              <a:off x="1233" y="3318"/>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0" name="Oval 1164"/>
            <p:cNvSpPr/>
            <p:nvPr/>
          </p:nvSpPr>
          <p:spPr>
            <a:xfrm>
              <a:off x="1364" y="3245"/>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1" name="Oval 1165"/>
            <p:cNvSpPr/>
            <p:nvPr/>
          </p:nvSpPr>
          <p:spPr>
            <a:xfrm>
              <a:off x="1495" y="3173"/>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2" name="Oval 1166"/>
            <p:cNvSpPr/>
            <p:nvPr/>
          </p:nvSpPr>
          <p:spPr>
            <a:xfrm>
              <a:off x="1429" y="2955"/>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3" name="Oval 1167"/>
            <p:cNvSpPr/>
            <p:nvPr/>
          </p:nvSpPr>
          <p:spPr>
            <a:xfrm>
              <a:off x="1162" y="3324"/>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4" name="Oval 1168"/>
            <p:cNvSpPr/>
            <p:nvPr/>
          </p:nvSpPr>
          <p:spPr>
            <a:xfrm>
              <a:off x="1560" y="2882"/>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5" name="Oval 1169"/>
            <p:cNvSpPr/>
            <p:nvPr/>
          </p:nvSpPr>
          <p:spPr>
            <a:xfrm>
              <a:off x="1566" y="2816"/>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6" name="Oval 1170"/>
            <p:cNvSpPr/>
            <p:nvPr/>
          </p:nvSpPr>
          <p:spPr>
            <a:xfrm>
              <a:off x="1233" y="3463"/>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7" name="Oval 1171"/>
            <p:cNvSpPr/>
            <p:nvPr/>
          </p:nvSpPr>
          <p:spPr>
            <a:xfrm>
              <a:off x="1429" y="3318"/>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8" name="Oval 1172"/>
            <p:cNvSpPr/>
            <p:nvPr/>
          </p:nvSpPr>
          <p:spPr>
            <a:xfrm>
              <a:off x="1495" y="3028"/>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59" name="Oval 1173"/>
            <p:cNvSpPr/>
            <p:nvPr/>
          </p:nvSpPr>
          <p:spPr>
            <a:xfrm>
              <a:off x="1429" y="3245"/>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0" name="Oval 1174"/>
            <p:cNvSpPr/>
            <p:nvPr/>
          </p:nvSpPr>
          <p:spPr>
            <a:xfrm>
              <a:off x="1429" y="3100"/>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1" name="Oval 1175"/>
            <p:cNvSpPr/>
            <p:nvPr/>
          </p:nvSpPr>
          <p:spPr>
            <a:xfrm>
              <a:off x="1364" y="3463"/>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2" name="Oval 1176"/>
            <p:cNvSpPr/>
            <p:nvPr/>
          </p:nvSpPr>
          <p:spPr>
            <a:xfrm>
              <a:off x="1358" y="3324"/>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3" name="Oval 1177"/>
            <p:cNvSpPr/>
            <p:nvPr/>
          </p:nvSpPr>
          <p:spPr>
            <a:xfrm>
              <a:off x="1500" y="3094"/>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4" name="Oval 1178"/>
            <p:cNvSpPr/>
            <p:nvPr/>
          </p:nvSpPr>
          <p:spPr>
            <a:xfrm>
              <a:off x="1560" y="3100"/>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5" name="Oval 1179"/>
            <p:cNvSpPr/>
            <p:nvPr/>
          </p:nvSpPr>
          <p:spPr>
            <a:xfrm>
              <a:off x="1293" y="3469"/>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6" name="Oval 1180"/>
            <p:cNvSpPr/>
            <p:nvPr/>
          </p:nvSpPr>
          <p:spPr>
            <a:xfrm>
              <a:off x="1364" y="3608"/>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7" name="Oval 1181"/>
            <p:cNvSpPr/>
            <p:nvPr/>
          </p:nvSpPr>
          <p:spPr>
            <a:xfrm>
              <a:off x="1435" y="3239"/>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8" name="Oval 1182"/>
            <p:cNvSpPr/>
            <p:nvPr/>
          </p:nvSpPr>
          <p:spPr>
            <a:xfrm>
              <a:off x="1238" y="3094"/>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69" name="Oval 1183"/>
            <p:cNvSpPr/>
            <p:nvPr/>
          </p:nvSpPr>
          <p:spPr>
            <a:xfrm>
              <a:off x="1298" y="2955"/>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0" name="Oval 1184"/>
            <p:cNvSpPr/>
            <p:nvPr/>
          </p:nvSpPr>
          <p:spPr>
            <a:xfrm>
              <a:off x="1369" y="2876"/>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1" name="Oval 1185"/>
            <p:cNvSpPr/>
            <p:nvPr/>
          </p:nvSpPr>
          <p:spPr>
            <a:xfrm>
              <a:off x="1233" y="3173"/>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2" name="Oval 1186"/>
            <p:cNvSpPr/>
            <p:nvPr/>
          </p:nvSpPr>
          <p:spPr>
            <a:xfrm>
              <a:off x="1566" y="2671"/>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3" name="Oval 1187"/>
            <p:cNvSpPr/>
            <p:nvPr/>
          </p:nvSpPr>
          <p:spPr>
            <a:xfrm>
              <a:off x="1304" y="3384"/>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4" name="Oval 1188"/>
            <p:cNvSpPr/>
            <p:nvPr/>
          </p:nvSpPr>
          <p:spPr>
            <a:xfrm>
              <a:off x="1495" y="2882"/>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5" name="Rectangle 1189"/>
            <p:cNvSpPr/>
            <p:nvPr/>
          </p:nvSpPr>
          <p:spPr>
            <a:xfrm>
              <a:off x="747" y="1872"/>
              <a:ext cx="317" cy="364"/>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sp>
          <p:nvSpPr>
            <p:cNvPr id="119976" name="Oval 1190"/>
            <p:cNvSpPr/>
            <p:nvPr/>
          </p:nvSpPr>
          <p:spPr>
            <a:xfrm>
              <a:off x="1293" y="2223"/>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77" name="Rectangle 1191"/>
            <p:cNvSpPr/>
            <p:nvPr/>
          </p:nvSpPr>
          <p:spPr>
            <a:xfrm>
              <a:off x="2584" y="3648"/>
              <a:ext cx="316" cy="364"/>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grpSp>
          <p:nvGrpSpPr>
            <p:cNvPr id="119978" name="Group 1192"/>
            <p:cNvGrpSpPr/>
            <p:nvPr/>
          </p:nvGrpSpPr>
          <p:grpSpPr>
            <a:xfrm>
              <a:off x="2841" y="1872"/>
              <a:ext cx="2153" cy="2140"/>
              <a:chOff x="2841" y="1872"/>
              <a:chExt cx="2153" cy="2140"/>
            </a:xfrm>
          </p:grpSpPr>
          <p:sp>
            <p:nvSpPr>
              <p:cNvPr id="119979" name="Line 1193"/>
              <p:cNvSpPr/>
              <p:nvPr/>
            </p:nvSpPr>
            <p:spPr>
              <a:xfrm>
                <a:off x="3123" y="2016"/>
                <a:ext cx="0" cy="1804"/>
              </a:xfrm>
              <a:prstGeom prst="line">
                <a:avLst/>
              </a:prstGeom>
              <a:ln w="12700" cap="flat" cmpd="sng">
                <a:solidFill>
                  <a:schemeClr val="tx1"/>
                </a:solidFill>
                <a:prstDash val="solid"/>
                <a:round/>
                <a:headEnd type="stealth" w="med" len="med"/>
                <a:tailEnd type="none" w="sm" len="sm"/>
              </a:ln>
            </p:spPr>
          </p:sp>
          <p:sp>
            <p:nvSpPr>
              <p:cNvPr id="119980" name="Line 1194"/>
              <p:cNvSpPr/>
              <p:nvPr/>
            </p:nvSpPr>
            <p:spPr>
              <a:xfrm>
                <a:off x="3123" y="3820"/>
                <a:ext cx="1465" cy="0"/>
              </a:xfrm>
              <a:prstGeom prst="line">
                <a:avLst/>
              </a:prstGeom>
              <a:ln w="12700" cap="flat" cmpd="sng">
                <a:solidFill>
                  <a:schemeClr val="tx1"/>
                </a:solidFill>
                <a:prstDash val="solid"/>
                <a:round/>
                <a:headEnd type="none" w="sm" len="sm"/>
                <a:tailEnd type="stealth" w="med" len="med"/>
              </a:ln>
            </p:spPr>
          </p:sp>
          <p:sp>
            <p:nvSpPr>
              <p:cNvPr id="119981" name="Oval 1195"/>
              <p:cNvSpPr/>
              <p:nvPr/>
            </p:nvSpPr>
            <p:spPr>
              <a:xfrm>
                <a:off x="3461" y="3028"/>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2" name="Oval 1196"/>
              <p:cNvSpPr/>
              <p:nvPr/>
            </p:nvSpPr>
            <p:spPr>
              <a:xfrm>
                <a:off x="3330" y="3239"/>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3" name="Oval 1197"/>
              <p:cNvSpPr/>
              <p:nvPr/>
            </p:nvSpPr>
            <p:spPr>
              <a:xfrm>
                <a:off x="3461" y="3167"/>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4" name="Oval 1198"/>
              <p:cNvSpPr/>
              <p:nvPr/>
            </p:nvSpPr>
            <p:spPr>
              <a:xfrm>
                <a:off x="3390" y="2955"/>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5" name="Oval 1199"/>
              <p:cNvSpPr/>
              <p:nvPr/>
            </p:nvSpPr>
            <p:spPr>
              <a:xfrm>
                <a:off x="3325" y="3318"/>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6" name="Oval 1200"/>
              <p:cNvSpPr/>
              <p:nvPr/>
            </p:nvSpPr>
            <p:spPr>
              <a:xfrm>
                <a:off x="3456" y="3245"/>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7" name="Oval 1201"/>
              <p:cNvSpPr/>
              <p:nvPr/>
            </p:nvSpPr>
            <p:spPr>
              <a:xfrm>
                <a:off x="3587" y="3173"/>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8" name="Oval 1202"/>
              <p:cNvSpPr/>
              <p:nvPr/>
            </p:nvSpPr>
            <p:spPr>
              <a:xfrm>
                <a:off x="3521" y="2955"/>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89" name="Oval 1203"/>
              <p:cNvSpPr/>
              <p:nvPr/>
            </p:nvSpPr>
            <p:spPr>
              <a:xfrm>
                <a:off x="3254" y="3324"/>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0" name="Oval 1204"/>
              <p:cNvSpPr/>
              <p:nvPr/>
            </p:nvSpPr>
            <p:spPr>
              <a:xfrm>
                <a:off x="3652" y="2882"/>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1" name="Oval 1205"/>
              <p:cNvSpPr/>
              <p:nvPr/>
            </p:nvSpPr>
            <p:spPr>
              <a:xfrm>
                <a:off x="3658" y="2816"/>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2" name="Oval 1206"/>
              <p:cNvSpPr/>
              <p:nvPr/>
            </p:nvSpPr>
            <p:spPr>
              <a:xfrm>
                <a:off x="3325" y="3463"/>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3" name="Oval 1207"/>
              <p:cNvSpPr/>
              <p:nvPr/>
            </p:nvSpPr>
            <p:spPr>
              <a:xfrm>
                <a:off x="3521" y="3318"/>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4" name="Oval 1208"/>
              <p:cNvSpPr/>
              <p:nvPr/>
            </p:nvSpPr>
            <p:spPr>
              <a:xfrm>
                <a:off x="3587" y="3028"/>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5" name="Oval 1209"/>
              <p:cNvSpPr/>
              <p:nvPr/>
            </p:nvSpPr>
            <p:spPr>
              <a:xfrm>
                <a:off x="3521" y="3245"/>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6" name="Oval 1210"/>
              <p:cNvSpPr/>
              <p:nvPr/>
            </p:nvSpPr>
            <p:spPr>
              <a:xfrm>
                <a:off x="3521" y="3100"/>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7" name="Oval 1211"/>
              <p:cNvSpPr/>
              <p:nvPr/>
            </p:nvSpPr>
            <p:spPr>
              <a:xfrm>
                <a:off x="3456" y="3463"/>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8" name="Oval 1212"/>
              <p:cNvSpPr/>
              <p:nvPr/>
            </p:nvSpPr>
            <p:spPr>
              <a:xfrm>
                <a:off x="3408" y="3300"/>
                <a:ext cx="55" cy="60"/>
              </a:xfrm>
              <a:prstGeom prst="ellipse">
                <a:avLst/>
              </a:prstGeom>
              <a:solidFill>
                <a:srgbClr val="800000"/>
              </a:solidFill>
              <a:ln w="381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19999" name="Oval 1213"/>
              <p:cNvSpPr/>
              <p:nvPr/>
            </p:nvSpPr>
            <p:spPr>
              <a:xfrm>
                <a:off x="3592" y="3094"/>
                <a:ext cx="55" cy="61"/>
              </a:xfrm>
              <a:prstGeom prst="ellipse">
                <a:avLst/>
              </a:prstGeom>
              <a:solidFill>
                <a:srgbClr val="800000"/>
              </a:solidFill>
              <a:ln w="381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0" name="Oval 1214"/>
              <p:cNvSpPr/>
              <p:nvPr/>
            </p:nvSpPr>
            <p:spPr>
              <a:xfrm>
                <a:off x="3652" y="3100"/>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1" name="Oval 1215"/>
              <p:cNvSpPr/>
              <p:nvPr/>
            </p:nvSpPr>
            <p:spPr>
              <a:xfrm>
                <a:off x="3385" y="3469"/>
                <a:ext cx="54" cy="61"/>
              </a:xfrm>
              <a:prstGeom prst="ellipse">
                <a:avLst/>
              </a:prstGeom>
              <a:solidFill>
                <a:srgbClr val="800000"/>
              </a:solidFill>
              <a:ln w="381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2" name="Oval 1216"/>
              <p:cNvSpPr/>
              <p:nvPr/>
            </p:nvSpPr>
            <p:spPr>
              <a:xfrm>
                <a:off x="3456" y="3608"/>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3" name="Oval 1217"/>
              <p:cNvSpPr/>
              <p:nvPr/>
            </p:nvSpPr>
            <p:spPr>
              <a:xfrm>
                <a:off x="3527" y="3239"/>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4" name="Oval 1218"/>
              <p:cNvSpPr/>
              <p:nvPr/>
            </p:nvSpPr>
            <p:spPr>
              <a:xfrm>
                <a:off x="3360" y="3059"/>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5" name="Oval 1219"/>
              <p:cNvSpPr/>
              <p:nvPr/>
            </p:nvSpPr>
            <p:spPr>
              <a:xfrm>
                <a:off x="3390" y="2955"/>
                <a:ext cx="55"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6" name="Oval 1220"/>
              <p:cNvSpPr/>
              <p:nvPr/>
            </p:nvSpPr>
            <p:spPr>
              <a:xfrm>
                <a:off x="3461" y="2876"/>
                <a:ext cx="55"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7" name="Oval 1221"/>
              <p:cNvSpPr/>
              <p:nvPr/>
            </p:nvSpPr>
            <p:spPr>
              <a:xfrm>
                <a:off x="3325" y="3173"/>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8" name="Oval 1222"/>
              <p:cNvSpPr/>
              <p:nvPr/>
            </p:nvSpPr>
            <p:spPr>
              <a:xfrm>
                <a:off x="3658" y="2671"/>
                <a:ext cx="54" cy="60"/>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09" name="Oval 1223"/>
              <p:cNvSpPr/>
              <p:nvPr/>
            </p:nvSpPr>
            <p:spPr>
              <a:xfrm>
                <a:off x="3396" y="3384"/>
                <a:ext cx="54" cy="61"/>
              </a:xfrm>
              <a:prstGeom prst="ellipse">
                <a:avLst/>
              </a:prstGeom>
              <a:solidFill>
                <a:srgbClr val="80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10" name="Oval 1224"/>
              <p:cNvSpPr/>
              <p:nvPr/>
            </p:nvSpPr>
            <p:spPr>
              <a:xfrm>
                <a:off x="3587" y="2882"/>
                <a:ext cx="54" cy="61"/>
              </a:xfrm>
              <a:prstGeom prst="ellipse">
                <a:avLst/>
              </a:prstGeom>
              <a:solidFill>
                <a:srgbClr val="800000"/>
              </a:solidFill>
              <a:ln w="381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11" name="Rectangle 1225"/>
              <p:cNvSpPr/>
              <p:nvPr/>
            </p:nvSpPr>
            <p:spPr>
              <a:xfrm>
                <a:off x="2841" y="1872"/>
                <a:ext cx="316" cy="364"/>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sp>
            <p:nvSpPr>
              <p:cNvPr id="120012" name="Oval 1226"/>
              <p:cNvSpPr/>
              <p:nvPr/>
            </p:nvSpPr>
            <p:spPr>
              <a:xfrm>
                <a:off x="3385" y="2223"/>
                <a:ext cx="54" cy="61"/>
              </a:xfrm>
              <a:prstGeom prst="ellipse">
                <a:avLst/>
              </a:prstGeom>
              <a:solidFill>
                <a:srgbClr val="800000"/>
              </a:solidFill>
              <a:ln w="381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013" name="Rectangle 1227"/>
              <p:cNvSpPr/>
              <p:nvPr/>
            </p:nvSpPr>
            <p:spPr>
              <a:xfrm>
                <a:off x="4677" y="3648"/>
                <a:ext cx="317" cy="364"/>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sp>
            <p:nvSpPr>
              <p:cNvPr id="120014" name="Freeform 1228"/>
              <p:cNvSpPr/>
              <p:nvPr/>
            </p:nvSpPr>
            <p:spPr>
              <a:xfrm>
                <a:off x="3256" y="2114"/>
                <a:ext cx="285" cy="271"/>
              </a:xfrm>
              <a:custGeom>
                <a:avLst/>
                <a:gdLst/>
                <a:ahLst/>
                <a:cxnLst>
                  <a:cxn ang="0">
                    <a:pos x="225" y="34"/>
                  </a:cxn>
                  <a:cxn ang="0">
                    <a:pos x="92" y="27"/>
                  </a:cxn>
                  <a:cxn ang="0">
                    <a:pos x="47" y="42"/>
                  </a:cxn>
                  <a:cxn ang="0">
                    <a:pos x="92" y="271"/>
                  </a:cxn>
                  <a:cxn ang="0">
                    <a:pos x="225" y="264"/>
                  </a:cxn>
                  <a:cxn ang="0">
                    <a:pos x="284" y="153"/>
                  </a:cxn>
                  <a:cxn ang="0">
                    <a:pos x="277" y="86"/>
                  </a:cxn>
                  <a:cxn ang="0">
                    <a:pos x="255" y="79"/>
                  </a:cxn>
                  <a:cxn ang="0">
                    <a:pos x="225" y="34"/>
                  </a:cxn>
                </a:cxnLst>
                <a:pathLst>
                  <a:path w="285" h="271">
                    <a:moveTo>
                      <a:pt x="225" y="34"/>
                    </a:moveTo>
                    <a:cubicBezTo>
                      <a:pt x="175" y="0"/>
                      <a:pt x="201" y="11"/>
                      <a:pt x="92" y="27"/>
                    </a:cubicBezTo>
                    <a:cubicBezTo>
                      <a:pt x="76" y="29"/>
                      <a:pt x="47" y="42"/>
                      <a:pt x="47" y="42"/>
                    </a:cubicBezTo>
                    <a:cubicBezTo>
                      <a:pt x="0" y="116"/>
                      <a:pt x="20" y="225"/>
                      <a:pt x="92" y="271"/>
                    </a:cubicBezTo>
                    <a:cubicBezTo>
                      <a:pt x="136" y="269"/>
                      <a:pt x="181" y="270"/>
                      <a:pt x="225" y="264"/>
                    </a:cubicBezTo>
                    <a:cubicBezTo>
                      <a:pt x="266" y="258"/>
                      <a:pt x="277" y="183"/>
                      <a:pt x="284" y="153"/>
                    </a:cubicBezTo>
                    <a:cubicBezTo>
                      <a:pt x="282" y="131"/>
                      <a:pt x="285" y="107"/>
                      <a:pt x="277" y="86"/>
                    </a:cubicBezTo>
                    <a:cubicBezTo>
                      <a:pt x="274" y="79"/>
                      <a:pt x="259" y="85"/>
                      <a:pt x="255" y="79"/>
                    </a:cubicBezTo>
                    <a:cubicBezTo>
                      <a:pt x="220" y="29"/>
                      <a:pt x="262" y="34"/>
                      <a:pt x="225" y="34"/>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120015" name="Freeform 1229"/>
              <p:cNvSpPr/>
              <p:nvPr/>
            </p:nvSpPr>
            <p:spPr>
              <a:xfrm>
                <a:off x="3414" y="2623"/>
                <a:ext cx="423" cy="415"/>
              </a:xfrm>
              <a:custGeom>
                <a:avLst/>
                <a:gdLst/>
                <a:ahLst/>
                <a:cxnLst>
                  <a:cxn ang="0">
                    <a:pos x="289" y="14"/>
                  </a:cxn>
                  <a:cxn ang="0">
                    <a:pos x="156" y="22"/>
                  </a:cxn>
                  <a:cxn ang="0">
                    <a:pos x="112" y="44"/>
                  </a:cxn>
                  <a:cxn ang="0">
                    <a:pos x="67" y="81"/>
                  </a:cxn>
                  <a:cxn ang="0">
                    <a:pos x="15" y="170"/>
                  </a:cxn>
                  <a:cxn ang="0">
                    <a:pos x="30" y="311"/>
                  </a:cxn>
                  <a:cxn ang="0">
                    <a:pos x="45" y="355"/>
                  </a:cxn>
                  <a:cxn ang="0">
                    <a:pos x="178" y="414"/>
                  </a:cxn>
                  <a:cxn ang="0">
                    <a:pos x="304" y="407"/>
                  </a:cxn>
                  <a:cxn ang="0">
                    <a:pos x="326" y="385"/>
                  </a:cxn>
                  <a:cxn ang="0">
                    <a:pos x="386" y="362"/>
                  </a:cxn>
                  <a:cxn ang="0">
                    <a:pos x="423" y="303"/>
                  </a:cxn>
                  <a:cxn ang="0">
                    <a:pos x="386" y="81"/>
                  </a:cxn>
                  <a:cxn ang="0">
                    <a:pos x="363" y="36"/>
                  </a:cxn>
                  <a:cxn ang="0">
                    <a:pos x="319" y="22"/>
                  </a:cxn>
                  <a:cxn ang="0">
                    <a:pos x="289" y="14"/>
                  </a:cxn>
                </a:cxnLst>
                <a:pathLst>
                  <a:path w="423" h="415">
                    <a:moveTo>
                      <a:pt x="289" y="14"/>
                    </a:moveTo>
                    <a:cubicBezTo>
                      <a:pt x="245" y="0"/>
                      <a:pt x="200" y="12"/>
                      <a:pt x="156" y="22"/>
                    </a:cubicBezTo>
                    <a:cubicBezTo>
                      <a:pt x="142" y="31"/>
                      <a:pt x="126" y="35"/>
                      <a:pt x="112" y="44"/>
                    </a:cubicBezTo>
                    <a:cubicBezTo>
                      <a:pt x="96" y="55"/>
                      <a:pt x="83" y="70"/>
                      <a:pt x="67" y="81"/>
                    </a:cubicBezTo>
                    <a:cubicBezTo>
                      <a:pt x="47" y="111"/>
                      <a:pt x="35" y="141"/>
                      <a:pt x="15" y="170"/>
                    </a:cubicBezTo>
                    <a:cubicBezTo>
                      <a:pt x="0" y="219"/>
                      <a:pt x="15" y="265"/>
                      <a:pt x="30" y="311"/>
                    </a:cubicBezTo>
                    <a:cubicBezTo>
                      <a:pt x="35" y="326"/>
                      <a:pt x="34" y="344"/>
                      <a:pt x="45" y="355"/>
                    </a:cubicBezTo>
                    <a:cubicBezTo>
                      <a:pt x="80" y="390"/>
                      <a:pt x="133" y="400"/>
                      <a:pt x="178" y="414"/>
                    </a:cubicBezTo>
                    <a:cubicBezTo>
                      <a:pt x="220" y="412"/>
                      <a:pt x="263" y="415"/>
                      <a:pt x="304" y="407"/>
                    </a:cubicBezTo>
                    <a:cubicBezTo>
                      <a:pt x="314" y="405"/>
                      <a:pt x="318" y="391"/>
                      <a:pt x="326" y="385"/>
                    </a:cubicBezTo>
                    <a:cubicBezTo>
                      <a:pt x="347" y="370"/>
                      <a:pt x="362" y="368"/>
                      <a:pt x="386" y="362"/>
                    </a:cubicBezTo>
                    <a:cubicBezTo>
                      <a:pt x="413" y="345"/>
                      <a:pt x="412" y="332"/>
                      <a:pt x="423" y="303"/>
                    </a:cubicBezTo>
                    <a:cubicBezTo>
                      <a:pt x="417" y="221"/>
                      <a:pt x="413" y="156"/>
                      <a:pt x="386" y="81"/>
                    </a:cubicBezTo>
                    <a:cubicBezTo>
                      <a:pt x="382" y="70"/>
                      <a:pt x="374" y="43"/>
                      <a:pt x="363" y="36"/>
                    </a:cubicBezTo>
                    <a:cubicBezTo>
                      <a:pt x="350" y="28"/>
                      <a:pt x="319" y="22"/>
                      <a:pt x="319" y="22"/>
                    </a:cubicBezTo>
                    <a:cubicBezTo>
                      <a:pt x="294" y="5"/>
                      <a:pt x="304" y="1"/>
                      <a:pt x="289" y="14"/>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120016" name="Freeform 1230"/>
              <p:cNvSpPr/>
              <p:nvPr/>
            </p:nvSpPr>
            <p:spPr>
              <a:xfrm>
                <a:off x="3285" y="2919"/>
                <a:ext cx="494" cy="363"/>
              </a:xfrm>
              <a:custGeom>
                <a:avLst/>
                <a:gdLst/>
                <a:ahLst/>
                <a:cxnLst>
                  <a:cxn ang="0">
                    <a:pos x="167" y="15"/>
                  </a:cxn>
                  <a:cxn ang="0">
                    <a:pos x="48" y="44"/>
                  </a:cxn>
                  <a:cxn ang="0">
                    <a:pos x="18" y="155"/>
                  </a:cxn>
                  <a:cxn ang="0">
                    <a:pos x="26" y="177"/>
                  </a:cxn>
                  <a:cxn ang="0">
                    <a:pos x="115" y="207"/>
                  </a:cxn>
                  <a:cxn ang="0">
                    <a:pos x="255" y="244"/>
                  </a:cxn>
                  <a:cxn ang="0">
                    <a:pos x="315" y="296"/>
                  </a:cxn>
                  <a:cxn ang="0">
                    <a:pos x="418" y="363"/>
                  </a:cxn>
                  <a:cxn ang="0">
                    <a:pos x="478" y="348"/>
                  </a:cxn>
                  <a:cxn ang="0">
                    <a:pos x="492" y="303"/>
                  </a:cxn>
                  <a:cxn ang="0">
                    <a:pos x="478" y="207"/>
                  </a:cxn>
                  <a:cxn ang="0">
                    <a:pos x="433" y="177"/>
                  </a:cxn>
                  <a:cxn ang="0">
                    <a:pos x="270" y="111"/>
                  </a:cxn>
                  <a:cxn ang="0">
                    <a:pos x="159" y="37"/>
                  </a:cxn>
                  <a:cxn ang="0">
                    <a:pos x="144" y="15"/>
                  </a:cxn>
                  <a:cxn ang="0">
                    <a:pos x="167" y="15"/>
                  </a:cxn>
                </a:cxnLst>
                <a:pathLst>
                  <a:path w="494" h="363">
                    <a:moveTo>
                      <a:pt x="167" y="15"/>
                    </a:moveTo>
                    <a:cubicBezTo>
                      <a:pt x="124" y="0"/>
                      <a:pt x="89" y="31"/>
                      <a:pt x="48" y="44"/>
                    </a:cubicBezTo>
                    <a:cubicBezTo>
                      <a:pt x="0" y="77"/>
                      <a:pt x="8" y="89"/>
                      <a:pt x="18" y="155"/>
                    </a:cubicBezTo>
                    <a:cubicBezTo>
                      <a:pt x="19" y="163"/>
                      <a:pt x="20" y="171"/>
                      <a:pt x="26" y="177"/>
                    </a:cubicBezTo>
                    <a:cubicBezTo>
                      <a:pt x="42" y="193"/>
                      <a:pt x="94" y="201"/>
                      <a:pt x="115" y="207"/>
                    </a:cubicBezTo>
                    <a:cubicBezTo>
                      <a:pt x="160" y="238"/>
                      <a:pt x="199" y="239"/>
                      <a:pt x="255" y="244"/>
                    </a:cubicBezTo>
                    <a:cubicBezTo>
                      <a:pt x="280" y="260"/>
                      <a:pt x="290" y="280"/>
                      <a:pt x="315" y="296"/>
                    </a:cubicBezTo>
                    <a:cubicBezTo>
                      <a:pt x="348" y="344"/>
                      <a:pt x="367" y="345"/>
                      <a:pt x="418" y="363"/>
                    </a:cubicBezTo>
                    <a:cubicBezTo>
                      <a:pt x="424" y="362"/>
                      <a:pt x="476" y="351"/>
                      <a:pt x="478" y="348"/>
                    </a:cubicBezTo>
                    <a:cubicBezTo>
                      <a:pt x="487" y="335"/>
                      <a:pt x="492" y="303"/>
                      <a:pt x="492" y="303"/>
                    </a:cubicBezTo>
                    <a:cubicBezTo>
                      <a:pt x="489" y="271"/>
                      <a:pt x="494" y="235"/>
                      <a:pt x="478" y="207"/>
                    </a:cubicBezTo>
                    <a:cubicBezTo>
                      <a:pt x="461" y="178"/>
                      <a:pt x="456" y="190"/>
                      <a:pt x="433" y="177"/>
                    </a:cubicBezTo>
                    <a:cubicBezTo>
                      <a:pt x="360" y="136"/>
                      <a:pt x="357" y="123"/>
                      <a:pt x="270" y="111"/>
                    </a:cubicBezTo>
                    <a:cubicBezTo>
                      <a:pt x="227" y="95"/>
                      <a:pt x="189" y="73"/>
                      <a:pt x="159" y="37"/>
                    </a:cubicBezTo>
                    <a:cubicBezTo>
                      <a:pt x="153" y="30"/>
                      <a:pt x="141" y="23"/>
                      <a:pt x="144" y="15"/>
                    </a:cubicBezTo>
                    <a:cubicBezTo>
                      <a:pt x="147" y="8"/>
                      <a:pt x="159" y="15"/>
                      <a:pt x="167" y="15"/>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120017" name="Freeform 1231"/>
              <p:cNvSpPr/>
              <p:nvPr/>
            </p:nvSpPr>
            <p:spPr>
              <a:xfrm>
                <a:off x="3305" y="3385"/>
                <a:ext cx="341" cy="341"/>
              </a:xfrm>
              <a:custGeom>
                <a:avLst/>
                <a:gdLst/>
                <a:ahLst/>
                <a:cxnLst>
                  <a:cxn ang="0">
                    <a:pos x="6" y="149"/>
                  </a:cxn>
                  <a:cxn ang="0">
                    <a:pos x="58" y="52"/>
                  </a:cxn>
                  <a:cxn ang="0">
                    <a:pos x="147" y="0"/>
                  </a:cxn>
                  <a:cxn ang="0">
                    <a:pos x="235" y="23"/>
                  </a:cxn>
                  <a:cxn ang="0">
                    <a:pos x="280" y="37"/>
                  </a:cxn>
                  <a:cxn ang="0">
                    <a:pos x="324" y="126"/>
                  </a:cxn>
                  <a:cxn ang="0">
                    <a:pos x="332" y="149"/>
                  </a:cxn>
                  <a:cxn ang="0">
                    <a:pos x="310" y="297"/>
                  </a:cxn>
                  <a:cxn ang="0">
                    <a:pos x="265" y="341"/>
                  </a:cxn>
                  <a:cxn ang="0">
                    <a:pos x="154" y="334"/>
                  </a:cxn>
                  <a:cxn ang="0">
                    <a:pos x="95" y="319"/>
                  </a:cxn>
                  <a:cxn ang="0">
                    <a:pos x="35" y="267"/>
                  </a:cxn>
                  <a:cxn ang="0">
                    <a:pos x="6" y="200"/>
                  </a:cxn>
                  <a:cxn ang="0">
                    <a:pos x="6" y="149"/>
                  </a:cxn>
                </a:cxnLst>
                <a:pathLst>
                  <a:path w="341" h="341">
                    <a:moveTo>
                      <a:pt x="6" y="149"/>
                    </a:moveTo>
                    <a:cubicBezTo>
                      <a:pt x="13" y="74"/>
                      <a:pt x="0" y="72"/>
                      <a:pt x="58" y="52"/>
                    </a:cubicBezTo>
                    <a:cubicBezTo>
                      <a:pt x="82" y="15"/>
                      <a:pt x="108" y="14"/>
                      <a:pt x="147" y="0"/>
                    </a:cubicBezTo>
                    <a:cubicBezTo>
                      <a:pt x="179" y="6"/>
                      <a:pt x="204" y="13"/>
                      <a:pt x="235" y="23"/>
                    </a:cubicBezTo>
                    <a:cubicBezTo>
                      <a:pt x="250" y="28"/>
                      <a:pt x="280" y="37"/>
                      <a:pt x="280" y="37"/>
                    </a:cubicBezTo>
                    <a:cubicBezTo>
                      <a:pt x="320" y="97"/>
                      <a:pt x="303" y="63"/>
                      <a:pt x="324" y="126"/>
                    </a:cubicBezTo>
                    <a:cubicBezTo>
                      <a:pt x="327" y="134"/>
                      <a:pt x="332" y="149"/>
                      <a:pt x="332" y="149"/>
                    </a:cubicBezTo>
                    <a:cubicBezTo>
                      <a:pt x="326" y="199"/>
                      <a:pt x="341" y="258"/>
                      <a:pt x="310" y="297"/>
                    </a:cubicBezTo>
                    <a:cubicBezTo>
                      <a:pt x="297" y="314"/>
                      <a:pt x="265" y="341"/>
                      <a:pt x="265" y="341"/>
                    </a:cubicBezTo>
                    <a:cubicBezTo>
                      <a:pt x="228" y="339"/>
                      <a:pt x="191" y="339"/>
                      <a:pt x="154" y="334"/>
                    </a:cubicBezTo>
                    <a:cubicBezTo>
                      <a:pt x="134" y="331"/>
                      <a:pt x="95" y="319"/>
                      <a:pt x="95" y="319"/>
                    </a:cubicBezTo>
                    <a:cubicBezTo>
                      <a:pt x="70" y="303"/>
                      <a:pt x="60" y="283"/>
                      <a:pt x="35" y="267"/>
                    </a:cubicBezTo>
                    <a:cubicBezTo>
                      <a:pt x="18" y="214"/>
                      <a:pt x="29" y="236"/>
                      <a:pt x="6" y="200"/>
                    </a:cubicBezTo>
                    <a:cubicBezTo>
                      <a:pt x="14" y="153"/>
                      <a:pt x="24" y="167"/>
                      <a:pt x="6" y="149"/>
                    </a:cubicBezTo>
                    <a:close/>
                  </a:path>
                </a:pathLst>
              </a:custGeom>
              <a:noFill/>
              <a:ln w="19050" cap="flat" cmpd="sng">
                <a:solidFill>
                  <a:schemeClr val="tx1"/>
                </a:solidFill>
                <a:prstDash val="solid"/>
                <a:round/>
                <a:headEnd type="none" w="med" len="med"/>
                <a:tailEnd type="none" w="med" len="med"/>
              </a:ln>
            </p:spPr>
            <p:txBody>
              <a:bodyPr/>
              <a:p>
                <a:endParaRPr lang="en-US"/>
              </a:p>
            </p:txBody>
          </p:sp>
          <p:sp>
            <p:nvSpPr>
              <p:cNvPr id="120018" name="Freeform 1232"/>
              <p:cNvSpPr/>
              <p:nvPr/>
            </p:nvSpPr>
            <p:spPr>
              <a:xfrm>
                <a:off x="3205" y="3134"/>
                <a:ext cx="452" cy="311"/>
              </a:xfrm>
              <a:custGeom>
                <a:avLst/>
                <a:gdLst/>
                <a:ahLst/>
                <a:cxnLst>
                  <a:cxn ang="0">
                    <a:pos x="424" y="222"/>
                  </a:cxn>
                  <a:cxn ang="0">
                    <a:pos x="372" y="74"/>
                  </a:cxn>
                  <a:cxn ang="0">
                    <a:pos x="232" y="14"/>
                  </a:cxn>
                  <a:cxn ang="0">
                    <a:pos x="172" y="0"/>
                  </a:cxn>
                  <a:cxn ang="0">
                    <a:pos x="54" y="29"/>
                  </a:cxn>
                  <a:cxn ang="0">
                    <a:pos x="17" y="118"/>
                  </a:cxn>
                  <a:cxn ang="0">
                    <a:pos x="54" y="259"/>
                  </a:cxn>
                  <a:cxn ang="0">
                    <a:pos x="121" y="311"/>
                  </a:cxn>
                  <a:cxn ang="0">
                    <a:pos x="172" y="303"/>
                  </a:cxn>
                  <a:cxn ang="0">
                    <a:pos x="217" y="274"/>
                  </a:cxn>
                  <a:cxn ang="0">
                    <a:pos x="291" y="251"/>
                  </a:cxn>
                  <a:cxn ang="0">
                    <a:pos x="410" y="288"/>
                  </a:cxn>
                  <a:cxn ang="0">
                    <a:pos x="424" y="222"/>
                  </a:cxn>
                </a:cxnLst>
                <a:pathLst>
                  <a:path w="452" h="311">
                    <a:moveTo>
                      <a:pt x="424" y="222"/>
                    </a:moveTo>
                    <a:cubicBezTo>
                      <a:pt x="419" y="141"/>
                      <a:pt x="444" y="96"/>
                      <a:pt x="372" y="74"/>
                    </a:cubicBezTo>
                    <a:cubicBezTo>
                      <a:pt x="324" y="41"/>
                      <a:pt x="289" y="31"/>
                      <a:pt x="232" y="14"/>
                    </a:cubicBezTo>
                    <a:cubicBezTo>
                      <a:pt x="212" y="8"/>
                      <a:pt x="172" y="0"/>
                      <a:pt x="172" y="0"/>
                    </a:cubicBezTo>
                    <a:cubicBezTo>
                      <a:pt x="132" y="8"/>
                      <a:pt x="93" y="17"/>
                      <a:pt x="54" y="29"/>
                    </a:cubicBezTo>
                    <a:cubicBezTo>
                      <a:pt x="35" y="56"/>
                      <a:pt x="27" y="86"/>
                      <a:pt x="17" y="118"/>
                    </a:cubicBezTo>
                    <a:cubicBezTo>
                      <a:pt x="20" y="170"/>
                      <a:pt x="0" y="239"/>
                      <a:pt x="54" y="259"/>
                    </a:cubicBezTo>
                    <a:cubicBezTo>
                      <a:pt x="72" y="286"/>
                      <a:pt x="94" y="294"/>
                      <a:pt x="121" y="311"/>
                    </a:cubicBezTo>
                    <a:cubicBezTo>
                      <a:pt x="138" y="308"/>
                      <a:pt x="156" y="309"/>
                      <a:pt x="172" y="303"/>
                    </a:cubicBezTo>
                    <a:cubicBezTo>
                      <a:pt x="189" y="297"/>
                      <a:pt x="202" y="284"/>
                      <a:pt x="217" y="274"/>
                    </a:cubicBezTo>
                    <a:cubicBezTo>
                      <a:pt x="236" y="262"/>
                      <a:pt x="270" y="257"/>
                      <a:pt x="291" y="251"/>
                    </a:cubicBezTo>
                    <a:cubicBezTo>
                      <a:pt x="335" y="263"/>
                      <a:pt x="363" y="281"/>
                      <a:pt x="410" y="288"/>
                    </a:cubicBezTo>
                    <a:cubicBezTo>
                      <a:pt x="452" y="274"/>
                      <a:pt x="441" y="254"/>
                      <a:pt x="424" y="222"/>
                    </a:cubicBezTo>
                    <a:close/>
                  </a:path>
                </a:pathLst>
              </a:custGeom>
              <a:noFill/>
              <a:ln w="19050" cap="flat" cmpd="sng">
                <a:solidFill>
                  <a:schemeClr val="tx1"/>
                </a:solidFill>
                <a:prstDash val="solid"/>
                <a:round/>
                <a:headEnd type="none" w="med" len="med"/>
                <a:tailEnd type="none" w="med" len="med"/>
              </a:ln>
            </p:spPr>
            <p:txBody>
              <a:bodyPr/>
              <a:p>
                <a:endParaRPr lang="en-US"/>
              </a:p>
            </p:txBody>
          </p:sp>
        </p:grpSp>
      </p:grpSp>
      <p:sp>
        <p:nvSpPr>
          <p:cNvPr id="120019" name="Rectangle 1233"/>
          <p:cNvSpPr/>
          <p:nvPr/>
        </p:nvSpPr>
        <p:spPr>
          <a:xfrm>
            <a:off x="4876800" y="1828800"/>
            <a:ext cx="2147888" cy="519113"/>
          </a:xfrm>
          <a:prstGeom prst="rect">
            <a:avLst/>
          </a:prstGeom>
          <a:noFill/>
          <a:ln w="9525">
            <a:noFill/>
          </a:ln>
        </p:spPr>
        <p:txBody>
          <a:bodyPr wrap="none" anchor="t" anchorCtr="0">
            <a:spAutoFit/>
          </a:bodyPr>
          <a:p>
            <a:pPr lvl="1" indent="0" eaLnBrk="1" hangingPunct="1">
              <a:spcBef>
                <a:spcPct val="50000"/>
              </a:spcBef>
              <a:buClr>
                <a:schemeClr val="hlink"/>
              </a:buClr>
              <a:buSzPct val="55000"/>
              <a:buFont typeface="Wingdings" panose="05000000000000000000" pitchFamily="2" charset="2"/>
              <a:buChar char="n"/>
            </a:pPr>
            <a:r>
              <a:rPr lang="en-US" altLang="zh-CN" sz="2800" dirty="0">
                <a:latin typeface="Tahoma" panose="020B0604030504040204" pitchFamily="34" charset="0"/>
                <a:ea typeface="SimSun" panose="02010600030101010101" pitchFamily="2" charset="-122"/>
              </a:rPr>
              <a:t>s/pq = 5</a:t>
            </a:r>
            <a:endParaRPr lang="en-US" altLang="zh-CN" sz="2800" dirty="0">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1026"/>
          <p:cNvSpPr>
            <a:spLocks noGrp="1" noChangeArrowheads="1"/>
          </p:cNvSpPr>
          <p:nvPr>
            <p:ph type="title"/>
          </p:nvPr>
        </p:nvSpPr>
        <p:spPr>
          <a:xfrm>
            <a:off x="304800" y="304800"/>
            <a:ext cx="8347075" cy="387350"/>
          </a:xfrm>
        </p:spPr>
        <p:txBody>
          <a:bodyPr vert="horz" wrap="square" lIns="91440" tIns="45720" rIns="91440" bIns="45720" numCol="1" anchor="b"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29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rPr>
              <a:t>CURE: SHRINKING REPRESENTATIVE POINTS</a:t>
            </a:r>
            <a:endParaRPr kumimoji="0" lang="en-US" altLang="zh-CN" sz="2700" b="1" i="0" u="none" strike="noStrike" kern="1200" cap="small" spc="0" normalizeH="0" baseline="0" noProof="1" dirty="0">
              <a:solidFill>
                <a:srgbClr val="D519FF"/>
              </a:solidFill>
              <a:effectLst>
                <a:outerShdw blurRad="38100" dist="38100" dir="2700000">
                  <a:srgbClr val="C0C0C0"/>
                </a:outerShdw>
              </a:effectLst>
              <a:latin typeface="+mj-lt"/>
              <a:ea typeface="SimSun" panose="02010600030101010101" pitchFamily="2" charset="-122"/>
              <a:cs typeface="+mj-cs"/>
            </a:endParaRPr>
          </a:p>
        </p:txBody>
      </p:sp>
      <p:sp>
        <p:nvSpPr>
          <p:cNvPr id="120834" name="Rectangle 1027"/>
          <p:cNvSpPr>
            <a:spLocks noGrp="1"/>
          </p:cNvSpPr>
          <p:nvPr>
            <p:ph sz="quarter" idx="1"/>
          </p:nvPr>
        </p:nvSpPr>
        <p:spPr>
          <a:xfrm>
            <a:off x="381000" y="4953000"/>
            <a:ext cx="8534400" cy="1676400"/>
          </a:xfrm>
          <a:ln/>
        </p:spPr>
        <p:txBody>
          <a:bodyPr vert="horz" wrap="square" lIns="91440" tIns="45720" rIns="91440" bIns="45720" anchor="t" anchorCtr="0"/>
          <a:p>
            <a:pPr eaLnBrk="1" hangingPunct="1">
              <a:spcBef>
                <a:spcPct val="50000"/>
              </a:spcBef>
              <a:buClr>
                <a:schemeClr val="tx1"/>
              </a:buClr>
              <a:buSzPct val="70000"/>
              <a:buFont typeface="Wingdings" panose="05000000000000000000" pitchFamily="2" charset="2"/>
            </a:pPr>
            <a:r>
              <a:rPr lang="en-US" altLang="zh-CN" dirty="0">
                <a:ea typeface="SimSun" panose="02010600030101010101" pitchFamily="2" charset="-122"/>
              </a:rPr>
              <a:t>Shrink the multiple representative points towards the gravity center by a fraction of </a:t>
            </a:r>
            <a:r>
              <a:rPr lang="en-US" altLang="zh-CN" dirty="0">
                <a:ea typeface="SimSun" panose="02010600030101010101" pitchFamily="2" charset="-122"/>
                <a:sym typeface="Symbol" panose="05050102010706020507" pitchFamily="18" charset="2"/>
              </a:rPr>
              <a:t></a:t>
            </a:r>
            <a:r>
              <a:rPr lang="en-US" altLang="zh-CN" dirty="0">
                <a:ea typeface="SimSun" panose="02010600030101010101" pitchFamily="2" charset="-122"/>
              </a:rPr>
              <a:t>.</a:t>
            </a:r>
            <a:endParaRPr lang="en-US" altLang="zh-CN" dirty="0">
              <a:ea typeface="SimSun" panose="02010600030101010101" pitchFamily="2" charset="-122"/>
            </a:endParaRPr>
          </a:p>
          <a:p>
            <a:pPr eaLnBrk="1" hangingPunct="1">
              <a:spcBef>
                <a:spcPct val="50000"/>
              </a:spcBef>
              <a:buClr>
                <a:schemeClr val="tx1"/>
              </a:buClr>
              <a:buSzPct val="70000"/>
              <a:buFont typeface="Wingdings" panose="05000000000000000000" pitchFamily="2" charset="2"/>
            </a:pPr>
            <a:r>
              <a:rPr lang="en-US" altLang="zh-CN" dirty="0">
                <a:ea typeface="SimSun" panose="02010600030101010101" pitchFamily="2" charset="-122"/>
              </a:rPr>
              <a:t>Multiple representatives capture the shape of the cluster</a:t>
            </a:r>
            <a:endParaRPr lang="en-US" altLang="zh-CN" b="1" dirty="0">
              <a:ea typeface="SimSun" panose="02010600030101010101" pitchFamily="2" charset="-122"/>
            </a:endParaRPr>
          </a:p>
        </p:txBody>
      </p:sp>
      <p:sp>
        <p:nvSpPr>
          <p:cNvPr id="12083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083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pSp>
        <p:nvGrpSpPr>
          <p:cNvPr id="120837" name="Group 1028"/>
          <p:cNvGrpSpPr/>
          <p:nvPr/>
        </p:nvGrpSpPr>
        <p:grpSpPr>
          <a:xfrm>
            <a:off x="381000" y="1143000"/>
            <a:ext cx="3581400" cy="3695700"/>
            <a:chOff x="192" y="888"/>
            <a:chExt cx="2256" cy="2328"/>
          </a:xfrm>
        </p:grpSpPr>
        <p:sp>
          <p:nvSpPr>
            <p:cNvPr id="120838" name="Line 1029"/>
            <p:cNvSpPr/>
            <p:nvPr/>
          </p:nvSpPr>
          <p:spPr>
            <a:xfrm>
              <a:off x="541" y="994"/>
              <a:ext cx="0" cy="1839"/>
            </a:xfrm>
            <a:prstGeom prst="line">
              <a:avLst/>
            </a:prstGeom>
            <a:ln w="12700" cap="flat" cmpd="sng">
              <a:solidFill>
                <a:schemeClr val="tx1"/>
              </a:solidFill>
              <a:prstDash val="solid"/>
              <a:round/>
              <a:headEnd type="stealth" w="med" len="med"/>
              <a:tailEnd type="none" w="sm" len="sm"/>
            </a:ln>
          </p:spPr>
        </p:sp>
        <p:sp>
          <p:nvSpPr>
            <p:cNvPr id="120839" name="Line 1030"/>
            <p:cNvSpPr/>
            <p:nvPr/>
          </p:nvSpPr>
          <p:spPr>
            <a:xfrm>
              <a:off x="541" y="2833"/>
              <a:ext cx="1907" cy="0"/>
            </a:xfrm>
            <a:prstGeom prst="line">
              <a:avLst/>
            </a:prstGeom>
            <a:ln w="12700" cap="flat" cmpd="sng">
              <a:solidFill>
                <a:schemeClr val="tx1"/>
              </a:solidFill>
              <a:prstDash val="solid"/>
              <a:round/>
              <a:headEnd type="none" w="sm" len="sm"/>
              <a:tailEnd type="stealth" w="med" len="med"/>
            </a:ln>
          </p:spPr>
        </p:sp>
        <p:sp>
          <p:nvSpPr>
            <p:cNvPr id="120840" name="Oval 1031"/>
            <p:cNvSpPr/>
            <p:nvPr/>
          </p:nvSpPr>
          <p:spPr>
            <a:xfrm>
              <a:off x="970" y="187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1" name="Oval 1032"/>
            <p:cNvSpPr/>
            <p:nvPr/>
          </p:nvSpPr>
          <p:spPr>
            <a:xfrm>
              <a:off x="804" y="213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2" name="Oval 1033"/>
            <p:cNvSpPr/>
            <p:nvPr/>
          </p:nvSpPr>
          <p:spPr>
            <a:xfrm>
              <a:off x="970" y="2045"/>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3" name="Oval 1034"/>
            <p:cNvSpPr/>
            <p:nvPr/>
          </p:nvSpPr>
          <p:spPr>
            <a:xfrm>
              <a:off x="880" y="1789"/>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4" name="Oval 1035"/>
            <p:cNvSpPr/>
            <p:nvPr/>
          </p:nvSpPr>
          <p:spPr>
            <a:xfrm>
              <a:off x="797" y="222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5" name="Oval 1036"/>
            <p:cNvSpPr/>
            <p:nvPr/>
          </p:nvSpPr>
          <p:spPr>
            <a:xfrm>
              <a:off x="963" y="2140"/>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6" name="Oval 1037"/>
            <p:cNvSpPr/>
            <p:nvPr/>
          </p:nvSpPr>
          <p:spPr>
            <a:xfrm>
              <a:off x="1129" y="205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7" name="Oval 1038"/>
            <p:cNvSpPr/>
            <p:nvPr/>
          </p:nvSpPr>
          <p:spPr>
            <a:xfrm>
              <a:off x="1046" y="1789"/>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8" name="Oval 1039"/>
            <p:cNvSpPr/>
            <p:nvPr/>
          </p:nvSpPr>
          <p:spPr>
            <a:xfrm>
              <a:off x="707" y="2235"/>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49" name="Oval 1040"/>
            <p:cNvSpPr/>
            <p:nvPr/>
          </p:nvSpPr>
          <p:spPr>
            <a:xfrm>
              <a:off x="1212" y="170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0" name="Oval 1041"/>
            <p:cNvSpPr/>
            <p:nvPr/>
          </p:nvSpPr>
          <p:spPr>
            <a:xfrm>
              <a:off x="1378" y="1614"/>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1" name="Oval 1042"/>
            <p:cNvSpPr/>
            <p:nvPr/>
          </p:nvSpPr>
          <p:spPr>
            <a:xfrm>
              <a:off x="1219" y="162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2" name="Oval 1043"/>
            <p:cNvSpPr/>
            <p:nvPr/>
          </p:nvSpPr>
          <p:spPr>
            <a:xfrm>
              <a:off x="797" y="240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3" name="Oval 1044"/>
            <p:cNvSpPr/>
            <p:nvPr/>
          </p:nvSpPr>
          <p:spPr>
            <a:xfrm>
              <a:off x="1295" y="1877"/>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4" name="Oval 1045"/>
            <p:cNvSpPr/>
            <p:nvPr/>
          </p:nvSpPr>
          <p:spPr>
            <a:xfrm>
              <a:off x="1295" y="205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5" name="Oval 1046"/>
            <p:cNvSpPr/>
            <p:nvPr/>
          </p:nvSpPr>
          <p:spPr>
            <a:xfrm>
              <a:off x="1378" y="152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6" name="Oval 1047"/>
            <p:cNvSpPr/>
            <p:nvPr/>
          </p:nvSpPr>
          <p:spPr>
            <a:xfrm>
              <a:off x="2042" y="2490"/>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7" name="Oval 1048"/>
            <p:cNvSpPr/>
            <p:nvPr/>
          </p:nvSpPr>
          <p:spPr>
            <a:xfrm>
              <a:off x="2125" y="2490"/>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8" name="Oval 1049"/>
            <p:cNvSpPr/>
            <p:nvPr/>
          </p:nvSpPr>
          <p:spPr>
            <a:xfrm>
              <a:off x="2125" y="2402"/>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59" name="Oval 1050"/>
            <p:cNvSpPr/>
            <p:nvPr/>
          </p:nvSpPr>
          <p:spPr>
            <a:xfrm>
              <a:off x="2042" y="2578"/>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0" name="Oval 1051"/>
            <p:cNvSpPr/>
            <p:nvPr/>
          </p:nvSpPr>
          <p:spPr>
            <a:xfrm>
              <a:off x="2208" y="2578"/>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1" name="Oval 1052"/>
            <p:cNvSpPr/>
            <p:nvPr/>
          </p:nvSpPr>
          <p:spPr>
            <a:xfrm>
              <a:off x="2125" y="2665"/>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2" name="Oval 1053"/>
            <p:cNvSpPr/>
            <p:nvPr/>
          </p:nvSpPr>
          <p:spPr>
            <a:xfrm>
              <a:off x="1046" y="222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3" name="Oval 1054"/>
            <p:cNvSpPr/>
            <p:nvPr/>
          </p:nvSpPr>
          <p:spPr>
            <a:xfrm>
              <a:off x="1129" y="187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4" name="Oval 1055"/>
            <p:cNvSpPr/>
            <p:nvPr/>
          </p:nvSpPr>
          <p:spPr>
            <a:xfrm>
              <a:off x="1046" y="2140"/>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5" name="Oval 1056"/>
            <p:cNvSpPr/>
            <p:nvPr/>
          </p:nvSpPr>
          <p:spPr>
            <a:xfrm>
              <a:off x="1046" y="1965"/>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6" name="Oval 1057"/>
            <p:cNvSpPr/>
            <p:nvPr/>
          </p:nvSpPr>
          <p:spPr>
            <a:xfrm>
              <a:off x="963" y="240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7" name="Oval 1058"/>
            <p:cNvSpPr/>
            <p:nvPr/>
          </p:nvSpPr>
          <p:spPr>
            <a:xfrm>
              <a:off x="956" y="2235"/>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8" name="Oval 1059"/>
            <p:cNvSpPr/>
            <p:nvPr/>
          </p:nvSpPr>
          <p:spPr>
            <a:xfrm>
              <a:off x="1136" y="1957"/>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69" name="Oval 1060"/>
            <p:cNvSpPr/>
            <p:nvPr/>
          </p:nvSpPr>
          <p:spPr>
            <a:xfrm>
              <a:off x="1212" y="1965"/>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0" name="Oval 1061"/>
            <p:cNvSpPr/>
            <p:nvPr/>
          </p:nvSpPr>
          <p:spPr>
            <a:xfrm>
              <a:off x="873" y="2410"/>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1" name="Oval 1062"/>
            <p:cNvSpPr/>
            <p:nvPr/>
          </p:nvSpPr>
          <p:spPr>
            <a:xfrm>
              <a:off x="1378" y="187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2" name="Oval 1063"/>
            <p:cNvSpPr/>
            <p:nvPr/>
          </p:nvSpPr>
          <p:spPr>
            <a:xfrm>
              <a:off x="1544" y="1789"/>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3" name="Oval 1064"/>
            <p:cNvSpPr/>
            <p:nvPr/>
          </p:nvSpPr>
          <p:spPr>
            <a:xfrm>
              <a:off x="1295" y="170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4" name="Oval 1065"/>
            <p:cNvSpPr/>
            <p:nvPr/>
          </p:nvSpPr>
          <p:spPr>
            <a:xfrm>
              <a:off x="963" y="2578"/>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5" name="Oval 1066"/>
            <p:cNvSpPr/>
            <p:nvPr/>
          </p:nvSpPr>
          <p:spPr>
            <a:xfrm>
              <a:off x="1302" y="178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6" name="Oval 1067"/>
            <p:cNvSpPr/>
            <p:nvPr/>
          </p:nvSpPr>
          <p:spPr>
            <a:xfrm>
              <a:off x="1302" y="195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7" name="Oval 1068"/>
            <p:cNvSpPr/>
            <p:nvPr/>
          </p:nvSpPr>
          <p:spPr>
            <a:xfrm>
              <a:off x="1454" y="1519"/>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8" name="Oval 1069"/>
            <p:cNvSpPr/>
            <p:nvPr/>
          </p:nvSpPr>
          <p:spPr>
            <a:xfrm>
              <a:off x="1053" y="213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79" name="Oval 1070"/>
            <p:cNvSpPr/>
            <p:nvPr/>
          </p:nvSpPr>
          <p:spPr>
            <a:xfrm>
              <a:off x="1295" y="205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0" name="Oval 1071"/>
            <p:cNvSpPr/>
            <p:nvPr/>
          </p:nvSpPr>
          <p:spPr>
            <a:xfrm>
              <a:off x="1959" y="2227"/>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1" name="Oval 1072"/>
            <p:cNvSpPr/>
            <p:nvPr/>
          </p:nvSpPr>
          <p:spPr>
            <a:xfrm>
              <a:off x="2042" y="222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2" name="Oval 1073"/>
            <p:cNvSpPr/>
            <p:nvPr/>
          </p:nvSpPr>
          <p:spPr>
            <a:xfrm>
              <a:off x="2042" y="2140"/>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3" name="Oval 1074"/>
            <p:cNvSpPr/>
            <p:nvPr/>
          </p:nvSpPr>
          <p:spPr>
            <a:xfrm>
              <a:off x="1959" y="2315"/>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4" name="Oval 1075"/>
            <p:cNvSpPr/>
            <p:nvPr/>
          </p:nvSpPr>
          <p:spPr>
            <a:xfrm>
              <a:off x="2125" y="2315"/>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5" name="Oval 1076"/>
            <p:cNvSpPr/>
            <p:nvPr/>
          </p:nvSpPr>
          <p:spPr>
            <a:xfrm>
              <a:off x="2042" y="240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6" name="Oval 1077"/>
            <p:cNvSpPr/>
            <p:nvPr/>
          </p:nvSpPr>
          <p:spPr>
            <a:xfrm>
              <a:off x="804" y="1957"/>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7" name="Oval 1078"/>
            <p:cNvSpPr/>
            <p:nvPr/>
          </p:nvSpPr>
          <p:spPr>
            <a:xfrm>
              <a:off x="880" y="1789"/>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8" name="Oval 1079"/>
            <p:cNvSpPr/>
            <p:nvPr/>
          </p:nvSpPr>
          <p:spPr>
            <a:xfrm>
              <a:off x="970" y="1695"/>
              <a:ext cx="69" cy="72"/>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89" name="Oval 1080"/>
            <p:cNvSpPr/>
            <p:nvPr/>
          </p:nvSpPr>
          <p:spPr>
            <a:xfrm>
              <a:off x="797" y="2052"/>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90" name="Oval 1081"/>
            <p:cNvSpPr/>
            <p:nvPr/>
          </p:nvSpPr>
          <p:spPr>
            <a:xfrm>
              <a:off x="1219" y="1446"/>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91" name="Oval 1082"/>
            <p:cNvSpPr/>
            <p:nvPr/>
          </p:nvSpPr>
          <p:spPr>
            <a:xfrm>
              <a:off x="887" y="2308"/>
              <a:ext cx="69"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92" name="Oval 1083"/>
            <p:cNvSpPr/>
            <p:nvPr/>
          </p:nvSpPr>
          <p:spPr>
            <a:xfrm>
              <a:off x="1129" y="1702"/>
              <a:ext cx="69"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893" name="Rectangle 1084"/>
            <p:cNvSpPr/>
            <p:nvPr/>
          </p:nvSpPr>
          <p:spPr>
            <a:xfrm>
              <a:off x="2208" y="2928"/>
              <a:ext cx="212" cy="288"/>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sp>
          <p:nvSpPr>
            <p:cNvPr id="120894" name="Rectangle 1085"/>
            <p:cNvSpPr/>
            <p:nvPr/>
          </p:nvSpPr>
          <p:spPr>
            <a:xfrm>
              <a:off x="192" y="888"/>
              <a:ext cx="212" cy="288"/>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sp>
          <p:nvSpPr>
            <p:cNvPr id="120895" name="Freeform 1086"/>
            <p:cNvSpPr/>
            <p:nvPr/>
          </p:nvSpPr>
          <p:spPr>
            <a:xfrm>
              <a:off x="881" y="1517"/>
              <a:ext cx="423" cy="415"/>
            </a:xfrm>
            <a:custGeom>
              <a:avLst/>
              <a:gdLst/>
              <a:ahLst/>
              <a:cxnLst>
                <a:cxn ang="0">
                  <a:pos x="289" y="14"/>
                </a:cxn>
                <a:cxn ang="0">
                  <a:pos x="156" y="22"/>
                </a:cxn>
                <a:cxn ang="0">
                  <a:pos x="112" y="44"/>
                </a:cxn>
                <a:cxn ang="0">
                  <a:pos x="67" y="81"/>
                </a:cxn>
                <a:cxn ang="0">
                  <a:pos x="15" y="170"/>
                </a:cxn>
                <a:cxn ang="0">
                  <a:pos x="30" y="311"/>
                </a:cxn>
                <a:cxn ang="0">
                  <a:pos x="45" y="355"/>
                </a:cxn>
                <a:cxn ang="0">
                  <a:pos x="178" y="414"/>
                </a:cxn>
                <a:cxn ang="0">
                  <a:pos x="304" y="407"/>
                </a:cxn>
                <a:cxn ang="0">
                  <a:pos x="326" y="385"/>
                </a:cxn>
                <a:cxn ang="0">
                  <a:pos x="386" y="362"/>
                </a:cxn>
                <a:cxn ang="0">
                  <a:pos x="423" y="303"/>
                </a:cxn>
                <a:cxn ang="0">
                  <a:pos x="386" y="81"/>
                </a:cxn>
                <a:cxn ang="0">
                  <a:pos x="363" y="36"/>
                </a:cxn>
                <a:cxn ang="0">
                  <a:pos x="319" y="22"/>
                </a:cxn>
                <a:cxn ang="0">
                  <a:pos x="289" y="14"/>
                </a:cxn>
              </a:cxnLst>
              <a:pathLst>
                <a:path w="423" h="415">
                  <a:moveTo>
                    <a:pt x="289" y="14"/>
                  </a:moveTo>
                  <a:cubicBezTo>
                    <a:pt x="245" y="0"/>
                    <a:pt x="200" y="12"/>
                    <a:pt x="156" y="22"/>
                  </a:cubicBezTo>
                  <a:cubicBezTo>
                    <a:pt x="142" y="31"/>
                    <a:pt x="126" y="35"/>
                    <a:pt x="112" y="44"/>
                  </a:cubicBezTo>
                  <a:cubicBezTo>
                    <a:pt x="96" y="55"/>
                    <a:pt x="83" y="70"/>
                    <a:pt x="67" y="81"/>
                  </a:cubicBezTo>
                  <a:cubicBezTo>
                    <a:pt x="47" y="111"/>
                    <a:pt x="35" y="141"/>
                    <a:pt x="15" y="170"/>
                  </a:cubicBezTo>
                  <a:cubicBezTo>
                    <a:pt x="0" y="219"/>
                    <a:pt x="15" y="265"/>
                    <a:pt x="30" y="311"/>
                  </a:cubicBezTo>
                  <a:cubicBezTo>
                    <a:pt x="35" y="326"/>
                    <a:pt x="34" y="344"/>
                    <a:pt x="45" y="355"/>
                  </a:cubicBezTo>
                  <a:cubicBezTo>
                    <a:pt x="80" y="390"/>
                    <a:pt x="133" y="400"/>
                    <a:pt x="178" y="414"/>
                  </a:cubicBezTo>
                  <a:cubicBezTo>
                    <a:pt x="220" y="412"/>
                    <a:pt x="263" y="415"/>
                    <a:pt x="304" y="407"/>
                  </a:cubicBezTo>
                  <a:cubicBezTo>
                    <a:pt x="314" y="405"/>
                    <a:pt x="318" y="391"/>
                    <a:pt x="326" y="385"/>
                  </a:cubicBezTo>
                  <a:cubicBezTo>
                    <a:pt x="347" y="370"/>
                    <a:pt x="362" y="368"/>
                    <a:pt x="386" y="362"/>
                  </a:cubicBezTo>
                  <a:cubicBezTo>
                    <a:pt x="413" y="345"/>
                    <a:pt x="412" y="332"/>
                    <a:pt x="423" y="303"/>
                  </a:cubicBezTo>
                  <a:cubicBezTo>
                    <a:pt x="417" y="221"/>
                    <a:pt x="413" y="156"/>
                    <a:pt x="386" y="81"/>
                  </a:cubicBezTo>
                  <a:cubicBezTo>
                    <a:pt x="382" y="70"/>
                    <a:pt x="374" y="43"/>
                    <a:pt x="363" y="36"/>
                  </a:cubicBezTo>
                  <a:cubicBezTo>
                    <a:pt x="350" y="28"/>
                    <a:pt x="319" y="22"/>
                    <a:pt x="319" y="22"/>
                  </a:cubicBezTo>
                  <a:cubicBezTo>
                    <a:pt x="294" y="5"/>
                    <a:pt x="304" y="1"/>
                    <a:pt x="289" y="14"/>
                  </a:cubicBezTo>
                  <a:close/>
                </a:path>
              </a:pathLst>
            </a:custGeom>
            <a:noFill/>
            <a:ln w="19050" cap="flat" cmpd="sng">
              <a:solidFill>
                <a:schemeClr val="accent2"/>
              </a:solidFill>
              <a:prstDash val="solid"/>
              <a:round/>
              <a:headEnd type="none" w="med" len="med"/>
              <a:tailEnd type="none" w="med" len="med"/>
            </a:ln>
          </p:spPr>
          <p:txBody>
            <a:bodyPr/>
            <a:p>
              <a:endParaRPr lang="en-US"/>
            </a:p>
          </p:txBody>
        </p:sp>
        <p:sp>
          <p:nvSpPr>
            <p:cNvPr id="120896" name="Freeform 1087"/>
            <p:cNvSpPr/>
            <p:nvPr/>
          </p:nvSpPr>
          <p:spPr>
            <a:xfrm>
              <a:off x="752" y="1813"/>
              <a:ext cx="494" cy="363"/>
            </a:xfrm>
            <a:custGeom>
              <a:avLst/>
              <a:gdLst/>
              <a:ahLst/>
              <a:cxnLst>
                <a:cxn ang="0">
                  <a:pos x="167" y="15"/>
                </a:cxn>
                <a:cxn ang="0">
                  <a:pos x="48" y="44"/>
                </a:cxn>
                <a:cxn ang="0">
                  <a:pos x="18" y="155"/>
                </a:cxn>
                <a:cxn ang="0">
                  <a:pos x="26" y="177"/>
                </a:cxn>
                <a:cxn ang="0">
                  <a:pos x="115" y="207"/>
                </a:cxn>
                <a:cxn ang="0">
                  <a:pos x="255" y="244"/>
                </a:cxn>
                <a:cxn ang="0">
                  <a:pos x="315" y="296"/>
                </a:cxn>
                <a:cxn ang="0">
                  <a:pos x="418" y="363"/>
                </a:cxn>
                <a:cxn ang="0">
                  <a:pos x="478" y="348"/>
                </a:cxn>
                <a:cxn ang="0">
                  <a:pos x="492" y="303"/>
                </a:cxn>
                <a:cxn ang="0">
                  <a:pos x="478" y="207"/>
                </a:cxn>
                <a:cxn ang="0">
                  <a:pos x="433" y="177"/>
                </a:cxn>
                <a:cxn ang="0">
                  <a:pos x="270" y="111"/>
                </a:cxn>
                <a:cxn ang="0">
                  <a:pos x="159" y="37"/>
                </a:cxn>
                <a:cxn ang="0">
                  <a:pos x="144" y="15"/>
                </a:cxn>
                <a:cxn ang="0">
                  <a:pos x="167" y="15"/>
                </a:cxn>
              </a:cxnLst>
              <a:pathLst>
                <a:path w="494" h="363">
                  <a:moveTo>
                    <a:pt x="167" y="15"/>
                  </a:moveTo>
                  <a:cubicBezTo>
                    <a:pt x="124" y="0"/>
                    <a:pt x="89" y="31"/>
                    <a:pt x="48" y="44"/>
                  </a:cubicBezTo>
                  <a:cubicBezTo>
                    <a:pt x="0" y="77"/>
                    <a:pt x="8" y="89"/>
                    <a:pt x="18" y="155"/>
                  </a:cubicBezTo>
                  <a:cubicBezTo>
                    <a:pt x="19" y="163"/>
                    <a:pt x="20" y="171"/>
                    <a:pt x="26" y="177"/>
                  </a:cubicBezTo>
                  <a:cubicBezTo>
                    <a:pt x="42" y="193"/>
                    <a:pt x="94" y="201"/>
                    <a:pt x="115" y="207"/>
                  </a:cubicBezTo>
                  <a:cubicBezTo>
                    <a:pt x="160" y="238"/>
                    <a:pt x="199" y="239"/>
                    <a:pt x="255" y="244"/>
                  </a:cubicBezTo>
                  <a:cubicBezTo>
                    <a:pt x="280" y="260"/>
                    <a:pt x="290" y="280"/>
                    <a:pt x="315" y="296"/>
                  </a:cubicBezTo>
                  <a:cubicBezTo>
                    <a:pt x="348" y="344"/>
                    <a:pt x="367" y="345"/>
                    <a:pt x="418" y="363"/>
                  </a:cubicBezTo>
                  <a:cubicBezTo>
                    <a:pt x="424" y="362"/>
                    <a:pt x="476" y="351"/>
                    <a:pt x="478" y="348"/>
                  </a:cubicBezTo>
                  <a:cubicBezTo>
                    <a:pt x="487" y="335"/>
                    <a:pt x="492" y="303"/>
                    <a:pt x="492" y="303"/>
                  </a:cubicBezTo>
                  <a:cubicBezTo>
                    <a:pt x="489" y="271"/>
                    <a:pt x="494" y="235"/>
                    <a:pt x="478" y="207"/>
                  </a:cubicBezTo>
                  <a:cubicBezTo>
                    <a:pt x="461" y="178"/>
                    <a:pt x="456" y="190"/>
                    <a:pt x="433" y="177"/>
                  </a:cubicBezTo>
                  <a:cubicBezTo>
                    <a:pt x="360" y="136"/>
                    <a:pt x="357" y="123"/>
                    <a:pt x="270" y="111"/>
                  </a:cubicBezTo>
                  <a:cubicBezTo>
                    <a:pt x="227" y="95"/>
                    <a:pt x="189" y="73"/>
                    <a:pt x="159" y="37"/>
                  </a:cubicBezTo>
                  <a:cubicBezTo>
                    <a:pt x="153" y="30"/>
                    <a:pt x="141" y="23"/>
                    <a:pt x="144" y="15"/>
                  </a:cubicBezTo>
                  <a:cubicBezTo>
                    <a:pt x="147" y="8"/>
                    <a:pt x="159" y="15"/>
                    <a:pt x="167" y="15"/>
                  </a:cubicBezTo>
                  <a:close/>
                </a:path>
              </a:pathLst>
            </a:custGeom>
            <a:noFill/>
            <a:ln w="19050" cap="flat" cmpd="sng">
              <a:solidFill>
                <a:schemeClr val="accent2"/>
              </a:solidFill>
              <a:prstDash val="solid"/>
              <a:round/>
              <a:headEnd type="none" w="med" len="med"/>
              <a:tailEnd type="none" w="med" len="med"/>
            </a:ln>
          </p:spPr>
          <p:txBody>
            <a:bodyPr/>
            <a:p>
              <a:endParaRPr lang="en-US"/>
            </a:p>
          </p:txBody>
        </p:sp>
        <p:sp>
          <p:nvSpPr>
            <p:cNvPr id="120897" name="Freeform 1088"/>
            <p:cNvSpPr/>
            <p:nvPr/>
          </p:nvSpPr>
          <p:spPr>
            <a:xfrm>
              <a:off x="772" y="2279"/>
              <a:ext cx="341" cy="341"/>
            </a:xfrm>
            <a:custGeom>
              <a:avLst/>
              <a:gdLst/>
              <a:ahLst/>
              <a:cxnLst>
                <a:cxn ang="0">
                  <a:pos x="6" y="149"/>
                </a:cxn>
                <a:cxn ang="0">
                  <a:pos x="58" y="52"/>
                </a:cxn>
                <a:cxn ang="0">
                  <a:pos x="147" y="0"/>
                </a:cxn>
                <a:cxn ang="0">
                  <a:pos x="235" y="23"/>
                </a:cxn>
                <a:cxn ang="0">
                  <a:pos x="280" y="37"/>
                </a:cxn>
                <a:cxn ang="0">
                  <a:pos x="324" y="126"/>
                </a:cxn>
                <a:cxn ang="0">
                  <a:pos x="332" y="149"/>
                </a:cxn>
                <a:cxn ang="0">
                  <a:pos x="310" y="297"/>
                </a:cxn>
                <a:cxn ang="0">
                  <a:pos x="265" y="341"/>
                </a:cxn>
                <a:cxn ang="0">
                  <a:pos x="154" y="334"/>
                </a:cxn>
                <a:cxn ang="0">
                  <a:pos x="95" y="319"/>
                </a:cxn>
                <a:cxn ang="0">
                  <a:pos x="35" y="267"/>
                </a:cxn>
                <a:cxn ang="0">
                  <a:pos x="6" y="200"/>
                </a:cxn>
                <a:cxn ang="0">
                  <a:pos x="6" y="149"/>
                </a:cxn>
              </a:cxnLst>
              <a:pathLst>
                <a:path w="341" h="341">
                  <a:moveTo>
                    <a:pt x="6" y="149"/>
                  </a:moveTo>
                  <a:cubicBezTo>
                    <a:pt x="13" y="74"/>
                    <a:pt x="0" y="72"/>
                    <a:pt x="58" y="52"/>
                  </a:cubicBezTo>
                  <a:cubicBezTo>
                    <a:pt x="82" y="15"/>
                    <a:pt x="108" y="14"/>
                    <a:pt x="147" y="0"/>
                  </a:cubicBezTo>
                  <a:cubicBezTo>
                    <a:pt x="179" y="6"/>
                    <a:pt x="204" y="13"/>
                    <a:pt x="235" y="23"/>
                  </a:cubicBezTo>
                  <a:cubicBezTo>
                    <a:pt x="250" y="28"/>
                    <a:pt x="280" y="37"/>
                    <a:pt x="280" y="37"/>
                  </a:cubicBezTo>
                  <a:cubicBezTo>
                    <a:pt x="320" y="97"/>
                    <a:pt x="303" y="63"/>
                    <a:pt x="324" y="126"/>
                  </a:cubicBezTo>
                  <a:cubicBezTo>
                    <a:pt x="327" y="134"/>
                    <a:pt x="332" y="149"/>
                    <a:pt x="332" y="149"/>
                  </a:cubicBezTo>
                  <a:cubicBezTo>
                    <a:pt x="326" y="199"/>
                    <a:pt x="341" y="258"/>
                    <a:pt x="310" y="297"/>
                  </a:cubicBezTo>
                  <a:cubicBezTo>
                    <a:pt x="297" y="314"/>
                    <a:pt x="265" y="341"/>
                    <a:pt x="265" y="341"/>
                  </a:cubicBezTo>
                  <a:cubicBezTo>
                    <a:pt x="228" y="339"/>
                    <a:pt x="191" y="339"/>
                    <a:pt x="154" y="334"/>
                  </a:cubicBezTo>
                  <a:cubicBezTo>
                    <a:pt x="134" y="331"/>
                    <a:pt x="95" y="319"/>
                    <a:pt x="95" y="319"/>
                  </a:cubicBezTo>
                  <a:cubicBezTo>
                    <a:pt x="70" y="303"/>
                    <a:pt x="60" y="283"/>
                    <a:pt x="35" y="267"/>
                  </a:cubicBezTo>
                  <a:cubicBezTo>
                    <a:pt x="18" y="214"/>
                    <a:pt x="29" y="236"/>
                    <a:pt x="6" y="200"/>
                  </a:cubicBezTo>
                  <a:cubicBezTo>
                    <a:pt x="14" y="153"/>
                    <a:pt x="24" y="167"/>
                    <a:pt x="6" y="149"/>
                  </a:cubicBezTo>
                  <a:close/>
                </a:path>
              </a:pathLst>
            </a:custGeom>
            <a:noFill/>
            <a:ln w="19050" cap="flat" cmpd="sng">
              <a:solidFill>
                <a:schemeClr val="accent2"/>
              </a:solidFill>
              <a:prstDash val="solid"/>
              <a:round/>
              <a:headEnd type="none" w="med" len="med"/>
              <a:tailEnd type="none" w="med" len="med"/>
            </a:ln>
          </p:spPr>
          <p:txBody>
            <a:bodyPr/>
            <a:p>
              <a:endParaRPr lang="en-US"/>
            </a:p>
          </p:txBody>
        </p:sp>
        <p:sp>
          <p:nvSpPr>
            <p:cNvPr id="120898" name="Freeform 1089"/>
            <p:cNvSpPr/>
            <p:nvPr/>
          </p:nvSpPr>
          <p:spPr>
            <a:xfrm>
              <a:off x="672" y="2028"/>
              <a:ext cx="452" cy="311"/>
            </a:xfrm>
            <a:custGeom>
              <a:avLst/>
              <a:gdLst/>
              <a:ahLst/>
              <a:cxnLst>
                <a:cxn ang="0">
                  <a:pos x="424" y="222"/>
                </a:cxn>
                <a:cxn ang="0">
                  <a:pos x="372" y="74"/>
                </a:cxn>
                <a:cxn ang="0">
                  <a:pos x="232" y="14"/>
                </a:cxn>
                <a:cxn ang="0">
                  <a:pos x="172" y="0"/>
                </a:cxn>
                <a:cxn ang="0">
                  <a:pos x="54" y="29"/>
                </a:cxn>
                <a:cxn ang="0">
                  <a:pos x="17" y="118"/>
                </a:cxn>
                <a:cxn ang="0">
                  <a:pos x="54" y="259"/>
                </a:cxn>
                <a:cxn ang="0">
                  <a:pos x="121" y="311"/>
                </a:cxn>
                <a:cxn ang="0">
                  <a:pos x="172" y="303"/>
                </a:cxn>
                <a:cxn ang="0">
                  <a:pos x="217" y="274"/>
                </a:cxn>
                <a:cxn ang="0">
                  <a:pos x="291" y="251"/>
                </a:cxn>
                <a:cxn ang="0">
                  <a:pos x="410" y="288"/>
                </a:cxn>
                <a:cxn ang="0">
                  <a:pos x="424" y="222"/>
                </a:cxn>
              </a:cxnLst>
              <a:pathLst>
                <a:path w="452" h="311">
                  <a:moveTo>
                    <a:pt x="424" y="222"/>
                  </a:moveTo>
                  <a:cubicBezTo>
                    <a:pt x="419" y="141"/>
                    <a:pt x="444" y="96"/>
                    <a:pt x="372" y="74"/>
                  </a:cubicBezTo>
                  <a:cubicBezTo>
                    <a:pt x="324" y="41"/>
                    <a:pt x="289" y="31"/>
                    <a:pt x="232" y="14"/>
                  </a:cubicBezTo>
                  <a:cubicBezTo>
                    <a:pt x="212" y="8"/>
                    <a:pt x="172" y="0"/>
                    <a:pt x="172" y="0"/>
                  </a:cubicBezTo>
                  <a:cubicBezTo>
                    <a:pt x="132" y="8"/>
                    <a:pt x="93" y="17"/>
                    <a:pt x="54" y="29"/>
                  </a:cubicBezTo>
                  <a:cubicBezTo>
                    <a:pt x="35" y="56"/>
                    <a:pt x="27" y="86"/>
                    <a:pt x="17" y="118"/>
                  </a:cubicBezTo>
                  <a:cubicBezTo>
                    <a:pt x="20" y="170"/>
                    <a:pt x="0" y="239"/>
                    <a:pt x="54" y="259"/>
                  </a:cubicBezTo>
                  <a:cubicBezTo>
                    <a:pt x="72" y="286"/>
                    <a:pt x="94" y="294"/>
                    <a:pt x="121" y="311"/>
                  </a:cubicBezTo>
                  <a:cubicBezTo>
                    <a:pt x="138" y="308"/>
                    <a:pt x="156" y="309"/>
                    <a:pt x="172" y="303"/>
                  </a:cubicBezTo>
                  <a:cubicBezTo>
                    <a:pt x="189" y="297"/>
                    <a:pt x="202" y="284"/>
                    <a:pt x="217" y="274"/>
                  </a:cubicBezTo>
                  <a:cubicBezTo>
                    <a:pt x="236" y="262"/>
                    <a:pt x="270" y="257"/>
                    <a:pt x="291" y="251"/>
                  </a:cubicBezTo>
                  <a:cubicBezTo>
                    <a:pt x="335" y="263"/>
                    <a:pt x="363" y="281"/>
                    <a:pt x="410" y="288"/>
                  </a:cubicBezTo>
                  <a:cubicBezTo>
                    <a:pt x="452" y="274"/>
                    <a:pt x="441" y="254"/>
                    <a:pt x="424" y="222"/>
                  </a:cubicBezTo>
                  <a:close/>
                </a:path>
              </a:pathLst>
            </a:custGeom>
            <a:noFill/>
            <a:ln w="19050" cap="flat" cmpd="sng">
              <a:solidFill>
                <a:schemeClr val="accent2"/>
              </a:solidFill>
              <a:prstDash val="solid"/>
              <a:round/>
              <a:headEnd type="none" w="med" len="med"/>
              <a:tailEnd type="none" w="med" len="med"/>
            </a:ln>
          </p:spPr>
          <p:txBody>
            <a:bodyPr/>
            <a:p>
              <a:endParaRPr lang="en-US"/>
            </a:p>
          </p:txBody>
        </p:sp>
        <p:sp>
          <p:nvSpPr>
            <p:cNvPr id="120899" name="Freeform 1090"/>
            <p:cNvSpPr/>
            <p:nvPr/>
          </p:nvSpPr>
          <p:spPr>
            <a:xfrm>
              <a:off x="1187" y="1356"/>
              <a:ext cx="567" cy="513"/>
            </a:xfrm>
            <a:custGeom>
              <a:avLst/>
              <a:gdLst/>
              <a:ahLst/>
              <a:cxnLst>
                <a:cxn ang="0">
                  <a:pos x="28" y="22"/>
                </a:cxn>
                <a:cxn ang="0">
                  <a:pos x="57" y="207"/>
                </a:cxn>
                <a:cxn ang="0">
                  <a:pos x="117" y="281"/>
                </a:cxn>
                <a:cxn ang="0">
                  <a:pos x="131" y="429"/>
                </a:cxn>
                <a:cxn ang="0">
                  <a:pos x="205" y="452"/>
                </a:cxn>
                <a:cxn ang="0">
                  <a:pos x="250" y="466"/>
                </a:cxn>
                <a:cxn ang="0">
                  <a:pos x="383" y="511"/>
                </a:cxn>
                <a:cxn ang="0">
                  <a:pos x="539" y="466"/>
                </a:cxn>
                <a:cxn ang="0">
                  <a:pos x="561" y="400"/>
                </a:cxn>
                <a:cxn ang="0">
                  <a:pos x="509" y="163"/>
                </a:cxn>
                <a:cxn ang="0">
                  <a:pos x="472" y="111"/>
                </a:cxn>
                <a:cxn ang="0">
                  <a:pos x="450" y="81"/>
                </a:cxn>
                <a:cxn ang="0">
                  <a:pos x="191" y="0"/>
                </a:cxn>
                <a:cxn ang="0">
                  <a:pos x="65" y="7"/>
                </a:cxn>
                <a:cxn ang="0">
                  <a:pos x="28" y="22"/>
                </a:cxn>
              </a:cxnLst>
              <a:pathLst>
                <a:path w="567" h="513">
                  <a:moveTo>
                    <a:pt x="28" y="22"/>
                  </a:moveTo>
                  <a:cubicBezTo>
                    <a:pt x="24" y="80"/>
                    <a:pt x="0" y="168"/>
                    <a:pt x="57" y="207"/>
                  </a:cubicBezTo>
                  <a:cubicBezTo>
                    <a:pt x="75" y="234"/>
                    <a:pt x="99" y="254"/>
                    <a:pt x="117" y="281"/>
                  </a:cubicBezTo>
                  <a:cubicBezTo>
                    <a:pt x="126" y="330"/>
                    <a:pt x="120" y="381"/>
                    <a:pt x="131" y="429"/>
                  </a:cubicBezTo>
                  <a:cubicBezTo>
                    <a:pt x="137" y="454"/>
                    <a:pt x="180" y="446"/>
                    <a:pt x="205" y="452"/>
                  </a:cubicBezTo>
                  <a:cubicBezTo>
                    <a:pt x="220" y="456"/>
                    <a:pt x="250" y="466"/>
                    <a:pt x="250" y="466"/>
                  </a:cubicBezTo>
                  <a:cubicBezTo>
                    <a:pt x="290" y="493"/>
                    <a:pt x="336" y="501"/>
                    <a:pt x="383" y="511"/>
                  </a:cubicBezTo>
                  <a:cubicBezTo>
                    <a:pt x="509" y="502"/>
                    <a:pt x="469" y="513"/>
                    <a:pt x="539" y="466"/>
                  </a:cubicBezTo>
                  <a:cubicBezTo>
                    <a:pt x="546" y="444"/>
                    <a:pt x="554" y="422"/>
                    <a:pt x="561" y="400"/>
                  </a:cubicBezTo>
                  <a:cubicBezTo>
                    <a:pt x="557" y="329"/>
                    <a:pt x="567" y="221"/>
                    <a:pt x="509" y="163"/>
                  </a:cubicBezTo>
                  <a:cubicBezTo>
                    <a:pt x="496" y="121"/>
                    <a:pt x="511" y="155"/>
                    <a:pt x="472" y="111"/>
                  </a:cubicBezTo>
                  <a:cubicBezTo>
                    <a:pt x="464" y="102"/>
                    <a:pt x="459" y="89"/>
                    <a:pt x="450" y="81"/>
                  </a:cubicBezTo>
                  <a:cubicBezTo>
                    <a:pt x="398" y="35"/>
                    <a:pt x="261" y="9"/>
                    <a:pt x="191" y="0"/>
                  </a:cubicBezTo>
                  <a:cubicBezTo>
                    <a:pt x="149" y="2"/>
                    <a:pt x="107" y="3"/>
                    <a:pt x="65" y="7"/>
                  </a:cubicBezTo>
                  <a:cubicBezTo>
                    <a:pt x="39" y="9"/>
                    <a:pt x="28" y="54"/>
                    <a:pt x="28" y="22"/>
                  </a:cubicBezTo>
                  <a:close/>
                </a:path>
              </a:pathLst>
            </a:custGeom>
            <a:noFill/>
            <a:ln w="28575" cap="flat" cmpd="sng">
              <a:solidFill>
                <a:schemeClr val="accent2"/>
              </a:solidFill>
              <a:prstDash val="solid"/>
              <a:round/>
              <a:headEnd type="none" w="med" len="med"/>
              <a:tailEnd type="none" w="med" len="med"/>
            </a:ln>
          </p:spPr>
          <p:txBody>
            <a:bodyPr/>
            <a:p>
              <a:endParaRPr lang="en-US"/>
            </a:p>
          </p:txBody>
        </p:sp>
        <p:sp>
          <p:nvSpPr>
            <p:cNvPr id="120900" name="Freeform 1091"/>
            <p:cNvSpPr/>
            <p:nvPr/>
          </p:nvSpPr>
          <p:spPr>
            <a:xfrm>
              <a:off x="1207" y="1775"/>
              <a:ext cx="319" cy="395"/>
            </a:xfrm>
            <a:custGeom>
              <a:avLst/>
              <a:gdLst/>
              <a:ahLst/>
              <a:cxnLst>
                <a:cxn ang="0">
                  <a:pos x="252" y="366"/>
                </a:cxn>
                <a:cxn ang="0">
                  <a:pos x="319" y="292"/>
                </a:cxn>
                <a:cxn ang="0">
                  <a:pos x="311" y="158"/>
                </a:cxn>
                <a:cxn ang="0">
                  <a:pos x="304" y="114"/>
                </a:cxn>
                <a:cxn ang="0">
                  <a:pos x="282" y="107"/>
                </a:cxn>
                <a:cxn ang="0">
                  <a:pos x="200" y="40"/>
                </a:cxn>
                <a:cxn ang="0">
                  <a:pos x="178" y="18"/>
                </a:cxn>
                <a:cxn ang="0">
                  <a:pos x="60" y="107"/>
                </a:cxn>
                <a:cxn ang="0">
                  <a:pos x="45" y="129"/>
                </a:cxn>
                <a:cxn ang="0">
                  <a:pos x="23" y="144"/>
                </a:cxn>
                <a:cxn ang="0">
                  <a:pos x="0" y="188"/>
                </a:cxn>
                <a:cxn ang="0">
                  <a:pos x="52" y="351"/>
                </a:cxn>
                <a:cxn ang="0">
                  <a:pos x="141" y="395"/>
                </a:cxn>
                <a:cxn ang="0">
                  <a:pos x="252" y="388"/>
                </a:cxn>
                <a:cxn ang="0">
                  <a:pos x="274" y="381"/>
                </a:cxn>
                <a:cxn ang="0">
                  <a:pos x="252" y="366"/>
                </a:cxn>
              </a:cxnLst>
              <a:pathLst>
                <a:path w="319" h="395">
                  <a:moveTo>
                    <a:pt x="252" y="366"/>
                  </a:moveTo>
                  <a:cubicBezTo>
                    <a:pt x="301" y="341"/>
                    <a:pt x="301" y="341"/>
                    <a:pt x="319" y="292"/>
                  </a:cubicBezTo>
                  <a:cubicBezTo>
                    <a:pt x="316" y="247"/>
                    <a:pt x="315" y="203"/>
                    <a:pt x="311" y="158"/>
                  </a:cubicBezTo>
                  <a:cubicBezTo>
                    <a:pt x="310" y="143"/>
                    <a:pt x="311" y="127"/>
                    <a:pt x="304" y="114"/>
                  </a:cubicBezTo>
                  <a:cubicBezTo>
                    <a:pt x="300" y="107"/>
                    <a:pt x="289" y="109"/>
                    <a:pt x="282" y="107"/>
                  </a:cubicBezTo>
                  <a:cubicBezTo>
                    <a:pt x="263" y="78"/>
                    <a:pt x="233" y="50"/>
                    <a:pt x="200" y="40"/>
                  </a:cubicBezTo>
                  <a:cubicBezTo>
                    <a:pt x="193" y="33"/>
                    <a:pt x="188" y="20"/>
                    <a:pt x="178" y="18"/>
                  </a:cubicBezTo>
                  <a:cubicBezTo>
                    <a:pt x="70" y="0"/>
                    <a:pt x="120" y="66"/>
                    <a:pt x="60" y="107"/>
                  </a:cubicBezTo>
                  <a:cubicBezTo>
                    <a:pt x="55" y="114"/>
                    <a:pt x="51" y="123"/>
                    <a:pt x="45" y="129"/>
                  </a:cubicBezTo>
                  <a:cubicBezTo>
                    <a:pt x="39" y="135"/>
                    <a:pt x="29" y="137"/>
                    <a:pt x="23" y="144"/>
                  </a:cubicBezTo>
                  <a:cubicBezTo>
                    <a:pt x="13" y="157"/>
                    <a:pt x="9" y="174"/>
                    <a:pt x="0" y="188"/>
                  </a:cubicBezTo>
                  <a:cubicBezTo>
                    <a:pt x="6" y="239"/>
                    <a:pt x="9" y="315"/>
                    <a:pt x="52" y="351"/>
                  </a:cubicBezTo>
                  <a:cubicBezTo>
                    <a:pt x="78" y="373"/>
                    <a:pt x="112" y="377"/>
                    <a:pt x="141" y="395"/>
                  </a:cubicBezTo>
                  <a:cubicBezTo>
                    <a:pt x="178" y="393"/>
                    <a:pt x="215" y="392"/>
                    <a:pt x="252" y="388"/>
                  </a:cubicBezTo>
                  <a:cubicBezTo>
                    <a:pt x="260" y="387"/>
                    <a:pt x="274" y="389"/>
                    <a:pt x="274" y="381"/>
                  </a:cubicBezTo>
                  <a:cubicBezTo>
                    <a:pt x="274" y="372"/>
                    <a:pt x="259" y="371"/>
                    <a:pt x="252" y="366"/>
                  </a:cubicBezTo>
                  <a:close/>
                </a:path>
              </a:pathLst>
            </a:custGeom>
            <a:noFill/>
            <a:ln w="28575" cap="flat" cmpd="sng">
              <a:solidFill>
                <a:schemeClr val="accent2"/>
              </a:solidFill>
              <a:prstDash val="solid"/>
              <a:round/>
              <a:headEnd type="none" w="med" len="med"/>
              <a:tailEnd type="none" w="med" len="med"/>
            </a:ln>
          </p:spPr>
          <p:txBody>
            <a:bodyPr/>
            <a:p>
              <a:endParaRPr lang="en-US"/>
            </a:p>
          </p:txBody>
        </p:sp>
        <p:sp>
          <p:nvSpPr>
            <p:cNvPr id="120901" name="Freeform 1092"/>
            <p:cNvSpPr/>
            <p:nvPr/>
          </p:nvSpPr>
          <p:spPr>
            <a:xfrm>
              <a:off x="1840" y="2051"/>
              <a:ext cx="347" cy="371"/>
            </a:xfrm>
            <a:custGeom>
              <a:avLst/>
              <a:gdLst/>
              <a:ahLst/>
              <a:cxnLst>
                <a:cxn ang="0">
                  <a:pos x="293" y="45"/>
                </a:cxn>
                <a:cxn ang="0">
                  <a:pos x="204" y="23"/>
                </a:cxn>
                <a:cxn ang="0">
                  <a:pos x="130" y="53"/>
                </a:cxn>
                <a:cxn ang="0">
                  <a:pos x="41" y="119"/>
                </a:cxn>
                <a:cxn ang="0">
                  <a:pos x="64" y="371"/>
                </a:cxn>
                <a:cxn ang="0">
                  <a:pos x="226" y="334"/>
                </a:cxn>
                <a:cxn ang="0">
                  <a:pos x="278" y="312"/>
                </a:cxn>
                <a:cxn ang="0">
                  <a:pos x="323" y="238"/>
                </a:cxn>
                <a:cxn ang="0">
                  <a:pos x="308" y="53"/>
                </a:cxn>
                <a:cxn ang="0">
                  <a:pos x="293" y="45"/>
                </a:cxn>
              </a:cxnLst>
              <a:pathLst>
                <a:path w="347" h="371">
                  <a:moveTo>
                    <a:pt x="293" y="45"/>
                  </a:moveTo>
                  <a:cubicBezTo>
                    <a:pt x="279" y="0"/>
                    <a:pt x="248" y="18"/>
                    <a:pt x="204" y="23"/>
                  </a:cubicBezTo>
                  <a:cubicBezTo>
                    <a:pt x="177" y="31"/>
                    <a:pt x="156" y="43"/>
                    <a:pt x="130" y="53"/>
                  </a:cubicBezTo>
                  <a:cubicBezTo>
                    <a:pt x="103" y="80"/>
                    <a:pt x="73" y="99"/>
                    <a:pt x="41" y="119"/>
                  </a:cubicBezTo>
                  <a:cubicBezTo>
                    <a:pt x="0" y="186"/>
                    <a:pt x="19" y="306"/>
                    <a:pt x="64" y="371"/>
                  </a:cubicBezTo>
                  <a:cubicBezTo>
                    <a:pt x="120" y="363"/>
                    <a:pt x="170" y="344"/>
                    <a:pt x="226" y="334"/>
                  </a:cubicBezTo>
                  <a:cubicBezTo>
                    <a:pt x="242" y="324"/>
                    <a:pt x="264" y="324"/>
                    <a:pt x="278" y="312"/>
                  </a:cubicBezTo>
                  <a:cubicBezTo>
                    <a:pt x="295" y="297"/>
                    <a:pt x="312" y="260"/>
                    <a:pt x="323" y="238"/>
                  </a:cubicBezTo>
                  <a:cubicBezTo>
                    <a:pt x="338" y="174"/>
                    <a:pt x="347" y="110"/>
                    <a:pt x="308" y="53"/>
                  </a:cubicBezTo>
                  <a:cubicBezTo>
                    <a:pt x="299" y="26"/>
                    <a:pt x="305" y="24"/>
                    <a:pt x="293" y="45"/>
                  </a:cubicBezTo>
                  <a:close/>
                </a:path>
              </a:pathLst>
            </a:custGeom>
            <a:noFill/>
            <a:ln w="28575" cap="flat" cmpd="sng">
              <a:solidFill>
                <a:schemeClr val="accent2"/>
              </a:solidFill>
              <a:prstDash val="solid"/>
              <a:round/>
              <a:headEnd type="none" w="med" len="med"/>
              <a:tailEnd type="none" w="med" len="med"/>
            </a:ln>
          </p:spPr>
          <p:txBody>
            <a:bodyPr/>
            <a:p>
              <a:endParaRPr lang="en-US"/>
            </a:p>
          </p:txBody>
        </p:sp>
        <p:sp>
          <p:nvSpPr>
            <p:cNvPr id="120902" name="Freeform 1093"/>
            <p:cNvSpPr/>
            <p:nvPr/>
          </p:nvSpPr>
          <p:spPr>
            <a:xfrm>
              <a:off x="1983" y="2292"/>
              <a:ext cx="274" cy="286"/>
            </a:xfrm>
            <a:custGeom>
              <a:avLst/>
              <a:gdLst/>
              <a:ahLst/>
              <a:cxnLst>
                <a:cxn ang="0">
                  <a:pos x="246" y="12"/>
                </a:cxn>
                <a:cxn ang="0">
                  <a:pos x="143" y="27"/>
                </a:cxn>
                <a:cxn ang="0">
                  <a:pos x="106" y="86"/>
                </a:cxn>
                <a:cxn ang="0">
                  <a:pos x="39" y="123"/>
                </a:cxn>
                <a:cxn ang="0">
                  <a:pos x="32" y="264"/>
                </a:cxn>
                <a:cxn ang="0">
                  <a:pos x="143" y="286"/>
                </a:cxn>
                <a:cxn ang="0">
                  <a:pos x="239" y="241"/>
                </a:cxn>
                <a:cxn ang="0">
                  <a:pos x="261" y="153"/>
                </a:cxn>
                <a:cxn ang="0">
                  <a:pos x="246" y="12"/>
                </a:cxn>
              </a:cxnLst>
              <a:pathLst>
                <a:path w="274" h="286">
                  <a:moveTo>
                    <a:pt x="246" y="12"/>
                  </a:moveTo>
                  <a:cubicBezTo>
                    <a:pt x="213" y="0"/>
                    <a:pt x="178" y="19"/>
                    <a:pt x="143" y="27"/>
                  </a:cubicBezTo>
                  <a:cubicBezTo>
                    <a:pt x="131" y="60"/>
                    <a:pt x="143" y="74"/>
                    <a:pt x="106" y="86"/>
                  </a:cubicBezTo>
                  <a:cubicBezTo>
                    <a:pt x="55" y="120"/>
                    <a:pt x="78" y="111"/>
                    <a:pt x="39" y="123"/>
                  </a:cubicBezTo>
                  <a:cubicBezTo>
                    <a:pt x="16" y="157"/>
                    <a:pt x="0" y="232"/>
                    <a:pt x="32" y="264"/>
                  </a:cubicBezTo>
                  <a:cubicBezTo>
                    <a:pt x="50" y="282"/>
                    <a:pt x="133" y="285"/>
                    <a:pt x="143" y="286"/>
                  </a:cubicBezTo>
                  <a:cubicBezTo>
                    <a:pt x="198" y="279"/>
                    <a:pt x="211" y="284"/>
                    <a:pt x="239" y="241"/>
                  </a:cubicBezTo>
                  <a:cubicBezTo>
                    <a:pt x="249" y="210"/>
                    <a:pt x="256" y="186"/>
                    <a:pt x="261" y="153"/>
                  </a:cubicBezTo>
                  <a:cubicBezTo>
                    <a:pt x="254" y="21"/>
                    <a:pt x="274" y="64"/>
                    <a:pt x="246" y="12"/>
                  </a:cubicBezTo>
                  <a:close/>
                </a:path>
              </a:pathLst>
            </a:custGeom>
            <a:noFill/>
            <a:ln w="28575" cap="flat" cmpd="sng">
              <a:solidFill>
                <a:schemeClr val="accent2"/>
              </a:solidFill>
              <a:prstDash val="solid"/>
              <a:round/>
              <a:headEnd type="none" w="med" len="med"/>
              <a:tailEnd type="none" w="med" len="med"/>
            </a:ln>
          </p:spPr>
          <p:txBody>
            <a:bodyPr/>
            <a:p>
              <a:endParaRPr lang="en-US"/>
            </a:p>
          </p:txBody>
        </p:sp>
        <p:sp>
          <p:nvSpPr>
            <p:cNvPr id="120903" name="Freeform 1094"/>
            <p:cNvSpPr/>
            <p:nvPr/>
          </p:nvSpPr>
          <p:spPr>
            <a:xfrm>
              <a:off x="2007" y="2565"/>
              <a:ext cx="326" cy="191"/>
            </a:xfrm>
            <a:custGeom>
              <a:avLst/>
              <a:gdLst/>
              <a:ahLst/>
              <a:cxnLst>
                <a:cxn ang="0">
                  <a:pos x="319" y="20"/>
                </a:cxn>
                <a:cxn ang="0">
                  <a:pos x="67" y="20"/>
                </a:cxn>
                <a:cxn ang="0">
                  <a:pos x="0" y="65"/>
                </a:cxn>
                <a:cxn ang="0">
                  <a:pos x="59" y="183"/>
                </a:cxn>
                <a:cxn ang="0">
                  <a:pos x="111" y="191"/>
                </a:cxn>
                <a:cxn ang="0">
                  <a:pos x="237" y="183"/>
                </a:cxn>
                <a:cxn ang="0">
                  <a:pos x="297" y="131"/>
                </a:cxn>
                <a:cxn ang="0">
                  <a:pos x="326" y="65"/>
                </a:cxn>
                <a:cxn ang="0">
                  <a:pos x="319" y="20"/>
                </a:cxn>
              </a:cxnLst>
              <a:pathLst>
                <a:path w="326" h="191">
                  <a:moveTo>
                    <a:pt x="319" y="20"/>
                  </a:moveTo>
                  <a:cubicBezTo>
                    <a:pt x="233" y="0"/>
                    <a:pt x="155" y="13"/>
                    <a:pt x="67" y="20"/>
                  </a:cubicBezTo>
                  <a:cubicBezTo>
                    <a:pt x="33" y="29"/>
                    <a:pt x="20" y="36"/>
                    <a:pt x="0" y="65"/>
                  </a:cubicBezTo>
                  <a:cubicBezTo>
                    <a:pt x="6" y="99"/>
                    <a:pt x="19" y="167"/>
                    <a:pt x="59" y="183"/>
                  </a:cubicBezTo>
                  <a:cubicBezTo>
                    <a:pt x="75" y="190"/>
                    <a:pt x="94" y="188"/>
                    <a:pt x="111" y="191"/>
                  </a:cubicBezTo>
                  <a:cubicBezTo>
                    <a:pt x="153" y="188"/>
                    <a:pt x="195" y="189"/>
                    <a:pt x="237" y="183"/>
                  </a:cubicBezTo>
                  <a:cubicBezTo>
                    <a:pt x="258" y="180"/>
                    <a:pt x="279" y="143"/>
                    <a:pt x="297" y="131"/>
                  </a:cubicBezTo>
                  <a:cubicBezTo>
                    <a:pt x="311" y="109"/>
                    <a:pt x="318" y="90"/>
                    <a:pt x="326" y="65"/>
                  </a:cubicBezTo>
                  <a:cubicBezTo>
                    <a:pt x="318" y="30"/>
                    <a:pt x="319" y="45"/>
                    <a:pt x="319" y="20"/>
                  </a:cubicBezTo>
                  <a:close/>
                </a:path>
              </a:pathLst>
            </a:custGeom>
            <a:noFill/>
            <a:ln w="28575" cap="flat" cmpd="sng">
              <a:solidFill>
                <a:schemeClr val="accent2"/>
              </a:solidFill>
              <a:prstDash val="solid"/>
              <a:round/>
              <a:headEnd type="none" w="med" len="med"/>
              <a:tailEnd type="none" w="med" len="med"/>
            </a:ln>
          </p:spPr>
          <p:txBody>
            <a:bodyPr/>
            <a:p>
              <a:endParaRPr lang="en-US"/>
            </a:p>
          </p:txBody>
        </p:sp>
      </p:grpSp>
      <p:grpSp>
        <p:nvGrpSpPr>
          <p:cNvPr id="120904" name="Group 1095"/>
          <p:cNvGrpSpPr/>
          <p:nvPr/>
        </p:nvGrpSpPr>
        <p:grpSpPr>
          <a:xfrm>
            <a:off x="5029200" y="1295400"/>
            <a:ext cx="3644900" cy="3397250"/>
            <a:chOff x="2992" y="864"/>
            <a:chExt cx="2393" cy="2274"/>
          </a:xfrm>
        </p:grpSpPr>
        <p:grpSp>
          <p:nvGrpSpPr>
            <p:cNvPr id="120905" name="Group 1096"/>
            <p:cNvGrpSpPr/>
            <p:nvPr/>
          </p:nvGrpSpPr>
          <p:grpSpPr>
            <a:xfrm>
              <a:off x="2992" y="864"/>
              <a:ext cx="2393" cy="2274"/>
              <a:chOff x="2676" y="672"/>
              <a:chExt cx="2393" cy="2274"/>
            </a:xfrm>
          </p:grpSpPr>
          <p:sp>
            <p:nvSpPr>
              <p:cNvPr id="120906" name="Line 1097"/>
              <p:cNvSpPr/>
              <p:nvPr/>
            </p:nvSpPr>
            <p:spPr>
              <a:xfrm>
                <a:off x="3033" y="778"/>
                <a:ext cx="0" cy="1834"/>
              </a:xfrm>
              <a:prstGeom prst="line">
                <a:avLst/>
              </a:prstGeom>
              <a:ln w="12700" cap="flat" cmpd="sng">
                <a:solidFill>
                  <a:schemeClr val="tx1"/>
                </a:solidFill>
                <a:prstDash val="solid"/>
                <a:round/>
                <a:headEnd type="stealth" w="med" len="med"/>
                <a:tailEnd type="none" w="sm" len="sm"/>
              </a:ln>
            </p:spPr>
          </p:sp>
          <p:sp>
            <p:nvSpPr>
              <p:cNvPr id="120907" name="Line 1098"/>
              <p:cNvSpPr/>
              <p:nvPr/>
            </p:nvSpPr>
            <p:spPr>
              <a:xfrm>
                <a:off x="3033" y="2612"/>
                <a:ext cx="2007" cy="5"/>
              </a:xfrm>
              <a:prstGeom prst="line">
                <a:avLst/>
              </a:prstGeom>
              <a:ln w="12700" cap="flat" cmpd="sng">
                <a:solidFill>
                  <a:schemeClr val="tx1"/>
                </a:solidFill>
                <a:prstDash val="solid"/>
                <a:round/>
                <a:headEnd type="none" w="sm" len="sm"/>
                <a:tailEnd type="stealth" w="med" len="med"/>
              </a:ln>
            </p:spPr>
          </p:sp>
          <p:sp>
            <p:nvSpPr>
              <p:cNvPr id="120908" name="Oval 1099"/>
              <p:cNvSpPr/>
              <p:nvPr/>
            </p:nvSpPr>
            <p:spPr>
              <a:xfrm>
                <a:off x="3470" y="1658"/>
                <a:ext cx="71"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09" name="Oval 1100"/>
              <p:cNvSpPr/>
              <p:nvPr/>
            </p:nvSpPr>
            <p:spPr>
              <a:xfrm>
                <a:off x="3301" y="1913"/>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0" name="Oval 1101"/>
              <p:cNvSpPr/>
              <p:nvPr/>
            </p:nvSpPr>
            <p:spPr>
              <a:xfrm>
                <a:off x="3470" y="1826"/>
                <a:ext cx="71" cy="72"/>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1" name="Oval 1102"/>
              <p:cNvSpPr/>
              <p:nvPr/>
            </p:nvSpPr>
            <p:spPr>
              <a:xfrm>
                <a:off x="3378" y="1571"/>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2" name="Oval 1103"/>
              <p:cNvSpPr/>
              <p:nvPr/>
            </p:nvSpPr>
            <p:spPr>
              <a:xfrm>
                <a:off x="3294" y="2007"/>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3" name="Oval 1104"/>
              <p:cNvSpPr/>
              <p:nvPr/>
            </p:nvSpPr>
            <p:spPr>
              <a:xfrm>
                <a:off x="3463" y="1920"/>
                <a:ext cx="71"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4" name="Oval 1105"/>
              <p:cNvSpPr/>
              <p:nvPr/>
            </p:nvSpPr>
            <p:spPr>
              <a:xfrm>
                <a:off x="3633" y="1833"/>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5" name="Oval 1106"/>
              <p:cNvSpPr/>
              <p:nvPr/>
            </p:nvSpPr>
            <p:spPr>
              <a:xfrm>
                <a:off x="3548" y="1571"/>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6" name="Oval 1107"/>
              <p:cNvSpPr/>
              <p:nvPr/>
            </p:nvSpPr>
            <p:spPr>
              <a:xfrm>
                <a:off x="3202" y="2015"/>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7" name="Oval 1108"/>
              <p:cNvSpPr/>
              <p:nvPr/>
            </p:nvSpPr>
            <p:spPr>
              <a:xfrm>
                <a:off x="3717" y="1483"/>
                <a:ext cx="71"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8" name="Oval 1109"/>
              <p:cNvSpPr/>
              <p:nvPr/>
            </p:nvSpPr>
            <p:spPr>
              <a:xfrm>
                <a:off x="3887" y="1396"/>
                <a:ext cx="70"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19" name="Oval 1110"/>
              <p:cNvSpPr/>
              <p:nvPr/>
            </p:nvSpPr>
            <p:spPr>
              <a:xfrm>
                <a:off x="3724" y="1403"/>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0" name="Oval 1111"/>
              <p:cNvSpPr/>
              <p:nvPr/>
            </p:nvSpPr>
            <p:spPr>
              <a:xfrm>
                <a:off x="3294" y="2182"/>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1" name="Oval 1112"/>
              <p:cNvSpPr/>
              <p:nvPr/>
            </p:nvSpPr>
            <p:spPr>
              <a:xfrm>
                <a:off x="3802" y="1658"/>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2" name="Oval 1113"/>
              <p:cNvSpPr/>
              <p:nvPr/>
            </p:nvSpPr>
            <p:spPr>
              <a:xfrm>
                <a:off x="3802" y="1833"/>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3" name="Oval 1114"/>
              <p:cNvSpPr/>
              <p:nvPr/>
            </p:nvSpPr>
            <p:spPr>
              <a:xfrm>
                <a:off x="3887" y="1309"/>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4" name="Oval 1115"/>
              <p:cNvSpPr/>
              <p:nvPr/>
            </p:nvSpPr>
            <p:spPr>
              <a:xfrm>
                <a:off x="4565" y="2270"/>
                <a:ext cx="70" cy="72"/>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5" name="Oval 1116"/>
              <p:cNvSpPr/>
              <p:nvPr/>
            </p:nvSpPr>
            <p:spPr>
              <a:xfrm>
                <a:off x="4649" y="2346"/>
                <a:ext cx="71"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6" name="Oval 1117"/>
              <p:cNvSpPr/>
              <p:nvPr/>
            </p:nvSpPr>
            <p:spPr>
              <a:xfrm>
                <a:off x="4649" y="2182"/>
                <a:ext cx="71"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7" name="Oval 1118"/>
              <p:cNvSpPr/>
              <p:nvPr/>
            </p:nvSpPr>
            <p:spPr>
              <a:xfrm>
                <a:off x="4565" y="2357"/>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8" name="Oval 1119"/>
              <p:cNvSpPr/>
              <p:nvPr/>
            </p:nvSpPr>
            <p:spPr>
              <a:xfrm>
                <a:off x="4734" y="2357"/>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29" name="Oval 1120"/>
              <p:cNvSpPr/>
              <p:nvPr/>
            </p:nvSpPr>
            <p:spPr>
              <a:xfrm>
                <a:off x="4649" y="2444"/>
                <a:ext cx="71"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0" name="Oval 1121"/>
              <p:cNvSpPr/>
              <p:nvPr/>
            </p:nvSpPr>
            <p:spPr>
              <a:xfrm>
                <a:off x="3548" y="2007"/>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1" name="Oval 1122"/>
              <p:cNvSpPr/>
              <p:nvPr/>
            </p:nvSpPr>
            <p:spPr>
              <a:xfrm>
                <a:off x="3633" y="1658"/>
                <a:ext cx="70"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2" name="Oval 1123"/>
              <p:cNvSpPr/>
              <p:nvPr/>
            </p:nvSpPr>
            <p:spPr>
              <a:xfrm>
                <a:off x="3548" y="1920"/>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3" name="Oval 1124"/>
              <p:cNvSpPr/>
              <p:nvPr/>
            </p:nvSpPr>
            <p:spPr>
              <a:xfrm>
                <a:off x="3548" y="1745"/>
                <a:ext cx="71" cy="73"/>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4" name="Oval 1125"/>
              <p:cNvSpPr/>
              <p:nvPr/>
            </p:nvSpPr>
            <p:spPr>
              <a:xfrm>
                <a:off x="3463" y="2182"/>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5" name="Oval 1126"/>
              <p:cNvSpPr/>
              <p:nvPr/>
            </p:nvSpPr>
            <p:spPr>
              <a:xfrm>
                <a:off x="3456" y="2015"/>
                <a:ext cx="71"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6" name="Oval 1127"/>
              <p:cNvSpPr/>
              <p:nvPr/>
            </p:nvSpPr>
            <p:spPr>
              <a:xfrm>
                <a:off x="3640" y="1738"/>
                <a:ext cx="70"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7" name="Oval 1128"/>
              <p:cNvSpPr/>
              <p:nvPr/>
            </p:nvSpPr>
            <p:spPr>
              <a:xfrm>
                <a:off x="3717" y="1745"/>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8" name="Oval 1129"/>
              <p:cNvSpPr/>
              <p:nvPr/>
            </p:nvSpPr>
            <p:spPr>
              <a:xfrm>
                <a:off x="3371" y="2189"/>
                <a:ext cx="71"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39" name="Oval 1130"/>
              <p:cNvSpPr/>
              <p:nvPr/>
            </p:nvSpPr>
            <p:spPr>
              <a:xfrm>
                <a:off x="3887" y="1658"/>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0" name="Oval 1131"/>
              <p:cNvSpPr/>
              <p:nvPr/>
            </p:nvSpPr>
            <p:spPr>
              <a:xfrm>
                <a:off x="4056" y="1571"/>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1" name="Oval 1132"/>
              <p:cNvSpPr/>
              <p:nvPr/>
            </p:nvSpPr>
            <p:spPr>
              <a:xfrm>
                <a:off x="3802" y="1483"/>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2" name="Oval 1133"/>
              <p:cNvSpPr/>
              <p:nvPr/>
            </p:nvSpPr>
            <p:spPr>
              <a:xfrm>
                <a:off x="3463" y="2357"/>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3" name="Oval 1134"/>
              <p:cNvSpPr/>
              <p:nvPr/>
            </p:nvSpPr>
            <p:spPr>
              <a:xfrm>
                <a:off x="3809" y="1564"/>
                <a:ext cx="71" cy="72"/>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4" name="Oval 1135"/>
              <p:cNvSpPr/>
              <p:nvPr/>
            </p:nvSpPr>
            <p:spPr>
              <a:xfrm>
                <a:off x="3809" y="1738"/>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5" name="Oval 1136"/>
              <p:cNvSpPr/>
              <p:nvPr/>
            </p:nvSpPr>
            <p:spPr>
              <a:xfrm>
                <a:off x="3964" y="1302"/>
                <a:ext cx="71" cy="72"/>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6" name="Oval 1137"/>
              <p:cNvSpPr/>
              <p:nvPr/>
            </p:nvSpPr>
            <p:spPr>
              <a:xfrm>
                <a:off x="3555" y="1913"/>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7" name="Oval 1138"/>
              <p:cNvSpPr/>
              <p:nvPr/>
            </p:nvSpPr>
            <p:spPr>
              <a:xfrm>
                <a:off x="3802" y="1833"/>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8" name="Oval 1139"/>
              <p:cNvSpPr/>
              <p:nvPr/>
            </p:nvSpPr>
            <p:spPr>
              <a:xfrm>
                <a:off x="4480" y="2007"/>
                <a:ext cx="70"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49" name="Oval 1140"/>
              <p:cNvSpPr/>
              <p:nvPr/>
            </p:nvSpPr>
            <p:spPr>
              <a:xfrm>
                <a:off x="4565" y="2007"/>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0" name="Oval 1141"/>
              <p:cNvSpPr/>
              <p:nvPr/>
            </p:nvSpPr>
            <p:spPr>
              <a:xfrm>
                <a:off x="4565" y="1920"/>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1" name="Oval 1142"/>
              <p:cNvSpPr/>
              <p:nvPr/>
            </p:nvSpPr>
            <p:spPr>
              <a:xfrm>
                <a:off x="4480" y="2095"/>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2" name="Oval 1143"/>
              <p:cNvSpPr/>
              <p:nvPr/>
            </p:nvSpPr>
            <p:spPr>
              <a:xfrm>
                <a:off x="4649" y="2095"/>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3" name="Oval 1144"/>
              <p:cNvSpPr/>
              <p:nvPr/>
            </p:nvSpPr>
            <p:spPr>
              <a:xfrm>
                <a:off x="4575" y="2157"/>
                <a:ext cx="71" cy="72"/>
              </a:xfrm>
              <a:prstGeom prst="ellipse">
                <a:avLst/>
              </a:prstGeom>
              <a:solidFill>
                <a:srgbClr val="FF00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4" name="Oval 1145"/>
              <p:cNvSpPr/>
              <p:nvPr/>
            </p:nvSpPr>
            <p:spPr>
              <a:xfrm>
                <a:off x="3301" y="1738"/>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5" name="Oval 1146"/>
              <p:cNvSpPr/>
              <p:nvPr/>
            </p:nvSpPr>
            <p:spPr>
              <a:xfrm>
                <a:off x="3378" y="1571"/>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6" name="Oval 1147"/>
              <p:cNvSpPr/>
              <p:nvPr/>
            </p:nvSpPr>
            <p:spPr>
              <a:xfrm>
                <a:off x="3470" y="1476"/>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7" name="Oval 1148"/>
              <p:cNvSpPr/>
              <p:nvPr/>
            </p:nvSpPr>
            <p:spPr>
              <a:xfrm>
                <a:off x="3294" y="1833"/>
                <a:ext cx="70"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8" name="Oval 1149"/>
              <p:cNvSpPr/>
              <p:nvPr/>
            </p:nvSpPr>
            <p:spPr>
              <a:xfrm>
                <a:off x="3724" y="1229"/>
                <a:ext cx="71" cy="73"/>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59" name="Oval 1150"/>
              <p:cNvSpPr/>
              <p:nvPr/>
            </p:nvSpPr>
            <p:spPr>
              <a:xfrm>
                <a:off x="3386" y="2088"/>
                <a:ext cx="70" cy="72"/>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60" name="Oval 1151"/>
              <p:cNvSpPr/>
              <p:nvPr/>
            </p:nvSpPr>
            <p:spPr>
              <a:xfrm>
                <a:off x="3633" y="1483"/>
                <a:ext cx="70" cy="73"/>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0961" name="Rectangle 1152"/>
              <p:cNvSpPr/>
              <p:nvPr/>
            </p:nvSpPr>
            <p:spPr>
              <a:xfrm>
                <a:off x="4848" y="2640"/>
                <a:ext cx="221" cy="306"/>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x</a:t>
                </a:r>
                <a:endParaRPr lang="en-US" altLang="zh-CN" dirty="0">
                  <a:latin typeface="Times New Roman" panose="02020603050405020304" pitchFamily="18" charset="0"/>
                  <a:ea typeface="SimSun" panose="02010600030101010101" pitchFamily="2" charset="-122"/>
                </a:endParaRPr>
              </a:p>
            </p:txBody>
          </p:sp>
          <p:sp>
            <p:nvSpPr>
              <p:cNvPr id="120962" name="Rectangle 1153"/>
              <p:cNvSpPr/>
              <p:nvPr/>
            </p:nvSpPr>
            <p:spPr>
              <a:xfrm>
                <a:off x="2676" y="672"/>
                <a:ext cx="221" cy="306"/>
              </a:xfrm>
              <a:prstGeom prst="rect">
                <a:avLst/>
              </a:prstGeom>
              <a:noFill/>
              <a:ln w="9525">
                <a:noFill/>
              </a:ln>
            </p:spPr>
            <p:txBody>
              <a:bodyPr wrap="none" lIns="92075" tIns="46038" rIns="92075" bIns="46038" anchor="t" anchorCtr="0">
                <a:spAutoFit/>
              </a:bodyPr>
              <a:p>
                <a:pPr eaLnBrk="0" hangingPunct="0"/>
                <a:r>
                  <a:rPr lang="en-US" altLang="zh-CN" dirty="0">
                    <a:latin typeface="Times New Roman" panose="02020603050405020304" pitchFamily="18" charset="0"/>
                    <a:ea typeface="SimSun" panose="02010600030101010101" pitchFamily="2" charset="-122"/>
                  </a:rPr>
                  <a:t>y</a:t>
                </a:r>
                <a:endParaRPr lang="en-US" altLang="zh-CN" dirty="0">
                  <a:latin typeface="Times New Roman" panose="02020603050405020304" pitchFamily="18" charset="0"/>
                  <a:ea typeface="SimSun" panose="02010600030101010101" pitchFamily="2" charset="-122"/>
                </a:endParaRPr>
              </a:p>
            </p:txBody>
          </p:sp>
        </p:grpSp>
        <p:sp>
          <p:nvSpPr>
            <p:cNvPr id="120963" name="Oval 1154"/>
            <p:cNvSpPr/>
            <p:nvPr/>
          </p:nvSpPr>
          <p:spPr>
            <a:xfrm rot="1315892">
              <a:off x="3518" y="1152"/>
              <a:ext cx="925" cy="1604"/>
            </a:xfrm>
            <a:prstGeom prst="ellipse">
              <a:avLst/>
            </a:prstGeom>
            <a:noFill/>
            <a:ln w="28575" cap="flat" cmpd="sng">
              <a:solidFill>
                <a:schemeClr val="accent2"/>
              </a:solidFill>
              <a:prstDash val="solid"/>
              <a:round/>
              <a:headEnd type="none" w="med" len="med"/>
              <a:tailEnd type="none" w="med" len="med"/>
            </a:ln>
          </p:spPr>
          <p:txBody>
            <a:bodyPr wrap="none" anchor="ctr" anchorCtr="0">
              <a:spAutoFit/>
            </a:bodyPr>
            <a:p>
              <a:endParaRPr lang="en-US" dirty="0">
                <a:latin typeface="Tahoma" panose="020B0604030504040204" pitchFamily="34" charset="0"/>
              </a:endParaRPr>
            </a:p>
          </p:txBody>
        </p:sp>
        <p:sp>
          <p:nvSpPr>
            <p:cNvPr id="120964" name="Oval 1155"/>
            <p:cNvSpPr/>
            <p:nvPr/>
          </p:nvSpPr>
          <p:spPr>
            <a:xfrm rot="-1619454">
              <a:off x="4659" y="1964"/>
              <a:ext cx="584" cy="868"/>
            </a:xfrm>
            <a:prstGeom prst="ellipse">
              <a:avLst/>
            </a:prstGeom>
            <a:noFill/>
            <a:ln w="28575" cap="flat" cmpd="sng">
              <a:solidFill>
                <a:schemeClr val="accent2"/>
              </a:solidFill>
              <a:prstDash val="solid"/>
              <a:round/>
              <a:headEnd type="none" w="med" len="med"/>
              <a:tailEnd type="none" w="med" len="med"/>
            </a:ln>
          </p:spPr>
          <p:txBody>
            <a:bodyPr anchor="ctr" anchorCtr="0">
              <a:spAutoFit/>
            </a:bodyPr>
            <a:p>
              <a:endParaRPr lang="en-US" dirty="0">
                <a:latin typeface="Tahoma" panose="020B0604030504040204" pitchFamily="34" charset="0"/>
              </a:endParaRPr>
            </a:p>
          </p:txBody>
        </p:sp>
      </p:grpSp>
      <p:sp>
        <p:nvSpPr>
          <p:cNvPr id="120965" name="Line 1156"/>
          <p:cNvSpPr/>
          <p:nvPr/>
        </p:nvSpPr>
        <p:spPr>
          <a:xfrm>
            <a:off x="4343400" y="2819400"/>
            <a:ext cx="304800" cy="0"/>
          </a:xfrm>
          <a:prstGeom prst="line">
            <a:avLst/>
          </a:prstGeom>
          <a:ln w="28575" cap="flat" cmpd="sng">
            <a:solidFill>
              <a:schemeClr val="tx1"/>
            </a:solidFill>
            <a:prstDash val="solid"/>
            <a:round/>
            <a:headEnd type="none" w="med" len="med"/>
            <a:tailEnd type="triangle" w="med" len="med"/>
          </a:ln>
        </p:spPr>
      </p:sp>
    </p:spTree>
  </p:cSld>
  <p:clrMapOvr>
    <a:masterClrMapping/>
  </p:clrMapOvr>
  <p:transition>
    <p:strips dir="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5" name="Rectangle 2"/>
          <p:cNvSpPr>
            <a:spLocks noGrp="1" noChangeArrowheads="1"/>
          </p:cNvSpPr>
          <p:nvPr>
            <p:ph type="title"/>
          </p:nvPr>
        </p:nvSpPr>
        <p:spPr>
          <a:xfrm>
            <a:off x="228600" y="228600"/>
            <a:ext cx="7391400" cy="8382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Clustering Categorical Data: ROCK</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121858" name="Rectangle 3"/>
          <p:cNvSpPr>
            <a:spLocks noGrp="1"/>
          </p:cNvSpPr>
          <p:nvPr>
            <p:ph sz="quarter" idx="1"/>
          </p:nvPr>
        </p:nvSpPr>
        <p:spPr>
          <a:xfrm>
            <a:off x="381000" y="1600200"/>
            <a:ext cx="8458200" cy="4648200"/>
          </a:xfrm>
          <a:ln/>
        </p:spPr>
        <p:txBody>
          <a:bodyPr vert="horz" wrap="square" lIns="92075" tIns="46038" rIns="92075" bIns="46038" anchor="t" anchorCtr="0"/>
          <a:p>
            <a:pPr eaLnBrk="1" hangingPunct="1">
              <a:buClr>
                <a:schemeClr val="accent1"/>
              </a:buClr>
              <a:buSzPct val="70000"/>
              <a:buFont typeface="Wingdings" panose="05000000000000000000" pitchFamily="2" charset="2"/>
            </a:pPr>
            <a:r>
              <a:rPr lang="en-US" dirty="0"/>
              <a:t>ROCK: Robust Clustering using linKs,</a:t>
            </a:r>
            <a:br>
              <a:rPr lang="en-US" dirty="0"/>
            </a:br>
            <a:r>
              <a:rPr lang="en-US" dirty="0"/>
              <a:t>by S. Guha, R. Rastogi, K. Shim (ICDE’99). </a:t>
            </a:r>
            <a:endParaRPr lang="en-US" dirty="0"/>
          </a:p>
          <a:p>
            <a:pPr lvl="1" eaLnBrk="1" hangingPunct="1">
              <a:buClr>
                <a:schemeClr val="accent1"/>
              </a:buClr>
              <a:buSzPct val="80000"/>
              <a:buFont typeface="Wingdings 2" panose="05020102010507070707" pitchFamily="18" charset="2"/>
            </a:pPr>
            <a:r>
              <a:rPr lang="en-US" dirty="0"/>
              <a:t>Use links to measure similarity/proximity</a:t>
            </a:r>
            <a:endParaRPr lang="en-US" dirty="0"/>
          </a:p>
          <a:p>
            <a:pPr lvl="1" eaLnBrk="1" hangingPunct="1">
              <a:buClr>
                <a:schemeClr val="accent1"/>
              </a:buClr>
              <a:buSzPct val="80000"/>
              <a:buFont typeface="Wingdings 2" panose="05020102010507070707" pitchFamily="18" charset="2"/>
            </a:pPr>
            <a:r>
              <a:rPr lang="en-US" dirty="0"/>
              <a:t>Not distance based</a:t>
            </a:r>
            <a:endParaRPr lang="en-US" dirty="0"/>
          </a:p>
          <a:p>
            <a:pPr lvl="1" eaLnBrk="1" hangingPunct="1">
              <a:buClr>
                <a:schemeClr val="accent1"/>
              </a:buClr>
              <a:buSzPct val="80000"/>
              <a:buFont typeface="Wingdings 2" panose="05020102010507070707" pitchFamily="18" charset="2"/>
            </a:pPr>
            <a:r>
              <a:rPr lang="en-US" dirty="0"/>
              <a:t>Computational complexity:</a:t>
            </a:r>
            <a:endParaRPr lang="en-US" dirty="0"/>
          </a:p>
          <a:p>
            <a:pPr eaLnBrk="1" hangingPunct="1">
              <a:buClr>
                <a:schemeClr val="accent1"/>
              </a:buClr>
              <a:buSzPct val="70000"/>
              <a:buFont typeface="Wingdings" panose="05000000000000000000" pitchFamily="2" charset="2"/>
            </a:pPr>
            <a:r>
              <a:rPr lang="en-US" dirty="0"/>
              <a:t>Basic ideas:</a:t>
            </a:r>
            <a:endParaRPr lang="en-US" dirty="0"/>
          </a:p>
          <a:p>
            <a:pPr lvl="1" eaLnBrk="1" hangingPunct="1">
              <a:buClr>
                <a:schemeClr val="accent1"/>
              </a:buClr>
              <a:buSzPct val="80000"/>
              <a:buFont typeface="Wingdings 2" panose="05020102010507070707" pitchFamily="18" charset="2"/>
            </a:pPr>
            <a:r>
              <a:rPr lang="en-US" dirty="0"/>
              <a:t>Similarity function and neighbors:	</a:t>
            </a:r>
            <a:endParaRPr lang="en-US" dirty="0"/>
          </a:p>
          <a:p>
            <a:pPr lvl="2" indent="-182245" eaLnBrk="1" hangingPunct="1">
              <a:buClr>
                <a:srgbClr val="E1307B"/>
              </a:buClr>
              <a:buSzPct val="60000"/>
              <a:buFont typeface="Wingdings" panose="05000000000000000000" pitchFamily="2" charset="2"/>
              <a:buNone/>
            </a:pPr>
            <a:r>
              <a:rPr lang="en-US" sz="2800" dirty="0"/>
              <a:t>Let </a:t>
            </a:r>
            <a:r>
              <a:rPr lang="en-US" sz="2800" i="1" dirty="0"/>
              <a:t>T</a:t>
            </a:r>
            <a:r>
              <a:rPr lang="en-US" sz="2800" i="1" baseline="-25000" dirty="0"/>
              <a:t>1</a:t>
            </a:r>
            <a:r>
              <a:rPr lang="en-US" sz="2800" dirty="0"/>
              <a:t> = {1,2,3}, </a:t>
            </a:r>
            <a:r>
              <a:rPr lang="en-US" sz="2800" i="1" dirty="0"/>
              <a:t>T</a:t>
            </a:r>
            <a:r>
              <a:rPr lang="en-US" sz="2800" i="1" baseline="-25000" dirty="0"/>
              <a:t>2</a:t>
            </a:r>
            <a:r>
              <a:rPr lang="en-US" sz="2800" dirty="0"/>
              <a:t>={3,4,5}</a:t>
            </a:r>
            <a:endParaRPr lang="en-US" sz="2800" dirty="0"/>
          </a:p>
          <a:p>
            <a:pPr lvl="1" eaLnBrk="1" hangingPunct="1">
              <a:buClr>
                <a:schemeClr val="accent1"/>
              </a:buClr>
              <a:buSzPct val="80000"/>
              <a:buFont typeface="Wingdings 2" panose="05020102010507070707" pitchFamily="18" charset="2"/>
            </a:pPr>
            <a:endParaRPr lang="en-US" dirty="0"/>
          </a:p>
          <a:p>
            <a:pPr lvl="1" eaLnBrk="1" hangingPunct="1">
              <a:buClr>
                <a:schemeClr val="accent1"/>
              </a:buClr>
              <a:buSzPct val="80000"/>
              <a:buFont typeface="Wingdings 2" panose="05020102010507070707" pitchFamily="18" charset="2"/>
            </a:pPr>
            <a:endParaRPr lang="en-US" dirty="0"/>
          </a:p>
        </p:txBody>
      </p:sp>
      <p:sp>
        <p:nvSpPr>
          <p:cNvPr id="12185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186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graphicFrame>
        <p:nvGraphicFramePr>
          <p:cNvPr id="121861" name="Object 4"/>
          <p:cNvGraphicFramePr/>
          <p:nvPr/>
        </p:nvGraphicFramePr>
        <p:xfrm>
          <a:off x="4572000" y="3124200"/>
          <a:ext cx="3733800" cy="533400"/>
        </p:xfrm>
        <a:graphic>
          <a:graphicData uri="http://schemas.openxmlformats.org/presentationml/2006/ole">
            <mc:AlternateContent xmlns:mc="http://schemas.openxmlformats.org/markup-compatibility/2006">
              <mc:Choice xmlns:v="urn:schemas-microsoft-com:vml" Requires="v">
                <p:oleObj spid="_x0000_s3131" name="" r:id="rId1" imgW="1764030" imgH="254000" progId="Equation.3">
                  <p:embed/>
                </p:oleObj>
              </mc:Choice>
              <mc:Fallback>
                <p:oleObj name="" r:id="rId1" imgW="1764030" imgH="254000" progId="Equation.3">
                  <p:embed/>
                  <p:pic>
                    <p:nvPicPr>
                      <p:cNvPr id="0" name="Picture 3130"/>
                      <p:cNvPicPr/>
                      <p:nvPr/>
                    </p:nvPicPr>
                    <p:blipFill>
                      <a:blip r:embed="rId2"/>
                      <a:stretch>
                        <a:fillRect/>
                      </a:stretch>
                    </p:blipFill>
                    <p:spPr>
                      <a:xfrm>
                        <a:off x="4572000" y="3124200"/>
                        <a:ext cx="3733800" cy="533400"/>
                      </a:xfrm>
                      <a:prstGeom prst="rect">
                        <a:avLst/>
                      </a:prstGeom>
                      <a:noFill/>
                      <a:ln w="38100">
                        <a:noFill/>
                        <a:miter/>
                      </a:ln>
                    </p:spPr>
                  </p:pic>
                </p:oleObj>
              </mc:Fallback>
            </mc:AlternateContent>
          </a:graphicData>
        </a:graphic>
      </p:graphicFrame>
      <p:graphicFrame>
        <p:nvGraphicFramePr>
          <p:cNvPr id="121862" name="Object 5"/>
          <p:cNvGraphicFramePr/>
          <p:nvPr/>
        </p:nvGraphicFramePr>
        <p:xfrm>
          <a:off x="5562600" y="3962400"/>
          <a:ext cx="2590800" cy="762000"/>
        </p:xfrm>
        <a:graphic>
          <a:graphicData uri="http://schemas.openxmlformats.org/presentationml/2006/ole">
            <mc:AlternateContent xmlns:mc="http://schemas.openxmlformats.org/markup-compatibility/2006">
              <mc:Choice xmlns:v="urn:schemas-microsoft-com:vml" Requires="v">
                <p:oleObj spid="_x0000_s3132" name="" r:id="rId3" imgW="1485265" imgH="533400" progId="Equation.3">
                  <p:embed/>
                </p:oleObj>
              </mc:Choice>
              <mc:Fallback>
                <p:oleObj name="" r:id="rId3" imgW="1485265" imgH="533400" progId="Equation.3">
                  <p:embed/>
                  <p:pic>
                    <p:nvPicPr>
                      <p:cNvPr id="0" name="Picture 3131"/>
                      <p:cNvPicPr/>
                      <p:nvPr/>
                    </p:nvPicPr>
                    <p:blipFill>
                      <a:blip r:embed="rId4"/>
                      <a:stretch>
                        <a:fillRect/>
                      </a:stretch>
                    </p:blipFill>
                    <p:spPr>
                      <a:xfrm>
                        <a:off x="5562600" y="3962400"/>
                        <a:ext cx="2590800" cy="762000"/>
                      </a:xfrm>
                      <a:prstGeom prst="rect">
                        <a:avLst/>
                      </a:prstGeom>
                      <a:noFill/>
                      <a:ln w="38100">
                        <a:noFill/>
                        <a:miter/>
                      </a:ln>
                    </p:spPr>
                  </p:pic>
                </p:oleObj>
              </mc:Fallback>
            </mc:AlternateContent>
          </a:graphicData>
        </a:graphic>
      </p:graphicFrame>
      <p:graphicFrame>
        <p:nvGraphicFramePr>
          <p:cNvPr id="121863" name="Object 6"/>
          <p:cNvGraphicFramePr/>
          <p:nvPr/>
        </p:nvGraphicFramePr>
        <p:xfrm>
          <a:off x="1676400" y="5029200"/>
          <a:ext cx="5334000" cy="652463"/>
        </p:xfrm>
        <a:graphic>
          <a:graphicData uri="http://schemas.openxmlformats.org/presentationml/2006/ole">
            <mc:AlternateContent xmlns:mc="http://schemas.openxmlformats.org/markup-compatibility/2006">
              <mc:Choice xmlns:v="urn:schemas-microsoft-com:vml" Requires="v">
                <p:oleObj spid="_x0000_s3133" name="" r:id="rId5" imgW="2487930" imgH="533400" progId="Equation.3">
                  <p:embed/>
                </p:oleObj>
              </mc:Choice>
              <mc:Fallback>
                <p:oleObj name="" r:id="rId5" imgW="2487930" imgH="533400" progId="Equation.3">
                  <p:embed/>
                  <p:pic>
                    <p:nvPicPr>
                      <p:cNvPr id="0" name="Picture 3132"/>
                      <p:cNvPicPr/>
                      <p:nvPr/>
                    </p:nvPicPr>
                    <p:blipFill>
                      <a:blip r:embed="rId6"/>
                      <a:stretch>
                        <a:fillRect/>
                      </a:stretch>
                    </p:blipFill>
                    <p:spPr>
                      <a:xfrm>
                        <a:off x="1676400" y="5029200"/>
                        <a:ext cx="5334000" cy="652463"/>
                      </a:xfrm>
                      <a:prstGeom prst="rect">
                        <a:avLst/>
                      </a:prstGeom>
                      <a:noFill/>
                      <a:ln w="38100">
                        <a:noFill/>
                        <a:miter/>
                      </a:ln>
                    </p:spPr>
                  </p:pic>
                </p:oleObj>
              </mc:Fallback>
            </mc:AlternateContent>
          </a:graphicData>
        </a:graphic>
      </p:graphicFrame>
    </p:spTree>
  </p:cSld>
  <p:clrMapOvr>
    <a:masterClrMapping/>
  </p:clrMapOvr>
  <p:transition>
    <p:strips dir="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noChangeArrowheads="1"/>
          </p:cNvSpPr>
          <p:nvPr>
            <p:ph type="title"/>
          </p:nvPr>
        </p:nvSpPr>
        <p:spPr>
          <a:xfrm>
            <a:off x="304800" y="152400"/>
            <a:ext cx="7467600" cy="11430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rPr>
              <a:t>Rock: Algorithm</a:t>
            </a:r>
            <a:endParaRPr kumimoji="0" lang="en-US"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mj-ea"/>
              <a:cs typeface="+mj-cs"/>
            </a:endParaRPr>
          </a:p>
        </p:txBody>
      </p:sp>
      <p:sp>
        <p:nvSpPr>
          <p:cNvPr id="122882" name="Rectangle 3"/>
          <p:cNvSpPr>
            <a:spLocks noGrp="1"/>
          </p:cNvSpPr>
          <p:nvPr>
            <p:ph sz="quarter" idx="1"/>
          </p:nvPr>
        </p:nvSpPr>
        <p:spPr>
          <a:xfrm>
            <a:off x="381000" y="1600200"/>
            <a:ext cx="7924800" cy="4876800"/>
          </a:xfrm>
          <a:ln/>
        </p:spPr>
        <p:txBody>
          <a:bodyPr vert="horz" wrap="square" lIns="92075" tIns="46038" rIns="92075" bIns="46038" anchor="t" anchorCtr="0"/>
          <a:p>
            <a:pPr eaLnBrk="1" hangingPunct="1">
              <a:lnSpc>
                <a:spcPct val="90000"/>
              </a:lnSpc>
              <a:buClr>
                <a:schemeClr val="accent1"/>
              </a:buClr>
              <a:buSzPct val="70000"/>
              <a:buFont typeface="Wingdings" panose="05000000000000000000" pitchFamily="2" charset="2"/>
            </a:pPr>
            <a:r>
              <a:rPr lang="en-US" dirty="0"/>
              <a:t>Links:  The number of common neighbours for the two points.</a:t>
            </a:r>
            <a:endParaRPr lang="en-US" dirty="0"/>
          </a:p>
          <a:p>
            <a:pPr eaLnBrk="1" hangingPunct="1">
              <a:lnSpc>
                <a:spcPct val="90000"/>
              </a:lnSpc>
              <a:buClr>
                <a:schemeClr val="accent1"/>
              </a:buClr>
              <a:buSzPct val="70000"/>
              <a:buFont typeface="Wingdings" panose="05000000000000000000" pitchFamily="2" charset="2"/>
            </a:pPr>
            <a:endParaRPr lang="en-US" dirty="0"/>
          </a:p>
          <a:p>
            <a:pPr eaLnBrk="1" hangingPunct="1">
              <a:lnSpc>
                <a:spcPct val="90000"/>
              </a:lnSpc>
              <a:buClr>
                <a:schemeClr val="accent1"/>
              </a:buClr>
              <a:buSzPct val="70000"/>
              <a:buFont typeface="Wingdings" panose="05000000000000000000" pitchFamily="2" charset="2"/>
            </a:pPr>
            <a:endParaRPr lang="en-US" dirty="0"/>
          </a:p>
          <a:p>
            <a:pPr eaLnBrk="1" hangingPunct="1">
              <a:lnSpc>
                <a:spcPct val="90000"/>
              </a:lnSpc>
              <a:buClr>
                <a:schemeClr val="accent1"/>
              </a:buClr>
              <a:buSzPct val="70000"/>
              <a:buFont typeface="Wingdings" panose="05000000000000000000" pitchFamily="2" charset="2"/>
            </a:pPr>
            <a:endParaRPr lang="en-US" dirty="0"/>
          </a:p>
          <a:p>
            <a:pPr eaLnBrk="1" hangingPunct="1">
              <a:lnSpc>
                <a:spcPct val="90000"/>
              </a:lnSpc>
              <a:buClr>
                <a:schemeClr val="accent1"/>
              </a:buClr>
              <a:buSzPct val="70000"/>
              <a:buFont typeface="Wingdings" panose="05000000000000000000" pitchFamily="2" charset="2"/>
            </a:pPr>
            <a:endParaRPr lang="en-US" dirty="0"/>
          </a:p>
          <a:p>
            <a:pPr eaLnBrk="1" hangingPunct="1">
              <a:lnSpc>
                <a:spcPct val="90000"/>
              </a:lnSpc>
              <a:buClr>
                <a:schemeClr val="accent1"/>
              </a:buClr>
              <a:buSzPct val="70000"/>
              <a:buFont typeface="Wingdings" panose="05000000000000000000" pitchFamily="2" charset="2"/>
            </a:pPr>
            <a:r>
              <a:rPr lang="en-US" dirty="0"/>
              <a:t>Algorithm</a:t>
            </a:r>
            <a:endParaRPr lang="en-US" dirty="0"/>
          </a:p>
          <a:p>
            <a:pPr lvl="1" eaLnBrk="1" hangingPunct="1">
              <a:lnSpc>
                <a:spcPct val="90000"/>
              </a:lnSpc>
              <a:buClr>
                <a:schemeClr val="accent1"/>
              </a:buClr>
              <a:buSzPct val="80000"/>
              <a:buFont typeface="Wingdings 2" panose="05020102010507070707" pitchFamily="18" charset="2"/>
            </a:pPr>
            <a:r>
              <a:rPr lang="en-US" dirty="0"/>
              <a:t>Draw random sample</a:t>
            </a:r>
            <a:endParaRPr lang="en-US" dirty="0"/>
          </a:p>
          <a:p>
            <a:pPr lvl="1" eaLnBrk="1" hangingPunct="1">
              <a:lnSpc>
                <a:spcPct val="90000"/>
              </a:lnSpc>
              <a:buClr>
                <a:schemeClr val="accent1"/>
              </a:buClr>
              <a:buSzPct val="80000"/>
              <a:buFont typeface="Wingdings 2" panose="05020102010507070707" pitchFamily="18" charset="2"/>
            </a:pPr>
            <a:r>
              <a:rPr lang="en-US" dirty="0"/>
              <a:t>Cluster with links</a:t>
            </a:r>
            <a:endParaRPr lang="en-US" dirty="0"/>
          </a:p>
          <a:p>
            <a:pPr lvl="1" eaLnBrk="1" hangingPunct="1">
              <a:lnSpc>
                <a:spcPct val="90000"/>
              </a:lnSpc>
              <a:buClr>
                <a:schemeClr val="accent1"/>
              </a:buClr>
              <a:buSzPct val="80000"/>
              <a:buFont typeface="Wingdings 2" panose="05020102010507070707" pitchFamily="18" charset="2"/>
            </a:pPr>
            <a:r>
              <a:rPr lang="en-US" dirty="0"/>
              <a:t>Label data in disk</a:t>
            </a:r>
            <a:endParaRPr lang="en-US" dirty="0"/>
          </a:p>
        </p:txBody>
      </p:sp>
      <p:sp>
        <p:nvSpPr>
          <p:cNvPr id="12288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288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22885" name="Rectangle 4"/>
          <p:cNvSpPr/>
          <p:nvPr/>
        </p:nvSpPr>
        <p:spPr>
          <a:xfrm>
            <a:off x="1066800" y="2590800"/>
            <a:ext cx="7013575" cy="1066800"/>
          </a:xfrm>
          <a:prstGeom prst="rect">
            <a:avLst/>
          </a:prstGeom>
          <a:noFill/>
          <a:ln w="9525">
            <a:noFill/>
          </a:ln>
        </p:spPr>
        <p:txBody>
          <a:bodyPr wrap="none" lIns="92075" tIns="46038" rIns="92075" bIns="46038" anchor="t" anchorCtr="0">
            <a:spAutoFit/>
          </a:bodyPr>
          <a:p>
            <a:r>
              <a:rPr lang="en-US" sz="3200" dirty="0">
                <a:latin typeface="Times New Roman" panose="02020603050405020304" pitchFamily="18" charset="0"/>
              </a:rPr>
              <a:t>{1,2,3}, {1,2,4}, </a:t>
            </a:r>
            <a:r>
              <a:rPr lang="en-US" sz="3200" dirty="0">
                <a:solidFill>
                  <a:srgbClr val="FF0000"/>
                </a:solidFill>
                <a:latin typeface="Times New Roman" panose="02020603050405020304" pitchFamily="18" charset="0"/>
              </a:rPr>
              <a:t>{1,2,5}</a:t>
            </a:r>
            <a:r>
              <a:rPr lang="en-US" sz="3200" dirty="0">
                <a:latin typeface="Times New Roman" panose="02020603050405020304" pitchFamily="18" charset="0"/>
              </a:rPr>
              <a:t>, </a:t>
            </a:r>
            <a:r>
              <a:rPr lang="en-US" sz="3200" dirty="0">
                <a:solidFill>
                  <a:srgbClr val="FF0000"/>
                </a:solidFill>
                <a:latin typeface="Times New Roman" panose="02020603050405020304" pitchFamily="18" charset="0"/>
              </a:rPr>
              <a:t>{1,3,4}</a:t>
            </a:r>
            <a:r>
              <a:rPr lang="en-US" sz="3200" dirty="0">
                <a:latin typeface="Times New Roman" panose="02020603050405020304" pitchFamily="18" charset="0"/>
              </a:rPr>
              <a:t>, {1,3,5}</a:t>
            </a:r>
            <a:endParaRPr lang="en-US" sz="3200" dirty="0">
              <a:latin typeface="Times New Roman" panose="02020603050405020304" pitchFamily="18" charset="0"/>
            </a:endParaRPr>
          </a:p>
          <a:p>
            <a:r>
              <a:rPr lang="en-US" sz="3200" dirty="0">
                <a:latin typeface="Times New Roman" panose="02020603050405020304" pitchFamily="18" charset="0"/>
              </a:rPr>
              <a:t>{1,4,5}, </a:t>
            </a:r>
            <a:r>
              <a:rPr lang="en-US" sz="3200" dirty="0">
                <a:solidFill>
                  <a:srgbClr val="FF0000"/>
                </a:solidFill>
                <a:latin typeface="Times New Roman" panose="02020603050405020304" pitchFamily="18" charset="0"/>
              </a:rPr>
              <a:t>{2,3,4}</a:t>
            </a:r>
            <a:r>
              <a:rPr lang="en-US" sz="3200" dirty="0">
                <a:latin typeface="Times New Roman" panose="02020603050405020304" pitchFamily="18" charset="0"/>
              </a:rPr>
              <a:t>, {2,3,5}, {2,4,5}, {3,4,5}</a:t>
            </a:r>
            <a:endParaRPr lang="en-US" sz="3200" dirty="0">
              <a:latin typeface="Times New Roman" panose="02020603050405020304" pitchFamily="18" charset="0"/>
            </a:endParaRPr>
          </a:p>
        </p:txBody>
      </p:sp>
      <p:sp>
        <p:nvSpPr>
          <p:cNvPr id="122886" name="Rectangle 5"/>
          <p:cNvSpPr/>
          <p:nvPr/>
        </p:nvSpPr>
        <p:spPr>
          <a:xfrm>
            <a:off x="2286000" y="3810000"/>
            <a:ext cx="4267200" cy="579438"/>
          </a:xfrm>
          <a:prstGeom prst="rect">
            <a:avLst/>
          </a:prstGeom>
          <a:noFill/>
          <a:ln w="9525">
            <a:noFill/>
          </a:ln>
        </p:spPr>
        <p:txBody>
          <a:bodyPr lIns="92075" tIns="46038" rIns="92075" bIns="46038" anchor="t" anchorCtr="0">
            <a:spAutoFit/>
          </a:bodyPr>
          <a:p>
            <a:pPr>
              <a:spcBef>
                <a:spcPct val="50000"/>
              </a:spcBef>
            </a:pPr>
            <a:r>
              <a:rPr lang="en-US" sz="3200" dirty="0">
                <a:latin typeface="Times New Roman" panose="02020603050405020304" pitchFamily="18" charset="0"/>
              </a:rPr>
              <a:t>{1,2,3}		 {1,2,4}</a:t>
            </a:r>
            <a:endParaRPr lang="en-US" sz="3200" dirty="0">
              <a:latin typeface="Times New Roman" panose="02020603050405020304" pitchFamily="18" charset="0"/>
            </a:endParaRPr>
          </a:p>
        </p:txBody>
      </p:sp>
      <p:sp>
        <p:nvSpPr>
          <p:cNvPr id="122887" name="Line 6"/>
          <p:cNvSpPr/>
          <p:nvPr/>
        </p:nvSpPr>
        <p:spPr>
          <a:xfrm>
            <a:off x="3733800" y="4114800"/>
            <a:ext cx="1447800" cy="0"/>
          </a:xfrm>
          <a:prstGeom prst="line">
            <a:avLst/>
          </a:prstGeom>
          <a:ln w="25400" cap="flat" cmpd="sng">
            <a:solidFill>
              <a:schemeClr val="tx1"/>
            </a:solidFill>
            <a:prstDash val="solid"/>
            <a:round/>
            <a:headEnd type="stealth" w="med" len="lg"/>
            <a:tailEnd type="stealth" w="med" len="lg"/>
          </a:ln>
        </p:spPr>
      </p:sp>
      <p:sp>
        <p:nvSpPr>
          <p:cNvPr id="122888" name="Rectangle 7"/>
          <p:cNvSpPr/>
          <p:nvPr/>
        </p:nvSpPr>
        <p:spPr>
          <a:xfrm>
            <a:off x="4267200" y="3657600"/>
            <a:ext cx="381000" cy="579438"/>
          </a:xfrm>
          <a:prstGeom prst="rect">
            <a:avLst/>
          </a:prstGeom>
          <a:noFill/>
          <a:ln w="9525">
            <a:noFill/>
          </a:ln>
        </p:spPr>
        <p:txBody>
          <a:bodyPr lIns="92075" tIns="46038" rIns="92075" bIns="46038" anchor="t" anchorCtr="0">
            <a:spAutoFit/>
          </a:bodyPr>
          <a:p>
            <a:pPr>
              <a:spcBef>
                <a:spcPct val="50000"/>
              </a:spcBef>
            </a:pPr>
            <a:r>
              <a:rPr lang="en-US" sz="3200" dirty="0">
                <a:solidFill>
                  <a:schemeClr val="accent2"/>
                </a:solidFill>
                <a:latin typeface="Times New Roman" panose="02020603050405020304" pitchFamily="18" charset="0"/>
              </a:rPr>
              <a:t>3</a:t>
            </a:r>
            <a:endParaRPr lang="en-US" sz="3200" dirty="0">
              <a:solidFill>
                <a:schemeClr val="accent2"/>
              </a:solidFill>
              <a:latin typeface="Times New Roman" panose="02020603050405020304" pitchFamily="18" charset="0"/>
            </a:endParaRPr>
          </a:p>
        </p:txBody>
      </p:sp>
    </p:spTree>
  </p:cSld>
  <p:clrMapOvr>
    <a:masterClrMapping/>
  </p:clrMapOvr>
  <p:transition>
    <p:strips dir="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noChangeArrowheads="1"/>
          </p:cNvSpPr>
          <p:nvPr>
            <p:ph type="title"/>
          </p:nvPr>
        </p:nvSpPr>
        <p:spPr>
          <a:xfrm>
            <a:off x="304800" y="228600"/>
            <a:ext cx="6172200" cy="6858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rPr>
              <a:t>CHAMELEON</a:t>
            </a:r>
            <a:endPar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endParaRPr>
          </a:p>
        </p:txBody>
      </p:sp>
      <p:sp>
        <p:nvSpPr>
          <p:cNvPr id="123906" name="Rectangle 3"/>
          <p:cNvSpPr>
            <a:spLocks noGrp="1"/>
          </p:cNvSpPr>
          <p:nvPr>
            <p:ph sz="quarter" idx="1"/>
          </p:nvPr>
        </p:nvSpPr>
        <p:spPr>
          <a:xfrm>
            <a:off x="457200" y="1371600"/>
            <a:ext cx="7467600" cy="4724400"/>
          </a:xfrm>
          <a:ln/>
        </p:spPr>
        <p:txBody>
          <a:bodyPr vert="horz" wrap="square" lIns="92075" tIns="46038" rIns="92075" bIns="46038" anchor="t" anchorCtr="0"/>
          <a:p>
            <a:pPr algn="just" eaLnBrk="1" hangingPunct="1">
              <a:lnSpc>
                <a:spcPct val="90000"/>
              </a:lnSpc>
              <a:buClr>
                <a:schemeClr val="accent1"/>
              </a:buClr>
              <a:buSzPct val="70000"/>
              <a:buFont typeface="Wingdings" panose="05000000000000000000" pitchFamily="2" charset="2"/>
            </a:pPr>
            <a:r>
              <a:rPr lang="en-US" altLang="zh-CN" dirty="0">
                <a:ea typeface="SimSun" panose="02010600030101010101" pitchFamily="2" charset="-122"/>
              </a:rPr>
              <a:t>CHAMELEON: Hierarchical clustering using dynamic modeling, by G. Karypis, E.H. Han and V. Kumar</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99 </a:t>
            </a:r>
            <a:endParaRPr lang="en-US" altLang="zh-CN" dirty="0">
              <a:ea typeface="SimSun" panose="02010600030101010101" pitchFamily="2" charset="-122"/>
            </a:endParaRPr>
          </a:p>
          <a:p>
            <a:pPr algn="just" eaLnBrk="1" hangingPunct="1">
              <a:lnSpc>
                <a:spcPct val="90000"/>
              </a:lnSpc>
              <a:buClr>
                <a:schemeClr val="accent1"/>
              </a:buClr>
              <a:buSzPct val="70000"/>
              <a:buFont typeface="Wingdings" panose="05000000000000000000" pitchFamily="2" charset="2"/>
            </a:pPr>
            <a:r>
              <a:rPr lang="en-US" altLang="zh-CN" dirty="0">
                <a:ea typeface="SimSun" panose="02010600030101010101" pitchFamily="2" charset="-122"/>
              </a:rPr>
              <a:t>Measures the similarity based on a dynamic model</a:t>
            </a:r>
            <a:endParaRPr lang="en-US" altLang="zh-CN" dirty="0">
              <a:ea typeface="SimSun" panose="02010600030101010101" pitchFamily="2" charset="-122"/>
            </a:endParaRPr>
          </a:p>
          <a:p>
            <a:pPr lvl="1" algn="just" eaLnBrk="1" hangingPunct="1">
              <a:lnSpc>
                <a:spcPct val="90000"/>
              </a:lnSpc>
              <a:buClr>
                <a:schemeClr val="accent1"/>
              </a:buClr>
              <a:buSzPct val="80000"/>
              <a:buFont typeface="Wingdings 2" panose="05020102010507070707" pitchFamily="18" charset="2"/>
            </a:pPr>
            <a:r>
              <a:rPr lang="en-US" altLang="zh-CN" dirty="0">
                <a:ea typeface="SimSun" panose="02010600030101010101" pitchFamily="2" charset="-122"/>
              </a:rPr>
              <a:t>Two clusters are merged only if the </a:t>
            </a:r>
            <a:r>
              <a:rPr lang="en-US" altLang="zh-CN" i="1" dirty="0">
                <a:solidFill>
                  <a:schemeClr val="hlink"/>
                </a:solidFill>
                <a:ea typeface="SimSun" panose="02010600030101010101" pitchFamily="2" charset="-122"/>
              </a:rPr>
              <a:t>interconnectivity</a:t>
            </a:r>
            <a:r>
              <a:rPr lang="en-US" altLang="zh-CN" dirty="0">
                <a:solidFill>
                  <a:schemeClr val="hlink"/>
                </a:solidFill>
                <a:ea typeface="SimSun" panose="02010600030101010101" pitchFamily="2" charset="-122"/>
              </a:rPr>
              <a:t> </a:t>
            </a:r>
            <a:r>
              <a:rPr lang="en-US" altLang="zh-CN" dirty="0">
                <a:ea typeface="SimSun" panose="02010600030101010101" pitchFamily="2" charset="-122"/>
              </a:rPr>
              <a:t>and </a:t>
            </a:r>
            <a:r>
              <a:rPr lang="en-US" altLang="zh-CN" i="1" dirty="0">
                <a:solidFill>
                  <a:schemeClr val="hlink"/>
                </a:solidFill>
                <a:ea typeface="SimSun" panose="02010600030101010101" pitchFamily="2" charset="-122"/>
              </a:rPr>
              <a:t>closeness (proximity)</a:t>
            </a:r>
            <a:r>
              <a:rPr lang="en-US" altLang="zh-CN" dirty="0">
                <a:ea typeface="SimSun" panose="02010600030101010101" pitchFamily="2" charset="-122"/>
              </a:rPr>
              <a:t> between two clusters are high </a:t>
            </a:r>
            <a:r>
              <a:rPr lang="en-US" altLang="zh-CN" i="1" dirty="0">
                <a:ea typeface="SimSun" panose="02010600030101010101" pitchFamily="2" charset="-122"/>
              </a:rPr>
              <a:t>relative to</a:t>
            </a:r>
            <a:r>
              <a:rPr lang="en-US" altLang="zh-CN" dirty="0">
                <a:ea typeface="SimSun" panose="02010600030101010101" pitchFamily="2" charset="-122"/>
              </a:rPr>
              <a:t> the internal interconnectivity of the clusters and closeness of items within the clusters</a:t>
            </a:r>
            <a:endParaRPr lang="en-US" altLang="zh-CN" dirty="0">
              <a:ea typeface="SimSun" panose="02010600030101010101" pitchFamily="2" charset="-122"/>
            </a:endParaRPr>
          </a:p>
          <a:p>
            <a:pPr algn="just" eaLnBrk="1" hangingPunct="1">
              <a:lnSpc>
                <a:spcPct val="90000"/>
              </a:lnSpc>
              <a:buClr>
                <a:schemeClr val="accent1"/>
              </a:buClr>
              <a:buSzPct val="70000"/>
              <a:buFont typeface="Wingdings" panose="05000000000000000000" pitchFamily="2" charset="2"/>
            </a:pPr>
            <a:r>
              <a:rPr lang="en-US" altLang="zh-CN" dirty="0">
                <a:ea typeface="SimSun" panose="02010600030101010101" pitchFamily="2" charset="-122"/>
              </a:rPr>
              <a:t>A two phase algorithm</a:t>
            </a:r>
            <a:endParaRPr lang="en-US" altLang="zh-CN" dirty="0">
              <a:ea typeface="SimSun" panose="02010600030101010101" pitchFamily="2" charset="-122"/>
            </a:endParaRPr>
          </a:p>
          <a:p>
            <a:pPr lvl="1" algn="just" eaLnBrk="1" hangingPunct="1">
              <a:lnSpc>
                <a:spcPct val="90000"/>
              </a:lnSpc>
              <a:buClr>
                <a:schemeClr val="accent1"/>
              </a:buClr>
              <a:buSzPct val="80000"/>
              <a:buFont typeface="Wingdings 2" panose="05020102010507070707" pitchFamily="18" charset="2"/>
            </a:pPr>
            <a:r>
              <a:rPr lang="en-US" altLang="zh-CN" dirty="0">
                <a:ea typeface="SimSun" panose="02010600030101010101" pitchFamily="2" charset="-122"/>
              </a:rPr>
              <a:t>1. Use a graph partitioning algorithm: cluster objects into a large number of relatively small sub-clusters</a:t>
            </a:r>
            <a:endParaRPr lang="en-US" altLang="zh-CN" dirty="0">
              <a:ea typeface="SimSun" panose="02010600030101010101" pitchFamily="2" charset="-122"/>
            </a:endParaRPr>
          </a:p>
          <a:p>
            <a:pPr lvl="1" algn="just" eaLnBrk="1" hangingPunct="1">
              <a:lnSpc>
                <a:spcPct val="90000"/>
              </a:lnSpc>
              <a:buClr>
                <a:schemeClr val="accent1"/>
              </a:buClr>
              <a:buSzPct val="80000"/>
              <a:buFont typeface="Wingdings 2" panose="05020102010507070707" pitchFamily="18" charset="2"/>
            </a:pPr>
            <a:r>
              <a:rPr lang="en-US" altLang="zh-CN" dirty="0">
                <a:ea typeface="SimSun" panose="02010600030101010101" pitchFamily="2" charset="-122"/>
              </a:rPr>
              <a:t>2. Use an agglomerative hierarchical clustering algorithm: find the genuine clusters by repeatedly combining these sub-clusters</a:t>
            </a:r>
            <a:endParaRPr lang="en-US" altLang="zh-CN" dirty="0">
              <a:ea typeface="SimSun" panose="02010600030101010101" pitchFamily="2" charset="-122"/>
            </a:endParaRPr>
          </a:p>
        </p:txBody>
      </p:sp>
      <p:sp>
        <p:nvSpPr>
          <p:cNvPr id="12390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390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Tree>
  </p:cSld>
  <p:clrMapOvr>
    <a:masterClrMapping/>
  </p:clrMapOvr>
  <p:transition>
    <p:strips dir="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10"/>
          <p:cNvSpPr>
            <a:spLocks noGrp="1" noChangeArrowheads="1"/>
          </p:cNvSpPr>
          <p:nvPr>
            <p:ph type="title"/>
          </p:nvPr>
        </p:nvSpPr>
        <p:spPr>
          <a:xfrm>
            <a:off x="304800" y="381000"/>
            <a:ext cx="7391400" cy="6858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rPr>
              <a:t>Overall Framework of CHAMELEON</a:t>
            </a:r>
            <a:endParaRPr kumimoji="0" lang="en-US" altLang="zh-CN" sz="3000" b="1" i="0" u="none" strike="noStrike" kern="1200" cap="small" spc="0" normalizeH="0" baseline="0" noProof="0" dirty="0" smtClean="0">
              <a:ln>
                <a:noFill/>
              </a:ln>
              <a:solidFill>
                <a:schemeClr val="accent4">
                  <a:lumMod val="60000"/>
                  <a:lumOff val="40000"/>
                </a:schemeClr>
              </a:solidFill>
              <a:effectLst>
                <a:outerShdw blurRad="38100" dist="38100" dir="2700000" algn="tl">
                  <a:srgbClr val="000000">
                    <a:alpha val="43137"/>
                  </a:srgbClr>
                </a:outerShdw>
              </a:effectLst>
              <a:uLnTx/>
              <a:uFillTx/>
              <a:latin typeface="+mj-lt"/>
              <a:ea typeface="SimSun" panose="02010600030101010101" pitchFamily="2" charset="-122"/>
              <a:cs typeface="+mj-cs"/>
            </a:endParaRPr>
          </a:p>
        </p:txBody>
      </p:sp>
      <p:sp>
        <p:nvSpPr>
          <p:cNvPr id="125954" name="Rectangle 2"/>
          <p:cNvSpPr>
            <a:spLocks noGrp="1"/>
          </p:cNvSpPr>
          <p:nvPr>
            <p:ph sz="quarter" idx="1"/>
          </p:nvPr>
        </p:nvSpPr>
        <p:spPr>
          <a:xfrm>
            <a:off x="-685800" y="1371600"/>
            <a:ext cx="8382000" cy="4800600"/>
          </a:xfrm>
          <a:ln/>
        </p:spPr>
        <p:txBody>
          <a:bodyPr vert="horz" wrap="square" lIns="91440" tIns="45720" rIns="91440" bIns="45720" anchor="t" anchorCtr="0"/>
          <a:p>
            <a:pPr eaLnBrk="1" hangingPunct="1">
              <a:buClr>
                <a:schemeClr val="accent1"/>
              </a:buClr>
              <a:buSzPct val="70000"/>
              <a:buFont typeface="Wingdings" panose="05000000000000000000" pitchFamily="2" charset="2"/>
              <a:buNone/>
            </a:pPr>
            <a:endParaRPr lang="zh-CN" altLang="en-US" dirty="0">
              <a:ea typeface="SimSun" panose="02010600030101010101" pitchFamily="2" charset="-122"/>
            </a:endParaRPr>
          </a:p>
          <a:p>
            <a:pPr eaLnBrk="1" hangingPunct="1">
              <a:buClr>
                <a:schemeClr val="accent1"/>
              </a:buClr>
              <a:buSzPct val="70000"/>
              <a:buFont typeface="Wingdings" panose="05000000000000000000" pitchFamily="2" charset="2"/>
              <a:buNone/>
            </a:pPr>
            <a:endParaRPr lang="zh-CN" altLang="en-US" dirty="0">
              <a:ea typeface="SimSun" panose="02010600030101010101" pitchFamily="2" charset="-122"/>
            </a:endParaRPr>
          </a:p>
          <a:p>
            <a:pPr eaLnBrk="1" hangingPunct="1">
              <a:buClr>
                <a:schemeClr val="accent1"/>
              </a:buClr>
              <a:buSzPct val="70000"/>
              <a:buFont typeface="Wingdings" panose="05000000000000000000" pitchFamily="2" charset="2"/>
              <a:buNone/>
            </a:pPr>
            <a:endParaRPr lang="zh-CN" altLang="en-US" dirty="0">
              <a:ea typeface="SimSun" panose="02010600030101010101" pitchFamily="2" charset="-122"/>
            </a:endParaRPr>
          </a:p>
        </p:txBody>
      </p:sp>
      <p:sp>
        <p:nvSpPr>
          <p:cNvPr id="12595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595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25957" name="Oval 3"/>
          <p:cNvSpPr/>
          <p:nvPr/>
        </p:nvSpPr>
        <p:spPr>
          <a:xfrm>
            <a:off x="2603500" y="17526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58" name="Oval 4"/>
          <p:cNvSpPr/>
          <p:nvPr/>
        </p:nvSpPr>
        <p:spPr>
          <a:xfrm>
            <a:off x="2438400" y="19177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59" name="Oval 5"/>
          <p:cNvSpPr/>
          <p:nvPr/>
        </p:nvSpPr>
        <p:spPr>
          <a:xfrm>
            <a:off x="2667000" y="20701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60" name="Line 6"/>
          <p:cNvSpPr/>
          <p:nvPr/>
        </p:nvSpPr>
        <p:spPr>
          <a:xfrm flipV="1">
            <a:off x="2438400" y="1752600"/>
            <a:ext cx="228600" cy="228600"/>
          </a:xfrm>
          <a:prstGeom prst="line">
            <a:avLst/>
          </a:prstGeom>
          <a:ln w="9525" cap="flat" cmpd="sng">
            <a:solidFill>
              <a:schemeClr val="tx1"/>
            </a:solidFill>
            <a:prstDash val="solid"/>
            <a:round/>
            <a:headEnd type="none" w="med" len="med"/>
            <a:tailEnd type="none" w="med" len="med"/>
          </a:ln>
        </p:spPr>
      </p:sp>
      <p:sp>
        <p:nvSpPr>
          <p:cNvPr id="125961" name="Oval 7"/>
          <p:cNvSpPr/>
          <p:nvPr/>
        </p:nvSpPr>
        <p:spPr>
          <a:xfrm>
            <a:off x="2451100" y="22225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62" name="Oval 8"/>
          <p:cNvSpPr/>
          <p:nvPr/>
        </p:nvSpPr>
        <p:spPr>
          <a:xfrm>
            <a:off x="2133600" y="22860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63" name="Line 9"/>
          <p:cNvSpPr/>
          <p:nvPr/>
        </p:nvSpPr>
        <p:spPr>
          <a:xfrm flipH="1">
            <a:off x="2133600" y="1981200"/>
            <a:ext cx="304800" cy="304800"/>
          </a:xfrm>
          <a:prstGeom prst="line">
            <a:avLst/>
          </a:prstGeom>
          <a:ln w="9525" cap="flat" cmpd="sng">
            <a:solidFill>
              <a:schemeClr val="tx1"/>
            </a:solidFill>
            <a:prstDash val="solid"/>
            <a:round/>
            <a:headEnd type="none" w="med" len="med"/>
            <a:tailEnd type="none" w="med" len="med"/>
          </a:ln>
        </p:spPr>
      </p:sp>
      <p:sp>
        <p:nvSpPr>
          <p:cNvPr id="125964" name="Line 10"/>
          <p:cNvSpPr/>
          <p:nvPr/>
        </p:nvSpPr>
        <p:spPr>
          <a:xfrm>
            <a:off x="2438400" y="1981200"/>
            <a:ext cx="76200" cy="304800"/>
          </a:xfrm>
          <a:prstGeom prst="line">
            <a:avLst/>
          </a:prstGeom>
          <a:ln w="9525" cap="flat" cmpd="sng">
            <a:solidFill>
              <a:schemeClr val="tx1"/>
            </a:solidFill>
            <a:prstDash val="solid"/>
            <a:round/>
            <a:headEnd type="none" w="med" len="med"/>
            <a:tailEnd type="none" w="med" len="med"/>
          </a:ln>
        </p:spPr>
      </p:sp>
      <p:sp>
        <p:nvSpPr>
          <p:cNvPr id="125965" name="Line 11"/>
          <p:cNvSpPr/>
          <p:nvPr/>
        </p:nvSpPr>
        <p:spPr>
          <a:xfrm flipH="1">
            <a:off x="2514600" y="2133600"/>
            <a:ext cx="152400" cy="76200"/>
          </a:xfrm>
          <a:prstGeom prst="line">
            <a:avLst/>
          </a:prstGeom>
          <a:ln w="9525" cap="flat" cmpd="sng">
            <a:solidFill>
              <a:schemeClr val="tx1"/>
            </a:solidFill>
            <a:prstDash val="solid"/>
            <a:round/>
            <a:headEnd type="none" w="med" len="med"/>
            <a:tailEnd type="none" w="med" len="med"/>
          </a:ln>
        </p:spPr>
      </p:sp>
      <p:sp>
        <p:nvSpPr>
          <p:cNvPr id="125966" name="Oval 12"/>
          <p:cNvSpPr/>
          <p:nvPr/>
        </p:nvSpPr>
        <p:spPr>
          <a:xfrm>
            <a:off x="2222500" y="25273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67" name="Oval 13"/>
          <p:cNvSpPr/>
          <p:nvPr/>
        </p:nvSpPr>
        <p:spPr>
          <a:xfrm>
            <a:off x="1905000" y="25146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68" name="Oval 14"/>
          <p:cNvSpPr/>
          <p:nvPr/>
        </p:nvSpPr>
        <p:spPr>
          <a:xfrm>
            <a:off x="2590800" y="25273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69" name="Oval 15"/>
          <p:cNvSpPr/>
          <p:nvPr/>
        </p:nvSpPr>
        <p:spPr>
          <a:xfrm>
            <a:off x="2374900" y="28194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70" name="Oval 16"/>
          <p:cNvSpPr/>
          <p:nvPr/>
        </p:nvSpPr>
        <p:spPr>
          <a:xfrm>
            <a:off x="2438400" y="31369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71" name="Oval 17"/>
          <p:cNvSpPr/>
          <p:nvPr/>
        </p:nvSpPr>
        <p:spPr>
          <a:xfrm>
            <a:off x="2755900" y="29718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72" name="Line 18"/>
          <p:cNvSpPr/>
          <p:nvPr/>
        </p:nvSpPr>
        <p:spPr>
          <a:xfrm>
            <a:off x="2133600" y="2286000"/>
            <a:ext cx="152400" cy="304800"/>
          </a:xfrm>
          <a:prstGeom prst="line">
            <a:avLst/>
          </a:prstGeom>
          <a:ln w="9525" cap="flat" cmpd="sng">
            <a:solidFill>
              <a:schemeClr val="tx1"/>
            </a:solidFill>
            <a:prstDash val="solid"/>
            <a:round/>
            <a:headEnd type="none" w="med" len="med"/>
            <a:tailEnd type="none" w="med" len="med"/>
          </a:ln>
        </p:spPr>
      </p:sp>
      <p:sp>
        <p:nvSpPr>
          <p:cNvPr id="125973" name="Line 19"/>
          <p:cNvSpPr/>
          <p:nvPr/>
        </p:nvSpPr>
        <p:spPr>
          <a:xfrm flipH="1">
            <a:off x="1905000" y="2286000"/>
            <a:ext cx="228600" cy="228600"/>
          </a:xfrm>
          <a:prstGeom prst="line">
            <a:avLst/>
          </a:prstGeom>
          <a:ln w="9525" cap="flat" cmpd="sng">
            <a:solidFill>
              <a:schemeClr val="tx1"/>
            </a:solidFill>
            <a:prstDash val="solid"/>
            <a:round/>
            <a:headEnd type="none" w="med" len="med"/>
            <a:tailEnd type="none" w="med" len="med"/>
          </a:ln>
        </p:spPr>
      </p:sp>
      <p:sp>
        <p:nvSpPr>
          <p:cNvPr id="125974" name="Line 20"/>
          <p:cNvSpPr/>
          <p:nvPr/>
        </p:nvSpPr>
        <p:spPr>
          <a:xfrm>
            <a:off x="1905000" y="2514600"/>
            <a:ext cx="381000" cy="76200"/>
          </a:xfrm>
          <a:prstGeom prst="line">
            <a:avLst/>
          </a:prstGeom>
          <a:ln w="9525" cap="flat" cmpd="sng">
            <a:solidFill>
              <a:schemeClr val="tx1"/>
            </a:solidFill>
            <a:prstDash val="solid"/>
            <a:round/>
            <a:headEnd type="none" w="med" len="med"/>
            <a:tailEnd type="none" w="med" len="med"/>
          </a:ln>
        </p:spPr>
      </p:sp>
      <p:sp>
        <p:nvSpPr>
          <p:cNvPr id="125975" name="Line 21"/>
          <p:cNvSpPr/>
          <p:nvPr/>
        </p:nvSpPr>
        <p:spPr>
          <a:xfrm flipV="1">
            <a:off x="2286000" y="2209800"/>
            <a:ext cx="228600" cy="381000"/>
          </a:xfrm>
          <a:prstGeom prst="line">
            <a:avLst/>
          </a:prstGeom>
          <a:ln w="9525" cap="flat" cmpd="sng">
            <a:solidFill>
              <a:schemeClr val="tx1"/>
            </a:solidFill>
            <a:prstDash val="solid"/>
            <a:round/>
            <a:headEnd type="none" w="med" len="med"/>
            <a:tailEnd type="none" w="med" len="med"/>
          </a:ln>
        </p:spPr>
      </p:sp>
      <p:sp>
        <p:nvSpPr>
          <p:cNvPr id="125976" name="Oval 22"/>
          <p:cNvSpPr/>
          <p:nvPr/>
        </p:nvSpPr>
        <p:spPr>
          <a:xfrm>
            <a:off x="2971800" y="28194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77" name="Oval 23"/>
          <p:cNvSpPr/>
          <p:nvPr/>
        </p:nvSpPr>
        <p:spPr>
          <a:xfrm>
            <a:off x="3048000" y="31369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78" name="Oval 24"/>
          <p:cNvSpPr/>
          <p:nvPr/>
        </p:nvSpPr>
        <p:spPr>
          <a:xfrm>
            <a:off x="4051300" y="18288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79" name="Oval 25"/>
          <p:cNvSpPr/>
          <p:nvPr/>
        </p:nvSpPr>
        <p:spPr>
          <a:xfrm>
            <a:off x="3657600" y="25146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0" name="Oval 26"/>
          <p:cNvSpPr/>
          <p:nvPr/>
        </p:nvSpPr>
        <p:spPr>
          <a:xfrm>
            <a:off x="4267200" y="16891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1" name="Oval 27"/>
          <p:cNvSpPr/>
          <p:nvPr/>
        </p:nvSpPr>
        <p:spPr>
          <a:xfrm>
            <a:off x="4267200" y="19812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2" name="Oval 28"/>
          <p:cNvSpPr/>
          <p:nvPr/>
        </p:nvSpPr>
        <p:spPr>
          <a:xfrm>
            <a:off x="4114800" y="20574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3" name="Oval 29"/>
          <p:cNvSpPr/>
          <p:nvPr/>
        </p:nvSpPr>
        <p:spPr>
          <a:xfrm>
            <a:off x="3822700" y="24384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4" name="Oval 30"/>
          <p:cNvSpPr/>
          <p:nvPr/>
        </p:nvSpPr>
        <p:spPr>
          <a:xfrm>
            <a:off x="3810000" y="26670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5" name="Oval 31"/>
          <p:cNvSpPr/>
          <p:nvPr/>
        </p:nvSpPr>
        <p:spPr>
          <a:xfrm>
            <a:off x="3975100" y="27432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6" name="Oval 32"/>
          <p:cNvSpPr/>
          <p:nvPr/>
        </p:nvSpPr>
        <p:spPr>
          <a:xfrm>
            <a:off x="3886200" y="28194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87" name="Line 33"/>
          <p:cNvSpPr/>
          <p:nvPr/>
        </p:nvSpPr>
        <p:spPr>
          <a:xfrm flipV="1">
            <a:off x="3048000" y="2514600"/>
            <a:ext cx="685800" cy="304800"/>
          </a:xfrm>
          <a:prstGeom prst="line">
            <a:avLst/>
          </a:prstGeom>
          <a:ln w="9525" cap="flat" cmpd="sng">
            <a:solidFill>
              <a:schemeClr val="tx1"/>
            </a:solidFill>
            <a:prstDash val="solid"/>
            <a:round/>
            <a:headEnd type="none" w="med" len="med"/>
            <a:tailEnd type="none" w="med" len="med"/>
          </a:ln>
        </p:spPr>
      </p:sp>
      <p:sp>
        <p:nvSpPr>
          <p:cNvPr id="125988" name="Line 34"/>
          <p:cNvSpPr/>
          <p:nvPr/>
        </p:nvSpPr>
        <p:spPr>
          <a:xfrm flipV="1">
            <a:off x="3733800" y="1828800"/>
            <a:ext cx="381000" cy="685800"/>
          </a:xfrm>
          <a:prstGeom prst="line">
            <a:avLst/>
          </a:prstGeom>
          <a:ln w="9525" cap="flat" cmpd="sng">
            <a:solidFill>
              <a:schemeClr val="tx1"/>
            </a:solidFill>
            <a:prstDash val="solid"/>
            <a:round/>
            <a:headEnd type="none" w="med" len="med"/>
            <a:tailEnd type="none" w="med" len="med"/>
          </a:ln>
        </p:spPr>
      </p:sp>
      <p:sp>
        <p:nvSpPr>
          <p:cNvPr id="125989" name="Line 35"/>
          <p:cNvSpPr/>
          <p:nvPr/>
        </p:nvSpPr>
        <p:spPr>
          <a:xfrm flipV="1">
            <a:off x="4114800" y="1752600"/>
            <a:ext cx="152400" cy="76200"/>
          </a:xfrm>
          <a:prstGeom prst="line">
            <a:avLst/>
          </a:prstGeom>
          <a:ln w="9525" cap="flat" cmpd="sng">
            <a:solidFill>
              <a:schemeClr val="tx1"/>
            </a:solidFill>
            <a:prstDash val="solid"/>
            <a:round/>
            <a:headEnd type="none" w="med" len="med"/>
            <a:tailEnd type="none" w="med" len="med"/>
          </a:ln>
        </p:spPr>
      </p:sp>
      <p:sp>
        <p:nvSpPr>
          <p:cNvPr id="125990" name="Line 36"/>
          <p:cNvSpPr/>
          <p:nvPr/>
        </p:nvSpPr>
        <p:spPr>
          <a:xfrm>
            <a:off x="4114800" y="1828800"/>
            <a:ext cx="152400" cy="152400"/>
          </a:xfrm>
          <a:prstGeom prst="line">
            <a:avLst/>
          </a:prstGeom>
          <a:ln w="9525" cap="flat" cmpd="sng">
            <a:solidFill>
              <a:schemeClr val="tx1"/>
            </a:solidFill>
            <a:prstDash val="solid"/>
            <a:round/>
            <a:headEnd type="none" w="med" len="med"/>
            <a:tailEnd type="none" w="med" len="med"/>
          </a:ln>
        </p:spPr>
      </p:sp>
      <p:sp>
        <p:nvSpPr>
          <p:cNvPr id="125991" name="Line 37"/>
          <p:cNvSpPr/>
          <p:nvPr/>
        </p:nvSpPr>
        <p:spPr>
          <a:xfrm>
            <a:off x="4114800" y="1828800"/>
            <a:ext cx="0" cy="228600"/>
          </a:xfrm>
          <a:prstGeom prst="line">
            <a:avLst/>
          </a:prstGeom>
          <a:ln w="9525" cap="flat" cmpd="sng">
            <a:solidFill>
              <a:schemeClr val="tx1"/>
            </a:solidFill>
            <a:prstDash val="solid"/>
            <a:round/>
            <a:headEnd type="none" w="med" len="med"/>
            <a:tailEnd type="none" w="med" len="med"/>
          </a:ln>
        </p:spPr>
      </p:sp>
      <p:sp>
        <p:nvSpPr>
          <p:cNvPr id="125992" name="Line 38"/>
          <p:cNvSpPr/>
          <p:nvPr/>
        </p:nvSpPr>
        <p:spPr>
          <a:xfrm flipV="1">
            <a:off x="4114800" y="1981200"/>
            <a:ext cx="152400" cy="76200"/>
          </a:xfrm>
          <a:prstGeom prst="line">
            <a:avLst/>
          </a:prstGeom>
          <a:ln w="9525" cap="flat" cmpd="sng">
            <a:solidFill>
              <a:schemeClr val="tx1"/>
            </a:solidFill>
            <a:prstDash val="solid"/>
            <a:round/>
            <a:headEnd type="none" w="med" len="med"/>
            <a:tailEnd type="none" w="med" len="med"/>
          </a:ln>
        </p:spPr>
      </p:sp>
      <p:sp>
        <p:nvSpPr>
          <p:cNvPr id="125993" name="Line 39"/>
          <p:cNvSpPr/>
          <p:nvPr/>
        </p:nvSpPr>
        <p:spPr>
          <a:xfrm>
            <a:off x="3810000" y="2667000"/>
            <a:ext cx="76200" cy="152400"/>
          </a:xfrm>
          <a:prstGeom prst="line">
            <a:avLst/>
          </a:prstGeom>
          <a:ln w="9525" cap="flat" cmpd="sng">
            <a:solidFill>
              <a:schemeClr val="tx1"/>
            </a:solidFill>
            <a:prstDash val="solid"/>
            <a:round/>
            <a:headEnd type="none" w="med" len="med"/>
            <a:tailEnd type="none" w="med" len="med"/>
          </a:ln>
        </p:spPr>
      </p:sp>
      <p:sp>
        <p:nvSpPr>
          <p:cNvPr id="125994" name="Oval 40"/>
          <p:cNvSpPr/>
          <p:nvPr/>
        </p:nvSpPr>
        <p:spPr>
          <a:xfrm>
            <a:off x="4508500" y="25273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95" name="Oval 41"/>
          <p:cNvSpPr/>
          <p:nvPr/>
        </p:nvSpPr>
        <p:spPr>
          <a:xfrm>
            <a:off x="4737100" y="26035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96" name="Oval 42"/>
          <p:cNvSpPr/>
          <p:nvPr/>
        </p:nvSpPr>
        <p:spPr>
          <a:xfrm>
            <a:off x="3670300" y="32766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97" name="Oval 43"/>
          <p:cNvSpPr/>
          <p:nvPr/>
        </p:nvSpPr>
        <p:spPr>
          <a:xfrm>
            <a:off x="3581400" y="34290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98" name="Oval 44"/>
          <p:cNvSpPr/>
          <p:nvPr/>
        </p:nvSpPr>
        <p:spPr>
          <a:xfrm>
            <a:off x="3810000" y="35052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5999" name="Oval 45"/>
          <p:cNvSpPr/>
          <p:nvPr/>
        </p:nvSpPr>
        <p:spPr>
          <a:xfrm>
            <a:off x="3657600" y="37338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00" name="Oval 46"/>
          <p:cNvSpPr/>
          <p:nvPr/>
        </p:nvSpPr>
        <p:spPr>
          <a:xfrm>
            <a:off x="4660900" y="23622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01" name="Oval 47"/>
          <p:cNvSpPr/>
          <p:nvPr/>
        </p:nvSpPr>
        <p:spPr>
          <a:xfrm>
            <a:off x="3581400" y="38989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02" name="Oval 48"/>
          <p:cNvSpPr/>
          <p:nvPr/>
        </p:nvSpPr>
        <p:spPr>
          <a:xfrm>
            <a:off x="3441700" y="38100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03" name="Oval 49"/>
          <p:cNvSpPr/>
          <p:nvPr/>
        </p:nvSpPr>
        <p:spPr>
          <a:xfrm>
            <a:off x="3365500" y="39624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04" name="Line 50"/>
          <p:cNvSpPr/>
          <p:nvPr/>
        </p:nvSpPr>
        <p:spPr>
          <a:xfrm>
            <a:off x="4572000" y="2590800"/>
            <a:ext cx="228600" cy="76200"/>
          </a:xfrm>
          <a:prstGeom prst="line">
            <a:avLst/>
          </a:prstGeom>
          <a:ln w="9525" cap="flat" cmpd="sng">
            <a:solidFill>
              <a:schemeClr val="tx1"/>
            </a:solidFill>
            <a:prstDash val="solid"/>
            <a:round/>
            <a:headEnd type="none" w="med" len="med"/>
            <a:tailEnd type="none" w="med" len="med"/>
          </a:ln>
        </p:spPr>
      </p:sp>
      <p:sp>
        <p:nvSpPr>
          <p:cNvPr id="126005" name="Line 51"/>
          <p:cNvSpPr/>
          <p:nvPr/>
        </p:nvSpPr>
        <p:spPr>
          <a:xfrm>
            <a:off x="4724400" y="2362200"/>
            <a:ext cx="76200" cy="304800"/>
          </a:xfrm>
          <a:prstGeom prst="line">
            <a:avLst/>
          </a:prstGeom>
          <a:ln w="9525" cap="flat" cmpd="sng">
            <a:solidFill>
              <a:schemeClr val="tx1"/>
            </a:solidFill>
            <a:prstDash val="solid"/>
            <a:round/>
            <a:headEnd type="none" w="med" len="med"/>
            <a:tailEnd type="none" w="med" len="med"/>
          </a:ln>
        </p:spPr>
      </p:sp>
      <p:sp>
        <p:nvSpPr>
          <p:cNvPr id="126006" name="Line 52"/>
          <p:cNvSpPr/>
          <p:nvPr/>
        </p:nvSpPr>
        <p:spPr>
          <a:xfrm>
            <a:off x="4267200" y="1981200"/>
            <a:ext cx="457200" cy="381000"/>
          </a:xfrm>
          <a:prstGeom prst="line">
            <a:avLst/>
          </a:prstGeom>
          <a:ln w="9525" cap="flat" cmpd="sng">
            <a:solidFill>
              <a:schemeClr val="tx1"/>
            </a:solidFill>
            <a:prstDash val="solid"/>
            <a:round/>
            <a:headEnd type="none" w="med" len="med"/>
            <a:tailEnd type="none" w="med" len="med"/>
          </a:ln>
        </p:spPr>
      </p:sp>
      <p:sp>
        <p:nvSpPr>
          <p:cNvPr id="126007" name="Line 53"/>
          <p:cNvSpPr/>
          <p:nvPr/>
        </p:nvSpPr>
        <p:spPr>
          <a:xfrm>
            <a:off x="4114800" y="2057400"/>
            <a:ext cx="609600" cy="304800"/>
          </a:xfrm>
          <a:prstGeom prst="line">
            <a:avLst/>
          </a:prstGeom>
          <a:ln w="9525" cap="flat" cmpd="sng">
            <a:solidFill>
              <a:schemeClr val="tx1"/>
            </a:solidFill>
            <a:prstDash val="solid"/>
            <a:round/>
            <a:headEnd type="none" w="med" len="med"/>
            <a:tailEnd type="none" w="med" len="med"/>
          </a:ln>
        </p:spPr>
      </p:sp>
      <p:sp>
        <p:nvSpPr>
          <p:cNvPr id="126008" name="Line 54"/>
          <p:cNvSpPr/>
          <p:nvPr/>
        </p:nvSpPr>
        <p:spPr>
          <a:xfrm flipV="1">
            <a:off x="3048000" y="2667000"/>
            <a:ext cx="762000" cy="152400"/>
          </a:xfrm>
          <a:prstGeom prst="line">
            <a:avLst/>
          </a:prstGeom>
          <a:ln w="9525" cap="flat" cmpd="sng">
            <a:solidFill>
              <a:schemeClr val="tx1"/>
            </a:solidFill>
            <a:prstDash val="solid"/>
            <a:round/>
            <a:headEnd type="none" w="med" len="med"/>
            <a:tailEnd type="none" w="med" len="med"/>
          </a:ln>
        </p:spPr>
      </p:sp>
      <p:sp>
        <p:nvSpPr>
          <p:cNvPr id="126009" name="Line 55"/>
          <p:cNvSpPr/>
          <p:nvPr/>
        </p:nvSpPr>
        <p:spPr>
          <a:xfrm>
            <a:off x="3048000" y="3200400"/>
            <a:ext cx="533400" cy="228600"/>
          </a:xfrm>
          <a:prstGeom prst="line">
            <a:avLst/>
          </a:prstGeom>
          <a:ln w="9525" cap="flat" cmpd="sng">
            <a:solidFill>
              <a:schemeClr val="tx1"/>
            </a:solidFill>
            <a:prstDash val="solid"/>
            <a:round/>
            <a:headEnd type="none" w="med" len="med"/>
            <a:tailEnd type="none" w="med" len="med"/>
          </a:ln>
        </p:spPr>
      </p:sp>
      <p:sp>
        <p:nvSpPr>
          <p:cNvPr id="126010" name="Line 56"/>
          <p:cNvSpPr/>
          <p:nvPr/>
        </p:nvSpPr>
        <p:spPr>
          <a:xfrm flipH="1">
            <a:off x="3505200" y="3429000"/>
            <a:ext cx="76200" cy="381000"/>
          </a:xfrm>
          <a:prstGeom prst="line">
            <a:avLst/>
          </a:prstGeom>
          <a:ln w="9525" cap="flat" cmpd="sng">
            <a:solidFill>
              <a:schemeClr val="tx1"/>
            </a:solidFill>
            <a:prstDash val="solid"/>
            <a:round/>
            <a:headEnd type="none" w="med" len="med"/>
            <a:tailEnd type="none" w="med" len="med"/>
          </a:ln>
        </p:spPr>
      </p:sp>
      <p:sp>
        <p:nvSpPr>
          <p:cNvPr id="126011" name="Line 57"/>
          <p:cNvSpPr/>
          <p:nvPr/>
        </p:nvSpPr>
        <p:spPr>
          <a:xfrm>
            <a:off x="3581400" y="3429000"/>
            <a:ext cx="76200" cy="304800"/>
          </a:xfrm>
          <a:prstGeom prst="line">
            <a:avLst/>
          </a:prstGeom>
          <a:ln w="9525" cap="flat" cmpd="sng">
            <a:solidFill>
              <a:schemeClr val="tx1"/>
            </a:solidFill>
            <a:prstDash val="solid"/>
            <a:round/>
            <a:headEnd type="none" w="med" len="med"/>
            <a:tailEnd type="none" w="med" len="med"/>
          </a:ln>
        </p:spPr>
      </p:sp>
      <p:sp>
        <p:nvSpPr>
          <p:cNvPr id="126012" name="Line 58"/>
          <p:cNvSpPr/>
          <p:nvPr/>
        </p:nvSpPr>
        <p:spPr>
          <a:xfrm flipH="1">
            <a:off x="3657600" y="3505200"/>
            <a:ext cx="152400" cy="304800"/>
          </a:xfrm>
          <a:prstGeom prst="line">
            <a:avLst/>
          </a:prstGeom>
          <a:ln w="9525" cap="flat" cmpd="sng">
            <a:solidFill>
              <a:schemeClr val="tx1"/>
            </a:solidFill>
            <a:prstDash val="solid"/>
            <a:round/>
            <a:headEnd type="none" w="med" len="med"/>
            <a:tailEnd type="none" w="med" len="med"/>
          </a:ln>
        </p:spPr>
      </p:sp>
      <p:sp>
        <p:nvSpPr>
          <p:cNvPr id="126013" name="Line 59"/>
          <p:cNvSpPr/>
          <p:nvPr/>
        </p:nvSpPr>
        <p:spPr>
          <a:xfrm>
            <a:off x="3505200" y="3810000"/>
            <a:ext cx="152400" cy="0"/>
          </a:xfrm>
          <a:prstGeom prst="line">
            <a:avLst/>
          </a:prstGeom>
          <a:ln w="9525" cap="flat" cmpd="sng">
            <a:solidFill>
              <a:schemeClr val="tx1"/>
            </a:solidFill>
            <a:prstDash val="solid"/>
            <a:round/>
            <a:headEnd type="none" w="med" len="med"/>
            <a:tailEnd type="none" w="med" len="med"/>
          </a:ln>
        </p:spPr>
      </p:sp>
      <p:sp>
        <p:nvSpPr>
          <p:cNvPr id="126014" name="Line 60"/>
          <p:cNvSpPr/>
          <p:nvPr/>
        </p:nvSpPr>
        <p:spPr>
          <a:xfrm flipH="1">
            <a:off x="3429000" y="3810000"/>
            <a:ext cx="76200" cy="152400"/>
          </a:xfrm>
          <a:prstGeom prst="line">
            <a:avLst/>
          </a:prstGeom>
          <a:ln w="9525" cap="flat" cmpd="sng">
            <a:solidFill>
              <a:schemeClr val="tx1"/>
            </a:solidFill>
            <a:prstDash val="solid"/>
            <a:round/>
            <a:headEnd type="none" w="med" len="med"/>
            <a:tailEnd type="none" w="med" len="med"/>
          </a:ln>
        </p:spPr>
      </p:sp>
      <p:sp>
        <p:nvSpPr>
          <p:cNvPr id="126015" name="Line 61"/>
          <p:cNvSpPr/>
          <p:nvPr/>
        </p:nvSpPr>
        <p:spPr>
          <a:xfrm>
            <a:off x="2514600" y="2209800"/>
            <a:ext cx="76200" cy="304800"/>
          </a:xfrm>
          <a:prstGeom prst="line">
            <a:avLst/>
          </a:prstGeom>
          <a:ln w="9525" cap="flat" cmpd="sng">
            <a:solidFill>
              <a:schemeClr val="tx1"/>
            </a:solidFill>
            <a:prstDash val="solid"/>
            <a:round/>
            <a:headEnd type="none" w="med" len="med"/>
            <a:tailEnd type="none" w="med" len="med"/>
          </a:ln>
        </p:spPr>
      </p:sp>
      <p:sp>
        <p:nvSpPr>
          <p:cNvPr id="126016" name="Line 62"/>
          <p:cNvSpPr/>
          <p:nvPr/>
        </p:nvSpPr>
        <p:spPr>
          <a:xfrm>
            <a:off x="2667000" y="2590800"/>
            <a:ext cx="304800" cy="228600"/>
          </a:xfrm>
          <a:prstGeom prst="line">
            <a:avLst/>
          </a:prstGeom>
          <a:ln w="9525" cap="flat" cmpd="sng">
            <a:solidFill>
              <a:schemeClr val="tx1"/>
            </a:solidFill>
            <a:prstDash val="solid"/>
            <a:round/>
            <a:headEnd type="none" w="med" len="med"/>
            <a:tailEnd type="none" w="med" len="med"/>
          </a:ln>
        </p:spPr>
      </p:sp>
      <p:sp>
        <p:nvSpPr>
          <p:cNvPr id="126017" name="Line 63"/>
          <p:cNvSpPr/>
          <p:nvPr/>
        </p:nvSpPr>
        <p:spPr>
          <a:xfrm>
            <a:off x="2590800" y="2590800"/>
            <a:ext cx="152400" cy="381000"/>
          </a:xfrm>
          <a:prstGeom prst="line">
            <a:avLst/>
          </a:prstGeom>
          <a:ln w="9525" cap="flat" cmpd="sng">
            <a:solidFill>
              <a:schemeClr val="tx1"/>
            </a:solidFill>
            <a:prstDash val="solid"/>
            <a:round/>
            <a:headEnd type="none" w="med" len="med"/>
            <a:tailEnd type="none" w="med" len="med"/>
          </a:ln>
        </p:spPr>
      </p:sp>
      <p:sp>
        <p:nvSpPr>
          <p:cNvPr id="126018" name="Line 64"/>
          <p:cNvSpPr/>
          <p:nvPr/>
        </p:nvSpPr>
        <p:spPr>
          <a:xfrm>
            <a:off x="2743200" y="2971800"/>
            <a:ext cx="304800" cy="228600"/>
          </a:xfrm>
          <a:prstGeom prst="line">
            <a:avLst/>
          </a:prstGeom>
          <a:ln w="9525" cap="flat" cmpd="sng">
            <a:solidFill>
              <a:schemeClr val="tx1"/>
            </a:solidFill>
            <a:prstDash val="solid"/>
            <a:round/>
            <a:headEnd type="none" w="med" len="med"/>
            <a:tailEnd type="none" w="med" len="med"/>
          </a:ln>
        </p:spPr>
      </p:sp>
      <p:sp>
        <p:nvSpPr>
          <p:cNvPr id="126019" name="Line 65"/>
          <p:cNvSpPr/>
          <p:nvPr/>
        </p:nvSpPr>
        <p:spPr>
          <a:xfrm flipV="1">
            <a:off x="2743200" y="2895600"/>
            <a:ext cx="228600" cy="152400"/>
          </a:xfrm>
          <a:prstGeom prst="line">
            <a:avLst/>
          </a:prstGeom>
          <a:ln w="9525" cap="flat" cmpd="sng">
            <a:solidFill>
              <a:schemeClr val="tx1"/>
            </a:solidFill>
            <a:prstDash val="solid"/>
            <a:round/>
            <a:headEnd type="none" w="med" len="med"/>
            <a:tailEnd type="none" w="med" len="med"/>
          </a:ln>
        </p:spPr>
      </p:sp>
      <p:sp>
        <p:nvSpPr>
          <p:cNvPr id="126020" name="Line 66"/>
          <p:cNvSpPr/>
          <p:nvPr/>
        </p:nvSpPr>
        <p:spPr>
          <a:xfrm>
            <a:off x="2286000" y="2590800"/>
            <a:ext cx="152400" cy="304800"/>
          </a:xfrm>
          <a:prstGeom prst="line">
            <a:avLst/>
          </a:prstGeom>
          <a:ln w="9525" cap="flat" cmpd="sng">
            <a:solidFill>
              <a:schemeClr val="tx1"/>
            </a:solidFill>
            <a:prstDash val="solid"/>
            <a:round/>
            <a:headEnd type="none" w="med" len="med"/>
            <a:tailEnd type="none" w="med" len="med"/>
          </a:ln>
        </p:spPr>
      </p:sp>
      <p:sp>
        <p:nvSpPr>
          <p:cNvPr id="126021" name="Line 67"/>
          <p:cNvSpPr/>
          <p:nvPr/>
        </p:nvSpPr>
        <p:spPr>
          <a:xfrm flipH="1">
            <a:off x="2438400" y="2590800"/>
            <a:ext cx="152400" cy="304800"/>
          </a:xfrm>
          <a:prstGeom prst="line">
            <a:avLst/>
          </a:prstGeom>
          <a:ln w="9525" cap="flat" cmpd="sng">
            <a:solidFill>
              <a:schemeClr val="tx1"/>
            </a:solidFill>
            <a:prstDash val="solid"/>
            <a:round/>
            <a:headEnd type="none" w="med" len="med"/>
            <a:tailEnd type="none" w="med" len="med"/>
          </a:ln>
        </p:spPr>
      </p:sp>
      <p:sp>
        <p:nvSpPr>
          <p:cNvPr id="126022" name="Line 68"/>
          <p:cNvSpPr/>
          <p:nvPr/>
        </p:nvSpPr>
        <p:spPr>
          <a:xfrm>
            <a:off x="2438400" y="2895600"/>
            <a:ext cx="0" cy="228600"/>
          </a:xfrm>
          <a:prstGeom prst="line">
            <a:avLst/>
          </a:prstGeom>
          <a:ln w="9525" cap="flat" cmpd="sng">
            <a:solidFill>
              <a:schemeClr val="tx1"/>
            </a:solidFill>
            <a:prstDash val="solid"/>
            <a:round/>
            <a:headEnd type="none" w="med" len="med"/>
            <a:tailEnd type="none" w="med" len="med"/>
          </a:ln>
        </p:spPr>
      </p:sp>
      <p:sp>
        <p:nvSpPr>
          <p:cNvPr id="126023" name="Line 69"/>
          <p:cNvSpPr/>
          <p:nvPr/>
        </p:nvSpPr>
        <p:spPr>
          <a:xfrm>
            <a:off x="2438400" y="3200400"/>
            <a:ext cx="609600" cy="0"/>
          </a:xfrm>
          <a:prstGeom prst="line">
            <a:avLst/>
          </a:prstGeom>
          <a:ln w="9525" cap="flat" cmpd="sng">
            <a:solidFill>
              <a:schemeClr val="tx1"/>
            </a:solidFill>
            <a:prstDash val="solid"/>
            <a:round/>
            <a:headEnd type="none" w="med" len="med"/>
            <a:tailEnd type="none" w="med" len="med"/>
          </a:ln>
        </p:spPr>
      </p:sp>
      <p:sp>
        <p:nvSpPr>
          <p:cNvPr id="126024" name="Line 70"/>
          <p:cNvSpPr/>
          <p:nvPr/>
        </p:nvSpPr>
        <p:spPr>
          <a:xfrm flipV="1">
            <a:off x="2438400" y="3048000"/>
            <a:ext cx="304800" cy="152400"/>
          </a:xfrm>
          <a:prstGeom prst="line">
            <a:avLst/>
          </a:prstGeom>
          <a:ln w="9525" cap="flat" cmpd="sng">
            <a:solidFill>
              <a:schemeClr val="tx1"/>
            </a:solidFill>
            <a:prstDash val="solid"/>
            <a:round/>
            <a:headEnd type="none" w="med" len="med"/>
            <a:tailEnd type="none" w="med" len="med"/>
          </a:ln>
        </p:spPr>
      </p:sp>
      <p:sp>
        <p:nvSpPr>
          <p:cNvPr id="126025" name="Line 71"/>
          <p:cNvSpPr/>
          <p:nvPr/>
        </p:nvSpPr>
        <p:spPr>
          <a:xfrm flipV="1">
            <a:off x="4038600" y="2590800"/>
            <a:ext cx="533400" cy="152400"/>
          </a:xfrm>
          <a:prstGeom prst="line">
            <a:avLst/>
          </a:prstGeom>
          <a:ln w="9525" cap="flat" cmpd="sng">
            <a:solidFill>
              <a:schemeClr val="tx1"/>
            </a:solidFill>
            <a:prstDash val="solid"/>
            <a:round/>
            <a:headEnd type="none" w="med" len="med"/>
            <a:tailEnd type="none" w="med" len="med"/>
          </a:ln>
        </p:spPr>
      </p:sp>
      <p:sp>
        <p:nvSpPr>
          <p:cNvPr id="126026" name="Line 72"/>
          <p:cNvSpPr/>
          <p:nvPr/>
        </p:nvSpPr>
        <p:spPr>
          <a:xfrm>
            <a:off x="2438400" y="2819400"/>
            <a:ext cx="381000" cy="228600"/>
          </a:xfrm>
          <a:prstGeom prst="line">
            <a:avLst/>
          </a:prstGeom>
          <a:ln w="9525" cap="flat" cmpd="sng">
            <a:solidFill>
              <a:schemeClr val="tx1"/>
            </a:solidFill>
            <a:prstDash val="solid"/>
            <a:round/>
            <a:headEnd type="none" w="med" len="med"/>
            <a:tailEnd type="none" w="med" len="med"/>
          </a:ln>
        </p:spPr>
      </p:sp>
      <p:sp>
        <p:nvSpPr>
          <p:cNvPr id="126027" name="Line 73"/>
          <p:cNvSpPr/>
          <p:nvPr/>
        </p:nvSpPr>
        <p:spPr>
          <a:xfrm flipH="1">
            <a:off x="3886200" y="2057400"/>
            <a:ext cx="228600" cy="381000"/>
          </a:xfrm>
          <a:prstGeom prst="line">
            <a:avLst/>
          </a:prstGeom>
          <a:ln w="9525" cap="flat" cmpd="sng">
            <a:solidFill>
              <a:schemeClr val="tx1"/>
            </a:solidFill>
            <a:prstDash val="solid"/>
            <a:round/>
            <a:headEnd type="none" w="med" len="med"/>
            <a:tailEnd type="none" w="med" len="med"/>
          </a:ln>
        </p:spPr>
      </p:sp>
      <p:sp>
        <p:nvSpPr>
          <p:cNvPr id="126028" name="Oval 74"/>
          <p:cNvSpPr/>
          <p:nvPr/>
        </p:nvSpPr>
        <p:spPr>
          <a:xfrm>
            <a:off x="6248400" y="2438400"/>
            <a:ext cx="63500" cy="635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grpSp>
        <p:nvGrpSpPr>
          <p:cNvPr id="126029" name="Group 75"/>
          <p:cNvGrpSpPr/>
          <p:nvPr/>
        </p:nvGrpSpPr>
        <p:grpSpPr>
          <a:xfrm>
            <a:off x="6553200" y="1905000"/>
            <a:ext cx="292100" cy="533400"/>
            <a:chOff x="4128" y="1200"/>
            <a:chExt cx="184" cy="336"/>
          </a:xfrm>
        </p:grpSpPr>
        <p:sp>
          <p:nvSpPr>
            <p:cNvPr id="126030" name="Oval 76"/>
            <p:cNvSpPr/>
            <p:nvPr/>
          </p:nvSpPr>
          <p:spPr>
            <a:xfrm>
              <a:off x="4224" y="1200"/>
              <a:ext cx="40" cy="40"/>
            </a:xfrm>
            <a:prstGeom prst="ellipse">
              <a:avLst/>
            </a:prstGeom>
            <a:solidFill>
              <a:srgbClr val="00FF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31" name="Oval 77"/>
            <p:cNvSpPr/>
            <p:nvPr/>
          </p:nvSpPr>
          <p:spPr>
            <a:xfrm>
              <a:off x="4128" y="1296"/>
              <a:ext cx="40" cy="40"/>
            </a:xfrm>
            <a:prstGeom prst="ellipse">
              <a:avLst/>
            </a:prstGeom>
            <a:solidFill>
              <a:srgbClr val="00FF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32" name="Oval 78"/>
            <p:cNvSpPr/>
            <p:nvPr/>
          </p:nvSpPr>
          <p:spPr>
            <a:xfrm>
              <a:off x="4272" y="1400"/>
              <a:ext cx="40" cy="40"/>
            </a:xfrm>
            <a:prstGeom prst="ellipse">
              <a:avLst/>
            </a:prstGeom>
            <a:solidFill>
              <a:srgbClr val="00FF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33" name="Line 79"/>
            <p:cNvSpPr/>
            <p:nvPr/>
          </p:nvSpPr>
          <p:spPr>
            <a:xfrm flipV="1">
              <a:off x="4176" y="1200"/>
              <a:ext cx="96" cy="96"/>
            </a:xfrm>
            <a:prstGeom prst="line">
              <a:avLst/>
            </a:prstGeom>
            <a:ln w="9525" cap="flat" cmpd="sng">
              <a:solidFill>
                <a:srgbClr val="00FF00"/>
              </a:solidFill>
              <a:prstDash val="solid"/>
              <a:round/>
              <a:headEnd type="none" w="med" len="med"/>
              <a:tailEnd type="none" w="med" len="med"/>
            </a:ln>
          </p:spPr>
        </p:sp>
        <p:sp>
          <p:nvSpPr>
            <p:cNvPr id="126034" name="Line 80"/>
            <p:cNvSpPr/>
            <p:nvPr/>
          </p:nvSpPr>
          <p:spPr>
            <a:xfrm>
              <a:off x="4128" y="1344"/>
              <a:ext cx="144" cy="48"/>
            </a:xfrm>
            <a:prstGeom prst="line">
              <a:avLst/>
            </a:prstGeom>
            <a:ln w="9525" cap="flat" cmpd="sng">
              <a:solidFill>
                <a:srgbClr val="00FF00"/>
              </a:solidFill>
              <a:prstDash val="solid"/>
              <a:round/>
              <a:headEnd type="none" w="med" len="med"/>
              <a:tailEnd type="none" w="med" len="med"/>
            </a:ln>
          </p:spPr>
        </p:sp>
        <p:sp>
          <p:nvSpPr>
            <p:cNvPr id="126035" name="Line 81"/>
            <p:cNvSpPr/>
            <p:nvPr/>
          </p:nvSpPr>
          <p:spPr>
            <a:xfrm>
              <a:off x="4272" y="1248"/>
              <a:ext cx="0" cy="192"/>
            </a:xfrm>
            <a:prstGeom prst="line">
              <a:avLst/>
            </a:prstGeom>
            <a:ln w="9525" cap="flat" cmpd="sng">
              <a:solidFill>
                <a:srgbClr val="00FF00"/>
              </a:solidFill>
              <a:prstDash val="solid"/>
              <a:round/>
              <a:headEnd type="none" w="med" len="med"/>
              <a:tailEnd type="none" w="med" len="med"/>
            </a:ln>
          </p:spPr>
        </p:sp>
        <p:sp>
          <p:nvSpPr>
            <p:cNvPr id="126036" name="Oval 82"/>
            <p:cNvSpPr/>
            <p:nvPr/>
          </p:nvSpPr>
          <p:spPr>
            <a:xfrm>
              <a:off x="4136" y="1496"/>
              <a:ext cx="40" cy="40"/>
            </a:xfrm>
            <a:prstGeom prst="ellipse">
              <a:avLst/>
            </a:prstGeom>
            <a:solidFill>
              <a:srgbClr val="00FF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37" name="Line 83"/>
            <p:cNvSpPr/>
            <p:nvPr/>
          </p:nvSpPr>
          <p:spPr>
            <a:xfrm>
              <a:off x="4128" y="1344"/>
              <a:ext cx="48" cy="192"/>
            </a:xfrm>
            <a:prstGeom prst="line">
              <a:avLst/>
            </a:prstGeom>
            <a:ln w="9525" cap="flat" cmpd="sng">
              <a:solidFill>
                <a:srgbClr val="00FF00"/>
              </a:solidFill>
              <a:prstDash val="solid"/>
              <a:round/>
              <a:headEnd type="none" w="med" len="med"/>
              <a:tailEnd type="none" w="med" len="med"/>
            </a:ln>
          </p:spPr>
        </p:sp>
        <p:sp>
          <p:nvSpPr>
            <p:cNvPr id="126038" name="Line 84"/>
            <p:cNvSpPr/>
            <p:nvPr/>
          </p:nvSpPr>
          <p:spPr>
            <a:xfrm flipH="1">
              <a:off x="4176" y="1440"/>
              <a:ext cx="96" cy="48"/>
            </a:xfrm>
            <a:prstGeom prst="line">
              <a:avLst/>
            </a:prstGeom>
            <a:ln w="9525" cap="flat" cmpd="sng">
              <a:solidFill>
                <a:srgbClr val="00FF00"/>
              </a:solidFill>
              <a:prstDash val="solid"/>
              <a:round/>
              <a:headEnd type="none" w="med" len="med"/>
              <a:tailEnd type="none" w="med" len="med"/>
            </a:ln>
          </p:spPr>
        </p:sp>
      </p:grpSp>
      <p:sp>
        <p:nvSpPr>
          <p:cNvPr id="126039" name="Oval 85"/>
          <p:cNvSpPr/>
          <p:nvPr/>
        </p:nvSpPr>
        <p:spPr>
          <a:xfrm>
            <a:off x="6337300" y="2679700"/>
            <a:ext cx="63500" cy="635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0" name="Oval 86"/>
          <p:cNvSpPr/>
          <p:nvPr/>
        </p:nvSpPr>
        <p:spPr>
          <a:xfrm>
            <a:off x="6019800" y="2667000"/>
            <a:ext cx="63500" cy="635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1" name="Oval 87"/>
          <p:cNvSpPr/>
          <p:nvPr/>
        </p:nvSpPr>
        <p:spPr>
          <a:xfrm>
            <a:off x="6705600" y="2679700"/>
            <a:ext cx="63500" cy="6350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2" name="Oval 88"/>
          <p:cNvSpPr/>
          <p:nvPr/>
        </p:nvSpPr>
        <p:spPr>
          <a:xfrm>
            <a:off x="6489700" y="2971800"/>
            <a:ext cx="63500" cy="6350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3" name="Oval 89"/>
          <p:cNvSpPr/>
          <p:nvPr/>
        </p:nvSpPr>
        <p:spPr>
          <a:xfrm>
            <a:off x="6553200" y="3289300"/>
            <a:ext cx="63500" cy="6350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4" name="Oval 90"/>
          <p:cNvSpPr/>
          <p:nvPr/>
        </p:nvSpPr>
        <p:spPr>
          <a:xfrm>
            <a:off x="6870700" y="3124200"/>
            <a:ext cx="63500" cy="6350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5" name="Line 91"/>
          <p:cNvSpPr/>
          <p:nvPr/>
        </p:nvSpPr>
        <p:spPr>
          <a:xfrm>
            <a:off x="6248400" y="2438400"/>
            <a:ext cx="152400" cy="304800"/>
          </a:xfrm>
          <a:prstGeom prst="line">
            <a:avLst/>
          </a:prstGeom>
          <a:ln w="9525" cap="flat" cmpd="sng">
            <a:solidFill>
              <a:schemeClr val="accent1"/>
            </a:solidFill>
            <a:prstDash val="solid"/>
            <a:round/>
            <a:headEnd type="none" w="med" len="med"/>
            <a:tailEnd type="none" w="med" len="med"/>
          </a:ln>
        </p:spPr>
      </p:sp>
      <p:sp>
        <p:nvSpPr>
          <p:cNvPr id="126046" name="Line 92"/>
          <p:cNvSpPr/>
          <p:nvPr/>
        </p:nvSpPr>
        <p:spPr>
          <a:xfrm flipH="1">
            <a:off x="6019800" y="2438400"/>
            <a:ext cx="228600" cy="228600"/>
          </a:xfrm>
          <a:prstGeom prst="line">
            <a:avLst/>
          </a:prstGeom>
          <a:ln w="9525" cap="flat" cmpd="sng">
            <a:solidFill>
              <a:schemeClr val="accent1"/>
            </a:solidFill>
            <a:prstDash val="solid"/>
            <a:round/>
            <a:headEnd type="none" w="med" len="med"/>
            <a:tailEnd type="none" w="med" len="med"/>
          </a:ln>
        </p:spPr>
      </p:sp>
      <p:sp>
        <p:nvSpPr>
          <p:cNvPr id="126047" name="Line 93"/>
          <p:cNvSpPr/>
          <p:nvPr/>
        </p:nvSpPr>
        <p:spPr>
          <a:xfrm>
            <a:off x="6019800" y="2667000"/>
            <a:ext cx="381000" cy="76200"/>
          </a:xfrm>
          <a:prstGeom prst="line">
            <a:avLst/>
          </a:prstGeom>
          <a:ln w="9525" cap="flat" cmpd="sng">
            <a:solidFill>
              <a:schemeClr val="accent1"/>
            </a:solidFill>
            <a:prstDash val="solid"/>
            <a:round/>
            <a:headEnd type="none" w="med" len="med"/>
            <a:tailEnd type="none" w="med" len="med"/>
          </a:ln>
        </p:spPr>
      </p:sp>
      <p:sp>
        <p:nvSpPr>
          <p:cNvPr id="126048" name="Oval 94"/>
          <p:cNvSpPr/>
          <p:nvPr/>
        </p:nvSpPr>
        <p:spPr>
          <a:xfrm>
            <a:off x="7086600" y="2971800"/>
            <a:ext cx="63500" cy="6350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49" name="Oval 95"/>
          <p:cNvSpPr/>
          <p:nvPr/>
        </p:nvSpPr>
        <p:spPr>
          <a:xfrm>
            <a:off x="7099300" y="3289300"/>
            <a:ext cx="63500" cy="6350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0" name="Oval 96"/>
          <p:cNvSpPr/>
          <p:nvPr/>
        </p:nvSpPr>
        <p:spPr>
          <a:xfrm>
            <a:off x="7251700" y="1676400"/>
            <a:ext cx="63500" cy="635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1" name="Oval 97"/>
          <p:cNvSpPr/>
          <p:nvPr/>
        </p:nvSpPr>
        <p:spPr>
          <a:xfrm>
            <a:off x="7086600" y="2333625"/>
            <a:ext cx="74613" cy="762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2" name="Oval 98"/>
          <p:cNvSpPr/>
          <p:nvPr/>
        </p:nvSpPr>
        <p:spPr>
          <a:xfrm>
            <a:off x="7467600" y="1536700"/>
            <a:ext cx="63500" cy="635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3" name="Oval 99"/>
          <p:cNvSpPr/>
          <p:nvPr/>
        </p:nvSpPr>
        <p:spPr>
          <a:xfrm>
            <a:off x="7467600" y="1828800"/>
            <a:ext cx="63500" cy="635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4" name="Oval 100"/>
          <p:cNvSpPr/>
          <p:nvPr/>
        </p:nvSpPr>
        <p:spPr>
          <a:xfrm>
            <a:off x="7315200" y="1905000"/>
            <a:ext cx="63500" cy="635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5" name="Oval 101"/>
          <p:cNvSpPr/>
          <p:nvPr/>
        </p:nvSpPr>
        <p:spPr>
          <a:xfrm>
            <a:off x="7315200" y="2257425"/>
            <a:ext cx="74613" cy="762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6" name="Oval 102"/>
          <p:cNvSpPr/>
          <p:nvPr/>
        </p:nvSpPr>
        <p:spPr>
          <a:xfrm>
            <a:off x="7239000" y="2486025"/>
            <a:ext cx="74613" cy="762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7" name="Oval 103"/>
          <p:cNvSpPr/>
          <p:nvPr/>
        </p:nvSpPr>
        <p:spPr>
          <a:xfrm>
            <a:off x="7391400" y="2498725"/>
            <a:ext cx="74613" cy="762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8" name="Oval 104"/>
          <p:cNvSpPr/>
          <p:nvPr/>
        </p:nvSpPr>
        <p:spPr>
          <a:xfrm>
            <a:off x="7315200" y="2638425"/>
            <a:ext cx="74613" cy="762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59" name="Line 105"/>
          <p:cNvSpPr/>
          <p:nvPr/>
        </p:nvSpPr>
        <p:spPr>
          <a:xfrm flipV="1">
            <a:off x="7315200" y="1600200"/>
            <a:ext cx="152400" cy="76200"/>
          </a:xfrm>
          <a:prstGeom prst="line">
            <a:avLst/>
          </a:prstGeom>
          <a:ln w="9525" cap="flat" cmpd="sng">
            <a:solidFill>
              <a:srgbClr val="FFFF00"/>
            </a:solidFill>
            <a:prstDash val="solid"/>
            <a:round/>
            <a:headEnd type="none" w="med" len="med"/>
            <a:tailEnd type="none" w="med" len="med"/>
          </a:ln>
        </p:spPr>
      </p:sp>
      <p:sp>
        <p:nvSpPr>
          <p:cNvPr id="126060" name="Line 106"/>
          <p:cNvSpPr/>
          <p:nvPr/>
        </p:nvSpPr>
        <p:spPr>
          <a:xfrm>
            <a:off x="7315200" y="1676400"/>
            <a:ext cx="152400" cy="152400"/>
          </a:xfrm>
          <a:prstGeom prst="line">
            <a:avLst/>
          </a:prstGeom>
          <a:ln w="9525" cap="flat" cmpd="sng">
            <a:solidFill>
              <a:srgbClr val="FFFF00"/>
            </a:solidFill>
            <a:prstDash val="solid"/>
            <a:round/>
            <a:headEnd type="none" w="med" len="med"/>
            <a:tailEnd type="none" w="med" len="med"/>
          </a:ln>
        </p:spPr>
      </p:sp>
      <p:sp>
        <p:nvSpPr>
          <p:cNvPr id="126061" name="Line 107"/>
          <p:cNvSpPr/>
          <p:nvPr/>
        </p:nvSpPr>
        <p:spPr>
          <a:xfrm>
            <a:off x="7315200" y="1676400"/>
            <a:ext cx="0" cy="228600"/>
          </a:xfrm>
          <a:prstGeom prst="line">
            <a:avLst/>
          </a:prstGeom>
          <a:ln w="9525" cap="flat" cmpd="sng">
            <a:solidFill>
              <a:srgbClr val="FFFF00"/>
            </a:solidFill>
            <a:prstDash val="solid"/>
            <a:round/>
            <a:headEnd type="none" w="med" len="med"/>
            <a:tailEnd type="none" w="med" len="med"/>
          </a:ln>
        </p:spPr>
      </p:sp>
      <p:sp>
        <p:nvSpPr>
          <p:cNvPr id="126062" name="Line 108"/>
          <p:cNvSpPr/>
          <p:nvPr/>
        </p:nvSpPr>
        <p:spPr>
          <a:xfrm flipV="1">
            <a:off x="7315200" y="1828800"/>
            <a:ext cx="152400" cy="76200"/>
          </a:xfrm>
          <a:prstGeom prst="line">
            <a:avLst/>
          </a:prstGeom>
          <a:ln w="9525" cap="flat" cmpd="sng">
            <a:solidFill>
              <a:srgbClr val="FFFF00"/>
            </a:solidFill>
            <a:prstDash val="solid"/>
            <a:round/>
            <a:headEnd type="none" w="med" len="med"/>
            <a:tailEnd type="none" w="med" len="med"/>
          </a:ln>
        </p:spPr>
      </p:sp>
      <p:sp>
        <p:nvSpPr>
          <p:cNvPr id="126063" name="Line 109"/>
          <p:cNvSpPr/>
          <p:nvPr/>
        </p:nvSpPr>
        <p:spPr>
          <a:xfrm>
            <a:off x="7288213" y="2498725"/>
            <a:ext cx="114300" cy="1588"/>
          </a:xfrm>
          <a:prstGeom prst="line">
            <a:avLst/>
          </a:prstGeom>
          <a:ln w="9525" cap="flat" cmpd="sng">
            <a:solidFill>
              <a:srgbClr val="FF0000"/>
            </a:solidFill>
            <a:prstDash val="solid"/>
            <a:round/>
            <a:headEnd type="none" w="med" len="med"/>
            <a:tailEnd type="none" w="med" len="med"/>
          </a:ln>
        </p:spPr>
      </p:sp>
      <p:sp>
        <p:nvSpPr>
          <p:cNvPr id="126064" name="Line 110"/>
          <p:cNvSpPr/>
          <p:nvPr/>
        </p:nvSpPr>
        <p:spPr>
          <a:xfrm>
            <a:off x="7269163" y="2468563"/>
            <a:ext cx="57150" cy="182562"/>
          </a:xfrm>
          <a:prstGeom prst="line">
            <a:avLst/>
          </a:prstGeom>
          <a:ln w="9525" cap="flat" cmpd="sng">
            <a:solidFill>
              <a:srgbClr val="FF0000"/>
            </a:solidFill>
            <a:prstDash val="solid"/>
            <a:round/>
            <a:headEnd type="none" w="med" len="med"/>
            <a:tailEnd type="none" w="med" len="med"/>
          </a:ln>
        </p:spPr>
      </p:sp>
      <p:sp>
        <p:nvSpPr>
          <p:cNvPr id="126065" name="Line 111"/>
          <p:cNvSpPr/>
          <p:nvPr/>
        </p:nvSpPr>
        <p:spPr>
          <a:xfrm flipV="1">
            <a:off x="7345363" y="2559050"/>
            <a:ext cx="57150" cy="92075"/>
          </a:xfrm>
          <a:prstGeom prst="line">
            <a:avLst/>
          </a:prstGeom>
          <a:ln w="9525" cap="flat" cmpd="sng">
            <a:solidFill>
              <a:srgbClr val="FF0000"/>
            </a:solidFill>
            <a:prstDash val="solid"/>
            <a:round/>
            <a:headEnd type="none" w="med" len="med"/>
            <a:tailEnd type="none" w="med" len="med"/>
          </a:ln>
        </p:spPr>
      </p:sp>
      <p:sp>
        <p:nvSpPr>
          <p:cNvPr id="126066" name="Oval 112"/>
          <p:cNvSpPr/>
          <p:nvPr/>
        </p:nvSpPr>
        <p:spPr>
          <a:xfrm>
            <a:off x="7785100" y="22987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67" name="Oval 113"/>
          <p:cNvSpPr/>
          <p:nvPr/>
        </p:nvSpPr>
        <p:spPr>
          <a:xfrm>
            <a:off x="8013700" y="23749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68" name="Oval 114"/>
          <p:cNvSpPr/>
          <p:nvPr/>
        </p:nvSpPr>
        <p:spPr>
          <a:xfrm>
            <a:off x="7696200" y="2971800"/>
            <a:ext cx="63500" cy="63500"/>
          </a:xfrm>
          <a:prstGeom prst="ellipse">
            <a:avLst/>
          </a:prstGeom>
          <a:solidFill>
            <a:srgbClr val="99CC00"/>
          </a:solidFill>
          <a:ln w="12700" cap="flat" cmpd="sng">
            <a:solidFill>
              <a:srgbClr val="99CC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69" name="Oval 115"/>
          <p:cNvSpPr/>
          <p:nvPr/>
        </p:nvSpPr>
        <p:spPr>
          <a:xfrm>
            <a:off x="7556500" y="3200400"/>
            <a:ext cx="63500" cy="63500"/>
          </a:xfrm>
          <a:prstGeom prst="ellipse">
            <a:avLst/>
          </a:prstGeom>
          <a:solidFill>
            <a:srgbClr val="99CC00"/>
          </a:solidFill>
          <a:ln w="12700" cap="flat" cmpd="sng">
            <a:solidFill>
              <a:srgbClr val="99CC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0" name="Oval 116"/>
          <p:cNvSpPr/>
          <p:nvPr/>
        </p:nvSpPr>
        <p:spPr>
          <a:xfrm>
            <a:off x="7848600" y="3200400"/>
            <a:ext cx="63500" cy="63500"/>
          </a:xfrm>
          <a:prstGeom prst="ellipse">
            <a:avLst/>
          </a:prstGeom>
          <a:solidFill>
            <a:srgbClr val="99CC00"/>
          </a:solidFill>
          <a:ln w="12700" cap="flat" cmpd="sng">
            <a:solidFill>
              <a:srgbClr val="99CC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1" name="Oval 117"/>
          <p:cNvSpPr/>
          <p:nvPr/>
        </p:nvSpPr>
        <p:spPr>
          <a:xfrm>
            <a:off x="7696200" y="3441700"/>
            <a:ext cx="63500" cy="63500"/>
          </a:xfrm>
          <a:prstGeom prst="ellipse">
            <a:avLst/>
          </a:prstGeom>
          <a:solidFill>
            <a:srgbClr val="FF9900"/>
          </a:solidFill>
          <a:ln w="12700" cap="flat" cmpd="sng">
            <a:solidFill>
              <a:srgbClr val="FF99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2" name="Oval 118"/>
          <p:cNvSpPr/>
          <p:nvPr/>
        </p:nvSpPr>
        <p:spPr>
          <a:xfrm>
            <a:off x="7937500" y="2133600"/>
            <a:ext cx="63500" cy="63500"/>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3" name="Oval 119"/>
          <p:cNvSpPr/>
          <p:nvPr/>
        </p:nvSpPr>
        <p:spPr>
          <a:xfrm>
            <a:off x="7620000" y="3594100"/>
            <a:ext cx="63500" cy="63500"/>
          </a:xfrm>
          <a:prstGeom prst="ellipse">
            <a:avLst/>
          </a:prstGeom>
          <a:solidFill>
            <a:srgbClr val="FF9900"/>
          </a:solidFill>
          <a:ln w="12700" cap="flat" cmpd="sng">
            <a:solidFill>
              <a:srgbClr val="FF99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4" name="Oval 120"/>
          <p:cNvSpPr/>
          <p:nvPr/>
        </p:nvSpPr>
        <p:spPr>
          <a:xfrm>
            <a:off x="7480300" y="3505200"/>
            <a:ext cx="63500" cy="63500"/>
          </a:xfrm>
          <a:prstGeom prst="ellipse">
            <a:avLst/>
          </a:prstGeom>
          <a:solidFill>
            <a:srgbClr val="FF9900"/>
          </a:solidFill>
          <a:ln w="12700" cap="flat" cmpd="sng">
            <a:solidFill>
              <a:srgbClr val="FF99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5" name="Oval 121"/>
          <p:cNvSpPr/>
          <p:nvPr/>
        </p:nvSpPr>
        <p:spPr>
          <a:xfrm>
            <a:off x="7404100" y="3657600"/>
            <a:ext cx="63500" cy="63500"/>
          </a:xfrm>
          <a:prstGeom prst="ellipse">
            <a:avLst/>
          </a:prstGeom>
          <a:solidFill>
            <a:srgbClr val="FF9900"/>
          </a:solidFill>
          <a:ln w="12700" cap="flat" cmpd="sng">
            <a:solidFill>
              <a:srgbClr val="FF99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76" name="Line 122"/>
          <p:cNvSpPr/>
          <p:nvPr/>
        </p:nvSpPr>
        <p:spPr>
          <a:xfrm>
            <a:off x="7848600" y="2362200"/>
            <a:ext cx="228600" cy="76200"/>
          </a:xfrm>
          <a:prstGeom prst="line">
            <a:avLst/>
          </a:prstGeom>
          <a:ln w="9525" cap="flat" cmpd="sng">
            <a:solidFill>
              <a:schemeClr val="tx1"/>
            </a:solidFill>
            <a:prstDash val="solid"/>
            <a:round/>
            <a:headEnd type="none" w="med" len="med"/>
            <a:tailEnd type="none" w="med" len="med"/>
          </a:ln>
        </p:spPr>
      </p:sp>
      <p:sp>
        <p:nvSpPr>
          <p:cNvPr id="126077" name="Line 123"/>
          <p:cNvSpPr/>
          <p:nvPr/>
        </p:nvSpPr>
        <p:spPr>
          <a:xfrm>
            <a:off x="8001000" y="2133600"/>
            <a:ext cx="76200" cy="304800"/>
          </a:xfrm>
          <a:prstGeom prst="line">
            <a:avLst/>
          </a:prstGeom>
          <a:ln w="9525" cap="flat" cmpd="sng">
            <a:solidFill>
              <a:schemeClr val="tx1"/>
            </a:solidFill>
            <a:prstDash val="solid"/>
            <a:round/>
            <a:headEnd type="none" w="med" len="med"/>
            <a:tailEnd type="none" w="med" len="med"/>
          </a:ln>
        </p:spPr>
      </p:sp>
      <p:sp>
        <p:nvSpPr>
          <p:cNvPr id="126078" name="Line 124"/>
          <p:cNvSpPr/>
          <p:nvPr/>
        </p:nvSpPr>
        <p:spPr>
          <a:xfrm flipH="1">
            <a:off x="7467600" y="3505200"/>
            <a:ext cx="76200" cy="152400"/>
          </a:xfrm>
          <a:prstGeom prst="line">
            <a:avLst/>
          </a:prstGeom>
          <a:ln w="9525" cap="flat" cmpd="sng">
            <a:solidFill>
              <a:srgbClr val="FF9900"/>
            </a:solidFill>
            <a:prstDash val="solid"/>
            <a:round/>
            <a:headEnd type="none" w="med" len="med"/>
            <a:tailEnd type="none" w="med" len="med"/>
          </a:ln>
        </p:spPr>
      </p:sp>
      <p:sp>
        <p:nvSpPr>
          <p:cNvPr id="126079" name="Line 125"/>
          <p:cNvSpPr/>
          <p:nvPr/>
        </p:nvSpPr>
        <p:spPr>
          <a:xfrm>
            <a:off x="6781800" y="2743200"/>
            <a:ext cx="304800" cy="228600"/>
          </a:xfrm>
          <a:prstGeom prst="line">
            <a:avLst/>
          </a:prstGeom>
          <a:ln w="9525" cap="flat" cmpd="sng">
            <a:solidFill>
              <a:schemeClr val="tx1"/>
            </a:solidFill>
            <a:prstDash val="solid"/>
            <a:round/>
            <a:headEnd type="none" w="med" len="med"/>
            <a:tailEnd type="none" w="med" len="med"/>
          </a:ln>
        </p:spPr>
      </p:sp>
      <p:sp>
        <p:nvSpPr>
          <p:cNvPr id="126080" name="Line 126"/>
          <p:cNvSpPr/>
          <p:nvPr/>
        </p:nvSpPr>
        <p:spPr>
          <a:xfrm>
            <a:off x="6705600" y="2743200"/>
            <a:ext cx="152400" cy="381000"/>
          </a:xfrm>
          <a:prstGeom prst="line">
            <a:avLst/>
          </a:prstGeom>
          <a:ln w="9525" cap="flat" cmpd="sng">
            <a:solidFill>
              <a:schemeClr val="tx1"/>
            </a:solidFill>
            <a:prstDash val="solid"/>
            <a:round/>
            <a:headEnd type="none" w="med" len="med"/>
            <a:tailEnd type="none" w="med" len="med"/>
          </a:ln>
        </p:spPr>
      </p:sp>
      <p:sp>
        <p:nvSpPr>
          <p:cNvPr id="126081" name="Line 127"/>
          <p:cNvSpPr/>
          <p:nvPr/>
        </p:nvSpPr>
        <p:spPr>
          <a:xfrm>
            <a:off x="6858000" y="3124200"/>
            <a:ext cx="304800" cy="228600"/>
          </a:xfrm>
          <a:prstGeom prst="line">
            <a:avLst/>
          </a:prstGeom>
          <a:ln w="9525" cap="flat" cmpd="sng">
            <a:solidFill>
              <a:schemeClr val="tx1"/>
            </a:solidFill>
            <a:prstDash val="solid"/>
            <a:round/>
            <a:headEnd type="none" w="med" len="med"/>
            <a:tailEnd type="none" w="med" len="med"/>
          </a:ln>
        </p:spPr>
      </p:sp>
      <p:sp>
        <p:nvSpPr>
          <p:cNvPr id="126082" name="Line 128"/>
          <p:cNvSpPr/>
          <p:nvPr/>
        </p:nvSpPr>
        <p:spPr>
          <a:xfrm flipV="1">
            <a:off x="6858000" y="3048000"/>
            <a:ext cx="228600" cy="152400"/>
          </a:xfrm>
          <a:prstGeom prst="line">
            <a:avLst/>
          </a:prstGeom>
          <a:ln w="9525" cap="flat" cmpd="sng">
            <a:solidFill>
              <a:schemeClr val="tx1"/>
            </a:solidFill>
            <a:prstDash val="solid"/>
            <a:round/>
            <a:headEnd type="none" w="med" len="med"/>
            <a:tailEnd type="none" w="med" len="med"/>
          </a:ln>
        </p:spPr>
      </p:sp>
      <p:sp>
        <p:nvSpPr>
          <p:cNvPr id="126083" name="Line 129"/>
          <p:cNvSpPr/>
          <p:nvPr/>
        </p:nvSpPr>
        <p:spPr>
          <a:xfrm flipH="1">
            <a:off x="6553200" y="2743200"/>
            <a:ext cx="152400" cy="304800"/>
          </a:xfrm>
          <a:prstGeom prst="line">
            <a:avLst/>
          </a:prstGeom>
          <a:ln w="9525" cap="flat" cmpd="sng">
            <a:solidFill>
              <a:schemeClr val="tx1"/>
            </a:solidFill>
            <a:prstDash val="solid"/>
            <a:round/>
            <a:headEnd type="none" w="med" len="med"/>
            <a:tailEnd type="none" w="med" len="med"/>
          </a:ln>
        </p:spPr>
      </p:sp>
      <p:sp>
        <p:nvSpPr>
          <p:cNvPr id="126084" name="Line 130"/>
          <p:cNvSpPr/>
          <p:nvPr/>
        </p:nvSpPr>
        <p:spPr>
          <a:xfrm>
            <a:off x="6553200" y="3048000"/>
            <a:ext cx="0" cy="228600"/>
          </a:xfrm>
          <a:prstGeom prst="line">
            <a:avLst/>
          </a:prstGeom>
          <a:ln w="9525" cap="flat" cmpd="sng">
            <a:solidFill>
              <a:schemeClr val="tx1"/>
            </a:solidFill>
            <a:prstDash val="solid"/>
            <a:round/>
            <a:headEnd type="none" w="med" len="med"/>
            <a:tailEnd type="none" w="med" len="med"/>
          </a:ln>
        </p:spPr>
      </p:sp>
      <p:sp>
        <p:nvSpPr>
          <p:cNvPr id="126085" name="Line 131"/>
          <p:cNvSpPr/>
          <p:nvPr/>
        </p:nvSpPr>
        <p:spPr>
          <a:xfrm>
            <a:off x="6553200" y="3352800"/>
            <a:ext cx="609600" cy="0"/>
          </a:xfrm>
          <a:prstGeom prst="line">
            <a:avLst/>
          </a:prstGeom>
          <a:ln w="9525" cap="flat" cmpd="sng">
            <a:solidFill>
              <a:schemeClr val="tx1"/>
            </a:solidFill>
            <a:prstDash val="solid"/>
            <a:round/>
            <a:headEnd type="none" w="med" len="med"/>
            <a:tailEnd type="none" w="med" len="med"/>
          </a:ln>
        </p:spPr>
      </p:sp>
      <p:sp>
        <p:nvSpPr>
          <p:cNvPr id="126086" name="Line 132"/>
          <p:cNvSpPr/>
          <p:nvPr/>
        </p:nvSpPr>
        <p:spPr>
          <a:xfrm flipV="1">
            <a:off x="6553200" y="3200400"/>
            <a:ext cx="304800" cy="152400"/>
          </a:xfrm>
          <a:prstGeom prst="line">
            <a:avLst/>
          </a:prstGeom>
          <a:ln w="9525" cap="flat" cmpd="sng">
            <a:solidFill>
              <a:schemeClr val="tx1"/>
            </a:solidFill>
            <a:prstDash val="solid"/>
            <a:round/>
            <a:headEnd type="none" w="med" len="med"/>
            <a:tailEnd type="none" w="med" len="med"/>
          </a:ln>
        </p:spPr>
      </p:sp>
      <p:sp>
        <p:nvSpPr>
          <p:cNvPr id="126087" name="Line 133"/>
          <p:cNvSpPr/>
          <p:nvPr/>
        </p:nvSpPr>
        <p:spPr>
          <a:xfrm>
            <a:off x="6553200" y="2971800"/>
            <a:ext cx="381000" cy="228600"/>
          </a:xfrm>
          <a:prstGeom prst="line">
            <a:avLst/>
          </a:prstGeom>
          <a:ln w="9525" cap="flat" cmpd="sng">
            <a:solidFill>
              <a:schemeClr val="tx1"/>
            </a:solidFill>
            <a:prstDash val="solid"/>
            <a:round/>
            <a:headEnd type="none" w="med" len="med"/>
            <a:tailEnd type="none" w="med" len="med"/>
          </a:ln>
        </p:spPr>
      </p:sp>
      <p:sp>
        <p:nvSpPr>
          <p:cNvPr id="126088" name="Oval 134"/>
          <p:cNvSpPr/>
          <p:nvPr/>
        </p:nvSpPr>
        <p:spPr>
          <a:xfrm>
            <a:off x="4597400" y="41148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89" name="Oval 135"/>
          <p:cNvSpPr/>
          <p:nvPr/>
        </p:nvSpPr>
        <p:spPr>
          <a:xfrm>
            <a:off x="4432300" y="42799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90" name="Oval 136"/>
          <p:cNvSpPr/>
          <p:nvPr/>
        </p:nvSpPr>
        <p:spPr>
          <a:xfrm>
            <a:off x="4660900" y="44323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91" name="Line 137"/>
          <p:cNvSpPr/>
          <p:nvPr/>
        </p:nvSpPr>
        <p:spPr>
          <a:xfrm flipV="1">
            <a:off x="4432300" y="4114800"/>
            <a:ext cx="228600" cy="228600"/>
          </a:xfrm>
          <a:prstGeom prst="line">
            <a:avLst/>
          </a:prstGeom>
          <a:ln w="9525" cap="flat" cmpd="sng">
            <a:solidFill>
              <a:srgbClr val="FF0000"/>
            </a:solidFill>
            <a:prstDash val="solid"/>
            <a:round/>
            <a:headEnd type="none" w="med" len="med"/>
            <a:tailEnd type="none" w="med" len="med"/>
          </a:ln>
        </p:spPr>
      </p:sp>
      <p:sp>
        <p:nvSpPr>
          <p:cNvPr id="126092" name="Line 138"/>
          <p:cNvSpPr/>
          <p:nvPr/>
        </p:nvSpPr>
        <p:spPr>
          <a:xfrm>
            <a:off x="4432300" y="4343400"/>
            <a:ext cx="228600" cy="76200"/>
          </a:xfrm>
          <a:prstGeom prst="line">
            <a:avLst/>
          </a:prstGeom>
          <a:ln w="9525" cap="flat" cmpd="sng">
            <a:solidFill>
              <a:srgbClr val="FF0000"/>
            </a:solidFill>
            <a:prstDash val="solid"/>
            <a:round/>
            <a:headEnd type="none" w="med" len="med"/>
            <a:tailEnd type="none" w="med" len="med"/>
          </a:ln>
        </p:spPr>
      </p:sp>
      <p:sp>
        <p:nvSpPr>
          <p:cNvPr id="126093" name="Line 139"/>
          <p:cNvSpPr/>
          <p:nvPr/>
        </p:nvSpPr>
        <p:spPr>
          <a:xfrm>
            <a:off x="4660900" y="4114800"/>
            <a:ext cx="0" cy="304800"/>
          </a:xfrm>
          <a:prstGeom prst="line">
            <a:avLst/>
          </a:prstGeom>
          <a:ln w="9525" cap="flat" cmpd="sng">
            <a:solidFill>
              <a:srgbClr val="FF0000"/>
            </a:solidFill>
            <a:prstDash val="solid"/>
            <a:round/>
            <a:headEnd type="none" w="med" len="med"/>
            <a:tailEnd type="none" w="med" len="med"/>
          </a:ln>
        </p:spPr>
      </p:sp>
      <p:sp>
        <p:nvSpPr>
          <p:cNvPr id="126094" name="Oval 140"/>
          <p:cNvSpPr/>
          <p:nvPr/>
        </p:nvSpPr>
        <p:spPr>
          <a:xfrm>
            <a:off x="4445000" y="45847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95" name="Oval 141"/>
          <p:cNvSpPr/>
          <p:nvPr/>
        </p:nvSpPr>
        <p:spPr>
          <a:xfrm>
            <a:off x="4127500" y="46482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096" name="Line 142"/>
          <p:cNvSpPr/>
          <p:nvPr/>
        </p:nvSpPr>
        <p:spPr>
          <a:xfrm flipH="1">
            <a:off x="4127500" y="4343400"/>
            <a:ext cx="304800" cy="304800"/>
          </a:xfrm>
          <a:prstGeom prst="line">
            <a:avLst/>
          </a:prstGeom>
          <a:ln w="9525" cap="flat" cmpd="sng">
            <a:solidFill>
              <a:srgbClr val="FF0000"/>
            </a:solidFill>
            <a:prstDash val="solid"/>
            <a:round/>
            <a:headEnd type="none" w="med" len="med"/>
            <a:tailEnd type="none" w="med" len="med"/>
          </a:ln>
        </p:spPr>
      </p:sp>
      <p:sp>
        <p:nvSpPr>
          <p:cNvPr id="126097" name="Line 143"/>
          <p:cNvSpPr/>
          <p:nvPr/>
        </p:nvSpPr>
        <p:spPr>
          <a:xfrm>
            <a:off x="4432300" y="4343400"/>
            <a:ext cx="76200" cy="304800"/>
          </a:xfrm>
          <a:prstGeom prst="line">
            <a:avLst/>
          </a:prstGeom>
          <a:ln w="9525" cap="flat" cmpd="sng">
            <a:solidFill>
              <a:srgbClr val="FF0000"/>
            </a:solidFill>
            <a:prstDash val="solid"/>
            <a:round/>
            <a:headEnd type="none" w="med" len="med"/>
            <a:tailEnd type="none" w="med" len="med"/>
          </a:ln>
        </p:spPr>
      </p:sp>
      <p:sp>
        <p:nvSpPr>
          <p:cNvPr id="126098" name="Line 144"/>
          <p:cNvSpPr/>
          <p:nvPr/>
        </p:nvSpPr>
        <p:spPr>
          <a:xfrm flipH="1">
            <a:off x="4508500" y="4495800"/>
            <a:ext cx="152400" cy="76200"/>
          </a:xfrm>
          <a:prstGeom prst="line">
            <a:avLst/>
          </a:prstGeom>
          <a:ln w="9525" cap="flat" cmpd="sng">
            <a:solidFill>
              <a:srgbClr val="FF0000"/>
            </a:solidFill>
            <a:prstDash val="solid"/>
            <a:round/>
            <a:headEnd type="none" w="med" len="med"/>
            <a:tailEnd type="none" w="med" len="med"/>
          </a:ln>
        </p:spPr>
      </p:sp>
      <p:sp>
        <p:nvSpPr>
          <p:cNvPr id="126099" name="Oval 145"/>
          <p:cNvSpPr/>
          <p:nvPr/>
        </p:nvSpPr>
        <p:spPr>
          <a:xfrm>
            <a:off x="4216400" y="48895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00" name="Oval 146"/>
          <p:cNvSpPr/>
          <p:nvPr/>
        </p:nvSpPr>
        <p:spPr>
          <a:xfrm>
            <a:off x="3898900" y="48768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01" name="Oval 147"/>
          <p:cNvSpPr/>
          <p:nvPr/>
        </p:nvSpPr>
        <p:spPr>
          <a:xfrm>
            <a:off x="4584700" y="48895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02" name="Oval 148"/>
          <p:cNvSpPr/>
          <p:nvPr/>
        </p:nvSpPr>
        <p:spPr>
          <a:xfrm>
            <a:off x="4368800" y="51816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03" name="Oval 149"/>
          <p:cNvSpPr/>
          <p:nvPr/>
        </p:nvSpPr>
        <p:spPr>
          <a:xfrm>
            <a:off x="4432300" y="54991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04" name="Oval 150"/>
          <p:cNvSpPr/>
          <p:nvPr/>
        </p:nvSpPr>
        <p:spPr>
          <a:xfrm>
            <a:off x="4749800" y="53340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05" name="Line 151"/>
          <p:cNvSpPr/>
          <p:nvPr/>
        </p:nvSpPr>
        <p:spPr>
          <a:xfrm>
            <a:off x="4127500" y="4648200"/>
            <a:ext cx="152400" cy="304800"/>
          </a:xfrm>
          <a:prstGeom prst="line">
            <a:avLst/>
          </a:prstGeom>
          <a:ln w="9525" cap="flat" cmpd="sng">
            <a:solidFill>
              <a:srgbClr val="FF0000"/>
            </a:solidFill>
            <a:prstDash val="solid"/>
            <a:round/>
            <a:headEnd type="none" w="med" len="med"/>
            <a:tailEnd type="none" w="med" len="med"/>
          </a:ln>
        </p:spPr>
      </p:sp>
      <p:sp>
        <p:nvSpPr>
          <p:cNvPr id="126106" name="Line 152"/>
          <p:cNvSpPr/>
          <p:nvPr/>
        </p:nvSpPr>
        <p:spPr>
          <a:xfrm flipH="1">
            <a:off x="3898900" y="4648200"/>
            <a:ext cx="228600" cy="228600"/>
          </a:xfrm>
          <a:prstGeom prst="line">
            <a:avLst/>
          </a:prstGeom>
          <a:ln w="9525" cap="flat" cmpd="sng">
            <a:solidFill>
              <a:srgbClr val="FF0000"/>
            </a:solidFill>
            <a:prstDash val="solid"/>
            <a:round/>
            <a:headEnd type="none" w="med" len="med"/>
            <a:tailEnd type="none" w="med" len="med"/>
          </a:ln>
        </p:spPr>
      </p:sp>
      <p:sp>
        <p:nvSpPr>
          <p:cNvPr id="126107" name="Line 153"/>
          <p:cNvSpPr/>
          <p:nvPr/>
        </p:nvSpPr>
        <p:spPr>
          <a:xfrm>
            <a:off x="3898900" y="4876800"/>
            <a:ext cx="381000" cy="76200"/>
          </a:xfrm>
          <a:prstGeom prst="line">
            <a:avLst/>
          </a:prstGeom>
          <a:ln w="9525" cap="flat" cmpd="sng">
            <a:solidFill>
              <a:srgbClr val="FF0000"/>
            </a:solidFill>
            <a:prstDash val="solid"/>
            <a:round/>
            <a:headEnd type="none" w="med" len="med"/>
            <a:tailEnd type="none" w="med" len="med"/>
          </a:ln>
        </p:spPr>
      </p:sp>
      <p:sp>
        <p:nvSpPr>
          <p:cNvPr id="126108" name="Line 154"/>
          <p:cNvSpPr/>
          <p:nvPr/>
        </p:nvSpPr>
        <p:spPr>
          <a:xfrm flipV="1">
            <a:off x="4279900" y="4572000"/>
            <a:ext cx="228600" cy="381000"/>
          </a:xfrm>
          <a:prstGeom prst="line">
            <a:avLst/>
          </a:prstGeom>
          <a:ln w="9525" cap="flat" cmpd="sng">
            <a:solidFill>
              <a:srgbClr val="FF0000"/>
            </a:solidFill>
            <a:prstDash val="solid"/>
            <a:round/>
            <a:headEnd type="none" w="med" len="med"/>
            <a:tailEnd type="none" w="med" len="med"/>
          </a:ln>
        </p:spPr>
      </p:sp>
      <p:sp>
        <p:nvSpPr>
          <p:cNvPr id="126109" name="Oval 155"/>
          <p:cNvSpPr/>
          <p:nvPr/>
        </p:nvSpPr>
        <p:spPr>
          <a:xfrm>
            <a:off x="4965700" y="51816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0" name="Oval 156"/>
          <p:cNvSpPr/>
          <p:nvPr/>
        </p:nvSpPr>
        <p:spPr>
          <a:xfrm>
            <a:off x="5029200" y="5486400"/>
            <a:ext cx="63500" cy="63500"/>
          </a:xfrm>
          <a:prstGeom prst="ellipse">
            <a:avLst/>
          </a:prstGeom>
          <a:solidFill>
            <a:srgbClr val="FF0000"/>
          </a:solidFill>
          <a:ln w="12700" cap="flat" cmpd="sng">
            <a:solidFill>
              <a:srgbClr val="FF00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1" name="Oval 157"/>
          <p:cNvSpPr/>
          <p:nvPr/>
        </p:nvSpPr>
        <p:spPr>
          <a:xfrm>
            <a:off x="6032500" y="41910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2" name="Oval 158"/>
          <p:cNvSpPr/>
          <p:nvPr/>
        </p:nvSpPr>
        <p:spPr>
          <a:xfrm>
            <a:off x="5638800" y="48768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3" name="Oval 159"/>
          <p:cNvSpPr/>
          <p:nvPr/>
        </p:nvSpPr>
        <p:spPr>
          <a:xfrm>
            <a:off x="6248400" y="40513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4" name="Oval 160"/>
          <p:cNvSpPr/>
          <p:nvPr/>
        </p:nvSpPr>
        <p:spPr>
          <a:xfrm>
            <a:off x="6248400" y="43434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5" name="Oval 161"/>
          <p:cNvSpPr/>
          <p:nvPr/>
        </p:nvSpPr>
        <p:spPr>
          <a:xfrm>
            <a:off x="6096000" y="44196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6" name="Oval 162"/>
          <p:cNvSpPr/>
          <p:nvPr/>
        </p:nvSpPr>
        <p:spPr>
          <a:xfrm>
            <a:off x="5867400" y="48006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7" name="Oval 163"/>
          <p:cNvSpPr/>
          <p:nvPr/>
        </p:nvSpPr>
        <p:spPr>
          <a:xfrm>
            <a:off x="5791200" y="50292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8" name="Oval 164"/>
          <p:cNvSpPr/>
          <p:nvPr/>
        </p:nvSpPr>
        <p:spPr>
          <a:xfrm>
            <a:off x="5943600" y="50419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19" name="Oval 165"/>
          <p:cNvSpPr/>
          <p:nvPr/>
        </p:nvSpPr>
        <p:spPr>
          <a:xfrm>
            <a:off x="5803900" y="51816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20" name="Line 166"/>
          <p:cNvSpPr/>
          <p:nvPr/>
        </p:nvSpPr>
        <p:spPr>
          <a:xfrm flipV="1">
            <a:off x="5715000" y="4191000"/>
            <a:ext cx="381000" cy="685800"/>
          </a:xfrm>
          <a:prstGeom prst="line">
            <a:avLst/>
          </a:prstGeom>
          <a:ln w="9525" cap="flat" cmpd="sng">
            <a:solidFill>
              <a:schemeClr val="tx2"/>
            </a:solidFill>
            <a:prstDash val="solid"/>
            <a:round/>
            <a:headEnd type="none" w="med" len="med"/>
            <a:tailEnd type="none" w="med" len="med"/>
          </a:ln>
        </p:spPr>
      </p:sp>
      <p:sp>
        <p:nvSpPr>
          <p:cNvPr id="126121" name="Line 167"/>
          <p:cNvSpPr/>
          <p:nvPr/>
        </p:nvSpPr>
        <p:spPr>
          <a:xfrm flipV="1">
            <a:off x="6096000" y="4114800"/>
            <a:ext cx="152400" cy="76200"/>
          </a:xfrm>
          <a:prstGeom prst="line">
            <a:avLst/>
          </a:prstGeom>
          <a:ln w="9525" cap="flat" cmpd="sng">
            <a:solidFill>
              <a:schemeClr val="tx2"/>
            </a:solidFill>
            <a:prstDash val="solid"/>
            <a:round/>
            <a:headEnd type="none" w="med" len="med"/>
            <a:tailEnd type="none" w="med" len="med"/>
          </a:ln>
        </p:spPr>
      </p:sp>
      <p:sp>
        <p:nvSpPr>
          <p:cNvPr id="126122" name="Line 168"/>
          <p:cNvSpPr/>
          <p:nvPr/>
        </p:nvSpPr>
        <p:spPr>
          <a:xfrm>
            <a:off x="6096000" y="4191000"/>
            <a:ext cx="152400" cy="152400"/>
          </a:xfrm>
          <a:prstGeom prst="line">
            <a:avLst/>
          </a:prstGeom>
          <a:ln w="9525" cap="flat" cmpd="sng">
            <a:solidFill>
              <a:schemeClr val="tx2"/>
            </a:solidFill>
            <a:prstDash val="solid"/>
            <a:round/>
            <a:headEnd type="none" w="med" len="med"/>
            <a:tailEnd type="none" w="med" len="med"/>
          </a:ln>
        </p:spPr>
      </p:sp>
      <p:sp>
        <p:nvSpPr>
          <p:cNvPr id="126123" name="Line 169"/>
          <p:cNvSpPr/>
          <p:nvPr/>
        </p:nvSpPr>
        <p:spPr>
          <a:xfrm>
            <a:off x="6096000" y="4191000"/>
            <a:ext cx="0" cy="228600"/>
          </a:xfrm>
          <a:prstGeom prst="line">
            <a:avLst/>
          </a:prstGeom>
          <a:ln w="9525" cap="flat" cmpd="sng">
            <a:solidFill>
              <a:schemeClr val="tx2"/>
            </a:solidFill>
            <a:prstDash val="solid"/>
            <a:round/>
            <a:headEnd type="none" w="med" len="med"/>
            <a:tailEnd type="none" w="med" len="med"/>
          </a:ln>
        </p:spPr>
      </p:sp>
      <p:sp>
        <p:nvSpPr>
          <p:cNvPr id="126124" name="Line 170"/>
          <p:cNvSpPr/>
          <p:nvPr/>
        </p:nvSpPr>
        <p:spPr>
          <a:xfrm flipV="1">
            <a:off x="6096000" y="4343400"/>
            <a:ext cx="152400" cy="76200"/>
          </a:xfrm>
          <a:prstGeom prst="line">
            <a:avLst/>
          </a:prstGeom>
          <a:ln w="9525" cap="flat" cmpd="sng">
            <a:solidFill>
              <a:schemeClr val="tx2"/>
            </a:solidFill>
            <a:prstDash val="solid"/>
            <a:round/>
            <a:headEnd type="none" w="med" len="med"/>
            <a:tailEnd type="none" w="med" len="med"/>
          </a:ln>
        </p:spPr>
      </p:sp>
      <p:sp>
        <p:nvSpPr>
          <p:cNvPr id="126125" name="Line 171"/>
          <p:cNvSpPr/>
          <p:nvPr/>
        </p:nvSpPr>
        <p:spPr>
          <a:xfrm>
            <a:off x="5867400" y="4800600"/>
            <a:ext cx="76200" cy="304800"/>
          </a:xfrm>
          <a:prstGeom prst="line">
            <a:avLst/>
          </a:prstGeom>
          <a:ln w="9525" cap="flat" cmpd="sng">
            <a:solidFill>
              <a:schemeClr val="tx2"/>
            </a:solidFill>
            <a:prstDash val="solid"/>
            <a:round/>
            <a:headEnd type="none" w="med" len="med"/>
            <a:tailEnd type="none" w="med" len="med"/>
          </a:ln>
        </p:spPr>
      </p:sp>
      <p:sp>
        <p:nvSpPr>
          <p:cNvPr id="126126" name="Line 172"/>
          <p:cNvSpPr/>
          <p:nvPr/>
        </p:nvSpPr>
        <p:spPr>
          <a:xfrm>
            <a:off x="5791200" y="5029200"/>
            <a:ext cx="76200" cy="152400"/>
          </a:xfrm>
          <a:prstGeom prst="line">
            <a:avLst/>
          </a:prstGeom>
          <a:ln w="9525" cap="flat" cmpd="sng">
            <a:solidFill>
              <a:schemeClr val="tx2"/>
            </a:solidFill>
            <a:prstDash val="solid"/>
            <a:round/>
            <a:headEnd type="none" w="med" len="med"/>
            <a:tailEnd type="none" w="med" len="med"/>
          </a:ln>
        </p:spPr>
      </p:sp>
      <p:sp>
        <p:nvSpPr>
          <p:cNvPr id="126127" name="Line 173"/>
          <p:cNvSpPr/>
          <p:nvPr/>
        </p:nvSpPr>
        <p:spPr>
          <a:xfrm flipV="1">
            <a:off x="5867400" y="5105400"/>
            <a:ext cx="76200" cy="76200"/>
          </a:xfrm>
          <a:prstGeom prst="line">
            <a:avLst/>
          </a:prstGeom>
          <a:ln w="9525" cap="flat" cmpd="sng">
            <a:solidFill>
              <a:schemeClr val="tx2"/>
            </a:solidFill>
            <a:prstDash val="solid"/>
            <a:round/>
            <a:headEnd type="none" w="med" len="med"/>
            <a:tailEnd type="none" w="med" len="med"/>
          </a:ln>
        </p:spPr>
      </p:sp>
      <p:sp>
        <p:nvSpPr>
          <p:cNvPr id="126128" name="Oval 174"/>
          <p:cNvSpPr/>
          <p:nvPr/>
        </p:nvSpPr>
        <p:spPr>
          <a:xfrm>
            <a:off x="6489700" y="48895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29" name="Oval 175"/>
          <p:cNvSpPr/>
          <p:nvPr/>
        </p:nvSpPr>
        <p:spPr>
          <a:xfrm>
            <a:off x="6718300" y="49657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0" name="Oval 176"/>
          <p:cNvSpPr/>
          <p:nvPr/>
        </p:nvSpPr>
        <p:spPr>
          <a:xfrm>
            <a:off x="5715000" y="56388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1" name="Oval 177"/>
          <p:cNvSpPr/>
          <p:nvPr/>
        </p:nvSpPr>
        <p:spPr>
          <a:xfrm>
            <a:off x="5638800" y="57912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2" name="Oval 178"/>
          <p:cNvSpPr/>
          <p:nvPr/>
        </p:nvSpPr>
        <p:spPr>
          <a:xfrm>
            <a:off x="5867400" y="58674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3" name="Oval 179"/>
          <p:cNvSpPr/>
          <p:nvPr/>
        </p:nvSpPr>
        <p:spPr>
          <a:xfrm>
            <a:off x="5715000" y="60960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4" name="Oval 180"/>
          <p:cNvSpPr/>
          <p:nvPr/>
        </p:nvSpPr>
        <p:spPr>
          <a:xfrm>
            <a:off x="6642100" y="4724400"/>
            <a:ext cx="63500" cy="63500"/>
          </a:xfrm>
          <a:prstGeom prst="ellipse">
            <a:avLst/>
          </a:prstGeom>
          <a:solidFill>
            <a:schemeClr val="tx2"/>
          </a:solidFill>
          <a:ln w="12700" cap="flat" cmpd="sng">
            <a:solidFill>
              <a:schemeClr val="tx2"/>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5" name="Oval 181"/>
          <p:cNvSpPr/>
          <p:nvPr/>
        </p:nvSpPr>
        <p:spPr>
          <a:xfrm>
            <a:off x="5638800" y="62611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6" name="Oval 182"/>
          <p:cNvSpPr/>
          <p:nvPr/>
        </p:nvSpPr>
        <p:spPr>
          <a:xfrm>
            <a:off x="5499100" y="61722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7" name="Oval 183"/>
          <p:cNvSpPr/>
          <p:nvPr/>
        </p:nvSpPr>
        <p:spPr>
          <a:xfrm>
            <a:off x="5486400" y="6324600"/>
            <a:ext cx="63500" cy="63500"/>
          </a:xfrm>
          <a:prstGeom prst="ellipse">
            <a:avLst/>
          </a:prstGeom>
          <a:solidFill>
            <a:srgbClr val="00FF00"/>
          </a:solidFill>
          <a:ln w="12700" cap="flat" cmpd="sng">
            <a:solidFill>
              <a:srgbClr val="00FF00"/>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38" name="Line 184"/>
          <p:cNvSpPr/>
          <p:nvPr/>
        </p:nvSpPr>
        <p:spPr>
          <a:xfrm>
            <a:off x="6553200" y="4953000"/>
            <a:ext cx="228600" cy="76200"/>
          </a:xfrm>
          <a:prstGeom prst="line">
            <a:avLst/>
          </a:prstGeom>
          <a:ln w="9525" cap="flat" cmpd="sng">
            <a:solidFill>
              <a:schemeClr val="tx2"/>
            </a:solidFill>
            <a:prstDash val="solid"/>
            <a:round/>
            <a:headEnd type="none" w="med" len="med"/>
            <a:tailEnd type="none" w="med" len="med"/>
          </a:ln>
        </p:spPr>
      </p:sp>
      <p:sp>
        <p:nvSpPr>
          <p:cNvPr id="126139" name="Line 185"/>
          <p:cNvSpPr/>
          <p:nvPr/>
        </p:nvSpPr>
        <p:spPr>
          <a:xfrm>
            <a:off x="6705600" y="4724400"/>
            <a:ext cx="76200" cy="304800"/>
          </a:xfrm>
          <a:prstGeom prst="line">
            <a:avLst/>
          </a:prstGeom>
          <a:ln w="9525" cap="flat" cmpd="sng">
            <a:solidFill>
              <a:schemeClr val="tx2"/>
            </a:solidFill>
            <a:prstDash val="solid"/>
            <a:round/>
            <a:headEnd type="none" w="med" len="med"/>
            <a:tailEnd type="none" w="med" len="med"/>
          </a:ln>
        </p:spPr>
      </p:sp>
      <p:sp>
        <p:nvSpPr>
          <p:cNvPr id="126140" name="Line 186"/>
          <p:cNvSpPr/>
          <p:nvPr/>
        </p:nvSpPr>
        <p:spPr>
          <a:xfrm>
            <a:off x="6248400" y="4343400"/>
            <a:ext cx="457200" cy="381000"/>
          </a:xfrm>
          <a:prstGeom prst="line">
            <a:avLst/>
          </a:prstGeom>
          <a:ln w="9525" cap="flat" cmpd="sng">
            <a:solidFill>
              <a:schemeClr val="tx2"/>
            </a:solidFill>
            <a:prstDash val="solid"/>
            <a:round/>
            <a:headEnd type="none" w="med" len="med"/>
            <a:tailEnd type="none" w="med" len="med"/>
          </a:ln>
        </p:spPr>
      </p:sp>
      <p:sp>
        <p:nvSpPr>
          <p:cNvPr id="126141" name="Line 187"/>
          <p:cNvSpPr/>
          <p:nvPr/>
        </p:nvSpPr>
        <p:spPr>
          <a:xfrm>
            <a:off x="6096000" y="4419600"/>
            <a:ext cx="609600" cy="304800"/>
          </a:xfrm>
          <a:prstGeom prst="line">
            <a:avLst/>
          </a:prstGeom>
          <a:ln w="9525" cap="flat" cmpd="sng">
            <a:solidFill>
              <a:schemeClr val="tx2"/>
            </a:solidFill>
            <a:prstDash val="solid"/>
            <a:round/>
            <a:headEnd type="none" w="med" len="med"/>
            <a:tailEnd type="none" w="med" len="med"/>
          </a:ln>
        </p:spPr>
      </p:sp>
      <p:sp>
        <p:nvSpPr>
          <p:cNvPr id="126142" name="Line 188"/>
          <p:cNvSpPr/>
          <p:nvPr/>
        </p:nvSpPr>
        <p:spPr>
          <a:xfrm>
            <a:off x="5638800" y="5867400"/>
            <a:ext cx="228600" cy="0"/>
          </a:xfrm>
          <a:prstGeom prst="line">
            <a:avLst/>
          </a:prstGeom>
          <a:ln w="9525" cap="flat" cmpd="sng">
            <a:solidFill>
              <a:srgbClr val="00FF00"/>
            </a:solidFill>
            <a:prstDash val="solid"/>
            <a:round/>
            <a:headEnd type="none" w="med" len="med"/>
            <a:tailEnd type="none" w="med" len="med"/>
          </a:ln>
        </p:spPr>
      </p:sp>
      <p:sp>
        <p:nvSpPr>
          <p:cNvPr id="126143" name="Line 189"/>
          <p:cNvSpPr/>
          <p:nvPr/>
        </p:nvSpPr>
        <p:spPr>
          <a:xfrm flipH="1">
            <a:off x="5562600" y="5791200"/>
            <a:ext cx="76200" cy="381000"/>
          </a:xfrm>
          <a:prstGeom prst="line">
            <a:avLst/>
          </a:prstGeom>
          <a:ln w="9525" cap="flat" cmpd="sng">
            <a:solidFill>
              <a:srgbClr val="00FF00"/>
            </a:solidFill>
            <a:prstDash val="solid"/>
            <a:round/>
            <a:headEnd type="none" w="med" len="med"/>
            <a:tailEnd type="none" w="med" len="med"/>
          </a:ln>
        </p:spPr>
      </p:sp>
      <p:sp>
        <p:nvSpPr>
          <p:cNvPr id="126144" name="Line 190"/>
          <p:cNvSpPr/>
          <p:nvPr/>
        </p:nvSpPr>
        <p:spPr>
          <a:xfrm>
            <a:off x="5638800" y="5791200"/>
            <a:ext cx="76200" cy="304800"/>
          </a:xfrm>
          <a:prstGeom prst="line">
            <a:avLst/>
          </a:prstGeom>
          <a:ln w="9525" cap="flat" cmpd="sng">
            <a:solidFill>
              <a:srgbClr val="00FF00"/>
            </a:solidFill>
            <a:prstDash val="solid"/>
            <a:round/>
            <a:headEnd type="none" w="med" len="med"/>
            <a:tailEnd type="none" w="med" len="med"/>
          </a:ln>
        </p:spPr>
      </p:sp>
      <p:sp>
        <p:nvSpPr>
          <p:cNvPr id="126145" name="Line 191"/>
          <p:cNvSpPr/>
          <p:nvPr/>
        </p:nvSpPr>
        <p:spPr>
          <a:xfrm flipH="1">
            <a:off x="5715000" y="5867400"/>
            <a:ext cx="152400" cy="304800"/>
          </a:xfrm>
          <a:prstGeom prst="line">
            <a:avLst/>
          </a:prstGeom>
          <a:ln w="9525" cap="flat" cmpd="sng">
            <a:solidFill>
              <a:srgbClr val="00FF00"/>
            </a:solidFill>
            <a:prstDash val="solid"/>
            <a:round/>
            <a:headEnd type="none" w="med" len="med"/>
            <a:tailEnd type="none" w="med" len="med"/>
          </a:ln>
        </p:spPr>
      </p:sp>
      <p:sp>
        <p:nvSpPr>
          <p:cNvPr id="126146" name="Line 192"/>
          <p:cNvSpPr/>
          <p:nvPr/>
        </p:nvSpPr>
        <p:spPr>
          <a:xfrm>
            <a:off x="5562600" y="6172200"/>
            <a:ext cx="152400" cy="0"/>
          </a:xfrm>
          <a:prstGeom prst="line">
            <a:avLst/>
          </a:prstGeom>
          <a:ln w="9525" cap="flat" cmpd="sng">
            <a:solidFill>
              <a:srgbClr val="00FF00"/>
            </a:solidFill>
            <a:prstDash val="solid"/>
            <a:round/>
            <a:headEnd type="none" w="med" len="med"/>
            <a:tailEnd type="none" w="med" len="med"/>
          </a:ln>
        </p:spPr>
      </p:sp>
      <p:sp>
        <p:nvSpPr>
          <p:cNvPr id="126147" name="Line 193"/>
          <p:cNvSpPr/>
          <p:nvPr/>
        </p:nvSpPr>
        <p:spPr>
          <a:xfrm flipH="1">
            <a:off x="5486400" y="6172200"/>
            <a:ext cx="76200" cy="152400"/>
          </a:xfrm>
          <a:prstGeom prst="line">
            <a:avLst/>
          </a:prstGeom>
          <a:ln w="9525" cap="flat" cmpd="sng">
            <a:solidFill>
              <a:srgbClr val="00FF00"/>
            </a:solidFill>
            <a:prstDash val="solid"/>
            <a:round/>
            <a:headEnd type="none" w="med" len="med"/>
            <a:tailEnd type="none" w="med" len="med"/>
          </a:ln>
        </p:spPr>
      </p:sp>
      <p:sp>
        <p:nvSpPr>
          <p:cNvPr id="126148" name="Line 194"/>
          <p:cNvSpPr/>
          <p:nvPr/>
        </p:nvSpPr>
        <p:spPr>
          <a:xfrm flipH="1">
            <a:off x="5638800" y="6096000"/>
            <a:ext cx="152400" cy="228600"/>
          </a:xfrm>
          <a:prstGeom prst="line">
            <a:avLst/>
          </a:prstGeom>
          <a:ln w="9525" cap="flat" cmpd="sng">
            <a:solidFill>
              <a:srgbClr val="00FF00"/>
            </a:solidFill>
            <a:prstDash val="solid"/>
            <a:round/>
            <a:headEnd type="none" w="med" len="med"/>
            <a:tailEnd type="none" w="med" len="med"/>
          </a:ln>
        </p:spPr>
      </p:sp>
      <p:sp>
        <p:nvSpPr>
          <p:cNvPr id="126149" name="Line 195"/>
          <p:cNvSpPr/>
          <p:nvPr/>
        </p:nvSpPr>
        <p:spPr>
          <a:xfrm>
            <a:off x="5486400" y="6324600"/>
            <a:ext cx="228600" cy="0"/>
          </a:xfrm>
          <a:prstGeom prst="line">
            <a:avLst/>
          </a:prstGeom>
          <a:ln w="9525" cap="flat" cmpd="sng">
            <a:solidFill>
              <a:srgbClr val="00FF00"/>
            </a:solidFill>
            <a:prstDash val="solid"/>
            <a:round/>
            <a:headEnd type="none" w="med" len="med"/>
            <a:tailEnd type="none" w="med" len="med"/>
          </a:ln>
        </p:spPr>
      </p:sp>
      <p:sp>
        <p:nvSpPr>
          <p:cNvPr id="126150" name="Line 196"/>
          <p:cNvSpPr/>
          <p:nvPr/>
        </p:nvSpPr>
        <p:spPr>
          <a:xfrm>
            <a:off x="4508500" y="4572000"/>
            <a:ext cx="76200" cy="304800"/>
          </a:xfrm>
          <a:prstGeom prst="line">
            <a:avLst/>
          </a:prstGeom>
          <a:ln w="9525" cap="flat" cmpd="sng">
            <a:solidFill>
              <a:srgbClr val="FF0000"/>
            </a:solidFill>
            <a:prstDash val="solid"/>
            <a:round/>
            <a:headEnd type="none" w="med" len="med"/>
            <a:tailEnd type="none" w="med" len="med"/>
          </a:ln>
        </p:spPr>
      </p:sp>
      <p:sp>
        <p:nvSpPr>
          <p:cNvPr id="126151" name="Line 197"/>
          <p:cNvSpPr/>
          <p:nvPr/>
        </p:nvSpPr>
        <p:spPr>
          <a:xfrm>
            <a:off x="4660900" y="4953000"/>
            <a:ext cx="304800" cy="228600"/>
          </a:xfrm>
          <a:prstGeom prst="line">
            <a:avLst/>
          </a:prstGeom>
          <a:ln w="9525" cap="flat" cmpd="sng">
            <a:solidFill>
              <a:srgbClr val="FF0000"/>
            </a:solidFill>
            <a:prstDash val="solid"/>
            <a:round/>
            <a:headEnd type="none" w="med" len="med"/>
            <a:tailEnd type="none" w="med" len="med"/>
          </a:ln>
        </p:spPr>
      </p:sp>
      <p:sp>
        <p:nvSpPr>
          <p:cNvPr id="126152" name="Line 198"/>
          <p:cNvSpPr/>
          <p:nvPr/>
        </p:nvSpPr>
        <p:spPr>
          <a:xfrm>
            <a:off x="4584700" y="4953000"/>
            <a:ext cx="152400" cy="381000"/>
          </a:xfrm>
          <a:prstGeom prst="line">
            <a:avLst/>
          </a:prstGeom>
          <a:ln w="9525" cap="flat" cmpd="sng">
            <a:solidFill>
              <a:srgbClr val="FF0000"/>
            </a:solidFill>
            <a:prstDash val="solid"/>
            <a:round/>
            <a:headEnd type="none" w="med" len="med"/>
            <a:tailEnd type="none" w="med" len="med"/>
          </a:ln>
        </p:spPr>
      </p:sp>
      <p:sp>
        <p:nvSpPr>
          <p:cNvPr id="126153" name="Line 199"/>
          <p:cNvSpPr/>
          <p:nvPr/>
        </p:nvSpPr>
        <p:spPr>
          <a:xfrm>
            <a:off x="4737100" y="5334000"/>
            <a:ext cx="304800" cy="228600"/>
          </a:xfrm>
          <a:prstGeom prst="line">
            <a:avLst/>
          </a:prstGeom>
          <a:ln w="9525" cap="flat" cmpd="sng">
            <a:solidFill>
              <a:srgbClr val="FF0000"/>
            </a:solidFill>
            <a:prstDash val="solid"/>
            <a:round/>
            <a:headEnd type="none" w="med" len="med"/>
            <a:tailEnd type="none" w="med" len="med"/>
          </a:ln>
        </p:spPr>
      </p:sp>
      <p:sp>
        <p:nvSpPr>
          <p:cNvPr id="126154" name="Line 200"/>
          <p:cNvSpPr/>
          <p:nvPr/>
        </p:nvSpPr>
        <p:spPr>
          <a:xfrm flipV="1">
            <a:off x="4737100" y="5257800"/>
            <a:ext cx="228600" cy="152400"/>
          </a:xfrm>
          <a:prstGeom prst="line">
            <a:avLst/>
          </a:prstGeom>
          <a:ln w="9525" cap="flat" cmpd="sng">
            <a:solidFill>
              <a:srgbClr val="FF0000"/>
            </a:solidFill>
            <a:prstDash val="solid"/>
            <a:round/>
            <a:headEnd type="none" w="med" len="med"/>
            <a:tailEnd type="none" w="med" len="med"/>
          </a:ln>
        </p:spPr>
      </p:sp>
      <p:sp>
        <p:nvSpPr>
          <p:cNvPr id="126155" name="Line 201"/>
          <p:cNvSpPr/>
          <p:nvPr/>
        </p:nvSpPr>
        <p:spPr>
          <a:xfrm>
            <a:off x="4279900" y="4953000"/>
            <a:ext cx="152400" cy="304800"/>
          </a:xfrm>
          <a:prstGeom prst="line">
            <a:avLst/>
          </a:prstGeom>
          <a:ln w="9525" cap="flat" cmpd="sng">
            <a:solidFill>
              <a:srgbClr val="FF0000"/>
            </a:solidFill>
            <a:prstDash val="solid"/>
            <a:round/>
            <a:headEnd type="none" w="med" len="med"/>
            <a:tailEnd type="none" w="med" len="med"/>
          </a:ln>
        </p:spPr>
      </p:sp>
      <p:sp>
        <p:nvSpPr>
          <p:cNvPr id="126156" name="Line 202"/>
          <p:cNvSpPr/>
          <p:nvPr/>
        </p:nvSpPr>
        <p:spPr>
          <a:xfrm flipH="1">
            <a:off x="4432300" y="4953000"/>
            <a:ext cx="152400" cy="304800"/>
          </a:xfrm>
          <a:prstGeom prst="line">
            <a:avLst/>
          </a:prstGeom>
          <a:ln w="9525" cap="flat" cmpd="sng">
            <a:solidFill>
              <a:srgbClr val="FF0000"/>
            </a:solidFill>
            <a:prstDash val="solid"/>
            <a:round/>
            <a:headEnd type="none" w="med" len="med"/>
            <a:tailEnd type="none" w="med" len="med"/>
          </a:ln>
        </p:spPr>
      </p:sp>
      <p:sp>
        <p:nvSpPr>
          <p:cNvPr id="126157" name="Line 203"/>
          <p:cNvSpPr/>
          <p:nvPr/>
        </p:nvSpPr>
        <p:spPr>
          <a:xfrm>
            <a:off x="4432300" y="5257800"/>
            <a:ext cx="0" cy="228600"/>
          </a:xfrm>
          <a:prstGeom prst="line">
            <a:avLst/>
          </a:prstGeom>
          <a:ln w="9525" cap="flat" cmpd="sng">
            <a:solidFill>
              <a:srgbClr val="FF0000"/>
            </a:solidFill>
            <a:prstDash val="solid"/>
            <a:round/>
            <a:headEnd type="none" w="med" len="med"/>
            <a:tailEnd type="none" w="med" len="med"/>
          </a:ln>
        </p:spPr>
      </p:sp>
      <p:sp>
        <p:nvSpPr>
          <p:cNvPr id="126158" name="Line 204"/>
          <p:cNvSpPr/>
          <p:nvPr/>
        </p:nvSpPr>
        <p:spPr>
          <a:xfrm>
            <a:off x="4432300" y="5562600"/>
            <a:ext cx="609600" cy="0"/>
          </a:xfrm>
          <a:prstGeom prst="line">
            <a:avLst/>
          </a:prstGeom>
          <a:ln w="9525" cap="flat" cmpd="sng">
            <a:solidFill>
              <a:srgbClr val="FF0000"/>
            </a:solidFill>
            <a:prstDash val="solid"/>
            <a:round/>
            <a:headEnd type="none" w="med" len="med"/>
            <a:tailEnd type="none" w="med" len="med"/>
          </a:ln>
        </p:spPr>
      </p:sp>
      <p:sp>
        <p:nvSpPr>
          <p:cNvPr id="126159" name="Line 205"/>
          <p:cNvSpPr/>
          <p:nvPr/>
        </p:nvSpPr>
        <p:spPr>
          <a:xfrm flipV="1">
            <a:off x="4432300" y="5410200"/>
            <a:ext cx="304800" cy="152400"/>
          </a:xfrm>
          <a:prstGeom prst="line">
            <a:avLst/>
          </a:prstGeom>
          <a:ln w="9525" cap="flat" cmpd="sng">
            <a:solidFill>
              <a:srgbClr val="FF0000"/>
            </a:solidFill>
            <a:prstDash val="solid"/>
            <a:round/>
            <a:headEnd type="none" w="med" len="med"/>
            <a:tailEnd type="none" w="med" len="med"/>
          </a:ln>
        </p:spPr>
      </p:sp>
      <p:sp>
        <p:nvSpPr>
          <p:cNvPr id="126160" name="Line 206"/>
          <p:cNvSpPr/>
          <p:nvPr/>
        </p:nvSpPr>
        <p:spPr>
          <a:xfrm>
            <a:off x="5562600" y="6172200"/>
            <a:ext cx="152400" cy="152400"/>
          </a:xfrm>
          <a:prstGeom prst="line">
            <a:avLst/>
          </a:prstGeom>
          <a:ln w="9525" cap="flat" cmpd="sng">
            <a:solidFill>
              <a:srgbClr val="00FF00"/>
            </a:solidFill>
            <a:prstDash val="solid"/>
            <a:round/>
            <a:headEnd type="none" w="med" len="med"/>
            <a:tailEnd type="none" w="med" len="med"/>
          </a:ln>
        </p:spPr>
      </p:sp>
      <p:sp>
        <p:nvSpPr>
          <p:cNvPr id="126161" name="Line 207"/>
          <p:cNvSpPr/>
          <p:nvPr/>
        </p:nvSpPr>
        <p:spPr>
          <a:xfrm flipV="1">
            <a:off x="6019800" y="4953000"/>
            <a:ext cx="533400" cy="152400"/>
          </a:xfrm>
          <a:prstGeom prst="line">
            <a:avLst/>
          </a:prstGeom>
          <a:ln w="9525" cap="flat" cmpd="sng">
            <a:solidFill>
              <a:schemeClr val="tx2"/>
            </a:solidFill>
            <a:prstDash val="solid"/>
            <a:round/>
            <a:headEnd type="none" w="med" len="med"/>
            <a:tailEnd type="none" w="med" len="med"/>
          </a:ln>
        </p:spPr>
      </p:sp>
      <p:sp>
        <p:nvSpPr>
          <p:cNvPr id="126162" name="Line 208"/>
          <p:cNvSpPr/>
          <p:nvPr/>
        </p:nvSpPr>
        <p:spPr>
          <a:xfrm>
            <a:off x="4432300" y="5181600"/>
            <a:ext cx="381000" cy="228600"/>
          </a:xfrm>
          <a:prstGeom prst="line">
            <a:avLst/>
          </a:prstGeom>
          <a:ln w="9525" cap="flat" cmpd="sng">
            <a:solidFill>
              <a:srgbClr val="FF0000"/>
            </a:solidFill>
            <a:prstDash val="solid"/>
            <a:round/>
            <a:headEnd type="none" w="med" len="med"/>
            <a:tailEnd type="none" w="med" len="med"/>
          </a:ln>
        </p:spPr>
      </p:sp>
      <p:sp>
        <p:nvSpPr>
          <p:cNvPr id="126163" name="Line 209"/>
          <p:cNvSpPr/>
          <p:nvPr/>
        </p:nvSpPr>
        <p:spPr>
          <a:xfrm flipH="1">
            <a:off x="5867400" y="4419600"/>
            <a:ext cx="228600" cy="381000"/>
          </a:xfrm>
          <a:prstGeom prst="line">
            <a:avLst/>
          </a:prstGeom>
          <a:ln w="9525" cap="flat" cmpd="sng">
            <a:solidFill>
              <a:schemeClr val="tx2"/>
            </a:solidFill>
            <a:prstDash val="solid"/>
            <a:round/>
            <a:headEnd type="none" w="med" len="med"/>
            <a:tailEnd type="none" w="med" len="med"/>
          </a:ln>
        </p:spPr>
      </p:sp>
      <p:sp>
        <p:nvSpPr>
          <p:cNvPr id="126164" name="AutoShape 211"/>
          <p:cNvSpPr/>
          <p:nvPr/>
        </p:nvSpPr>
        <p:spPr>
          <a:xfrm>
            <a:off x="76200" y="1828800"/>
            <a:ext cx="685800" cy="1066800"/>
          </a:xfrm>
          <a:prstGeom prst="flowChartMagneticDisk">
            <a:avLst/>
          </a:prstGeom>
          <a:solidFill>
            <a:srgbClr val="FFFFFF"/>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6165" name="Line 212"/>
          <p:cNvSpPr/>
          <p:nvPr/>
        </p:nvSpPr>
        <p:spPr>
          <a:xfrm>
            <a:off x="838200" y="2362200"/>
            <a:ext cx="990600" cy="0"/>
          </a:xfrm>
          <a:prstGeom prst="line">
            <a:avLst/>
          </a:prstGeom>
          <a:ln w="9525" cap="flat" cmpd="sng">
            <a:solidFill>
              <a:schemeClr val="tx1"/>
            </a:solidFill>
            <a:prstDash val="solid"/>
            <a:round/>
            <a:headEnd type="none" w="med" len="med"/>
            <a:tailEnd type="triangle" w="med" len="med"/>
          </a:ln>
        </p:spPr>
      </p:sp>
      <p:sp>
        <p:nvSpPr>
          <p:cNvPr id="126166" name="Text Box 213"/>
          <p:cNvSpPr txBox="1"/>
          <p:nvPr/>
        </p:nvSpPr>
        <p:spPr>
          <a:xfrm>
            <a:off x="762000" y="1524000"/>
            <a:ext cx="1752600" cy="623888"/>
          </a:xfrm>
          <a:prstGeom prst="rect">
            <a:avLst/>
          </a:prstGeom>
          <a:noFill/>
          <a:ln w="9525">
            <a:noFill/>
          </a:ln>
        </p:spPr>
        <p:txBody>
          <a:bodyPr anchor="t" anchorCtr="0">
            <a:spAutoFit/>
          </a:bodyPr>
          <a:p>
            <a:pPr eaLnBrk="0" hangingPunct="0">
              <a:spcBef>
                <a:spcPct val="50000"/>
              </a:spcBef>
            </a:pPr>
            <a:r>
              <a:rPr lang="en-US" altLang="zh-CN" sz="1400" b="1" dirty="0">
                <a:latin typeface="Times New Roman" panose="02020603050405020304" pitchFamily="18" charset="0"/>
                <a:ea typeface="SimSun" panose="02010600030101010101" pitchFamily="2" charset="-122"/>
              </a:rPr>
              <a:t>Construct</a:t>
            </a:r>
            <a:endParaRPr lang="en-US" altLang="zh-CN" sz="1400" b="1" dirty="0">
              <a:latin typeface="Times New Roman" panose="02020603050405020304" pitchFamily="18" charset="0"/>
              <a:ea typeface="SimSun" panose="02010600030101010101" pitchFamily="2" charset="-122"/>
            </a:endParaRPr>
          </a:p>
          <a:p>
            <a:pPr eaLnBrk="0" hangingPunct="0">
              <a:spcBef>
                <a:spcPct val="50000"/>
              </a:spcBef>
            </a:pPr>
            <a:r>
              <a:rPr lang="en-US" altLang="zh-CN" sz="1400" b="1" dirty="0">
                <a:latin typeface="Times New Roman" panose="02020603050405020304" pitchFamily="18" charset="0"/>
                <a:ea typeface="SimSun" panose="02010600030101010101" pitchFamily="2" charset="-122"/>
              </a:rPr>
              <a:t>Sparse Graph</a:t>
            </a:r>
            <a:endParaRPr lang="en-US" altLang="zh-CN" sz="1400" b="1" dirty="0">
              <a:latin typeface="Times New Roman" panose="02020603050405020304" pitchFamily="18" charset="0"/>
              <a:ea typeface="SimSun" panose="02010600030101010101" pitchFamily="2" charset="-122"/>
            </a:endParaRPr>
          </a:p>
        </p:txBody>
      </p:sp>
      <p:sp>
        <p:nvSpPr>
          <p:cNvPr id="126167" name="Line 214"/>
          <p:cNvSpPr/>
          <p:nvPr/>
        </p:nvSpPr>
        <p:spPr>
          <a:xfrm>
            <a:off x="4953000" y="2438400"/>
            <a:ext cx="990600" cy="0"/>
          </a:xfrm>
          <a:prstGeom prst="line">
            <a:avLst/>
          </a:prstGeom>
          <a:ln w="9525" cap="flat" cmpd="sng">
            <a:solidFill>
              <a:schemeClr val="tx1"/>
            </a:solidFill>
            <a:prstDash val="solid"/>
            <a:round/>
            <a:headEnd type="none" w="med" len="med"/>
            <a:tailEnd type="triangle" w="med" len="med"/>
          </a:ln>
        </p:spPr>
      </p:sp>
      <p:sp>
        <p:nvSpPr>
          <p:cNvPr id="126168" name="Text Box 215"/>
          <p:cNvSpPr txBox="1"/>
          <p:nvPr/>
        </p:nvSpPr>
        <p:spPr>
          <a:xfrm>
            <a:off x="4724400" y="1828800"/>
            <a:ext cx="1752600" cy="304800"/>
          </a:xfrm>
          <a:prstGeom prst="rect">
            <a:avLst/>
          </a:prstGeom>
          <a:noFill/>
          <a:ln w="9525">
            <a:noFill/>
          </a:ln>
        </p:spPr>
        <p:txBody>
          <a:bodyPr anchor="t" anchorCtr="0">
            <a:spAutoFit/>
          </a:bodyPr>
          <a:p>
            <a:pPr eaLnBrk="0" hangingPunct="0">
              <a:spcBef>
                <a:spcPct val="50000"/>
              </a:spcBef>
            </a:pPr>
            <a:r>
              <a:rPr lang="en-US" altLang="zh-CN" sz="1400" b="1" dirty="0">
                <a:latin typeface="Times New Roman" panose="02020603050405020304" pitchFamily="18" charset="0"/>
                <a:ea typeface="SimSun" panose="02010600030101010101" pitchFamily="2" charset="-122"/>
              </a:rPr>
              <a:t>Partition the Graph</a:t>
            </a:r>
            <a:endParaRPr lang="en-US" altLang="zh-CN" sz="1400" b="1" dirty="0">
              <a:latin typeface="Times New Roman" panose="02020603050405020304" pitchFamily="18" charset="0"/>
              <a:ea typeface="SimSun" panose="02010600030101010101" pitchFamily="2" charset="-122"/>
            </a:endParaRPr>
          </a:p>
        </p:txBody>
      </p:sp>
      <p:sp>
        <p:nvSpPr>
          <p:cNvPr id="126169" name="Line 216"/>
          <p:cNvSpPr/>
          <p:nvPr/>
        </p:nvSpPr>
        <p:spPr>
          <a:xfrm flipV="1">
            <a:off x="7097713" y="2270125"/>
            <a:ext cx="228600" cy="76200"/>
          </a:xfrm>
          <a:prstGeom prst="line">
            <a:avLst/>
          </a:prstGeom>
          <a:ln w="9525" cap="flat" cmpd="sng">
            <a:solidFill>
              <a:srgbClr val="FF0000"/>
            </a:solidFill>
            <a:prstDash val="solid"/>
            <a:round/>
            <a:headEnd type="none" w="med" len="med"/>
            <a:tailEnd type="none" w="med" len="med"/>
          </a:ln>
        </p:spPr>
      </p:sp>
      <p:sp>
        <p:nvSpPr>
          <p:cNvPr id="126170" name="Line 217"/>
          <p:cNvSpPr/>
          <p:nvPr/>
        </p:nvSpPr>
        <p:spPr>
          <a:xfrm>
            <a:off x="7097713" y="2346325"/>
            <a:ext cx="228600" cy="152400"/>
          </a:xfrm>
          <a:prstGeom prst="line">
            <a:avLst/>
          </a:prstGeom>
          <a:ln w="9525" cap="flat" cmpd="sng">
            <a:solidFill>
              <a:srgbClr val="FF0000"/>
            </a:solidFill>
            <a:prstDash val="solid"/>
            <a:round/>
            <a:headEnd type="none" w="med" len="med"/>
            <a:tailEnd type="none" w="med" len="med"/>
          </a:ln>
        </p:spPr>
      </p:sp>
      <p:sp>
        <p:nvSpPr>
          <p:cNvPr id="126171" name="Text Box 218"/>
          <p:cNvSpPr txBox="1"/>
          <p:nvPr/>
        </p:nvSpPr>
        <p:spPr>
          <a:xfrm>
            <a:off x="7086600" y="4267200"/>
            <a:ext cx="1752600" cy="304800"/>
          </a:xfrm>
          <a:prstGeom prst="rect">
            <a:avLst/>
          </a:prstGeom>
          <a:noFill/>
          <a:ln w="9525">
            <a:noFill/>
          </a:ln>
        </p:spPr>
        <p:txBody>
          <a:bodyPr anchor="t" anchorCtr="0">
            <a:spAutoFit/>
          </a:bodyPr>
          <a:p>
            <a:pPr eaLnBrk="0" hangingPunct="0">
              <a:spcBef>
                <a:spcPct val="50000"/>
              </a:spcBef>
            </a:pPr>
            <a:r>
              <a:rPr lang="en-US" altLang="zh-CN" sz="1400" b="1" dirty="0">
                <a:latin typeface="Times New Roman" panose="02020603050405020304" pitchFamily="18" charset="0"/>
                <a:ea typeface="SimSun" panose="02010600030101010101" pitchFamily="2" charset="-122"/>
              </a:rPr>
              <a:t>Merge Partition</a:t>
            </a:r>
            <a:endParaRPr lang="en-US" altLang="zh-CN" sz="1400" b="1" dirty="0">
              <a:latin typeface="Times New Roman" panose="02020603050405020304" pitchFamily="18" charset="0"/>
              <a:ea typeface="SimSun" panose="02010600030101010101" pitchFamily="2" charset="-122"/>
            </a:endParaRPr>
          </a:p>
        </p:txBody>
      </p:sp>
      <p:sp>
        <p:nvSpPr>
          <p:cNvPr id="126172" name="Line 219"/>
          <p:cNvSpPr/>
          <p:nvPr/>
        </p:nvSpPr>
        <p:spPr>
          <a:xfrm>
            <a:off x="8229600" y="2438400"/>
            <a:ext cx="533400" cy="0"/>
          </a:xfrm>
          <a:prstGeom prst="line">
            <a:avLst/>
          </a:prstGeom>
          <a:ln w="9525" cap="flat" cmpd="sng">
            <a:solidFill>
              <a:schemeClr val="tx1"/>
            </a:solidFill>
            <a:prstDash val="solid"/>
            <a:round/>
            <a:headEnd type="none" w="med" len="med"/>
            <a:tailEnd type="triangle" w="med" len="med"/>
          </a:ln>
        </p:spPr>
      </p:sp>
      <p:sp>
        <p:nvSpPr>
          <p:cNvPr id="126173" name="Line 220"/>
          <p:cNvSpPr/>
          <p:nvPr/>
        </p:nvSpPr>
        <p:spPr>
          <a:xfrm>
            <a:off x="8763000" y="2438400"/>
            <a:ext cx="0" cy="2286000"/>
          </a:xfrm>
          <a:prstGeom prst="line">
            <a:avLst/>
          </a:prstGeom>
          <a:ln w="9525" cap="flat" cmpd="sng">
            <a:solidFill>
              <a:schemeClr val="tx1"/>
            </a:solidFill>
            <a:prstDash val="solid"/>
            <a:round/>
            <a:headEnd type="none" w="med" len="med"/>
            <a:tailEnd type="triangle" w="med" len="med"/>
          </a:ln>
        </p:spPr>
      </p:sp>
      <p:sp>
        <p:nvSpPr>
          <p:cNvPr id="126174" name="Line 221"/>
          <p:cNvSpPr/>
          <p:nvPr/>
        </p:nvSpPr>
        <p:spPr>
          <a:xfrm flipH="1">
            <a:off x="6781800" y="4648200"/>
            <a:ext cx="1981200" cy="0"/>
          </a:xfrm>
          <a:prstGeom prst="line">
            <a:avLst/>
          </a:prstGeom>
          <a:ln w="9525" cap="flat" cmpd="sng">
            <a:solidFill>
              <a:schemeClr val="tx1"/>
            </a:solidFill>
            <a:prstDash val="solid"/>
            <a:round/>
            <a:headEnd type="none" w="med" len="med"/>
            <a:tailEnd type="triangle" w="med" len="med"/>
          </a:ln>
        </p:spPr>
      </p:sp>
      <p:sp>
        <p:nvSpPr>
          <p:cNvPr id="126175" name="Text Box 222"/>
          <p:cNvSpPr txBox="1"/>
          <p:nvPr/>
        </p:nvSpPr>
        <p:spPr>
          <a:xfrm>
            <a:off x="2209800" y="4800600"/>
            <a:ext cx="1752600" cy="304800"/>
          </a:xfrm>
          <a:prstGeom prst="rect">
            <a:avLst/>
          </a:prstGeom>
          <a:noFill/>
          <a:ln w="9525">
            <a:noFill/>
          </a:ln>
        </p:spPr>
        <p:txBody>
          <a:bodyPr anchor="t" anchorCtr="0">
            <a:spAutoFit/>
          </a:bodyPr>
          <a:p>
            <a:pPr eaLnBrk="0" hangingPunct="0">
              <a:spcBef>
                <a:spcPct val="50000"/>
              </a:spcBef>
            </a:pPr>
            <a:r>
              <a:rPr lang="en-US" altLang="zh-CN" sz="1400" b="1" dirty="0">
                <a:latin typeface="Times New Roman" panose="02020603050405020304" pitchFamily="18" charset="0"/>
                <a:ea typeface="SimSun" panose="02010600030101010101" pitchFamily="2" charset="-122"/>
              </a:rPr>
              <a:t>Final Clusters</a:t>
            </a:r>
            <a:endParaRPr lang="en-US" altLang="zh-CN" sz="1400" b="1" dirty="0">
              <a:latin typeface="Times New Roman" panose="02020603050405020304" pitchFamily="18" charset="0"/>
              <a:ea typeface="SimSun" panose="02010600030101010101" pitchFamily="2" charset="-122"/>
            </a:endParaRPr>
          </a:p>
        </p:txBody>
      </p:sp>
      <p:sp>
        <p:nvSpPr>
          <p:cNvPr id="126176" name="Line 223"/>
          <p:cNvSpPr/>
          <p:nvPr/>
        </p:nvSpPr>
        <p:spPr>
          <a:xfrm>
            <a:off x="2667000" y="1752600"/>
            <a:ext cx="0" cy="381000"/>
          </a:xfrm>
          <a:prstGeom prst="line">
            <a:avLst/>
          </a:prstGeom>
          <a:ln w="9525" cap="flat" cmpd="sng">
            <a:solidFill>
              <a:schemeClr val="tx1"/>
            </a:solidFill>
            <a:prstDash val="solid"/>
            <a:round/>
            <a:headEnd type="none" w="med" len="med"/>
            <a:tailEnd type="none" w="med" len="med"/>
          </a:ln>
        </p:spPr>
      </p:sp>
      <p:sp>
        <p:nvSpPr>
          <p:cNvPr id="126177" name="Text Box 224"/>
          <p:cNvSpPr txBox="1"/>
          <p:nvPr/>
        </p:nvSpPr>
        <p:spPr>
          <a:xfrm>
            <a:off x="76200" y="3048000"/>
            <a:ext cx="1752600" cy="304800"/>
          </a:xfrm>
          <a:prstGeom prst="rect">
            <a:avLst/>
          </a:prstGeom>
          <a:noFill/>
          <a:ln w="9525">
            <a:noFill/>
          </a:ln>
        </p:spPr>
        <p:txBody>
          <a:bodyPr anchor="t" anchorCtr="0">
            <a:spAutoFit/>
          </a:bodyPr>
          <a:p>
            <a:pPr eaLnBrk="0" hangingPunct="0">
              <a:spcBef>
                <a:spcPct val="50000"/>
              </a:spcBef>
            </a:pPr>
            <a:r>
              <a:rPr lang="en-US" altLang="zh-CN" sz="1400" b="1" dirty="0">
                <a:latin typeface="Times New Roman" panose="02020603050405020304" pitchFamily="18" charset="0"/>
                <a:ea typeface="SimSun" panose="02010600030101010101" pitchFamily="2" charset="-122"/>
              </a:rPr>
              <a:t>Data Set</a:t>
            </a:r>
            <a:endParaRPr lang="en-US" altLang="zh-CN" sz="1400" b="1" dirty="0">
              <a:latin typeface="Times New Roman" panose="02020603050405020304" pitchFamily="18" charset="0"/>
              <a:ea typeface="SimSun" panose="02010600030101010101" pitchFamily="2" charset="-122"/>
            </a:endParaRPr>
          </a:p>
        </p:txBody>
      </p:sp>
      <p:sp>
        <p:nvSpPr>
          <p:cNvPr id="126178" name="Line 225"/>
          <p:cNvSpPr/>
          <p:nvPr/>
        </p:nvSpPr>
        <p:spPr>
          <a:xfrm>
            <a:off x="2514600" y="1981200"/>
            <a:ext cx="152400" cy="152400"/>
          </a:xfrm>
          <a:prstGeom prst="line">
            <a:avLst/>
          </a:prstGeom>
          <a:ln w="9525" cap="flat" cmpd="sng">
            <a:solidFill>
              <a:schemeClr val="tx1"/>
            </a:solidFill>
            <a:prstDash val="solid"/>
            <a:round/>
            <a:headEnd type="none" w="med" len="med"/>
            <a:tailEnd type="none" w="med" len="med"/>
          </a:ln>
        </p:spPr>
      </p:sp>
      <p:sp>
        <p:nvSpPr>
          <p:cNvPr id="126179" name="Line 226"/>
          <p:cNvSpPr/>
          <p:nvPr/>
        </p:nvSpPr>
        <p:spPr>
          <a:xfrm flipH="1">
            <a:off x="2590800" y="2133600"/>
            <a:ext cx="76200" cy="457200"/>
          </a:xfrm>
          <a:prstGeom prst="line">
            <a:avLst/>
          </a:prstGeom>
          <a:ln w="9525" cap="flat" cmpd="sng">
            <a:solidFill>
              <a:schemeClr val="tx1"/>
            </a:solidFill>
            <a:prstDash val="solid"/>
            <a:round/>
            <a:headEnd type="none" w="med" len="med"/>
            <a:tailEnd type="none" w="med" len="med"/>
          </a:ln>
        </p:spPr>
      </p:sp>
      <p:sp>
        <p:nvSpPr>
          <p:cNvPr id="126180" name="Line 227"/>
          <p:cNvSpPr/>
          <p:nvPr/>
        </p:nvSpPr>
        <p:spPr>
          <a:xfrm>
            <a:off x="2667000" y="2057400"/>
            <a:ext cx="304800" cy="762000"/>
          </a:xfrm>
          <a:prstGeom prst="line">
            <a:avLst/>
          </a:prstGeom>
          <a:ln w="9525" cap="flat" cmpd="sng">
            <a:solidFill>
              <a:schemeClr val="tx1"/>
            </a:solidFill>
            <a:prstDash val="solid"/>
            <a:round/>
            <a:headEnd type="none" w="med" len="med"/>
            <a:tailEnd type="none" w="med" len="med"/>
          </a:ln>
        </p:spPr>
      </p:sp>
      <p:sp>
        <p:nvSpPr>
          <p:cNvPr id="126181" name="Line 228"/>
          <p:cNvSpPr/>
          <p:nvPr/>
        </p:nvSpPr>
        <p:spPr>
          <a:xfrm>
            <a:off x="2971800" y="2819400"/>
            <a:ext cx="76200" cy="304800"/>
          </a:xfrm>
          <a:prstGeom prst="line">
            <a:avLst/>
          </a:prstGeom>
          <a:ln w="9525" cap="flat" cmpd="sng">
            <a:solidFill>
              <a:schemeClr val="tx1"/>
            </a:solidFill>
            <a:prstDash val="solid"/>
            <a:round/>
            <a:headEnd type="none" w="med" len="med"/>
            <a:tailEnd type="none" w="med" len="med"/>
          </a:ln>
        </p:spPr>
      </p:sp>
      <p:sp>
        <p:nvSpPr>
          <p:cNvPr id="126182" name="Line 229"/>
          <p:cNvSpPr/>
          <p:nvPr/>
        </p:nvSpPr>
        <p:spPr>
          <a:xfrm>
            <a:off x="3657600" y="2514600"/>
            <a:ext cx="152400" cy="152400"/>
          </a:xfrm>
          <a:prstGeom prst="line">
            <a:avLst/>
          </a:prstGeom>
          <a:ln w="9525" cap="flat" cmpd="sng">
            <a:solidFill>
              <a:schemeClr val="tx1"/>
            </a:solidFill>
            <a:prstDash val="solid"/>
            <a:round/>
            <a:headEnd type="none" w="med" len="med"/>
            <a:tailEnd type="none" w="med" len="med"/>
          </a:ln>
        </p:spPr>
      </p:sp>
      <p:sp>
        <p:nvSpPr>
          <p:cNvPr id="126183" name="Line 230"/>
          <p:cNvSpPr/>
          <p:nvPr/>
        </p:nvSpPr>
        <p:spPr>
          <a:xfrm flipH="1">
            <a:off x="3810000" y="2438400"/>
            <a:ext cx="76200" cy="228600"/>
          </a:xfrm>
          <a:prstGeom prst="line">
            <a:avLst/>
          </a:prstGeom>
          <a:ln w="9525" cap="flat" cmpd="sng">
            <a:solidFill>
              <a:schemeClr val="tx1"/>
            </a:solidFill>
            <a:prstDash val="solid"/>
            <a:round/>
            <a:headEnd type="none" w="med" len="med"/>
            <a:tailEnd type="none" w="med" len="med"/>
          </a:ln>
        </p:spPr>
      </p:sp>
      <p:sp>
        <p:nvSpPr>
          <p:cNvPr id="126184" name="Line 231"/>
          <p:cNvSpPr/>
          <p:nvPr/>
        </p:nvSpPr>
        <p:spPr>
          <a:xfrm>
            <a:off x="3810000" y="2667000"/>
            <a:ext cx="152400" cy="76200"/>
          </a:xfrm>
          <a:prstGeom prst="line">
            <a:avLst/>
          </a:prstGeom>
          <a:ln w="9525" cap="flat" cmpd="sng">
            <a:solidFill>
              <a:schemeClr val="tx1"/>
            </a:solidFill>
            <a:prstDash val="solid"/>
            <a:round/>
            <a:headEnd type="none" w="med" len="med"/>
            <a:tailEnd type="none" w="med" len="med"/>
          </a:ln>
        </p:spPr>
      </p:sp>
      <p:sp>
        <p:nvSpPr>
          <p:cNvPr id="126185" name="Line 232"/>
          <p:cNvSpPr/>
          <p:nvPr/>
        </p:nvSpPr>
        <p:spPr>
          <a:xfrm>
            <a:off x="3886200" y="2438400"/>
            <a:ext cx="76200" cy="304800"/>
          </a:xfrm>
          <a:prstGeom prst="line">
            <a:avLst/>
          </a:prstGeom>
          <a:ln w="9525" cap="flat" cmpd="sng">
            <a:solidFill>
              <a:schemeClr val="tx1"/>
            </a:solidFill>
            <a:prstDash val="solid"/>
            <a:round/>
            <a:headEnd type="none" w="med" len="med"/>
            <a:tailEnd type="none" w="med" len="med"/>
          </a:ln>
        </p:spPr>
      </p:sp>
      <p:sp>
        <p:nvSpPr>
          <p:cNvPr id="126186" name="Line 233"/>
          <p:cNvSpPr/>
          <p:nvPr/>
        </p:nvSpPr>
        <p:spPr>
          <a:xfrm flipV="1">
            <a:off x="3886200" y="2743200"/>
            <a:ext cx="152400" cy="76200"/>
          </a:xfrm>
          <a:prstGeom prst="line">
            <a:avLst/>
          </a:prstGeom>
          <a:ln w="9525" cap="flat" cmpd="sng">
            <a:solidFill>
              <a:schemeClr val="tx1"/>
            </a:solidFill>
            <a:prstDash val="solid"/>
            <a:round/>
            <a:headEnd type="none" w="med" len="med"/>
            <a:tailEnd type="none" w="med" len="med"/>
          </a:ln>
        </p:spPr>
      </p:sp>
      <p:sp>
        <p:nvSpPr>
          <p:cNvPr id="126187" name="Line 234"/>
          <p:cNvSpPr/>
          <p:nvPr/>
        </p:nvSpPr>
        <p:spPr>
          <a:xfrm flipH="1">
            <a:off x="3733800" y="2819400"/>
            <a:ext cx="152400" cy="457200"/>
          </a:xfrm>
          <a:prstGeom prst="line">
            <a:avLst/>
          </a:prstGeom>
          <a:ln w="9525" cap="flat" cmpd="sng">
            <a:solidFill>
              <a:schemeClr val="tx1"/>
            </a:solidFill>
            <a:prstDash val="solid"/>
            <a:round/>
            <a:headEnd type="none" w="med" len="med"/>
            <a:tailEnd type="none" w="med" len="med"/>
          </a:ln>
        </p:spPr>
      </p:sp>
      <p:sp>
        <p:nvSpPr>
          <p:cNvPr id="126188" name="Line 235"/>
          <p:cNvSpPr/>
          <p:nvPr/>
        </p:nvSpPr>
        <p:spPr>
          <a:xfrm flipH="1">
            <a:off x="3581400" y="3276600"/>
            <a:ext cx="152400" cy="152400"/>
          </a:xfrm>
          <a:prstGeom prst="line">
            <a:avLst/>
          </a:prstGeom>
          <a:ln w="9525" cap="flat" cmpd="sng">
            <a:solidFill>
              <a:schemeClr val="tx1"/>
            </a:solidFill>
            <a:prstDash val="solid"/>
            <a:round/>
            <a:headEnd type="none" w="med" len="med"/>
            <a:tailEnd type="none" w="med" len="med"/>
          </a:ln>
        </p:spPr>
      </p:sp>
      <p:sp>
        <p:nvSpPr>
          <p:cNvPr id="126189" name="Line 236"/>
          <p:cNvSpPr/>
          <p:nvPr/>
        </p:nvSpPr>
        <p:spPr>
          <a:xfrm>
            <a:off x="3733800" y="3276600"/>
            <a:ext cx="76200" cy="228600"/>
          </a:xfrm>
          <a:prstGeom prst="line">
            <a:avLst/>
          </a:prstGeom>
          <a:ln w="9525" cap="flat" cmpd="sng">
            <a:solidFill>
              <a:schemeClr val="tx1"/>
            </a:solidFill>
            <a:prstDash val="solid"/>
            <a:round/>
            <a:headEnd type="none" w="med" len="med"/>
            <a:tailEnd type="none" w="med" len="med"/>
          </a:ln>
        </p:spPr>
      </p:sp>
      <p:sp>
        <p:nvSpPr>
          <p:cNvPr id="126190" name="Line 237"/>
          <p:cNvSpPr/>
          <p:nvPr/>
        </p:nvSpPr>
        <p:spPr>
          <a:xfrm flipH="1">
            <a:off x="3581400" y="3810000"/>
            <a:ext cx="76200" cy="152400"/>
          </a:xfrm>
          <a:prstGeom prst="line">
            <a:avLst/>
          </a:prstGeom>
          <a:ln w="9525" cap="flat" cmpd="sng">
            <a:solidFill>
              <a:schemeClr val="tx1"/>
            </a:solidFill>
            <a:prstDash val="solid"/>
            <a:round/>
            <a:headEnd type="none" w="med" len="med"/>
            <a:tailEnd type="none" w="med" len="med"/>
          </a:ln>
        </p:spPr>
      </p:sp>
      <p:sp>
        <p:nvSpPr>
          <p:cNvPr id="126191" name="Line 238"/>
          <p:cNvSpPr/>
          <p:nvPr/>
        </p:nvSpPr>
        <p:spPr>
          <a:xfrm>
            <a:off x="3505200" y="3810000"/>
            <a:ext cx="76200" cy="152400"/>
          </a:xfrm>
          <a:prstGeom prst="line">
            <a:avLst/>
          </a:prstGeom>
          <a:ln w="9525" cap="flat" cmpd="sng">
            <a:solidFill>
              <a:schemeClr val="tx1"/>
            </a:solidFill>
            <a:prstDash val="solid"/>
            <a:round/>
            <a:headEnd type="none" w="med" len="med"/>
            <a:tailEnd type="none" w="med" len="med"/>
          </a:ln>
        </p:spPr>
      </p:sp>
      <p:sp>
        <p:nvSpPr>
          <p:cNvPr id="126192" name="Line 239"/>
          <p:cNvSpPr/>
          <p:nvPr/>
        </p:nvSpPr>
        <p:spPr>
          <a:xfrm>
            <a:off x="7467600" y="1600200"/>
            <a:ext cx="0" cy="228600"/>
          </a:xfrm>
          <a:prstGeom prst="line">
            <a:avLst/>
          </a:prstGeom>
          <a:ln w="9525" cap="flat" cmpd="sng">
            <a:solidFill>
              <a:srgbClr val="FFFF00"/>
            </a:solidFill>
            <a:prstDash val="solid"/>
            <a:round/>
            <a:headEnd type="none" w="med" len="med"/>
            <a:tailEnd type="none" w="med" len="med"/>
          </a:ln>
        </p:spPr>
      </p:sp>
      <p:sp>
        <p:nvSpPr>
          <p:cNvPr id="126193" name="Line 240"/>
          <p:cNvSpPr/>
          <p:nvPr/>
        </p:nvSpPr>
        <p:spPr>
          <a:xfrm flipV="1">
            <a:off x="7315200" y="2286000"/>
            <a:ext cx="0" cy="228600"/>
          </a:xfrm>
          <a:prstGeom prst="line">
            <a:avLst/>
          </a:prstGeom>
          <a:ln w="9525" cap="flat" cmpd="sng">
            <a:solidFill>
              <a:srgbClr val="FF0000"/>
            </a:solidFill>
            <a:prstDash val="solid"/>
            <a:round/>
            <a:headEnd type="none" w="med" len="med"/>
            <a:tailEnd type="none" w="med" len="med"/>
          </a:ln>
        </p:spPr>
      </p:sp>
      <p:sp>
        <p:nvSpPr>
          <p:cNvPr id="126194" name="Line 241"/>
          <p:cNvSpPr/>
          <p:nvPr/>
        </p:nvSpPr>
        <p:spPr>
          <a:xfrm>
            <a:off x="7315200" y="2286000"/>
            <a:ext cx="76200" cy="228600"/>
          </a:xfrm>
          <a:prstGeom prst="line">
            <a:avLst/>
          </a:prstGeom>
          <a:ln w="9525" cap="flat" cmpd="sng">
            <a:solidFill>
              <a:srgbClr val="FF0000"/>
            </a:solidFill>
            <a:prstDash val="solid"/>
            <a:round/>
            <a:headEnd type="none" w="med" len="med"/>
            <a:tailEnd type="none" w="med" len="med"/>
          </a:ln>
        </p:spPr>
      </p:sp>
      <p:sp>
        <p:nvSpPr>
          <p:cNvPr id="126195" name="Line 242"/>
          <p:cNvSpPr/>
          <p:nvPr/>
        </p:nvSpPr>
        <p:spPr>
          <a:xfrm flipV="1">
            <a:off x="7848600" y="2133600"/>
            <a:ext cx="152400" cy="228600"/>
          </a:xfrm>
          <a:prstGeom prst="line">
            <a:avLst/>
          </a:prstGeom>
          <a:ln w="9525" cap="flat" cmpd="sng">
            <a:solidFill>
              <a:schemeClr val="tx1"/>
            </a:solidFill>
            <a:prstDash val="solid"/>
            <a:round/>
            <a:headEnd type="none" w="med" len="med"/>
            <a:tailEnd type="none" w="med" len="med"/>
          </a:ln>
        </p:spPr>
      </p:sp>
      <p:sp>
        <p:nvSpPr>
          <p:cNvPr id="126196" name="Line 243"/>
          <p:cNvSpPr/>
          <p:nvPr/>
        </p:nvSpPr>
        <p:spPr>
          <a:xfrm>
            <a:off x="7086600" y="2971800"/>
            <a:ext cx="76200" cy="381000"/>
          </a:xfrm>
          <a:prstGeom prst="line">
            <a:avLst/>
          </a:prstGeom>
          <a:ln w="9525" cap="flat" cmpd="sng">
            <a:solidFill>
              <a:schemeClr val="tx1"/>
            </a:solidFill>
            <a:prstDash val="solid"/>
            <a:round/>
            <a:headEnd type="none" w="med" len="med"/>
            <a:tailEnd type="none" w="med" len="med"/>
          </a:ln>
        </p:spPr>
      </p:sp>
      <p:sp>
        <p:nvSpPr>
          <p:cNvPr id="126197" name="Line 244"/>
          <p:cNvSpPr/>
          <p:nvPr/>
        </p:nvSpPr>
        <p:spPr>
          <a:xfrm flipH="1">
            <a:off x="7620000" y="2971800"/>
            <a:ext cx="76200" cy="228600"/>
          </a:xfrm>
          <a:prstGeom prst="line">
            <a:avLst/>
          </a:prstGeom>
          <a:ln w="9525" cap="flat" cmpd="sng">
            <a:solidFill>
              <a:srgbClr val="99CC00"/>
            </a:solidFill>
            <a:prstDash val="solid"/>
            <a:round/>
            <a:headEnd type="none" w="med" len="med"/>
            <a:tailEnd type="none" w="med" len="med"/>
          </a:ln>
        </p:spPr>
      </p:sp>
      <p:sp>
        <p:nvSpPr>
          <p:cNvPr id="126198" name="Line 245"/>
          <p:cNvSpPr/>
          <p:nvPr/>
        </p:nvSpPr>
        <p:spPr>
          <a:xfrm>
            <a:off x="7620000" y="3200400"/>
            <a:ext cx="228600" cy="0"/>
          </a:xfrm>
          <a:prstGeom prst="line">
            <a:avLst/>
          </a:prstGeom>
          <a:ln w="9525" cap="flat" cmpd="sng">
            <a:solidFill>
              <a:srgbClr val="99CC00"/>
            </a:solidFill>
            <a:prstDash val="solid"/>
            <a:round/>
            <a:headEnd type="none" w="med" len="med"/>
            <a:tailEnd type="none" w="med" len="med"/>
          </a:ln>
        </p:spPr>
      </p:sp>
      <p:sp>
        <p:nvSpPr>
          <p:cNvPr id="126199" name="Line 246"/>
          <p:cNvSpPr/>
          <p:nvPr/>
        </p:nvSpPr>
        <p:spPr>
          <a:xfrm>
            <a:off x="7696200" y="2971800"/>
            <a:ext cx="152400" cy="228600"/>
          </a:xfrm>
          <a:prstGeom prst="line">
            <a:avLst/>
          </a:prstGeom>
          <a:ln w="9525" cap="flat" cmpd="sng">
            <a:solidFill>
              <a:srgbClr val="99CC00"/>
            </a:solidFill>
            <a:prstDash val="solid"/>
            <a:round/>
            <a:headEnd type="none" w="med" len="med"/>
            <a:tailEnd type="none" w="med" len="med"/>
          </a:ln>
        </p:spPr>
      </p:sp>
      <p:sp>
        <p:nvSpPr>
          <p:cNvPr id="126200" name="Line 247"/>
          <p:cNvSpPr/>
          <p:nvPr/>
        </p:nvSpPr>
        <p:spPr>
          <a:xfrm>
            <a:off x="7543800" y="3505200"/>
            <a:ext cx="152400" cy="0"/>
          </a:xfrm>
          <a:prstGeom prst="line">
            <a:avLst/>
          </a:prstGeom>
          <a:ln w="9525" cap="flat" cmpd="sng">
            <a:solidFill>
              <a:srgbClr val="FF9900"/>
            </a:solidFill>
            <a:prstDash val="solid"/>
            <a:round/>
            <a:headEnd type="none" w="med" len="med"/>
            <a:tailEnd type="none" w="med" len="med"/>
          </a:ln>
        </p:spPr>
      </p:sp>
      <p:sp>
        <p:nvSpPr>
          <p:cNvPr id="126201" name="Line 248"/>
          <p:cNvSpPr/>
          <p:nvPr/>
        </p:nvSpPr>
        <p:spPr>
          <a:xfrm>
            <a:off x="7467600" y="3657600"/>
            <a:ext cx="152400" cy="0"/>
          </a:xfrm>
          <a:prstGeom prst="line">
            <a:avLst/>
          </a:prstGeom>
          <a:ln w="9525" cap="flat" cmpd="sng">
            <a:solidFill>
              <a:srgbClr val="FF9900"/>
            </a:solidFill>
            <a:prstDash val="solid"/>
            <a:round/>
            <a:headEnd type="none" w="med" len="med"/>
            <a:tailEnd type="none" w="med" len="med"/>
          </a:ln>
        </p:spPr>
      </p:sp>
      <p:sp>
        <p:nvSpPr>
          <p:cNvPr id="126202" name="Line 249"/>
          <p:cNvSpPr/>
          <p:nvPr/>
        </p:nvSpPr>
        <p:spPr>
          <a:xfrm flipV="1">
            <a:off x="7620000" y="3505200"/>
            <a:ext cx="76200" cy="152400"/>
          </a:xfrm>
          <a:prstGeom prst="line">
            <a:avLst/>
          </a:prstGeom>
          <a:ln w="9525" cap="flat" cmpd="sng">
            <a:solidFill>
              <a:srgbClr val="FF9900"/>
            </a:solidFill>
            <a:prstDash val="solid"/>
            <a:round/>
            <a:headEnd type="none" w="med" len="med"/>
            <a:tailEnd type="none" w="med" len="med"/>
          </a:ln>
        </p:spPr>
      </p:sp>
      <p:sp>
        <p:nvSpPr>
          <p:cNvPr id="126203" name="Line 250"/>
          <p:cNvSpPr/>
          <p:nvPr/>
        </p:nvSpPr>
        <p:spPr>
          <a:xfrm>
            <a:off x="6248400" y="4114800"/>
            <a:ext cx="0" cy="228600"/>
          </a:xfrm>
          <a:prstGeom prst="line">
            <a:avLst/>
          </a:prstGeom>
          <a:ln w="9525" cap="flat" cmpd="sng">
            <a:solidFill>
              <a:schemeClr val="tx2"/>
            </a:solidFill>
            <a:prstDash val="solid"/>
            <a:round/>
            <a:headEnd type="none" w="med" len="med"/>
            <a:tailEnd type="none" w="med" len="med"/>
          </a:ln>
        </p:spPr>
      </p:sp>
      <p:sp>
        <p:nvSpPr>
          <p:cNvPr id="126204" name="Line 251"/>
          <p:cNvSpPr/>
          <p:nvPr/>
        </p:nvSpPr>
        <p:spPr>
          <a:xfrm flipV="1">
            <a:off x="5715000" y="4800600"/>
            <a:ext cx="152400" cy="76200"/>
          </a:xfrm>
          <a:prstGeom prst="line">
            <a:avLst/>
          </a:prstGeom>
          <a:ln w="9525" cap="flat" cmpd="sng">
            <a:solidFill>
              <a:schemeClr val="tx2"/>
            </a:solidFill>
            <a:prstDash val="solid"/>
            <a:round/>
            <a:headEnd type="none" w="med" len="med"/>
            <a:tailEnd type="none" w="med" len="med"/>
          </a:ln>
        </p:spPr>
      </p:sp>
      <p:sp>
        <p:nvSpPr>
          <p:cNvPr id="126205" name="Line 252"/>
          <p:cNvSpPr/>
          <p:nvPr/>
        </p:nvSpPr>
        <p:spPr>
          <a:xfrm>
            <a:off x="5791200" y="5029200"/>
            <a:ext cx="152400" cy="76200"/>
          </a:xfrm>
          <a:prstGeom prst="line">
            <a:avLst/>
          </a:prstGeom>
          <a:ln w="9525" cap="flat" cmpd="sng">
            <a:solidFill>
              <a:schemeClr val="tx2"/>
            </a:solidFill>
            <a:prstDash val="solid"/>
            <a:round/>
            <a:headEnd type="none" w="med" len="med"/>
            <a:tailEnd type="none" w="med" len="med"/>
          </a:ln>
        </p:spPr>
      </p:sp>
      <p:sp>
        <p:nvSpPr>
          <p:cNvPr id="126206" name="Line 253"/>
          <p:cNvSpPr/>
          <p:nvPr/>
        </p:nvSpPr>
        <p:spPr>
          <a:xfrm>
            <a:off x="5638800" y="4876800"/>
            <a:ext cx="152400" cy="152400"/>
          </a:xfrm>
          <a:prstGeom prst="line">
            <a:avLst/>
          </a:prstGeom>
          <a:ln w="9525" cap="flat" cmpd="sng">
            <a:solidFill>
              <a:schemeClr val="tx2"/>
            </a:solidFill>
            <a:prstDash val="solid"/>
            <a:round/>
            <a:headEnd type="none" w="med" len="med"/>
            <a:tailEnd type="none" w="med" len="med"/>
          </a:ln>
        </p:spPr>
      </p:sp>
      <p:sp>
        <p:nvSpPr>
          <p:cNvPr id="126207" name="Line 254"/>
          <p:cNvSpPr/>
          <p:nvPr/>
        </p:nvSpPr>
        <p:spPr>
          <a:xfrm flipV="1">
            <a:off x="5791200" y="4876800"/>
            <a:ext cx="76200" cy="152400"/>
          </a:xfrm>
          <a:prstGeom prst="line">
            <a:avLst/>
          </a:prstGeom>
          <a:ln w="9525" cap="flat" cmpd="sng">
            <a:solidFill>
              <a:schemeClr val="tx2"/>
            </a:solidFill>
            <a:prstDash val="solid"/>
            <a:round/>
            <a:headEnd type="none" w="med" len="med"/>
            <a:tailEnd type="none" w="med" len="med"/>
          </a:ln>
        </p:spPr>
      </p:sp>
      <p:sp>
        <p:nvSpPr>
          <p:cNvPr id="126208" name="Line 255"/>
          <p:cNvSpPr/>
          <p:nvPr/>
        </p:nvSpPr>
        <p:spPr>
          <a:xfrm flipV="1">
            <a:off x="5029200" y="5257800"/>
            <a:ext cx="0" cy="228600"/>
          </a:xfrm>
          <a:prstGeom prst="line">
            <a:avLst/>
          </a:prstGeom>
          <a:ln w="9525" cap="flat" cmpd="sng">
            <a:solidFill>
              <a:srgbClr val="FF0000"/>
            </a:solidFill>
            <a:prstDash val="solid"/>
            <a:round/>
            <a:headEnd type="none" w="med" len="med"/>
            <a:tailEnd type="none" w="med" len="med"/>
          </a:ln>
        </p:spPr>
      </p:sp>
      <p:sp>
        <p:nvSpPr>
          <p:cNvPr id="126209" name="Line 256"/>
          <p:cNvSpPr/>
          <p:nvPr/>
        </p:nvSpPr>
        <p:spPr>
          <a:xfrm flipH="1" flipV="1">
            <a:off x="7543800" y="3505200"/>
            <a:ext cx="76200" cy="152400"/>
          </a:xfrm>
          <a:prstGeom prst="line">
            <a:avLst/>
          </a:prstGeom>
          <a:ln w="9525" cap="flat" cmpd="sng">
            <a:solidFill>
              <a:srgbClr val="FF9900"/>
            </a:solidFill>
            <a:prstDash val="solid"/>
            <a:round/>
            <a:headEnd type="none" w="med" len="med"/>
            <a:tailEnd type="none" w="med" len="med"/>
          </a:ln>
        </p:spPr>
      </p:sp>
      <p:sp>
        <p:nvSpPr>
          <p:cNvPr id="126210" name="Line 257"/>
          <p:cNvSpPr/>
          <p:nvPr/>
        </p:nvSpPr>
        <p:spPr>
          <a:xfrm flipV="1">
            <a:off x="6553200" y="4724400"/>
            <a:ext cx="152400" cy="228600"/>
          </a:xfrm>
          <a:prstGeom prst="line">
            <a:avLst/>
          </a:prstGeom>
          <a:ln w="9525" cap="flat" cmpd="sng">
            <a:solidFill>
              <a:schemeClr val="tx2"/>
            </a:solidFill>
            <a:prstDash val="solid"/>
            <a:round/>
            <a:headEnd type="none" w="med" len="med"/>
            <a:tailEnd type="none" w="med" len="med"/>
          </a:ln>
        </p:spPr>
      </p:sp>
      <p:sp>
        <p:nvSpPr>
          <p:cNvPr id="126211" name="Line 258"/>
          <p:cNvSpPr/>
          <p:nvPr/>
        </p:nvSpPr>
        <p:spPr>
          <a:xfrm flipH="1">
            <a:off x="5638800" y="5638800"/>
            <a:ext cx="76200" cy="228600"/>
          </a:xfrm>
          <a:prstGeom prst="line">
            <a:avLst/>
          </a:prstGeom>
          <a:ln w="9525" cap="flat" cmpd="sng">
            <a:solidFill>
              <a:srgbClr val="00FF00"/>
            </a:solidFill>
            <a:prstDash val="solid"/>
            <a:round/>
            <a:headEnd type="none" w="med" len="med"/>
            <a:tailEnd type="none" w="med" len="med"/>
          </a:ln>
        </p:spPr>
      </p:sp>
      <p:sp>
        <p:nvSpPr>
          <p:cNvPr id="126212" name="Line 259"/>
          <p:cNvSpPr/>
          <p:nvPr/>
        </p:nvSpPr>
        <p:spPr>
          <a:xfrm>
            <a:off x="5715000" y="5638800"/>
            <a:ext cx="152400" cy="228600"/>
          </a:xfrm>
          <a:prstGeom prst="line">
            <a:avLst/>
          </a:prstGeom>
          <a:ln w="9525" cap="flat" cmpd="sng">
            <a:solidFill>
              <a:srgbClr val="00FF00"/>
            </a:solidFill>
            <a:prstDash val="solid"/>
            <a:round/>
            <a:headEnd type="none" w="med" len="med"/>
            <a:tailEnd type="none" w="med" len="med"/>
          </a:ln>
        </p:spPr>
      </p:sp>
      <p:sp>
        <p:nvSpPr>
          <p:cNvPr id="126213" name="Line 260"/>
          <p:cNvSpPr/>
          <p:nvPr/>
        </p:nvSpPr>
        <p:spPr>
          <a:xfrm flipH="1">
            <a:off x="3733800" y="2438400"/>
            <a:ext cx="152400" cy="76200"/>
          </a:xfrm>
          <a:prstGeom prst="line">
            <a:avLst/>
          </a:prstGeom>
          <a:ln w="9525" cap="flat" cmpd="sng">
            <a:solidFill>
              <a:schemeClr val="tx1"/>
            </a:solidFill>
            <a:prstDash val="solid"/>
            <a:round/>
            <a:headEnd type="none" w="med" len="med"/>
            <a:tailEnd type="none" w="med" len="med"/>
          </a:ln>
        </p:spPr>
      </p:sp>
      <p:sp>
        <p:nvSpPr>
          <p:cNvPr id="126214" name="Line 261"/>
          <p:cNvSpPr/>
          <p:nvPr/>
        </p:nvSpPr>
        <p:spPr>
          <a:xfrm flipH="1">
            <a:off x="4572000" y="2362200"/>
            <a:ext cx="152400" cy="228600"/>
          </a:xfrm>
          <a:prstGeom prst="line">
            <a:avLst/>
          </a:prstGeom>
          <a:ln w="9525" cap="flat" cmpd="sng">
            <a:solidFill>
              <a:schemeClr val="tx1"/>
            </a:solidFill>
            <a:prstDash val="solid"/>
            <a:round/>
            <a:headEnd type="none" w="med" len="med"/>
            <a:tailEnd type="none" w="med" len="med"/>
          </a:ln>
        </p:spPr>
      </p:sp>
      <p:sp>
        <p:nvSpPr>
          <p:cNvPr id="126215" name="Line 262"/>
          <p:cNvSpPr/>
          <p:nvPr/>
        </p:nvSpPr>
        <p:spPr>
          <a:xfrm>
            <a:off x="3581400" y="3429000"/>
            <a:ext cx="228600" cy="76200"/>
          </a:xfrm>
          <a:prstGeom prst="line">
            <a:avLst/>
          </a:prstGeom>
          <a:ln w="9525" cap="flat" cmpd="sng">
            <a:solidFill>
              <a:schemeClr val="tx1"/>
            </a:solidFill>
            <a:prstDash val="solid"/>
            <a:round/>
            <a:headEnd type="none" w="med" len="med"/>
            <a:tailEnd type="none" w="med" len="med"/>
          </a:ln>
        </p:spPr>
      </p:sp>
      <p:sp>
        <p:nvSpPr>
          <p:cNvPr id="126216" name="Line 263"/>
          <p:cNvSpPr/>
          <p:nvPr/>
        </p:nvSpPr>
        <p:spPr>
          <a:xfrm>
            <a:off x="3429000" y="3962400"/>
            <a:ext cx="152400" cy="0"/>
          </a:xfrm>
          <a:prstGeom prst="line">
            <a:avLst/>
          </a:prstGeom>
          <a:ln w="9525" cap="flat" cmpd="sng">
            <a:solidFill>
              <a:schemeClr val="tx1"/>
            </a:solidFill>
            <a:prstDash val="solid"/>
            <a:round/>
            <a:headEnd type="none" w="med" len="med"/>
            <a:tailEnd type="none" w="med" len="med"/>
          </a:ln>
        </p:spPr>
      </p:sp>
      <p:sp>
        <p:nvSpPr>
          <p:cNvPr id="126217" name="Line 264"/>
          <p:cNvSpPr/>
          <p:nvPr/>
        </p:nvSpPr>
        <p:spPr>
          <a:xfrm flipV="1">
            <a:off x="4267200" y="1752600"/>
            <a:ext cx="0" cy="228600"/>
          </a:xfrm>
          <a:prstGeom prst="line">
            <a:avLst/>
          </a:prstGeom>
          <a:ln w="9525" cap="flat" cmpd="sng">
            <a:solidFill>
              <a:schemeClr val="tx1"/>
            </a:solidFill>
            <a:prstDash val="solid"/>
            <a:round/>
            <a:headEnd type="none" w="med" len="med"/>
            <a:tailEnd type="none" w="med" len="med"/>
          </a:ln>
        </p:spPr>
      </p:sp>
    </p:spTree>
  </p:cSld>
  <p:clrMapOvr>
    <a:masterClrMapping/>
  </p:clrMapOvr>
  <p:transition>
    <p:strips dir="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a:xfrm>
            <a:off x="1600200" y="3048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Chapter 8. </a:t>
            </a: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60419"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12697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698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2698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1026"/>
          <p:cNvSpPr>
            <a:spLocks noGrp="1" noChangeArrowheads="1"/>
          </p:cNvSpPr>
          <p:nvPr>
            <p:ph type="title"/>
          </p:nvPr>
        </p:nvSpPr>
        <p:spPr>
          <a:xfrm>
            <a:off x="1143000" y="852488"/>
            <a:ext cx="7226300" cy="387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rPr>
              <a:t>Density-Based Clustering Methods</a:t>
            </a:r>
            <a:endParaRPr kumimoji="0" lang="en-US" altLang="zh-CN" sz="30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endParaRPr>
          </a:p>
        </p:txBody>
      </p:sp>
      <p:sp>
        <p:nvSpPr>
          <p:cNvPr id="128002" name="Rectangle 1027"/>
          <p:cNvSpPr>
            <a:spLocks noGrp="1"/>
          </p:cNvSpPr>
          <p:nvPr>
            <p:ph sz="quarter" idx="1"/>
          </p:nvPr>
        </p:nvSpPr>
        <p:spPr>
          <a:xfrm>
            <a:off x="685800" y="1600200"/>
            <a:ext cx="8077200" cy="4953000"/>
          </a:xfrm>
          <a:ln/>
        </p:spPr>
        <p:txBody>
          <a:bodyPr vert="horz" wrap="square" lIns="91440" tIns="45720" rIns="91440" bIns="45720" anchor="t" anchorCtr="0"/>
          <a:p>
            <a:pPr eaLnBrk="1" hangingPunct="1">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Clustering based on density (local cluster criterion), such as density-connected points</a:t>
            </a:r>
            <a:endParaRPr lang="en-US" altLang="zh-CN" dirty="0">
              <a:ea typeface="SimSun" panose="02010600030101010101" pitchFamily="2" charset="-122"/>
            </a:endParaRPr>
          </a:p>
          <a:p>
            <a:pPr eaLnBrk="1" hangingPunct="1">
              <a:lnSpc>
                <a:spcPct val="50000"/>
              </a:lnSpc>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Major features:</a:t>
            </a:r>
            <a:endParaRPr lang="en-US" altLang="zh-CN" dirty="0">
              <a:ea typeface="SimSun" panose="02010600030101010101" pitchFamily="2" charset="-122"/>
            </a:endParaRPr>
          </a:p>
          <a:p>
            <a:pPr lvl="1" eaLnBrk="1" hangingPunct="1">
              <a:lnSpc>
                <a:spcPct val="5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Discover clusters of arbitrary shape</a:t>
            </a:r>
            <a:endParaRPr lang="en-US" altLang="zh-CN" dirty="0">
              <a:ea typeface="SimSun" panose="02010600030101010101" pitchFamily="2" charset="-122"/>
            </a:endParaRPr>
          </a:p>
          <a:p>
            <a:pPr lvl="1" eaLnBrk="1" hangingPunct="1">
              <a:lnSpc>
                <a:spcPct val="5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Handle noise</a:t>
            </a:r>
            <a:endParaRPr lang="en-US" altLang="zh-CN" dirty="0">
              <a:ea typeface="SimSun" panose="02010600030101010101" pitchFamily="2" charset="-122"/>
            </a:endParaRPr>
          </a:p>
          <a:p>
            <a:pPr lvl="1" eaLnBrk="1" hangingPunct="1">
              <a:lnSpc>
                <a:spcPct val="5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One scan</a:t>
            </a:r>
            <a:endParaRPr lang="en-US" altLang="zh-CN" dirty="0">
              <a:ea typeface="SimSun" panose="02010600030101010101" pitchFamily="2" charset="-122"/>
            </a:endParaRPr>
          </a:p>
          <a:p>
            <a:pPr lvl="1" eaLnBrk="1" hangingPunct="1">
              <a:lnSpc>
                <a:spcPct val="5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Need density parameters as termination condition</a:t>
            </a:r>
            <a:endParaRPr lang="en-US" altLang="zh-CN" dirty="0">
              <a:ea typeface="SimSun" panose="02010600030101010101" pitchFamily="2" charset="-122"/>
            </a:endParaRPr>
          </a:p>
          <a:p>
            <a:pPr eaLnBrk="1" hangingPunct="1">
              <a:lnSpc>
                <a:spcPct val="90000"/>
              </a:lnSpc>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Several interesting studies:</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DBSCAN:</a:t>
            </a:r>
            <a:r>
              <a:rPr lang="en-US" altLang="zh-CN" dirty="0">
                <a:ea typeface="SimSun" panose="02010600030101010101" pitchFamily="2" charset="-122"/>
              </a:rPr>
              <a:t> Ester, et al. (KDD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96)</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OPTICS</a:t>
            </a:r>
            <a:r>
              <a:rPr lang="en-US" altLang="zh-CN" dirty="0">
                <a:ea typeface="SimSun" panose="02010600030101010101" pitchFamily="2" charset="-122"/>
              </a:rPr>
              <a:t>: Ankerst, et al (SIGMOD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99).</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DENCLUE</a:t>
            </a:r>
            <a:r>
              <a:rPr lang="en-US" altLang="zh-CN" dirty="0">
                <a:ea typeface="SimSun" panose="02010600030101010101" pitchFamily="2" charset="-122"/>
              </a:rPr>
              <a:t>: Hinneburg &amp; D. Keim  (KDD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98)</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u="sng" dirty="0">
                <a:ea typeface="SimSun" panose="02010600030101010101" pitchFamily="2" charset="-122"/>
              </a:rPr>
              <a:t>CLIQUE</a:t>
            </a:r>
            <a:r>
              <a:rPr lang="en-US" altLang="zh-CN" dirty="0">
                <a:ea typeface="SimSun" panose="02010600030101010101" pitchFamily="2" charset="-122"/>
              </a:rPr>
              <a:t>: Agrawal, et al. (SIGMOD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98)</a:t>
            </a:r>
            <a:endParaRPr lang="en-US" altLang="zh-CN" dirty="0">
              <a:ea typeface="SimSun" panose="02010600030101010101" pitchFamily="2" charset="-122"/>
            </a:endParaRPr>
          </a:p>
        </p:txBody>
      </p:sp>
      <p:sp>
        <p:nvSpPr>
          <p:cNvPr id="12800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800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2800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noChangeArrowheads="1"/>
          </p:cNvSpPr>
          <p:nvPr>
            <p:ph type="title"/>
          </p:nvPr>
        </p:nvSpPr>
        <p:spPr>
          <a:xfrm>
            <a:off x="381000" y="533400"/>
            <a:ext cx="8458200" cy="53340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rPr>
              <a:t>Density-Based Clustering: Background</a:t>
            </a:r>
            <a:endParaRPr kumimoji="0" lang="en-US" altLang="zh-CN" sz="30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endParaRPr>
          </a:p>
        </p:txBody>
      </p:sp>
      <p:sp>
        <p:nvSpPr>
          <p:cNvPr id="129026" name="Rectangle 3"/>
          <p:cNvSpPr>
            <a:spLocks noGrp="1"/>
          </p:cNvSpPr>
          <p:nvPr>
            <p:ph sz="quarter" idx="1"/>
          </p:nvPr>
        </p:nvSpPr>
        <p:spPr>
          <a:xfrm>
            <a:off x="381000" y="1524000"/>
            <a:ext cx="8534400" cy="5105400"/>
          </a:xfrm>
          <a:ln/>
        </p:spPr>
        <p:txBody>
          <a:bodyPr vert="horz" wrap="square" lIns="91440" tIns="45720" rIns="91440" bIns="45720" anchor="t" anchorCtr="0"/>
          <a:p>
            <a:pPr eaLnBrk="1" hangingPunct="1">
              <a:lnSpc>
                <a:spcPct val="90000"/>
              </a:lnSpc>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Two parameters</a:t>
            </a:r>
            <a:r>
              <a:rPr lang="en-US" altLang="zh-CN" b="1" i="1" dirty="0">
                <a:ea typeface="SimSun" panose="02010600030101010101" pitchFamily="2" charset="-122"/>
              </a:rPr>
              <a:t>:</a:t>
            </a:r>
            <a:endParaRPr lang="en-US" altLang="zh-CN" b="1" i="1" dirty="0">
              <a:ea typeface="SimSun" panose="02010600030101010101" pitchFamily="2" charset="-122"/>
            </a:endParaRPr>
          </a:p>
          <a:p>
            <a:pPr lvl="1" eaLnBrk="1" hangingPunct="1">
              <a:lnSpc>
                <a:spcPct val="90000"/>
              </a:lnSpc>
              <a:spcBef>
                <a:spcPct val="50000"/>
              </a:spcBef>
              <a:buClr>
                <a:schemeClr val="accent1"/>
              </a:buClr>
              <a:buSzPct val="80000"/>
              <a:buFont typeface="Wingdings 2" panose="05020102010507070707" pitchFamily="18" charset="2"/>
            </a:pPr>
            <a:r>
              <a:rPr lang="en-US" altLang="zh-CN" b="1" i="1" dirty="0">
                <a:ea typeface="SimSun" panose="02010600030101010101" pitchFamily="2" charset="-122"/>
              </a:rPr>
              <a:t>Eps</a:t>
            </a:r>
            <a:r>
              <a:rPr lang="en-US" altLang="zh-CN" dirty="0">
                <a:ea typeface="SimSun" panose="02010600030101010101" pitchFamily="2" charset="-122"/>
              </a:rPr>
              <a:t>: Maximum radius of the neighbourhood</a:t>
            </a:r>
            <a:endParaRPr lang="en-US" altLang="zh-CN" dirty="0">
              <a:ea typeface="SimSun" panose="02010600030101010101" pitchFamily="2" charset="-122"/>
            </a:endParaRPr>
          </a:p>
          <a:p>
            <a:pPr lvl="1" eaLnBrk="1" hangingPunct="1">
              <a:lnSpc>
                <a:spcPct val="90000"/>
              </a:lnSpc>
              <a:spcBef>
                <a:spcPct val="50000"/>
              </a:spcBef>
              <a:buClr>
                <a:schemeClr val="accent1"/>
              </a:buClr>
              <a:buSzPct val="80000"/>
              <a:buFont typeface="Wingdings 2" panose="05020102010507070707" pitchFamily="18" charset="2"/>
            </a:pPr>
            <a:r>
              <a:rPr lang="en-US" altLang="zh-CN" b="1" i="1" dirty="0">
                <a:ea typeface="SimSun" panose="02010600030101010101" pitchFamily="2" charset="-122"/>
              </a:rPr>
              <a:t>MinPts</a:t>
            </a:r>
            <a:r>
              <a:rPr lang="en-US" altLang="zh-CN" dirty="0">
                <a:ea typeface="SimSun" panose="02010600030101010101" pitchFamily="2" charset="-122"/>
              </a:rPr>
              <a:t>: Minimum number of points in an Eps-neighbourhood of that point</a:t>
            </a:r>
            <a:endParaRPr lang="en-US" altLang="zh-CN" dirty="0">
              <a:ea typeface="SimSun" panose="02010600030101010101" pitchFamily="2" charset="-122"/>
            </a:endParaRPr>
          </a:p>
          <a:p>
            <a:pPr eaLnBrk="1" hangingPunct="1">
              <a:lnSpc>
                <a:spcPct val="90000"/>
              </a:lnSpc>
              <a:spcBef>
                <a:spcPct val="50000"/>
              </a:spcBef>
              <a:buClr>
                <a:schemeClr val="accent1"/>
              </a:buClr>
              <a:buSzPct val="70000"/>
              <a:buFont typeface="Wingdings" panose="05000000000000000000" pitchFamily="2" charset="2"/>
            </a:pPr>
            <a:r>
              <a:rPr lang="en-US" altLang="zh-CN" b="1" i="1" dirty="0">
                <a:ea typeface="SimSun" panose="02010600030101010101" pitchFamily="2" charset="-122"/>
              </a:rPr>
              <a:t>N</a:t>
            </a:r>
            <a:r>
              <a:rPr lang="en-US" altLang="zh-CN" b="1" i="1" baseline="-25000" dirty="0">
                <a:ea typeface="SimSun" panose="02010600030101010101" pitchFamily="2" charset="-122"/>
              </a:rPr>
              <a:t>Eps</a:t>
            </a:r>
            <a:r>
              <a:rPr lang="en-US" altLang="zh-CN" b="1" i="1" dirty="0">
                <a:ea typeface="SimSun" panose="02010600030101010101" pitchFamily="2" charset="-122"/>
              </a:rPr>
              <a:t>(p)</a:t>
            </a:r>
            <a:r>
              <a:rPr lang="en-US" altLang="zh-CN" dirty="0">
                <a:ea typeface="SimSun" panose="02010600030101010101" pitchFamily="2" charset="-122"/>
              </a:rPr>
              <a:t>:	</a:t>
            </a:r>
            <a:r>
              <a:rPr lang="en-US" altLang="zh-CN" b="1" i="1" dirty="0">
                <a:ea typeface="SimSun" panose="02010600030101010101" pitchFamily="2" charset="-122"/>
              </a:rPr>
              <a:t>{q belongs to D | dist(p,q) &lt;= Eps}</a:t>
            </a:r>
            <a:endParaRPr lang="en-US" altLang="zh-CN" b="1" i="1" dirty="0">
              <a:ea typeface="SimSun" panose="02010600030101010101" pitchFamily="2" charset="-122"/>
            </a:endParaRPr>
          </a:p>
          <a:p>
            <a:pPr eaLnBrk="1" hangingPunct="1">
              <a:lnSpc>
                <a:spcPct val="90000"/>
              </a:lnSpc>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Directly density-reachable</a:t>
            </a:r>
            <a:r>
              <a:rPr lang="en-US" altLang="zh-CN" b="1" dirty="0">
                <a:ea typeface="SimSun" panose="02010600030101010101" pitchFamily="2" charset="-122"/>
              </a:rPr>
              <a:t>: </a:t>
            </a:r>
            <a:r>
              <a:rPr lang="en-US" altLang="zh-CN" dirty="0">
                <a:ea typeface="SimSun" panose="02010600030101010101" pitchFamily="2" charset="-122"/>
              </a:rPr>
              <a:t>A point </a:t>
            </a:r>
            <a:r>
              <a:rPr lang="en-US" altLang="zh-CN" b="1" i="1" dirty="0">
                <a:ea typeface="SimSun" panose="02010600030101010101" pitchFamily="2" charset="-122"/>
              </a:rPr>
              <a:t>p</a:t>
            </a:r>
            <a:r>
              <a:rPr lang="en-US" altLang="zh-CN" dirty="0">
                <a:ea typeface="SimSun" panose="02010600030101010101" pitchFamily="2" charset="-122"/>
              </a:rPr>
              <a:t> is directly density-reachable from a point </a:t>
            </a:r>
            <a:r>
              <a:rPr lang="en-US" altLang="zh-CN" b="1" i="1" dirty="0">
                <a:ea typeface="SimSun" panose="02010600030101010101" pitchFamily="2" charset="-122"/>
              </a:rPr>
              <a:t>q</a:t>
            </a:r>
            <a:r>
              <a:rPr lang="en-US" altLang="zh-CN" dirty="0">
                <a:ea typeface="SimSun" panose="02010600030101010101" pitchFamily="2" charset="-122"/>
              </a:rPr>
              <a:t> wrt. </a:t>
            </a:r>
            <a:r>
              <a:rPr lang="en-US" altLang="zh-CN" b="1" i="1" dirty="0">
                <a:ea typeface="SimSun" panose="02010600030101010101" pitchFamily="2" charset="-122"/>
              </a:rPr>
              <a:t>Eps</a:t>
            </a:r>
            <a:r>
              <a:rPr lang="en-US" altLang="zh-CN" dirty="0">
                <a:ea typeface="SimSun" panose="02010600030101010101" pitchFamily="2" charset="-122"/>
              </a:rPr>
              <a:t>, </a:t>
            </a:r>
            <a:r>
              <a:rPr lang="en-US" altLang="zh-CN" b="1" i="1" dirty="0">
                <a:ea typeface="SimSun" panose="02010600030101010101" pitchFamily="2" charset="-122"/>
              </a:rPr>
              <a:t>MinPts</a:t>
            </a:r>
            <a:r>
              <a:rPr lang="en-US" altLang="zh-CN" dirty="0">
                <a:ea typeface="SimSun" panose="02010600030101010101" pitchFamily="2" charset="-122"/>
              </a:rPr>
              <a:t> if 	</a:t>
            </a:r>
            <a:endParaRPr lang="en-US" altLang="zh-CN" dirty="0">
              <a:ea typeface="SimSun" panose="02010600030101010101" pitchFamily="2" charset="-122"/>
            </a:endParaRPr>
          </a:p>
          <a:p>
            <a:pPr lvl="1" eaLnBrk="1" hangingPunct="1">
              <a:lnSpc>
                <a:spcPct val="9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1) </a:t>
            </a:r>
            <a:r>
              <a:rPr lang="en-US" altLang="zh-CN" b="1" i="1" dirty="0">
                <a:ea typeface="SimSun" panose="02010600030101010101" pitchFamily="2" charset="-122"/>
              </a:rPr>
              <a:t>p</a:t>
            </a:r>
            <a:r>
              <a:rPr lang="en-US" altLang="zh-CN" dirty="0">
                <a:ea typeface="SimSun" panose="02010600030101010101" pitchFamily="2" charset="-122"/>
              </a:rPr>
              <a:t> belongs to </a:t>
            </a:r>
            <a:r>
              <a:rPr lang="en-US" altLang="zh-CN" b="1" i="1" dirty="0">
                <a:ea typeface="SimSun" panose="02010600030101010101" pitchFamily="2" charset="-122"/>
              </a:rPr>
              <a:t>N</a:t>
            </a:r>
            <a:r>
              <a:rPr lang="en-US" altLang="zh-CN" b="1" i="1" baseline="-25000" dirty="0">
                <a:ea typeface="SimSun" panose="02010600030101010101" pitchFamily="2" charset="-122"/>
              </a:rPr>
              <a:t>Eps</a:t>
            </a:r>
            <a:r>
              <a:rPr lang="en-US" altLang="zh-CN" b="1" i="1" dirty="0">
                <a:ea typeface="SimSun" panose="02010600030101010101" pitchFamily="2" charset="-122"/>
              </a:rPr>
              <a:t>(q)</a:t>
            </a:r>
            <a:endParaRPr lang="en-US" altLang="zh-CN" b="1" i="1" dirty="0">
              <a:ea typeface="SimSun" panose="02010600030101010101" pitchFamily="2" charset="-122"/>
            </a:endParaRPr>
          </a:p>
          <a:p>
            <a:pPr lvl="1" eaLnBrk="1" hangingPunct="1">
              <a:lnSpc>
                <a:spcPct val="9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2) core point condition:</a:t>
            </a:r>
            <a:endParaRPr lang="en-US" altLang="zh-CN" dirty="0">
              <a:ea typeface="SimSun" panose="02010600030101010101" pitchFamily="2" charset="-122"/>
            </a:endParaRPr>
          </a:p>
          <a:p>
            <a:pPr lvl="1" eaLnBrk="1" hangingPunct="1">
              <a:lnSpc>
                <a:spcPct val="90000"/>
              </a:lnSpc>
              <a:spcBef>
                <a:spcPct val="50000"/>
              </a:spcBef>
              <a:buClr>
                <a:schemeClr val="accent1"/>
              </a:buClr>
              <a:buSzPct val="80000"/>
              <a:buFont typeface="Wingdings" panose="05000000000000000000" pitchFamily="2" charset="2"/>
              <a:buNone/>
            </a:pPr>
            <a:r>
              <a:rPr lang="en-US" altLang="zh-CN" dirty="0">
                <a:ea typeface="SimSun" panose="02010600030101010101" pitchFamily="2" charset="-122"/>
              </a:rPr>
              <a:t>              </a:t>
            </a:r>
            <a:r>
              <a:rPr lang="en-US" altLang="zh-CN" b="1" dirty="0">
                <a:ea typeface="SimSun" panose="02010600030101010101" pitchFamily="2" charset="-122"/>
              </a:rPr>
              <a:t>|</a:t>
            </a:r>
            <a:r>
              <a:rPr lang="en-US" altLang="zh-CN" b="1" i="1" dirty="0">
                <a:ea typeface="SimSun" panose="02010600030101010101" pitchFamily="2" charset="-122"/>
              </a:rPr>
              <a:t>N</a:t>
            </a:r>
            <a:r>
              <a:rPr lang="en-US" altLang="zh-CN" b="1" i="1" baseline="-25000" dirty="0">
                <a:ea typeface="SimSun" panose="02010600030101010101" pitchFamily="2" charset="-122"/>
              </a:rPr>
              <a:t>Eps</a:t>
            </a:r>
            <a:r>
              <a:rPr lang="en-US" altLang="zh-CN" b="1" i="1" dirty="0">
                <a:ea typeface="SimSun" panose="02010600030101010101" pitchFamily="2" charset="-122"/>
              </a:rPr>
              <a:t> (q)</a:t>
            </a:r>
            <a:r>
              <a:rPr lang="en-US" altLang="zh-CN" b="1" dirty="0">
                <a:ea typeface="SimSun" panose="02010600030101010101" pitchFamily="2" charset="-122"/>
              </a:rPr>
              <a:t>|</a:t>
            </a:r>
            <a:r>
              <a:rPr lang="en-US" altLang="zh-CN" dirty="0">
                <a:ea typeface="SimSun" panose="02010600030101010101" pitchFamily="2" charset="-122"/>
              </a:rPr>
              <a:t> &gt;= </a:t>
            </a:r>
            <a:r>
              <a:rPr lang="en-US" altLang="zh-CN" b="1" i="1" dirty="0">
                <a:ea typeface="SimSun" panose="02010600030101010101" pitchFamily="2" charset="-122"/>
              </a:rPr>
              <a:t>MinPts</a:t>
            </a:r>
            <a:r>
              <a:rPr lang="en-US" altLang="zh-CN" dirty="0">
                <a:ea typeface="SimSun" panose="02010600030101010101" pitchFamily="2" charset="-122"/>
              </a:rPr>
              <a:t> </a:t>
            </a:r>
            <a:endParaRPr lang="en-US" altLang="zh-CN" b="1" i="1" dirty="0">
              <a:ea typeface="SimSun" panose="02010600030101010101" pitchFamily="2" charset="-122"/>
            </a:endParaRPr>
          </a:p>
        </p:txBody>
      </p:sp>
      <p:sp>
        <p:nvSpPr>
          <p:cNvPr id="12902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2902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2902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grpSp>
        <p:nvGrpSpPr>
          <p:cNvPr id="129030" name="Group 4"/>
          <p:cNvGrpSpPr/>
          <p:nvPr/>
        </p:nvGrpSpPr>
        <p:grpSpPr>
          <a:xfrm rot="5400000">
            <a:off x="4800600" y="4800600"/>
            <a:ext cx="3879850" cy="1663700"/>
            <a:chOff x="3316" y="2788"/>
            <a:chExt cx="2444" cy="1048"/>
          </a:xfrm>
        </p:grpSpPr>
        <p:grpSp>
          <p:nvGrpSpPr>
            <p:cNvPr id="129031" name="Group 5"/>
            <p:cNvGrpSpPr/>
            <p:nvPr/>
          </p:nvGrpSpPr>
          <p:grpSpPr>
            <a:xfrm rot="5400000">
              <a:off x="3316" y="2788"/>
              <a:ext cx="1048" cy="1048"/>
              <a:chOff x="3316" y="2788"/>
              <a:chExt cx="1048" cy="1048"/>
            </a:xfrm>
          </p:grpSpPr>
          <p:sp>
            <p:nvSpPr>
              <p:cNvPr id="129032" name="Oval 6"/>
              <p:cNvSpPr/>
              <p:nvPr/>
            </p:nvSpPr>
            <p:spPr>
              <a:xfrm>
                <a:off x="3386" y="3281"/>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3" name="Oval 7"/>
              <p:cNvSpPr/>
              <p:nvPr/>
            </p:nvSpPr>
            <p:spPr>
              <a:xfrm>
                <a:off x="3598" y="3351"/>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4" name="Oval 8"/>
              <p:cNvSpPr/>
              <p:nvPr/>
            </p:nvSpPr>
            <p:spPr>
              <a:xfrm>
                <a:off x="3598" y="3140"/>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5" name="Oval 9"/>
              <p:cNvSpPr/>
              <p:nvPr/>
            </p:nvSpPr>
            <p:spPr>
              <a:xfrm>
                <a:off x="3316" y="3562"/>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6" name="Oval 10"/>
              <p:cNvSpPr/>
              <p:nvPr/>
            </p:nvSpPr>
            <p:spPr>
              <a:xfrm>
                <a:off x="3457" y="3422"/>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7" name="Oval 11"/>
              <p:cNvSpPr/>
              <p:nvPr/>
            </p:nvSpPr>
            <p:spPr>
              <a:xfrm>
                <a:off x="3457" y="3562"/>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8" name="Oval 12"/>
              <p:cNvSpPr/>
              <p:nvPr/>
            </p:nvSpPr>
            <p:spPr>
              <a:xfrm>
                <a:off x="3668" y="3633"/>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39" name="Oval 13"/>
              <p:cNvSpPr/>
              <p:nvPr/>
            </p:nvSpPr>
            <p:spPr>
              <a:xfrm>
                <a:off x="3668" y="2788"/>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0" name="Oval 14"/>
              <p:cNvSpPr/>
              <p:nvPr/>
            </p:nvSpPr>
            <p:spPr>
              <a:xfrm>
                <a:off x="3668" y="2999"/>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1" name="Oval 15"/>
              <p:cNvSpPr/>
              <p:nvPr/>
            </p:nvSpPr>
            <p:spPr>
              <a:xfrm>
                <a:off x="4090" y="3422"/>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2" name="Oval 16"/>
              <p:cNvSpPr/>
              <p:nvPr/>
            </p:nvSpPr>
            <p:spPr>
              <a:xfrm>
                <a:off x="3950" y="3140"/>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3" name="Oval 17"/>
              <p:cNvSpPr/>
              <p:nvPr/>
            </p:nvSpPr>
            <p:spPr>
              <a:xfrm>
                <a:off x="3598" y="3492"/>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4" name="Oval 18"/>
              <p:cNvSpPr/>
              <p:nvPr/>
            </p:nvSpPr>
            <p:spPr>
              <a:xfrm>
                <a:off x="3738" y="3351"/>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5" name="Oval 19"/>
              <p:cNvSpPr/>
              <p:nvPr/>
            </p:nvSpPr>
            <p:spPr>
              <a:xfrm>
                <a:off x="3879" y="3562"/>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6" name="Oval 20"/>
              <p:cNvSpPr/>
              <p:nvPr/>
            </p:nvSpPr>
            <p:spPr>
              <a:xfrm>
                <a:off x="4231" y="3633"/>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7" name="Oval 21"/>
              <p:cNvSpPr/>
              <p:nvPr/>
            </p:nvSpPr>
            <p:spPr>
              <a:xfrm>
                <a:off x="3457" y="3140"/>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29048" name="Rectangle 22"/>
              <p:cNvSpPr/>
              <p:nvPr/>
            </p:nvSpPr>
            <p:spPr>
              <a:xfrm>
                <a:off x="3984" y="2976"/>
                <a:ext cx="240" cy="2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p</a:t>
                </a:r>
                <a:endParaRPr lang="en-US" altLang="zh-CN" dirty="0">
                  <a:latin typeface="Times New Roman" panose="02020603050405020304" pitchFamily="18" charset="0"/>
                  <a:ea typeface="SimSun" panose="02010600030101010101" pitchFamily="2" charset="-122"/>
                </a:endParaRPr>
              </a:p>
            </p:txBody>
          </p:sp>
          <p:sp>
            <p:nvSpPr>
              <p:cNvPr id="129049" name="Rectangle 23"/>
              <p:cNvSpPr/>
              <p:nvPr/>
            </p:nvSpPr>
            <p:spPr>
              <a:xfrm>
                <a:off x="3792" y="3216"/>
                <a:ext cx="240" cy="2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q</a:t>
                </a:r>
                <a:endParaRPr lang="en-US" altLang="zh-CN" dirty="0">
                  <a:latin typeface="Times New Roman" panose="02020603050405020304" pitchFamily="18" charset="0"/>
                  <a:ea typeface="SimSun" panose="02010600030101010101" pitchFamily="2" charset="-122"/>
                </a:endParaRPr>
              </a:p>
            </p:txBody>
          </p:sp>
        </p:grpSp>
        <p:sp>
          <p:nvSpPr>
            <p:cNvPr id="129050" name="Rectangle 24"/>
            <p:cNvSpPr/>
            <p:nvPr/>
          </p:nvSpPr>
          <p:spPr>
            <a:xfrm>
              <a:off x="4608" y="2976"/>
              <a:ext cx="1152" cy="633"/>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MinPts = 5</a:t>
              </a:r>
              <a:endParaRPr lang="en-US" altLang="zh-CN" dirty="0">
                <a:latin typeface="Times New Roman" panose="02020603050405020304" pitchFamily="18" charset="0"/>
                <a:ea typeface="SimSun" panose="02010600030101010101" pitchFamily="2" charset="-122"/>
              </a:endParaRPr>
            </a:p>
            <a:p>
              <a:pPr eaLnBrk="0" hangingPunct="0">
                <a:spcBef>
                  <a:spcPct val="50000"/>
                </a:spcBef>
              </a:pPr>
              <a:r>
                <a:rPr lang="en-US" altLang="zh-CN" dirty="0">
                  <a:latin typeface="Times New Roman" panose="02020603050405020304" pitchFamily="18" charset="0"/>
                  <a:ea typeface="SimSun" panose="02010600030101010101" pitchFamily="2" charset="-122"/>
                </a:rPr>
                <a:t>Eps = 1 cm</a:t>
              </a:r>
              <a:endParaRPr lang="en-US" altLang="zh-CN" dirty="0">
                <a:latin typeface="Times New Roman" panose="02020603050405020304" pitchFamily="18" charset="0"/>
                <a:ea typeface="SimSun" panose="02010600030101010101" pitchFamily="2" charset="-122"/>
              </a:endParaRPr>
            </a:p>
          </p:txBody>
        </p:sp>
      </p:grpSp>
    </p:spTree>
  </p:cSld>
  <p:clrMapOvr>
    <a:masterClrMapping/>
  </p:clrMapOvr>
  <p:transition>
    <p:strips dir="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1026"/>
          <p:cNvSpPr>
            <a:spLocks noGrp="1"/>
          </p:cNvSpPr>
          <p:nvPr>
            <p:ph type="title"/>
          </p:nvPr>
        </p:nvSpPr>
        <p:spPr>
          <a:xfrm>
            <a:off x="381000" y="381000"/>
            <a:ext cx="8763000" cy="8382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DENSITY-BASED CLUSTERING: BACKGROUND (II)</a:t>
            </a:r>
            <a:endParaRPr kumimoji="0" lang="en-US" altLang="zh-CN" sz="32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0050" name="Rectangle 1027"/>
          <p:cNvSpPr>
            <a:spLocks noGrp="1"/>
          </p:cNvSpPr>
          <p:nvPr>
            <p:ph sz="quarter" idx="1"/>
          </p:nvPr>
        </p:nvSpPr>
        <p:spPr>
          <a:xfrm>
            <a:off x="228600" y="1752600"/>
            <a:ext cx="5638800" cy="4648200"/>
          </a:xfrm>
          <a:ln/>
        </p:spPr>
        <p:txBody>
          <a:bodyPr vert="horz" wrap="square" lIns="92075" tIns="46038" rIns="92075" bIns="46038" anchor="t" anchorCtr="0"/>
          <a:p>
            <a:pPr eaLnBrk="1" hangingPunct="1">
              <a:lnSpc>
                <a:spcPct val="90000"/>
              </a:lnSpc>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Density-reachable: </a:t>
            </a:r>
            <a:endParaRPr lang="en-US" altLang="zh-CN" dirty="0">
              <a:ea typeface="SimSun" panose="02010600030101010101" pitchFamily="2" charset="-122"/>
            </a:endParaRPr>
          </a:p>
          <a:p>
            <a:pPr lvl="1" eaLnBrk="1" hangingPunct="1">
              <a:lnSpc>
                <a:spcPct val="9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A point </a:t>
            </a:r>
            <a:r>
              <a:rPr lang="en-US" altLang="zh-CN" i="1" dirty="0">
                <a:ea typeface="SimSun" panose="02010600030101010101" pitchFamily="2" charset="-122"/>
              </a:rPr>
              <a:t>p</a:t>
            </a:r>
            <a:r>
              <a:rPr lang="en-US" altLang="zh-CN" dirty="0">
                <a:ea typeface="SimSun" panose="02010600030101010101" pitchFamily="2" charset="-122"/>
              </a:rPr>
              <a:t> is density-reachable from a point </a:t>
            </a:r>
            <a:r>
              <a:rPr lang="en-US" altLang="zh-CN" i="1" dirty="0">
                <a:ea typeface="SimSun" panose="02010600030101010101" pitchFamily="2" charset="-122"/>
              </a:rPr>
              <a:t>q</a:t>
            </a:r>
            <a:r>
              <a:rPr lang="en-US" altLang="zh-CN" dirty="0">
                <a:ea typeface="SimSun" panose="02010600030101010101" pitchFamily="2" charset="-122"/>
              </a:rPr>
              <a:t> wrt. </a:t>
            </a:r>
            <a:r>
              <a:rPr lang="en-US" altLang="zh-CN" i="1" dirty="0">
                <a:ea typeface="SimSun" panose="02010600030101010101" pitchFamily="2" charset="-122"/>
              </a:rPr>
              <a:t>Eps</a:t>
            </a:r>
            <a:r>
              <a:rPr lang="en-US" altLang="zh-CN" dirty="0">
                <a:ea typeface="SimSun" panose="02010600030101010101" pitchFamily="2" charset="-122"/>
              </a:rPr>
              <a:t>, </a:t>
            </a:r>
            <a:r>
              <a:rPr lang="en-US" altLang="zh-CN" i="1" dirty="0">
                <a:ea typeface="SimSun" panose="02010600030101010101" pitchFamily="2" charset="-122"/>
              </a:rPr>
              <a:t>MinPts</a:t>
            </a:r>
            <a:r>
              <a:rPr lang="en-US" altLang="zh-CN" dirty="0">
                <a:ea typeface="SimSun" panose="02010600030101010101" pitchFamily="2" charset="-122"/>
              </a:rPr>
              <a:t> if there is a chain of points </a:t>
            </a:r>
            <a:r>
              <a:rPr lang="en-US" altLang="zh-CN" i="1" dirty="0">
                <a:ea typeface="SimSun" panose="02010600030101010101" pitchFamily="2" charset="-122"/>
              </a:rPr>
              <a:t>p</a:t>
            </a:r>
            <a:r>
              <a:rPr lang="en-US" altLang="zh-CN" i="1" baseline="-25000" dirty="0">
                <a:ea typeface="SimSun" panose="02010600030101010101" pitchFamily="2" charset="-122"/>
              </a:rPr>
              <a:t>1</a:t>
            </a:r>
            <a:r>
              <a:rPr lang="en-US" altLang="zh-CN" dirty="0">
                <a:ea typeface="SimSun" panose="02010600030101010101" pitchFamily="2" charset="-122"/>
              </a:rPr>
              <a:t>, </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 </a:t>
            </a:r>
            <a:r>
              <a:rPr lang="en-US" altLang="zh-CN" i="1" dirty="0">
                <a:ea typeface="SimSun" panose="02010600030101010101" pitchFamily="2" charset="-122"/>
              </a:rPr>
              <a:t>p</a:t>
            </a:r>
            <a:r>
              <a:rPr lang="en-US" altLang="zh-CN" i="1" baseline="-25000" dirty="0">
                <a:ea typeface="SimSun" panose="02010600030101010101" pitchFamily="2" charset="-122"/>
              </a:rPr>
              <a:t>n</a:t>
            </a:r>
            <a:r>
              <a:rPr lang="en-US" altLang="zh-CN" dirty="0">
                <a:ea typeface="SimSun" panose="02010600030101010101" pitchFamily="2" charset="-122"/>
              </a:rPr>
              <a:t>, </a:t>
            </a:r>
            <a:r>
              <a:rPr lang="en-US" altLang="zh-CN" i="1" dirty="0">
                <a:ea typeface="SimSun" panose="02010600030101010101" pitchFamily="2" charset="-122"/>
              </a:rPr>
              <a:t>p</a:t>
            </a:r>
            <a:r>
              <a:rPr lang="en-US" altLang="zh-CN" i="1" baseline="-25000" dirty="0">
                <a:ea typeface="SimSun" panose="02010600030101010101" pitchFamily="2" charset="-122"/>
              </a:rPr>
              <a:t>1</a:t>
            </a:r>
            <a:r>
              <a:rPr lang="en-US" altLang="zh-CN" dirty="0">
                <a:ea typeface="SimSun" panose="02010600030101010101" pitchFamily="2" charset="-122"/>
              </a:rPr>
              <a:t> = </a:t>
            </a:r>
            <a:r>
              <a:rPr lang="en-US" altLang="zh-CN" i="1" dirty="0">
                <a:ea typeface="SimSun" panose="02010600030101010101" pitchFamily="2" charset="-122"/>
              </a:rPr>
              <a:t>q</a:t>
            </a:r>
            <a:r>
              <a:rPr lang="en-US" altLang="zh-CN" dirty="0">
                <a:ea typeface="SimSun" panose="02010600030101010101" pitchFamily="2" charset="-122"/>
              </a:rPr>
              <a:t>, </a:t>
            </a:r>
            <a:r>
              <a:rPr lang="en-US" altLang="zh-CN" i="1" dirty="0">
                <a:ea typeface="SimSun" panose="02010600030101010101" pitchFamily="2" charset="-122"/>
              </a:rPr>
              <a:t>p</a:t>
            </a:r>
            <a:r>
              <a:rPr lang="en-US" altLang="zh-CN" i="1" baseline="-25000" dirty="0">
                <a:ea typeface="SimSun" panose="02010600030101010101" pitchFamily="2" charset="-122"/>
              </a:rPr>
              <a:t>n</a:t>
            </a:r>
            <a:r>
              <a:rPr lang="en-US" altLang="zh-CN" dirty="0">
                <a:ea typeface="SimSun" panose="02010600030101010101" pitchFamily="2" charset="-122"/>
              </a:rPr>
              <a:t> = </a:t>
            </a:r>
            <a:r>
              <a:rPr lang="en-US" altLang="zh-CN" i="1" dirty="0">
                <a:ea typeface="SimSun" panose="02010600030101010101" pitchFamily="2" charset="-122"/>
              </a:rPr>
              <a:t>p</a:t>
            </a:r>
            <a:r>
              <a:rPr lang="en-US" altLang="zh-CN" dirty="0">
                <a:ea typeface="SimSun" panose="02010600030101010101" pitchFamily="2" charset="-122"/>
              </a:rPr>
              <a:t> such that </a:t>
            </a:r>
            <a:r>
              <a:rPr lang="en-US" altLang="zh-CN" i="1" dirty="0">
                <a:ea typeface="SimSun" panose="02010600030101010101" pitchFamily="2" charset="-122"/>
              </a:rPr>
              <a:t>p</a:t>
            </a:r>
            <a:r>
              <a:rPr lang="en-US" altLang="zh-CN" i="1" baseline="-25000" dirty="0">
                <a:ea typeface="SimSun" panose="02010600030101010101" pitchFamily="2" charset="-122"/>
              </a:rPr>
              <a:t>i+1</a:t>
            </a:r>
            <a:r>
              <a:rPr lang="en-US" altLang="zh-CN" dirty="0">
                <a:ea typeface="SimSun" panose="02010600030101010101" pitchFamily="2" charset="-122"/>
              </a:rPr>
              <a:t> is directly density-reachable from </a:t>
            </a:r>
            <a:r>
              <a:rPr lang="en-US" altLang="zh-CN" i="1" dirty="0">
                <a:ea typeface="SimSun" panose="02010600030101010101" pitchFamily="2" charset="-122"/>
              </a:rPr>
              <a:t>p</a:t>
            </a:r>
            <a:r>
              <a:rPr lang="en-US" altLang="zh-CN" i="1" baseline="-25000" dirty="0">
                <a:ea typeface="SimSun" panose="02010600030101010101" pitchFamily="2" charset="-122"/>
              </a:rPr>
              <a:t>i</a:t>
            </a:r>
            <a:r>
              <a:rPr lang="en-US" altLang="zh-CN" dirty="0">
                <a:ea typeface="SimSun" panose="02010600030101010101" pitchFamily="2" charset="-122"/>
              </a:rPr>
              <a:t>	</a:t>
            </a:r>
            <a:endParaRPr lang="en-US" altLang="zh-CN" dirty="0">
              <a:ea typeface="SimSun" panose="02010600030101010101" pitchFamily="2" charset="-122"/>
            </a:endParaRPr>
          </a:p>
          <a:p>
            <a:pPr eaLnBrk="1" hangingPunct="1">
              <a:lnSpc>
                <a:spcPct val="90000"/>
              </a:lnSpc>
              <a:spcBef>
                <a:spcPct val="50000"/>
              </a:spcBef>
              <a:buClr>
                <a:schemeClr val="accent1"/>
              </a:buClr>
              <a:buSzPct val="70000"/>
              <a:buFont typeface="Wingdings" panose="05000000000000000000" pitchFamily="2" charset="2"/>
            </a:pPr>
            <a:r>
              <a:rPr lang="en-US" altLang="zh-CN" dirty="0">
                <a:ea typeface="SimSun" panose="02010600030101010101" pitchFamily="2" charset="-122"/>
              </a:rPr>
              <a:t>Density-connected</a:t>
            </a:r>
            <a:endParaRPr lang="en-US" altLang="zh-CN" dirty="0">
              <a:ea typeface="SimSun" panose="02010600030101010101" pitchFamily="2" charset="-122"/>
            </a:endParaRPr>
          </a:p>
          <a:p>
            <a:pPr lvl="1" eaLnBrk="1" hangingPunct="1">
              <a:lnSpc>
                <a:spcPct val="9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A point </a:t>
            </a:r>
            <a:r>
              <a:rPr lang="en-US" altLang="zh-CN" i="1" dirty="0">
                <a:ea typeface="SimSun" panose="02010600030101010101" pitchFamily="2" charset="-122"/>
              </a:rPr>
              <a:t>p</a:t>
            </a:r>
            <a:r>
              <a:rPr lang="en-US" altLang="zh-CN" dirty="0">
                <a:ea typeface="SimSun" panose="02010600030101010101" pitchFamily="2" charset="-122"/>
              </a:rPr>
              <a:t> is density-connected to a point </a:t>
            </a:r>
            <a:r>
              <a:rPr lang="en-US" altLang="zh-CN" i="1" dirty="0">
                <a:ea typeface="SimSun" panose="02010600030101010101" pitchFamily="2" charset="-122"/>
              </a:rPr>
              <a:t>q</a:t>
            </a:r>
            <a:r>
              <a:rPr lang="en-US" altLang="zh-CN" dirty="0">
                <a:ea typeface="SimSun" panose="02010600030101010101" pitchFamily="2" charset="-122"/>
              </a:rPr>
              <a:t> wrt. </a:t>
            </a:r>
            <a:r>
              <a:rPr lang="en-US" altLang="zh-CN" i="1" dirty="0">
                <a:ea typeface="SimSun" panose="02010600030101010101" pitchFamily="2" charset="-122"/>
              </a:rPr>
              <a:t>Eps</a:t>
            </a:r>
            <a:r>
              <a:rPr lang="en-US" altLang="zh-CN" dirty="0">
                <a:ea typeface="SimSun" panose="02010600030101010101" pitchFamily="2" charset="-122"/>
              </a:rPr>
              <a:t>, </a:t>
            </a:r>
            <a:r>
              <a:rPr lang="en-US" altLang="zh-CN" i="1" dirty="0">
                <a:ea typeface="SimSun" panose="02010600030101010101" pitchFamily="2" charset="-122"/>
              </a:rPr>
              <a:t>MinPts</a:t>
            </a:r>
            <a:r>
              <a:rPr lang="en-US" altLang="zh-CN" dirty="0">
                <a:ea typeface="SimSun" panose="02010600030101010101" pitchFamily="2" charset="-122"/>
              </a:rPr>
              <a:t> if there is a point </a:t>
            </a:r>
            <a:r>
              <a:rPr lang="en-US" altLang="zh-CN" i="1" dirty="0">
                <a:ea typeface="SimSun" panose="02010600030101010101" pitchFamily="2" charset="-122"/>
              </a:rPr>
              <a:t>o </a:t>
            </a:r>
            <a:r>
              <a:rPr lang="en-US" altLang="zh-CN" dirty="0">
                <a:ea typeface="SimSun" panose="02010600030101010101" pitchFamily="2" charset="-122"/>
              </a:rPr>
              <a:t>such that both, </a:t>
            </a:r>
            <a:r>
              <a:rPr lang="en-US" altLang="zh-CN" i="1" dirty="0">
                <a:ea typeface="SimSun" panose="02010600030101010101" pitchFamily="2" charset="-122"/>
              </a:rPr>
              <a:t>p</a:t>
            </a:r>
            <a:r>
              <a:rPr lang="en-US" altLang="zh-CN" dirty="0">
                <a:ea typeface="SimSun" panose="02010600030101010101" pitchFamily="2" charset="-122"/>
              </a:rPr>
              <a:t> and </a:t>
            </a:r>
            <a:r>
              <a:rPr lang="en-US" altLang="zh-CN" i="1" dirty="0">
                <a:ea typeface="SimSun" panose="02010600030101010101" pitchFamily="2" charset="-122"/>
              </a:rPr>
              <a:t>q</a:t>
            </a:r>
            <a:r>
              <a:rPr lang="en-US" altLang="zh-CN" dirty="0">
                <a:ea typeface="SimSun" panose="02010600030101010101" pitchFamily="2" charset="-122"/>
              </a:rPr>
              <a:t> are density-reachable from </a:t>
            </a:r>
            <a:r>
              <a:rPr lang="en-US" altLang="zh-CN" i="1" dirty="0">
                <a:ea typeface="SimSun" panose="02010600030101010101" pitchFamily="2" charset="-122"/>
              </a:rPr>
              <a:t>o</a:t>
            </a:r>
            <a:r>
              <a:rPr lang="en-US" altLang="zh-CN" dirty="0">
                <a:ea typeface="SimSun" panose="02010600030101010101" pitchFamily="2" charset="-122"/>
              </a:rPr>
              <a:t> wrt. </a:t>
            </a:r>
            <a:r>
              <a:rPr lang="en-US" altLang="zh-CN" i="1" dirty="0">
                <a:ea typeface="SimSun" panose="02010600030101010101" pitchFamily="2" charset="-122"/>
              </a:rPr>
              <a:t>Eps</a:t>
            </a:r>
            <a:r>
              <a:rPr lang="en-US" altLang="zh-CN" dirty="0">
                <a:ea typeface="SimSun" panose="02010600030101010101" pitchFamily="2" charset="-122"/>
              </a:rPr>
              <a:t> and </a:t>
            </a:r>
            <a:r>
              <a:rPr lang="en-US" altLang="zh-CN" i="1" dirty="0">
                <a:ea typeface="SimSun" panose="02010600030101010101" pitchFamily="2" charset="-122"/>
              </a:rPr>
              <a:t>MinPts</a:t>
            </a:r>
            <a:r>
              <a:rPr lang="en-US" altLang="zh-CN" dirty="0">
                <a:ea typeface="SimSun" panose="02010600030101010101" pitchFamily="2" charset="-122"/>
              </a:rPr>
              <a:t>.</a:t>
            </a:r>
            <a:endParaRPr lang="en-US" altLang="zh-CN" dirty="0">
              <a:ea typeface="SimSun" panose="02010600030101010101" pitchFamily="2" charset="-122"/>
            </a:endParaRPr>
          </a:p>
        </p:txBody>
      </p:sp>
      <p:sp>
        <p:nvSpPr>
          <p:cNvPr id="13005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005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0053"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130054" name="Oval 1028"/>
          <p:cNvSpPr/>
          <p:nvPr/>
        </p:nvSpPr>
        <p:spPr>
          <a:xfrm>
            <a:off x="7019925" y="2459038"/>
            <a:ext cx="100013"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55" name="Oval 1029"/>
          <p:cNvSpPr/>
          <p:nvPr/>
        </p:nvSpPr>
        <p:spPr>
          <a:xfrm>
            <a:off x="7356475" y="2570163"/>
            <a:ext cx="98425" cy="10001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56" name="Oval 1030"/>
          <p:cNvSpPr/>
          <p:nvPr/>
        </p:nvSpPr>
        <p:spPr>
          <a:xfrm>
            <a:off x="7356475" y="2235200"/>
            <a:ext cx="98425"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57" name="Oval 1031"/>
          <p:cNvSpPr/>
          <p:nvPr/>
        </p:nvSpPr>
        <p:spPr>
          <a:xfrm>
            <a:off x="6908800" y="2905125"/>
            <a:ext cx="98425" cy="10001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58" name="Oval 1032"/>
          <p:cNvSpPr/>
          <p:nvPr/>
        </p:nvSpPr>
        <p:spPr>
          <a:xfrm>
            <a:off x="7132638" y="2682875"/>
            <a:ext cx="98425"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59" name="Oval 1033"/>
          <p:cNvSpPr/>
          <p:nvPr/>
        </p:nvSpPr>
        <p:spPr>
          <a:xfrm>
            <a:off x="7132638" y="2905125"/>
            <a:ext cx="98425" cy="10001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0" name="Oval 1034"/>
          <p:cNvSpPr/>
          <p:nvPr/>
        </p:nvSpPr>
        <p:spPr>
          <a:xfrm>
            <a:off x="7467600" y="3017838"/>
            <a:ext cx="98425"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1" name="Oval 1035"/>
          <p:cNvSpPr/>
          <p:nvPr/>
        </p:nvSpPr>
        <p:spPr>
          <a:xfrm>
            <a:off x="7467600" y="2011363"/>
            <a:ext cx="98425" cy="10001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2" name="Oval 1036"/>
          <p:cNvSpPr/>
          <p:nvPr/>
        </p:nvSpPr>
        <p:spPr>
          <a:xfrm>
            <a:off x="8137525" y="2682875"/>
            <a:ext cx="100013"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3" name="Oval 1037"/>
          <p:cNvSpPr/>
          <p:nvPr/>
        </p:nvSpPr>
        <p:spPr>
          <a:xfrm>
            <a:off x="7915275" y="2235200"/>
            <a:ext cx="98425"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4" name="Oval 1038"/>
          <p:cNvSpPr/>
          <p:nvPr/>
        </p:nvSpPr>
        <p:spPr>
          <a:xfrm>
            <a:off x="7356475" y="2794000"/>
            <a:ext cx="98425"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5" name="Oval 1039"/>
          <p:cNvSpPr/>
          <p:nvPr/>
        </p:nvSpPr>
        <p:spPr>
          <a:xfrm>
            <a:off x="7578725" y="2570163"/>
            <a:ext cx="100013" cy="10001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6" name="Oval 1040"/>
          <p:cNvSpPr/>
          <p:nvPr/>
        </p:nvSpPr>
        <p:spPr>
          <a:xfrm>
            <a:off x="7802563" y="2905125"/>
            <a:ext cx="100012" cy="10001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7" name="Oval 1041"/>
          <p:cNvSpPr/>
          <p:nvPr/>
        </p:nvSpPr>
        <p:spPr>
          <a:xfrm>
            <a:off x="8361363" y="3017838"/>
            <a:ext cx="100012" cy="98425"/>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8" name="Oval 1042"/>
          <p:cNvSpPr/>
          <p:nvPr/>
        </p:nvSpPr>
        <p:spPr>
          <a:xfrm>
            <a:off x="7086600" y="2438400"/>
            <a:ext cx="1104900" cy="1104900"/>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69" name="Oval 1043"/>
          <p:cNvSpPr/>
          <p:nvPr/>
        </p:nvSpPr>
        <p:spPr>
          <a:xfrm>
            <a:off x="6370638" y="2311400"/>
            <a:ext cx="1104900" cy="1104900"/>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70" name="Rectangle 1044"/>
          <p:cNvSpPr/>
          <p:nvPr/>
        </p:nvSpPr>
        <p:spPr>
          <a:xfrm>
            <a:off x="7969250" y="2051050"/>
            <a:ext cx="3810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b="1" i="1" dirty="0">
                <a:latin typeface="Times New Roman" panose="02020603050405020304" pitchFamily="18" charset="0"/>
                <a:ea typeface="SimSun" panose="02010600030101010101" pitchFamily="2" charset="-122"/>
              </a:rPr>
              <a:t>p</a:t>
            </a:r>
            <a:endParaRPr lang="en-US" altLang="zh-CN" b="1" i="1" dirty="0">
              <a:latin typeface="Times New Roman" panose="02020603050405020304" pitchFamily="18" charset="0"/>
              <a:ea typeface="SimSun" panose="02010600030101010101" pitchFamily="2" charset="-122"/>
            </a:endParaRPr>
          </a:p>
        </p:txBody>
      </p:sp>
      <p:sp>
        <p:nvSpPr>
          <p:cNvPr id="130071" name="Rectangle 1045"/>
          <p:cNvSpPr/>
          <p:nvPr/>
        </p:nvSpPr>
        <p:spPr>
          <a:xfrm>
            <a:off x="6597650" y="2736850"/>
            <a:ext cx="3810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b="1" i="1" dirty="0">
                <a:latin typeface="Times New Roman" panose="02020603050405020304" pitchFamily="18" charset="0"/>
                <a:ea typeface="SimSun" panose="02010600030101010101" pitchFamily="2" charset="-122"/>
              </a:rPr>
              <a:t>q</a:t>
            </a:r>
            <a:endParaRPr lang="en-US" altLang="zh-CN" b="1" i="1" dirty="0">
              <a:latin typeface="Times New Roman" panose="02020603050405020304" pitchFamily="18" charset="0"/>
              <a:ea typeface="SimSun" panose="02010600030101010101" pitchFamily="2" charset="-122"/>
            </a:endParaRPr>
          </a:p>
        </p:txBody>
      </p:sp>
      <p:sp>
        <p:nvSpPr>
          <p:cNvPr id="130072" name="Oval 1046"/>
          <p:cNvSpPr/>
          <p:nvPr/>
        </p:nvSpPr>
        <p:spPr>
          <a:xfrm>
            <a:off x="7315200" y="1752600"/>
            <a:ext cx="1104900" cy="1104900"/>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73" name="Rectangle 1047"/>
          <p:cNvSpPr/>
          <p:nvPr/>
        </p:nvSpPr>
        <p:spPr>
          <a:xfrm>
            <a:off x="7359650" y="2508250"/>
            <a:ext cx="6096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b="1" i="1" dirty="0">
                <a:latin typeface="Times New Roman" panose="02020603050405020304" pitchFamily="18" charset="0"/>
                <a:ea typeface="SimSun" panose="02010600030101010101" pitchFamily="2" charset="-122"/>
              </a:rPr>
              <a:t>p</a:t>
            </a:r>
            <a:r>
              <a:rPr lang="en-US" altLang="zh-CN" b="1" i="1" baseline="-25000" dirty="0">
                <a:latin typeface="Times New Roman" panose="02020603050405020304" pitchFamily="18" charset="0"/>
                <a:ea typeface="SimSun" panose="02010600030101010101" pitchFamily="2" charset="-122"/>
              </a:rPr>
              <a:t>1</a:t>
            </a:r>
            <a:endParaRPr lang="en-US" altLang="zh-CN" b="1" i="1" baseline="-25000" dirty="0">
              <a:latin typeface="Times New Roman" panose="02020603050405020304" pitchFamily="18" charset="0"/>
              <a:ea typeface="SimSun" panose="02010600030101010101" pitchFamily="2" charset="-122"/>
            </a:endParaRPr>
          </a:p>
        </p:txBody>
      </p:sp>
      <p:sp>
        <p:nvSpPr>
          <p:cNvPr id="130074" name="Line 1048"/>
          <p:cNvSpPr/>
          <p:nvPr/>
        </p:nvSpPr>
        <p:spPr>
          <a:xfrm flipH="1">
            <a:off x="7435850" y="2355850"/>
            <a:ext cx="457200" cy="228600"/>
          </a:xfrm>
          <a:prstGeom prst="line">
            <a:avLst/>
          </a:prstGeom>
          <a:ln w="25400" cap="flat" cmpd="sng">
            <a:solidFill>
              <a:schemeClr val="tx1"/>
            </a:solidFill>
            <a:prstDash val="solid"/>
            <a:round/>
            <a:headEnd type="stealth" w="lg" len="med"/>
            <a:tailEnd type="none" w="sm" len="sm"/>
          </a:ln>
        </p:spPr>
      </p:sp>
      <p:grpSp>
        <p:nvGrpSpPr>
          <p:cNvPr id="130075" name="Group 1049"/>
          <p:cNvGrpSpPr/>
          <p:nvPr/>
        </p:nvGrpSpPr>
        <p:grpSpPr>
          <a:xfrm>
            <a:off x="5867400" y="4343400"/>
            <a:ext cx="2863850" cy="1638300"/>
            <a:chOff x="3428" y="2740"/>
            <a:chExt cx="1804" cy="1032"/>
          </a:xfrm>
        </p:grpSpPr>
        <p:sp>
          <p:nvSpPr>
            <p:cNvPr id="130076" name="Oval 1050"/>
            <p:cNvSpPr/>
            <p:nvPr/>
          </p:nvSpPr>
          <p:spPr>
            <a:xfrm>
              <a:off x="3914" y="3089"/>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77" name="Oval 1051"/>
            <p:cNvSpPr/>
            <p:nvPr/>
          </p:nvSpPr>
          <p:spPr>
            <a:xfrm>
              <a:off x="4126" y="3159"/>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78" name="Oval 1052"/>
            <p:cNvSpPr/>
            <p:nvPr/>
          </p:nvSpPr>
          <p:spPr>
            <a:xfrm>
              <a:off x="4126" y="2948"/>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79" name="Oval 1053"/>
            <p:cNvSpPr/>
            <p:nvPr/>
          </p:nvSpPr>
          <p:spPr>
            <a:xfrm>
              <a:off x="3844" y="3370"/>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0" name="Oval 1054"/>
            <p:cNvSpPr/>
            <p:nvPr/>
          </p:nvSpPr>
          <p:spPr>
            <a:xfrm>
              <a:off x="3985" y="3230"/>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1" name="Oval 1055"/>
            <p:cNvSpPr/>
            <p:nvPr/>
          </p:nvSpPr>
          <p:spPr>
            <a:xfrm>
              <a:off x="4129" y="3514"/>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2" name="Oval 1056"/>
            <p:cNvSpPr/>
            <p:nvPr/>
          </p:nvSpPr>
          <p:spPr>
            <a:xfrm>
              <a:off x="4196" y="3297"/>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3" name="Oval 1057"/>
            <p:cNvSpPr/>
            <p:nvPr/>
          </p:nvSpPr>
          <p:spPr>
            <a:xfrm>
              <a:off x="4196" y="2807"/>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4" name="Oval 1058"/>
            <p:cNvSpPr/>
            <p:nvPr/>
          </p:nvSpPr>
          <p:spPr>
            <a:xfrm>
              <a:off x="4618" y="3230"/>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5" name="Oval 1059"/>
            <p:cNvSpPr/>
            <p:nvPr/>
          </p:nvSpPr>
          <p:spPr>
            <a:xfrm>
              <a:off x="4478" y="2948"/>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6" name="Oval 1060"/>
            <p:cNvSpPr/>
            <p:nvPr/>
          </p:nvSpPr>
          <p:spPr>
            <a:xfrm>
              <a:off x="3694" y="3252"/>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7" name="Oval 1061"/>
            <p:cNvSpPr/>
            <p:nvPr/>
          </p:nvSpPr>
          <p:spPr>
            <a:xfrm>
              <a:off x="4266" y="3159"/>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8" name="Oval 1062"/>
            <p:cNvSpPr/>
            <p:nvPr/>
          </p:nvSpPr>
          <p:spPr>
            <a:xfrm>
              <a:off x="4407" y="3370"/>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89" name="Oval 1063"/>
            <p:cNvSpPr/>
            <p:nvPr/>
          </p:nvSpPr>
          <p:spPr>
            <a:xfrm>
              <a:off x="4759" y="3441"/>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0" name="Rectangle 1064"/>
            <p:cNvSpPr/>
            <p:nvPr/>
          </p:nvSpPr>
          <p:spPr>
            <a:xfrm>
              <a:off x="3504" y="2832"/>
              <a:ext cx="240" cy="288"/>
            </a:xfrm>
            <a:prstGeom prst="rect">
              <a:avLst/>
            </a:prstGeom>
            <a:noFill/>
            <a:ln w="9525">
              <a:noFill/>
            </a:ln>
          </p:spPr>
          <p:txBody>
            <a:bodyPr lIns="92075" tIns="46038" rIns="92075" bIns="46038" anchor="t" anchorCtr="0">
              <a:spAutoFit/>
            </a:bodyPr>
            <a:p>
              <a:pPr eaLnBrk="0" hangingPunct="0">
                <a:spcBef>
                  <a:spcPct val="50000"/>
                </a:spcBef>
              </a:pPr>
              <a:r>
                <a:rPr lang="en-US" altLang="zh-CN" b="1" i="1" dirty="0">
                  <a:latin typeface="Times New Roman" panose="02020603050405020304" pitchFamily="18" charset="0"/>
                  <a:ea typeface="SimSun" panose="02010600030101010101" pitchFamily="2" charset="-122"/>
                </a:rPr>
                <a:t>p</a:t>
              </a:r>
              <a:endParaRPr lang="en-US" altLang="zh-CN" b="1" i="1" dirty="0">
                <a:latin typeface="Times New Roman" panose="02020603050405020304" pitchFamily="18" charset="0"/>
                <a:ea typeface="SimSun" panose="02010600030101010101" pitchFamily="2" charset="-122"/>
              </a:endParaRPr>
            </a:p>
          </p:txBody>
        </p:sp>
        <p:sp>
          <p:nvSpPr>
            <p:cNvPr id="130091" name="Rectangle 1065"/>
            <p:cNvSpPr/>
            <p:nvPr/>
          </p:nvSpPr>
          <p:spPr>
            <a:xfrm>
              <a:off x="4992" y="2832"/>
              <a:ext cx="240" cy="288"/>
            </a:xfrm>
            <a:prstGeom prst="rect">
              <a:avLst/>
            </a:prstGeom>
            <a:noFill/>
            <a:ln w="9525">
              <a:noFill/>
            </a:ln>
          </p:spPr>
          <p:txBody>
            <a:bodyPr lIns="92075" tIns="46038" rIns="92075" bIns="46038" anchor="t" anchorCtr="0">
              <a:spAutoFit/>
            </a:bodyPr>
            <a:p>
              <a:pPr eaLnBrk="0" hangingPunct="0">
                <a:spcBef>
                  <a:spcPct val="50000"/>
                </a:spcBef>
              </a:pPr>
              <a:r>
                <a:rPr lang="en-US" altLang="zh-CN" b="1" i="1" dirty="0">
                  <a:latin typeface="Times New Roman" panose="02020603050405020304" pitchFamily="18" charset="0"/>
                  <a:ea typeface="SimSun" panose="02010600030101010101" pitchFamily="2" charset="-122"/>
                </a:rPr>
                <a:t>q</a:t>
              </a:r>
              <a:endParaRPr lang="en-US" altLang="zh-CN" b="1" i="1" dirty="0">
                <a:latin typeface="Times New Roman" panose="02020603050405020304" pitchFamily="18" charset="0"/>
                <a:ea typeface="SimSun" panose="02010600030101010101" pitchFamily="2" charset="-122"/>
              </a:endParaRPr>
            </a:p>
          </p:txBody>
        </p:sp>
        <p:sp>
          <p:nvSpPr>
            <p:cNvPr id="130092" name="Oval 1066"/>
            <p:cNvSpPr/>
            <p:nvPr/>
          </p:nvSpPr>
          <p:spPr>
            <a:xfrm>
              <a:off x="4858" y="3182"/>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3" name="Oval 1067"/>
            <p:cNvSpPr/>
            <p:nvPr/>
          </p:nvSpPr>
          <p:spPr>
            <a:xfrm>
              <a:off x="4506" y="3207"/>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4" name="Oval 1068"/>
            <p:cNvSpPr/>
            <p:nvPr/>
          </p:nvSpPr>
          <p:spPr>
            <a:xfrm>
              <a:off x="4647" y="3322"/>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5" name="Oval 1069"/>
            <p:cNvSpPr/>
            <p:nvPr/>
          </p:nvSpPr>
          <p:spPr>
            <a:xfrm>
              <a:off x="4954" y="2942"/>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6" name="Oval 1070"/>
            <p:cNvSpPr/>
            <p:nvPr/>
          </p:nvSpPr>
          <p:spPr>
            <a:xfrm>
              <a:off x="4602" y="2871"/>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7" name="Oval 1071"/>
            <p:cNvSpPr/>
            <p:nvPr/>
          </p:nvSpPr>
          <p:spPr>
            <a:xfrm>
              <a:off x="4791" y="3034"/>
              <a:ext cx="63"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8" name="Oval 1072"/>
            <p:cNvSpPr/>
            <p:nvPr/>
          </p:nvSpPr>
          <p:spPr>
            <a:xfrm>
              <a:off x="3524" y="2980"/>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099" name="Oval 1073"/>
            <p:cNvSpPr/>
            <p:nvPr/>
          </p:nvSpPr>
          <p:spPr>
            <a:xfrm>
              <a:off x="3860" y="3076"/>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0" name="Oval 1074"/>
            <p:cNvSpPr/>
            <p:nvPr/>
          </p:nvSpPr>
          <p:spPr>
            <a:xfrm>
              <a:off x="4244" y="2980"/>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1" name="Oval 1075"/>
            <p:cNvSpPr/>
            <p:nvPr/>
          </p:nvSpPr>
          <p:spPr>
            <a:xfrm>
              <a:off x="4484" y="2740"/>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2" name="Line 1076"/>
            <p:cNvSpPr/>
            <p:nvPr/>
          </p:nvSpPr>
          <p:spPr>
            <a:xfrm flipV="1">
              <a:off x="3888" y="3312"/>
              <a:ext cx="288" cy="96"/>
            </a:xfrm>
            <a:prstGeom prst="line">
              <a:avLst/>
            </a:prstGeom>
            <a:ln w="25400" cap="flat" cmpd="sng">
              <a:solidFill>
                <a:schemeClr val="tx1"/>
              </a:solidFill>
              <a:prstDash val="solid"/>
              <a:round/>
              <a:headEnd type="stealth" w="med" len="lg"/>
              <a:tailEnd type="none" w="sm" len="sm"/>
            </a:ln>
          </p:spPr>
        </p:sp>
        <p:sp>
          <p:nvSpPr>
            <p:cNvPr id="130103" name="Line 1077"/>
            <p:cNvSpPr/>
            <p:nvPr/>
          </p:nvSpPr>
          <p:spPr>
            <a:xfrm flipH="1">
              <a:off x="4272" y="3264"/>
              <a:ext cx="240" cy="48"/>
            </a:xfrm>
            <a:prstGeom prst="line">
              <a:avLst/>
            </a:prstGeom>
            <a:ln w="25400" cap="flat" cmpd="sng">
              <a:solidFill>
                <a:schemeClr val="tx1"/>
              </a:solidFill>
              <a:prstDash val="solid"/>
              <a:round/>
              <a:headEnd type="stealth" w="med" len="lg"/>
              <a:tailEnd type="none" w="sm" len="sm"/>
            </a:ln>
          </p:spPr>
        </p:sp>
        <p:sp>
          <p:nvSpPr>
            <p:cNvPr id="130104" name="Oval 1078"/>
            <p:cNvSpPr/>
            <p:nvPr/>
          </p:nvSpPr>
          <p:spPr>
            <a:xfrm>
              <a:off x="3818" y="2993"/>
              <a:ext cx="63"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5" name="Oval 1079"/>
            <p:cNvSpPr/>
            <p:nvPr/>
          </p:nvSpPr>
          <p:spPr>
            <a:xfrm>
              <a:off x="3694" y="3044"/>
              <a:ext cx="62" cy="62"/>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6" name="Oval 1080"/>
            <p:cNvSpPr/>
            <p:nvPr/>
          </p:nvSpPr>
          <p:spPr>
            <a:xfrm>
              <a:off x="3860" y="2807"/>
              <a:ext cx="62" cy="63"/>
            </a:xfrm>
            <a:prstGeom prst="ellipse">
              <a:avLst/>
            </a:prstGeom>
            <a:solidFill>
              <a:srgbClr val="CC3300"/>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7" name="Oval 1081"/>
            <p:cNvSpPr/>
            <p:nvPr/>
          </p:nvSpPr>
          <p:spPr>
            <a:xfrm>
              <a:off x="3428" y="2740"/>
              <a:ext cx="696" cy="696"/>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0108" name="Line 1082"/>
            <p:cNvSpPr/>
            <p:nvPr/>
          </p:nvSpPr>
          <p:spPr>
            <a:xfrm>
              <a:off x="3744" y="3072"/>
              <a:ext cx="96" cy="288"/>
            </a:xfrm>
            <a:prstGeom prst="line">
              <a:avLst/>
            </a:prstGeom>
            <a:ln w="25400" cap="flat" cmpd="sng">
              <a:solidFill>
                <a:schemeClr val="tx1"/>
              </a:solidFill>
              <a:prstDash val="solid"/>
              <a:round/>
              <a:headEnd type="stealth" w="med" len="lg"/>
              <a:tailEnd type="none" w="sm" len="sm"/>
            </a:ln>
          </p:spPr>
        </p:sp>
        <p:sp>
          <p:nvSpPr>
            <p:cNvPr id="130109" name="Line 1083"/>
            <p:cNvSpPr/>
            <p:nvPr/>
          </p:nvSpPr>
          <p:spPr>
            <a:xfrm flipH="1">
              <a:off x="4560" y="3072"/>
              <a:ext cx="240" cy="144"/>
            </a:xfrm>
            <a:prstGeom prst="line">
              <a:avLst/>
            </a:prstGeom>
            <a:ln w="25400" cap="flat" cmpd="sng">
              <a:solidFill>
                <a:schemeClr val="tx1"/>
              </a:solidFill>
              <a:prstDash val="solid"/>
              <a:round/>
              <a:headEnd type="stealth" w="med" len="lg"/>
              <a:tailEnd type="none" w="sm" len="sm"/>
            </a:ln>
          </p:spPr>
        </p:sp>
        <p:sp>
          <p:nvSpPr>
            <p:cNvPr id="130110" name="Rectangle 1084"/>
            <p:cNvSpPr/>
            <p:nvPr/>
          </p:nvSpPr>
          <p:spPr>
            <a:xfrm>
              <a:off x="4176" y="3312"/>
              <a:ext cx="240" cy="288"/>
            </a:xfrm>
            <a:prstGeom prst="rect">
              <a:avLst/>
            </a:prstGeom>
            <a:noFill/>
            <a:ln w="9525">
              <a:noFill/>
            </a:ln>
          </p:spPr>
          <p:txBody>
            <a:bodyPr lIns="92075" tIns="46038" rIns="92075" bIns="46038" anchor="t" anchorCtr="0">
              <a:spAutoFit/>
            </a:bodyPr>
            <a:p>
              <a:pPr eaLnBrk="0" hangingPunct="0">
                <a:spcBef>
                  <a:spcPct val="50000"/>
                </a:spcBef>
              </a:pPr>
              <a:r>
                <a:rPr lang="en-US" altLang="zh-CN" b="1" i="1" dirty="0">
                  <a:latin typeface="Times New Roman" panose="02020603050405020304" pitchFamily="18" charset="0"/>
                  <a:ea typeface="SimSun" panose="02010600030101010101" pitchFamily="2" charset="-122"/>
                </a:rPr>
                <a:t>o</a:t>
              </a:r>
              <a:endParaRPr lang="en-US" altLang="zh-CN" b="1" i="1" dirty="0">
                <a:latin typeface="Times New Roman" panose="02020603050405020304" pitchFamily="18" charset="0"/>
                <a:ea typeface="SimSun" panose="02010600030101010101" pitchFamily="2" charset="-122"/>
              </a:endParaRPr>
            </a:p>
          </p:txBody>
        </p:sp>
      </p:grpSp>
      <p:sp>
        <p:nvSpPr>
          <p:cNvPr id="130111" name="Line 1085"/>
          <p:cNvSpPr/>
          <p:nvPr/>
        </p:nvSpPr>
        <p:spPr>
          <a:xfrm flipV="1">
            <a:off x="6934200" y="2667000"/>
            <a:ext cx="457200" cy="304800"/>
          </a:xfrm>
          <a:prstGeom prst="line">
            <a:avLst/>
          </a:prstGeom>
          <a:ln w="25400" cap="flat" cmpd="sng">
            <a:solidFill>
              <a:schemeClr val="tx1"/>
            </a:solidFill>
            <a:prstDash val="solid"/>
            <a:round/>
            <a:headEnd type="none" w="med" len="med"/>
            <a:tailEnd type="stealth" w="med" len="lg"/>
          </a:ln>
        </p:spPr>
      </p:sp>
    </p:spTree>
  </p:cSld>
  <p:clrMapOvr>
    <a:masterClrMapping/>
  </p:clrMapOvr>
  <p:transition>
    <p:strips dir="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noChangeArrowheads="1"/>
          </p:cNvSpPr>
          <p:nvPr>
            <p:ph type="title"/>
          </p:nvPr>
        </p:nvSpPr>
        <p:spPr>
          <a:xfrm>
            <a:off x="1524000" y="228600"/>
            <a:ext cx="7239000" cy="99060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rPr>
              <a:t>DBSCAN: Density Based Spatial Clustering of Applications with Noise</a:t>
            </a:r>
            <a:endParaRPr kumimoji="0" lang="en-US" altLang="zh-CN" sz="32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endParaRPr>
          </a:p>
        </p:txBody>
      </p:sp>
      <p:sp>
        <p:nvSpPr>
          <p:cNvPr id="131074" name="Rectangle 3"/>
          <p:cNvSpPr>
            <a:spLocks noGrp="1"/>
          </p:cNvSpPr>
          <p:nvPr>
            <p:ph sz="quarter" idx="1"/>
          </p:nvPr>
        </p:nvSpPr>
        <p:spPr>
          <a:xfrm>
            <a:off x="457200" y="1676400"/>
            <a:ext cx="8305800" cy="48768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altLang="zh-CN" dirty="0">
                <a:ea typeface="SimSun" panose="02010600030101010101" pitchFamily="2" charset="-122"/>
              </a:rPr>
              <a:t>Relies on a </a:t>
            </a:r>
            <a:r>
              <a:rPr lang="en-US" altLang="zh-CN" i="1" dirty="0">
                <a:ea typeface="SimSun" panose="02010600030101010101" pitchFamily="2" charset="-122"/>
              </a:rPr>
              <a:t>density-based</a:t>
            </a:r>
            <a:r>
              <a:rPr lang="en-US" altLang="zh-CN" dirty="0">
                <a:ea typeface="SimSun" panose="02010600030101010101" pitchFamily="2" charset="-122"/>
              </a:rPr>
              <a:t> notion of cluster:  A </a:t>
            </a:r>
            <a:r>
              <a:rPr lang="en-US" altLang="zh-CN" i="1" dirty="0">
                <a:ea typeface="SimSun" panose="02010600030101010101" pitchFamily="2" charset="-122"/>
              </a:rPr>
              <a:t>cluster</a:t>
            </a:r>
            <a:r>
              <a:rPr lang="en-US" altLang="zh-CN" dirty="0">
                <a:ea typeface="SimSun" panose="02010600030101010101" pitchFamily="2" charset="-122"/>
              </a:rPr>
              <a:t> is defined as a maximal set of density-connected points</a:t>
            </a:r>
            <a:endParaRPr lang="en-US" altLang="zh-CN" dirty="0">
              <a:ea typeface="SimSun"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SimSun" panose="02010600030101010101" pitchFamily="2" charset="-122"/>
              </a:rPr>
              <a:t>Discovers clusters of arbitrary shape in spatial databases with noise</a:t>
            </a:r>
            <a:endParaRPr lang="en-US" altLang="zh-CN" dirty="0">
              <a:ea typeface="SimSun" panose="02010600030101010101" pitchFamily="2" charset="-122"/>
            </a:endParaRPr>
          </a:p>
        </p:txBody>
      </p:sp>
      <p:sp>
        <p:nvSpPr>
          <p:cNvPr id="13107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107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107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grpSp>
        <p:nvGrpSpPr>
          <p:cNvPr id="131078" name="Group 4"/>
          <p:cNvGrpSpPr/>
          <p:nvPr/>
        </p:nvGrpSpPr>
        <p:grpSpPr>
          <a:xfrm rot="5400000">
            <a:off x="685800" y="4295775"/>
            <a:ext cx="6324600" cy="2743200"/>
            <a:chOff x="672" y="1824"/>
            <a:chExt cx="4608" cy="2112"/>
          </a:xfrm>
        </p:grpSpPr>
        <p:sp>
          <p:nvSpPr>
            <p:cNvPr id="131079" name="Oval 5"/>
            <p:cNvSpPr/>
            <p:nvPr/>
          </p:nvSpPr>
          <p:spPr>
            <a:xfrm>
              <a:off x="1872" y="249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0" name="Oval 6"/>
            <p:cNvSpPr/>
            <p:nvPr/>
          </p:nvSpPr>
          <p:spPr>
            <a:xfrm>
              <a:off x="1824" y="273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1" name="Oval 7"/>
            <p:cNvSpPr/>
            <p:nvPr/>
          </p:nvSpPr>
          <p:spPr>
            <a:xfrm>
              <a:off x="2064" y="2784"/>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2" name="Oval 8"/>
            <p:cNvSpPr/>
            <p:nvPr/>
          </p:nvSpPr>
          <p:spPr>
            <a:xfrm>
              <a:off x="2160" y="249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3" name="Oval 9"/>
            <p:cNvSpPr/>
            <p:nvPr/>
          </p:nvSpPr>
          <p:spPr>
            <a:xfrm>
              <a:off x="2256" y="2928"/>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4" name="Oval 10"/>
            <p:cNvSpPr/>
            <p:nvPr/>
          </p:nvSpPr>
          <p:spPr>
            <a:xfrm>
              <a:off x="1872" y="297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5" name="Oval 11"/>
            <p:cNvSpPr/>
            <p:nvPr/>
          </p:nvSpPr>
          <p:spPr>
            <a:xfrm>
              <a:off x="2064" y="3120"/>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6" name="Oval 12"/>
            <p:cNvSpPr/>
            <p:nvPr/>
          </p:nvSpPr>
          <p:spPr>
            <a:xfrm>
              <a:off x="1968" y="3360"/>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7" name="Oval 13"/>
            <p:cNvSpPr/>
            <p:nvPr/>
          </p:nvSpPr>
          <p:spPr>
            <a:xfrm>
              <a:off x="2208" y="3504"/>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8" name="Oval 14"/>
            <p:cNvSpPr/>
            <p:nvPr/>
          </p:nvSpPr>
          <p:spPr>
            <a:xfrm>
              <a:off x="2304" y="369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89" name="Oval 15"/>
            <p:cNvSpPr/>
            <p:nvPr/>
          </p:nvSpPr>
          <p:spPr>
            <a:xfrm>
              <a:off x="2256" y="3264"/>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0" name="Oval 16"/>
            <p:cNvSpPr/>
            <p:nvPr/>
          </p:nvSpPr>
          <p:spPr>
            <a:xfrm>
              <a:off x="2880" y="1920"/>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1" name="Oval 17"/>
            <p:cNvSpPr/>
            <p:nvPr/>
          </p:nvSpPr>
          <p:spPr>
            <a:xfrm>
              <a:off x="2976" y="249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2" name="Oval 18"/>
            <p:cNvSpPr/>
            <p:nvPr/>
          </p:nvSpPr>
          <p:spPr>
            <a:xfrm>
              <a:off x="2832" y="2688"/>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3" name="Oval 19"/>
            <p:cNvSpPr/>
            <p:nvPr/>
          </p:nvSpPr>
          <p:spPr>
            <a:xfrm>
              <a:off x="3168" y="2784"/>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4" name="Oval 20"/>
            <p:cNvSpPr/>
            <p:nvPr/>
          </p:nvSpPr>
          <p:spPr>
            <a:xfrm>
              <a:off x="3264" y="2544"/>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5" name="Oval 21"/>
            <p:cNvSpPr/>
            <p:nvPr/>
          </p:nvSpPr>
          <p:spPr>
            <a:xfrm>
              <a:off x="2976" y="2880"/>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6" name="Rectangle 22"/>
            <p:cNvSpPr/>
            <p:nvPr/>
          </p:nvSpPr>
          <p:spPr>
            <a:xfrm>
              <a:off x="1392" y="1824"/>
              <a:ext cx="2448" cy="2112"/>
            </a:xfrm>
            <a:prstGeom prst="rect">
              <a:avLst/>
            </a:prstGeom>
            <a:no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31097" name="Oval 23"/>
            <p:cNvSpPr/>
            <p:nvPr/>
          </p:nvSpPr>
          <p:spPr>
            <a:xfrm>
              <a:off x="1584" y="2304"/>
              <a:ext cx="576" cy="624"/>
            </a:xfrm>
            <a:prstGeom prst="ellipse">
              <a:avLst/>
            </a:prstGeom>
            <a:noFill/>
            <a:ln w="9525" cap="flat" cmpd="sng">
              <a:solidFill>
                <a:schemeClr val="tx1"/>
              </a:solidFill>
              <a:prstDash val="dash"/>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8" name="Oval 24"/>
            <p:cNvSpPr/>
            <p:nvPr/>
          </p:nvSpPr>
          <p:spPr>
            <a:xfrm>
              <a:off x="1872" y="2880"/>
              <a:ext cx="576" cy="624"/>
            </a:xfrm>
            <a:prstGeom prst="ellipse">
              <a:avLst/>
            </a:prstGeom>
            <a:noFill/>
            <a:ln w="9525" cap="flat" cmpd="sng">
              <a:solidFill>
                <a:schemeClr val="tx1"/>
              </a:solidFill>
              <a:prstDash val="dash"/>
              <a:round/>
              <a:headEnd type="none" w="med" len="med"/>
              <a:tailEnd type="none" w="med" len="med"/>
            </a:ln>
          </p:spPr>
          <p:txBody>
            <a:bodyPr wrap="none" anchor="ctr" anchorCtr="0"/>
            <a:p>
              <a:endParaRPr lang="en-US" dirty="0">
                <a:latin typeface="Tahoma" panose="020B0604030504040204" pitchFamily="34" charset="0"/>
              </a:endParaRPr>
            </a:p>
          </p:txBody>
        </p:sp>
        <p:sp>
          <p:nvSpPr>
            <p:cNvPr id="131099" name="Oval 25"/>
            <p:cNvSpPr/>
            <p:nvPr/>
          </p:nvSpPr>
          <p:spPr>
            <a:xfrm>
              <a:off x="2688" y="1824"/>
              <a:ext cx="576" cy="624"/>
            </a:xfrm>
            <a:prstGeom prst="ellipse">
              <a:avLst/>
            </a:prstGeom>
            <a:noFill/>
            <a:ln w="9525" cap="flat" cmpd="sng">
              <a:solidFill>
                <a:schemeClr val="tx1"/>
              </a:solidFill>
              <a:prstDash val="dash"/>
              <a:round/>
              <a:headEnd type="none" w="med" len="med"/>
              <a:tailEnd type="none" w="med" len="med"/>
            </a:ln>
          </p:spPr>
          <p:txBody>
            <a:bodyPr wrap="none" anchor="ctr" anchorCtr="0"/>
            <a:p>
              <a:endParaRPr lang="en-US" dirty="0">
                <a:latin typeface="Tahoma" panose="020B0604030504040204" pitchFamily="34" charset="0"/>
              </a:endParaRPr>
            </a:p>
          </p:txBody>
        </p:sp>
        <p:sp>
          <p:nvSpPr>
            <p:cNvPr id="131100" name="AutoShape 26"/>
            <p:cNvSpPr/>
            <p:nvPr/>
          </p:nvSpPr>
          <p:spPr>
            <a:xfrm>
              <a:off x="1094" y="3124"/>
              <a:ext cx="576" cy="360"/>
            </a:xfrm>
            <a:prstGeom prst="borderCallout1">
              <a:avLst>
                <a:gd name="adj1" fmla="val 18750"/>
                <a:gd name="adj2" fmla="val 108333"/>
                <a:gd name="adj3" fmla="val 18750"/>
                <a:gd name="adj4" fmla="val 168750"/>
              </a:avLst>
            </a:prstGeom>
            <a:solidFill>
              <a:schemeClr val="bg1"/>
            </a:solidFill>
            <a:ln w="9525" cap="flat" cmpd="sng">
              <a:solidFill>
                <a:schemeClr val="tx1"/>
              </a:solidFill>
              <a:prstDash val="solid"/>
              <a:miter/>
              <a:headEnd type="none" w="med" len="med"/>
              <a:tailEnd type="none" w="med" len="med"/>
            </a:ln>
          </p:spPr>
          <p:txBody>
            <a:bodyPr anchor="t" anchorCtr="0">
              <a:spAutoFit/>
            </a:bodyPr>
            <a:p>
              <a:pPr eaLnBrk="0" hangingPunct="0"/>
              <a:r>
                <a:rPr lang="en-US" altLang="zh-CN" dirty="0">
                  <a:latin typeface="Times New Roman" panose="02020603050405020304" pitchFamily="18" charset="0"/>
                  <a:ea typeface="SimSun" panose="02010600030101010101" pitchFamily="2" charset="-122"/>
                </a:rPr>
                <a:t>Core</a:t>
              </a:r>
              <a:endParaRPr lang="en-US" altLang="zh-CN" dirty="0">
                <a:latin typeface="Times New Roman" panose="02020603050405020304" pitchFamily="18" charset="0"/>
                <a:ea typeface="SimSun" panose="02010600030101010101" pitchFamily="2" charset="-122"/>
              </a:endParaRPr>
            </a:p>
          </p:txBody>
        </p:sp>
        <p:sp>
          <p:nvSpPr>
            <p:cNvPr id="131101" name="AutoShape 27"/>
            <p:cNvSpPr/>
            <p:nvPr/>
          </p:nvSpPr>
          <p:spPr>
            <a:xfrm>
              <a:off x="672" y="2523"/>
              <a:ext cx="817" cy="359"/>
            </a:xfrm>
            <a:prstGeom prst="borderCallout1">
              <a:avLst>
                <a:gd name="adj1" fmla="val 14458"/>
                <a:gd name="adj2" fmla="val 105884"/>
                <a:gd name="adj3" fmla="val 14458"/>
                <a:gd name="adj4" fmla="val 148528"/>
              </a:avLst>
            </a:prstGeom>
            <a:solidFill>
              <a:schemeClr val="bg1"/>
            </a:solidFill>
            <a:ln w="9525" cap="flat" cmpd="sng">
              <a:solidFill>
                <a:schemeClr val="tx1"/>
              </a:solidFill>
              <a:prstDash val="solid"/>
              <a:miter/>
              <a:headEnd type="none" w="med" len="med"/>
              <a:tailEnd type="none" w="med" len="med"/>
            </a:ln>
          </p:spPr>
          <p:txBody>
            <a:bodyPr anchor="t" anchorCtr="0">
              <a:spAutoFit/>
            </a:bodyPr>
            <a:p>
              <a:pPr eaLnBrk="0" hangingPunct="0"/>
              <a:r>
                <a:rPr lang="en-US" altLang="zh-CN" dirty="0">
                  <a:latin typeface="Times New Roman" panose="02020603050405020304" pitchFamily="18" charset="0"/>
                  <a:ea typeface="SimSun" panose="02010600030101010101" pitchFamily="2" charset="-122"/>
                </a:rPr>
                <a:t>Border</a:t>
              </a:r>
              <a:endParaRPr lang="en-US" altLang="zh-CN" dirty="0">
                <a:latin typeface="Times New Roman" panose="02020603050405020304" pitchFamily="18" charset="0"/>
                <a:ea typeface="SimSun" panose="02010600030101010101" pitchFamily="2" charset="-122"/>
              </a:endParaRPr>
            </a:p>
          </p:txBody>
        </p:sp>
        <p:sp>
          <p:nvSpPr>
            <p:cNvPr id="131102" name="AutoShape 28"/>
            <p:cNvSpPr/>
            <p:nvPr/>
          </p:nvSpPr>
          <p:spPr>
            <a:xfrm>
              <a:off x="3697" y="1921"/>
              <a:ext cx="824" cy="359"/>
            </a:xfrm>
            <a:prstGeom prst="borderCallout1">
              <a:avLst>
                <a:gd name="adj1" fmla="val 24491"/>
                <a:gd name="adj2" fmla="val -5810"/>
                <a:gd name="adj3" fmla="val 21431"/>
                <a:gd name="adj4" fmla="val -82810"/>
              </a:avLst>
            </a:prstGeom>
            <a:solidFill>
              <a:schemeClr val="bg1"/>
            </a:solidFill>
            <a:ln w="9525" cap="flat" cmpd="sng">
              <a:solidFill>
                <a:schemeClr val="tx1"/>
              </a:solidFill>
              <a:prstDash val="solid"/>
              <a:miter/>
              <a:headEnd type="none" w="med" len="med"/>
              <a:tailEnd type="none" w="med" len="med"/>
            </a:ln>
          </p:spPr>
          <p:txBody>
            <a:bodyPr anchor="t" anchorCtr="0">
              <a:spAutoFit/>
            </a:bodyPr>
            <a:p>
              <a:pPr eaLnBrk="0" hangingPunct="0"/>
              <a:r>
                <a:rPr lang="en-US" altLang="zh-CN" dirty="0">
                  <a:latin typeface="Times New Roman" panose="02020603050405020304" pitchFamily="18" charset="0"/>
                  <a:ea typeface="SimSun" panose="02010600030101010101" pitchFamily="2" charset="-122"/>
                </a:rPr>
                <a:t>Outlier</a:t>
              </a:r>
              <a:endParaRPr lang="en-US" altLang="zh-CN" dirty="0">
                <a:latin typeface="Times New Roman" panose="02020603050405020304" pitchFamily="18" charset="0"/>
                <a:ea typeface="SimSun" panose="02010600030101010101" pitchFamily="2" charset="-122"/>
              </a:endParaRPr>
            </a:p>
          </p:txBody>
        </p:sp>
        <p:sp>
          <p:nvSpPr>
            <p:cNvPr id="131103" name="Text Box 29"/>
            <p:cNvSpPr txBox="1"/>
            <p:nvPr/>
          </p:nvSpPr>
          <p:spPr>
            <a:xfrm>
              <a:off x="4081" y="2736"/>
              <a:ext cx="1199" cy="773"/>
            </a:xfrm>
            <a:prstGeom prst="rect">
              <a:avLst/>
            </a:prstGeom>
            <a:noFill/>
            <a:ln w="9525">
              <a:noFill/>
            </a:ln>
          </p:spPr>
          <p:txBody>
            <a:bodyPr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Eps = 1cm</a:t>
              </a:r>
              <a:endParaRPr lang="en-US" altLang="zh-CN" dirty="0">
                <a:latin typeface="Times New Roman" panose="02020603050405020304" pitchFamily="18" charset="0"/>
                <a:ea typeface="SimSun" panose="02010600030101010101" pitchFamily="2" charset="-122"/>
              </a:endParaRPr>
            </a:p>
            <a:p>
              <a:pPr eaLnBrk="0" hangingPunct="0">
                <a:spcBef>
                  <a:spcPct val="50000"/>
                </a:spcBef>
              </a:pPr>
              <a:r>
                <a:rPr lang="en-US" altLang="zh-CN" dirty="0">
                  <a:latin typeface="Times New Roman" panose="02020603050405020304" pitchFamily="18" charset="0"/>
                  <a:ea typeface="SimSun" panose="02010600030101010101" pitchFamily="2" charset="-122"/>
                </a:rPr>
                <a:t>MinPts = 5</a:t>
              </a:r>
              <a:endParaRPr lang="en-US" altLang="zh-CN" dirty="0">
                <a:latin typeface="Times New Roman" panose="02020603050405020304" pitchFamily="18" charset="0"/>
                <a:ea typeface="SimSun" panose="02010600030101010101" pitchFamily="2" charset="-122"/>
              </a:endParaRPr>
            </a:p>
          </p:txBody>
        </p:sp>
        <p:sp>
          <p:nvSpPr>
            <p:cNvPr id="131104" name="Oval 30"/>
            <p:cNvSpPr/>
            <p:nvPr/>
          </p:nvSpPr>
          <p:spPr>
            <a:xfrm>
              <a:off x="2400" y="3456"/>
              <a:ext cx="144" cy="144"/>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grpSp>
    </p:spTree>
  </p:cSld>
  <p:clrMapOvr>
    <a:masterClrMapping/>
  </p:clrMapOvr>
  <p:transition>
    <p:strips dir="rd"/>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1026"/>
          <p:cNvSpPr>
            <a:spLocks noGrp="1"/>
          </p:cNvSpPr>
          <p:nvPr>
            <p:ph type="title"/>
          </p:nvPr>
        </p:nvSpPr>
        <p:spPr>
          <a:xfrm>
            <a:off x="1214438" y="796925"/>
            <a:ext cx="7437438" cy="387350"/>
          </a:xfrm>
          <a:noFill/>
          <a:ln>
            <a:noFill/>
          </a:ln>
        </p:spPr>
        <p:txBody>
          <a:bodyPr vert="horz" wrap="square" lIns="91440" tIns="45720" rIns="91440" bIns="45720" anchor="b"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kern="1200" cap="small" spc="0" normalizeH="0" baseline="0" noProof="1" dirty="0">
                <a:solidFill>
                  <a:schemeClr val="tx2"/>
                </a:solidFill>
                <a:latin typeface="+mj-lt"/>
                <a:ea typeface="SimSun" panose="02010600030101010101" pitchFamily="2" charset="-122"/>
                <a:cs typeface="+mj-cs"/>
              </a:rPr>
              <a:t>DBSCAN: THE ALGORITHM</a:t>
            </a:r>
            <a:endParaRPr kumimoji="0" lang="en-US" altLang="zh-CN" sz="29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2098" name="Rectangle 1027"/>
          <p:cNvSpPr>
            <a:spLocks noGrp="1"/>
          </p:cNvSpPr>
          <p:nvPr>
            <p:ph sz="quarter" idx="1"/>
          </p:nvPr>
        </p:nvSpPr>
        <p:spPr>
          <a:xfrm>
            <a:off x="457200" y="1676400"/>
            <a:ext cx="8305800" cy="4876800"/>
          </a:xfrm>
          <a:ln/>
        </p:spPr>
        <p:txBody>
          <a:bodyPr vert="horz" wrap="square" lIns="91440" tIns="45720" rIns="91440" bIns="45720" anchor="t" anchorCtr="0"/>
          <a:p>
            <a:pPr lvl="1" eaLnBrk="1" hangingPunct="1">
              <a:lnSpc>
                <a:spcPct val="12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Arbitrary select a point </a:t>
            </a:r>
            <a:r>
              <a:rPr lang="en-US" altLang="zh-CN" b="1" i="1" dirty="0">
                <a:ea typeface="SimSun" panose="02010600030101010101" pitchFamily="2" charset="-122"/>
              </a:rPr>
              <a:t>p</a:t>
            </a:r>
            <a:endParaRPr lang="en-US" altLang="zh-CN" dirty="0">
              <a:ea typeface="SimSun" panose="02010600030101010101" pitchFamily="2" charset="-122"/>
            </a:endParaRPr>
          </a:p>
          <a:p>
            <a:pPr lvl="1" eaLnBrk="1" hangingPunct="1">
              <a:lnSpc>
                <a:spcPct val="12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Retrieve all points density-reachable from </a:t>
            </a:r>
            <a:r>
              <a:rPr lang="en-US" altLang="zh-CN" b="1" i="1" dirty="0">
                <a:ea typeface="SimSun" panose="02010600030101010101" pitchFamily="2" charset="-122"/>
              </a:rPr>
              <a:t>p</a:t>
            </a:r>
            <a:r>
              <a:rPr lang="en-US" altLang="zh-CN" dirty="0">
                <a:ea typeface="SimSun" panose="02010600030101010101" pitchFamily="2" charset="-122"/>
              </a:rPr>
              <a:t> wrt </a:t>
            </a:r>
            <a:r>
              <a:rPr lang="en-US" altLang="zh-CN" b="1" i="1" dirty="0">
                <a:ea typeface="SimSun" panose="02010600030101010101" pitchFamily="2" charset="-122"/>
              </a:rPr>
              <a:t>Eps</a:t>
            </a:r>
            <a:r>
              <a:rPr lang="en-US" altLang="zh-CN" dirty="0">
                <a:ea typeface="SimSun" panose="02010600030101010101" pitchFamily="2" charset="-122"/>
              </a:rPr>
              <a:t> and </a:t>
            </a:r>
            <a:r>
              <a:rPr lang="en-US" altLang="zh-CN" b="1" i="1" dirty="0">
                <a:ea typeface="SimSun" panose="02010600030101010101" pitchFamily="2" charset="-122"/>
              </a:rPr>
              <a:t>MinPts</a:t>
            </a:r>
            <a:r>
              <a:rPr lang="en-US" altLang="zh-CN" dirty="0">
                <a:ea typeface="SimSun" panose="02010600030101010101" pitchFamily="2" charset="-122"/>
              </a:rPr>
              <a:t>.</a:t>
            </a:r>
            <a:endParaRPr lang="en-US" altLang="zh-CN" dirty="0">
              <a:ea typeface="SimSun" panose="02010600030101010101" pitchFamily="2" charset="-122"/>
            </a:endParaRPr>
          </a:p>
          <a:p>
            <a:pPr lvl="1" eaLnBrk="1" hangingPunct="1">
              <a:lnSpc>
                <a:spcPct val="12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If </a:t>
            </a:r>
            <a:r>
              <a:rPr lang="en-US" altLang="zh-CN" b="1" i="1" dirty="0">
                <a:ea typeface="SimSun" panose="02010600030101010101" pitchFamily="2" charset="-122"/>
              </a:rPr>
              <a:t>p</a:t>
            </a:r>
            <a:r>
              <a:rPr lang="en-US" altLang="zh-CN" dirty="0">
                <a:ea typeface="SimSun" panose="02010600030101010101" pitchFamily="2" charset="-122"/>
              </a:rPr>
              <a:t> is a core point, a cluster is formed.</a:t>
            </a:r>
            <a:endParaRPr lang="en-US" altLang="zh-CN" dirty="0">
              <a:ea typeface="SimSun" panose="02010600030101010101" pitchFamily="2" charset="-122"/>
            </a:endParaRPr>
          </a:p>
          <a:p>
            <a:pPr lvl="1" eaLnBrk="1" hangingPunct="1">
              <a:lnSpc>
                <a:spcPct val="12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If </a:t>
            </a:r>
            <a:r>
              <a:rPr lang="en-US" altLang="zh-CN" b="1" i="1" dirty="0">
                <a:ea typeface="SimSun" panose="02010600030101010101" pitchFamily="2" charset="-122"/>
              </a:rPr>
              <a:t>p</a:t>
            </a:r>
            <a:r>
              <a:rPr lang="en-US" altLang="zh-CN" dirty="0">
                <a:ea typeface="SimSun" panose="02010600030101010101" pitchFamily="2" charset="-122"/>
              </a:rPr>
              <a:t> is a border point, no points are density-reachable from </a:t>
            </a:r>
            <a:r>
              <a:rPr lang="en-US" altLang="zh-CN" b="1" i="1" dirty="0">
                <a:ea typeface="SimSun" panose="02010600030101010101" pitchFamily="2" charset="-122"/>
              </a:rPr>
              <a:t>p</a:t>
            </a:r>
            <a:r>
              <a:rPr lang="en-US" altLang="zh-CN" dirty="0">
                <a:ea typeface="SimSun" panose="02010600030101010101" pitchFamily="2" charset="-122"/>
              </a:rPr>
              <a:t> and DBSCAN visits the next point of the database.</a:t>
            </a:r>
            <a:endParaRPr lang="en-US" altLang="zh-CN" dirty="0">
              <a:ea typeface="SimSun" panose="02010600030101010101" pitchFamily="2" charset="-122"/>
            </a:endParaRPr>
          </a:p>
          <a:p>
            <a:pPr lvl="1" eaLnBrk="1" hangingPunct="1">
              <a:lnSpc>
                <a:spcPct val="120000"/>
              </a:lnSpc>
              <a:spcBef>
                <a:spcPct val="50000"/>
              </a:spcBef>
              <a:buClr>
                <a:schemeClr val="accent1"/>
              </a:buClr>
              <a:buSzPct val="80000"/>
              <a:buFont typeface="Wingdings 2" panose="05020102010507070707" pitchFamily="18" charset="2"/>
            </a:pPr>
            <a:r>
              <a:rPr lang="en-US" altLang="zh-CN" dirty="0">
                <a:ea typeface="SimSun" panose="02010600030101010101" pitchFamily="2" charset="-122"/>
              </a:rPr>
              <a:t>Continue the process until all of the points have been processed.</a:t>
            </a:r>
            <a:endParaRPr lang="en-US" altLang="zh-CN" sz="2000" dirty="0">
              <a:ea typeface="SimSun" panose="02010600030101010101" pitchFamily="2" charset="-122"/>
            </a:endParaRPr>
          </a:p>
        </p:txBody>
      </p:sp>
      <p:sp>
        <p:nvSpPr>
          <p:cNvPr id="13209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210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210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a:xfrm>
            <a:off x="457200" y="533400"/>
            <a:ext cx="8382000" cy="533400"/>
          </a:xfrm>
          <a:noFill/>
          <a:ln>
            <a:noFill/>
          </a:ln>
        </p:spPr>
        <p:txBody>
          <a:bodyPr vert="horz" wrap="square" lIns="91440" tIns="45720" rIns="91440" bIns="45720" anchor="b"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2900" b="0" i="0" u="none" strike="noStrike" kern="1200" cap="small" spc="0" normalizeH="0" baseline="0" noProof="1" dirty="0">
                <a:solidFill>
                  <a:schemeClr val="tx2"/>
                </a:solidFill>
                <a:latin typeface="+mj-lt"/>
                <a:ea typeface="SimSun" panose="02010600030101010101" pitchFamily="2" charset="-122"/>
                <a:cs typeface="+mj-cs"/>
              </a:rPr>
              <a:t>OPTICS:  A CLUSTER-ORDERING METHOD (1999)</a:t>
            </a:r>
            <a:endParaRPr kumimoji="0" lang="en-US" altLang="zh-CN" sz="3600" b="1"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3122" name="Rectangle 3"/>
          <p:cNvSpPr>
            <a:spLocks noGrp="1"/>
          </p:cNvSpPr>
          <p:nvPr>
            <p:ph sz="quarter" idx="1"/>
          </p:nvPr>
        </p:nvSpPr>
        <p:spPr>
          <a:xfrm>
            <a:off x="457200" y="1676400"/>
            <a:ext cx="8305800" cy="48768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altLang="zh-CN" dirty="0">
                <a:ea typeface="SimSun" panose="02010600030101010101" pitchFamily="2" charset="-122"/>
              </a:rPr>
              <a:t>OPTICS: Ordering Points To Identify the Clustering Structure</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Ankerst, Breunig, Kriegel, and Sander (SIGMOD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99)</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Produces a special order of the database wrt its density-based clustering structure  </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This cluster-ordering contains info equiv to the density-based clusterings corresponding to a broad range of parameter settings</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Good for both automatic and interactive cluster analysis, including finding intrinsic clustering structure</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Can be represented graphically or using visualization techniques</a:t>
            </a:r>
            <a:endParaRPr lang="en-US" altLang="zh-CN" dirty="0">
              <a:ea typeface="SimSun" panose="02010600030101010101" pitchFamily="2" charset="-122"/>
            </a:endParaRPr>
          </a:p>
        </p:txBody>
      </p:sp>
      <p:sp>
        <p:nvSpPr>
          <p:cNvPr id="13312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312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312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1026"/>
          <p:cNvSpPr>
            <a:spLocks noGrp="1"/>
          </p:cNvSpPr>
          <p:nvPr>
            <p:ph type="title"/>
          </p:nvPr>
        </p:nvSpPr>
        <p:spPr>
          <a:xfrm>
            <a:off x="1427163" y="741363"/>
            <a:ext cx="7224713" cy="442913"/>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2900" b="0" i="0" u="none" strike="noStrike" kern="1200" cap="small" spc="0" normalizeH="0" baseline="0" noProof="1" dirty="0">
                <a:solidFill>
                  <a:schemeClr val="tx2"/>
                </a:solidFill>
                <a:latin typeface="+mj-lt"/>
                <a:ea typeface="SimSun" panose="02010600030101010101" pitchFamily="2" charset="-122"/>
                <a:cs typeface="+mj-cs"/>
              </a:rPr>
              <a:t>OPTICS: SOME EXTENSION FROM DBSCAN</a:t>
            </a:r>
            <a:endParaRPr kumimoji="0" lang="en-US" altLang="zh-CN" sz="25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4146" name="Rectangle 1027"/>
          <p:cNvSpPr>
            <a:spLocks noGrp="1"/>
          </p:cNvSpPr>
          <p:nvPr>
            <p:ph sz="quarter" idx="1"/>
          </p:nvPr>
        </p:nvSpPr>
        <p:spPr>
          <a:xfrm>
            <a:off x="304800" y="1600200"/>
            <a:ext cx="8534400" cy="5029200"/>
          </a:xfrm>
          <a:ln/>
        </p:spPr>
        <p:txBody>
          <a:bodyPr vert="horz" wrap="square" lIns="92075" tIns="46038" rIns="92075" bIns="46038" anchor="t" anchorCtr="0"/>
          <a:p>
            <a:pPr eaLnBrk="1" hangingPunct="1">
              <a:buClr>
                <a:schemeClr val="accent1"/>
              </a:buClr>
              <a:buSzPct val="70000"/>
              <a:buFont typeface="Wingdings" panose="05000000000000000000" pitchFamily="2" charset="2"/>
            </a:pPr>
            <a:r>
              <a:rPr lang="en-US" altLang="zh-CN" dirty="0">
                <a:ea typeface="SimSun" panose="02010600030101010101" pitchFamily="2" charset="-122"/>
              </a:rPr>
              <a:t>Index-based: </a:t>
            </a:r>
            <a:endParaRPr lang="en-US" altLang="zh-CN" dirty="0">
              <a:ea typeface="SimSun" panose="02010600030101010101" pitchFamily="2" charset="-122"/>
            </a:endParaRPr>
          </a:p>
          <a:p>
            <a:pPr lvl="2" indent="-182245" eaLnBrk="1" hangingPunct="1">
              <a:lnSpc>
                <a:spcPct val="50000"/>
              </a:lnSpc>
              <a:spcBef>
                <a:spcPct val="50000"/>
              </a:spcBef>
              <a:buClr>
                <a:srgbClr val="E1307B"/>
              </a:buClr>
              <a:buSzPct val="60000"/>
              <a:buFont typeface="Wingdings" panose="05000000000000000000" pitchFamily="2" charset="2"/>
            </a:pPr>
            <a:r>
              <a:rPr lang="en-US" altLang="zh-CN" sz="1800" dirty="0">
                <a:ea typeface="SimSun" panose="02010600030101010101" pitchFamily="2" charset="-122"/>
              </a:rPr>
              <a:t>k = number of dimensions </a:t>
            </a:r>
            <a:endParaRPr lang="en-US" altLang="zh-CN" sz="1800" dirty="0">
              <a:ea typeface="SimSun" panose="02010600030101010101" pitchFamily="2" charset="-122"/>
            </a:endParaRPr>
          </a:p>
          <a:p>
            <a:pPr lvl="2" indent="-182245" eaLnBrk="1" hangingPunct="1">
              <a:lnSpc>
                <a:spcPct val="50000"/>
              </a:lnSpc>
              <a:spcBef>
                <a:spcPct val="50000"/>
              </a:spcBef>
              <a:buClr>
                <a:srgbClr val="E1307B"/>
              </a:buClr>
              <a:buSzPct val="60000"/>
              <a:buFont typeface="Wingdings" panose="05000000000000000000" pitchFamily="2" charset="2"/>
            </a:pPr>
            <a:r>
              <a:rPr lang="en-US" altLang="zh-CN" sz="1800" dirty="0">
                <a:ea typeface="SimSun" panose="02010600030101010101" pitchFamily="2" charset="-122"/>
              </a:rPr>
              <a:t>N = 20</a:t>
            </a:r>
            <a:endParaRPr lang="en-US" altLang="zh-CN" sz="1800" dirty="0">
              <a:ea typeface="SimSun" panose="02010600030101010101" pitchFamily="2" charset="-122"/>
            </a:endParaRPr>
          </a:p>
          <a:p>
            <a:pPr lvl="2" indent="-182245" eaLnBrk="1" hangingPunct="1">
              <a:lnSpc>
                <a:spcPct val="50000"/>
              </a:lnSpc>
              <a:spcBef>
                <a:spcPct val="50000"/>
              </a:spcBef>
              <a:buClr>
                <a:srgbClr val="E1307B"/>
              </a:buClr>
              <a:buSzPct val="60000"/>
              <a:buFont typeface="Wingdings" panose="05000000000000000000" pitchFamily="2" charset="2"/>
            </a:pPr>
            <a:r>
              <a:rPr lang="en-US" altLang="zh-CN" sz="1800" dirty="0">
                <a:ea typeface="SimSun" panose="02010600030101010101" pitchFamily="2" charset="-122"/>
              </a:rPr>
              <a:t>p = 75%</a:t>
            </a:r>
            <a:endParaRPr lang="en-US" altLang="zh-CN" sz="1800" dirty="0">
              <a:ea typeface="SimSun" panose="02010600030101010101" pitchFamily="2" charset="-122"/>
            </a:endParaRPr>
          </a:p>
          <a:p>
            <a:pPr lvl="2" indent="-182245" eaLnBrk="1" hangingPunct="1">
              <a:lnSpc>
                <a:spcPct val="50000"/>
              </a:lnSpc>
              <a:spcBef>
                <a:spcPct val="50000"/>
              </a:spcBef>
              <a:buClr>
                <a:srgbClr val="E1307B"/>
              </a:buClr>
              <a:buSzPct val="60000"/>
              <a:buFont typeface="Wingdings" panose="05000000000000000000" pitchFamily="2" charset="2"/>
            </a:pPr>
            <a:r>
              <a:rPr lang="en-US" altLang="zh-CN" sz="1800" dirty="0">
                <a:ea typeface="SimSun" panose="02010600030101010101" pitchFamily="2" charset="-122"/>
              </a:rPr>
              <a:t>M = N(1-p) = 5</a:t>
            </a:r>
            <a:endParaRPr lang="en-US" altLang="zh-CN" sz="1800" dirty="0">
              <a:ea typeface="SimSun"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SimSun" panose="02010600030101010101" pitchFamily="2" charset="-122"/>
              </a:rPr>
              <a:t>Complexity:  O(</a:t>
            </a:r>
            <a:r>
              <a:rPr lang="en-US" altLang="zh-CN" i="1" dirty="0">
                <a:ea typeface="SimSun" panose="02010600030101010101" pitchFamily="2" charset="-122"/>
              </a:rPr>
              <a:t>kN</a:t>
            </a:r>
            <a:r>
              <a:rPr lang="en-US" altLang="zh-CN" i="1" baseline="30000" dirty="0">
                <a:ea typeface="SimSun" panose="02010600030101010101" pitchFamily="2" charset="-122"/>
              </a:rPr>
              <a:t>2</a:t>
            </a:r>
            <a:r>
              <a:rPr lang="en-US" altLang="zh-CN" dirty="0">
                <a:ea typeface="SimSun" panose="02010600030101010101" pitchFamily="2" charset="-122"/>
              </a:rPr>
              <a:t>)</a:t>
            </a:r>
            <a:endParaRPr lang="en-US" altLang="zh-CN" dirty="0">
              <a:ea typeface="SimSun"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SimSun" panose="02010600030101010101" pitchFamily="2" charset="-122"/>
              </a:rPr>
              <a:t>Core Distance</a:t>
            </a:r>
            <a:endParaRPr lang="en-US" altLang="zh-CN" dirty="0">
              <a:ea typeface="SimSun" panose="02010600030101010101" pitchFamily="2" charset="-122"/>
            </a:endParaRPr>
          </a:p>
          <a:p>
            <a:pPr lvl="1" eaLnBrk="1" hangingPunct="1">
              <a:buClr>
                <a:schemeClr val="accent1"/>
              </a:buClr>
              <a:buSzPct val="80000"/>
              <a:buFont typeface="Wingdings 2" panose="05020102010507070707" pitchFamily="18" charset="2"/>
            </a:pPr>
            <a:endParaRPr lang="en-US" altLang="zh-CN" dirty="0">
              <a:ea typeface="SimSun"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SimSun" panose="02010600030101010101" pitchFamily="2" charset="-122"/>
              </a:rPr>
              <a:t>Reachability Distance</a:t>
            </a:r>
            <a:endParaRPr lang="en-US" altLang="zh-CN" dirty="0">
              <a:ea typeface="SimSun" panose="02010600030101010101" pitchFamily="2" charset="-122"/>
            </a:endParaRPr>
          </a:p>
          <a:p>
            <a:pPr lvl="1" eaLnBrk="1" hangingPunct="1">
              <a:lnSpc>
                <a:spcPct val="80000"/>
              </a:lnSpc>
              <a:buClr>
                <a:schemeClr val="accent1"/>
              </a:buClr>
              <a:buSzPct val="80000"/>
              <a:buFont typeface="Wingdings 2" panose="05020102010507070707" pitchFamily="18" charset="2"/>
            </a:pPr>
            <a:endParaRPr lang="zh-CN" altLang="en-US" dirty="0">
              <a:ea typeface="SimSun" panose="02010600030101010101" pitchFamily="2" charset="-122"/>
            </a:endParaRPr>
          </a:p>
        </p:txBody>
      </p:sp>
      <p:sp>
        <p:nvSpPr>
          <p:cNvPr id="13414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414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414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134150" name="Oval 1028"/>
          <p:cNvSpPr/>
          <p:nvPr/>
        </p:nvSpPr>
        <p:spPr>
          <a:xfrm>
            <a:off x="5699125" y="1758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1" name="Oval 1029"/>
          <p:cNvSpPr/>
          <p:nvPr/>
        </p:nvSpPr>
        <p:spPr>
          <a:xfrm>
            <a:off x="5775325" y="2139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2" name="Oval 1030"/>
          <p:cNvSpPr/>
          <p:nvPr/>
        </p:nvSpPr>
        <p:spPr>
          <a:xfrm>
            <a:off x="6080125" y="20637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3" name="Oval 1031"/>
          <p:cNvSpPr/>
          <p:nvPr/>
        </p:nvSpPr>
        <p:spPr>
          <a:xfrm>
            <a:off x="5546725" y="2520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4" name="Oval 1032"/>
          <p:cNvSpPr/>
          <p:nvPr/>
        </p:nvSpPr>
        <p:spPr>
          <a:xfrm>
            <a:off x="6384925" y="2139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5" name="Oval 1033"/>
          <p:cNvSpPr/>
          <p:nvPr/>
        </p:nvSpPr>
        <p:spPr>
          <a:xfrm>
            <a:off x="6080125" y="1758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6" name="Oval 1034"/>
          <p:cNvSpPr/>
          <p:nvPr/>
        </p:nvSpPr>
        <p:spPr>
          <a:xfrm>
            <a:off x="5851525" y="28257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7" name="Oval 1035"/>
          <p:cNvSpPr/>
          <p:nvPr/>
        </p:nvSpPr>
        <p:spPr>
          <a:xfrm>
            <a:off x="6689725" y="19113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8" name="Oval 1036"/>
          <p:cNvSpPr/>
          <p:nvPr/>
        </p:nvSpPr>
        <p:spPr>
          <a:xfrm>
            <a:off x="6461125" y="16065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59" name="Oval 1037"/>
          <p:cNvSpPr/>
          <p:nvPr/>
        </p:nvSpPr>
        <p:spPr>
          <a:xfrm>
            <a:off x="6689725" y="22923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0" name="Oval 1038"/>
          <p:cNvSpPr/>
          <p:nvPr/>
        </p:nvSpPr>
        <p:spPr>
          <a:xfrm>
            <a:off x="6537325" y="25971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1" name="Oval 1039"/>
          <p:cNvSpPr/>
          <p:nvPr/>
        </p:nvSpPr>
        <p:spPr>
          <a:xfrm>
            <a:off x="6080125" y="23685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2" name="Oval 1040"/>
          <p:cNvSpPr/>
          <p:nvPr/>
        </p:nvSpPr>
        <p:spPr>
          <a:xfrm>
            <a:off x="5318125" y="2139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3" name="Oval 1041"/>
          <p:cNvSpPr/>
          <p:nvPr/>
        </p:nvSpPr>
        <p:spPr>
          <a:xfrm>
            <a:off x="8305800" y="236220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4" name="Oval 1042"/>
          <p:cNvSpPr/>
          <p:nvPr/>
        </p:nvSpPr>
        <p:spPr>
          <a:xfrm>
            <a:off x="6308725" y="29019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5" name="Oval 1043"/>
          <p:cNvSpPr/>
          <p:nvPr/>
        </p:nvSpPr>
        <p:spPr>
          <a:xfrm>
            <a:off x="7467600" y="304800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6" name="Oval 1044"/>
          <p:cNvSpPr/>
          <p:nvPr/>
        </p:nvSpPr>
        <p:spPr>
          <a:xfrm>
            <a:off x="7924800" y="281940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7" name="Oval 1045"/>
          <p:cNvSpPr/>
          <p:nvPr/>
        </p:nvSpPr>
        <p:spPr>
          <a:xfrm>
            <a:off x="7162800" y="1981200"/>
            <a:ext cx="1727200" cy="1727200"/>
          </a:xfrm>
          <a:prstGeom prst="ellipse">
            <a:avLst/>
          </a:prstGeom>
          <a:noFill/>
          <a:ln w="254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68" name="Line 1046"/>
          <p:cNvSpPr/>
          <p:nvPr/>
        </p:nvSpPr>
        <p:spPr>
          <a:xfrm>
            <a:off x="8153400" y="2895600"/>
            <a:ext cx="760413" cy="1588"/>
          </a:xfrm>
          <a:prstGeom prst="line">
            <a:avLst/>
          </a:prstGeom>
          <a:ln w="25400" cap="flat" cmpd="sng">
            <a:solidFill>
              <a:schemeClr val="tx1"/>
            </a:solidFill>
            <a:prstDash val="solid"/>
            <a:round/>
            <a:headEnd type="none" w="sm" len="sm"/>
            <a:tailEnd type="none" w="sm" len="sm"/>
          </a:ln>
        </p:spPr>
      </p:sp>
      <p:sp>
        <p:nvSpPr>
          <p:cNvPr id="134169" name="Rectangle 1047"/>
          <p:cNvSpPr/>
          <p:nvPr/>
        </p:nvSpPr>
        <p:spPr>
          <a:xfrm>
            <a:off x="8382000" y="2743200"/>
            <a:ext cx="434975"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D</a:t>
            </a:r>
            <a:endParaRPr lang="en-US" altLang="zh-CN" dirty="0">
              <a:latin typeface="Times New Roman" panose="02020603050405020304" pitchFamily="18" charset="0"/>
              <a:ea typeface="SimSun" panose="02010600030101010101" pitchFamily="2" charset="-122"/>
            </a:endParaRPr>
          </a:p>
        </p:txBody>
      </p:sp>
      <p:sp>
        <p:nvSpPr>
          <p:cNvPr id="134170" name="Oval 1048"/>
          <p:cNvSpPr/>
          <p:nvPr/>
        </p:nvSpPr>
        <p:spPr>
          <a:xfrm>
            <a:off x="7620000" y="220980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1" name="Oval 1049"/>
          <p:cNvSpPr/>
          <p:nvPr/>
        </p:nvSpPr>
        <p:spPr>
          <a:xfrm>
            <a:off x="6918325" y="16065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2" name="Oval 1050"/>
          <p:cNvSpPr/>
          <p:nvPr/>
        </p:nvSpPr>
        <p:spPr>
          <a:xfrm>
            <a:off x="5241925" y="1682750"/>
            <a:ext cx="238125" cy="238125"/>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3" name="Rectangle 1051"/>
          <p:cNvSpPr/>
          <p:nvPr/>
        </p:nvSpPr>
        <p:spPr>
          <a:xfrm>
            <a:off x="3810000" y="5105400"/>
            <a:ext cx="5334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p2</a:t>
            </a:r>
            <a:endParaRPr lang="en-US" altLang="zh-CN" dirty="0">
              <a:latin typeface="Times New Roman" panose="02020603050405020304" pitchFamily="18" charset="0"/>
              <a:ea typeface="SimSun" panose="02010600030101010101" pitchFamily="2" charset="-122"/>
            </a:endParaRPr>
          </a:p>
        </p:txBody>
      </p:sp>
      <p:sp>
        <p:nvSpPr>
          <p:cNvPr id="134174" name="Oval 1052"/>
          <p:cNvSpPr/>
          <p:nvPr/>
        </p:nvSpPr>
        <p:spPr>
          <a:xfrm>
            <a:off x="4349750" y="3733800"/>
            <a:ext cx="2197100" cy="2197100"/>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5" name="Oval 1053"/>
          <p:cNvSpPr/>
          <p:nvPr/>
        </p:nvSpPr>
        <p:spPr>
          <a:xfrm>
            <a:off x="5187950" y="43434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6" name="Oval 1054"/>
          <p:cNvSpPr/>
          <p:nvPr/>
        </p:nvSpPr>
        <p:spPr>
          <a:xfrm>
            <a:off x="4654550" y="45720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7" name="Oval 1055"/>
          <p:cNvSpPr/>
          <p:nvPr/>
        </p:nvSpPr>
        <p:spPr>
          <a:xfrm>
            <a:off x="5340350" y="47244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8" name="Oval 1056"/>
          <p:cNvSpPr/>
          <p:nvPr/>
        </p:nvSpPr>
        <p:spPr>
          <a:xfrm>
            <a:off x="5492750" y="52578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79" name="Oval 1057"/>
          <p:cNvSpPr/>
          <p:nvPr/>
        </p:nvSpPr>
        <p:spPr>
          <a:xfrm>
            <a:off x="6102350" y="46482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0" name="Oval 1058"/>
          <p:cNvSpPr/>
          <p:nvPr/>
        </p:nvSpPr>
        <p:spPr>
          <a:xfrm>
            <a:off x="5645150" y="38862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1" name="Oval 1059"/>
          <p:cNvSpPr/>
          <p:nvPr/>
        </p:nvSpPr>
        <p:spPr>
          <a:xfrm>
            <a:off x="6635750" y="4197350"/>
            <a:ext cx="2197100" cy="2197100"/>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2" name="Oval 1060"/>
          <p:cNvSpPr/>
          <p:nvPr/>
        </p:nvSpPr>
        <p:spPr>
          <a:xfrm>
            <a:off x="6940550" y="503555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3" name="Oval 1061"/>
          <p:cNvSpPr/>
          <p:nvPr/>
        </p:nvSpPr>
        <p:spPr>
          <a:xfrm>
            <a:off x="7626350" y="518795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4" name="Oval 1062"/>
          <p:cNvSpPr/>
          <p:nvPr/>
        </p:nvSpPr>
        <p:spPr>
          <a:xfrm>
            <a:off x="8388350" y="511175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5" name="Oval 1063"/>
          <p:cNvSpPr/>
          <p:nvPr/>
        </p:nvSpPr>
        <p:spPr>
          <a:xfrm>
            <a:off x="7931150" y="434975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4186" name="Rectangle 1064"/>
          <p:cNvSpPr/>
          <p:nvPr/>
        </p:nvSpPr>
        <p:spPr>
          <a:xfrm>
            <a:off x="5486400" y="5853113"/>
            <a:ext cx="1752600" cy="1004887"/>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MinPts = 5</a:t>
            </a:r>
            <a:endParaRPr lang="en-US" altLang="zh-CN" dirty="0">
              <a:latin typeface="Times New Roman" panose="02020603050405020304" pitchFamily="18" charset="0"/>
              <a:ea typeface="SimSun" panose="02010600030101010101" pitchFamily="2" charset="-122"/>
            </a:endParaRPr>
          </a:p>
          <a:p>
            <a:pPr eaLnBrk="0" hangingPunct="0">
              <a:spcBef>
                <a:spcPct val="50000"/>
              </a:spcBef>
            </a:pPr>
            <a:r>
              <a:rPr lang="en-US" altLang="zh-CN" dirty="0">
                <a:latin typeface="Symbol" panose="05050102010706020507" pitchFamily="18" charset="2"/>
                <a:ea typeface="SimSun" panose="02010600030101010101" pitchFamily="2" charset="-122"/>
              </a:rPr>
              <a:t>e</a:t>
            </a:r>
            <a:r>
              <a:rPr lang="en-US" altLang="zh-CN" dirty="0">
                <a:latin typeface="Times New Roman" panose="02020603050405020304" pitchFamily="18" charset="0"/>
                <a:ea typeface="SimSun" panose="02010600030101010101" pitchFamily="2" charset="-122"/>
              </a:rPr>
              <a:t>  = 3 cm</a:t>
            </a:r>
            <a:endParaRPr lang="en-US" altLang="zh-CN" dirty="0">
              <a:latin typeface="Times New Roman" panose="02020603050405020304" pitchFamily="18" charset="0"/>
              <a:ea typeface="SimSun" panose="02010600030101010101" pitchFamily="2" charset="-122"/>
            </a:endParaRPr>
          </a:p>
        </p:txBody>
      </p:sp>
      <p:sp>
        <p:nvSpPr>
          <p:cNvPr id="134187" name="Rectangle 1065"/>
          <p:cNvSpPr/>
          <p:nvPr/>
        </p:nvSpPr>
        <p:spPr>
          <a:xfrm>
            <a:off x="381000" y="5638800"/>
            <a:ext cx="4343400" cy="1004888"/>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Max (core-distance (o), d (o, p))</a:t>
            </a:r>
            <a:endParaRPr lang="en-US" altLang="zh-CN" dirty="0">
              <a:latin typeface="Times New Roman" panose="02020603050405020304" pitchFamily="18" charset="0"/>
              <a:ea typeface="SimSun" panose="02010600030101010101" pitchFamily="2" charset="-122"/>
            </a:endParaRPr>
          </a:p>
          <a:p>
            <a:pPr eaLnBrk="0" hangingPunct="0">
              <a:spcBef>
                <a:spcPct val="50000"/>
              </a:spcBef>
            </a:pPr>
            <a:r>
              <a:rPr lang="en-US" altLang="zh-CN" dirty="0">
                <a:latin typeface="Times New Roman" panose="02020603050405020304" pitchFamily="18" charset="0"/>
                <a:ea typeface="SimSun" panose="02010600030101010101" pitchFamily="2" charset="-122"/>
              </a:rPr>
              <a:t>r(p1, o) = 2.8cm.  r(p2,o) = 4cm</a:t>
            </a:r>
            <a:endParaRPr lang="en-US" altLang="zh-CN" dirty="0">
              <a:latin typeface="Times New Roman" panose="02020603050405020304" pitchFamily="18" charset="0"/>
              <a:ea typeface="SimSun" panose="02010600030101010101" pitchFamily="2" charset="-122"/>
            </a:endParaRPr>
          </a:p>
        </p:txBody>
      </p:sp>
      <p:sp>
        <p:nvSpPr>
          <p:cNvPr id="134188" name="Rectangle 1066"/>
          <p:cNvSpPr/>
          <p:nvPr/>
        </p:nvSpPr>
        <p:spPr>
          <a:xfrm>
            <a:off x="5029200" y="4718050"/>
            <a:ext cx="5334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o</a:t>
            </a:r>
            <a:endParaRPr lang="en-US" altLang="zh-CN" dirty="0">
              <a:latin typeface="Times New Roman" panose="02020603050405020304" pitchFamily="18" charset="0"/>
              <a:ea typeface="SimSun" panose="02010600030101010101" pitchFamily="2" charset="-122"/>
            </a:endParaRPr>
          </a:p>
        </p:txBody>
      </p:sp>
      <p:sp>
        <p:nvSpPr>
          <p:cNvPr id="134189" name="Line 1067"/>
          <p:cNvSpPr/>
          <p:nvPr/>
        </p:nvSpPr>
        <p:spPr>
          <a:xfrm>
            <a:off x="5335588" y="4567238"/>
            <a:ext cx="74612" cy="150812"/>
          </a:xfrm>
          <a:prstGeom prst="line">
            <a:avLst/>
          </a:prstGeom>
          <a:ln w="50800" cap="flat" cmpd="sng">
            <a:solidFill>
              <a:schemeClr val="tx1"/>
            </a:solidFill>
            <a:prstDash val="solid"/>
            <a:round/>
            <a:headEnd type="none" w="sm" len="sm"/>
            <a:tailEnd type="none" w="sm" len="sm"/>
          </a:ln>
        </p:spPr>
      </p:sp>
      <p:sp>
        <p:nvSpPr>
          <p:cNvPr id="134190" name="Rectangle 1068"/>
          <p:cNvSpPr/>
          <p:nvPr/>
        </p:nvSpPr>
        <p:spPr>
          <a:xfrm>
            <a:off x="7315200" y="5257800"/>
            <a:ext cx="5334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o</a:t>
            </a:r>
            <a:endParaRPr lang="en-US" altLang="zh-CN" dirty="0">
              <a:latin typeface="Times New Roman" panose="02020603050405020304" pitchFamily="18" charset="0"/>
              <a:ea typeface="SimSun" panose="02010600030101010101" pitchFamily="2" charset="-122"/>
            </a:endParaRPr>
          </a:p>
        </p:txBody>
      </p:sp>
      <p:sp>
        <p:nvSpPr>
          <p:cNvPr id="134191" name="Rectangle 1069"/>
          <p:cNvSpPr/>
          <p:nvPr/>
        </p:nvSpPr>
        <p:spPr>
          <a:xfrm>
            <a:off x="5029200" y="3962400"/>
            <a:ext cx="5334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dirty="0">
                <a:latin typeface="Times New Roman" panose="02020603050405020304" pitchFamily="18" charset="0"/>
                <a:ea typeface="SimSun" panose="02010600030101010101" pitchFamily="2" charset="-122"/>
              </a:rPr>
              <a:t>p1</a:t>
            </a:r>
            <a:endParaRPr lang="en-US" altLang="zh-CN" dirty="0">
              <a:latin typeface="Times New Roman" panose="02020603050405020304" pitchFamily="18" charset="0"/>
              <a:ea typeface="SimSun" panose="02010600030101010101" pitchFamily="2" charset="-122"/>
            </a:endParaRPr>
          </a:p>
        </p:txBody>
      </p:sp>
      <p:sp>
        <p:nvSpPr>
          <p:cNvPr id="134192" name="Line 1070"/>
          <p:cNvSpPr/>
          <p:nvPr/>
        </p:nvSpPr>
        <p:spPr>
          <a:xfrm flipH="1">
            <a:off x="4192588" y="4954588"/>
            <a:ext cx="1217612" cy="608012"/>
          </a:xfrm>
          <a:prstGeom prst="line">
            <a:avLst/>
          </a:prstGeom>
          <a:ln w="25400" cap="flat" cmpd="sng">
            <a:solidFill>
              <a:schemeClr val="tx1"/>
            </a:solidFill>
            <a:prstDash val="solid"/>
            <a:round/>
            <a:headEnd type="none" w="sm" len="sm"/>
            <a:tailEnd type="none" w="sm" len="sm"/>
          </a:ln>
        </p:spPr>
      </p:sp>
      <p:sp>
        <p:nvSpPr>
          <p:cNvPr id="134193" name="Oval 1071"/>
          <p:cNvSpPr/>
          <p:nvPr/>
        </p:nvSpPr>
        <p:spPr>
          <a:xfrm>
            <a:off x="4038600" y="5499100"/>
            <a:ext cx="215900" cy="215900"/>
          </a:xfrm>
          <a:prstGeom prst="ellipse">
            <a:avLst/>
          </a:prstGeom>
          <a:solidFill>
            <a:schemeClr val="accent1"/>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Tree>
  </p:cSld>
  <p:clrMapOvr>
    <a:masterClrMapping/>
  </p:clrMapOvr>
  <p:transition>
    <p:strips dir="rd"/>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Date Placeholder 1"/>
          <p:cNvSpPr>
            <a:spLocks noGrp="1"/>
          </p:cNvSpPr>
          <p:nvPr>
            <p:ph type="dt" sz="half" idx="10"/>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ea typeface="SimSun" panose="02010600030101010101" pitchFamily="2" charset="-122"/>
              </a:rPr>
            </a:fld>
            <a:endParaRPr lang="en-US" altLang="zh-CN" sz="1200" dirty="0">
              <a:solidFill>
                <a:schemeClr val="tx2"/>
              </a:solidFill>
              <a:ea typeface="SimSun" panose="02010600030101010101" pitchFamily="2" charset="-122"/>
            </a:endParaRPr>
          </a:p>
        </p:txBody>
      </p:sp>
      <p:sp>
        <p:nvSpPr>
          <p:cNvPr id="135170" name="Footer Placeholder 2"/>
          <p:cNvSpPr>
            <a:spLocks noGrp="1"/>
          </p:cNvSpPr>
          <p:nvPr>
            <p:ph type="ftr" sz="quarter" idx="11"/>
          </p:nvPr>
        </p:nvSpPr>
        <p:spPr>
          <a:xfrm>
            <a:off x="6989763" y="3736975"/>
            <a:ext cx="3200400" cy="36512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rPr>
              <a:t>Data Mining: Concepts and Techniques</a:t>
            </a:r>
            <a:endParaRPr lang="en-US" sz="1200" dirty="0">
              <a:solidFill>
                <a:schemeClr val="tx2"/>
              </a:solidFill>
            </a:endParaRPr>
          </a:p>
        </p:txBody>
      </p:sp>
      <p:sp>
        <p:nvSpPr>
          <p:cNvPr id="135171" name="Slide Number Placeholder 3"/>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ea typeface="SimSun" panose="02010600030101010101" pitchFamily="2" charset="-122"/>
              </a:rPr>
            </a:fld>
            <a:endParaRPr lang="en-US" altLang="zh-CN" sz="1400" b="1" dirty="0">
              <a:solidFill>
                <a:srgbClr val="FFFFFF"/>
              </a:solidFill>
              <a:ea typeface="SimSun" panose="02010600030101010101" pitchFamily="2" charset="-122"/>
            </a:endParaRPr>
          </a:p>
        </p:txBody>
      </p:sp>
      <p:sp>
        <p:nvSpPr>
          <p:cNvPr id="135172" name="Line 2"/>
          <p:cNvSpPr/>
          <p:nvPr/>
        </p:nvSpPr>
        <p:spPr>
          <a:xfrm>
            <a:off x="2133600" y="2439988"/>
            <a:ext cx="0" cy="3198812"/>
          </a:xfrm>
          <a:prstGeom prst="line">
            <a:avLst/>
          </a:prstGeom>
          <a:ln w="101600" cap="flat" cmpd="sng">
            <a:solidFill>
              <a:schemeClr val="tx1"/>
            </a:solidFill>
            <a:prstDash val="solid"/>
            <a:round/>
            <a:headEnd type="none" w="sm" len="sm"/>
            <a:tailEnd type="none" w="sm" len="sm"/>
          </a:ln>
        </p:spPr>
      </p:sp>
      <p:sp>
        <p:nvSpPr>
          <p:cNvPr id="135173" name="Line 3"/>
          <p:cNvSpPr/>
          <p:nvPr/>
        </p:nvSpPr>
        <p:spPr>
          <a:xfrm>
            <a:off x="2211388" y="5562600"/>
            <a:ext cx="6094412" cy="0"/>
          </a:xfrm>
          <a:prstGeom prst="line">
            <a:avLst/>
          </a:prstGeom>
          <a:ln w="101600" cap="flat" cmpd="sng">
            <a:solidFill>
              <a:schemeClr val="tx1"/>
            </a:solidFill>
            <a:prstDash val="solid"/>
            <a:round/>
            <a:headEnd type="none" w="sm" len="sm"/>
            <a:tailEnd type="none" w="sm" len="sm"/>
          </a:ln>
        </p:spPr>
      </p:sp>
      <p:sp>
        <p:nvSpPr>
          <p:cNvPr id="135174" name="Freeform 4"/>
          <p:cNvSpPr/>
          <p:nvPr/>
        </p:nvSpPr>
        <p:spPr>
          <a:xfrm>
            <a:off x="2057400" y="2408238"/>
            <a:ext cx="6280150" cy="3248025"/>
          </a:xfrm>
          <a:custGeom>
            <a:avLst/>
            <a:gdLst/>
            <a:ahLst/>
            <a:cxnLst>
              <a:cxn ang="0">
                <a:pos x="87" y="119"/>
              </a:cxn>
              <a:cxn ang="0">
                <a:pos x="150" y="308"/>
              </a:cxn>
              <a:cxn ang="0">
                <a:pos x="268" y="529"/>
              </a:cxn>
              <a:cxn ang="0">
                <a:pos x="324" y="726"/>
              </a:cxn>
              <a:cxn ang="0">
                <a:pos x="395" y="924"/>
              </a:cxn>
              <a:cxn ang="0">
                <a:pos x="418" y="1129"/>
              </a:cxn>
              <a:cxn ang="0">
                <a:pos x="442" y="1326"/>
              </a:cxn>
              <a:cxn ang="0">
                <a:pos x="663" y="1460"/>
              </a:cxn>
              <a:cxn ang="0">
                <a:pos x="923" y="1524"/>
              </a:cxn>
              <a:cxn ang="0">
                <a:pos x="1113" y="1389"/>
              </a:cxn>
              <a:cxn ang="0">
                <a:pos x="1263" y="1200"/>
              </a:cxn>
              <a:cxn ang="0">
                <a:pos x="1334" y="1018"/>
              </a:cxn>
              <a:cxn ang="0">
                <a:pos x="1492" y="1082"/>
              </a:cxn>
              <a:cxn ang="0">
                <a:pos x="1705" y="1003"/>
              </a:cxn>
              <a:cxn ang="0">
                <a:pos x="1760" y="1161"/>
              </a:cxn>
              <a:cxn ang="0">
                <a:pos x="1760" y="1350"/>
              </a:cxn>
              <a:cxn ang="0">
                <a:pos x="1910" y="1539"/>
              </a:cxn>
              <a:cxn ang="0">
                <a:pos x="2131" y="1555"/>
              </a:cxn>
              <a:cxn ang="0">
                <a:pos x="2313" y="1405"/>
              </a:cxn>
              <a:cxn ang="0">
                <a:pos x="2423" y="1176"/>
              </a:cxn>
              <a:cxn ang="0">
                <a:pos x="2542" y="979"/>
              </a:cxn>
              <a:cxn ang="0">
                <a:pos x="2605" y="1145"/>
              </a:cxn>
              <a:cxn ang="0">
                <a:pos x="2676" y="1366"/>
              </a:cxn>
              <a:cxn ang="0">
                <a:pos x="2905" y="1547"/>
              </a:cxn>
              <a:cxn ang="0">
                <a:pos x="3134" y="1555"/>
              </a:cxn>
              <a:cxn ang="0">
                <a:pos x="3323" y="1382"/>
              </a:cxn>
              <a:cxn ang="0">
                <a:pos x="3481" y="1168"/>
              </a:cxn>
              <a:cxn ang="0">
                <a:pos x="3576" y="924"/>
              </a:cxn>
              <a:cxn ang="0">
                <a:pos x="3639" y="703"/>
              </a:cxn>
              <a:cxn ang="0">
                <a:pos x="3805" y="561"/>
              </a:cxn>
              <a:cxn ang="0">
                <a:pos x="3931" y="671"/>
              </a:cxn>
              <a:cxn ang="0">
                <a:pos x="3947" y="892"/>
              </a:cxn>
              <a:cxn ang="0">
                <a:pos x="3947" y="1137"/>
              </a:cxn>
              <a:cxn ang="0">
                <a:pos x="3947" y="1374"/>
              </a:cxn>
              <a:cxn ang="0">
                <a:pos x="3947" y="1579"/>
              </a:cxn>
              <a:cxn ang="0">
                <a:pos x="3947" y="1800"/>
              </a:cxn>
              <a:cxn ang="0">
                <a:pos x="3947" y="1989"/>
              </a:cxn>
              <a:cxn ang="0">
                <a:pos x="3805" y="2013"/>
              </a:cxn>
              <a:cxn ang="0">
                <a:pos x="3600" y="1989"/>
              </a:cxn>
              <a:cxn ang="0">
                <a:pos x="3363" y="1989"/>
              </a:cxn>
              <a:cxn ang="0">
                <a:pos x="3126" y="1981"/>
              </a:cxn>
              <a:cxn ang="0">
                <a:pos x="2913" y="1981"/>
              </a:cxn>
              <a:cxn ang="0">
                <a:pos x="2676" y="1950"/>
              </a:cxn>
              <a:cxn ang="0">
                <a:pos x="2415" y="1950"/>
              </a:cxn>
              <a:cxn ang="0">
                <a:pos x="2210" y="1950"/>
              </a:cxn>
              <a:cxn ang="0">
                <a:pos x="1973" y="1966"/>
              </a:cxn>
              <a:cxn ang="0">
                <a:pos x="1737" y="1966"/>
              </a:cxn>
              <a:cxn ang="0">
                <a:pos x="1508" y="1966"/>
              </a:cxn>
              <a:cxn ang="0">
                <a:pos x="1279" y="1950"/>
              </a:cxn>
              <a:cxn ang="0">
                <a:pos x="1081" y="1918"/>
              </a:cxn>
              <a:cxn ang="0">
                <a:pos x="912" y="1939"/>
              </a:cxn>
              <a:cxn ang="0">
                <a:pos x="560" y="1926"/>
              </a:cxn>
              <a:cxn ang="0">
                <a:pos x="339" y="1958"/>
              </a:cxn>
              <a:cxn ang="0">
                <a:pos x="134" y="1966"/>
              </a:cxn>
              <a:cxn ang="0">
                <a:pos x="87" y="1784"/>
              </a:cxn>
              <a:cxn ang="0">
                <a:pos x="79" y="1555"/>
              </a:cxn>
              <a:cxn ang="0">
                <a:pos x="79" y="1318"/>
              </a:cxn>
              <a:cxn ang="0">
                <a:pos x="79" y="1074"/>
              </a:cxn>
              <a:cxn ang="0">
                <a:pos x="63" y="845"/>
              </a:cxn>
              <a:cxn ang="0">
                <a:pos x="55" y="616"/>
              </a:cxn>
              <a:cxn ang="0">
                <a:pos x="55" y="387"/>
              </a:cxn>
              <a:cxn ang="0">
                <a:pos x="55" y="174"/>
              </a:cxn>
            </a:cxnLst>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cmpd="sng">
            <a:solidFill>
              <a:schemeClr val="tx1"/>
            </a:solidFill>
            <a:prstDash val="solid"/>
            <a:round/>
            <a:headEnd type="none" w="sm" len="sm"/>
            <a:tailEnd type="none" w="sm" len="sm"/>
          </a:ln>
        </p:spPr>
        <p:txBody>
          <a:bodyPr/>
          <a:p>
            <a:endParaRPr lang="en-US"/>
          </a:p>
        </p:txBody>
      </p:sp>
      <p:sp>
        <p:nvSpPr>
          <p:cNvPr id="135175" name="Line 5"/>
          <p:cNvSpPr/>
          <p:nvPr/>
        </p:nvSpPr>
        <p:spPr>
          <a:xfrm>
            <a:off x="2592388" y="5486400"/>
            <a:ext cx="1522412" cy="0"/>
          </a:xfrm>
          <a:prstGeom prst="line">
            <a:avLst/>
          </a:prstGeom>
          <a:ln w="127000" cap="flat" cmpd="sng">
            <a:solidFill>
              <a:schemeClr val="tx1"/>
            </a:solidFill>
            <a:prstDash val="solid"/>
            <a:round/>
            <a:headEnd type="none" w="sm" len="sm"/>
            <a:tailEnd type="none" w="sm" len="sm"/>
          </a:ln>
        </p:spPr>
      </p:sp>
      <p:sp>
        <p:nvSpPr>
          <p:cNvPr id="135176" name="Line 6"/>
          <p:cNvSpPr/>
          <p:nvPr/>
        </p:nvSpPr>
        <p:spPr>
          <a:xfrm>
            <a:off x="2209800" y="4725988"/>
            <a:ext cx="0" cy="836612"/>
          </a:xfrm>
          <a:prstGeom prst="line">
            <a:avLst/>
          </a:prstGeom>
          <a:ln w="127000" cap="flat" cmpd="sng">
            <a:solidFill>
              <a:schemeClr val="tx1"/>
            </a:solidFill>
            <a:prstDash val="solid"/>
            <a:round/>
            <a:headEnd type="none" w="sm" len="sm"/>
            <a:tailEnd type="none" w="sm" len="sm"/>
          </a:ln>
        </p:spPr>
      </p:sp>
      <p:sp>
        <p:nvSpPr>
          <p:cNvPr id="135177" name="Line 7"/>
          <p:cNvSpPr/>
          <p:nvPr/>
        </p:nvSpPr>
        <p:spPr>
          <a:xfrm>
            <a:off x="1828800" y="1601788"/>
            <a:ext cx="0" cy="4189412"/>
          </a:xfrm>
          <a:prstGeom prst="line">
            <a:avLst/>
          </a:prstGeom>
          <a:ln w="12700" cap="flat" cmpd="sng">
            <a:solidFill>
              <a:schemeClr val="tx1"/>
            </a:solidFill>
            <a:prstDash val="solid"/>
            <a:round/>
            <a:headEnd type="stealth" w="med" len="lg"/>
            <a:tailEnd type="none" w="sm" len="sm"/>
          </a:ln>
        </p:spPr>
      </p:sp>
      <p:sp>
        <p:nvSpPr>
          <p:cNvPr id="135178" name="Line 8"/>
          <p:cNvSpPr/>
          <p:nvPr/>
        </p:nvSpPr>
        <p:spPr>
          <a:xfrm>
            <a:off x="1830388" y="5791200"/>
            <a:ext cx="6932612" cy="0"/>
          </a:xfrm>
          <a:prstGeom prst="line">
            <a:avLst/>
          </a:prstGeom>
          <a:ln w="12700" cap="flat" cmpd="sng">
            <a:solidFill>
              <a:schemeClr val="tx1"/>
            </a:solidFill>
            <a:prstDash val="solid"/>
            <a:round/>
            <a:headEnd type="none" w="sm" len="sm"/>
            <a:tailEnd type="stealth" w="med" len="lg"/>
          </a:ln>
        </p:spPr>
      </p:sp>
      <p:sp>
        <p:nvSpPr>
          <p:cNvPr id="135179" name="Rectangle 9"/>
          <p:cNvSpPr/>
          <p:nvPr/>
        </p:nvSpPr>
        <p:spPr>
          <a:xfrm>
            <a:off x="1355725" y="2193925"/>
            <a:ext cx="184150" cy="457200"/>
          </a:xfrm>
          <a:prstGeom prst="rect">
            <a:avLst/>
          </a:prstGeom>
          <a:noFill/>
          <a:ln w="9525">
            <a:noFill/>
          </a:ln>
        </p:spPr>
        <p:txBody>
          <a:bodyPr wrap="none" lIns="92075" tIns="46038" rIns="92075" bIns="46038" anchor="t" anchorCtr="0">
            <a:spAutoFit/>
          </a:bodyPr>
          <a:p>
            <a:endParaRPr lang="zh-CN" altLang="en-US" dirty="0">
              <a:latin typeface="Arial" panose="020B0604020202020204" pitchFamily="34" charset="0"/>
              <a:ea typeface="SimSun" panose="02010600030101010101" pitchFamily="2" charset="-122"/>
            </a:endParaRPr>
          </a:p>
        </p:txBody>
      </p:sp>
      <p:graphicFrame>
        <p:nvGraphicFramePr>
          <p:cNvPr id="135180" name="Object 10"/>
          <p:cNvGraphicFramePr/>
          <p:nvPr/>
        </p:nvGraphicFramePr>
        <p:xfrm>
          <a:off x="2433638" y="3586163"/>
          <a:ext cx="5489575" cy="441325"/>
        </p:xfrm>
        <a:graphic>
          <a:graphicData uri="http://schemas.openxmlformats.org/presentationml/2006/ole">
            <mc:AlternateContent xmlns:mc="http://schemas.openxmlformats.org/markup-compatibility/2006">
              <mc:Choice xmlns:v="urn:schemas-microsoft-com:vml" Requires="v">
                <p:oleObj spid="_x0000_s3134" name="" r:id="rId1" imgW="5489575" imgH="441325" progId="Word.Document.8">
                  <p:embed/>
                </p:oleObj>
              </mc:Choice>
              <mc:Fallback>
                <p:oleObj name="" r:id="rId1" imgW="5489575" imgH="441325" progId="Word.Document.8">
                  <p:embed/>
                  <p:pic>
                    <p:nvPicPr>
                      <p:cNvPr id="0" name="Picture 3133"/>
                      <p:cNvPicPr/>
                      <p:nvPr/>
                    </p:nvPicPr>
                    <p:blipFill>
                      <a:blip r:embed="rId2"/>
                      <a:stretch>
                        <a:fillRect/>
                      </a:stretch>
                    </p:blipFill>
                    <p:spPr>
                      <a:xfrm>
                        <a:off x="2433638" y="3586163"/>
                        <a:ext cx="5489575" cy="441325"/>
                      </a:xfrm>
                      <a:prstGeom prst="rect">
                        <a:avLst/>
                      </a:prstGeom>
                      <a:noFill/>
                      <a:ln w="38100">
                        <a:noFill/>
                        <a:miter/>
                      </a:ln>
                    </p:spPr>
                  </p:pic>
                </p:oleObj>
              </mc:Fallback>
            </mc:AlternateContent>
          </a:graphicData>
        </a:graphic>
      </p:graphicFrame>
      <p:graphicFrame>
        <p:nvGraphicFramePr>
          <p:cNvPr id="135181" name="Object 11"/>
          <p:cNvGraphicFramePr/>
          <p:nvPr/>
        </p:nvGraphicFramePr>
        <p:xfrm>
          <a:off x="1214438" y="2362200"/>
          <a:ext cx="474662" cy="750888"/>
        </p:xfrm>
        <a:graphic>
          <a:graphicData uri="http://schemas.openxmlformats.org/presentationml/2006/ole">
            <mc:AlternateContent xmlns:mc="http://schemas.openxmlformats.org/markup-compatibility/2006">
              <mc:Choice xmlns:v="urn:schemas-microsoft-com:vml" Requires="v">
                <p:oleObj spid="_x0000_s3135" name="" r:id="rId3" imgW="474980" imgH="751205" progId="Word.Document.8">
                  <p:embed/>
                </p:oleObj>
              </mc:Choice>
              <mc:Fallback>
                <p:oleObj name="" r:id="rId3" imgW="474980" imgH="751205" progId="Word.Document.8">
                  <p:embed/>
                  <p:pic>
                    <p:nvPicPr>
                      <p:cNvPr id="0" name="Picture 3134"/>
                      <p:cNvPicPr/>
                      <p:nvPr/>
                    </p:nvPicPr>
                    <p:blipFill>
                      <a:blip r:embed="rId4"/>
                      <a:stretch>
                        <a:fillRect/>
                      </a:stretch>
                    </p:blipFill>
                    <p:spPr>
                      <a:xfrm>
                        <a:off x="1214438" y="2362200"/>
                        <a:ext cx="474662" cy="750888"/>
                      </a:xfrm>
                      <a:prstGeom prst="rect">
                        <a:avLst/>
                      </a:prstGeom>
                      <a:noFill/>
                      <a:ln w="38100">
                        <a:noFill/>
                        <a:miter/>
                      </a:ln>
                    </p:spPr>
                  </p:pic>
                </p:oleObj>
              </mc:Fallback>
            </mc:AlternateContent>
          </a:graphicData>
        </a:graphic>
      </p:graphicFrame>
      <p:sp>
        <p:nvSpPr>
          <p:cNvPr id="135182" name="Rectangle 12"/>
          <p:cNvSpPr/>
          <p:nvPr/>
        </p:nvSpPr>
        <p:spPr>
          <a:xfrm>
            <a:off x="533400" y="685800"/>
            <a:ext cx="1828800" cy="676275"/>
          </a:xfrm>
          <a:prstGeom prst="rect">
            <a:avLst/>
          </a:prstGeom>
          <a:noFill/>
          <a:ln w="9525">
            <a:noFill/>
          </a:ln>
        </p:spPr>
        <p:txBody>
          <a:bodyPr lIns="92075" tIns="46038" rIns="92075" bIns="46038" anchor="t" anchorCtr="0">
            <a:spAutoFit/>
          </a:bodyPr>
          <a:p>
            <a:pPr eaLnBrk="0" hangingPunct="0">
              <a:lnSpc>
                <a:spcPct val="80000"/>
              </a:lnSpc>
              <a:spcBef>
                <a:spcPct val="50000"/>
              </a:spcBef>
            </a:pPr>
            <a:r>
              <a:rPr lang="en-US" altLang="zh-CN" b="1" dirty="0">
                <a:latin typeface="Times New Roman" panose="02020603050405020304" pitchFamily="18" charset="0"/>
                <a:ea typeface="SimSun" panose="02010600030101010101" pitchFamily="2" charset="-122"/>
              </a:rPr>
              <a:t>Reachability-distance</a:t>
            </a:r>
            <a:endParaRPr lang="en-US" altLang="zh-CN" b="1" dirty="0">
              <a:latin typeface="Times New Roman" panose="02020603050405020304" pitchFamily="18" charset="0"/>
              <a:ea typeface="SimSun" panose="02010600030101010101" pitchFamily="2" charset="-122"/>
            </a:endParaRPr>
          </a:p>
        </p:txBody>
      </p:sp>
      <p:sp>
        <p:nvSpPr>
          <p:cNvPr id="135183" name="Rectangle 13"/>
          <p:cNvSpPr/>
          <p:nvPr/>
        </p:nvSpPr>
        <p:spPr>
          <a:xfrm>
            <a:off x="6781800" y="5943600"/>
            <a:ext cx="2362200" cy="785813"/>
          </a:xfrm>
          <a:prstGeom prst="rect">
            <a:avLst/>
          </a:prstGeom>
          <a:noFill/>
          <a:ln w="9525">
            <a:noFill/>
          </a:ln>
        </p:spPr>
        <p:txBody>
          <a:bodyPr lIns="92075" tIns="46038" rIns="92075" bIns="46038" anchor="t" anchorCtr="0">
            <a:spAutoFit/>
          </a:bodyPr>
          <a:p>
            <a:pPr eaLnBrk="0" hangingPunct="0">
              <a:lnSpc>
                <a:spcPct val="70000"/>
              </a:lnSpc>
              <a:spcBef>
                <a:spcPct val="50000"/>
              </a:spcBef>
            </a:pPr>
            <a:r>
              <a:rPr lang="en-US" altLang="zh-CN" b="1" dirty="0">
                <a:latin typeface="Times New Roman" panose="02020603050405020304" pitchFamily="18" charset="0"/>
                <a:ea typeface="SimSun" panose="02010600030101010101" pitchFamily="2" charset="-122"/>
              </a:rPr>
              <a:t>Cluster-order</a:t>
            </a:r>
            <a:endParaRPr lang="en-US" altLang="zh-CN" b="1" dirty="0">
              <a:latin typeface="Times New Roman" panose="02020603050405020304" pitchFamily="18" charset="0"/>
              <a:ea typeface="SimSun" panose="02010600030101010101" pitchFamily="2" charset="-122"/>
            </a:endParaRPr>
          </a:p>
          <a:p>
            <a:pPr eaLnBrk="0" hangingPunct="0">
              <a:lnSpc>
                <a:spcPct val="70000"/>
              </a:lnSpc>
              <a:spcBef>
                <a:spcPct val="50000"/>
              </a:spcBef>
            </a:pPr>
            <a:r>
              <a:rPr lang="en-US" altLang="zh-CN" b="1" dirty="0">
                <a:latin typeface="Times New Roman" panose="02020603050405020304" pitchFamily="18" charset="0"/>
                <a:ea typeface="SimSun" panose="02010600030101010101" pitchFamily="2" charset="-122"/>
              </a:rPr>
              <a:t>of the objects</a:t>
            </a:r>
            <a:endParaRPr lang="en-US" altLang="zh-CN" dirty="0">
              <a:latin typeface="Times New Roman" panose="02020603050405020304" pitchFamily="18" charset="0"/>
              <a:ea typeface="SimSun" panose="02010600030101010101" pitchFamily="2" charset="-122"/>
            </a:endParaRPr>
          </a:p>
        </p:txBody>
      </p:sp>
      <p:sp>
        <p:nvSpPr>
          <p:cNvPr id="135184" name="Line 14"/>
          <p:cNvSpPr/>
          <p:nvPr/>
        </p:nvSpPr>
        <p:spPr>
          <a:xfrm flipH="1">
            <a:off x="3354388" y="2439988"/>
            <a:ext cx="684212" cy="1827212"/>
          </a:xfrm>
          <a:prstGeom prst="line">
            <a:avLst/>
          </a:prstGeom>
          <a:ln w="12700" cap="flat" cmpd="sng">
            <a:solidFill>
              <a:schemeClr val="tx1"/>
            </a:solidFill>
            <a:prstDash val="solid"/>
            <a:round/>
            <a:headEnd type="none" w="sm" len="sm"/>
            <a:tailEnd type="stealth" w="med" len="lg"/>
          </a:ln>
        </p:spPr>
      </p:sp>
      <p:sp>
        <p:nvSpPr>
          <p:cNvPr id="135185" name="Line 15"/>
          <p:cNvSpPr/>
          <p:nvPr/>
        </p:nvSpPr>
        <p:spPr>
          <a:xfrm>
            <a:off x="5410200" y="2668588"/>
            <a:ext cx="0" cy="1674812"/>
          </a:xfrm>
          <a:prstGeom prst="line">
            <a:avLst/>
          </a:prstGeom>
          <a:ln w="12700" cap="flat" cmpd="sng">
            <a:solidFill>
              <a:schemeClr val="tx1"/>
            </a:solidFill>
            <a:prstDash val="solid"/>
            <a:round/>
            <a:headEnd type="none" w="sm" len="sm"/>
            <a:tailEnd type="stealth" w="med" len="lg"/>
          </a:ln>
        </p:spPr>
      </p:sp>
      <p:sp>
        <p:nvSpPr>
          <p:cNvPr id="135186" name="Line 16"/>
          <p:cNvSpPr/>
          <p:nvPr/>
        </p:nvSpPr>
        <p:spPr>
          <a:xfrm>
            <a:off x="6173788" y="1906588"/>
            <a:ext cx="911225" cy="2359025"/>
          </a:xfrm>
          <a:prstGeom prst="line">
            <a:avLst/>
          </a:prstGeom>
          <a:ln w="12700" cap="flat" cmpd="sng">
            <a:solidFill>
              <a:schemeClr val="tx1"/>
            </a:solidFill>
            <a:prstDash val="solid"/>
            <a:round/>
            <a:headEnd type="none" w="sm" len="sm"/>
            <a:tailEnd type="stealth" w="med" len="lg"/>
          </a:ln>
        </p:spPr>
      </p:sp>
      <p:sp>
        <p:nvSpPr>
          <p:cNvPr id="135187" name="Line 17"/>
          <p:cNvSpPr/>
          <p:nvPr/>
        </p:nvSpPr>
        <p:spPr>
          <a:xfrm>
            <a:off x="2135188" y="5562600"/>
            <a:ext cx="6170612" cy="0"/>
          </a:xfrm>
          <a:prstGeom prst="line">
            <a:avLst/>
          </a:prstGeom>
          <a:ln w="101600" cap="flat" cmpd="sng">
            <a:solidFill>
              <a:schemeClr val="tx1"/>
            </a:solidFill>
            <a:prstDash val="solid"/>
            <a:round/>
            <a:headEnd type="none" w="sm" len="sm"/>
            <a:tailEnd type="none" w="sm" len="sm"/>
          </a:ln>
        </p:spPr>
      </p:sp>
      <p:sp>
        <p:nvSpPr>
          <p:cNvPr id="135188" name="Line 18"/>
          <p:cNvSpPr/>
          <p:nvPr/>
        </p:nvSpPr>
        <p:spPr>
          <a:xfrm>
            <a:off x="2058988" y="5638800"/>
            <a:ext cx="6246812" cy="0"/>
          </a:xfrm>
          <a:prstGeom prst="line">
            <a:avLst/>
          </a:prstGeom>
          <a:ln w="101600" cap="flat" cmpd="sng">
            <a:solidFill>
              <a:schemeClr val="tx1"/>
            </a:solidFill>
            <a:prstDash val="solid"/>
            <a:round/>
            <a:headEnd type="none" w="sm" len="sm"/>
            <a:tailEnd type="none" w="sm" len="sm"/>
          </a:ln>
        </p:spPr>
      </p:sp>
      <p:sp>
        <p:nvSpPr>
          <p:cNvPr id="135189" name="Line 19"/>
          <p:cNvSpPr/>
          <p:nvPr/>
        </p:nvSpPr>
        <p:spPr>
          <a:xfrm>
            <a:off x="1754188" y="2819400"/>
            <a:ext cx="150812" cy="0"/>
          </a:xfrm>
          <a:prstGeom prst="line">
            <a:avLst/>
          </a:prstGeom>
          <a:ln w="12700" cap="flat" cmpd="sng">
            <a:solidFill>
              <a:schemeClr val="tx1"/>
            </a:solidFill>
            <a:prstDash val="solid"/>
            <a:round/>
            <a:headEnd type="none" w="sm" len="sm"/>
            <a:tailEnd type="none" w="sm" len="sm"/>
          </a:ln>
        </p:spPr>
      </p:sp>
      <p:sp>
        <p:nvSpPr>
          <p:cNvPr id="135190" name="Line 20"/>
          <p:cNvSpPr/>
          <p:nvPr/>
        </p:nvSpPr>
        <p:spPr>
          <a:xfrm>
            <a:off x="1754188" y="2438400"/>
            <a:ext cx="150812" cy="0"/>
          </a:xfrm>
          <a:prstGeom prst="line">
            <a:avLst/>
          </a:prstGeom>
          <a:ln w="12700" cap="flat" cmpd="sng">
            <a:solidFill>
              <a:schemeClr val="tx1"/>
            </a:solidFill>
            <a:prstDash val="solid"/>
            <a:round/>
            <a:headEnd type="none" w="sm" len="sm"/>
            <a:tailEnd type="none" w="sm" len="sm"/>
          </a:ln>
        </p:spPr>
      </p:sp>
      <p:sp>
        <p:nvSpPr>
          <p:cNvPr id="135191" name="Rectangle 21"/>
          <p:cNvSpPr/>
          <p:nvPr/>
        </p:nvSpPr>
        <p:spPr>
          <a:xfrm>
            <a:off x="228600" y="2133600"/>
            <a:ext cx="1676400" cy="457200"/>
          </a:xfrm>
          <a:prstGeom prst="rect">
            <a:avLst/>
          </a:prstGeom>
          <a:noFill/>
          <a:ln w="9525">
            <a:noFill/>
          </a:ln>
        </p:spPr>
        <p:txBody>
          <a:bodyPr lIns="92075" tIns="46038" rIns="92075" bIns="46038" anchor="t" anchorCtr="0">
            <a:spAutoFit/>
          </a:bodyPr>
          <a:p>
            <a:pPr eaLnBrk="0" hangingPunct="0">
              <a:spcBef>
                <a:spcPct val="50000"/>
              </a:spcBef>
            </a:pPr>
            <a:r>
              <a:rPr lang="en-US" altLang="zh-CN" b="1" dirty="0">
                <a:latin typeface="Times New Roman" panose="02020603050405020304" pitchFamily="18" charset="0"/>
                <a:ea typeface="SimSun" panose="02010600030101010101" pitchFamily="2" charset="-122"/>
              </a:rPr>
              <a:t>undefined</a:t>
            </a:r>
            <a:endParaRPr lang="en-US" altLang="zh-CN" b="1" dirty="0">
              <a:latin typeface="Times New Roman" panose="02020603050405020304" pitchFamily="18" charset="0"/>
              <a:ea typeface="SimSun" panose="02010600030101010101" pitchFamily="2" charset="-122"/>
            </a:endParaRPr>
          </a:p>
        </p:txBody>
      </p:sp>
      <p:sp>
        <p:nvSpPr>
          <p:cNvPr id="135192" name="Line 22"/>
          <p:cNvSpPr/>
          <p:nvPr/>
        </p:nvSpPr>
        <p:spPr>
          <a:xfrm>
            <a:off x="1830388" y="4191000"/>
            <a:ext cx="7161212" cy="0"/>
          </a:xfrm>
          <a:prstGeom prst="line">
            <a:avLst/>
          </a:prstGeom>
          <a:ln w="12700" cap="flat" cmpd="sng">
            <a:solidFill>
              <a:srgbClr val="FF0000"/>
            </a:solidFill>
            <a:prstDash val="solid"/>
            <a:round/>
            <a:headEnd type="none" w="sm" len="sm"/>
            <a:tailEnd type="none" w="sm" len="sm"/>
          </a:ln>
        </p:spPr>
      </p:sp>
      <p:graphicFrame>
        <p:nvGraphicFramePr>
          <p:cNvPr id="135193" name="Object 23"/>
          <p:cNvGraphicFramePr/>
          <p:nvPr/>
        </p:nvGraphicFramePr>
        <p:xfrm>
          <a:off x="1290638" y="3757613"/>
          <a:ext cx="474662" cy="750887"/>
        </p:xfrm>
        <a:graphic>
          <a:graphicData uri="http://schemas.openxmlformats.org/presentationml/2006/ole">
            <mc:AlternateContent xmlns:mc="http://schemas.openxmlformats.org/markup-compatibility/2006">
              <mc:Choice xmlns:v="urn:schemas-microsoft-com:vml" Requires="v">
                <p:oleObj spid="_x0000_s3136" name="" r:id="rId5" imgW="474980" imgH="751205" progId="Word.Document.8">
                  <p:embed/>
                </p:oleObj>
              </mc:Choice>
              <mc:Fallback>
                <p:oleObj name="" r:id="rId5" imgW="474980" imgH="751205" progId="Word.Document.8">
                  <p:embed/>
                  <p:pic>
                    <p:nvPicPr>
                      <p:cNvPr id="0" name="Picture 3135"/>
                      <p:cNvPicPr/>
                      <p:nvPr/>
                    </p:nvPicPr>
                    <p:blipFill>
                      <a:blip r:embed="rId6"/>
                      <a:stretch>
                        <a:fillRect/>
                      </a:stretch>
                    </p:blipFill>
                    <p:spPr>
                      <a:xfrm>
                        <a:off x="1290638" y="3757613"/>
                        <a:ext cx="474662" cy="750887"/>
                      </a:xfrm>
                      <a:prstGeom prst="rect">
                        <a:avLst/>
                      </a:prstGeom>
                      <a:noFill/>
                      <a:ln w="38100">
                        <a:noFill/>
                        <a:miter/>
                      </a:ln>
                    </p:spPr>
                  </p:pic>
                </p:oleObj>
              </mc:Fallback>
            </mc:AlternateContent>
          </a:graphicData>
        </a:graphic>
      </p:graphicFrame>
      <p:sp>
        <p:nvSpPr>
          <p:cNvPr id="135194" name="Rectangle 24"/>
          <p:cNvSpPr/>
          <p:nvPr/>
        </p:nvSpPr>
        <p:spPr>
          <a:xfrm>
            <a:off x="1447800" y="3810000"/>
            <a:ext cx="381000" cy="579438"/>
          </a:xfrm>
          <a:prstGeom prst="rect">
            <a:avLst/>
          </a:prstGeom>
          <a:noFill/>
          <a:ln w="9525">
            <a:noFill/>
          </a:ln>
        </p:spPr>
        <p:txBody>
          <a:bodyPr lIns="92075" tIns="46038" rIns="92075" bIns="46038" anchor="t" anchorCtr="0">
            <a:spAutoFit/>
          </a:bodyPr>
          <a:p>
            <a:pPr eaLnBrk="0" hangingPunct="0">
              <a:spcBef>
                <a:spcPct val="50000"/>
              </a:spcBef>
            </a:pPr>
            <a:r>
              <a:rPr lang="zh-CN" altLang="en-US" sz="3200" b="1" dirty="0">
                <a:latin typeface="Times New Roman" panose="02020603050405020304" pitchFamily="18" charset="0"/>
                <a:ea typeface="SimSun" panose="02010600030101010101" pitchFamily="2" charset="-122"/>
              </a:rPr>
              <a:t>‘</a:t>
            </a:r>
            <a:endParaRPr lang="zh-CN" altLang="en-US" sz="3200" b="1" dirty="0">
              <a:latin typeface="Times New Roman" panose="02020603050405020304" pitchFamily="18" charset="0"/>
              <a:ea typeface="SimSun" panose="02010600030101010101" pitchFamily="2" charset="-122"/>
            </a:endParaRPr>
          </a:p>
        </p:txBody>
      </p:sp>
      <p:grpSp>
        <p:nvGrpSpPr>
          <p:cNvPr id="135195" name="Group 25"/>
          <p:cNvGrpSpPr/>
          <p:nvPr/>
        </p:nvGrpSpPr>
        <p:grpSpPr>
          <a:xfrm>
            <a:off x="3892550" y="1149350"/>
            <a:ext cx="2349500" cy="1816100"/>
            <a:chOff x="2452" y="724"/>
            <a:chExt cx="1480" cy="1144"/>
          </a:xfrm>
        </p:grpSpPr>
        <p:sp>
          <p:nvSpPr>
            <p:cNvPr id="135196" name="Oval 26"/>
            <p:cNvSpPr/>
            <p:nvPr/>
          </p:nvSpPr>
          <p:spPr>
            <a:xfrm>
              <a:off x="2644" y="110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197" name="Oval 27"/>
            <p:cNvSpPr/>
            <p:nvPr/>
          </p:nvSpPr>
          <p:spPr>
            <a:xfrm>
              <a:off x="2596" y="115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198" name="Oval 28"/>
            <p:cNvSpPr/>
            <p:nvPr/>
          </p:nvSpPr>
          <p:spPr>
            <a:xfrm>
              <a:off x="2548" y="115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199" name="Oval 29"/>
            <p:cNvSpPr/>
            <p:nvPr/>
          </p:nvSpPr>
          <p:spPr>
            <a:xfrm>
              <a:off x="2596" y="120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0" name="Oval 30"/>
            <p:cNvSpPr/>
            <p:nvPr/>
          </p:nvSpPr>
          <p:spPr>
            <a:xfrm>
              <a:off x="2692" y="120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1" name="Oval 31"/>
            <p:cNvSpPr/>
            <p:nvPr/>
          </p:nvSpPr>
          <p:spPr>
            <a:xfrm>
              <a:off x="2452" y="1252"/>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2" name="Oval 32"/>
            <p:cNvSpPr/>
            <p:nvPr/>
          </p:nvSpPr>
          <p:spPr>
            <a:xfrm>
              <a:off x="2596" y="134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3" name="Oval 33"/>
            <p:cNvSpPr/>
            <p:nvPr/>
          </p:nvSpPr>
          <p:spPr>
            <a:xfrm>
              <a:off x="2548" y="130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4" name="Oval 34"/>
            <p:cNvSpPr/>
            <p:nvPr/>
          </p:nvSpPr>
          <p:spPr>
            <a:xfrm>
              <a:off x="2740" y="134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5" name="Oval 35"/>
            <p:cNvSpPr/>
            <p:nvPr/>
          </p:nvSpPr>
          <p:spPr>
            <a:xfrm>
              <a:off x="2644" y="130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6" name="Oval 36"/>
            <p:cNvSpPr/>
            <p:nvPr/>
          </p:nvSpPr>
          <p:spPr>
            <a:xfrm>
              <a:off x="3364" y="134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7" name="Oval 37"/>
            <p:cNvSpPr/>
            <p:nvPr/>
          </p:nvSpPr>
          <p:spPr>
            <a:xfrm>
              <a:off x="3316" y="139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8" name="Oval 38"/>
            <p:cNvSpPr/>
            <p:nvPr/>
          </p:nvSpPr>
          <p:spPr>
            <a:xfrm>
              <a:off x="3268" y="139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09" name="Oval 39"/>
            <p:cNvSpPr/>
            <p:nvPr/>
          </p:nvSpPr>
          <p:spPr>
            <a:xfrm>
              <a:off x="3316" y="144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0" name="Oval 40"/>
            <p:cNvSpPr/>
            <p:nvPr/>
          </p:nvSpPr>
          <p:spPr>
            <a:xfrm>
              <a:off x="3412" y="144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1" name="Oval 41"/>
            <p:cNvSpPr/>
            <p:nvPr/>
          </p:nvSpPr>
          <p:spPr>
            <a:xfrm>
              <a:off x="3460" y="1492"/>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2" name="Oval 42"/>
            <p:cNvSpPr/>
            <p:nvPr/>
          </p:nvSpPr>
          <p:spPr>
            <a:xfrm>
              <a:off x="3316" y="158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3" name="Oval 43"/>
            <p:cNvSpPr/>
            <p:nvPr/>
          </p:nvSpPr>
          <p:spPr>
            <a:xfrm>
              <a:off x="3268" y="154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4" name="Oval 44"/>
            <p:cNvSpPr/>
            <p:nvPr/>
          </p:nvSpPr>
          <p:spPr>
            <a:xfrm>
              <a:off x="3460" y="158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5" name="Oval 45"/>
            <p:cNvSpPr/>
            <p:nvPr/>
          </p:nvSpPr>
          <p:spPr>
            <a:xfrm>
              <a:off x="3364" y="154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6" name="Oval 46"/>
            <p:cNvSpPr/>
            <p:nvPr/>
          </p:nvSpPr>
          <p:spPr>
            <a:xfrm>
              <a:off x="3700" y="72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7" name="Oval 47"/>
            <p:cNvSpPr/>
            <p:nvPr/>
          </p:nvSpPr>
          <p:spPr>
            <a:xfrm>
              <a:off x="3652" y="772"/>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8" name="Oval 48"/>
            <p:cNvSpPr/>
            <p:nvPr/>
          </p:nvSpPr>
          <p:spPr>
            <a:xfrm>
              <a:off x="3604" y="772"/>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19" name="Oval 49"/>
            <p:cNvSpPr/>
            <p:nvPr/>
          </p:nvSpPr>
          <p:spPr>
            <a:xfrm>
              <a:off x="3652" y="82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0" name="Oval 50"/>
            <p:cNvSpPr/>
            <p:nvPr/>
          </p:nvSpPr>
          <p:spPr>
            <a:xfrm>
              <a:off x="3748" y="82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1" name="Oval 51"/>
            <p:cNvSpPr/>
            <p:nvPr/>
          </p:nvSpPr>
          <p:spPr>
            <a:xfrm>
              <a:off x="3556" y="86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2" name="Oval 52"/>
            <p:cNvSpPr/>
            <p:nvPr/>
          </p:nvSpPr>
          <p:spPr>
            <a:xfrm>
              <a:off x="3652" y="96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3" name="Oval 53"/>
            <p:cNvSpPr/>
            <p:nvPr/>
          </p:nvSpPr>
          <p:spPr>
            <a:xfrm>
              <a:off x="3604" y="91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4" name="Oval 54"/>
            <p:cNvSpPr/>
            <p:nvPr/>
          </p:nvSpPr>
          <p:spPr>
            <a:xfrm>
              <a:off x="3796" y="96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5" name="Oval 55"/>
            <p:cNvSpPr/>
            <p:nvPr/>
          </p:nvSpPr>
          <p:spPr>
            <a:xfrm>
              <a:off x="3700" y="91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6" name="Oval 56"/>
            <p:cNvSpPr/>
            <p:nvPr/>
          </p:nvSpPr>
          <p:spPr>
            <a:xfrm>
              <a:off x="2740" y="106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7" name="Oval 57"/>
            <p:cNvSpPr/>
            <p:nvPr/>
          </p:nvSpPr>
          <p:spPr>
            <a:xfrm>
              <a:off x="2788" y="115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8" name="Oval 58"/>
            <p:cNvSpPr/>
            <p:nvPr/>
          </p:nvSpPr>
          <p:spPr>
            <a:xfrm>
              <a:off x="2836" y="130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29" name="Oval 59"/>
            <p:cNvSpPr/>
            <p:nvPr/>
          </p:nvSpPr>
          <p:spPr>
            <a:xfrm>
              <a:off x="2740" y="1252"/>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0" name="Oval 60"/>
            <p:cNvSpPr/>
            <p:nvPr/>
          </p:nvSpPr>
          <p:spPr>
            <a:xfrm>
              <a:off x="3556" y="158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1" name="Oval 61"/>
            <p:cNvSpPr/>
            <p:nvPr/>
          </p:nvSpPr>
          <p:spPr>
            <a:xfrm>
              <a:off x="2836" y="163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2" name="Oval 62"/>
            <p:cNvSpPr/>
            <p:nvPr/>
          </p:nvSpPr>
          <p:spPr>
            <a:xfrm>
              <a:off x="3892" y="106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3" name="Oval 63"/>
            <p:cNvSpPr/>
            <p:nvPr/>
          </p:nvSpPr>
          <p:spPr>
            <a:xfrm>
              <a:off x="3700" y="110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4" name="Oval 64"/>
            <p:cNvSpPr/>
            <p:nvPr/>
          </p:nvSpPr>
          <p:spPr>
            <a:xfrm>
              <a:off x="3844" y="134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5" name="Oval 65"/>
            <p:cNvSpPr/>
            <p:nvPr/>
          </p:nvSpPr>
          <p:spPr>
            <a:xfrm>
              <a:off x="3652" y="1492"/>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6" name="Oval 66"/>
            <p:cNvSpPr/>
            <p:nvPr/>
          </p:nvSpPr>
          <p:spPr>
            <a:xfrm>
              <a:off x="3220" y="72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7" name="Oval 67"/>
            <p:cNvSpPr/>
            <p:nvPr/>
          </p:nvSpPr>
          <p:spPr>
            <a:xfrm>
              <a:off x="3220" y="96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8" name="Oval 68"/>
            <p:cNvSpPr/>
            <p:nvPr/>
          </p:nvSpPr>
          <p:spPr>
            <a:xfrm>
              <a:off x="3316" y="106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39" name="Oval 69"/>
            <p:cNvSpPr/>
            <p:nvPr/>
          </p:nvSpPr>
          <p:spPr>
            <a:xfrm>
              <a:off x="3124" y="110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0" name="Oval 70"/>
            <p:cNvSpPr/>
            <p:nvPr/>
          </p:nvSpPr>
          <p:spPr>
            <a:xfrm>
              <a:off x="2692" y="168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1" name="Oval 71"/>
            <p:cNvSpPr/>
            <p:nvPr/>
          </p:nvSpPr>
          <p:spPr>
            <a:xfrm>
              <a:off x="2788" y="182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2" name="Oval 72"/>
            <p:cNvSpPr/>
            <p:nvPr/>
          </p:nvSpPr>
          <p:spPr>
            <a:xfrm>
              <a:off x="3268" y="158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3" name="Oval 73"/>
            <p:cNvSpPr/>
            <p:nvPr/>
          </p:nvSpPr>
          <p:spPr>
            <a:xfrm>
              <a:off x="3124" y="154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4" name="Oval 74"/>
            <p:cNvSpPr/>
            <p:nvPr/>
          </p:nvSpPr>
          <p:spPr>
            <a:xfrm>
              <a:off x="3028" y="1348"/>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5" name="Oval 75"/>
            <p:cNvSpPr/>
            <p:nvPr/>
          </p:nvSpPr>
          <p:spPr>
            <a:xfrm>
              <a:off x="3508" y="1156"/>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6" name="Oval 76"/>
            <p:cNvSpPr/>
            <p:nvPr/>
          </p:nvSpPr>
          <p:spPr>
            <a:xfrm>
              <a:off x="2932" y="820"/>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35247" name="Oval 77"/>
            <p:cNvSpPr/>
            <p:nvPr/>
          </p:nvSpPr>
          <p:spPr>
            <a:xfrm>
              <a:off x="3124" y="1444"/>
              <a:ext cx="40" cy="40"/>
            </a:xfrm>
            <a:prstGeom prst="ellipse">
              <a:avLst/>
            </a:prstGeom>
            <a:solidFill>
              <a:schemeClr val="tx2"/>
            </a:solidFill>
            <a:ln w="12700"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grpSp>
    </p:spTree>
  </p:cSld>
  <p:clrMapOvr>
    <a:masterClrMapping/>
  </p:clrMapOvr>
  <p:transition>
    <p:strips dir="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1026"/>
          <p:cNvSpPr>
            <a:spLocks noGrp="1"/>
          </p:cNvSpPr>
          <p:nvPr>
            <p:ph type="title"/>
          </p:nvPr>
        </p:nvSpPr>
        <p:spPr>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DENCLUE: USING DENSITY FUNCTIONS</a:t>
            </a:r>
            <a:endParaRPr kumimoji="0" lang="en-US" altLang="zh-CN" sz="28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6194" name="Rectangle 1027"/>
          <p:cNvSpPr>
            <a:spLocks noGrp="1"/>
          </p:cNvSpPr>
          <p:nvPr>
            <p:ph sz="quarter" idx="1"/>
          </p:nvPr>
        </p:nvSpPr>
        <p:spPr>
          <a:xfrm>
            <a:off x="304800" y="1752600"/>
            <a:ext cx="8534400" cy="4800600"/>
          </a:xfrm>
          <a:ln/>
        </p:spPr>
        <p:txBody>
          <a:bodyPr vert="horz" wrap="square" lIns="92075" tIns="46038" rIns="92075" bIns="46038" anchor="t" anchorCtr="0"/>
          <a:p>
            <a:pPr eaLnBrk="1" hangingPunct="1">
              <a:lnSpc>
                <a:spcPct val="110000"/>
              </a:lnSpc>
              <a:buClr>
                <a:schemeClr val="accent1"/>
              </a:buClr>
              <a:buSzPct val="70000"/>
              <a:buFont typeface="Wingdings" panose="05000000000000000000" pitchFamily="2" charset="2"/>
            </a:pPr>
            <a:r>
              <a:rPr lang="en-US" altLang="zh-CN" dirty="0">
                <a:ea typeface="SimSun" panose="02010600030101010101" pitchFamily="2" charset="-122"/>
              </a:rPr>
              <a:t>DENsity-based CLUstEring by Hinneburg &amp; Keim  (KDD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98)</a:t>
            </a:r>
            <a:endParaRPr lang="en-US" altLang="zh-CN" dirty="0">
              <a:ea typeface="SimSun" panose="02010600030101010101" pitchFamily="2" charset="-122"/>
            </a:endParaRPr>
          </a:p>
          <a:p>
            <a:pPr eaLnBrk="1" hangingPunct="1">
              <a:lnSpc>
                <a:spcPct val="110000"/>
              </a:lnSpc>
              <a:buClr>
                <a:schemeClr val="accent1"/>
              </a:buClr>
              <a:buSzPct val="70000"/>
              <a:buFont typeface="Wingdings" panose="05000000000000000000" pitchFamily="2" charset="2"/>
            </a:pPr>
            <a:r>
              <a:rPr lang="en-US" altLang="zh-CN" dirty="0">
                <a:ea typeface="SimSun" panose="02010600030101010101" pitchFamily="2" charset="-122"/>
              </a:rPr>
              <a:t>Major features</a:t>
            </a:r>
            <a:endParaRPr lang="en-US" altLang="zh-CN" dirty="0">
              <a:ea typeface="SimSun" panose="02010600030101010101" pitchFamily="2" charset="-122"/>
            </a:endParaRPr>
          </a:p>
          <a:p>
            <a:pPr lvl="1" eaLnBrk="1" hangingPunct="1">
              <a:lnSpc>
                <a:spcPct val="110000"/>
              </a:lnSpc>
              <a:buClr>
                <a:schemeClr val="accent1"/>
              </a:buClr>
              <a:buSzPct val="80000"/>
              <a:buFont typeface="Wingdings 2" panose="05020102010507070707" pitchFamily="18" charset="2"/>
            </a:pPr>
            <a:r>
              <a:rPr lang="en-US" altLang="zh-CN" dirty="0">
                <a:ea typeface="SimSun" panose="02010600030101010101" pitchFamily="2" charset="-122"/>
              </a:rPr>
              <a:t>Solid mathematical foundation</a:t>
            </a:r>
            <a:endParaRPr lang="en-US" altLang="zh-CN" dirty="0">
              <a:ea typeface="SimSun" panose="02010600030101010101" pitchFamily="2" charset="-122"/>
            </a:endParaRPr>
          </a:p>
          <a:p>
            <a:pPr lvl="1" eaLnBrk="1" hangingPunct="1">
              <a:lnSpc>
                <a:spcPct val="110000"/>
              </a:lnSpc>
              <a:buClr>
                <a:schemeClr val="accent1"/>
              </a:buClr>
              <a:buSzPct val="80000"/>
              <a:buFont typeface="Wingdings 2" panose="05020102010507070707" pitchFamily="18" charset="2"/>
            </a:pPr>
            <a:r>
              <a:rPr lang="en-US" altLang="zh-CN" dirty="0">
                <a:ea typeface="SimSun" panose="02010600030101010101" pitchFamily="2" charset="-122"/>
              </a:rPr>
              <a:t>Good for data sets with large amounts of noise</a:t>
            </a:r>
            <a:endParaRPr lang="en-US" altLang="zh-CN" dirty="0">
              <a:ea typeface="SimSun" panose="02010600030101010101" pitchFamily="2" charset="-122"/>
            </a:endParaRPr>
          </a:p>
          <a:p>
            <a:pPr lvl="1" eaLnBrk="1" hangingPunct="1">
              <a:lnSpc>
                <a:spcPct val="110000"/>
              </a:lnSpc>
              <a:buClr>
                <a:schemeClr val="accent1"/>
              </a:buClr>
              <a:buSzPct val="80000"/>
              <a:buFont typeface="Wingdings 2" panose="05020102010507070707" pitchFamily="18" charset="2"/>
            </a:pPr>
            <a:r>
              <a:rPr lang="en-US" altLang="zh-CN" dirty="0">
                <a:ea typeface="SimSun" panose="02010600030101010101" pitchFamily="2" charset="-122"/>
              </a:rPr>
              <a:t>Allows a compact mathematical description of arbitrarily shaped clusters in high-dimensional data sets</a:t>
            </a:r>
            <a:endParaRPr lang="en-US" altLang="zh-CN" dirty="0">
              <a:ea typeface="SimSun" panose="02010600030101010101" pitchFamily="2" charset="-122"/>
            </a:endParaRPr>
          </a:p>
          <a:p>
            <a:pPr lvl="1" eaLnBrk="1" hangingPunct="1">
              <a:lnSpc>
                <a:spcPct val="110000"/>
              </a:lnSpc>
              <a:buClr>
                <a:schemeClr val="accent1"/>
              </a:buClr>
              <a:buSzPct val="80000"/>
              <a:buFont typeface="Wingdings 2" panose="05020102010507070707" pitchFamily="18" charset="2"/>
            </a:pPr>
            <a:r>
              <a:rPr lang="en-US" altLang="zh-CN" dirty="0">
                <a:ea typeface="SimSun" panose="02010600030101010101" pitchFamily="2" charset="-122"/>
              </a:rPr>
              <a:t>Significant faster than existing algorithm (faster than DBSCAN by a factor of up to 45)</a:t>
            </a:r>
            <a:endParaRPr lang="en-US" altLang="zh-CN" dirty="0">
              <a:ea typeface="SimSun" panose="02010600030101010101" pitchFamily="2" charset="-122"/>
            </a:endParaRPr>
          </a:p>
          <a:p>
            <a:pPr lvl="1" eaLnBrk="1" hangingPunct="1">
              <a:lnSpc>
                <a:spcPct val="110000"/>
              </a:lnSpc>
              <a:buClr>
                <a:schemeClr val="accent1"/>
              </a:buClr>
              <a:buSzPct val="80000"/>
              <a:buFont typeface="Wingdings 2" panose="05020102010507070707" pitchFamily="18" charset="2"/>
            </a:pPr>
            <a:r>
              <a:rPr lang="en-US" altLang="zh-CN" dirty="0">
                <a:ea typeface="SimSun" panose="02010600030101010101" pitchFamily="2" charset="-122"/>
              </a:rPr>
              <a:t>But needs a large number of parameters</a:t>
            </a:r>
            <a:endParaRPr lang="en-US" altLang="zh-CN" dirty="0">
              <a:ea typeface="SimSun" panose="02010600030101010101" pitchFamily="2" charset="-122"/>
            </a:endParaRPr>
          </a:p>
        </p:txBody>
      </p:sp>
      <p:sp>
        <p:nvSpPr>
          <p:cNvPr id="13619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619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619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3"/>
          <p:cNvSpPr>
            <a:spLocks noGrp="1" noChangeArrowheads="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0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rPr>
              <a:t>Denclue: Technical Essence</a:t>
            </a:r>
            <a:endParaRPr kumimoji="0" lang="en-US" altLang="zh-CN" sz="3000" b="0" i="0" u="none" strike="noStrike" kern="1200" cap="small" spc="0" normalizeH="0" baseline="0" noProof="0" smtClean="0">
              <a:ln>
                <a:noFill/>
              </a:ln>
              <a:solidFill>
                <a:schemeClr val="tx2"/>
              </a:solidFill>
              <a:effectLst/>
              <a:uLnTx/>
              <a:uFillTx/>
              <a:latin typeface="+mj-lt"/>
              <a:ea typeface="SimSun" panose="02010600030101010101" pitchFamily="2" charset="-122"/>
              <a:cs typeface="+mj-cs"/>
            </a:endParaRPr>
          </a:p>
        </p:txBody>
      </p:sp>
      <p:sp>
        <p:nvSpPr>
          <p:cNvPr id="69635" name="Rectangle 2"/>
          <p:cNvSpPr>
            <a:spLocks noGrp="1" noChangeArrowheads="1"/>
          </p:cNvSpPr>
          <p:nvPr>
            <p:ph sz="quarter" idx="1"/>
          </p:nvPr>
        </p:nvSpPr>
        <p:spPr>
          <a:xfrm>
            <a:off x="533400" y="1600200"/>
            <a:ext cx="8077200" cy="44958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altLang="zh-CN" sz="2400" b="0" i="0" u="none" strike="noStrike" kern="1200" cap="none" spc="0" normalizeH="0" baseline="0" noProof="0" smtClean="0">
                <a:ln>
                  <a:noFill/>
                </a:ln>
                <a:solidFill>
                  <a:schemeClr val="tx1"/>
                </a:solidFill>
                <a:effectLst/>
                <a:uLnTx/>
                <a:uFillTx/>
                <a:latin typeface="+mn-lt"/>
                <a:ea typeface="+mn-ea"/>
                <a:cs typeface="+mn-cs"/>
              </a:rPr>
              <a:t>Uses grid cells but only keeps information about grid cells that do actually contain data points and manages these cells in a tree-based access structure.</a:t>
            </a:r>
            <a:endParaRPr kumimoji="0" lang="en-US" altLang="zh-CN"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altLang="zh-CN" sz="2400" b="0" i="0" u="none" strike="noStrike" kern="1200" cap="none" spc="0" normalizeH="0" baseline="0" noProof="0" smtClean="0">
                <a:ln>
                  <a:noFill/>
                </a:ln>
                <a:solidFill>
                  <a:schemeClr val="tx1"/>
                </a:solidFill>
                <a:effectLst/>
                <a:uLnTx/>
                <a:uFillTx/>
                <a:latin typeface="+mn-lt"/>
                <a:ea typeface="+mn-ea"/>
                <a:cs typeface="+mn-cs"/>
              </a:rPr>
              <a:t>Influence function: describes the impact of a data point within its neighborhood.</a:t>
            </a:r>
            <a:endParaRPr kumimoji="0" lang="en-US" altLang="zh-CN"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altLang="zh-CN" sz="2400" b="0" i="0" u="none" strike="noStrike" kern="1200" cap="none" spc="0" normalizeH="0" baseline="0" noProof="0" smtClean="0">
                <a:ln>
                  <a:noFill/>
                </a:ln>
                <a:solidFill>
                  <a:schemeClr val="tx1"/>
                </a:solidFill>
                <a:effectLst/>
                <a:uLnTx/>
                <a:uFillTx/>
                <a:latin typeface="+mn-lt"/>
                <a:ea typeface="+mn-ea"/>
                <a:cs typeface="+mn-cs"/>
              </a:rPr>
              <a:t>Overall density of the data space can be calculated as the sum of the influence function of all data points.</a:t>
            </a:r>
            <a:endParaRPr kumimoji="0" lang="en-US" altLang="zh-CN"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altLang="zh-CN" sz="2400" b="0" i="0" u="none" strike="noStrike" kern="1200" cap="none" spc="0" normalizeH="0" baseline="0" noProof="0" smtClean="0">
                <a:ln>
                  <a:noFill/>
                </a:ln>
                <a:solidFill>
                  <a:schemeClr val="tx1"/>
                </a:solidFill>
                <a:effectLst/>
                <a:uLnTx/>
                <a:uFillTx/>
                <a:latin typeface="+mn-lt"/>
                <a:ea typeface="+mn-ea"/>
                <a:cs typeface="+mn-cs"/>
              </a:rPr>
              <a:t>Clusters can be determined mathematically by identifying density attractors.</a:t>
            </a:r>
            <a:endParaRPr kumimoji="0" lang="en-US" altLang="zh-CN"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altLang="zh-CN" sz="2400" b="0" i="0" u="none" strike="noStrike" kern="1200" cap="none" spc="0" normalizeH="0" baseline="0" noProof="0" smtClean="0">
                <a:ln>
                  <a:noFill/>
                </a:ln>
                <a:solidFill>
                  <a:schemeClr val="tx1"/>
                </a:solidFill>
                <a:effectLst/>
                <a:uLnTx/>
                <a:uFillTx/>
                <a:latin typeface="+mn-lt"/>
                <a:ea typeface="+mn-ea"/>
                <a:cs typeface="+mn-cs"/>
              </a:rPr>
              <a:t>Density attractors are local maximal of the overall density function.</a:t>
            </a:r>
            <a:endParaRPr kumimoji="0" lang="en-US" altLang="zh-CN"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13721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722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722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6" name="Rectangle 1026"/>
          <p:cNvSpPr>
            <a:spLocks noGrp="1"/>
          </p:cNvSpPr>
          <p:nvPr>
            <p:ph type="title"/>
          </p:nvPr>
        </p:nvSpPr>
        <p:spPr>
          <a:xfrm>
            <a:off x="457200" y="381000"/>
            <a:ext cx="8382000" cy="8382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GRADIENT:  THE STEEPNESS OF A SLOPE</a:t>
            </a:r>
            <a:endParaRPr kumimoji="0" lang="en-US" altLang="zh-CN" sz="28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8242" name="Rectangle 1027"/>
          <p:cNvSpPr>
            <a:spLocks noGrp="1"/>
          </p:cNvSpPr>
          <p:nvPr>
            <p:ph sz="quarter" idx="1"/>
          </p:nvPr>
        </p:nvSpPr>
        <p:spPr>
          <a:xfrm>
            <a:off x="685800" y="1981200"/>
            <a:ext cx="8077200" cy="915988"/>
          </a:xfrm>
          <a:ln/>
        </p:spPr>
        <p:txBody>
          <a:bodyPr vert="horz" wrap="square" lIns="92075" tIns="46038" rIns="92075" bIns="46038" anchor="t" anchorCtr="0"/>
          <a:p>
            <a:pPr eaLnBrk="1" hangingPunct="1">
              <a:buClr>
                <a:schemeClr val="accent1"/>
              </a:buClr>
              <a:buSzPct val="70000"/>
              <a:buFont typeface="Wingdings" panose="05000000000000000000" pitchFamily="2" charset="2"/>
            </a:pPr>
            <a:r>
              <a:rPr lang="en-US" altLang="zh-CN" dirty="0">
                <a:ea typeface="SimSun" panose="02010600030101010101" pitchFamily="2" charset="-122"/>
              </a:rPr>
              <a:t>Example</a:t>
            </a:r>
            <a:endParaRPr lang="en-US" altLang="zh-CN" dirty="0">
              <a:ea typeface="SimSun" panose="02010600030101010101" pitchFamily="2" charset="-122"/>
            </a:endParaRPr>
          </a:p>
        </p:txBody>
      </p:sp>
      <p:sp>
        <p:nvSpPr>
          <p:cNvPr id="13824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824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824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graphicFrame>
        <p:nvGraphicFramePr>
          <p:cNvPr id="138246" name="Object 1028"/>
          <p:cNvGraphicFramePr/>
          <p:nvPr/>
        </p:nvGraphicFramePr>
        <p:xfrm>
          <a:off x="4514850" y="3321050"/>
          <a:ext cx="125413" cy="227013"/>
        </p:xfrm>
        <a:graphic>
          <a:graphicData uri="http://schemas.openxmlformats.org/presentationml/2006/ole">
            <mc:AlternateContent xmlns:mc="http://schemas.openxmlformats.org/markup-compatibility/2006">
              <mc:Choice xmlns:v="urn:schemas-microsoft-com:vml" Requires="v">
                <p:oleObj spid="_x0000_s3137" name="" r:id="rId1" imgW="125095" imgH="226695" progId="Equation.3">
                  <p:embed/>
                </p:oleObj>
              </mc:Choice>
              <mc:Fallback>
                <p:oleObj name="" r:id="rId1" imgW="125095" imgH="226695" progId="Equation.3">
                  <p:embed/>
                  <p:pic>
                    <p:nvPicPr>
                      <p:cNvPr id="0" name="Picture 3136"/>
                      <p:cNvPicPr/>
                      <p:nvPr/>
                    </p:nvPicPr>
                    <p:blipFill>
                      <a:blip r:embed="rId2"/>
                      <a:stretch>
                        <a:fillRect/>
                      </a:stretch>
                    </p:blipFill>
                    <p:spPr>
                      <a:xfrm>
                        <a:off x="4514850" y="3321050"/>
                        <a:ext cx="125413" cy="227013"/>
                      </a:xfrm>
                      <a:prstGeom prst="rect">
                        <a:avLst/>
                      </a:prstGeom>
                      <a:noFill/>
                      <a:ln w="38100">
                        <a:noFill/>
                        <a:miter/>
                      </a:ln>
                    </p:spPr>
                  </p:pic>
                </p:oleObj>
              </mc:Fallback>
            </mc:AlternateContent>
          </a:graphicData>
        </a:graphic>
      </p:graphicFrame>
      <p:graphicFrame>
        <p:nvGraphicFramePr>
          <p:cNvPr id="138247" name="Object 1029"/>
          <p:cNvGraphicFramePr/>
          <p:nvPr/>
        </p:nvGraphicFramePr>
        <p:xfrm>
          <a:off x="609600" y="3449638"/>
          <a:ext cx="6307138" cy="1516062"/>
        </p:xfrm>
        <a:graphic>
          <a:graphicData uri="http://schemas.openxmlformats.org/presentationml/2006/ole">
            <mc:AlternateContent xmlns:mc="http://schemas.openxmlformats.org/markup-compatibility/2006">
              <mc:Choice xmlns:v="urn:schemas-microsoft-com:vml" Requires="v">
                <p:oleObj spid="_x0000_s3140" name="" r:id="rId3" imgW="6307455" imgH="1516380" progId="Equation.3">
                  <p:embed/>
                </p:oleObj>
              </mc:Choice>
              <mc:Fallback>
                <p:oleObj name="" r:id="rId3" imgW="6307455" imgH="1516380" progId="Equation.3">
                  <p:embed/>
                  <p:pic>
                    <p:nvPicPr>
                      <p:cNvPr id="0" name="Picture 3139"/>
                      <p:cNvPicPr/>
                      <p:nvPr/>
                    </p:nvPicPr>
                    <p:blipFill>
                      <a:blip r:embed="rId4"/>
                      <a:stretch>
                        <a:fillRect/>
                      </a:stretch>
                    </p:blipFill>
                    <p:spPr>
                      <a:xfrm>
                        <a:off x="609600" y="3449638"/>
                        <a:ext cx="6307138" cy="1516062"/>
                      </a:xfrm>
                      <a:prstGeom prst="rect">
                        <a:avLst/>
                      </a:prstGeom>
                      <a:noFill/>
                      <a:ln w="38100">
                        <a:noFill/>
                        <a:miter/>
                      </a:ln>
                    </p:spPr>
                  </p:pic>
                </p:oleObj>
              </mc:Fallback>
            </mc:AlternateContent>
          </a:graphicData>
        </a:graphic>
      </p:graphicFrame>
      <p:graphicFrame>
        <p:nvGraphicFramePr>
          <p:cNvPr id="138248" name="Object 1030"/>
          <p:cNvGraphicFramePr/>
          <p:nvPr/>
        </p:nvGraphicFramePr>
        <p:xfrm>
          <a:off x="609600" y="4724400"/>
          <a:ext cx="8547100" cy="1536700"/>
        </p:xfrm>
        <a:graphic>
          <a:graphicData uri="http://schemas.openxmlformats.org/presentationml/2006/ole">
            <mc:AlternateContent xmlns:mc="http://schemas.openxmlformats.org/markup-compatibility/2006">
              <mc:Choice xmlns:v="urn:schemas-microsoft-com:vml" Requires="v">
                <p:oleObj spid="_x0000_s3139" name="" r:id="rId5" imgW="8547100" imgH="1536700" progId="Equation.3">
                  <p:embed/>
                </p:oleObj>
              </mc:Choice>
              <mc:Fallback>
                <p:oleObj name="" r:id="rId5" imgW="8547100" imgH="1536700" progId="Equation.3">
                  <p:embed/>
                  <p:pic>
                    <p:nvPicPr>
                      <p:cNvPr id="0" name="Picture 3138"/>
                      <p:cNvPicPr/>
                      <p:nvPr/>
                    </p:nvPicPr>
                    <p:blipFill>
                      <a:blip r:embed="rId6"/>
                      <a:stretch>
                        <a:fillRect/>
                      </a:stretch>
                    </p:blipFill>
                    <p:spPr>
                      <a:xfrm>
                        <a:off x="609600" y="4724400"/>
                        <a:ext cx="8547100" cy="1536700"/>
                      </a:xfrm>
                      <a:prstGeom prst="rect">
                        <a:avLst/>
                      </a:prstGeom>
                      <a:noFill/>
                      <a:ln w="38100">
                        <a:noFill/>
                        <a:miter/>
                      </a:ln>
                    </p:spPr>
                  </p:pic>
                </p:oleObj>
              </mc:Fallback>
            </mc:AlternateContent>
          </a:graphicData>
        </a:graphic>
      </p:graphicFrame>
      <p:graphicFrame>
        <p:nvGraphicFramePr>
          <p:cNvPr id="138249" name="Object 1031"/>
          <p:cNvGraphicFramePr/>
          <p:nvPr/>
        </p:nvGraphicFramePr>
        <p:xfrm>
          <a:off x="609600" y="2209800"/>
          <a:ext cx="5287963" cy="1233488"/>
        </p:xfrm>
        <a:graphic>
          <a:graphicData uri="http://schemas.openxmlformats.org/presentationml/2006/ole">
            <mc:AlternateContent xmlns:mc="http://schemas.openxmlformats.org/markup-compatibility/2006">
              <mc:Choice xmlns:v="urn:schemas-microsoft-com:vml" Requires="v">
                <p:oleObj spid="_x0000_s3138" name="" r:id="rId7" imgW="1523365" imgH="381000" progId="Equation.2">
                  <p:embed/>
                </p:oleObj>
              </mc:Choice>
              <mc:Fallback>
                <p:oleObj name="" r:id="rId7" imgW="1523365" imgH="381000" progId="Equation.2">
                  <p:embed/>
                  <p:pic>
                    <p:nvPicPr>
                      <p:cNvPr id="0" name="Picture 3137"/>
                      <p:cNvPicPr/>
                      <p:nvPr/>
                    </p:nvPicPr>
                    <p:blipFill>
                      <a:blip r:embed="rId8"/>
                      <a:stretch>
                        <a:fillRect/>
                      </a:stretch>
                    </p:blipFill>
                    <p:spPr>
                      <a:xfrm>
                        <a:off x="609600" y="2209800"/>
                        <a:ext cx="5287963" cy="1233488"/>
                      </a:xfrm>
                      <a:prstGeom prst="rect">
                        <a:avLst/>
                      </a:prstGeom>
                      <a:noFill/>
                      <a:ln w="38100">
                        <a:noFill/>
                        <a:miter/>
                      </a:ln>
                    </p:spPr>
                  </p:pic>
                </p:oleObj>
              </mc:Fallback>
            </mc:AlternateContent>
          </a:graphicData>
        </a:graphic>
      </p:graphicFrame>
    </p:spTree>
  </p:cSld>
  <p:clrMapOvr>
    <a:masterClrMapping/>
  </p:clrMapOvr>
  <p:transition>
    <p:strips dir="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DENSITY ATTRACTOR</a:t>
            </a:r>
            <a:endParaRPr kumimoji="0" lang="en-US" altLang="zh-CN" sz="28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39266"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39267"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39268"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pic>
        <p:nvPicPr>
          <p:cNvPr id="139269" name="Picture 3"/>
          <p:cNvPicPr/>
          <p:nvPr/>
        </p:nvPicPr>
        <p:blipFill>
          <a:blip r:embed="rId1"/>
          <a:stretch>
            <a:fillRect/>
          </a:stretch>
        </p:blipFill>
        <p:spPr>
          <a:xfrm>
            <a:off x="762000" y="2276475"/>
            <a:ext cx="2743200" cy="2209800"/>
          </a:xfrm>
          <a:prstGeom prst="rect">
            <a:avLst/>
          </a:prstGeom>
          <a:noFill/>
          <a:ln w="9525">
            <a:noFill/>
          </a:ln>
        </p:spPr>
      </p:pic>
      <p:pic>
        <p:nvPicPr>
          <p:cNvPr id="139270" name="Picture 4"/>
          <p:cNvPicPr/>
          <p:nvPr/>
        </p:nvPicPr>
        <p:blipFill>
          <a:blip r:embed="rId2"/>
          <a:stretch>
            <a:fillRect/>
          </a:stretch>
        </p:blipFill>
        <p:spPr>
          <a:xfrm>
            <a:off x="5186363" y="2200275"/>
            <a:ext cx="2508250" cy="2219325"/>
          </a:xfrm>
          <a:prstGeom prst="rect">
            <a:avLst/>
          </a:prstGeom>
          <a:noFill/>
          <a:ln w="9525">
            <a:noFill/>
          </a:ln>
        </p:spPr>
      </p:pic>
      <p:pic>
        <p:nvPicPr>
          <p:cNvPr id="139271" name="Picture 5"/>
          <p:cNvPicPr/>
          <p:nvPr/>
        </p:nvPicPr>
        <p:blipFill>
          <a:blip r:embed="rId3"/>
          <a:stretch>
            <a:fillRect/>
          </a:stretch>
        </p:blipFill>
        <p:spPr>
          <a:xfrm>
            <a:off x="2898775" y="4572000"/>
            <a:ext cx="3121025" cy="1979613"/>
          </a:xfrm>
          <a:prstGeom prst="rect">
            <a:avLst/>
          </a:prstGeom>
          <a:noFill/>
          <a:ln w="9525">
            <a:noFill/>
          </a:ln>
        </p:spPr>
      </p:pic>
    </p:spTree>
  </p:cSld>
  <p:clrMapOvr>
    <a:masterClrMapping/>
  </p:clrMapOvr>
  <p:transition>
    <p:strips dir="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1026"/>
          <p:cNvSpPr>
            <a:spLocks noGrp="1"/>
          </p:cNvSpPr>
          <p:nvPr>
            <p:ph type="title"/>
          </p:nvPr>
        </p:nvSpPr>
        <p:spPr>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CENTER-DEFINED AND ARBITRARY</a:t>
            </a:r>
            <a:endParaRPr kumimoji="0" lang="en-US" altLang="zh-CN" sz="2800" b="0" i="0" u="none" strike="noStrike" kern="1200" cap="small" spc="0" normalizeH="0" baseline="0" noProof="1" dirty="0">
              <a:solidFill>
                <a:schemeClr val="tx2"/>
              </a:solidFill>
              <a:latin typeface="+mj-lt"/>
              <a:ea typeface="SimSun" panose="02010600030101010101" pitchFamily="2" charset="-122"/>
              <a:cs typeface="+mj-cs"/>
            </a:endParaRPr>
          </a:p>
        </p:txBody>
      </p:sp>
      <p:sp>
        <p:nvSpPr>
          <p:cNvPr id="14029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0291"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0292"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pic>
        <p:nvPicPr>
          <p:cNvPr id="140293" name="Picture 1027"/>
          <p:cNvPicPr/>
          <p:nvPr/>
        </p:nvPicPr>
        <p:blipFill>
          <a:blip r:embed="rId1"/>
          <a:stretch>
            <a:fillRect/>
          </a:stretch>
        </p:blipFill>
        <p:spPr>
          <a:xfrm>
            <a:off x="0" y="1600200"/>
            <a:ext cx="8991600" cy="4735513"/>
          </a:xfrm>
          <a:prstGeom prst="rect">
            <a:avLst/>
          </a:prstGeom>
          <a:noFill/>
          <a:ln w="9525">
            <a:noFill/>
          </a:ln>
        </p:spPr>
      </p:pic>
    </p:spTree>
  </p:cSld>
  <p:clrMapOvr>
    <a:masterClrMapping/>
  </p:clrMapOvr>
  <p:transition>
    <p:strips dir="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a:xfrm>
            <a:off x="1600200" y="3048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Chapter 8. </a:t>
            </a: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72707"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hlink"/>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14131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131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131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noChangeArrowheads="1"/>
          </p:cNvSpPr>
          <p:nvPr>
            <p:ph type="title"/>
          </p:nvPr>
        </p:nvSpPr>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Grid-Based Clustering Method </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2338" name="Rectangle 3"/>
          <p:cNvSpPr>
            <a:spLocks noGrp="1"/>
          </p:cNvSpPr>
          <p:nvPr>
            <p:ph sz="quarter" idx="1"/>
          </p:nvPr>
        </p:nvSpPr>
        <p:spPr>
          <a:xfrm>
            <a:off x="685800" y="1524000"/>
            <a:ext cx="7772400" cy="4876800"/>
          </a:xfrm>
          <a:ln/>
        </p:spPr>
        <p:txBody>
          <a:bodyPr vert="horz" wrap="square" lIns="92075" tIns="46038" rIns="92075" bIns="46038" anchor="t" anchorCtr="0"/>
          <a:p>
            <a:pPr eaLnBrk="1" hangingPunct="1">
              <a:lnSpc>
                <a:spcPct val="120000"/>
              </a:lnSpc>
              <a:buClr>
                <a:schemeClr val="accent1"/>
              </a:buClr>
              <a:buSzPct val="70000"/>
              <a:buFont typeface="Wingdings" panose="05000000000000000000" pitchFamily="2" charset="2"/>
            </a:pPr>
            <a:r>
              <a:rPr lang="en-US" dirty="0"/>
              <a:t>Using multi-resolution grid data structure</a:t>
            </a:r>
            <a:endParaRPr lang="en-US" dirty="0"/>
          </a:p>
          <a:p>
            <a:pPr eaLnBrk="1" hangingPunct="1">
              <a:lnSpc>
                <a:spcPct val="120000"/>
              </a:lnSpc>
              <a:buClr>
                <a:schemeClr val="accent1"/>
              </a:buClr>
              <a:buSzPct val="70000"/>
              <a:buFont typeface="Wingdings" panose="05000000000000000000" pitchFamily="2" charset="2"/>
            </a:pPr>
            <a:r>
              <a:rPr lang="en-US" dirty="0"/>
              <a:t>Several interesting methods</a:t>
            </a:r>
            <a:endParaRPr lang="en-US" dirty="0"/>
          </a:p>
          <a:p>
            <a:pPr lvl="1" eaLnBrk="1" hangingPunct="1">
              <a:lnSpc>
                <a:spcPct val="120000"/>
              </a:lnSpc>
              <a:buClr>
                <a:schemeClr val="accent1"/>
              </a:buClr>
              <a:buSzPct val="80000"/>
              <a:buFont typeface="Wingdings 2" panose="05020102010507070707" pitchFamily="18" charset="2"/>
            </a:pPr>
            <a:r>
              <a:rPr lang="en-US" dirty="0">
                <a:solidFill>
                  <a:schemeClr val="hlink"/>
                </a:solidFill>
              </a:rPr>
              <a:t>STING </a:t>
            </a:r>
            <a:r>
              <a:rPr lang="en-US" dirty="0"/>
              <a:t>(a STatistical INformation Grid approach) by Wang, Yang and Muntz (1997)</a:t>
            </a:r>
            <a:endParaRPr lang="en-US" dirty="0"/>
          </a:p>
          <a:p>
            <a:pPr lvl="1" eaLnBrk="1" hangingPunct="1">
              <a:lnSpc>
                <a:spcPct val="110000"/>
              </a:lnSpc>
              <a:spcBef>
                <a:spcPct val="40000"/>
              </a:spcBef>
              <a:buClr>
                <a:schemeClr val="accent1"/>
              </a:buClr>
              <a:buSzPct val="80000"/>
              <a:buFont typeface="Wingdings 2" panose="05020102010507070707" pitchFamily="18" charset="2"/>
            </a:pPr>
            <a:r>
              <a:rPr lang="en-US" dirty="0">
                <a:solidFill>
                  <a:schemeClr val="hlink"/>
                </a:solidFill>
              </a:rPr>
              <a:t>WaveCluster</a:t>
            </a:r>
            <a:r>
              <a:rPr lang="en-US" dirty="0"/>
              <a:t> by Sheikholeslami, Chatterjee, and Zhang (VLDB’98)</a:t>
            </a:r>
            <a:endParaRPr lang="en-US" dirty="0"/>
          </a:p>
          <a:p>
            <a:pPr lvl="2" indent="-182245" eaLnBrk="1" hangingPunct="1">
              <a:lnSpc>
                <a:spcPct val="110000"/>
              </a:lnSpc>
              <a:spcBef>
                <a:spcPct val="40000"/>
              </a:spcBef>
              <a:buClr>
                <a:srgbClr val="E1307B"/>
              </a:buClr>
              <a:buSzPct val="60000"/>
              <a:buFont typeface="Wingdings" panose="05000000000000000000" pitchFamily="2" charset="2"/>
            </a:pPr>
            <a:r>
              <a:rPr lang="en-US" sz="1800" dirty="0"/>
              <a:t>A multi-resolution clustering approach using wavelet method</a:t>
            </a:r>
            <a:endParaRPr lang="en-US" sz="1800" dirty="0"/>
          </a:p>
          <a:p>
            <a:pPr lvl="1" eaLnBrk="1" hangingPunct="1">
              <a:lnSpc>
                <a:spcPct val="110000"/>
              </a:lnSpc>
              <a:spcBef>
                <a:spcPct val="40000"/>
              </a:spcBef>
              <a:buClr>
                <a:schemeClr val="accent1"/>
              </a:buClr>
              <a:buSzPct val="80000"/>
              <a:buFont typeface="Wingdings 2" panose="05020102010507070707" pitchFamily="18" charset="2"/>
            </a:pPr>
            <a:r>
              <a:rPr lang="en-US" altLang="zh-CN" dirty="0">
                <a:solidFill>
                  <a:schemeClr val="hlink"/>
                </a:solidFill>
                <a:ea typeface="SimSun" panose="02010600030101010101" pitchFamily="2" charset="-122"/>
              </a:rPr>
              <a:t>CLIQUE</a:t>
            </a:r>
            <a:r>
              <a:rPr lang="en-US" altLang="zh-CN" dirty="0">
                <a:ea typeface="SimSun" panose="02010600030101010101" pitchFamily="2" charset="-122"/>
              </a:rPr>
              <a:t>: Agrawal, et al. (SIGMOD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98)</a:t>
            </a:r>
            <a:endParaRPr lang="en-US" altLang="zh-CN" dirty="0">
              <a:ea typeface="SimSun" panose="02010600030101010101" pitchFamily="2" charset="-122"/>
            </a:endParaRPr>
          </a:p>
          <a:p>
            <a:pPr lvl="1" eaLnBrk="1" hangingPunct="1">
              <a:lnSpc>
                <a:spcPct val="120000"/>
              </a:lnSpc>
              <a:buClr>
                <a:schemeClr val="accent1"/>
              </a:buClr>
              <a:buSzPct val="80000"/>
              <a:buFont typeface="Wingdings 2" panose="05020102010507070707" pitchFamily="18" charset="2"/>
            </a:pPr>
            <a:endParaRPr lang="en-US" dirty="0"/>
          </a:p>
        </p:txBody>
      </p:sp>
      <p:sp>
        <p:nvSpPr>
          <p:cNvPr id="14233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234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234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1026"/>
          <p:cNvSpPr>
            <a:spLocks noGrp="1" noChangeArrowheads="1"/>
          </p:cNvSpPr>
          <p:nvPr>
            <p:ph type="title"/>
          </p:nvPr>
        </p:nvSpPr>
        <p:spPr>
          <a:xfrm>
            <a:off x="1676400" y="228600"/>
            <a:ext cx="6781800" cy="9144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STING: A Statistical Information Grid Approach</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3362" name="Rectangle 1027"/>
          <p:cNvSpPr>
            <a:spLocks noGrp="1"/>
          </p:cNvSpPr>
          <p:nvPr>
            <p:ph sz="quarter" idx="1"/>
          </p:nvPr>
        </p:nvSpPr>
        <p:spPr>
          <a:xfrm>
            <a:off x="228600" y="1524000"/>
            <a:ext cx="8458200" cy="4267200"/>
          </a:xfrm>
          <a:ln/>
        </p:spPr>
        <p:txBody>
          <a:bodyPr vert="horz" wrap="square" lIns="92075" tIns="46038" rIns="92075" bIns="46038" anchor="t" anchorCtr="0"/>
          <a:p>
            <a:pPr eaLnBrk="1" hangingPunct="1">
              <a:lnSpc>
                <a:spcPct val="90000"/>
              </a:lnSpc>
              <a:buClr>
                <a:schemeClr val="accent1"/>
              </a:buClr>
              <a:buSzPct val="70000"/>
              <a:buFont typeface="Wingdings" panose="05000000000000000000" pitchFamily="2" charset="2"/>
            </a:pPr>
            <a:r>
              <a:rPr lang="en-US" dirty="0"/>
              <a:t>Wang, Yang and Muntz (VLDB’97)</a:t>
            </a:r>
            <a:endParaRPr lang="en-US" dirty="0"/>
          </a:p>
          <a:p>
            <a:pPr eaLnBrk="1" hangingPunct="1">
              <a:lnSpc>
                <a:spcPct val="90000"/>
              </a:lnSpc>
              <a:buClr>
                <a:schemeClr val="accent1"/>
              </a:buClr>
              <a:buSzPct val="70000"/>
              <a:buFont typeface="Wingdings" panose="05000000000000000000" pitchFamily="2" charset="2"/>
            </a:pPr>
            <a:r>
              <a:rPr lang="en-US" dirty="0"/>
              <a:t>The spatial area area is divided into rectangular cells</a:t>
            </a:r>
            <a:endParaRPr lang="en-US" dirty="0"/>
          </a:p>
          <a:p>
            <a:pPr eaLnBrk="1" hangingPunct="1">
              <a:lnSpc>
                <a:spcPct val="90000"/>
              </a:lnSpc>
              <a:buClr>
                <a:schemeClr val="accent1"/>
              </a:buClr>
              <a:buSzPct val="70000"/>
              <a:buFont typeface="Wingdings" panose="05000000000000000000" pitchFamily="2" charset="2"/>
            </a:pPr>
            <a:r>
              <a:rPr lang="en-US" dirty="0"/>
              <a:t>There are several levels of cells corresponding to different levels of resolution</a:t>
            </a:r>
            <a:endParaRPr lang="en-US" dirty="0"/>
          </a:p>
          <a:p>
            <a:pPr eaLnBrk="1" hangingPunct="1">
              <a:lnSpc>
                <a:spcPct val="90000"/>
              </a:lnSpc>
              <a:buClr>
                <a:schemeClr val="accent1"/>
              </a:buClr>
              <a:buSzPct val="70000"/>
              <a:buFont typeface="Wingdings" panose="05000000000000000000" pitchFamily="2" charset="2"/>
            </a:pPr>
            <a:endParaRPr lang="en-US" dirty="0"/>
          </a:p>
        </p:txBody>
      </p:sp>
      <p:sp>
        <p:nvSpPr>
          <p:cNvPr id="14336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336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336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143366" name="Line 1028"/>
          <p:cNvSpPr/>
          <p:nvPr/>
        </p:nvSpPr>
        <p:spPr>
          <a:xfrm>
            <a:off x="9124950" y="4724400"/>
            <a:ext cx="0" cy="1524000"/>
          </a:xfrm>
          <a:prstGeom prst="line">
            <a:avLst/>
          </a:prstGeom>
          <a:ln w="9525" cap="rnd" cmpd="sng">
            <a:solidFill>
              <a:schemeClr val="tx1"/>
            </a:solidFill>
            <a:prstDash val="sysDot"/>
            <a:round/>
            <a:headEnd type="none" w="med" len="med"/>
            <a:tailEnd type="none" w="med" len="med"/>
          </a:ln>
        </p:spPr>
      </p:sp>
      <p:pic>
        <p:nvPicPr>
          <p:cNvPr id="143367" name="Picture 1029"/>
          <p:cNvPicPr>
            <a:picLocks noChangeAspect="1"/>
          </p:cNvPicPr>
          <p:nvPr/>
        </p:nvPicPr>
        <p:blipFill>
          <a:blip r:embed="rId1"/>
          <a:stretch>
            <a:fillRect/>
          </a:stretch>
        </p:blipFill>
        <p:spPr>
          <a:xfrm>
            <a:off x="1862138" y="3200400"/>
            <a:ext cx="5419725" cy="3581400"/>
          </a:xfrm>
          <a:prstGeom prst="rect">
            <a:avLst/>
          </a:prstGeom>
          <a:noFill/>
          <a:ln w="9525">
            <a:noFill/>
          </a:ln>
        </p:spPr>
      </p:pic>
    </p:spTree>
  </p:cSld>
  <p:clrMapOvr>
    <a:masterClrMapping/>
  </p:clrMapOvr>
  <p:transition>
    <p:strips dir="r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noChangeArrowheads="1"/>
          </p:cNvSpPr>
          <p:nvPr>
            <p:ph type="title"/>
          </p:nvPr>
        </p:nvSpPr>
        <p:spPr>
          <a:xfrm>
            <a:off x="1600200" y="228600"/>
            <a:ext cx="6477000" cy="9144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STING: A Statistical Information Grid Approach (2)</a:t>
            </a:r>
            <a:endParaRPr kumimoji="0" lang="en-US" sz="32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4386" name="Rectangle 3"/>
          <p:cNvSpPr>
            <a:spLocks noGrp="1"/>
          </p:cNvSpPr>
          <p:nvPr>
            <p:ph sz="quarter" idx="1"/>
          </p:nvPr>
        </p:nvSpPr>
        <p:spPr>
          <a:xfrm>
            <a:off x="0" y="1524000"/>
            <a:ext cx="9144000" cy="5334000"/>
          </a:xfrm>
          <a:ln/>
        </p:spPr>
        <p:txBody>
          <a:bodyPr vert="horz" wrap="square" lIns="92075" tIns="46038" rIns="92075" bIns="46038" anchor="t" anchorCtr="0"/>
          <a:p>
            <a:pPr lvl="1" eaLnBrk="1" hangingPunct="1">
              <a:lnSpc>
                <a:spcPct val="90000"/>
              </a:lnSpc>
              <a:buClr>
                <a:schemeClr val="accent1"/>
              </a:buClr>
              <a:buSzPct val="80000"/>
              <a:buFont typeface="Wingdings 2" panose="05020102010507070707" pitchFamily="18" charset="2"/>
            </a:pPr>
            <a:r>
              <a:rPr lang="en-US" dirty="0"/>
              <a:t>Each cell at a high level is partitioned into a number of smaller cells in the next lower level</a:t>
            </a:r>
            <a:endParaRPr lang="en-US" dirty="0"/>
          </a:p>
          <a:p>
            <a:pPr lvl="1" eaLnBrk="1" hangingPunct="1">
              <a:lnSpc>
                <a:spcPct val="90000"/>
              </a:lnSpc>
              <a:buClr>
                <a:schemeClr val="accent1"/>
              </a:buClr>
              <a:buSzPct val="80000"/>
              <a:buFont typeface="Wingdings 2" panose="05020102010507070707" pitchFamily="18" charset="2"/>
            </a:pPr>
            <a:r>
              <a:rPr lang="en-US" dirty="0"/>
              <a:t>Statistical info of each cell  is calculated and stored beforehand and is used to answer queries</a:t>
            </a:r>
            <a:endParaRPr lang="en-US" dirty="0"/>
          </a:p>
          <a:p>
            <a:pPr lvl="1" eaLnBrk="1" hangingPunct="1">
              <a:lnSpc>
                <a:spcPct val="90000"/>
              </a:lnSpc>
              <a:buClr>
                <a:schemeClr val="accent1"/>
              </a:buClr>
              <a:buSzPct val="80000"/>
              <a:buFont typeface="Wingdings 2" panose="05020102010507070707" pitchFamily="18" charset="2"/>
            </a:pPr>
            <a:r>
              <a:rPr lang="en-US" dirty="0"/>
              <a:t>Parameters of higher level cells can be easily calculated from parameters of lower level cell</a:t>
            </a:r>
            <a:endParaRPr lang="en-US" dirty="0"/>
          </a:p>
          <a:p>
            <a:pPr lvl="2" indent="-182245" eaLnBrk="1" hangingPunct="1">
              <a:lnSpc>
                <a:spcPct val="90000"/>
              </a:lnSpc>
              <a:buClr>
                <a:srgbClr val="E1307B"/>
              </a:buClr>
              <a:buSzPct val="60000"/>
              <a:buFont typeface="Wingdings" panose="05000000000000000000" pitchFamily="2" charset="2"/>
            </a:pPr>
            <a:r>
              <a:rPr lang="en-US" sz="1800" i="1" dirty="0"/>
              <a:t>count</a:t>
            </a:r>
            <a:r>
              <a:rPr lang="en-US" sz="1800" dirty="0"/>
              <a:t>, </a:t>
            </a:r>
            <a:r>
              <a:rPr lang="en-US" sz="1800" i="1" dirty="0"/>
              <a:t>mean</a:t>
            </a:r>
            <a:r>
              <a:rPr lang="en-US" sz="1800" dirty="0"/>
              <a:t>, </a:t>
            </a:r>
            <a:r>
              <a:rPr lang="en-US" sz="1800" i="1" dirty="0"/>
              <a:t>s</a:t>
            </a:r>
            <a:r>
              <a:rPr lang="en-US" sz="1800" dirty="0"/>
              <a:t>, </a:t>
            </a:r>
            <a:r>
              <a:rPr lang="en-US" sz="1800" i="1" dirty="0"/>
              <a:t>min</a:t>
            </a:r>
            <a:r>
              <a:rPr lang="en-US" sz="1800" dirty="0"/>
              <a:t>, </a:t>
            </a:r>
            <a:r>
              <a:rPr lang="en-US" sz="1800" i="1" dirty="0"/>
              <a:t>max</a:t>
            </a:r>
            <a:r>
              <a:rPr lang="en-US" sz="1800" dirty="0"/>
              <a:t> </a:t>
            </a:r>
            <a:endParaRPr lang="en-US" sz="1800" dirty="0"/>
          </a:p>
          <a:p>
            <a:pPr lvl="2" indent="-182245" eaLnBrk="1" hangingPunct="1">
              <a:lnSpc>
                <a:spcPct val="90000"/>
              </a:lnSpc>
              <a:buClr>
                <a:srgbClr val="E1307B"/>
              </a:buClr>
              <a:buSzPct val="60000"/>
              <a:buFont typeface="Wingdings" panose="05000000000000000000" pitchFamily="2" charset="2"/>
            </a:pPr>
            <a:r>
              <a:rPr lang="en-US" sz="1800" dirty="0"/>
              <a:t>type of distribution—normal, </a:t>
            </a:r>
            <a:r>
              <a:rPr lang="en-US" sz="1800" i="1" dirty="0"/>
              <a:t>uniform</a:t>
            </a:r>
            <a:r>
              <a:rPr lang="en-US" sz="1800" dirty="0"/>
              <a:t>, etc.</a:t>
            </a:r>
            <a:endParaRPr lang="en-US" sz="1800" dirty="0"/>
          </a:p>
          <a:p>
            <a:pPr lvl="1" eaLnBrk="1" hangingPunct="1">
              <a:lnSpc>
                <a:spcPct val="90000"/>
              </a:lnSpc>
              <a:buClr>
                <a:schemeClr val="accent1"/>
              </a:buClr>
              <a:buSzPct val="80000"/>
              <a:buFont typeface="Wingdings 2" panose="05020102010507070707" pitchFamily="18" charset="2"/>
            </a:pPr>
            <a:r>
              <a:rPr lang="en-US" dirty="0"/>
              <a:t>Use a top-down approach to answer spatial data queries</a:t>
            </a:r>
            <a:endParaRPr lang="en-US" dirty="0"/>
          </a:p>
          <a:p>
            <a:pPr lvl="1" eaLnBrk="1" hangingPunct="1">
              <a:lnSpc>
                <a:spcPct val="90000"/>
              </a:lnSpc>
              <a:buClr>
                <a:schemeClr val="accent1"/>
              </a:buClr>
              <a:buSzPct val="80000"/>
              <a:buFont typeface="Wingdings 2" panose="05020102010507070707" pitchFamily="18" charset="2"/>
            </a:pPr>
            <a:r>
              <a:rPr lang="en-US" dirty="0"/>
              <a:t>Start from a pre-selected layer—typically with a small number of cells</a:t>
            </a:r>
            <a:endParaRPr lang="en-US" dirty="0"/>
          </a:p>
          <a:p>
            <a:pPr lvl="1" eaLnBrk="1" hangingPunct="1">
              <a:lnSpc>
                <a:spcPct val="90000"/>
              </a:lnSpc>
              <a:buClr>
                <a:schemeClr val="accent1"/>
              </a:buClr>
              <a:buSzPct val="80000"/>
              <a:buFont typeface="Wingdings 2" panose="05020102010507070707" pitchFamily="18" charset="2"/>
            </a:pPr>
            <a:r>
              <a:rPr lang="en-US" dirty="0"/>
              <a:t>For each cell in the current level compute the confidence interval</a:t>
            </a:r>
            <a:endParaRPr lang="en-US" dirty="0"/>
          </a:p>
          <a:p>
            <a:pPr eaLnBrk="1" hangingPunct="1">
              <a:lnSpc>
                <a:spcPct val="90000"/>
              </a:lnSpc>
              <a:buClr>
                <a:schemeClr val="accent1"/>
              </a:buClr>
              <a:buSzPct val="70000"/>
              <a:buFont typeface="Wingdings" panose="05000000000000000000" pitchFamily="2" charset="2"/>
              <a:buNone/>
            </a:pPr>
            <a:r>
              <a:rPr lang="en-US" dirty="0"/>
              <a:t>    </a:t>
            </a:r>
            <a:endParaRPr lang="en-US" dirty="0"/>
          </a:p>
        </p:txBody>
      </p:sp>
      <p:sp>
        <p:nvSpPr>
          <p:cNvPr id="144387" name="Line 4"/>
          <p:cNvSpPr/>
          <p:nvPr/>
        </p:nvSpPr>
        <p:spPr>
          <a:xfrm>
            <a:off x="9124950" y="4724400"/>
            <a:ext cx="0" cy="1524000"/>
          </a:xfrm>
          <a:prstGeom prst="line">
            <a:avLst/>
          </a:prstGeom>
          <a:ln w="9525" cap="rnd" cmpd="sng">
            <a:solidFill>
              <a:schemeClr val="tx1"/>
            </a:solidFill>
            <a:prstDash val="sysDot"/>
            <a:round/>
            <a:headEnd type="none" w="med" len="med"/>
            <a:tailEnd type="none" w="med" len="med"/>
          </a:ln>
        </p:spPr>
      </p:sp>
      <p:sp>
        <p:nvSpPr>
          <p:cNvPr id="144388" name="Line 5"/>
          <p:cNvSpPr/>
          <p:nvPr/>
        </p:nvSpPr>
        <p:spPr>
          <a:xfrm>
            <a:off x="9124950" y="6248400"/>
            <a:ext cx="0" cy="609600"/>
          </a:xfrm>
          <a:prstGeom prst="line">
            <a:avLst/>
          </a:prstGeom>
          <a:ln w="9525" cap="flat" cmpd="sng">
            <a:solidFill>
              <a:schemeClr val="tx1"/>
            </a:solidFill>
            <a:prstDash val="solid"/>
            <a:round/>
            <a:headEnd type="none" w="med" len="med"/>
            <a:tailEnd type="none" w="med" len="med"/>
          </a:ln>
        </p:spPr>
      </p:sp>
      <p:sp>
        <p:nvSpPr>
          <p:cNvPr id="144389" name="Line 6"/>
          <p:cNvSpPr/>
          <p:nvPr/>
        </p:nvSpPr>
        <p:spPr>
          <a:xfrm>
            <a:off x="9124950" y="5638800"/>
            <a:ext cx="0" cy="609600"/>
          </a:xfrm>
          <a:prstGeom prst="line">
            <a:avLst/>
          </a:prstGeom>
          <a:ln w="9525" cap="flat" cmpd="sng">
            <a:solidFill>
              <a:schemeClr val="tx1"/>
            </a:solidFill>
            <a:prstDash val="solid"/>
            <a:round/>
            <a:headEnd type="none" w="med" len="med"/>
            <a:tailEnd type="none" w="med" len="med"/>
          </a:ln>
        </p:spPr>
      </p:sp>
    </p:spTree>
  </p:cSld>
  <p:clrMapOvr>
    <a:masterClrMapping/>
  </p:clrMapOvr>
  <p:transition>
    <p:wipe di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noChangeArrowheads="1"/>
          </p:cNvSpPr>
          <p:nvPr>
            <p:ph type="title"/>
          </p:nvPr>
        </p:nvSpPr>
        <p:spPr>
          <a:xfrm>
            <a:off x="1828800" y="228600"/>
            <a:ext cx="6324600" cy="1066800"/>
          </a:xfrm>
        </p:spPr>
        <p:txBody>
          <a:bodyPr vert="horz" lIns="92075" tIns="46038" rIns="92075" bIns="46038"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STING: A Statistical Information Grid Approach (3)</a:t>
            </a:r>
            <a:endParaRPr kumimoji="0" lang="en-US" sz="32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5410" name="Rectangle 3"/>
          <p:cNvSpPr>
            <a:spLocks noGrp="1"/>
          </p:cNvSpPr>
          <p:nvPr>
            <p:ph sz="quarter" idx="1"/>
          </p:nvPr>
        </p:nvSpPr>
        <p:spPr>
          <a:xfrm>
            <a:off x="381000" y="1524000"/>
            <a:ext cx="8305800" cy="5334000"/>
          </a:xfrm>
          <a:ln/>
        </p:spPr>
        <p:txBody>
          <a:bodyPr vert="horz" wrap="square" lIns="92075" tIns="46038" rIns="92075" bIns="46038" anchor="t" anchorCtr="0"/>
          <a:p>
            <a:pPr lvl="1" eaLnBrk="1" hangingPunct="1">
              <a:lnSpc>
                <a:spcPct val="90000"/>
              </a:lnSpc>
              <a:spcBef>
                <a:spcPct val="25000"/>
              </a:spcBef>
              <a:buClr>
                <a:schemeClr val="accent1"/>
              </a:buClr>
              <a:buSzPct val="80000"/>
              <a:buFont typeface="Wingdings 2" panose="05020102010507070707" pitchFamily="18" charset="2"/>
            </a:pPr>
            <a:r>
              <a:rPr lang="en-US" dirty="0"/>
              <a:t>Remove the irrelevant cells from further consideration</a:t>
            </a:r>
            <a:endParaRPr lang="en-US" dirty="0"/>
          </a:p>
          <a:p>
            <a:pPr lvl="1" eaLnBrk="1" hangingPunct="1">
              <a:lnSpc>
                <a:spcPct val="90000"/>
              </a:lnSpc>
              <a:spcBef>
                <a:spcPct val="25000"/>
              </a:spcBef>
              <a:buClr>
                <a:schemeClr val="accent1"/>
              </a:buClr>
              <a:buSzPct val="80000"/>
              <a:buFont typeface="Wingdings 2" panose="05020102010507070707" pitchFamily="18" charset="2"/>
            </a:pPr>
            <a:r>
              <a:rPr lang="en-US" dirty="0"/>
              <a:t>When finish examining the current layer, proceed to the next lower level </a:t>
            </a:r>
            <a:endParaRPr lang="en-US" dirty="0"/>
          </a:p>
          <a:p>
            <a:pPr lvl="1" eaLnBrk="1" hangingPunct="1">
              <a:lnSpc>
                <a:spcPct val="90000"/>
              </a:lnSpc>
              <a:spcBef>
                <a:spcPct val="25000"/>
              </a:spcBef>
              <a:buClr>
                <a:schemeClr val="accent1"/>
              </a:buClr>
              <a:buSzPct val="80000"/>
              <a:buFont typeface="Wingdings 2" panose="05020102010507070707" pitchFamily="18" charset="2"/>
            </a:pPr>
            <a:r>
              <a:rPr lang="en-US" dirty="0"/>
              <a:t>Repeat this process until the bottom layer is reached</a:t>
            </a:r>
            <a:endParaRPr lang="en-US" dirty="0"/>
          </a:p>
          <a:p>
            <a:pPr lvl="1" eaLnBrk="1" hangingPunct="1">
              <a:lnSpc>
                <a:spcPct val="90000"/>
              </a:lnSpc>
              <a:spcBef>
                <a:spcPct val="25000"/>
              </a:spcBef>
              <a:buClr>
                <a:schemeClr val="accent1"/>
              </a:buClr>
              <a:buSzPct val="80000"/>
              <a:buFont typeface="Wingdings 2" panose="05020102010507070707" pitchFamily="18" charset="2"/>
            </a:pPr>
            <a:r>
              <a:rPr lang="en-US" dirty="0"/>
              <a:t>Advantages:</a:t>
            </a:r>
            <a:endParaRPr lang="en-US" dirty="0"/>
          </a:p>
          <a:p>
            <a:pPr lvl="2" indent="-182245" eaLnBrk="1" hangingPunct="1">
              <a:lnSpc>
                <a:spcPct val="90000"/>
              </a:lnSpc>
              <a:spcBef>
                <a:spcPct val="25000"/>
              </a:spcBef>
              <a:buClr>
                <a:srgbClr val="E1307B"/>
              </a:buClr>
              <a:buSzPct val="60000"/>
              <a:buFont typeface="Wingdings" panose="05000000000000000000" pitchFamily="2" charset="2"/>
            </a:pPr>
            <a:r>
              <a:rPr lang="en-US" sz="1800" dirty="0"/>
              <a:t>Query-independent, easy to parallelize, incremental update</a:t>
            </a:r>
            <a:endParaRPr lang="en-US" sz="1800" dirty="0"/>
          </a:p>
          <a:p>
            <a:pPr lvl="2" indent="-182245" eaLnBrk="1" hangingPunct="1">
              <a:lnSpc>
                <a:spcPct val="90000"/>
              </a:lnSpc>
              <a:spcBef>
                <a:spcPct val="25000"/>
              </a:spcBef>
              <a:buClr>
                <a:srgbClr val="E1307B"/>
              </a:buClr>
              <a:buSzPct val="60000"/>
              <a:buFont typeface="Wingdings" panose="05000000000000000000" pitchFamily="2" charset="2"/>
            </a:pPr>
            <a:r>
              <a:rPr lang="en-US" sz="1800" i="1" dirty="0"/>
              <a:t>O(K),</a:t>
            </a:r>
            <a:r>
              <a:rPr lang="en-US" sz="1800" dirty="0"/>
              <a:t> where </a:t>
            </a:r>
            <a:r>
              <a:rPr lang="en-US" sz="1800" i="1" dirty="0"/>
              <a:t>K</a:t>
            </a:r>
            <a:r>
              <a:rPr lang="en-US" sz="1800" dirty="0"/>
              <a:t> is the number of grid cells at the lowest level </a:t>
            </a:r>
            <a:endParaRPr lang="en-US" sz="1800" dirty="0"/>
          </a:p>
          <a:p>
            <a:pPr lvl="1" eaLnBrk="1" hangingPunct="1">
              <a:lnSpc>
                <a:spcPct val="90000"/>
              </a:lnSpc>
              <a:spcBef>
                <a:spcPct val="25000"/>
              </a:spcBef>
              <a:buClr>
                <a:schemeClr val="accent1"/>
              </a:buClr>
              <a:buSzPct val="80000"/>
              <a:buFont typeface="Wingdings 2" panose="05020102010507070707" pitchFamily="18" charset="2"/>
            </a:pPr>
            <a:r>
              <a:rPr lang="en-US" dirty="0"/>
              <a:t>Disadvantages:</a:t>
            </a:r>
            <a:endParaRPr lang="en-US" dirty="0"/>
          </a:p>
          <a:p>
            <a:pPr lvl="2" indent="-182245" eaLnBrk="1" hangingPunct="1">
              <a:lnSpc>
                <a:spcPct val="90000"/>
              </a:lnSpc>
              <a:spcBef>
                <a:spcPct val="25000"/>
              </a:spcBef>
              <a:buClr>
                <a:srgbClr val="E1307B"/>
              </a:buClr>
              <a:buSzPct val="60000"/>
              <a:buFont typeface="Wingdings" panose="05000000000000000000" pitchFamily="2" charset="2"/>
            </a:pPr>
            <a:r>
              <a:rPr lang="en-US" sz="1800" dirty="0"/>
              <a:t>All the cluster boundaries are either horizontal or vertical, and no diagonal boundary is detected</a:t>
            </a:r>
            <a:endParaRPr lang="en-US" sz="2000" dirty="0"/>
          </a:p>
        </p:txBody>
      </p:sp>
      <p:sp>
        <p:nvSpPr>
          <p:cNvPr id="145411" name="Line 4"/>
          <p:cNvSpPr/>
          <p:nvPr/>
        </p:nvSpPr>
        <p:spPr>
          <a:xfrm>
            <a:off x="9124950" y="4724400"/>
            <a:ext cx="0" cy="1524000"/>
          </a:xfrm>
          <a:prstGeom prst="line">
            <a:avLst/>
          </a:prstGeom>
          <a:ln w="9525" cap="rnd" cmpd="sng">
            <a:solidFill>
              <a:schemeClr val="tx1"/>
            </a:solidFill>
            <a:prstDash val="sysDot"/>
            <a:round/>
            <a:headEnd type="none" w="med" len="med"/>
            <a:tailEnd type="none" w="med" len="med"/>
          </a:ln>
        </p:spPr>
      </p:sp>
    </p:spTree>
  </p:cSld>
  <p:clrMapOvr>
    <a:masterClrMapping/>
  </p:clrMapOvr>
  <p:transition>
    <p:wipe dir="d"/>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noChangeArrowheads="1"/>
          </p:cNvSpPr>
          <p:nvPr>
            <p:ph type="title"/>
          </p:nvPr>
        </p:nvSpPr>
        <p:spPr>
          <a:xfrm>
            <a:off x="1355725" y="685800"/>
            <a:ext cx="7580313" cy="6096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WaveCluster (1998)</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6434" name="Rectangle 3"/>
          <p:cNvSpPr>
            <a:spLocks noGrp="1"/>
          </p:cNvSpPr>
          <p:nvPr>
            <p:ph sz="quarter" idx="1"/>
          </p:nvPr>
        </p:nvSpPr>
        <p:spPr>
          <a:xfrm>
            <a:off x="685800" y="1600200"/>
            <a:ext cx="7924800" cy="4953000"/>
          </a:xfrm>
          <a:ln/>
        </p:spPr>
        <p:txBody>
          <a:bodyPr vert="horz" wrap="square" lIns="92075" tIns="46038" rIns="92075" bIns="46038" anchor="t" anchorCtr="0"/>
          <a:p>
            <a:pPr eaLnBrk="1" hangingPunct="1">
              <a:lnSpc>
                <a:spcPct val="110000"/>
              </a:lnSpc>
              <a:buClr>
                <a:schemeClr val="accent1"/>
              </a:buClr>
              <a:buSzPct val="70000"/>
              <a:buFont typeface="Wingdings" panose="05000000000000000000" pitchFamily="2" charset="2"/>
            </a:pPr>
            <a:r>
              <a:rPr lang="en-US" dirty="0"/>
              <a:t>Sheikholeslami, Chatterjee, and Zhang (VLDB’98) </a:t>
            </a:r>
            <a:endParaRPr lang="en-US" dirty="0"/>
          </a:p>
          <a:p>
            <a:pPr eaLnBrk="1" hangingPunct="1">
              <a:lnSpc>
                <a:spcPct val="110000"/>
              </a:lnSpc>
              <a:buClr>
                <a:schemeClr val="accent1"/>
              </a:buClr>
              <a:buSzPct val="70000"/>
              <a:buFont typeface="Wingdings" panose="05000000000000000000" pitchFamily="2" charset="2"/>
            </a:pPr>
            <a:r>
              <a:rPr lang="en-US" dirty="0"/>
              <a:t>A multi-resolution clustering approach which applies wavelet transform to the feature space</a:t>
            </a:r>
            <a:endParaRPr lang="en-US" dirty="0"/>
          </a:p>
          <a:p>
            <a:pPr lvl="1" eaLnBrk="1" hangingPunct="1">
              <a:lnSpc>
                <a:spcPct val="110000"/>
              </a:lnSpc>
              <a:buClr>
                <a:schemeClr val="accent1"/>
              </a:buClr>
              <a:buSzPct val="80000"/>
              <a:buFont typeface="Wingdings 2" panose="05020102010507070707" pitchFamily="18" charset="2"/>
            </a:pPr>
            <a:r>
              <a:rPr lang="en-US" dirty="0"/>
              <a:t> A wavelet transform is a signal processing technique that decomposes a signal into different frequency sub-band.</a:t>
            </a:r>
            <a:endParaRPr lang="en-US" dirty="0"/>
          </a:p>
          <a:p>
            <a:pPr eaLnBrk="1" hangingPunct="1">
              <a:lnSpc>
                <a:spcPct val="110000"/>
              </a:lnSpc>
              <a:buClr>
                <a:schemeClr val="accent1"/>
              </a:buClr>
              <a:buSzPct val="70000"/>
              <a:buFont typeface="Wingdings" panose="05000000000000000000" pitchFamily="2" charset="2"/>
            </a:pPr>
            <a:r>
              <a:rPr lang="en-US" dirty="0"/>
              <a:t>Both grid-based and density-based</a:t>
            </a:r>
            <a:endParaRPr lang="en-US" dirty="0"/>
          </a:p>
          <a:p>
            <a:pPr eaLnBrk="1" hangingPunct="1">
              <a:lnSpc>
                <a:spcPct val="110000"/>
              </a:lnSpc>
              <a:buClr>
                <a:schemeClr val="accent1"/>
              </a:buClr>
              <a:buSzPct val="70000"/>
              <a:buFont typeface="Wingdings" panose="05000000000000000000" pitchFamily="2" charset="2"/>
            </a:pPr>
            <a:r>
              <a:rPr lang="en-US" dirty="0"/>
              <a:t>Input parameters: </a:t>
            </a:r>
            <a:endParaRPr lang="en-US" dirty="0"/>
          </a:p>
          <a:p>
            <a:pPr lvl="1" eaLnBrk="1" hangingPunct="1">
              <a:lnSpc>
                <a:spcPct val="110000"/>
              </a:lnSpc>
              <a:buClr>
                <a:schemeClr val="accent1"/>
              </a:buClr>
              <a:buSzPct val="80000"/>
              <a:buFont typeface="Wingdings 2" panose="05020102010507070707" pitchFamily="18" charset="2"/>
            </a:pPr>
            <a:r>
              <a:rPr lang="en-US" dirty="0"/>
              <a:t># of grid cells for each dimension</a:t>
            </a:r>
            <a:endParaRPr lang="en-US" dirty="0"/>
          </a:p>
          <a:p>
            <a:pPr lvl="1" eaLnBrk="1" hangingPunct="1">
              <a:lnSpc>
                <a:spcPct val="110000"/>
              </a:lnSpc>
              <a:buClr>
                <a:schemeClr val="accent1"/>
              </a:buClr>
              <a:buSzPct val="80000"/>
              <a:buFont typeface="Wingdings 2" panose="05020102010507070707" pitchFamily="18" charset="2"/>
            </a:pPr>
            <a:r>
              <a:rPr lang="en-US" dirty="0"/>
              <a:t>the wavelet, and the # of applications of wavelet transform.</a:t>
            </a:r>
            <a:endParaRPr lang="en-US" dirty="0"/>
          </a:p>
        </p:txBody>
      </p:sp>
      <p:sp>
        <p:nvSpPr>
          <p:cNvPr id="14643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643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643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78850" name="Rectangle 2"/>
          <p:cNvSpPr>
            <a:spLocks noGrp="1" noChangeArrowheads="1"/>
          </p:cNvSpPr>
          <p:nvPr>
            <p:ph type="title"/>
          </p:nvPr>
        </p:nvSpPr>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What is Wavelet (1)?</a:t>
            </a:r>
            <a:endParaRPr kumimoji="0" lang="en-US" sz="28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8482"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8483"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8484"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pic>
        <p:nvPicPr>
          <p:cNvPr id="148485" name="Picture 3"/>
          <p:cNvPicPr/>
          <p:nvPr/>
        </p:nvPicPr>
        <p:blipFill>
          <a:blip r:embed="rId1"/>
          <a:stretch>
            <a:fillRect/>
          </a:stretch>
        </p:blipFill>
        <p:spPr>
          <a:xfrm>
            <a:off x="457200" y="1728788"/>
            <a:ext cx="8077200" cy="4595812"/>
          </a:xfrm>
          <a:prstGeom prst="rect">
            <a:avLst/>
          </a:prstGeom>
          <a:noFill/>
          <a:ln w="9525">
            <a:noFill/>
          </a:ln>
        </p:spPr>
      </p:pic>
    </p:spTree>
  </p:cSld>
  <p:clrMapOvr>
    <a:masterClrMapping/>
  </p:clrMapOvr>
  <p:transition>
    <p:strips dir="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noChangeArrowheads="1"/>
          </p:cNvSpPr>
          <p:nvPr>
            <p:ph type="title"/>
          </p:nvPr>
        </p:nvSpPr>
        <p:spPr>
          <a:xfrm>
            <a:off x="1355725" y="685800"/>
            <a:ext cx="7580313" cy="6096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WaveCluster (1998)</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49506" name="Rectangle 3"/>
          <p:cNvSpPr>
            <a:spLocks noGrp="1"/>
          </p:cNvSpPr>
          <p:nvPr>
            <p:ph sz="quarter" idx="1"/>
          </p:nvPr>
        </p:nvSpPr>
        <p:spPr>
          <a:xfrm>
            <a:off x="457200" y="1600200"/>
            <a:ext cx="8153400" cy="4953000"/>
          </a:xfrm>
          <a:ln/>
        </p:spPr>
        <p:txBody>
          <a:bodyPr vert="horz" wrap="square" lIns="92075" tIns="46038" rIns="92075" bIns="46038" anchor="t" anchorCtr="0"/>
          <a:p>
            <a:pPr eaLnBrk="1" hangingPunct="1">
              <a:buClr>
                <a:schemeClr val="accent1"/>
              </a:buClr>
              <a:buSzPct val="70000"/>
              <a:buFont typeface="Wingdings" panose="05000000000000000000" pitchFamily="2" charset="2"/>
            </a:pPr>
            <a:r>
              <a:rPr lang="en-US" dirty="0"/>
              <a:t>How to apply wavelet transform to find clusters</a:t>
            </a:r>
            <a:endParaRPr lang="en-US" dirty="0"/>
          </a:p>
          <a:p>
            <a:pPr lvl="1" eaLnBrk="1" hangingPunct="1">
              <a:buClr>
                <a:schemeClr val="accent1"/>
              </a:buClr>
              <a:buSzPct val="80000"/>
              <a:buFont typeface="Wingdings 2" panose="05020102010507070707" pitchFamily="18" charset="2"/>
            </a:pPr>
            <a:r>
              <a:rPr lang="en-US" dirty="0"/>
              <a:t> Summaries the data by imposing a multidimensional grid structure onto data space</a:t>
            </a:r>
            <a:endParaRPr lang="en-US" dirty="0"/>
          </a:p>
          <a:p>
            <a:pPr lvl="1" eaLnBrk="1" hangingPunct="1">
              <a:buClr>
                <a:schemeClr val="accent1"/>
              </a:buClr>
              <a:buSzPct val="80000"/>
              <a:buFont typeface="Wingdings 2" panose="05020102010507070707" pitchFamily="18" charset="2"/>
            </a:pPr>
            <a:r>
              <a:rPr lang="en-US" dirty="0"/>
              <a:t>These multidimensional spatial data objects are represented in a n-dimensional feature space</a:t>
            </a:r>
            <a:endParaRPr lang="en-US" dirty="0"/>
          </a:p>
          <a:p>
            <a:pPr lvl="1" eaLnBrk="1" hangingPunct="1">
              <a:buClr>
                <a:schemeClr val="accent1"/>
              </a:buClr>
              <a:buSzPct val="80000"/>
              <a:buFont typeface="Wingdings 2" panose="05020102010507070707" pitchFamily="18" charset="2"/>
            </a:pPr>
            <a:r>
              <a:rPr lang="en-US" dirty="0"/>
              <a:t>Apply wavelet transform on feature space to find the dense regions in the feature space</a:t>
            </a:r>
            <a:endParaRPr lang="en-US" dirty="0"/>
          </a:p>
          <a:p>
            <a:pPr lvl="1" eaLnBrk="1" hangingPunct="1">
              <a:buClr>
                <a:schemeClr val="accent1"/>
              </a:buClr>
              <a:buSzPct val="80000"/>
              <a:buFont typeface="Wingdings 2" panose="05020102010507070707" pitchFamily="18" charset="2"/>
            </a:pPr>
            <a:r>
              <a:rPr lang="en-US" dirty="0"/>
              <a:t>Apply wavelet transform multiple times which result in clusters at different scales from fine to coarse</a:t>
            </a:r>
            <a:endParaRPr lang="en-US" dirty="0"/>
          </a:p>
        </p:txBody>
      </p:sp>
      <p:sp>
        <p:nvSpPr>
          <p:cNvPr id="14950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4950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4950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noChangeArrowheads="1"/>
          </p:cNvSpPr>
          <p:nvPr>
            <p:ph type="title"/>
          </p:nvPr>
        </p:nvSpPr>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What Is Wavelet (2)?</a:t>
            </a:r>
            <a:endParaRPr kumimoji="0" lang="en-US" sz="28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51554"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51555"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51556"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pic>
        <p:nvPicPr>
          <p:cNvPr id="151557" name="Picture 3"/>
          <p:cNvPicPr/>
          <p:nvPr/>
        </p:nvPicPr>
        <p:blipFill>
          <a:blip r:embed="rId1"/>
          <a:stretch>
            <a:fillRect/>
          </a:stretch>
        </p:blipFill>
        <p:spPr>
          <a:xfrm>
            <a:off x="466725" y="2581275"/>
            <a:ext cx="3795713" cy="2981325"/>
          </a:xfrm>
          <a:prstGeom prst="rect">
            <a:avLst/>
          </a:prstGeom>
          <a:noFill/>
          <a:ln w="9525">
            <a:noFill/>
          </a:ln>
        </p:spPr>
      </p:pic>
      <p:pic>
        <p:nvPicPr>
          <p:cNvPr id="151558" name="Picture 4"/>
          <p:cNvPicPr/>
          <p:nvPr/>
        </p:nvPicPr>
        <p:blipFill>
          <a:blip r:embed="rId2"/>
          <a:stretch>
            <a:fillRect/>
          </a:stretch>
        </p:blipFill>
        <p:spPr>
          <a:xfrm>
            <a:off x="4910138" y="2490788"/>
            <a:ext cx="3852862" cy="2927350"/>
          </a:xfrm>
          <a:prstGeom prst="rect">
            <a:avLst/>
          </a:prstGeom>
          <a:noFill/>
          <a:ln w="9525">
            <a:noFill/>
          </a:ln>
        </p:spPr>
      </p:pic>
    </p:spTree>
  </p:cSld>
  <p:clrMapOvr>
    <a:masterClrMapping/>
  </p:clrMapOvr>
  <p:transition>
    <p:strips dir="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noChangeArrowheads="1"/>
          </p:cNvSpPr>
          <p:nvPr>
            <p:ph type="title"/>
          </p:nvPr>
        </p:nvSpPr>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Quantization</a:t>
            </a:r>
            <a:endParaRPr kumimoji="0" lang="en-US" sz="2800" b="0" i="0" u="none" strike="noStrike" kern="1200" cap="small" spc="0" normalizeH="0" baseline="0" noProof="0" smtClean="0">
              <a:ln>
                <a:noFill/>
              </a:ln>
              <a:solidFill>
                <a:schemeClr val="tx2"/>
              </a:solidFill>
              <a:effectLst/>
              <a:uLnTx/>
              <a:uFillTx/>
              <a:latin typeface="+mj-lt"/>
              <a:ea typeface="+mj-ea"/>
              <a:cs typeface="+mj-cs"/>
            </a:endParaRPr>
          </a:p>
        </p:txBody>
      </p:sp>
      <p:pic>
        <p:nvPicPr>
          <p:cNvPr id="152578" name="Picture 3"/>
          <p:cNvPicPr>
            <a:picLocks noGrp="1"/>
          </p:cNvPicPr>
          <p:nvPr>
            <p:ph sz="quarter" idx="1"/>
          </p:nvPr>
        </p:nvPicPr>
        <p:blipFill>
          <a:blip r:embed="rId1"/>
          <a:stretch>
            <a:fillRect/>
          </a:stretch>
        </p:blipFill>
        <p:spPr>
          <a:xfrm>
            <a:off x="2005013" y="2551113"/>
            <a:ext cx="4371975" cy="2971800"/>
          </a:xfrm>
          <a:ln/>
        </p:spPr>
      </p:pic>
      <p:sp>
        <p:nvSpPr>
          <p:cNvPr id="15257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5258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5258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grpSp>
        <p:nvGrpSpPr>
          <p:cNvPr id="152582" name="Group 4"/>
          <p:cNvGrpSpPr/>
          <p:nvPr/>
        </p:nvGrpSpPr>
        <p:grpSpPr>
          <a:xfrm rot="5400000">
            <a:off x="2743200" y="2209800"/>
            <a:ext cx="3200400" cy="3276600"/>
            <a:chOff x="1728" y="1392"/>
            <a:chExt cx="2016" cy="2064"/>
          </a:xfrm>
        </p:grpSpPr>
        <p:sp>
          <p:nvSpPr>
            <p:cNvPr id="152583" name="Line 5"/>
            <p:cNvSpPr/>
            <p:nvPr/>
          </p:nvSpPr>
          <p:spPr>
            <a:xfrm>
              <a:off x="1728" y="1872"/>
              <a:ext cx="2016" cy="0"/>
            </a:xfrm>
            <a:prstGeom prst="line">
              <a:avLst/>
            </a:prstGeom>
            <a:ln w="12700" cap="flat" cmpd="sng">
              <a:solidFill>
                <a:schemeClr val="tx1"/>
              </a:solidFill>
              <a:prstDash val="solid"/>
              <a:round/>
              <a:headEnd type="none" w="sm" len="sm"/>
              <a:tailEnd type="none" w="sm" len="sm"/>
            </a:ln>
          </p:spPr>
        </p:sp>
        <p:sp>
          <p:nvSpPr>
            <p:cNvPr id="152584" name="Line 6"/>
            <p:cNvSpPr/>
            <p:nvPr/>
          </p:nvSpPr>
          <p:spPr>
            <a:xfrm>
              <a:off x="1728" y="2448"/>
              <a:ext cx="2016" cy="0"/>
            </a:xfrm>
            <a:prstGeom prst="line">
              <a:avLst/>
            </a:prstGeom>
            <a:ln w="12700" cap="flat" cmpd="sng">
              <a:solidFill>
                <a:schemeClr val="tx1"/>
              </a:solidFill>
              <a:prstDash val="solid"/>
              <a:round/>
              <a:headEnd type="none" w="sm" len="sm"/>
              <a:tailEnd type="none" w="sm" len="sm"/>
            </a:ln>
          </p:spPr>
        </p:sp>
        <p:sp>
          <p:nvSpPr>
            <p:cNvPr id="152585" name="Line 7"/>
            <p:cNvSpPr/>
            <p:nvPr/>
          </p:nvSpPr>
          <p:spPr>
            <a:xfrm>
              <a:off x="1728" y="2976"/>
              <a:ext cx="2016" cy="0"/>
            </a:xfrm>
            <a:prstGeom prst="line">
              <a:avLst/>
            </a:prstGeom>
            <a:ln w="12700" cap="flat" cmpd="sng">
              <a:solidFill>
                <a:schemeClr val="tx1"/>
              </a:solidFill>
              <a:prstDash val="solid"/>
              <a:round/>
              <a:headEnd type="none" w="sm" len="sm"/>
              <a:tailEnd type="none" w="sm" len="sm"/>
            </a:ln>
          </p:spPr>
        </p:sp>
        <p:sp>
          <p:nvSpPr>
            <p:cNvPr id="152586" name="Line 8"/>
            <p:cNvSpPr/>
            <p:nvPr/>
          </p:nvSpPr>
          <p:spPr>
            <a:xfrm>
              <a:off x="2736" y="1392"/>
              <a:ext cx="0" cy="2064"/>
            </a:xfrm>
            <a:prstGeom prst="line">
              <a:avLst/>
            </a:prstGeom>
            <a:ln w="12700" cap="flat" cmpd="sng">
              <a:solidFill>
                <a:schemeClr val="tx1"/>
              </a:solidFill>
              <a:prstDash val="solid"/>
              <a:round/>
              <a:headEnd type="none" w="sm" len="sm"/>
              <a:tailEnd type="none" w="sm" len="sm"/>
            </a:ln>
          </p:spPr>
        </p:sp>
        <p:sp>
          <p:nvSpPr>
            <p:cNvPr id="152587" name="Line 9"/>
            <p:cNvSpPr/>
            <p:nvPr/>
          </p:nvSpPr>
          <p:spPr>
            <a:xfrm>
              <a:off x="3264" y="1392"/>
              <a:ext cx="0" cy="2064"/>
            </a:xfrm>
            <a:prstGeom prst="line">
              <a:avLst/>
            </a:prstGeom>
            <a:ln w="12700" cap="flat" cmpd="sng">
              <a:solidFill>
                <a:schemeClr val="tx1"/>
              </a:solidFill>
              <a:prstDash val="solid"/>
              <a:round/>
              <a:headEnd type="none" w="sm" len="sm"/>
              <a:tailEnd type="none" w="sm" len="sm"/>
            </a:ln>
          </p:spPr>
        </p:sp>
        <p:sp>
          <p:nvSpPr>
            <p:cNvPr id="152588" name="Line 10"/>
            <p:cNvSpPr/>
            <p:nvPr/>
          </p:nvSpPr>
          <p:spPr>
            <a:xfrm>
              <a:off x="2256" y="1392"/>
              <a:ext cx="0" cy="2064"/>
            </a:xfrm>
            <a:prstGeom prst="line">
              <a:avLst/>
            </a:prstGeom>
            <a:ln w="12700" cap="flat" cmpd="sng">
              <a:solidFill>
                <a:schemeClr val="tx1"/>
              </a:solidFill>
              <a:prstDash val="solid"/>
              <a:round/>
              <a:headEnd type="none" w="sm" len="sm"/>
              <a:tailEnd type="none" w="sm" len="sm"/>
            </a:ln>
          </p:spPr>
        </p:sp>
      </p:grpSp>
    </p:spTree>
  </p:cSld>
  <p:clrMapOvr>
    <a:masterClrMapping/>
  </p:clrMapOvr>
  <p:transition>
    <p:strips dir="r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noChangeArrowheads="1"/>
          </p:cNvSpPr>
          <p:nvPr>
            <p:ph type="title"/>
          </p:nvPr>
        </p:nvSpPr>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Transformation</a:t>
            </a:r>
            <a:endParaRPr kumimoji="0" lang="en-US" sz="28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53602"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53603"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53604"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pic>
        <p:nvPicPr>
          <p:cNvPr id="153605" name="Picture 3"/>
          <p:cNvPicPr/>
          <p:nvPr/>
        </p:nvPicPr>
        <p:blipFill>
          <a:blip r:embed="rId1"/>
          <a:stretch>
            <a:fillRect/>
          </a:stretch>
        </p:blipFill>
        <p:spPr>
          <a:xfrm>
            <a:off x="0" y="1833563"/>
            <a:ext cx="9142413" cy="4110037"/>
          </a:xfrm>
          <a:prstGeom prst="rect">
            <a:avLst/>
          </a:prstGeom>
          <a:noFill/>
          <a:ln w="9525">
            <a:noFill/>
          </a:ln>
        </p:spPr>
      </p:pic>
    </p:spTree>
  </p:cSld>
  <p:clrMapOvr>
    <a:masterClrMapping/>
  </p:clrMapOvr>
  <p:transition>
    <p:strips dir="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noChangeArrowheads="1"/>
          </p:cNvSpPr>
          <p:nvPr>
            <p:ph type="title"/>
          </p:nvPr>
        </p:nvSpPr>
        <p:spPr>
          <a:xfrm>
            <a:off x="1355725" y="685800"/>
            <a:ext cx="7580313" cy="60960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WaveCluster (1998)</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54626" name="Rectangle 3"/>
          <p:cNvSpPr>
            <a:spLocks noGrp="1"/>
          </p:cNvSpPr>
          <p:nvPr>
            <p:ph sz="quarter" idx="1"/>
          </p:nvPr>
        </p:nvSpPr>
        <p:spPr>
          <a:xfrm>
            <a:off x="457200" y="1600200"/>
            <a:ext cx="8153400" cy="4953000"/>
          </a:xfrm>
          <a:ln/>
        </p:spPr>
        <p:txBody>
          <a:bodyPr vert="horz" wrap="square" lIns="92075" tIns="46038" rIns="92075" bIns="46038" anchor="t" anchorCtr="0"/>
          <a:p>
            <a:pPr eaLnBrk="1" hangingPunct="1">
              <a:lnSpc>
                <a:spcPct val="90000"/>
              </a:lnSpc>
              <a:buClr>
                <a:schemeClr val="accent1"/>
              </a:buClr>
              <a:buSzPct val="70000"/>
              <a:buFont typeface="Wingdings" panose="05000000000000000000" pitchFamily="2" charset="2"/>
            </a:pPr>
            <a:r>
              <a:rPr lang="en-US" dirty="0"/>
              <a:t>Why is wavelet transformation useful for clustering</a:t>
            </a:r>
            <a:endParaRPr lang="en-US" dirty="0"/>
          </a:p>
          <a:p>
            <a:pPr lvl="1" eaLnBrk="1" hangingPunct="1">
              <a:lnSpc>
                <a:spcPct val="90000"/>
              </a:lnSpc>
              <a:buClr>
                <a:schemeClr val="accent1"/>
              </a:buClr>
              <a:buSzPct val="80000"/>
              <a:buFont typeface="Wingdings 2" panose="05020102010507070707" pitchFamily="18" charset="2"/>
            </a:pPr>
            <a:r>
              <a:rPr lang="en-US" dirty="0"/>
              <a:t>Unsupervised clustering</a:t>
            </a:r>
            <a:endParaRPr lang="en-US" dirty="0"/>
          </a:p>
          <a:p>
            <a:pPr lvl="1" eaLnBrk="1" hangingPunct="1">
              <a:lnSpc>
                <a:spcPct val="90000"/>
              </a:lnSpc>
              <a:buClr>
                <a:schemeClr val="accent1"/>
              </a:buClr>
              <a:buSzPct val="80000"/>
              <a:buFont typeface="Wingdings" panose="05000000000000000000" pitchFamily="2" charset="2"/>
              <a:buNone/>
            </a:pPr>
            <a:r>
              <a:rPr lang="en-US" dirty="0"/>
              <a:t>    It uses hat-shape filters to emphasize region where points cluster, but simultaneously to suppress weaker information in their boundary  </a:t>
            </a:r>
            <a:endParaRPr lang="en-US" dirty="0"/>
          </a:p>
          <a:p>
            <a:pPr lvl="1" eaLnBrk="1" hangingPunct="1">
              <a:lnSpc>
                <a:spcPct val="90000"/>
              </a:lnSpc>
              <a:buClr>
                <a:schemeClr val="accent1"/>
              </a:buClr>
              <a:buSzPct val="80000"/>
              <a:buFont typeface="Wingdings 2" panose="05020102010507070707" pitchFamily="18" charset="2"/>
            </a:pPr>
            <a:r>
              <a:rPr lang="en-US" dirty="0"/>
              <a:t>Effective removal of outliers</a:t>
            </a:r>
            <a:endParaRPr lang="en-US" dirty="0"/>
          </a:p>
          <a:p>
            <a:pPr lvl="1" eaLnBrk="1" hangingPunct="1">
              <a:lnSpc>
                <a:spcPct val="90000"/>
              </a:lnSpc>
              <a:buClr>
                <a:schemeClr val="accent1"/>
              </a:buClr>
              <a:buSzPct val="80000"/>
              <a:buFont typeface="Wingdings 2" panose="05020102010507070707" pitchFamily="18" charset="2"/>
            </a:pPr>
            <a:r>
              <a:rPr lang="en-US" dirty="0"/>
              <a:t>Multi-resolution</a:t>
            </a:r>
            <a:endParaRPr lang="en-US" dirty="0"/>
          </a:p>
          <a:p>
            <a:pPr lvl="1" eaLnBrk="1" hangingPunct="1">
              <a:lnSpc>
                <a:spcPct val="90000"/>
              </a:lnSpc>
              <a:buClr>
                <a:schemeClr val="accent1"/>
              </a:buClr>
              <a:buSzPct val="80000"/>
              <a:buFont typeface="Wingdings 2" panose="05020102010507070707" pitchFamily="18" charset="2"/>
            </a:pPr>
            <a:r>
              <a:rPr lang="en-US" dirty="0"/>
              <a:t>Cost efficiency</a:t>
            </a:r>
            <a:endParaRPr lang="en-US" dirty="0"/>
          </a:p>
          <a:p>
            <a:pPr eaLnBrk="1" hangingPunct="1">
              <a:lnSpc>
                <a:spcPct val="90000"/>
              </a:lnSpc>
              <a:buClr>
                <a:schemeClr val="accent1"/>
              </a:buClr>
              <a:buSzPct val="70000"/>
              <a:buFont typeface="Wingdings" panose="05000000000000000000" pitchFamily="2" charset="2"/>
            </a:pPr>
            <a:r>
              <a:rPr lang="en-US" dirty="0"/>
              <a:t>Major features:</a:t>
            </a:r>
            <a:endParaRPr lang="en-US" dirty="0"/>
          </a:p>
          <a:p>
            <a:pPr lvl="1" eaLnBrk="1" hangingPunct="1">
              <a:lnSpc>
                <a:spcPct val="90000"/>
              </a:lnSpc>
              <a:buClr>
                <a:schemeClr val="accent1"/>
              </a:buClr>
              <a:buSzPct val="80000"/>
              <a:buFont typeface="Wingdings 2" panose="05020102010507070707" pitchFamily="18" charset="2"/>
            </a:pPr>
            <a:r>
              <a:rPr lang="en-US" dirty="0"/>
              <a:t>Complexity O(N)</a:t>
            </a:r>
            <a:endParaRPr lang="en-US" dirty="0"/>
          </a:p>
          <a:p>
            <a:pPr lvl="1" eaLnBrk="1" hangingPunct="1">
              <a:lnSpc>
                <a:spcPct val="90000"/>
              </a:lnSpc>
              <a:buClr>
                <a:schemeClr val="accent1"/>
              </a:buClr>
              <a:buSzPct val="80000"/>
              <a:buFont typeface="Wingdings 2" panose="05020102010507070707" pitchFamily="18" charset="2"/>
            </a:pPr>
            <a:r>
              <a:rPr lang="en-US" dirty="0"/>
              <a:t>Detect arbitrary shaped clusters at different scales</a:t>
            </a:r>
            <a:endParaRPr lang="en-US" dirty="0"/>
          </a:p>
          <a:p>
            <a:pPr lvl="1" eaLnBrk="1" hangingPunct="1">
              <a:lnSpc>
                <a:spcPct val="90000"/>
              </a:lnSpc>
              <a:buClr>
                <a:schemeClr val="accent1"/>
              </a:buClr>
              <a:buSzPct val="80000"/>
              <a:buFont typeface="Wingdings 2" panose="05020102010507070707" pitchFamily="18" charset="2"/>
            </a:pPr>
            <a:r>
              <a:rPr lang="en-US" dirty="0"/>
              <a:t>Not sensitive to noise, not sensitive to input order</a:t>
            </a:r>
            <a:endParaRPr lang="en-US" dirty="0"/>
          </a:p>
          <a:p>
            <a:pPr lvl="1" eaLnBrk="1" hangingPunct="1">
              <a:lnSpc>
                <a:spcPct val="90000"/>
              </a:lnSpc>
              <a:buClr>
                <a:schemeClr val="accent1"/>
              </a:buClr>
              <a:buSzPct val="80000"/>
              <a:buFont typeface="Wingdings 2" panose="05020102010507070707" pitchFamily="18" charset="2"/>
            </a:pPr>
            <a:r>
              <a:rPr lang="en-US" dirty="0"/>
              <a:t>Only applicable to low dimensional data</a:t>
            </a:r>
            <a:endParaRPr lang="en-US" dirty="0"/>
          </a:p>
        </p:txBody>
      </p:sp>
      <p:sp>
        <p:nvSpPr>
          <p:cNvPr id="15462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5462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5462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ChangeArrowheads="1"/>
          </p:cNvSpPr>
          <p:nvPr>
            <p:ph type="title"/>
          </p:nvPr>
        </p:nvSpPr>
        <p:spPr>
          <a:xfrm>
            <a:off x="1214438" y="741363"/>
            <a:ext cx="7226300" cy="4984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CLIQUE (Clustering In QUEst)</a:t>
            </a:r>
            <a:r>
              <a:rPr kumimoji="0" lang="en-US" sz="3000" b="0" i="0" u="none" strike="noStrike" kern="1200" cap="small" spc="0" normalizeH="0" baseline="0" noProof="0" smtClean="0">
                <a:ln>
                  <a:noFill/>
                </a:ln>
                <a:solidFill>
                  <a:schemeClr val="tx2"/>
                </a:solidFill>
                <a:effectLst/>
                <a:uLnTx/>
                <a:uFillTx/>
                <a:latin typeface="+mj-lt"/>
                <a:ea typeface="+mj-ea"/>
                <a:cs typeface="+mj-cs"/>
              </a:rPr>
              <a:t> </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56674" name="Rectangle 3"/>
          <p:cNvSpPr>
            <a:spLocks noGrp="1"/>
          </p:cNvSpPr>
          <p:nvPr>
            <p:ph sz="quarter" idx="1"/>
          </p:nvPr>
        </p:nvSpPr>
        <p:spPr>
          <a:xfrm>
            <a:off x="228600" y="1524000"/>
            <a:ext cx="8686800" cy="5029200"/>
          </a:xfrm>
          <a:ln/>
        </p:spPr>
        <p:txBody>
          <a:bodyPr vert="horz" wrap="square" lIns="91440" tIns="45720" rIns="91440" bIns="45720" anchor="t" anchorCtr="0"/>
          <a:p>
            <a:pPr eaLnBrk="1" hangingPunct="1">
              <a:lnSpc>
                <a:spcPct val="80000"/>
              </a:lnSpc>
              <a:spcBef>
                <a:spcPct val="50000"/>
              </a:spcBef>
              <a:buClr>
                <a:schemeClr val="tx1"/>
              </a:buClr>
              <a:buSzPct val="70000"/>
              <a:buFont typeface="Wingdings" panose="05000000000000000000" pitchFamily="2" charset="2"/>
            </a:pPr>
            <a:r>
              <a:rPr lang="en-US" dirty="0"/>
              <a:t>Agrawal, Gehrke, Gunopulos, Raghavan (SIGMOD’98). </a:t>
            </a:r>
            <a:endParaRPr lang="en-US" dirty="0"/>
          </a:p>
          <a:p>
            <a:pPr eaLnBrk="1" hangingPunct="1">
              <a:lnSpc>
                <a:spcPct val="80000"/>
              </a:lnSpc>
              <a:spcBef>
                <a:spcPct val="50000"/>
              </a:spcBef>
              <a:buClr>
                <a:schemeClr val="tx1"/>
              </a:buClr>
              <a:buSzPct val="70000"/>
              <a:buFont typeface="Wingdings" panose="05000000000000000000" pitchFamily="2" charset="2"/>
            </a:pPr>
            <a:r>
              <a:rPr lang="en-US" dirty="0"/>
              <a:t>Automatically identifying subspaces of a high dimensional data space that allow better clustering than original space </a:t>
            </a:r>
            <a:endParaRPr lang="en-US" dirty="0"/>
          </a:p>
          <a:p>
            <a:pPr eaLnBrk="1" hangingPunct="1">
              <a:lnSpc>
                <a:spcPct val="80000"/>
              </a:lnSpc>
              <a:spcBef>
                <a:spcPct val="50000"/>
              </a:spcBef>
              <a:buClr>
                <a:schemeClr val="tx1"/>
              </a:buClr>
              <a:buSzPct val="70000"/>
              <a:buFont typeface="Wingdings" panose="05000000000000000000" pitchFamily="2" charset="2"/>
            </a:pPr>
            <a:r>
              <a:rPr lang="en-US" dirty="0"/>
              <a:t>CLIQUE can be considered as both density-based and grid-based</a:t>
            </a:r>
            <a:endParaRPr lang="en-US" dirty="0"/>
          </a:p>
          <a:p>
            <a:pPr lvl="1" eaLnBrk="1" hangingPunct="1">
              <a:lnSpc>
                <a:spcPct val="80000"/>
              </a:lnSpc>
              <a:spcBef>
                <a:spcPct val="50000"/>
              </a:spcBef>
              <a:buClr>
                <a:schemeClr val="tx1"/>
              </a:buClr>
              <a:buSzPct val="80000"/>
              <a:buFont typeface="Wingdings 2" panose="05020102010507070707" pitchFamily="18" charset="2"/>
            </a:pPr>
            <a:r>
              <a:rPr lang="en-US" dirty="0"/>
              <a:t>It partitions each dimension into the same number of equal length interval</a:t>
            </a:r>
            <a:endParaRPr lang="en-US" dirty="0"/>
          </a:p>
          <a:p>
            <a:pPr lvl="1" eaLnBrk="1" hangingPunct="1">
              <a:lnSpc>
                <a:spcPct val="80000"/>
              </a:lnSpc>
              <a:spcBef>
                <a:spcPct val="50000"/>
              </a:spcBef>
              <a:buClr>
                <a:schemeClr val="tx1"/>
              </a:buClr>
              <a:buSzPct val="80000"/>
              <a:buFont typeface="Wingdings 2" panose="05020102010507070707" pitchFamily="18" charset="2"/>
            </a:pPr>
            <a:r>
              <a:rPr lang="en-US" dirty="0"/>
              <a:t>It partitions an m-dimensional data space into non-overlapping rectangular units</a:t>
            </a:r>
            <a:endParaRPr lang="en-US" dirty="0"/>
          </a:p>
          <a:p>
            <a:pPr lvl="1" eaLnBrk="1" hangingPunct="1">
              <a:lnSpc>
                <a:spcPct val="80000"/>
              </a:lnSpc>
              <a:spcBef>
                <a:spcPct val="50000"/>
              </a:spcBef>
              <a:buClr>
                <a:schemeClr val="tx1"/>
              </a:buClr>
              <a:buSzPct val="80000"/>
              <a:buFont typeface="Wingdings 2" panose="05020102010507070707" pitchFamily="18" charset="2"/>
            </a:pPr>
            <a:r>
              <a:rPr lang="en-US" dirty="0"/>
              <a:t>A unit is dense if the fraction of total data points contained in the unit exceeds the input model parameter</a:t>
            </a:r>
            <a:endParaRPr lang="en-US" dirty="0"/>
          </a:p>
          <a:p>
            <a:pPr lvl="1" eaLnBrk="1" hangingPunct="1">
              <a:lnSpc>
                <a:spcPct val="80000"/>
              </a:lnSpc>
              <a:spcBef>
                <a:spcPct val="50000"/>
              </a:spcBef>
              <a:buClr>
                <a:schemeClr val="tx1"/>
              </a:buClr>
              <a:buSzPct val="80000"/>
              <a:buFont typeface="Wingdings 2" panose="05020102010507070707" pitchFamily="18" charset="2"/>
            </a:pPr>
            <a:r>
              <a:rPr lang="en-US" dirty="0"/>
              <a:t>A cluster is a maximal set of connected dense units within a subspace</a:t>
            </a:r>
            <a:endParaRPr lang="en-US" dirty="0"/>
          </a:p>
        </p:txBody>
      </p:sp>
      <p:sp>
        <p:nvSpPr>
          <p:cNvPr id="15667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5667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5667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noChangeArrowheads="1"/>
          </p:cNvSpPr>
          <p:nvPr>
            <p:ph type="title"/>
          </p:nvPr>
        </p:nvSpPr>
        <p:spPr>
          <a:xfrm>
            <a:off x="1214438" y="741363"/>
            <a:ext cx="7226300" cy="4984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CLIQUE: The Major Steps</a:t>
            </a:r>
            <a:endParaRPr kumimoji="0" lang="en-US" sz="32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58722" name="Rectangle 3"/>
          <p:cNvSpPr>
            <a:spLocks noGrp="1"/>
          </p:cNvSpPr>
          <p:nvPr>
            <p:ph sz="quarter" idx="1"/>
          </p:nvPr>
        </p:nvSpPr>
        <p:spPr>
          <a:xfrm>
            <a:off x="457200" y="1524000"/>
            <a:ext cx="8458200" cy="4800600"/>
          </a:xfrm>
          <a:ln/>
        </p:spPr>
        <p:txBody>
          <a:bodyPr vert="horz" wrap="square" lIns="91440" tIns="45720" rIns="91440" bIns="45720" anchor="t" anchorCtr="0"/>
          <a:p>
            <a:pPr eaLnBrk="1" hangingPunct="1">
              <a:lnSpc>
                <a:spcPct val="90000"/>
              </a:lnSpc>
              <a:spcBef>
                <a:spcPct val="50000"/>
              </a:spcBef>
              <a:buClr>
                <a:schemeClr val="tx1"/>
              </a:buClr>
              <a:buSzPct val="70000"/>
              <a:buFont typeface="Wingdings" panose="05000000000000000000" pitchFamily="2" charset="2"/>
            </a:pPr>
            <a:r>
              <a:rPr lang="en-US" dirty="0">
                <a:solidFill>
                  <a:srgbClr val="261C6E"/>
                </a:solidFill>
              </a:rPr>
              <a:t>Partition the data space and find the number of points that lie inside each cell of the partition.</a:t>
            </a:r>
            <a:endParaRPr lang="en-US" dirty="0">
              <a:solidFill>
                <a:srgbClr val="261C6E"/>
              </a:solidFill>
            </a:endParaRPr>
          </a:p>
          <a:p>
            <a:pPr eaLnBrk="1" hangingPunct="1">
              <a:lnSpc>
                <a:spcPct val="90000"/>
              </a:lnSpc>
              <a:spcBef>
                <a:spcPct val="50000"/>
              </a:spcBef>
              <a:buClr>
                <a:schemeClr val="tx1"/>
              </a:buClr>
              <a:buSzPct val="70000"/>
              <a:buFont typeface="Wingdings" panose="05000000000000000000" pitchFamily="2" charset="2"/>
            </a:pPr>
            <a:r>
              <a:rPr lang="en-US" dirty="0">
                <a:solidFill>
                  <a:srgbClr val="261C6E"/>
                </a:solidFill>
              </a:rPr>
              <a:t>Identify the subspaces that contain clusters using the Apriori principle</a:t>
            </a:r>
            <a:endParaRPr lang="en-US" dirty="0">
              <a:solidFill>
                <a:srgbClr val="261C6E"/>
              </a:solidFill>
            </a:endParaRPr>
          </a:p>
          <a:p>
            <a:pPr eaLnBrk="1" hangingPunct="1">
              <a:lnSpc>
                <a:spcPct val="90000"/>
              </a:lnSpc>
              <a:spcBef>
                <a:spcPct val="50000"/>
              </a:spcBef>
              <a:buClr>
                <a:schemeClr val="tx1"/>
              </a:buClr>
              <a:buSzPct val="70000"/>
              <a:buFont typeface="Wingdings" panose="05000000000000000000" pitchFamily="2" charset="2"/>
            </a:pPr>
            <a:r>
              <a:rPr lang="en-US" dirty="0">
                <a:solidFill>
                  <a:srgbClr val="261C6E"/>
                </a:solidFill>
              </a:rPr>
              <a:t>Identify clusters</a:t>
            </a:r>
            <a:r>
              <a:rPr lang="en-US" dirty="0"/>
              <a:t>:</a:t>
            </a:r>
            <a:endParaRPr lang="en-US" dirty="0"/>
          </a:p>
          <a:p>
            <a:pPr lvl="1" eaLnBrk="1" hangingPunct="1">
              <a:lnSpc>
                <a:spcPct val="90000"/>
              </a:lnSpc>
              <a:spcBef>
                <a:spcPct val="50000"/>
              </a:spcBef>
              <a:buClr>
                <a:schemeClr val="tx1"/>
              </a:buClr>
              <a:buSzPct val="80000"/>
              <a:buFont typeface="Wingdings 2" panose="05020102010507070707" pitchFamily="18" charset="2"/>
            </a:pPr>
            <a:r>
              <a:rPr lang="en-US" dirty="0"/>
              <a:t>Determine dense units in all subspaces of interests</a:t>
            </a:r>
            <a:endParaRPr lang="en-US" dirty="0"/>
          </a:p>
          <a:p>
            <a:pPr lvl="1" eaLnBrk="1" hangingPunct="1">
              <a:lnSpc>
                <a:spcPct val="90000"/>
              </a:lnSpc>
              <a:buClr>
                <a:schemeClr val="accent1"/>
              </a:buClr>
              <a:buSzPct val="80000"/>
              <a:buFont typeface="Wingdings 2" panose="05020102010507070707" pitchFamily="18" charset="2"/>
            </a:pPr>
            <a:r>
              <a:rPr lang="en-US" dirty="0"/>
              <a:t>Determine connected dense units in all subspaces of interests.</a:t>
            </a:r>
            <a:endParaRPr lang="en-US" dirty="0"/>
          </a:p>
          <a:p>
            <a:pPr eaLnBrk="1" hangingPunct="1">
              <a:lnSpc>
                <a:spcPct val="90000"/>
              </a:lnSpc>
              <a:spcBef>
                <a:spcPct val="50000"/>
              </a:spcBef>
              <a:buClr>
                <a:schemeClr val="tx1"/>
              </a:buClr>
              <a:buSzPct val="70000"/>
              <a:buFont typeface="Wingdings" panose="05000000000000000000" pitchFamily="2" charset="2"/>
            </a:pPr>
            <a:r>
              <a:rPr lang="en-US" dirty="0">
                <a:solidFill>
                  <a:srgbClr val="261C6E"/>
                </a:solidFill>
              </a:rPr>
              <a:t>Generate minimal description for the clusters</a:t>
            </a:r>
            <a:endParaRPr lang="en-US" dirty="0"/>
          </a:p>
          <a:p>
            <a:pPr lvl="1" eaLnBrk="1" hangingPunct="1">
              <a:lnSpc>
                <a:spcPct val="90000"/>
              </a:lnSpc>
              <a:buClr>
                <a:schemeClr val="accent1"/>
              </a:buClr>
              <a:buSzPct val="80000"/>
              <a:buFont typeface="Wingdings 2" panose="05020102010507070707" pitchFamily="18" charset="2"/>
            </a:pPr>
            <a:r>
              <a:rPr lang="en-US" dirty="0"/>
              <a:t>Determine maximal regions that cover a cluster of connected dense units for each cluster</a:t>
            </a:r>
            <a:endParaRPr lang="en-US" dirty="0"/>
          </a:p>
          <a:p>
            <a:pPr lvl="1" eaLnBrk="1" hangingPunct="1">
              <a:lnSpc>
                <a:spcPct val="90000"/>
              </a:lnSpc>
              <a:buClr>
                <a:schemeClr val="accent1"/>
              </a:buClr>
              <a:buSzPct val="80000"/>
              <a:buFont typeface="Wingdings 2" panose="05020102010507070707" pitchFamily="18" charset="2"/>
            </a:pPr>
            <a:r>
              <a:rPr lang="en-US" dirty="0"/>
              <a:t>Determination of minimal cover for each cluster</a:t>
            </a:r>
            <a:endParaRPr lang="en-US" dirty="0"/>
          </a:p>
        </p:txBody>
      </p:sp>
      <p:sp>
        <p:nvSpPr>
          <p:cNvPr id="15872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5872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5872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Date Placeholder 1"/>
          <p:cNvSpPr>
            <a:spLocks noGrp="1"/>
          </p:cNvSpPr>
          <p:nvPr>
            <p:ph type="dt" sz="half" idx="10"/>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ea typeface="SimSun" panose="02010600030101010101" pitchFamily="2" charset="-122"/>
              </a:rPr>
            </a:fld>
            <a:endParaRPr lang="en-US" altLang="zh-CN" sz="1200" dirty="0">
              <a:solidFill>
                <a:schemeClr val="tx2"/>
              </a:solidFill>
              <a:ea typeface="SimSun" panose="02010600030101010101" pitchFamily="2" charset="-122"/>
            </a:endParaRPr>
          </a:p>
        </p:txBody>
      </p:sp>
      <p:sp>
        <p:nvSpPr>
          <p:cNvPr id="160770" name="Footer Placeholder 2"/>
          <p:cNvSpPr>
            <a:spLocks noGrp="1"/>
          </p:cNvSpPr>
          <p:nvPr>
            <p:ph type="ftr" sz="quarter" idx="11"/>
          </p:nvPr>
        </p:nvSpPr>
        <p:spPr>
          <a:xfrm>
            <a:off x="6989763" y="3736975"/>
            <a:ext cx="3200400" cy="36512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rPr>
              <a:t>Data Mining: Concepts and Techniques</a:t>
            </a:r>
            <a:endParaRPr lang="en-US" sz="1200" dirty="0">
              <a:solidFill>
                <a:schemeClr val="tx2"/>
              </a:solidFill>
            </a:endParaRPr>
          </a:p>
        </p:txBody>
      </p:sp>
      <p:sp>
        <p:nvSpPr>
          <p:cNvPr id="160771" name="Slide Number Placeholder 3"/>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ea typeface="SimSun" panose="02010600030101010101" pitchFamily="2" charset="-122"/>
              </a:rPr>
            </a:fld>
            <a:endParaRPr lang="en-US" altLang="zh-CN" sz="1400" b="1" dirty="0">
              <a:solidFill>
                <a:srgbClr val="FFFFFF"/>
              </a:solidFill>
              <a:ea typeface="SimSun" panose="02010600030101010101" pitchFamily="2" charset="-122"/>
            </a:endParaRPr>
          </a:p>
        </p:txBody>
      </p:sp>
      <p:sp>
        <p:nvSpPr>
          <p:cNvPr id="160772" name="Text Box 2"/>
          <p:cNvSpPr txBox="1"/>
          <p:nvPr/>
        </p:nvSpPr>
        <p:spPr>
          <a:xfrm rot="-5400000">
            <a:off x="17463" y="366713"/>
            <a:ext cx="1058862" cy="641350"/>
          </a:xfrm>
          <a:prstGeom prst="rect">
            <a:avLst/>
          </a:prstGeom>
          <a:noFill/>
          <a:ln w="9525">
            <a:noFill/>
          </a:ln>
        </p:spPr>
        <p:txBody>
          <a:bodyPr anchor="t" anchorCtr="0">
            <a:spAutoFit/>
          </a:bodyPr>
          <a:p>
            <a:pPr eaLnBrk="0" hangingPunct="0">
              <a:spcBef>
                <a:spcPct val="50000"/>
              </a:spcBef>
            </a:pPr>
            <a:r>
              <a:rPr lang="en-US" sz="1800" dirty="0">
                <a:latin typeface="Times New Roman" panose="02020603050405020304" pitchFamily="18" charset="0"/>
              </a:rPr>
              <a:t>Salary (10,000)</a:t>
            </a:r>
            <a:endParaRPr lang="en-US" dirty="0">
              <a:latin typeface="Times New Roman" panose="02020603050405020304" pitchFamily="18" charset="0"/>
            </a:endParaRPr>
          </a:p>
        </p:txBody>
      </p:sp>
      <p:sp>
        <p:nvSpPr>
          <p:cNvPr id="160773" name="Rectangle 3" descr="25%"/>
          <p:cNvSpPr/>
          <p:nvPr/>
        </p:nvSpPr>
        <p:spPr>
          <a:xfrm>
            <a:off x="2133600" y="1066800"/>
            <a:ext cx="914400" cy="1204913"/>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774" name="Rectangle 4" descr="25%"/>
          <p:cNvSpPr/>
          <p:nvPr/>
        </p:nvSpPr>
        <p:spPr>
          <a:xfrm>
            <a:off x="1524000" y="762000"/>
            <a:ext cx="1219200" cy="1219200"/>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775" name="Rectangle 5"/>
          <p:cNvSpPr/>
          <p:nvPr/>
        </p:nvSpPr>
        <p:spPr>
          <a:xfrm>
            <a:off x="1219200" y="381000"/>
            <a:ext cx="2438400" cy="2514600"/>
          </a:xfrm>
          <a:prstGeom prst="rect">
            <a:avLst/>
          </a:prstGeom>
          <a:no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776" name="Line 6"/>
          <p:cNvSpPr/>
          <p:nvPr/>
        </p:nvSpPr>
        <p:spPr>
          <a:xfrm>
            <a:off x="2438400" y="381000"/>
            <a:ext cx="0" cy="2514600"/>
          </a:xfrm>
          <a:prstGeom prst="line">
            <a:avLst/>
          </a:prstGeom>
          <a:ln w="9525" cap="flat" cmpd="sng">
            <a:solidFill>
              <a:schemeClr val="tx1"/>
            </a:solidFill>
            <a:prstDash val="solid"/>
            <a:round/>
            <a:headEnd type="none" w="med" len="med"/>
            <a:tailEnd type="none" w="med" len="med"/>
          </a:ln>
        </p:spPr>
      </p:sp>
      <p:sp>
        <p:nvSpPr>
          <p:cNvPr id="160777" name="Line 7"/>
          <p:cNvSpPr/>
          <p:nvPr/>
        </p:nvSpPr>
        <p:spPr>
          <a:xfrm>
            <a:off x="3048000" y="381000"/>
            <a:ext cx="0" cy="2514600"/>
          </a:xfrm>
          <a:prstGeom prst="line">
            <a:avLst/>
          </a:prstGeom>
          <a:ln w="9525" cap="flat" cmpd="sng">
            <a:solidFill>
              <a:schemeClr val="tx1"/>
            </a:solidFill>
            <a:prstDash val="solid"/>
            <a:round/>
            <a:headEnd type="none" w="med" len="med"/>
            <a:tailEnd type="none" w="med" len="med"/>
          </a:ln>
        </p:spPr>
      </p:sp>
      <p:sp>
        <p:nvSpPr>
          <p:cNvPr id="160778" name="Line 8"/>
          <p:cNvSpPr/>
          <p:nvPr/>
        </p:nvSpPr>
        <p:spPr>
          <a:xfrm>
            <a:off x="1828800" y="381000"/>
            <a:ext cx="0" cy="2514600"/>
          </a:xfrm>
          <a:prstGeom prst="line">
            <a:avLst/>
          </a:prstGeom>
          <a:ln w="9525" cap="flat" cmpd="sng">
            <a:solidFill>
              <a:schemeClr val="tx1"/>
            </a:solidFill>
            <a:prstDash val="solid"/>
            <a:round/>
            <a:headEnd type="none" w="med" len="med"/>
            <a:tailEnd type="none" w="med" len="med"/>
          </a:ln>
        </p:spPr>
      </p:sp>
      <p:sp>
        <p:nvSpPr>
          <p:cNvPr id="160779" name="Line 9"/>
          <p:cNvSpPr/>
          <p:nvPr/>
        </p:nvSpPr>
        <p:spPr>
          <a:xfrm>
            <a:off x="3352800" y="381000"/>
            <a:ext cx="0" cy="2514600"/>
          </a:xfrm>
          <a:prstGeom prst="line">
            <a:avLst/>
          </a:prstGeom>
          <a:ln w="9525" cap="flat" cmpd="sng">
            <a:solidFill>
              <a:schemeClr val="tx1"/>
            </a:solidFill>
            <a:prstDash val="solid"/>
            <a:round/>
            <a:headEnd type="none" w="med" len="med"/>
            <a:tailEnd type="none" w="med" len="med"/>
          </a:ln>
        </p:spPr>
      </p:sp>
      <p:sp>
        <p:nvSpPr>
          <p:cNvPr id="160780" name="Line 10"/>
          <p:cNvSpPr/>
          <p:nvPr/>
        </p:nvSpPr>
        <p:spPr>
          <a:xfrm>
            <a:off x="2743200" y="381000"/>
            <a:ext cx="0" cy="2514600"/>
          </a:xfrm>
          <a:prstGeom prst="line">
            <a:avLst/>
          </a:prstGeom>
          <a:ln w="9525" cap="flat" cmpd="sng">
            <a:solidFill>
              <a:schemeClr val="tx1"/>
            </a:solidFill>
            <a:prstDash val="solid"/>
            <a:round/>
            <a:headEnd type="none" w="med" len="med"/>
            <a:tailEnd type="none" w="med" len="med"/>
          </a:ln>
        </p:spPr>
      </p:sp>
      <p:sp>
        <p:nvSpPr>
          <p:cNvPr id="160781" name="Line 11"/>
          <p:cNvSpPr/>
          <p:nvPr/>
        </p:nvSpPr>
        <p:spPr>
          <a:xfrm>
            <a:off x="2133600" y="381000"/>
            <a:ext cx="0" cy="2514600"/>
          </a:xfrm>
          <a:prstGeom prst="line">
            <a:avLst/>
          </a:prstGeom>
          <a:ln w="9525" cap="flat" cmpd="sng">
            <a:solidFill>
              <a:schemeClr val="tx1"/>
            </a:solidFill>
            <a:prstDash val="solid"/>
            <a:round/>
            <a:headEnd type="none" w="med" len="med"/>
            <a:tailEnd type="none" w="med" len="med"/>
          </a:ln>
        </p:spPr>
      </p:sp>
      <p:sp>
        <p:nvSpPr>
          <p:cNvPr id="160782" name="Line 12"/>
          <p:cNvSpPr/>
          <p:nvPr/>
        </p:nvSpPr>
        <p:spPr>
          <a:xfrm>
            <a:off x="1524000" y="381000"/>
            <a:ext cx="0" cy="2514600"/>
          </a:xfrm>
          <a:prstGeom prst="line">
            <a:avLst/>
          </a:prstGeom>
          <a:ln w="9525" cap="flat" cmpd="sng">
            <a:solidFill>
              <a:schemeClr val="tx1"/>
            </a:solidFill>
            <a:prstDash val="solid"/>
            <a:round/>
            <a:headEnd type="none" w="med" len="med"/>
            <a:tailEnd type="none" w="med" len="med"/>
          </a:ln>
        </p:spPr>
      </p:sp>
      <p:sp>
        <p:nvSpPr>
          <p:cNvPr id="160783" name="Line 13"/>
          <p:cNvSpPr/>
          <p:nvPr/>
        </p:nvSpPr>
        <p:spPr>
          <a:xfrm rot="-5400000" flipH="1">
            <a:off x="2439988" y="458788"/>
            <a:ext cx="0" cy="2435225"/>
          </a:xfrm>
          <a:prstGeom prst="line">
            <a:avLst/>
          </a:prstGeom>
          <a:ln w="9525" cap="flat" cmpd="sng">
            <a:solidFill>
              <a:schemeClr val="tx1"/>
            </a:solidFill>
            <a:prstDash val="solid"/>
            <a:round/>
            <a:headEnd type="none" w="med" len="med"/>
            <a:tailEnd type="none" w="med" len="med"/>
          </a:ln>
        </p:spPr>
      </p:sp>
      <p:sp>
        <p:nvSpPr>
          <p:cNvPr id="160784" name="Line 14"/>
          <p:cNvSpPr/>
          <p:nvPr/>
        </p:nvSpPr>
        <p:spPr>
          <a:xfrm rot="-5400000" flipH="1">
            <a:off x="2436813" y="1068388"/>
            <a:ext cx="0" cy="2435225"/>
          </a:xfrm>
          <a:prstGeom prst="line">
            <a:avLst/>
          </a:prstGeom>
          <a:ln w="9525" cap="flat" cmpd="sng">
            <a:solidFill>
              <a:schemeClr val="tx1"/>
            </a:solidFill>
            <a:prstDash val="solid"/>
            <a:round/>
            <a:headEnd type="none" w="med" len="med"/>
            <a:tailEnd type="none" w="med" len="med"/>
          </a:ln>
        </p:spPr>
      </p:sp>
      <p:sp>
        <p:nvSpPr>
          <p:cNvPr id="160785" name="Line 15"/>
          <p:cNvSpPr/>
          <p:nvPr/>
        </p:nvSpPr>
        <p:spPr>
          <a:xfrm rot="-5400000" flipH="1">
            <a:off x="2436813" y="153988"/>
            <a:ext cx="0" cy="2435225"/>
          </a:xfrm>
          <a:prstGeom prst="line">
            <a:avLst/>
          </a:prstGeom>
          <a:ln w="9525" cap="flat" cmpd="sng">
            <a:solidFill>
              <a:schemeClr val="tx1"/>
            </a:solidFill>
            <a:prstDash val="solid"/>
            <a:round/>
            <a:headEnd type="none" w="med" len="med"/>
            <a:tailEnd type="none" w="med" len="med"/>
          </a:ln>
        </p:spPr>
      </p:sp>
      <p:sp>
        <p:nvSpPr>
          <p:cNvPr id="160786" name="Line 16"/>
          <p:cNvSpPr/>
          <p:nvPr/>
        </p:nvSpPr>
        <p:spPr>
          <a:xfrm rot="-5400000" flipH="1">
            <a:off x="2436813" y="-455612"/>
            <a:ext cx="0" cy="2435225"/>
          </a:xfrm>
          <a:prstGeom prst="line">
            <a:avLst/>
          </a:prstGeom>
          <a:ln w="9525" cap="flat" cmpd="sng">
            <a:solidFill>
              <a:schemeClr val="tx1"/>
            </a:solidFill>
            <a:prstDash val="solid"/>
            <a:round/>
            <a:headEnd type="none" w="med" len="med"/>
            <a:tailEnd type="none" w="med" len="med"/>
          </a:ln>
        </p:spPr>
      </p:sp>
      <p:sp>
        <p:nvSpPr>
          <p:cNvPr id="160787" name="Line 17"/>
          <p:cNvSpPr/>
          <p:nvPr/>
        </p:nvSpPr>
        <p:spPr>
          <a:xfrm rot="-5400000" flipH="1">
            <a:off x="2436813" y="-150812"/>
            <a:ext cx="0" cy="2435225"/>
          </a:xfrm>
          <a:prstGeom prst="line">
            <a:avLst/>
          </a:prstGeom>
          <a:ln w="9525" cap="flat" cmpd="sng">
            <a:solidFill>
              <a:schemeClr val="tx1"/>
            </a:solidFill>
            <a:prstDash val="solid"/>
            <a:round/>
            <a:headEnd type="none" w="med" len="med"/>
            <a:tailEnd type="none" w="med" len="med"/>
          </a:ln>
        </p:spPr>
      </p:sp>
      <p:sp>
        <p:nvSpPr>
          <p:cNvPr id="160788" name="Line 18"/>
          <p:cNvSpPr/>
          <p:nvPr/>
        </p:nvSpPr>
        <p:spPr>
          <a:xfrm rot="-5400000" flipH="1">
            <a:off x="2436813" y="763588"/>
            <a:ext cx="0" cy="2435225"/>
          </a:xfrm>
          <a:prstGeom prst="line">
            <a:avLst/>
          </a:prstGeom>
          <a:ln w="9525" cap="flat" cmpd="sng">
            <a:solidFill>
              <a:schemeClr val="tx1"/>
            </a:solidFill>
            <a:prstDash val="solid"/>
            <a:round/>
            <a:headEnd type="none" w="med" len="med"/>
            <a:tailEnd type="none" w="med" len="med"/>
          </a:ln>
        </p:spPr>
      </p:sp>
      <p:sp>
        <p:nvSpPr>
          <p:cNvPr id="160789" name="Line 19"/>
          <p:cNvSpPr/>
          <p:nvPr/>
        </p:nvSpPr>
        <p:spPr>
          <a:xfrm rot="-5400000" flipH="1">
            <a:off x="2436813" y="1373188"/>
            <a:ext cx="0" cy="2435225"/>
          </a:xfrm>
          <a:prstGeom prst="line">
            <a:avLst/>
          </a:prstGeom>
          <a:ln w="9525" cap="flat" cmpd="sng">
            <a:solidFill>
              <a:schemeClr val="tx1"/>
            </a:solidFill>
            <a:prstDash val="solid"/>
            <a:round/>
            <a:headEnd type="none" w="med" len="med"/>
            <a:tailEnd type="none" w="med" len="med"/>
          </a:ln>
        </p:spPr>
      </p:sp>
      <p:sp>
        <p:nvSpPr>
          <p:cNvPr id="160790" name="Text Box 20"/>
          <p:cNvSpPr txBox="1"/>
          <p:nvPr/>
        </p:nvSpPr>
        <p:spPr>
          <a:xfrm>
            <a:off x="990600" y="2895600"/>
            <a:ext cx="412750" cy="366713"/>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20</a:t>
            </a:r>
            <a:endParaRPr lang="en-US" dirty="0">
              <a:latin typeface="Times New Roman" panose="02020603050405020304" pitchFamily="18" charset="0"/>
            </a:endParaRPr>
          </a:p>
        </p:txBody>
      </p:sp>
      <p:sp>
        <p:nvSpPr>
          <p:cNvPr id="160791" name="Text Box 21"/>
          <p:cNvSpPr txBox="1"/>
          <p:nvPr/>
        </p:nvSpPr>
        <p:spPr>
          <a:xfrm>
            <a:off x="1644650" y="2895600"/>
            <a:ext cx="412750" cy="366713"/>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30</a:t>
            </a:r>
            <a:endParaRPr lang="en-US" dirty="0">
              <a:latin typeface="Times New Roman" panose="02020603050405020304" pitchFamily="18" charset="0"/>
            </a:endParaRPr>
          </a:p>
        </p:txBody>
      </p:sp>
      <p:sp>
        <p:nvSpPr>
          <p:cNvPr id="160792" name="Text Box 22"/>
          <p:cNvSpPr txBox="1"/>
          <p:nvPr/>
        </p:nvSpPr>
        <p:spPr>
          <a:xfrm>
            <a:off x="2254250" y="2895600"/>
            <a:ext cx="412750" cy="366713"/>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40</a:t>
            </a:r>
            <a:endParaRPr lang="en-US" dirty="0">
              <a:latin typeface="Times New Roman" panose="02020603050405020304" pitchFamily="18" charset="0"/>
            </a:endParaRPr>
          </a:p>
        </p:txBody>
      </p:sp>
      <p:sp>
        <p:nvSpPr>
          <p:cNvPr id="160793" name="Text Box 23"/>
          <p:cNvSpPr txBox="1"/>
          <p:nvPr/>
        </p:nvSpPr>
        <p:spPr>
          <a:xfrm>
            <a:off x="2863850" y="2895600"/>
            <a:ext cx="412750" cy="366713"/>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50</a:t>
            </a:r>
            <a:endParaRPr lang="en-US" dirty="0">
              <a:latin typeface="Times New Roman" panose="02020603050405020304" pitchFamily="18" charset="0"/>
            </a:endParaRPr>
          </a:p>
        </p:txBody>
      </p:sp>
      <p:sp>
        <p:nvSpPr>
          <p:cNvPr id="160794" name="Text Box 24"/>
          <p:cNvSpPr txBox="1"/>
          <p:nvPr/>
        </p:nvSpPr>
        <p:spPr>
          <a:xfrm>
            <a:off x="3473450" y="2895600"/>
            <a:ext cx="412750" cy="366713"/>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60</a:t>
            </a:r>
            <a:endParaRPr lang="en-US" dirty="0">
              <a:latin typeface="Times New Roman" panose="02020603050405020304" pitchFamily="18" charset="0"/>
            </a:endParaRPr>
          </a:p>
        </p:txBody>
      </p:sp>
      <p:sp>
        <p:nvSpPr>
          <p:cNvPr id="160795" name="Text Box 25"/>
          <p:cNvSpPr txBox="1"/>
          <p:nvPr/>
        </p:nvSpPr>
        <p:spPr>
          <a:xfrm>
            <a:off x="3689350" y="2681288"/>
            <a:ext cx="501650" cy="366712"/>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age</a:t>
            </a:r>
            <a:endParaRPr lang="en-US" dirty="0">
              <a:latin typeface="Times New Roman" panose="02020603050405020304" pitchFamily="18" charset="0"/>
            </a:endParaRPr>
          </a:p>
        </p:txBody>
      </p:sp>
      <p:sp>
        <p:nvSpPr>
          <p:cNvPr id="160796" name="Text Box 26"/>
          <p:cNvSpPr txBox="1"/>
          <p:nvPr/>
        </p:nvSpPr>
        <p:spPr>
          <a:xfrm rot="-5400000">
            <a:off x="871538" y="1182688"/>
            <a:ext cx="298450" cy="368300"/>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5</a:t>
            </a:r>
            <a:endParaRPr lang="en-US" dirty="0">
              <a:latin typeface="Times New Roman" panose="02020603050405020304" pitchFamily="18" charset="0"/>
            </a:endParaRPr>
          </a:p>
        </p:txBody>
      </p:sp>
      <p:sp>
        <p:nvSpPr>
          <p:cNvPr id="160797" name="Text Box 27"/>
          <p:cNvSpPr txBox="1"/>
          <p:nvPr/>
        </p:nvSpPr>
        <p:spPr>
          <a:xfrm rot="-5400000">
            <a:off x="871538" y="1487488"/>
            <a:ext cx="298450" cy="368300"/>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4</a:t>
            </a:r>
            <a:endParaRPr lang="en-US" dirty="0">
              <a:latin typeface="Times New Roman" panose="02020603050405020304" pitchFamily="18" charset="0"/>
            </a:endParaRPr>
          </a:p>
        </p:txBody>
      </p:sp>
      <p:sp>
        <p:nvSpPr>
          <p:cNvPr id="160798" name="Text Box 28"/>
          <p:cNvSpPr txBox="1"/>
          <p:nvPr/>
        </p:nvSpPr>
        <p:spPr>
          <a:xfrm rot="-5400000">
            <a:off x="871538" y="1798638"/>
            <a:ext cx="298450" cy="368300"/>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3</a:t>
            </a:r>
            <a:endParaRPr lang="en-US" dirty="0">
              <a:latin typeface="Times New Roman" panose="02020603050405020304" pitchFamily="18" charset="0"/>
            </a:endParaRPr>
          </a:p>
        </p:txBody>
      </p:sp>
      <p:sp>
        <p:nvSpPr>
          <p:cNvPr id="160799" name="Text Box 29"/>
          <p:cNvSpPr txBox="1"/>
          <p:nvPr/>
        </p:nvSpPr>
        <p:spPr>
          <a:xfrm rot="-5400000">
            <a:off x="871538" y="2401888"/>
            <a:ext cx="298450" cy="368300"/>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1</a:t>
            </a:r>
            <a:endParaRPr lang="en-US" dirty="0">
              <a:latin typeface="Times New Roman" panose="02020603050405020304" pitchFamily="18" charset="0"/>
            </a:endParaRPr>
          </a:p>
        </p:txBody>
      </p:sp>
      <p:sp>
        <p:nvSpPr>
          <p:cNvPr id="160800" name="Text Box 30"/>
          <p:cNvSpPr txBox="1"/>
          <p:nvPr/>
        </p:nvSpPr>
        <p:spPr>
          <a:xfrm rot="-5400000">
            <a:off x="871538" y="2103438"/>
            <a:ext cx="298450" cy="368300"/>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2</a:t>
            </a:r>
            <a:endParaRPr lang="en-US" dirty="0">
              <a:latin typeface="Times New Roman" panose="02020603050405020304" pitchFamily="18" charset="0"/>
            </a:endParaRPr>
          </a:p>
        </p:txBody>
      </p:sp>
      <p:sp>
        <p:nvSpPr>
          <p:cNvPr id="160801" name="Text Box 31"/>
          <p:cNvSpPr txBox="1"/>
          <p:nvPr/>
        </p:nvSpPr>
        <p:spPr>
          <a:xfrm rot="-5400000">
            <a:off x="885825" y="879475"/>
            <a:ext cx="298450" cy="365125"/>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6</a:t>
            </a:r>
            <a:endParaRPr lang="en-US" dirty="0">
              <a:latin typeface="Times New Roman" panose="02020603050405020304" pitchFamily="18" charset="0"/>
            </a:endParaRPr>
          </a:p>
        </p:txBody>
      </p:sp>
      <p:sp>
        <p:nvSpPr>
          <p:cNvPr id="160802" name="Text Box 32"/>
          <p:cNvSpPr txBox="1"/>
          <p:nvPr/>
        </p:nvSpPr>
        <p:spPr>
          <a:xfrm rot="-5400000">
            <a:off x="871538" y="573088"/>
            <a:ext cx="298450" cy="366712"/>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7</a:t>
            </a:r>
            <a:endParaRPr lang="en-US" dirty="0">
              <a:latin typeface="Times New Roman" panose="02020603050405020304" pitchFamily="18" charset="0"/>
            </a:endParaRPr>
          </a:p>
        </p:txBody>
      </p:sp>
      <p:sp>
        <p:nvSpPr>
          <p:cNvPr id="160803" name="Text Box 33"/>
          <p:cNvSpPr txBox="1"/>
          <p:nvPr/>
        </p:nvSpPr>
        <p:spPr>
          <a:xfrm rot="-5400000">
            <a:off x="884238" y="2697163"/>
            <a:ext cx="298450" cy="366712"/>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0</a:t>
            </a:r>
            <a:endParaRPr lang="en-US" dirty="0">
              <a:latin typeface="Times New Roman" panose="02020603050405020304" pitchFamily="18" charset="0"/>
            </a:endParaRPr>
          </a:p>
        </p:txBody>
      </p:sp>
      <p:grpSp>
        <p:nvGrpSpPr>
          <p:cNvPr id="160804" name="Group 34"/>
          <p:cNvGrpSpPr/>
          <p:nvPr/>
        </p:nvGrpSpPr>
        <p:grpSpPr>
          <a:xfrm>
            <a:off x="4648200" y="160338"/>
            <a:ext cx="3921125" cy="3101975"/>
            <a:chOff x="2928" y="101"/>
            <a:chExt cx="2470" cy="1954"/>
          </a:xfrm>
        </p:grpSpPr>
        <p:sp>
          <p:nvSpPr>
            <p:cNvPr id="160805" name="Rectangle 35" descr="25%"/>
            <p:cNvSpPr/>
            <p:nvPr/>
          </p:nvSpPr>
          <p:spPr>
            <a:xfrm>
              <a:off x="3720" y="1248"/>
              <a:ext cx="382" cy="382"/>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806" name="Rectangle 36" descr="25%"/>
            <p:cNvSpPr/>
            <p:nvPr/>
          </p:nvSpPr>
          <p:spPr>
            <a:xfrm>
              <a:off x="3910" y="1056"/>
              <a:ext cx="384" cy="574"/>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807" name="Rectangle 37" descr="25%"/>
            <p:cNvSpPr/>
            <p:nvPr/>
          </p:nvSpPr>
          <p:spPr>
            <a:xfrm>
              <a:off x="4102" y="866"/>
              <a:ext cx="384" cy="574"/>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808" name="Rectangle 38" descr="25%"/>
            <p:cNvSpPr/>
            <p:nvPr/>
          </p:nvSpPr>
          <p:spPr>
            <a:xfrm>
              <a:off x="4294" y="862"/>
              <a:ext cx="384" cy="574"/>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809" name="Rectangle 39"/>
            <p:cNvSpPr/>
            <p:nvPr/>
          </p:nvSpPr>
          <p:spPr>
            <a:xfrm>
              <a:off x="3526" y="240"/>
              <a:ext cx="1536" cy="1584"/>
            </a:xfrm>
            <a:prstGeom prst="rect">
              <a:avLst/>
            </a:prstGeom>
            <a:noFill/>
            <a:ln w="9525" cap="flat" cmpd="sng">
              <a:solidFill>
                <a:schemeClr val="tx1"/>
              </a:solidFill>
              <a:prstDash val="solid"/>
              <a:miter/>
              <a:headEnd type="none" w="med" len="med"/>
              <a:tailEnd type="none" w="med" len="med"/>
            </a:ln>
          </p:spPr>
          <p:txBody>
            <a:bodyPr anchor="ctr" anchorCtr="0">
              <a:spAutoFit/>
            </a:bodyPr>
            <a:p>
              <a:endParaRPr lang="en-US" dirty="0">
                <a:latin typeface="Tahoma" panose="020B0604030504040204" pitchFamily="34" charset="0"/>
              </a:endParaRPr>
            </a:p>
          </p:txBody>
        </p:sp>
        <p:sp>
          <p:nvSpPr>
            <p:cNvPr id="160810" name="Line 40"/>
            <p:cNvSpPr/>
            <p:nvPr/>
          </p:nvSpPr>
          <p:spPr>
            <a:xfrm>
              <a:off x="4294" y="240"/>
              <a:ext cx="0" cy="1584"/>
            </a:xfrm>
            <a:prstGeom prst="line">
              <a:avLst/>
            </a:prstGeom>
            <a:ln w="9525" cap="flat" cmpd="sng">
              <a:solidFill>
                <a:schemeClr val="tx1"/>
              </a:solidFill>
              <a:prstDash val="solid"/>
              <a:round/>
              <a:headEnd type="none" w="med" len="med"/>
              <a:tailEnd type="none" w="med" len="med"/>
            </a:ln>
          </p:spPr>
        </p:sp>
        <p:sp>
          <p:nvSpPr>
            <p:cNvPr id="160811" name="Line 41"/>
            <p:cNvSpPr/>
            <p:nvPr/>
          </p:nvSpPr>
          <p:spPr>
            <a:xfrm>
              <a:off x="4678" y="240"/>
              <a:ext cx="0" cy="1584"/>
            </a:xfrm>
            <a:prstGeom prst="line">
              <a:avLst/>
            </a:prstGeom>
            <a:ln w="9525" cap="flat" cmpd="sng">
              <a:solidFill>
                <a:schemeClr val="tx1"/>
              </a:solidFill>
              <a:prstDash val="solid"/>
              <a:round/>
              <a:headEnd type="none" w="med" len="med"/>
              <a:tailEnd type="none" w="med" len="med"/>
            </a:ln>
          </p:spPr>
        </p:sp>
        <p:sp>
          <p:nvSpPr>
            <p:cNvPr id="160812" name="Line 42"/>
            <p:cNvSpPr/>
            <p:nvPr/>
          </p:nvSpPr>
          <p:spPr>
            <a:xfrm>
              <a:off x="3910" y="240"/>
              <a:ext cx="0" cy="1584"/>
            </a:xfrm>
            <a:prstGeom prst="line">
              <a:avLst/>
            </a:prstGeom>
            <a:ln w="9525" cap="flat" cmpd="sng">
              <a:solidFill>
                <a:schemeClr val="tx1"/>
              </a:solidFill>
              <a:prstDash val="solid"/>
              <a:round/>
              <a:headEnd type="none" w="med" len="med"/>
              <a:tailEnd type="none" w="med" len="med"/>
            </a:ln>
          </p:spPr>
        </p:sp>
        <p:sp>
          <p:nvSpPr>
            <p:cNvPr id="160813" name="Line 43"/>
            <p:cNvSpPr/>
            <p:nvPr/>
          </p:nvSpPr>
          <p:spPr>
            <a:xfrm>
              <a:off x="4870" y="240"/>
              <a:ext cx="0" cy="1584"/>
            </a:xfrm>
            <a:prstGeom prst="line">
              <a:avLst/>
            </a:prstGeom>
            <a:ln w="9525" cap="flat" cmpd="sng">
              <a:solidFill>
                <a:schemeClr val="tx1"/>
              </a:solidFill>
              <a:prstDash val="solid"/>
              <a:round/>
              <a:headEnd type="none" w="med" len="med"/>
              <a:tailEnd type="none" w="med" len="med"/>
            </a:ln>
          </p:spPr>
        </p:sp>
        <p:sp>
          <p:nvSpPr>
            <p:cNvPr id="160814" name="Line 44"/>
            <p:cNvSpPr/>
            <p:nvPr/>
          </p:nvSpPr>
          <p:spPr>
            <a:xfrm>
              <a:off x="4486" y="240"/>
              <a:ext cx="0" cy="1584"/>
            </a:xfrm>
            <a:prstGeom prst="line">
              <a:avLst/>
            </a:prstGeom>
            <a:ln w="9525" cap="flat" cmpd="sng">
              <a:solidFill>
                <a:schemeClr val="tx1"/>
              </a:solidFill>
              <a:prstDash val="solid"/>
              <a:round/>
              <a:headEnd type="none" w="med" len="med"/>
              <a:tailEnd type="none" w="med" len="med"/>
            </a:ln>
          </p:spPr>
        </p:sp>
        <p:sp>
          <p:nvSpPr>
            <p:cNvPr id="160815" name="Line 45"/>
            <p:cNvSpPr/>
            <p:nvPr/>
          </p:nvSpPr>
          <p:spPr>
            <a:xfrm>
              <a:off x="4102" y="240"/>
              <a:ext cx="0" cy="1584"/>
            </a:xfrm>
            <a:prstGeom prst="line">
              <a:avLst/>
            </a:prstGeom>
            <a:ln w="9525" cap="flat" cmpd="sng">
              <a:solidFill>
                <a:schemeClr val="tx1"/>
              </a:solidFill>
              <a:prstDash val="solid"/>
              <a:round/>
              <a:headEnd type="none" w="med" len="med"/>
              <a:tailEnd type="none" w="med" len="med"/>
            </a:ln>
          </p:spPr>
        </p:sp>
        <p:sp>
          <p:nvSpPr>
            <p:cNvPr id="160816" name="Line 46"/>
            <p:cNvSpPr/>
            <p:nvPr/>
          </p:nvSpPr>
          <p:spPr>
            <a:xfrm>
              <a:off x="3718" y="240"/>
              <a:ext cx="0" cy="1584"/>
            </a:xfrm>
            <a:prstGeom prst="line">
              <a:avLst/>
            </a:prstGeom>
            <a:ln w="9525" cap="flat" cmpd="sng">
              <a:solidFill>
                <a:schemeClr val="tx1"/>
              </a:solidFill>
              <a:prstDash val="solid"/>
              <a:round/>
              <a:headEnd type="none" w="med" len="med"/>
              <a:tailEnd type="none" w="med" len="med"/>
            </a:ln>
          </p:spPr>
        </p:sp>
        <p:sp>
          <p:nvSpPr>
            <p:cNvPr id="160817" name="Line 47"/>
            <p:cNvSpPr/>
            <p:nvPr/>
          </p:nvSpPr>
          <p:spPr>
            <a:xfrm rot="-5400000" flipH="1">
              <a:off x="4295" y="289"/>
              <a:ext cx="0" cy="1534"/>
            </a:xfrm>
            <a:prstGeom prst="line">
              <a:avLst/>
            </a:prstGeom>
            <a:ln w="9525" cap="flat" cmpd="sng">
              <a:solidFill>
                <a:schemeClr val="tx1"/>
              </a:solidFill>
              <a:prstDash val="solid"/>
              <a:round/>
              <a:headEnd type="none" w="med" len="med"/>
              <a:tailEnd type="none" w="med" len="med"/>
            </a:ln>
          </p:spPr>
        </p:sp>
        <p:sp>
          <p:nvSpPr>
            <p:cNvPr id="160818" name="Line 48"/>
            <p:cNvSpPr/>
            <p:nvPr/>
          </p:nvSpPr>
          <p:spPr>
            <a:xfrm rot="-5400000" flipH="1">
              <a:off x="4293" y="673"/>
              <a:ext cx="0" cy="1534"/>
            </a:xfrm>
            <a:prstGeom prst="line">
              <a:avLst/>
            </a:prstGeom>
            <a:ln w="9525" cap="flat" cmpd="sng">
              <a:solidFill>
                <a:schemeClr val="tx1"/>
              </a:solidFill>
              <a:prstDash val="solid"/>
              <a:round/>
              <a:headEnd type="none" w="med" len="med"/>
              <a:tailEnd type="none" w="med" len="med"/>
            </a:ln>
          </p:spPr>
        </p:sp>
        <p:sp>
          <p:nvSpPr>
            <p:cNvPr id="160819" name="Line 49"/>
            <p:cNvSpPr/>
            <p:nvPr/>
          </p:nvSpPr>
          <p:spPr>
            <a:xfrm rot="-5400000" flipH="1">
              <a:off x="4293" y="97"/>
              <a:ext cx="0" cy="1534"/>
            </a:xfrm>
            <a:prstGeom prst="line">
              <a:avLst/>
            </a:prstGeom>
            <a:ln w="9525" cap="flat" cmpd="sng">
              <a:solidFill>
                <a:schemeClr val="tx1"/>
              </a:solidFill>
              <a:prstDash val="solid"/>
              <a:round/>
              <a:headEnd type="none" w="med" len="med"/>
              <a:tailEnd type="none" w="med" len="med"/>
            </a:ln>
          </p:spPr>
        </p:sp>
        <p:sp>
          <p:nvSpPr>
            <p:cNvPr id="160820" name="Line 50"/>
            <p:cNvSpPr/>
            <p:nvPr/>
          </p:nvSpPr>
          <p:spPr>
            <a:xfrm rot="-5400000" flipH="1">
              <a:off x="4293" y="-287"/>
              <a:ext cx="0" cy="1534"/>
            </a:xfrm>
            <a:prstGeom prst="line">
              <a:avLst/>
            </a:prstGeom>
            <a:ln w="9525" cap="flat" cmpd="sng">
              <a:solidFill>
                <a:schemeClr val="tx1"/>
              </a:solidFill>
              <a:prstDash val="solid"/>
              <a:round/>
              <a:headEnd type="none" w="med" len="med"/>
              <a:tailEnd type="none" w="med" len="med"/>
            </a:ln>
          </p:spPr>
        </p:sp>
        <p:sp>
          <p:nvSpPr>
            <p:cNvPr id="160821" name="Line 51"/>
            <p:cNvSpPr/>
            <p:nvPr/>
          </p:nvSpPr>
          <p:spPr>
            <a:xfrm rot="-5400000" flipH="1">
              <a:off x="4293" y="-95"/>
              <a:ext cx="0" cy="1534"/>
            </a:xfrm>
            <a:prstGeom prst="line">
              <a:avLst/>
            </a:prstGeom>
            <a:ln w="9525" cap="flat" cmpd="sng">
              <a:solidFill>
                <a:schemeClr val="tx1"/>
              </a:solidFill>
              <a:prstDash val="solid"/>
              <a:round/>
              <a:headEnd type="none" w="med" len="med"/>
              <a:tailEnd type="none" w="med" len="med"/>
            </a:ln>
          </p:spPr>
        </p:sp>
        <p:sp>
          <p:nvSpPr>
            <p:cNvPr id="160822" name="Line 52"/>
            <p:cNvSpPr/>
            <p:nvPr/>
          </p:nvSpPr>
          <p:spPr>
            <a:xfrm rot="-5400000" flipH="1">
              <a:off x="4293" y="481"/>
              <a:ext cx="0" cy="1534"/>
            </a:xfrm>
            <a:prstGeom prst="line">
              <a:avLst/>
            </a:prstGeom>
            <a:ln w="9525" cap="flat" cmpd="sng">
              <a:solidFill>
                <a:schemeClr val="tx1"/>
              </a:solidFill>
              <a:prstDash val="solid"/>
              <a:round/>
              <a:headEnd type="none" w="med" len="med"/>
              <a:tailEnd type="none" w="med" len="med"/>
            </a:ln>
          </p:spPr>
        </p:sp>
        <p:sp>
          <p:nvSpPr>
            <p:cNvPr id="160823" name="Line 53"/>
            <p:cNvSpPr/>
            <p:nvPr/>
          </p:nvSpPr>
          <p:spPr>
            <a:xfrm rot="-5400000" flipH="1">
              <a:off x="4293" y="865"/>
              <a:ext cx="0" cy="1534"/>
            </a:xfrm>
            <a:prstGeom prst="line">
              <a:avLst/>
            </a:prstGeom>
            <a:ln w="9525" cap="flat" cmpd="sng">
              <a:solidFill>
                <a:schemeClr val="tx1"/>
              </a:solidFill>
              <a:prstDash val="solid"/>
              <a:round/>
              <a:headEnd type="none" w="med" len="med"/>
              <a:tailEnd type="none" w="med" len="med"/>
            </a:ln>
          </p:spPr>
        </p:sp>
        <p:sp>
          <p:nvSpPr>
            <p:cNvPr id="160824" name="Text Box 54"/>
            <p:cNvSpPr txBox="1"/>
            <p:nvPr/>
          </p:nvSpPr>
          <p:spPr>
            <a:xfrm>
              <a:off x="3382" y="1824"/>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20</a:t>
              </a:r>
              <a:endParaRPr lang="en-US" dirty="0">
                <a:latin typeface="Times New Roman" panose="02020603050405020304" pitchFamily="18" charset="0"/>
              </a:endParaRPr>
            </a:p>
          </p:txBody>
        </p:sp>
        <p:sp>
          <p:nvSpPr>
            <p:cNvPr id="160825" name="Text Box 55"/>
            <p:cNvSpPr txBox="1"/>
            <p:nvPr/>
          </p:nvSpPr>
          <p:spPr>
            <a:xfrm>
              <a:off x="3794" y="1824"/>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30</a:t>
              </a:r>
              <a:endParaRPr lang="en-US" dirty="0">
                <a:latin typeface="Times New Roman" panose="02020603050405020304" pitchFamily="18" charset="0"/>
              </a:endParaRPr>
            </a:p>
          </p:txBody>
        </p:sp>
        <p:sp>
          <p:nvSpPr>
            <p:cNvPr id="160826" name="Text Box 56"/>
            <p:cNvSpPr txBox="1"/>
            <p:nvPr/>
          </p:nvSpPr>
          <p:spPr>
            <a:xfrm>
              <a:off x="4178" y="1824"/>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40</a:t>
              </a:r>
              <a:endParaRPr lang="en-US" dirty="0">
                <a:latin typeface="Times New Roman" panose="02020603050405020304" pitchFamily="18" charset="0"/>
              </a:endParaRPr>
            </a:p>
          </p:txBody>
        </p:sp>
        <p:sp>
          <p:nvSpPr>
            <p:cNvPr id="160827" name="Text Box 57"/>
            <p:cNvSpPr txBox="1"/>
            <p:nvPr/>
          </p:nvSpPr>
          <p:spPr>
            <a:xfrm>
              <a:off x="4562" y="1824"/>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50</a:t>
              </a:r>
              <a:endParaRPr lang="en-US" dirty="0">
                <a:latin typeface="Times New Roman" panose="02020603050405020304" pitchFamily="18" charset="0"/>
              </a:endParaRPr>
            </a:p>
          </p:txBody>
        </p:sp>
        <p:sp>
          <p:nvSpPr>
            <p:cNvPr id="160828" name="Text Box 58"/>
            <p:cNvSpPr txBox="1"/>
            <p:nvPr/>
          </p:nvSpPr>
          <p:spPr>
            <a:xfrm>
              <a:off x="4946" y="1824"/>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60</a:t>
              </a:r>
              <a:endParaRPr lang="en-US" dirty="0">
                <a:latin typeface="Times New Roman" panose="02020603050405020304" pitchFamily="18" charset="0"/>
              </a:endParaRPr>
            </a:p>
          </p:txBody>
        </p:sp>
        <p:sp>
          <p:nvSpPr>
            <p:cNvPr id="160829" name="Text Box 59"/>
            <p:cNvSpPr txBox="1"/>
            <p:nvPr/>
          </p:nvSpPr>
          <p:spPr>
            <a:xfrm>
              <a:off x="5082" y="1689"/>
              <a:ext cx="316"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age</a:t>
              </a:r>
              <a:endParaRPr lang="en-US" dirty="0">
                <a:latin typeface="Times New Roman" panose="02020603050405020304" pitchFamily="18" charset="0"/>
              </a:endParaRPr>
            </a:p>
          </p:txBody>
        </p:sp>
        <p:sp>
          <p:nvSpPr>
            <p:cNvPr id="160830" name="Text Box 60"/>
            <p:cNvSpPr txBox="1"/>
            <p:nvPr/>
          </p:nvSpPr>
          <p:spPr>
            <a:xfrm rot="-5400000">
              <a:off x="3305" y="744"/>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5</a:t>
              </a:r>
              <a:endParaRPr lang="en-US" dirty="0">
                <a:latin typeface="Times New Roman" panose="02020603050405020304" pitchFamily="18" charset="0"/>
              </a:endParaRPr>
            </a:p>
          </p:txBody>
        </p:sp>
        <p:sp>
          <p:nvSpPr>
            <p:cNvPr id="160831" name="Text Box 61"/>
            <p:cNvSpPr txBox="1"/>
            <p:nvPr/>
          </p:nvSpPr>
          <p:spPr>
            <a:xfrm rot="-5400000">
              <a:off x="3305" y="936"/>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4</a:t>
              </a:r>
              <a:endParaRPr lang="en-US" dirty="0">
                <a:latin typeface="Times New Roman" panose="02020603050405020304" pitchFamily="18" charset="0"/>
              </a:endParaRPr>
            </a:p>
          </p:txBody>
        </p:sp>
        <p:sp>
          <p:nvSpPr>
            <p:cNvPr id="160832" name="Text Box 62"/>
            <p:cNvSpPr txBox="1"/>
            <p:nvPr/>
          </p:nvSpPr>
          <p:spPr>
            <a:xfrm rot="-5400000">
              <a:off x="3305" y="1132"/>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3</a:t>
              </a:r>
              <a:endParaRPr lang="en-US" dirty="0">
                <a:latin typeface="Times New Roman" panose="02020603050405020304" pitchFamily="18" charset="0"/>
              </a:endParaRPr>
            </a:p>
          </p:txBody>
        </p:sp>
        <p:sp>
          <p:nvSpPr>
            <p:cNvPr id="160833" name="Text Box 63"/>
            <p:cNvSpPr txBox="1"/>
            <p:nvPr/>
          </p:nvSpPr>
          <p:spPr>
            <a:xfrm rot="-5400000">
              <a:off x="3305" y="1512"/>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1</a:t>
              </a:r>
              <a:endParaRPr lang="en-US" dirty="0">
                <a:latin typeface="Times New Roman" panose="02020603050405020304" pitchFamily="18" charset="0"/>
              </a:endParaRPr>
            </a:p>
          </p:txBody>
        </p:sp>
        <p:sp>
          <p:nvSpPr>
            <p:cNvPr id="160834" name="Text Box 64"/>
            <p:cNvSpPr txBox="1"/>
            <p:nvPr/>
          </p:nvSpPr>
          <p:spPr>
            <a:xfrm rot="-5400000">
              <a:off x="3305" y="1324"/>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2</a:t>
              </a:r>
              <a:endParaRPr lang="en-US" dirty="0">
                <a:latin typeface="Times New Roman" panose="02020603050405020304" pitchFamily="18" charset="0"/>
              </a:endParaRPr>
            </a:p>
          </p:txBody>
        </p:sp>
        <p:sp>
          <p:nvSpPr>
            <p:cNvPr id="160835" name="Text Box 65"/>
            <p:cNvSpPr txBox="1"/>
            <p:nvPr/>
          </p:nvSpPr>
          <p:spPr>
            <a:xfrm rot="-5400000">
              <a:off x="3315" y="550"/>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6</a:t>
              </a:r>
              <a:endParaRPr lang="en-US" dirty="0">
                <a:latin typeface="Times New Roman" panose="02020603050405020304" pitchFamily="18" charset="0"/>
              </a:endParaRPr>
            </a:p>
          </p:txBody>
        </p:sp>
        <p:sp>
          <p:nvSpPr>
            <p:cNvPr id="160836" name="Text Box 66"/>
            <p:cNvSpPr txBox="1"/>
            <p:nvPr/>
          </p:nvSpPr>
          <p:spPr>
            <a:xfrm rot="-5400000">
              <a:off x="3306" y="358"/>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7</a:t>
              </a:r>
              <a:endParaRPr lang="en-US" dirty="0">
                <a:latin typeface="Times New Roman" panose="02020603050405020304" pitchFamily="18" charset="0"/>
              </a:endParaRPr>
            </a:p>
          </p:txBody>
        </p:sp>
        <p:sp>
          <p:nvSpPr>
            <p:cNvPr id="160837" name="Text Box 67"/>
            <p:cNvSpPr txBox="1"/>
            <p:nvPr/>
          </p:nvSpPr>
          <p:spPr>
            <a:xfrm rot="-5400000">
              <a:off x="3314" y="1698"/>
              <a:ext cx="188"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0</a:t>
              </a:r>
              <a:endParaRPr lang="en-US" dirty="0">
                <a:latin typeface="Times New Roman" panose="02020603050405020304" pitchFamily="18" charset="0"/>
              </a:endParaRPr>
            </a:p>
          </p:txBody>
        </p:sp>
        <p:sp>
          <p:nvSpPr>
            <p:cNvPr id="160838" name="Text Box 68"/>
            <p:cNvSpPr txBox="1"/>
            <p:nvPr/>
          </p:nvSpPr>
          <p:spPr>
            <a:xfrm rot="-5400000">
              <a:off x="2794" y="230"/>
              <a:ext cx="667" cy="404"/>
            </a:xfrm>
            <a:prstGeom prst="rect">
              <a:avLst/>
            </a:prstGeom>
            <a:noFill/>
            <a:ln w="9525">
              <a:noFill/>
            </a:ln>
          </p:spPr>
          <p:txBody>
            <a:bodyPr anchor="t" anchorCtr="0">
              <a:spAutoFit/>
            </a:bodyPr>
            <a:p>
              <a:pPr eaLnBrk="0" hangingPunct="0">
                <a:spcBef>
                  <a:spcPct val="50000"/>
                </a:spcBef>
              </a:pPr>
              <a:r>
                <a:rPr lang="en-US" sz="1800" dirty="0">
                  <a:latin typeface="Times New Roman" panose="02020603050405020304" pitchFamily="18" charset="0"/>
                </a:rPr>
                <a:t>Vacation(week)</a:t>
              </a:r>
              <a:endParaRPr lang="en-US" dirty="0">
                <a:latin typeface="Times New Roman" panose="02020603050405020304" pitchFamily="18" charset="0"/>
              </a:endParaRPr>
            </a:p>
          </p:txBody>
        </p:sp>
      </p:grpSp>
      <p:grpSp>
        <p:nvGrpSpPr>
          <p:cNvPr id="160839" name="Group 69"/>
          <p:cNvGrpSpPr/>
          <p:nvPr/>
        </p:nvGrpSpPr>
        <p:grpSpPr>
          <a:xfrm>
            <a:off x="2209800" y="3505200"/>
            <a:ext cx="5149850" cy="3124200"/>
            <a:chOff x="1776" y="2064"/>
            <a:chExt cx="3244" cy="1968"/>
          </a:xfrm>
        </p:grpSpPr>
        <p:grpSp>
          <p:nvGrpSpPr>
            <p:cNvPr id="160840" name="Group 70"/>
            <p:cNvGrpSpPr/>
            <p:nvPr/>
          </p:nvGrpSpPr>
          <p:grpSpPr>
            <a:xfrm>
              <a:off x="2976" y="2256"/>
              <a:ext cx="672" cy="768"/>
              <a:chOff x="2976" y="2256"/>
              <a:chExt cx="958" cy="768"/>
            </a:xfrm>
          </p:grpSpPr>
          <p:sp>
            <p:nvSpPr>
              <p:cNvPr id="160841" name="Rectangle 71" descr="25%"/>
              <p:cNvSpPr/>
              <p:nvPr/>
            </p:nvSpPr>
            <p:spPr>
              <a:xfrm>
                <a:off x="2976" y="2642"/>
                <a:ext cx="382" cy="382"/>
              </a:xfrm>
              <a:prstGeom prst="rect">
                <a:avLst/>
              </a:prstGeom>
              <a:pattFill prst="pct25">
                <a:fgClr>
                  <a:schemeClr val="tx2"/>
                </a:fgClr>
                <a:bgClr>
                  <a:srgbClr val="FFFFFF"/>
                </a:bgClr>
              </a:pattFill>
              <a:ln w="9525">
                <a:noFill/>
              </a:ln>
            </p:spPr>
            <p:txBody>
              <a:bodyPr anchor="ctr" anchorCtr="0">
                <a:spAutoFit/>
              </a:bodyPr>
              <a:p>
                <a:endParaRPr lang="en-US" dirty="0">
                  <a:latin typeface="Tahoma" panose="020B0604030504040204" pitchFamily="34" charset="0"/>
                </a:endParaRPr>
              </a:p>
            </p:txBody>
          </p:sp>
          <p:sp>
            <p:nvSpPr>
              <p:cNvPr id="160842" name="Rectangle 72" descr="25%"/>
              <p:cNvSpPr/>
              <p:nvPr/>
            </p:nvSpPr>
            <p:spPr>
              <a:xfrm>
                <a:off x="3166" y="2450"/>
                <a:ext cx="384" cy="574"/>
              </a:xfrm>
              <a:prstGeom prst="rect">
                <a:avLst/>
              </a:prstGeom>
              <a:pattFill prst="pct25">
                <a:fgClr>
                  <a:schemeClr val="tx2"/>
                </a:fgClr>
                <a:bgClr>
                  <a:srgbClr val="FFFFFF"/>
                </a:bgClr>
              </a:pattFill>
              <a:ln w="9525">
                <a:noFill/>
              </a:ln>
            </p:spPr>
            <p:txBody>
              <a:bodyPr anchor="ctr" anchorCtr="0">
                <a:spAutoFit/>
              </a:bodyPr>
              <a:p>
                <a:endParaRPr lang="en-US" dirty="0">
                  <a:latin typeface="Tahoma" panose="020B0604030504040204" pitchFamily="34" charset="0"/>
                </a:endParaRPr>
              </a:p>
            </p:txBody>
          </p:sp>
          <p:sp>
            <p:nvSpPr>
              <p:cNvPr id="160843" name="Rectangle 73" descr="25%"/>
              <p:cNvSpPr/>
              <p:nvPr/>
            </p:nvSpPr>
            <p:spPr>
              <a:xfrm>
                <a:off x="3358" y="2260"/>
                <a:ext cx="384" cy="574"/>
              </a:xfrm>
              <a:prstGeom prst="rect">
                <a:avLst/>
              </a:prstGeom>
              <a:pattFill prst="pct25">
                <a:fgClr>
                  <a:schemeClr val="tx2"/>
                </a:fgClr>
                <a:bgClr>
                  <a:srgbClr val="FFFFFF"/>
                </a:bgClr>
              </a:pattFill>
              <a:ln w="9525">
                <a:noFill/>
              </a:ln>
            </p:spPr>
            <p:txBody>
              <a:bodyPr anchor="ctr" anchorCtr="0">
                <a:spAutoFit/>
              </a:bodyPr>
              <a:p>
                <a:endParaRPr lang="en-US" dirty="0">
                  <a:latin typeface="Tahoma" panose="020B0604030504040204" pitchFamily="34" charset="0"/>
                </a:endParaRPr>
              </a:p>
            </p:txBody>
          </p:sp>
          <p:sp>
            <p:nvSpPr>
              <p:cNvPr id="160844" name="Rectangle 74" descr="25%"/>
              <p:cNvSpPr/>
              <p:nvPr/>
            </p:nvSpPr>
            <p:spPr>
              <a:xfrm>
                <a:off x="3550" y="2256"/>
                <a:ext cx="384" cy="574"/>
              </a:xfrm>
              <a:prstGeom prst="rect">
                <a:avLst/>
              </a:prstGeom>
              <a:pattFill prst="pct25">
                <a:fgClr>
                  <a:schemeClr val="tx2"/>
                </a:fgClr>
                <a:bgClr>
                  <a:srgbClr val="FFFFFF"/>
                </a:bgClr>
              </a:pattFill>
              <a:ln w="9525">
                <a:noFill/>
              </a:ln>
            </p:spPr>
            <p:txBody>
              <a:bodyPr anchor="ctr" anchorCtr="0">
                <a:spAutoFit/>
              </a:bodyPr>
              <a:p>
                <a:endParaRPr lang="en-US" dirty="0">
                  <a:latin typeface="Tahoma" panose="020B0604030504040204" pitchFamily="34" charset="0"/>
                </a:endParaRPr>
              </a:p>
            </p:txBody>
          </p:sp>
        </p:grpSp>
        <p:sp>
          <p:nvSpPr>
            <p:cNvPr id="160845" name="Rectangle 75"/>
            <p:cNvSpPr/>
            <p:nvPr/>
          </p:nvSpPr>
          <p:spPr>
            <a:xfrm>
              <a:off x="1776" y="2928"/>
              <a:ext cx="2016" cy="1104"/>
            </a:xfrm>
            <a:prstGeom prst="rect">
              <a:avLst/>
            </a:prstGeom>
            <a:solidFill>
              <a:schemeClr val="accent1"/>
            </a:solidFill>
            <a:ln w="9525"/>
            <a:scene3d>
              <a:camera prst="legacyObliqueTopRight">
                <a:rot lat="0" lon="0" rev="0"/>
              </a:camera>
              <a:lightRig rig="legacyNormal3" dir="b"/>
            </a:scene3d>
            <a:sp3d extrusionH="3630600" prstMaterial="legacyWireframe">
              <a:bevelT w="13500" h="13500" prst="angle"/>
              <a:bevelB w="13500" h="13500" prst="angle"/>
              <a:extrusionClr>
                <a:schemeClr val="accent1"/>
              </a:extrusionClr>
            </a:sp3d>
          </p:spPr>
          <p:txBody>
            <a:bodyPr wrap="none" anchor="ctr" anchorCtr="0">
              <a:flatTx/>
            </a:bodyPr>
            <a:p>
              <a:endParaRPr lang="en-US" dirty="0">
                <a:latin typeface="Tahoma" panose="020B0604030504040204" pitchFamily="34" charset="0"/>
              </a:endParaRPr>
            </a:p>
          </p:txBody>
        </p:sp>
        <p:sp>
          <p:nvSpPr>
            <p:cNvPr id="160846" name="Text Box 76"/>
            <p:cNvSpPr txBox="1"/>
            <p:nvPr/>
          </p:nvSpPr>
          <p:spPr>
            <a:xfrm>
              <a:off x="4704" y="3168"/>
              <a:ext cx="316"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age</a:t>
              </a:r>
              <a:endParaRPr lang="en-US" dirty="0">
                <a:latin typeface="Times New Roman" panose="02020603050405020304" pitchFamily="18" charset="0"/>
              </a:endParaRPr>
            </a:p>
          </p:txBody>
        </p:sp>
        <p:sp>
          <p:nvSpPr>
            <p:cNvPr id="160847" name="Text Box 77"/>
            <p:cNvSpPr txBox="1"/>
            <p:nvPr/>
          </p:nvSpPr>
          <p:spPr>
            <a:xfrm rot="-5400000">
              <a:off x="2141" y="2280"/>
              <a:ext cx="667" cy="231"/>
            </a:xfrm>
            <a:prstGeom prst="rect">
              <a:avLst/>
            </a:prstGeom>
            <a:noFill/>
            <a:ln w="9525">
              <a:noFill/>
            </a:ln>
          </p:spPr>
          <p:txBody>
            <a:bodyPr anchor="t" anchorCtr="0">
              <a:spAutoFit/>
            </a:bodyPr>
            <a:p>
              <a:pPr eaLnBrk="0" hangingPunct="0">
                <a:spcBef>
                  <a:spcPct val="50000"/>
                </a:spcBef>
              </a:pPr>
              <a:r>
                <a:rPr lang="en-US" sz="1800" dirty="0">
                  <a:latin typeface="Times New Roman" panose="02020603050405020304" pitchFamily="18" charset="0"/>
                </a:rPr>
                <a:t>Vacation</a:t>
              </a:r>
              <a:endParaRPr lang="en-US" dirty="0">
                <a:latin typeface="Times New Roman" panose="02020603050405020304" pitchFamily="18" charset="0"/>
              </a:endParaRPr>
            </a:p>
          </p:txBody>
        </p:sp>
        <p:sp>
          <p:nvSpPr>
            <p:cNvPr id="160848" name="Text Box 78"/>
            <p:cNvSpPr txBox="1"/>
            <p:nvPr/>
          </p:nvSpPr>
          <p:spPr>
            <a:xfrm rot="-2607393">
              <a:off x="2160" y="3072"/>
              <a:ext cx="528" cy="231"/>
            </a:xfrm>
            <a:prstGeom prst="rect">
              <a:avLst/>
            </a:prstGeom>
            <a:noFill/>
            <a:ln w="9525">
              <a:noFill/>
            </a:ln>
          </p:spPr>
          <p:txBody>
            <a:bodyPr anchor="t" anchorCtr="0">
              <a:spAutoFit/>
            </a:bodyPr>
            <a:p>
              <a:pPr eaLnBrk="0" hangingPunct="0">
                <a:spcBef>
                  <a:spcPct val="50000"/>
                </a:spcBef>
              </a:pPr>
              <a:r>
                <a:rPr lang="en-US" sz="1800" dirty="0">
                  <a:latin typeface="Times New Roman" panose="02020603050405020304" pitchFamily="18" charset="0"/>
                </a:rPr>
                <a:t>Salary</a:t>
              </a:r>
              <a:endParaRPr lang="en-US" dirty="0">
                <a:latin typeface="Times New Roman" panose="02020603050405020304" pitchFamily="18" charset="0"/>
              </a:endParaRPr>
            </a:p>
          </p:txBody>
        </p:sp>
        <p:grpSp>
          <p:nvGrpSpPr>
            <p:cNvPr id="160849" name="Group 79"/>
            <p:cNvGrpSpPr/>
            <p:nvPr/>
          </p:nvGrpSpPr>
          <p:grpSpPr>
            <a:xfrm>
              <a:off x="2736" y="3360"/>
              <a:ext cx="720" cy="624"/>
              <a:chOff x="4512" y="3120"/>
              <a:chExt cx="576" cy="528"/>
            </a:xfrm>
          </p:grpSpPr>
          <p:sp>
            <p:nvSpPr>
              <p:cNvPr id="160850" name="Line 80"/>
              <p:cNvSpPr/>
              <p:nvPr/>
            </p:nvSpPr>
            <p:spPr>
              <a:xfrm flipH="1">
                <a:off x="4512" y="3120"/>
                <a:ext cx="144" cy="192"/>
              </a:xfrm>
              <a:prstGeom prst="line">
                <a:avLst/>
              </a:prstGeom>
              <a:ln w="9525" cap="flat" cmpd="sng">
                <a:solidFill>
                  <a:schemeClr val="tx1"/>
                </a:solidFill>
                <a:prstDash val="solid"/>
                <a:round/>
                <a:headEnd type="none" w="med" len="med"/>
                <a:tailEnd type="none" w="med" len="med"/>
              </a:ln>
            </p:spPr>
          </p:sp>
          <p:sp>
            <p:nvSpPr>
              <p:cNvPr id="160851" name="Line 81"/>
              <p:cNvSpPr/>
              <p:nvPr/>
            </p:nvSpPr>
            <p:spPr>
              <a:xfrm>
                <a:off x="4512" y="3312"/>
                <a:ext cx="144" cy="0"/>
              </a:xfrm>
              <a:prstGeom prst="line">
                <a:avLst/>
              </a:prstGeom>
              <a:ln w="9525" cap="flat" cmpd="sng">
                <a:solidFill>
                  <a:schemeClr val="tx1"/>
                </a:solidFill>
                <a:prstDash val="solid"/>
                <a:round/>
                <a:headEnd type="none" w="med" len="med"/>
                <a:tailEnd type="none" w="med" len="med"/>
              </a:ln>
            </p:spPr>
          </p:sp>
          <p:sp>
            <p:nvSpPr>
              <p:cNvPr id="160852" name="Line 82"/>
              <p:cNvSpPr/>
              <p:nvPr/>
            </p:nvSpPr>
            <p:spPr>
              <a:xfrm flipH="1">
                <a:off x="4512" y="3312"/>
                <a:ext cx="144" cy="192"/>
              </a:xfrm>
              <a:prstGeom prst="line">
                <a:avLst/>
              </a:prstGeom>
              <a:ln w="9525" cap="flat" cmpd="sng">
                <a:solidFill>
                  <a:schemeClr val="tx1"/>
                </a:solidFill>
                <a:prstDash val="solid"/>
                <a:round/>
                <a:headEnd type="none" w="med" len="med"/>
                <a:tailEnd type="none" w="med" len="med"/>
              </a:ln>
            </p:spPr>
          </p:sp>
          <p:sp>
            <p:nvSpPr>
              <p:cNvPr id="160853" name="Line 83"/>
              <p:cNvSpPr/>
              <p:nvPr/>
            </p:nvSpPr>
            <p:spPr>
              <a:xfrm>
                <a:off x="4512" y="3504"/>
                <a:ext cx="192" cy="0"/>
              </a:xfrm>
              <a:prstGeom prst="line">
                <a:avLst/>
              </a:prstGeom>
              <a:ln w="9525" cap="flat" cmpd="sng">
                <a:solidFill>
                  <a:schemeClr val="tx1"/>
                </a:solidFill>
                <a:prstDash val="solid"/>
                <a:round/>
                <a:headEnd type="none" w="med" len="med"/>
                <a:tailEnd type="none" w="med" len="med"/>
              </a:ln>
            </p:spPr>
          </p:sp>
          <p:sp>
            <p:nvSpPr>
              <p:cNvPr id="160854" name="Line 84"/>
              <p:cNvSpPr/>
              <p:nvPr/>
            </p:nvSpPr>
            <p:spPr>
              <a:xfrm flipH="1">
                <a:off x="4608" y="3504"/>
                <a:ext cx="96" cy="144"/>
              </a:xfrm>
              <a:prstGeom prst="line">
                <a:avLst/>
              </a:prstGeom>
              <a:ln w="9525" cap="flat" cmpd="sng">
                <a:solidFill>
                  <a:schemeClr val="tx1"/>
                </a:solidFill>
                <a:prstDash val="solid"/>
                <a:round/>
                <a:headEnd type="none" w="med" len="med"/>
                <a:tailEnd type="none" w="med" len="med"/>
              </a:ln>
            </p:spPr>
          </p:sp>
          <p:sp>
            <p:nvSpPr>
              <p:cNvPr id="160855" name="Line 85"/>
              <p:cNvSpPr/>
              <p:nvPr/>
            </p:nvSpPr>
            <p:spPr>
              <a:xfrm>
                <a:off x="4608" y="3648"/>
                <a:ext cx="240" cy="0"/>
              </a:xfrm>
              <a:prstGeom prst="line">
                <a:avLst/>
              </a:prstGeom>
              <a:ln w="9525" cap="flat" cmpd="sng">
                <a:solidFill>
                  <a:schemeClr val="tx1"/>
                </a:solidFill>
                <a:prstDash val="solid"/>
                <a:round/>
                <a:headEnd type="none" w="med" len="med"/>
                <a:tailEnd type="none" w="med" len="med"/>
              </a:ln>
            </p:spPr>
          </p:sp>
          <p:sp>
            <p:nvSpPr>
              <p:cNvPr id="160856" name="Line 86"/>
              <p:cNvSpPr/>
              <p:nvPr/>
            </p:nvSpPr>
            <p:spPr>
              <a:xfrm>
                <a:off x="4656" y="3120"/>
                <a:ext cx="432" cy="0"/>
              </a:xfrm>
              <a:prstGeom prst="line">
                <a:avLst/>
              </a:prstGeom>
              <a:ln w="9525" cap="flat" cmpd="sng">
                <a:solidFill>
                  <a:schemeClr val="tx1"/>
                </a:solidFill>
                <a:prstDash val="solid"/>
                <a:round/>
                <a:headEnd type="none" w="med" len="med"/>
                <a:tailEnd type="none" w="med" len="med"/>
              </a:ln>
            </p:spPr>
          </p:sp>
          <p:sp>
            <p:nvSpPr>
              <p:cNvPr id="160857" name="Line 87"/>
              <p:cNvSpPr/>
              <p:nvPr/>
            </p:nvSpPr>
            <p:spPr>
              <a:xfrm flipH="1">
                <a:off x="4944" y="3120"/>
                <a:ext cx="144" cy="192"/>
              </a:xfrm>
              <a:prstGeom prst="line">
                <a:avLst/>
              </a:prstGeom>
              <a:ln w="9525" cap="flat" cmpd="sng">
                <a:solidFill>
                  <a:schemeClr val="tx1"/>
                </a:solidFill>
                <a:prstDash val="solid"/>
                <a:round/>
                <a:headEnd type="none" w="med" len="med"/>
                <a:tailEnd type="none" w="med" len="med"/>
              </a:ln>
            </p:spPr>
          </p:sp>
          <p:sp>
            <p:nvSpPr>
              <p:cNvPr id="160858" name="Line 88"/>
              <p:cNvSpPr/>
              <p:nvPr/>
            </p:nvSpPr>
            <p:spPr>
              <a:xfrm>
                <a:off x="4944" y="3312"/>
                <a:ext cx="144" cy="0"/>
              </a:xfrm>
              <a:prstGeom prst="line">
                <a:avLst/>
              </a:prstGeom>
              <a:ln w="9525" cap="flat" cmpd="sng">
                <a:solidFill>
                  <a:schemeClr val="tx1"/>
                </a:solidFill>
                <a:prstDash val="solid"/>
                <a:round/>
                <a:headEnd type="none" w="med" len="med"/>
                <a:tailEnd type="none" w="med" len="med"/>
              </a:ln>
            </p:spPr>
          </p:sp>
          <p:sp>
            <p:nvSpPr>
              <p:cNvPr id="160859" name="Line 89"/>
              <p:cNvSpPr/>
              <p:nvPr/>
            </p:nvSpPr>
            <p:spPr>
              <a:xfrm flipH="1">
                <a:off x="4848" y="3312"/>
                <a:ext cx="240" cy="336"/>
              </a:xfrm>
              <a:prstGeom prst="line">
                <a:avLst/>
              </a:prstGeom>
              <a:ln w="9525" cap="flat" cmpd="sng">
                <a:solidFill>
                  <a:schemeClr val="tx1"/>
                </a:solidFill>
                <a:prstDash val="solid"/>
                <a:round/>
                <a:headEnd type="none" w="med" len="med"/>
                <a:tailEnd type="none" w="med" len="med"/>
              </a:ln>
            </p:spPr>
          </p:sp>
        </p:grpSp>
        <p:sp>
          <p:nvSpPr>
            <p:cNvPr id="160860" name="Text Box 90"/>
            <p:cNvSpPr txBox="1"/>
            <p:nvPr/>
          </p:nvSpPr>
          <p:spPr>
            <a:xfrm>
              <a:off x="2880" y="3033"/>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30</a:t>
              </a:r>
              <a:endParaRPr lang="en-US" dirty="0">
                <a:latin typeface="Times New Roman" panose="02020603050405020304" pitchFamily="18" charset="0"/>
              </a:endParaRPr>
            </a:p>
          </p:txBody>
        </p:sp>
        <p:sp>
          <p:nvSpPr>
            <p:cNvPr id="160861" name="Text Box 91"/>
            <p:cNvSpPr txBox="1"/>
            <p:nvPr/>
          </p:nvSpPr>
          <p:spPr>
            <a:xfrm>
              <a:off x="3504" y="3033"/>
              <a:ext cx="260" cy="231"/>
            </a:xfrm>
            <a:prstGeom prst="rect">
              <a:avLst/>
            </a:prstGeom>
            <a:noFill/>
            <a:ln w="9525">
              <a:noFill/>
            </a:ln>
          </p:spPr>
          <p:txBody>
            <a:bodyPr wrap="none" anchor="t" anchorCtr="0">
              <a:spAutoFit/>
            </a:bodyPr>
            <a:p>
              <a:pPr eaLnBrk="0" hangingPunct="0">
                <a:spcBef>
                  <a:spcPct val="50000"/>
                </a:spcBef>
              </a:pPr>
              <a:r>
                <a:rPr lang="en-US" sz="1800" dirty="0">
                  <a:latin typeface="Times New Roman" panose="02020603050405020304" pitchFamily="18" charset="0"/>
                </a:rPr>
                <a:t>50</a:t>
              </a:r>
              <a:endParaRPr lang="en-US" dirty="0">
                <a:latin typeface="Times New Roman" panose="02020603050405020304" pitchFamily="18" charset="0"/>
              </a:endParaRPr>
            </a:p>
          </p:txBody>
        </p:sp>
      </p:grpSp>
      <p:sp>
        <p:nvSpPr>
          <p:cNvPr id="160862" name="Oval 92"/>
          <p:cNvSpPr/>
          <p:nvPr/>
        </p:nvSpPr>
        <p:spPr>
          <a:xfrm>
            <a:off x="6096000" y="2438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3" name="Oval 93"/>
          <p:cNvSpPr/>
          <p:nvPr/>
        </p:nvSpPr>
        <p:spPr>
          <a:xfrm>
            <a:off x="1600200" y="1752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4" name="Oval 94"/>
          <p:cNvSpPr/>
          <p:nvPr/>
        </p:nvSpPr>
        <p:spPr>
          <a:xfrm>
            <a:off x="1752600" y="1905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5" name="Oval 95"/>
          <p:cNvSpPr/>
          <p:nvPr/>
        </p:nvSpPr>
        <p:spPr>
          <a:xfrm>
            <a:off x="1752600" y="1524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6" name="Oval 96"/>
          <p:cNvSpPr/>
          <p:nvPr/>
        </p:nvSpPr>
        <p:spPr>
          <a:xfrm>
            <a:off x="1600200" y="1219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7" name="Oval 97"/>
          <p:cNvSpPr/>
          <p:nvPr/>
        </p:nvSpPr>
        <p:spPr>
          <a:xfrm>
            <a:off x="1752600" y="914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8" name="Oval 98"/>
          <p:cNvSpPr/>
          <p:nvPr/>
        </p:nvSpPr>
        <p:spPr>
          <a:xfrm>
            <a:off x="1600200" y="838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69" name="Oval 99"/>
          <p:cNvSpPr/>
          <p:nvPr/>
        </p:nvSpPr>
        <p:spPr>
          <a:xfrm>
            <a:off x="1676400" y="1066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0" name="Oval 100"/>
          <p:cNvSpPr/>
          <p:nvPr/>
        </p:nvSpPr>
        <p:spPr>
          <a:xfrm>
            <a:off x="1828800" y="838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1" name="Oval 101"/>
          <p:cNvSpPr/>
          <p:nvPr/>
        </p:nvSpPr>
        <p:spPr>
          <a:xfrm>
            <a:off x="1981200" y="1752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2" name="Oval 102"/>
          <p:cNvSpPr/>
          <p:nvPr/>
        </p:nvSpPr>
        <p:spPr>
          <a:xfrm>
            <a:off x="2133600" y="1905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3" name="Oval 103"/>
          <p:cNvSpPr/>
          <p:nvPr/>
        </p:nvSpPr>
        <p:spPr>
          <a:xfrm>
            <a:off x="2133600" y="1524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4" name="Oval 104"/>
          <p:cNvSpPr/>
          <p:nvPr/>
        </p:nvSpPr>
        <p:spPr>
          <a:xfrm>
            <a:off x="1981200" y="838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5" name="Oval 105"/>
          <p:cNvSpPr/>
          <p:nvPr/>
        </p:nvSpPr>
        <p:spPr>
          <a:xfrm>
            <a:off x="2209800" y="838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6" name="Oval 106"/>
          <p:cNvSpPr/>
          <p:nvPr/>
        </p:nvSpPr>
        <p:spPr>
          <a:xfrm>
            <a:off x="2362200" y="1752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7" name="Oval 107"/>
          <p:cNvSpPr/>
          <p:nvPr/>
        </p:nvSpPr>
        <p:spPr>
          <a:xfrm>
            <a:off x="2514600" y="1905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8" name="Oval 108"/>
          <p:cNvSpPr/>
          <p:nvPr/>
        </p:nvSpPr>
        <p:spPr>
          <a:xfrm>
            <a:off x="2514600" y="1524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79" name="Oval 109"/>
          <p:cNvSpPr/>
          <p:nvPr/>
        </p:nvSpPr>
        <p:spPr>
          <a:xfrm>
            <a:off x="2362200" y="838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0" name="Oval 110"/>
          <p:cNvSpPr/>
          <p:nvPr/>
        </p:nvSpPr>
        <p:spPr>
          <a:xfrm>
            <a:off x="2590800" y="838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1" name="Oval 111"/>
          <p:cNvSpPr/>
          <p:nvPr/>
        </p:nvSpPr>
        <p:spPr>
          <a:xfrm>
            <a:off x="2590800" y="2057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2" name="Oval 112"/>
          <p:cNvSpPr/>
          <p:nvPr/>
        </p:nvSpPr>
        <p:spPr>
          <a:xfrm>
            <a:off x="2743200" y="2209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3" name="Oval 113"/>
          <p:cNvSpPr/>
          <p:nvPr/>
        </p:nvSpPr>
        <p:spPr>
          <a:xfrm>
            <a:off x="2743200" y="1828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4" name="Oval 114"/>
          <p:cNvSpPr/>
          <p:nvPr/>
        </p:nvSpPr>
        <p:spPr>
          <a:xfrm>
            <a:off x="2590800" y="1143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5" name="Oval 115"/>
          <p:cNvSpPr/>
          <p:nvPr/>
        </p:nvSpPr>
        <p:spPr>
          <a:xfrm>
            <a:off x="2819400" y="1143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6" name="Oval 116"/>
          <p:cNvSpPr/>
          <p:nvPr/>
        </p:nvSpPr>
        <p:spPr>
          <a:xfrm>
            <a:off x="2133600" y="2057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7" name="Oval 117"/>
          <p:cNvSpPr/>
          <p:nvPr/>
        </p:nvSpPr>
        <p:spPr>
          <a:xfrm>
            <a:off x="2286000" y="2209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8" name="Oval 118"/>
          <p:cNvSpPr/>
          <p:nvPr/>
        </p:nvSpPr>
        <p:spPr>
          <a:xfrm>
            <a:off x="2286000" y="1828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89" name="Oval 119"/>
          <p:cNvSpPr/>
          <p:nvPr/>
        </p:nvSpPr>
        <p:spPr>
          <a:xfrm>
            <a:off x="2133600" y="1143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0" name="Oval 120"/>
          <p:cNvSpPr/>
          <p:nvPr/>
        </p:nvSpPr>
        <p:spPr>
          <a:xfrm>
            <a:off x="2362200" y="1143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1" name="Oval 121"/>
          <p:cNvSpPr/>
          <p:nvPr/>
        </p:nvSpPr>
        <p:spPr>
          <a:xfrm>
            <a:off x="3200400" y="1828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2" name="Oval 122"/>
          <p:cNvSpPr/>
          <p:nvPr/>
        </p:nvSpPr>
        <p:spPr>
          <a:xfrm>
            <a:off x="1371600" y="457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3" name="Text Box 123"/>
          <p:cNvSpPr txBox="1"/>
          <p:nvPr/>
        </p:nvSpPr>
        <p:spPr>
          <a:xfrm>
            <a:off x="304800" y="3581400"/>
            <a:ext cx="1066800" cy="457200"/>
          </a:xfrm>
          <a:prstGeom prst="rect">
            <a:avLst/>
          </a:prstGeom>
          <a:noFill/>
          <a:ln w="9525">
            <a:noFill/>
          </a:ln>
        </p:spPr>
        <p:txBody>
          <a:bodyPr anchor="t" anchorCtr="0">
            <a:spAutoFit/>
          </a:bodyPr>
          <a:p>
            <a:pPr eaLnBrk="0" hangingPunct="0">
              <a:spcBef>
                <a:spcPct val="50000"/>
              </a:spcBef>
            </a:pPr>
            <a:r>
              <a:rPr lang="en-US" dirty="0">
                <a:latin typeface="Times New Roman" panose="02020603050405020304" pitchFamily="18" charset="0"/>
                <a:sym typeface="Symbol" panose="05050102010706020507" pitchFamily="18" charset="2"/>
              </a:rPr>
              <a:t></a:t>
            </a:r>
            <a:r>
              <a:rPr lang="en-US" dirty="0">
                <a:latin typeface="Times New Roman" panose="02020603050405020304" pitchFamily="18" charset="0"/>
              </a:rPr>
              <a:t> = 3</a:t>
            </a:r>
            <a:endParaRPr lang="en-US" dirty="0">
              <a:latin typeface="Times New Roman" panose="02020603050405020304" pitchFamily="18" charset="0"/>
            </a:endParaRPr>
          </a:p>
        </p:txBody>
      </p:sp>
      <p:sp>
        <p:nvSpPr>
          <p:cNvPr id="160894" name="Oval 124"/>
          <p:cNvSpPr/>
          <p:nvPr/>
        </p:nvSpPr>
        <p:spPr>
          <a:xfrm>
            <a:off x="6324600" y="2362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5" name="Oval 125"/>
          <p:cNvSpPr/>
          <p:nvPr/>
        </p:nvSpPr>
        <p:spPr>
          <a:xfrm>
            <a:off x="6019800" y="2133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6" name="Oval 126"/>
          <p:cNvSpPr/>
          <p:nvPr/>
        </p:nvSpPr>
        <p:spPr>
          <a:xfrm>
            <a:off x="5943600" y="2362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7" name="Oval 127"/>
          <p:cNvSpPr/>
          <p:nvPr/>
        </p:nvSpPr>
        <p:spPr>
          <a:xfrm>
            <a:off x="6400800" y="2209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8" name="Oval 128"/>
          <p:cNvSpPr/>
          <p:nvPr/>
        </p:nvSpPr>
        <p:spPr>
          <a:xfrm>
            <a:off x="6629400" y="2133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899" name="Oval 129"/>
          <p:cNvSpPr/>
          <p:nvPr/>
        </p:nvSpPr>
        <p:spPr>
          <a:xfrm>
            <a:off x="6324600" y="1905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0" name="Oval 130"/>
          <p:cNvSpPr/>
          <p:nvPr/>
        </p:nvSpPr>
        <p:spPr>
          <a:xfrm>
            <a:off x="6248400" y="2133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1" name="Oval 131"/>
          <p:cNvSpPr/>
          <p:nvPr/>
        </p:nvSpPr>
        <p:spPr>
          <a:xfrm>
            <a:off x="6781800" y="1981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2" name="Oval 132"/>
          <p:cNvSpPr/>
          <p:nvPr/>
        </p:nvSpPr>
        <p:spPr>
          <a:xfrm>
            <a:off x="7010400" y="1905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3" name="Oval 133"/>
          <p:cNvSpPr/>
          <p:nvPr/>
        </p:nvSpPr>
        <p:spPr>
          <a:xfrm>
            <a:off x="6705600" y="1676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4" name="Oval 134"/>
          <p:cNvSpPr/>
          <p:nvPr/>
        </p:nvSpPr>
        <p:spPr>
          <a:xfrm>
            <a:off x="6629400" y="19050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5" name="Oval 135"/>
          <p:cNvSpPr/>
          <p:nvPr/>
        </p:nvSpPr>
        <p:spPr>
          <a:xfrm>
            <a:off x="7086600" y="2133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6" name="Oval 136"/>
          <p:cNvSpPr/>
          <p:nvPr/>
        </p:nvSpPr>
        <p:spPr>
          <a:xfrm>
            <a:off x="7315200" y="2057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7" name="Oval 137"/>
          <p:cNvSpPr/>
          <p:nvPr/>
        </p:nvSpPr>
        <p:spPr>
          <a:xfrm>
            <a:off x="7010400" y="1828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8" name="Oval 138"/>
          <p:cNvSpPr/>
          <p:nvPr/>
        </p:nvSpPr>
        <p:spPr>
          <a:xfrm>
            <a:off x="6934200" y="2057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09" name="Oval 139"/>
          <p:cNvSpPr/>
          <p:nvPr/>
        </p:nvSpPr>
        <p:spPr>
          <a:xfrm>
            <a:off x="7239000" y="1752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0" name="Oval 140"/>
          <p:cNvSpPr/>
          <p:nvPr/>
        </p:nvSpPr>
        <p:spPr>
          <a:xfrm>
            <a:off x="7315200" y="1600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1" name="Oval 141"/>
          <p:cNvSpPr/>
          <p:nvPr/>
        </p:nvSpPr>
        <p:spPr>
          <a:xfrm>
            <a:off x="7010400" y="1371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2" name="Oval 142"/>
          <p:cNvSpPr/>
          <p:nvPr/>
        </p:nvSpPr>
        <p:spPr>
          <a:xfrm>
            <a:off x="6934200" y="1600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3" name="Oval 143"/>
          <p:cNvSpPr/>
          <p:nvPr/>
        </p:nvSpPr>
        <p:spPr>
          <a:xfrm>
            <a:off x="6705600" y="1676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4" name="Oval 144"/>
          <p:cNvSpPr/>
          <p:nvPr/>
        </p:nvSpPr>
        <p:spPr>
          <a:xfrm>
            <a:off x="6934200" y="1600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5" name="Oval 145"/>
          <p:cNvSpPr/>
          <p:nvPr/>
        </p:nvSpPr>
        <p:spPr>
          <a:xfrm>
            <a:off x="6629400" y="1371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6" name="Oval 146"/>
          <p:cNvSpPr/>
          <p:nvPr/>
        </p:nvSpPr>
        <p:spPr>
          <a:xfrm>
            <a:off x="6553200" y="1600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7" name="Oval 147"/>
          <p:cNvSpPr/>
          <p:nvPr/>
        </p:nvSpPr>
        <p:spPr>
          <a:xfrm>
            <a:off x="6705600" y="25146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8" name="Oval 148"/>
          <p:cNvSpPr/>
          <p:nvPr/>
        </p:nvSpPr>
        <p:spPr>
          <a:xfrm>
            <a:off x="7772400" y="2743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19" name="Oval 149"/>
          <p:cNvSpPr/>
          <p:nvPr/>
        </p:nvSpPr>
        <p:spPr>
          <a:xfrm>
            <a:off x="6629400" y="22098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20" name="Oval 150"/>
          <p:cNvSpPr/>
          <p:nvPr/>
        </p:nvSpPr>
        <p:spPr>
          <a:xfrm>
            <a:off x="6553200" y="24384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21" name="Oval 151"/>
          <p:cNvSpPr/>
          <p:nvPr/>
        </p:nvSpPr>
        <p:spPr>
          <a:xfrm>
            <a:off x="5715000" y="1219200"/>
            <a:ext cx="76200" cy="762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60922" name="Rectangle 152"/>
          <p:cNvSpPr/>
          <p:nvPr/>
        </p:nvSpPr>
        <p:spPr>
          <a:xfrm>
            <a:off x="1524000" y="762000"/>
            <a:ext cx="1219200" cy="1219200"/>
          </a:xfrm>
          <a:prstGeom prst="rect">
            <a:avLst/>
          </a:prstGeom>
          <a:noFill/>
          <a:ln w="2857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60923" name="Rectangle 153"/>
          <p:cNvSpPr/>
          <p:nvPr/>
        </p:nvSpPr>
        <p:spPr>
          <a:xfrm>
            <a:off x="2133600" y="1066800"/>
            <a:ext cx="914400" cy="1219200"/>
          </a:xfrm>
          <a:prstGeom prst="rect">
            <a:avLst/>
          </a:prstGeom>
          <a:noFill/>
          <a:ln w="2857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60924" name="Line 154"/>
          <p:cNvSpPr/>
          <p:nvPr/>
        </p:nvSpPr>
        <p:spPr>
          <a:xfrm>
            <a:off x="1219200" y="3429000"/>
            <a:ext cx="2590800" cy="0"/>
          </a:xfrm>
          <a:prstGeom prst="line">
            <a:avLst/>
          </a:prstGeom>
          <a:ln w="9525" cap="flat" cmpd="sng">
            <a:solidFill>
              <a:schemeClr val="tx1"/>
            </a:solidFill>
            <a:prstDash val="solid"/>
            <a:round/>
            <a:headEnd type="none" w="med" len="med"/>
            <a:tailEnd type="none" w="med" len="med"/>
          </a:ln>
        </p:spPr>
      </p:sp>
      <p:sp>
        <p:nvSpPr>
          <p:cNvPr id="160925" name="Freeform 155"/>
          <p:cNvSpPr/>
          <p:nvPr/>
        </p:nvSpPr>
        <p:spPr>
          <a:xfrm>
            <a:off x="1528763" y="3327400"/>
            <a:ext cx="1557337" cy="109538"/>
          </a:xfrm>
          <a:custGeom>
            <a:avLst/>
            <a:gdLst/>
            <a:ahLst/>
            <a:cxnLst>
              <a:cxn ang="0">
                <a:pos x="0" y="67"/>
              </a:cxn>
              <a:cxn ang="0">
                <a:pos x="52" y="52"/>
              </a:cxn>
              <a:cxn ang="0">
                <a:pos x="59" y="30"/>
              </a:cxn>
              <a:cxn ang="0">
                <a:pos x="111" y="15"/>
              </a:cxn>
              <a:cxn ang="0">
                <a:pos x="792" y="8"/>
              </a:cxn>
              <a:cxn ang="0">
                <a:pos x="926" y="15"/>
              </a:cxn>
              <a:cxn ang="0">
                <a:pos x="941" y="67"/>
              </a:cxn>
              <a:cxn ang="0">
                <a:pos x="778" y="67"/>
              </a:cxn>
              <a:cxn ang="0">
                <a:pos x="0" y="67"/>
              </a:cxn>
            </a:cxnLst>
            <a:pathLst>
              <a:path w="981" h="69">
                <a:moveTo>
                  <a:pt x="0" y="67"/>
                </a:moveTo>
                <a:cubicBezTo>
                  <a:pt x="3" y="66"/>
                  <a:pt x="47" y="57"/>
                  <a:pt x="52" y="52"/>
                </a:cubicBezTo>
                <a:cubicBezTo>
                  <a:pt x="57" y="46"/>
                  <a:pt x="54" y="35"/>
                  <a:pt x="59" y="30"/>
                </a:cubicBezTo>
                <a:cubicBezTo>
                  <a:pt x="72" y="17"/>
                  <a:pt x="94" y="20"/>
                  <a:pt x="111" y="15"/>
                </a:cubicBezTo>
                <a:cubicBezTo>
                  <a:pt x="326" y="34"/>
                  <a:pt x="603" y="11"/>
                  <a:pt x="792" y="8"/>
                </a:cubicBezTo>
                <a:cubicBezTo>
                  <a:pt x="839" y="0"/>
                  <a:pt x="879" y="0"/>
                  <a:pt x="926" y="15"/>
                </a:cubicBezTo>
                <a:cubicBezTo>
                  <a:pt x="957" y="36"/>
                  <a:pt x="981" y="40"/>
                  <a:pt x="941" y="67"/>
                </a:cubicBezTo>
                <a:cubicBezTo>
                  <a:pt x="862" y="48"/>
                  <a:pt x="948" y="66"/>
                  <a:pt x="778" y="67"/>
                </a:cubicBezTo>
                <a:cubicBezTo>
                  <a:pt x="519" y="69"/>
                  <a:pt x="259" y="67"/>
                  <a:pt x="0" y="67"/>
                </a:cubicBezTo>
                <a:close/>
              </a:path>
            </a:pathLst>
          </a:custGeom>
          <a:solidFill>
            <a:schemeClr val="tx2"/>
          </a:solidFill>
          <a:ln w="9525" cap="flat" cmpd="sng">
            <a:solidFill>
              <a:schemeClr val="tx1"/>
            </a:solidFill>
            <a:prstDash val="solid"/>
            <a:round/>
            <a:headEnd type="none" w="med" len="med"/>
            <a:tailEnd type="none" w="med" len="med"/>
          </a:ln>
        </p:spPr>
        <p:txBody>
          <a:bodyPr/>
          <a:p>
            <a:endParaRPr lang="en-US"/>
          </a:p>
        </p:txBody>
      </p:sp>
      <p:sp>
        <p:nvSpPr>
          <p:cNvPr id="160926" name="Line 156"/>
          <p:cNvSpPr/>
          <p:nvPr/>
        </p:nvSpPr>
        <p:spPr>
          <a:xfrm>
            <a:off x="4267200" y="381000"/>
            <a:ext cx="0" cy="2819400"/>
          </a:xfrm>
          <a:prstGeom prst="line">
            <a:avLst/>
          </a:prstGeom>
          <a:ln w="9525" cap="flat" cmpd="sng">
            <a:solidFill>
              <a:schemeClr val="tx1"/>
            </a:solidFill>
            <a:prstDash val="solid"/>
            <a:round/>
            <a:headEnd type="none" w="med" len="med"/>
            <a:tailEnd type="none" w="med" len="med"/>
          </a:ln>
        </p:spPr>
      </p:sp>
      <p:sp>
        <p:nvSpPr>
          <p:cNvPr id="160927" name="Freeform 157"/>
          <p:cNvSpPr/>
          <p:nvPr/>
        </p:nvSpPr>
        <p:spPr>
          <a:xfrm>
            <a:off x="4114800" y="752475"/>
            <a:ext cx="198438" cy="1522413"/>
          </a:xfrm>
          <a:custGeom>
            <a:avLst/>
            <a:gdLst/>
            <a:ahLst/>
            <a:cxnLst>
              <a:cxn ang="0">
                <a:pos x="97" y="0"/>
              </a:cxn>
              <a:cxn ang="0">
                <a:pos x="82" y="22"/>
              </a:cxn>
              <a:cxn ang="0">
                <a:pos x="67" y="67"/>
              </a:cxn>
              <a:cxn ang="0">
                <a:pos x="8" y="393"/>
              </a:cxn>
              <a:cxn ang="0">
                <a:pos x="0" y="571"/>
              </a:cxn>
              <a:cxn ang="0">
                <a:pos x="37" y="859"/>
              </a:cxn>
              <a:cxn ang="0">
                <a:pos x="82" y="956"/>
              </a:cxn>
              <a:cxn ang="0">
                <a:pos x="89" y="911"/>
              </a:cxn>
              <a:cxn ang="0">
                <a:pos x="97" y="874"/>
              </a:cxn>
              <a:cxn ang="0">
                <a:pos x="89" y="148"/>
              </a:cxn>
              <a:cxn ang="0">
                <a:pos x="97" y="0"/>
              </a:cxn>
            </a:cxnLst>
            <a:pathLst>
              <a:path w="125" h="959">
                <a:moveTo>
                  <a:pt x="97" y="0"/>
                </a:moveTo>
                <a:cubicBezTo>
                  <a:pt x="92" y="7"/>
                  <a:pt x="86" y="14"/>
                  <a:pt x="82" y="22"/>
                </a:cubicBezTo>
                <a:cubicBezTo>
                  <a:pt x="76" y="36"/>
                  <a:pt x="67" y="67"/>
                  <a:pt x="67" y="67"/>
                </a:cubicBezTo>
                <a:cubicBezTo>
                  <a:pt x="59" y="183"/>
                  <a:pt x="41" y="283"/>
                  <a:pt x="8" y="393"/>
                </a:cubicBezTo>
                <a:cubicBezTo>
                  <a:pt x="5" y="452"/>
                  <a:pt x="0" y="512"/>
                  <a:pt x="0" y="571"/>
                </a:cubicBezTo>
                <a:cubicBezTo>
                  <a:pt x="0" y="667"/>
                  <a:pt x="14" y="765"/>
                  <a:pt x="37" y="859"/>
                </a:cubicBezTo>
                <a:cubicBezTo>
                  <a:pt x="45" y="893"/>
                  <a:pt x="54" y="937"/>
                  <a:pt x="82" y="956"/>
                </a:cubicBezTo>
                <a:cubicBezTo>
                  <a:pt x="114" y="906"/>
                  <a:pt x="89" y="959"/>
                  <a:pt x="89" y="911"/>
                </a:cubicBezTo>
                <a:cubicBezTo>
                  <a:pt x="89" y="898"/>
                  <a:pt x="94" y="886"/>
                  <a:pt x="97" y="874"/>
                </a:cubicBezTo>
                <a:cubicBezTo>
                  <a:pt x="100" y="647"/>
                  <a:pt x="125" y="384"/>
                  <a:pt x="89" y="148"/>
                </a:cubicBezTo>
                <a:cubicBezTo>
                  <a:pt x="98" y="30"/>
                  <a:pt x="97" y="79"/>
                  <a:pt x="97" y="0"/>
                </a:cubicBezTo>
                <a:close/>
              </a:path>
            </a:pathLst>
          </a:custGeom>
          <a:solidFill>
            <a:schemeClr val="tx2"/>
          </a:solidFill>
          <a:ln w="9525" cap="flat" cmpd="sng">
            <a:solidFill>
              <a:schemeClr val="tx1"/>
            </a:solidFill>
            <a:prstDash val="solid"/>
            <a:round/>
            <a:headEnd type="none" w="med" len="med"/>
            <a:tailEnd type="none" w="med" len="med"/>
          </a:ln>
        </p:spPr>
        <p:txBody>
          <a:bodyPr/>
          <a:p>
            <a:endParaRPr lang="en-US"/>
          </a:p>
        </p:txBody>
      </p:sp>
    </p:spTree>
  </p:cSld>
  <p:clrMapOvr>
    <a:masterClrMapping/>
  </p:clrMapOvr>
  <p:transition>
    <p:strips dir="r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noChangeArrowheads="1"/>
          </p:cNvSpPr>
          <p:nvPr>
            <p:ph type="title"/>
          </p:nvPr>
        </p:nvSpPr>
        <p:spPr>
          <a:xfrm>
            <a:off x="1355725" y="533400"/>
            <a:ext cx="6873875" cy="6508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Strength and Weakness of </a:t>
            </a:r>
            <a:r>
              <a:rPr kumimoji="0" lang="en-US" sz="3200" b="0" i="1" u="none" strike="noStrike" kern="1200" cap="small" spc="0" normalizeH="0" baseline="0" noProof="0" smtClean="0">
                <a:ln>
                  <a:noFill/>
                </a:ln>
                <a:solidFill>
                  <a:schemeClr val="tx2"/>
                </a:solidFill>
                <a:effectLst/>
                <a:uLnTx/>
                <a:uFillTx/>
                <a:latin typeface="+mj-lt"/>
                <a:ea typeface="+mj-ea"/>
                <a:cs typeface="+mj-cs"/>
              </a:rPr>
              <a:t>CLIQUE</a:t>
            </a:r>
            <a:endParaRPr kumimoji="0" lang="en-US" sz="2100" b="1" i="0" u="none" strike="noStrike" kern="1200" cap="small" spc="0" normalizeH="0" baseline="0" noProof="0" smtClean="0">
              <a:ln>
                <a:noFill/>
              </a:ln>
              <a:solidFill>
                <a:schemeClr val="tx2"/>
              </a:solidFill>
              <a:effectLst/>
              <a:uLnTx/>
              <a:uFillTx/>
              <a:latin typeface="+mj-lt"/>
              <a:ea typeface="+mj-ea"/>
              <a:cs typeface="+mj-cs"/>
            </a:endParaRPr>
          </a:p>
        </p:txBody>
      </p:sp>
      <p:sp>
        <p:nvSpPr>
          <p:cNvPr id="161794" name="Rectangle 3"/>
          <p:cNvSpPr>
            <a:spLocks noGrp="1"/>
          </p:cNvSpPr>
          <p:nvPr>
            <p:ph sz="quarter" idx="1"/>
          </p:nvPr>
        </p:nvSpPr>
        <p:spPr>
          <a:xfrm>
            <a:off x="533400" y="1676400"/>
            <a:ext cx="8229600" cy="47244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u="sng" dirty="0"/>
              <a:t>Strength</a:t>
            </a:r>
            <a:r>
              <a:rPr lang="en-US" dirty="0"/>
              <a:t> </a:t>
            </a:r>
            <a:endParaRPr lang="en-US" dirty="0"/>
          </a:p>
          <a:p>
            <a:pPr lvl="1" eaLnBrk="1" hangingPunct="1">
              <a:buClr>
                <a:schemeClr val="accent1"/>
              </a:buClr>
              <a:buSzPct val="80000"/>
              <a:buFont typeface="Wingdings 2" panose="05020102010507070707" pitchFamily="18" charset="2"/>
            </a:pPr>
            <a:r>
              <a:rPr lang="en-US" dirty="0"/>
              <a:t>It </a:t>
            </a:r>
            <a:r>
              <a:rPr lang="en-US" i="1" u="sng" dirty="0"/>
              <a:t>automatically</a:t>
            </a:r>
            <a:r>
              <a:rPr lang="en-US" u="sng" dirty="0"/>
              <a:t> finds subspaces of the</a:t>
            </a:r>
            <a:r>
              <a:rPr lang="en-US" dirty="0"/>
              <a:t> </a:t>
            </a:r>
            <a:r>
              <a:rPr lang="en-US" u="sng" dirty="0"/>
              <a:t>highest dimensionality</a:t>
            </a:r>
            <a:r>
              <a:rPr lang="en-US" dirty="0"/>
              <a:t> such that high density clusters exist in those subspaces</a:t>
            </a:r>
            <a:endParaRPr lang="en-US" dirty="0"/>
          </a:p>
          <a:p>
            <a:pPr lvl="1" eaLnBrk="1" hangingPunct="1">
              <a:buClr>
                <a:schemeClr val="accent1"/>
              </a:buClr>
              <a:buSzPct val="80000"/>
              <a:buFont typeface="Wingdings 2" panose="05020102010507070707" pitchFamily="18" charset="2"/>
            </a:pPr>
            <a:r>
              <a:rPr lang="en-US" dirty="0"/>
              <a:t>It is </a:t>
            </a:r>
            <a:r>
              <a:rPr lang="en-US" i="1" dirty="0"/>
              <a:t>insensitive</a:t>
            </a:r>
            <a:r>
              <a:rPr lang="en-US" dirty="0"/>
              <a:t> to the order of records in input and does not presume some canonical data distribution</a:t>
            </a:r>
            <a:endParaRPr lang="en-US" dirty="0"/>
          </a:p>
          <a:p>
            <a:pPr lvl="1" eaLnBrk="1" hangingPunct="1">
              <a:buClr>
                <a:schemeClr val="accent1"/>
              </a:buClr>
              <a:buSzPct val="80000"/>
              <a:buFont typeface="Wingdings 2" panose="05020102010507070707" pitchFamily="18" charset="2"/>
            </a:pPr>
            <a:r>
              <a:rPr lang="en-US" dirty="0"/>
              <a:t>It scales</a:t>
            </a:r>
            <a:r>
              <a:rPr lang="en-US" i="1" dirty="0"/>
              <a:t> linearly</a:t>
            </a:r>
            <a:r>
              <a:rPr lang="en-US" dirty="0"/>
              <a:t> with the size of input and has good scalability as the number of dimensions in the data increases</a:t>
            </a:r>
            <a:endParaRPr lang="en-US" dirty="0"/>
          </a:p>
          <a:p>
            <a:pPr eaLnBrk="1" hangingPunct="1">
              <a:buClr>
                <a:schemeClr val="accent1"/>
              </a:buClr>
              <a:buSzPct val="70000"/>
              <a:buFont typeface="Wingdings" panose="05000000000000000000" pitchFamily="2" charset="2"/>
            </a:pPr>
            <a:r>
              <a:rPr lang="en-US" u="sng" dirty="0"/>
              <a:t>Weakness</a:t>
            </a:r>
            <a:endParaRPr lang="en-US" dirty="0"/>
          </a:p>
          <a:p>
            <a:pPr lvl="1" eaLnBrk="1" hangingPunct="1">
              <a:buClr>
                <a:schemeClr val="accent1"/>
              </a:buClr>
              <a:buSzPct val="80000"/>
              <a:buFont typeface="Wingdings 2" panose="05020102010507070707" pitchFamily="18" charset="2"/>
            </a:pPr>
            <a:r>
              <a:rPr lang="en-US" dirty="0"/>
              <a:t>The accuracy of the clustering result may be degraded at the expense of simplicity of the method</a:t>
            </a:r>
            <a:endParaRPr lang="en-US" dirty="0"/>
          </a:p>
        </p:txBody>
      </p:sp>
      <p:sp>
        <p:nvSpPr>
          <p:cNvPr id="16179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179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179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a:xfrm>
            <a:off x="1600200" y="3048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Chapter 8. </a:t>
            </a: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89091"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hlink"/>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16281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282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282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ChangeArrowheads="1"/>
          </p:cNvSpPr>
          <p:nvPr>
            <p:ph type="title"/>
          </p:nvPr>
        </p:nvSpPr>
        <p:spPr>
          <a:xfrm>
            <a:off x="1143000" y="533400"/>
            <a:ext cx="7504113" cy="554038"/>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Model-Based Clustering Methods</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63842" name="Rectangle 3"/>
          <p:cNvSpPr>
            <a:spLocks noGrp="1"/>
          </p:cNvSpPr>
          <p:nvPr>
            <p:ph sz="quarter" idx="1"/>
          </p:nvPr>
        </p:nvSpPr>
        <p:spPr>
          <a:xfrm>
            <a:off x="304800" y="1447800"/>
            <a:ext cx="8610600" cy="51054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Attempt to optimize the fit between the data and some mathematical model</a:t>
            </a:r>
            <a:endParaRPr lang="en-US" dirty="0"/>
          </a:p>
          <a:p>
            <a:pPr eaLnBrk="1" hangingPunct="1">
              <a:buClr>
                <a:schemeClr val="accent1"/>
              </a:buClr>
              <a:buSzPct val="70000"/>
              <a:buFont typeface="Wingdings" panose="05000000000000000000" pitchFamily="2" charset="2"/>
            </a:pPr>
            <a:r>
              <a:rPr lang="en-US" dirty="0"/>
              <a:t>Statistical and AI approach</a:t>
            </a:r>
            <a:endParaRPr lang="en-US" dirty="0"/>
          </a:p>
          <a:p>
            <a:pPr lvl="1" eaLnBrk="1" hangingPunct="1">
              <a:buClr>
                <a:schemeClr val="accent1"/>
              </a:buClr>
              <a:buSzPct val="80000"/>
              <a:buFont typeface="Wingdings 2" panose="05020102010507070707" pitchFamily="18" charset="2"/>
            </a:pPr>
            <a:r>
              <a:rPr lang="en-US" dirty="0"/>
              <a:t>Conceptual clustering</a:t>
            </a:r>
            <a:endParaRPr lang="en-US" dirty="0"/>
          </a:p>
          <a:p>
            <a:pPr lvl="2" indent="-182245" eaLnBrk="1" hangingPunct="1">
              <a:buClr>
                <a:srgbClr val="E1307B"/>
              </a:buClr>
              <a:buSzPct val="60000"/>
              <a:buFont typeface="Wingdings" panose="05000000000000000000" pitchFamily="2" charset="2"/>
            </a:pPr>
            <a:r>
              <a:rPr lang="en-US" sz="2000" dirty="0"/>
              <a:t>A form of clustering in machine learning</a:t>
            </a:r>
            <a:endParaRPr lang="en-US" sz="2000" dirty="0"/>
          </a:p>
          <a:p>
            <a:pPr lvl="2" indent="-182245" eaLnBrk="1" hangingPunct="1">
              <a:buClr>
                <a:srgbClr val="E1307B"/>
              </a:buClr>
              <a:buSzPct val="60000"/>
              <a:buFont typeface="Wingdings" panose="05000000000000000000" pitchFamily="2" charset="2"/>
            </a:pPr>
            <a:r>
              <a:rPr lang="en-US" sz="2000" dirty="0"/>
              <a:t>Produces a classification scheme for a set of unlabeled objects</a:t>
            </a:r>
            <a:endParaRPr lang="en-US" sz="2000" dirty="0"/>
          </a:p>
          <a:p>
            <a:pPr lvl="2" indent="-182245" eaLnBrk="1" hangingPunct="1">
              <a:buClr>
                <a:srgbClr val="E1307B"/>
              </a:buClr>
              <a:buSzPct val="60000"/>
              <a:buFont typeface="Wingdings" panose="05000000000000000000" pitchFamily="2" charset="2"/>
            </a:pPr>
            <a:r>
              <a:rPr lang="en-US" sz="2000" dirty="0"/>
              <a:t>Finds characteristic description for each concept (class)</a:t>
            </a:r>
            <a:endParaRPr lang="en-US" sz="2000" dirty="0"/>
          </a:p>
          <a:p>
            <a:pPr lvl="1" eaLnBrk="1" hangingPunct="1">
              <a:buClr>
                <a:schemeClr val="accent1"/>
              </a:buClr>
              <a:buSzPct val="80000"/>
              <a:buFont typeface="Wingdings 2" panose="05020102010507070707" pitchFamily="18" charset="2"/>
            </a:pPr>
            <a:r>
              <a:rPr lang="en-US" dirty="0"/>
              <a:t>COBWEB (Fisher’87)</a:t>
            </a:r>
            <a:r>
              <a:rPr lang="en-US" sz="2000" dirty="0"/>
              <a:t> </a:t>
            </a:r>
            <a:endParaRPr lang="en-US" sz="2000" dirty="0"/>
          </a:p>
          <a:p>
            <a:pPr lvl="2" indent="-182245" eaLnBrk="1" hangingPunct="1">
              <a:buClr>
                <a:srgbClr val="E1307B"/>
              </a:buClr>
              <a:buSzPct val="60000"/>
              <a:buFont typeface="Wingdings" panose="05000000000000000000" pitchFamily="2" charset="2"/>
            </a:pPr>
            <a:r>
              <a:rPr lang="en-US" sz="2000" dirty="0"/>
              <a:t>A popular a simple method of incremental conceptual learning</a:t>
            </a:r>
            <a:endParaRPr lang="en-US" sz="2000" dirty="0"/>
          </a:p>
          <a:p>
            <a:pPr lvl="2" indent="-182245" eaLnBrk="1" hangingPunct="1">
              <a:buClr>
                <a:srgbClr val="E1307B"/>
              </a:buClr>
              <a:buSzPct val="60000"/>
              <a:buFont typeface="Wingdings" panose="05000000000000000000" pitchFamily="2" charset="2"/>
            </a:pPr>
            <a:r>
              <a:rPr lang="en-US" sz="2000" dirty="0"/>
              <a:t>Creates a hierarchical clustering in the form of a </a:t>
            </a:r>
            <a:r>
              <a:rPr lang="en-US" sz="2000" dirty="0">
                <a:solidFill>
                  <a:schemeClr val="hlink"/>
                </a:solidFill>
              </a:rPr>
              <a:t>classification tree</a:t>
            </a:r>
            <a:endParaRPr lang="en-US" sz="2000" dirty="0">
              <a:solidFill>
                <a:schemeClr val="hlink"/>
              </a:solidFill>
            </a:endParaRPr>
          </a:p>
          <a:p>
            <a:pPr lvl="2" indent="-182245" eaLnBrk="1" hangingPunct="1">
              <a:buClr>
                <a:srgbClr val="E1307B"/>
              </a:buClr>
              <a:buSzPct val="60000"/>
              <a:buFont typeface="Wingdings" panose="05000000000000000000" pitchFamily="2" charset="2"/>
            </a:pPr>
            <a:r>
              <a:rPr lang="en-US" sz="2000" dirty="0"/>
              <a:t>Each node refers to a concept and contains a probabilistic description of that concept</a:t>
            </a:r>
            <a:endParaRPr lang="en-US" sz="2000" dirty="0"/>
          </a:p>
        </p:txBody>
      </p:sp>
      <p:sp>
        <p:nvSpPr>
          <p:cNvPr id="16384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384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384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wipe dir="d"/>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noChangeArrowheads="1"/>
          </p:cNvSpPr>
          <p:nvPr>
            <p:ph type="title"/>
          </p:nvPr>
        </p:nvSpPr>
        <p:spPr>
          <a:xfrm>
            <a:off x="1350963" y="381000"/>
            <a:ext cx="6497638" cy="6096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COBWEB Clustering Method</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pic>
        <p:nvPicPr>
          <p:cNvPr id="164866" name="Picture 3"/>
          <p:cNvPicPr>
            <a:picLocks noGrp="1" noChangeAspect="1"/>
          </p:cNvPicPr>
          <p:nvPr>
            <p:ph sz="quarter" idx="1"/>
          </p:nvPr>
        </p:nvPicPr>
        <p:blipFill>
          <a:blip r:embed="rId1"/>
          <a:stretch>
            <a:fillRect/>
          </a:stretch>
        </p:blipFill>
        <p:spPr>
          <a:xfrm>
            <a:off x="762000" y="2057400"/>
            <a:ext cx="7543800" cy="4495800"/>
          </a:xfrm>
          <a:ln/>
        </p:spPr>
      </p:pic>
      <p:sp>
        <p:nvSpPr>
          <p:cNvPr id="16486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486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486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164870" name="Text Box 4"/>
          <p:cNvSpPr txBox="1"/>
          <p:nvPr/>
        </p:nvSpPr>
        <p:spPr>
          <a:xfrm>
            <a:off x="381000" y="1752600"/>
            <a:ext cx="2738438" cy="457200"/>
          </a:xfrm>
          <a:prstGeom prst="rect">
            <a:avLst/>
          </a:prstGeom>
          <a:noFill/>
          <a:ln w="9525">
            <a:noFill/>
          </a:ln>
        </p:spPr>
        <p:txBody>
          <a:bodyPr wrap="none" anchor="t" anchorCtr="0">
            <a:spAutoFit/>
          </a:bodyPr>
          <a:p>
            <a:pPr eaLnBrk="0" hangingPunct="0"/>
            <a:r>
              <a:rPr lang="en-US" b="1" dirty="0">
                <a:latin typeface="Times New Roman" panose="02020603050405020304" pitchFamily="18" charset="0"/>
              </a:rPr>
              <a:t>A classification tree</a:t>
            </a:r>
            <a:endParaRPr lang="en-US" b="1" dirty="0">
              <a:latin typeface="Times New Roman" panose="02020603050405020304" pitchFamily="18"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noChangeArrowheads="1"/>
          </p:cNvSpPr>
          <p:nvPr>
            <p:ph type="title"/>
          </p:nvPr>
        </p:nvSpPr>
        <p:spPr>
          <a:xfrm>
            <a:off x="1350963" y="457200"/>
            <a:ext cx="7793038" cy="6096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More on Statistical-Based Clustering</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65890" name="Rectangle 3"/>
          <p:cNvSpPr>
            <a:spLocks noGrp="1"/>
          </p:cNvSpPr>
          <p:nvPr>
            <p:ph sz="quarter" idx="1"/>
          </p:nvPr>
        </p:nvSpPr>
        <p:spPr>
          <a:xfrm>
            <a:off x="685800" y="1600200"/>
            <a:ext cx="8077200" cy="4724400"/>
          </a:xfrm>
          <a:ln/>
        </p:spPr>
        <p:txBody>
          <a:bodyPr vert="horz" wrap="square" lIns="91440" tIns="45720" rIns="91440" bIns="45720" anchor="t" anchorCtr="0"/>
          <a:p>
            <a:pPr eaLnBrk="1" hangingPunct="1">
              <a:lnSpc>
                <a:spcPct val="80000"/>
              </a:lnSpc>
              <a:buClr>
                <a:schemeClr val="accent1"/>
              </a:buClr>
              <a:buSzPct val="70000"/>
              <a:buFont typeface="Wingdings" panose="05000000000000000000" pitchFamily="2" charset="2"/>
            </a:pPr>
            <a:r>
              <a:rPr lang="en-US" dirty="0"/>
              <a:t>Limitations of COBWEB</a:t>
            </a:r>
            <a:endParaRPr lang="en-US" dirty="0"/>
          </a:p>
          <a:p>
            <a:pPr lvl="1" eaLnBrk="1" hangingPunct="1">
              <a:lnSpc>
                <a:spcPct val="80000"/>
              </a:lnSpc>
              <a:buClr>
                <a:schemeClr val="accent1"/>
              </a:buClr>
              <a:buSzPct val="80000"/>
              <a:buFont typeface="Wingdings 2" panose="05020102010507070707" pitchFamily="18" charset="2"/>
            </a:pPr>
            <a:r>
              <a:rPr lang="en-US" dirty="0"/>
              <a:t>The assumption  that the attributes are independent of each other is often too strong because correlation may exist</a:t>
            </a:r>
            <a:endParaRPr lang="en-US" dirty="0"/>
          </a:p>
          <a:p>
            <a:pPr lvl="1" eaLnBrk="1" hangingPunct="1">
              <a:lnSpc>
                <a:spcPct val="80000"/>
              </a:lnSpc>
              <a:buClr>
                <a:schemeClr val="accent1"/>
              </a:buClr>
              <a:buSzPct val="80000"/>
              <a:buFont typeface="Wingdings 2" panose="05020102010507070707" pitchFamily="18" charset="2"/>
            </a:pPr>
            <a:r>
              <a:rPr lang="en-US" dirty="0"/>
              <a:t>Not suitable for clustering large database data – skewed tree and expensive probability distributions</a:t>
            </a:r>
            <a:endParaRPr lang="en-US" dirty="0"/>
          </a:p>
          <a:p>
            <a:pPr eaLnBrk="1" hangingPunct="1">
              <a:lnSpc>
                <a:spcPct val="80000"/>
              </a:lnSpc>
              <a:buClr>
                <a:schemeClr val="accent1"/>
              </a:buClr>
              <a:buSzPct val="70000"/>
              <a:buFont typeface="Wingdings" panose="05000000000000000000" pitchFamily="2" charset="2"/>
            </a:pPr>
            <a:r>
              <a:rPr lang="en-US" dirty="0"/>
              <a:t>CLASSIT</a:t>
            </a:r>
            <a:endParaRPr lang="en-US" dirty="0"/>
          </a:p>
          <a:p>
            <a:pPr lvl="1" eaLnBrk="1" hangingPunct="1">
              <a:lnSpc>
                <a:spcPct val="80000"/>
              </a:lnSpc>
              <a:buClr>
                <a:schemeClr val="accent1"/>
              </a:buClr>
              <a:buSzPct val="80000"/>
              <a:buFont typeface="Wingdings 2" panose="05020102010507070707" pitchFamily="18" charset="2"/>
            </a:pPr>
            <a:r>
              <a:rPr lang="en-US" dirty="0"/>
              <a:t>an extension of COBWEB for incremental clustering of continuous data</a:t>
            </a:r>
            <a:endParaRPr lang="en-US" dirty="0"/>
          </a:p>
          <a:p>
            <a:pPr lvl="1" eaLnBrk="1" hangingPunct="1">
              <a:lnSpc>
                <a:spcPct val="80000"/>
              </a:lnSpc>
              <a:buClr>
                <a:schemeClr val="accent1"/>
              </a:buClr>
              <a:buSzPct val="80000"/>
              <a:buFont typeface="Wingdings 2" panose="05020102010507070707" pitchFamily="18" charset="2"/>
            </a:pPr>
            <a:r>
              <a:rPr lang="en-US" dirty="0"/>
              <a:t>suffers similar problems as COBWEB </a:t>
            </a:r>
            <a:endParaRPr lang="en-US" dirty="0"/>
          </a:p>
          <a:p>
            <a:pPr eaLnBrk="1" hangingPunct="1">
              <a:lnSpc>
                <a:spcPct val="80000"/>
              </a:lnSpc>
              <a:buClr>
                <a:schemeClr val="accent1"/>
              </a:buClr>
              <a:buSzPct val="70000"/>
              <a:buFont typeface="Wingdings" panose="05000000000000000000" pitchFamily="2" charset="2"/>
            </a:pPr>
            <a:r>
              <a:rPr lang="en-US" dirty="0"/>
              <a:t>AutoClass (Cheeseman and Stutz, 1996)</a:t>
            </a:r>
            <a:endParaRPr lang="en-US" dirty="0"/>
          </a:p>
          <a:p>
            <a:pPr lvl="1" eaLnBrk="1" hangingPunct="1">
              <a:lnSpc>
                <a:spcPct val="80000"/>
              </a:lnSpc>
              <a:buClr>
                <a:schemeClr val="accent1"/>
              </a:buClr>
              <a:buSzPct val="80000"/>
              <a:buFont typeface="Wingdings 2" panose="05020102010507070707" pitchFamily="18" charset="2"/>
            </a:pPr>
            <a:r>
              <a:rPr lang="en-US" dirty="0"/>
              <a:t>Uses Bayesian statistical analysis to estimate the number of clusters</a:t>
            </a:r>
            <a:endParaRPr lang="en-US" dirty="0"/>
          </a:p>
          <a:p>
            <a:pPr lvl="1" eaLnBrk="1" hangingPunct="1">
              <a:lnSpc>
                <a:spcPct val="80000"/>
              </a:lnSpc>
              <a:buClr>
                <a:schemeClr val="accent1"/>
              </a:buClr>
              <a:buSzPct val="80000"/>
              <a:buFont typeface="Wingdings 2" panose="05020102010507070707" pitchFamily="18" charset="2"/>
            </a:pPr>
            <a:r>
              <a:rPr lang="en-US" dirty="0"/>
              <a:t>Popular in industry</a:t>
            </a:r>
            <a:endParaRPr lang="en-US" dirty="0"/>
          </a:p>
        </p:txBody>
      </p:sp>
      <p:sp>
        <p:nvSpPr>
          <p:cNvPr id="16589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589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5893"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wipe dir="d"/>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noChangeArrowheads="1"/>
          </p:cNvSpPr>
          <p:nvPr>
            <p:ph type="title"/>
          </p:nvPr>
        </p:nvSpPr>
        <p:spPr>
          <a:xfrm>
            <a:off x="1752600" y="228600"/>
            <a:ext cx="6477000" cy="10668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Other Model-Based Clustering Methods</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66914" name="Rectangle 3"/>
          <p:cNvSpPr>
            <a:spLocks noGrp="1"/>
          </p:cNvSpPr>
          <p:nvPr>
            <p:ph sz="quarter" idx="1"/>
          </p:nvPr>
        </p:nvSpPr>
        <p:spPr>
          <a:xfrm>
            <a:off x="685800" y="1752600"/>
            <a:ext cx="8077200" cy="47244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Neural network approaches</a:t>
            </a:r>
            <a:endParaRPr lang="en-US" dirty="0"/>
          </a:p>
          <a:p>
            <a:pPr lvl="1" eaLnBrk="1" hangingPunct="1">
              <a:buClr>
                <a:schemeClr val="accent1"/>
              </a:buClr>
              <a:buSzPct val="80000"/>
              <a:buFont typeface="Wingdings 2" panose="05020102010507070707" pitchFamily="18" charset="2"/>
            </a:pPr>
            <a:r>
              <a:rPr lang="en-US" dirty="0"/>
              <a:t>Represent each cluster as an exemplar, acting as a “prototype” of the cluster</a:t>
            </a:r>
            <a:endParaRPr lang="en-US" dirty="0"/>
          </a:p>
          <a:p>
            <a:pPr lvl="1" eaLnBrk="1" hangingPunct="1">
              <a:buClr>
                <a:schemeClr val="accent1"/>
              </a:buClr>
              <a:buSzPct val="80000"/>
              <a:buFont typeface="Wingdings 2" panose="05020102010507070707" pitchFamily="18" charset="2"/>
            </a:pPr>
            <a:r>
              <a:rPr lang="en-US" dirty="0"/>
              <a:t>New objects are distributed to the cluster whose exemplar is the most similar according to some dostance measure</a:t>
            </a:r>
            <a:endParaRPr lang="en-US" dirty="0"/>
          </a:p>
          <a:p>
            <a:pPr eaLnBrk="1" hangingPunct="1">
              <a:buClr>
                <a:schemeClr val="accent1"/>
              </a:buClr>
              <a:buSzPct val="70000"/>
              <a:buFont typeface="Wingdings" panose="05000000000000000000" pitchFamily="2" charset="2"/>
            </a:pPr>
            <a:r>
              <a:rPr lang="en-US" dirty="0"/>
              <a:t>Competitive learning</a:t>
            </a:r>
            <a:endParaRPr lang="en-US" dirty="0"/>
          </a:p>
          <a:p>
            <a:pPr lvl="1" eaLnBrk="1" hangingPunct="1">
              <a:buClr>
                <a:schemeClr val="accent1"/>
              </a:buClr>
              <a:buSzPct val="80000"/>
              <a:buFont typeface="Wingdings 2" panose="05020102010507070707" pitchFamily="18" charset="2"/>
            </a:pPr>
            <a:r>
              <a:rPr lang="en-US" dirty="0"/>
              <a:t>Involves a hierarchical architecture of several units (neurons)</a:t>
            </a:r>
            <a:endParaRPr lang="en-US" dirty="0"/>
          </a:p>
          <a:p>
            <a:pPr lvl="1" eaLnBrk="1" hangingPunct="1">
              <a:buClr>
                <a:schemeClr val="accent1"/>
              </a:buClr>
              <a:buSzPct val="80000"/>
              <a:buFont typeface="Wingdings 2" panose="05020102010507070707" pitchFamily="18" charset="2"/>
            </a:pPr>
            <a:r>
              <a:rPr lang="en-US" dirty="0"/>
              <a:t>Neurons compete in  a “winner-takes-all” fashion for the object currently being presented</a:t>
            </a:r>
            <a:endParaRPr lang="en-US" dirty="0"/>
          </a:p>
        </p:txBody>
      </p:sp>
      <p:sp>
        <p:nvSpPr>
          <p:cNvPr id="16691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691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691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ChangeArrowheads="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Model-Based Clustering Methods</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pic>
        <p:nvPicPr>
          <p:cNvPr id="167938" name="Picture 3"/>
          <p:cNvPicPr>
            <a:picLocks noGrp="1" noChangeAspect="1"/>
          </p:cNvPicPr>
          <p:nvPr>
            <p:ph sz="quarter" idx="1"/>
          </p:nvPr>
        </p:nvPicPr>
        <p:blipFill>
          <a:blip r:embed="rId1"/>
          <a:stretch>
            <a:fillRect/>
          </a:stretch>
        </p:blipFill>
        <p:spPr>
          <a:xfrm>
            <a:off x="381000" y="1600200"/>
            <a:ext cx="8382000" cy="4953000"/>
          </a:xfrm>
          <a:ln/>
        </p:spPr>
      </p:pic>
      <p:sp>
        <p:nvSpPr>
          <p:cNvPr id="16793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794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794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noChangeArrowheads="1"/>
          </p:cNvSpPr>
          <p:nvPr>
            <p:ph type="title"/>
          </p:nvPr>
        </p:nvSpPr>
        <p:spPr>
          <a:xfrm>
            <a:off x="1066800" y="457200"/>
            <a:ext cx="7793038" cy="6096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Self-organizing feature maps (SOMs)</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68962" name="Rectangle 3"/>
          <p:cNvSpPr>
            <a:spLocks noGrp="1"/>
          </p:cNvSpPr>
          <p:nvPr>
            <p:ph sz="quarter" idx="1"/>
          </p:nvPr>
        </p:nvSpPr>
        <p:spPr>
          <a:xfrm>
            <a:off x="685800" y="1828800"/>
            <a:ext cx="8077200" cy="4495800"/>
          </a:xfrm>
          <a:ln/>
        </p:spPr>
        <p:txBody>
          <a:bodyPr vert="horz" wrap="square" lIns="91440" tIns="45720" rIns="91440" bIns="45720" anchor="t" anchorCtr="0"/>
          <a:p>
            <a:pPr eaLnBrk="1" hangingPunct="1">
              <a:lnSpc>
                <a:spcPct val="90000"/>
              </a:lnSpc>
              <a:buClr>
                <a:schemeClr val="accent1"/>
              </a:buClr>
              <a:buSzPct val="70000"/>
              <a:buFont typeface="Wingdings" panose="05000000000000000000" pitchFamily="2" charset="2"/>
            </a:pPr>
            <a:r>
              <a:rPr lang="en-US" dirty="0"/>
              <a:t>Clustering is also performed by having several units competing for the current object</a:t>
            </a:r>
            <a:endParaRPr lang="en-US" dirty="0"/>
          </a:p>
          <a:p>
            <a:pPr eaLnBrk="1" hangingPunct="1">
              <a:lnSpc>
                <a:spcPct val="90000"/>
              </a:lnSpc>
              <a:buClr>
                <a:schemeClr val="accent1"/>
              </a:buClr>
              <a:buSzPct val="70000"/>
              <a:buFont typeface="Wingdings" panose="05000000000000000000" pitchFamily="2" charset="2"/>
            </a:pPr>
            <a:r>
              <a:rPr lang="en-US" dirty="0"/>
              <a:t>The unit whose weight vector is closest to the current object wins</a:t>
            </a:r>
            <a:endParaRPr lang="en-US" dirty="0"/>
          </a:p>
          <a:p>
            <a:pPr eaLnBrk="1" hangingPunct="1">
              <a:lnSpc>
                <a:spcPct val="90000"/>
              </a:lnSpc>
              <a:buClr>
                <a:schemeClr val="accent1"/>
              </a:buClr>
              <a:buSzPct val="70000"/>
              <a:buFont typeface="Wingdings" panose="05000000000000000000" pitchFamily="2" charset="2"/>
            </a:pPr>
            <a:r>
              <a:rPr lang="en-US" dirty="0"/>
              <a:t>The winner and its neighbors learn by having their weights adjusted</a:t>
            </a:r>
            <a:endParaRPr lang="en-US" dirty="0"/>
          </a:p>
          <a:p>
            <a:pPr eaLnBrk="1" hangingPunct="1">
              <a:lnSpc>
                <a:spcPct val="90000"/>
              </a:lnSpc>
              <a:buClr>
                <a:schemeClr val="accent1"/>
              </a:buClr>
              <a:buSzPct val="70000"/>
              <a:buFont typeface="Wingdings" panose="05000000000000000000" pitchFamily="2" charset="2"/>
            </a:pPr>
            <a:r>
              <a:rPr lang="en-US" dirty="0"/>
              <a:t>SOMs are believed to resemble processing that can occur in the brain</a:t>
            </a:r>
            <a:endParaRPr lang="en-US" dirty="0"/>
          </a:p>
          <a:p>
            <a:pPr eaLnBrk="1" hangingPunct="1">
              <a:lnSpc>
                <a:spcPct val="90000"/>
              </a:lnSpc>
              <a:buClr>
                <a:schemeClr val="accent1"/>
              </a:buClr>
              <a:buSzPct val="70000"/>
              <a:buFont typeface="Wingdings" panose="05000000000000000000" pitchFamily="2" charset="2"/>
            </a:pPr>
            <a:r>
              <a:rPr lang="en-US" dirty="0"/>
              <a:t>Useful for visualizing high-dimensional data in 2- or 3-D space</a:t>
            </a:r>
            <a:endParaRPr lang="en-US" dirty="0"/>
          </a:p>
        </p:txBody>
      </p:sp>
      <p:sp>
        <p:nvSpPr>
          <p:cNvPr id="16896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896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896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a:xfrm>
            <a:off x="1600200" y="3048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Chapter 8. </a:t>
            </a: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96259"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16998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6998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6998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noChangeArrowheads="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What Is Outlier Discovery?</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71010" name="Rectangle 3"/>
          <p:cNvSpPr>
            <a:spLocks noGrp="1"/>
          </p:cNvSpPr>
          <p:nvPr>
            <p:ph sz="quarter" idx="1"/>
          </p:nvPr>
        </p:nvSpPr>
        <p:spPr>
          <a:xfrm>
            <a:off x="685800" y="1752600"/>
            <a:ext cx="8077200" cy="4724400"/>
          </a:xfrm>
          <a:ln/>
        </p:spPr>
        <p:txBody>
          <a:bodyPr vert="horz" wrap="square" lIns="91440" tIns="45720" rIns="91440" bIns="45720" anchor="t" anchorCtr="0"/>
          <a:p>
            <a:pPr eaLnBrk="1" hangingPunct="1">
              <a:lnSpc>
                <a:spcPct val="90000"/>
              </a:lnSpc>
              <a:buClr>
                <a:schemeClr val="accent1"/>
              </a:buClr>
              <a:buSzPct val="70000"/>
              <a:buFont typeface="Wingdings" panose="05000000000000000000" pitchFamily="2" charset="2"/>
            </a:pPr>
            <a:r>
              <a:rPr lang="en-US" dirty="0"/>
              <a:t>What are outliers?</a:t>
            </a:r>
            <a:endParaRPr lang="en-US" dirty="0"/>
          </a:p>
          <a:p>
            <a:pPr lvl="1" eaLnBrk="1" hangingPunct="1">
              <a:lnSpc>
                <a:spcPct val="90000"/>
              </a:lnSpc>
              <a:buClr>
                <a:schemeClr val="accent1"/>
              </a:buClr>
              <a:buSzPct val="80000"/>
              <a:buFont typeface="Wingdings 2" panose="05020102010507070707" pitchFamily="18" charset="2"/>
            </a:pPr>
            <a:r>
              <a:rPr lang="en-US" dirty="0"/>
              <a:t>The set of objects are considerably dissimilar from the remainder of the data</a:t>
            </a:r>
            <a:endParaRPr lang="en-US" dirty="0"/>
          </a:p>
          <a:p>
            <a:pPr lvl="1" eaLnBrk="1" hangingPunct="1">
              <a:lnSpc>
                <a:spcPct val="90000"/>
              </a:lnSpc>
              <a:buClr>
                <a:schemeClr val="accent1"/>
              </a:buClr>
              <a:buSzPct val="80000"/>
              <a:buFont typeface="Wingdings 2" panose="05020102010507070707" pitchFamily="18" charset="2"/>
            </a:pPr>
            <a:r>
              <a:rPr lang="en-US" dirty="0"/>
              <a:t>Example:  Sports: Michael Jordon, Wayne Gretzky, ...</a:t>
            </a:r>
            <a:endParaRPr lang="en-US" dirty="0"/>
          </a:p>
          <a:p>
            <a:pPr eaLnBrk="1" hangingPunct="1">
              <a:lnSpc>
                <a:spcPct val="90000"/>
              </a:lnSpc>
              <a:buClr>
                <a:schemeClr val="accent1"/>
              </a:buClr>
              <a:buSzPct val="70000"/>
              <a:buFont typeface="Wingdings" panose="05000000000000000000" pitchFamily="2" charset="2"/>
            </a:pPr>
            <a:r>
              <a:rPr lang="en-US" dirty="0"/>
              <a:t>Problem</a:t>
            </a:r>
            <a:endParaRPr lang="en-US" dirty="0"/>
          </a:p>
          <a:p>
            <a:pPr lvl="1" eaLnBrk="1" hangingPunct="1">
              <a:lnSpc>
                <a:spcPct val="90000"/>
              </a:lnSpc>
              <a:buClr>
                <a:schemeClr val="accent1"/>
              </a:buClr>
              <a:buSzPct val="80000"/>
              <a:buFont typeface="Wingdings 2" panose="05020102010507070707" pitchFamily="18" charset="2"/>
            </a:pPr>
            <a:r>
              <a:rPr lang="en-US" dirty="0"/>
              <a:t>Find top n outlier points </a:t>
            </a:r>
            <a:endParaRPr lang="en-US" dirty="0"/>
          </a:p>
          <a:p>
            <a:pPr eaLnBrk="1" hangingPunct="1">
              <a:lnSpc>
                <a:spcPct val="90000"/>
              </a:lnSpc>
              <a:buClr>
                <a:schemeClr val="accent1"/>
              </a:buClr>
              <a:buSzPct val="70000"/>
              <a:buFont typeface="Wingdings" panose="05000000000000000000" pitchFamily="2" charset="2"/>
            </a:pPr>
            <a:r>
              <a:rPr lang="en-US" dirty="0"/>
              <a:t>Applications:</a:t>
            </a:r>
            <a:endParaRPr lang="en-US" dirty="0"/>
          </a:p>
          <a:p>
            <a:pPr lvl="1" eaLnBrk="1" hangingPunct="1">
              <a:lnSpc>
                <a:spcPct val="90000"/>
              </a:lnSpc>
              <a:buClr>
                <a:schemeClr val="accent1"/>
              </a:buClr>
              <a:buSzPct val="80000"/>
              <a:buFont typeface="Wingdings 2" panose="05020102010507070707" pitchFamily="18" charset="2"/>
            </a:pPr>
            <a:r>
              <a:rPr lang="en-US" dirty="0"/>
              <a:t>Credit card fraud detection</a:t>
            </a:r>
            <a:endParaRPr lang="en-US" dirty="0"/>
          </a:p>
          <a:p>
            <a:pPr lvl="1" eaLnBrk="1" hangingPunct="1">
              <a:lnSpc>
                <a:spcPct val="90000"/>
              </a:lnSpc>
              <a:buClr>
                <a:schemeClr val="accent1"/>
              </a:buClr>
              <a:buSzPct val="80000"/>
              <a:buFont typeface="Wingdings 2" panose="05020102010507070707" pitchFamily="18" charset="2"/>
            </a:pPr>
            <a:r>
              <a:rPr lang="en-US" dirty="0"/>
              <a:t>Telecom fraud detection</a:t>
            </a:r>
            <a:endParaRPr lang="en-US" dirty="0"/>
          </a:p>
          <a:p>
            <a:pPr lvl="1" eaLnBrk="1" hangingPunct="1">
              <a:lnSpc>
                <a:spcPct val="90000"/>
              </a:lnSpc>
              <a:buClr>
                <a:schemeClr val="accent1"/>
              </a:buClr>
              <a:buSzPct val="80000"/>
              <a:buFont typeface="Wingdings 2" panose="05020102010507070707" pitchFamily="18" charset="2"/>
            </a:pPr>
            <a:r>
              <a:rPr lang="en-US" dirty="0"/>
              <a:t>Customer segmentation</a:t>
            </a:r>
            <a:endParaRPr lang="en-US" dirty="0"/>
          </a:p>
          <a:p>
            <a:pPr lvl="1" eaLnBrk="1" hangingPunct="1">
              <a:lnSpc>
                <a:spcPct val="90000"/>
              </a:lnSpc>
              <a:buClr>
                <a:schemeClr val="accent1"/>
              </a:buClr>
              <a:buSzPct val="80000"/>
              <a:buFont typeface="Wingdings 2" panose="05020102010507070707" pitchFamily="18" charset="2"/>
            </a:pPr>
            <a:r>
              <a:rPr lang="en-US" dirty="0"/>
              <a:t>Medical analysis</a:t>
            </a:r>
            <a:endParaRPr lang="en-US" dirty="0"/>
          </a:p>
        </p:txBody>
      </p:sp>
      <p:sp>
        <p:nvSpPr>
          <p:cNvPr id="17101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101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1013"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noChangeArrowheads="1"/>
          </p:cNvSpPr>
          <p:nvPr>
            <p:ph type="title"/>
          </p:nvPr>
        </p:nvSpPr>
        <p:spPr>
          <a:xfrm>
            <a:off x="533400" y="228600"/>
            <a:ext cx="4648200" cy="114300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Outlier Discovery: Statistical Approaches</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72034" name="Rectangle 3"/>
          <p:cNvSpPr>
            <a:spLocks noGrp="1"/>
          </p:cNvSpPr>
          <p:nvPr>
            <p:ph sz="quarter" idx="1"/>
          </p:nvPr>
        </p:nvSpPr>
        <p:spPr>
          <a:xfrm>
            <a:off x="609600" y="2590800"/>
            <a:ext cx="8077200" cy="3810000"/>
          </a:xfrm>
          <a:ln/>
        </p:spPr>
        <p:txBody>
          <a:bodyPr vert="horz" wrap="square" lIns="91440" tIns="45720" rIns="91440" bIns="45720" anchor="t" anchorCtr="0"/>
          <a:p>
            <a:pPr eaLnBrk="1" hangingPunct="1">
              <a:buClr>
                <a:schemeClr val="accent1"/>
              </a:buClr>
              <a:buSzPct val="70000"/>
              <a:buFont typeface="Monotype Sorts" pitchFamily="2" charset="2"/>
              <a:buChar char="f"/>
            </a:pPr>
            <a:r>
              <a:rPr lang="en-US" dirty="0">
                <a:solidFill>
                  <a:srgbClr val="170981"/>
                </a:solidFill>
              </a:rPr>
              <a:t>Assume a model underlying distribution that generates data set (e.g. normal distribution) </a:t>
            </a:r>
            <a:endParaRPr lang="en-US" dirty="0">
              <a:solidFill>
                <a:srgbClr val="170981"/>
              </a:solidFill>
            </a:endParaRPr>
          </a:p>
          <a:p>
            <a:pPr eaLnBrk="1" hangingPunct="1">
              <a:buClr>
                <a:schemeClr val="accent1"/>
              </a:buClr>
              <a:buSzPct val="70000"/>
              <a:buFont typeface="Wingdings" panose="05000000000000000000" pitchFamily="2" charset="2"/>
            </a:pPr>
            <a:r>
              <a:rPr lang="en-US" dirty="0"/>
              <a:t>Use discordancy tests depending on </a:t>
            </a:r>
            <a:endParaRPr lang="en-US" dirty="0"/>
          </a:p>
          <a:p>
            <a:pPr lvl="1" eaLnBrk="1" hangingPunct="1">
              <a:buClr>
                <a:schemeClr val="accent1"/>
              </a:buClr>
              <a:buSzPct val="80000"/>
              <a:buFont typeface="Wingdings 2" panose="05020102010507070707" pitchFamily="18" charset="2"/>
            </a:pPr>
            <a:r>
              <a:rPr lang="en-US" dirty="0"/>
              <a:t>data distribution</a:t>
            </a:r>
            <a:endParaRPr lang="en-US" dirty="0"/>
          </a:p>
          <a:p>
            <a:pPr lvl="1" eaLnBrk="1" hangingPunct="1">
              <a:buClr>
                <a:schemeClr val="accent1"/>
              </a:buClr>
              <a:buSzPct val="80000"/>
              <a:buFont typeface="Wingdings 2" panose="05020102010507070707" pitchFamily="18" charset="2"/>
            </a:pPr>
            <a:r>
              <a:rPr lang="en-US" dirty="0"/>
              <a:t>distribution parameter (e.g., mean, variance)</a:t>
            </a:r>
            <a:endParaRPr lang="en-US" dirty="0"/>
          </a:p>
          <a:p>
            <a:pPr lvl="1" eaLnBrk="1" hangingPunct="1">
              <a:buClr>
                <a:schemeClr val="accent1"/>
              </a:buClr>
              <a:buSzPct val="80000"/>
              <a:buFont typeface="Wingdings 2" panose="05020102010507070707" pitchFamily="18" charset="2"/>
            </a:pPr>
            <a:r>
              <a:rPr lang="en-US" dirty="0"/>
              <a:t>number of expected outliers</a:t>
            </a:r>
            <a:endParaRPr lang="en-US" dirty="0"/>
          </a:p>
          <a:p>
            <a:pPr eaLnBrk="1" hangingPunct="1">
              <a:buClr>
                <a:schemeClr val="accent1"/>
              </a:buClr>
              <a:buSzPct val="70000"/>
              <a:buFont typeface="Wingdings" panose="05000000000000000000" pitchFamily="2" charset="2"/>
            </a:pPr>
            <a:r>
              <a:rPr lang="en-US" dirty="0"/>
              <a:t>Drawbacks</a:t>
            </a:r>
            <a:endParaRPr lang="en-US" dirty="0"/>
          </a:p>
          <a:p>
            <a:pPr lvl="1" eaLnBrk="1" hangingPunct="1">
              <a:buClr>
                <a:schemeClr val="accent1"/>
              </a:buClr>
              <a:buSzPct val="80000"/>
              <a:buFont typeface="Wingdings 2" panose="05020102010507070707" pitchFamily="18" charset="2"/>
            </a:pPr>
            <a:r>
              <a:rPr lang="en-US" dirty="0"/>
              <a:t>most tests are for single attribute</a:t>
            </a:r>
            <a:endParaRPr lang="en-US" dirty="0"/>
          </a:p>
          <a:p>
            <a:pPr lvl="1" eaLnBrk="1" hangingPunct="1">
              <a:buClr>
                <a:schemeClr val="accent1"/>
              </a:buClr>
              <a:buSzPct val="80000"/>
              <a:buFont typeface="Wingdings 2" panose="05020102010507070707" pitchFamily="18" charset="2"/>
            </a:pPr>
            <a:r>
              <a:rPr lang="en-US" dirty="0"/>
              <a:t>In many cases, data distribution may not be known</a:t>
            </a:r>
            <a:endParaRPr lang="en-US" dirty="0"/>
          </a:p>
        </p:txBody>
      </p:sp>
      <p:sp>
        <p:nvSpPr>
          <p:cNvPr id="17203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203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203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pic>
        <p:nvPicPr>
          <p:cNvPr id="172038" name="Picture 4"/>
          <p:cNvPicPr/>
          <p:nvPr/>
        </p:nvPicPr>
        <p:blipFill>
          <a:blip r:embed="rId1"/>
          <a:stretch>
            <a:fillRect/>
          </a:stretch>
        </p:blipFill>
        <p:spPr>
          <a:xfrm>
            <a:off x="4572000" y="0"/>
            <a:ext cx="4572000" cy="2590800"/>
          </a:xfrm>
          <a:prstGeom prst="rect">
            <a:avLst/>
          </a:prstGeom>
          <a:noFill/>
          <a:ln w="9525">
            <a:noFill/>
          </a:ln>
        </p:spPr>
      </p:pic>
    </p:spTree>
  </p:cSld>
  <p:clrMapOvr>
    <a:masterClrMapping/>
  </p:clrMapOvr>
  <p:transition>
    <p:strips dir="rd"/>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noChangeArrowheads="1"/>
          </p:cNvSpPr>
          <p:nvPr>
            <p:ph type="title"/>
          </p:nvPr>
        </p:nvSpPr>
        <p:spPr>
          <a:xfrm>
            <a:off x="1600200" y="228600"/>
            <a:ext cx="6858000" cy="99060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Outlier Discovery: Distance-Based Approach</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73058" name="Rectangle 3"/>
          <p:cNvSpPr>
            <a:spLocks noGrp="1"/>
          </p:cNvSpPr>
          <p:nvPr>
            <p:ph sz="quarter" idx="1"/>
          </p:nvPr>
        </p:nvSpPr>
        <p:spPr>
          <a:xfrm>
            <a:off x="533400" y="1828800"/>
            <a:ext cx="8229600" cy="4648200"/>
          </a:xfrm>
          <a:ln/>
        </p:spPr>
        <p:txBody>
          <a:bodyPr vert="horz" wrap="square" lIns="91440" tIns="45720" rIns="91440" bIns="45720" anchor="t" anchorCtr="0"/>
          <a:p>
            <a:pPr eaLnBrk="1" hangingPunct="1">
              <a:buClr>
                <a:schemeClr val="accent1"/>
              </a:buClr>
              <a:buSzPct val="70000"/>
              <a:buFont typeface="Wingdings" panose="05000000000000000000" pitchFamily="2" charset="2"/>
            </a:pPr>
            <a:r>
              <a:rPr lang="en-US" dirty="0"/>
              <a:t>Introduced to counter the main limitations imposed by statistical methods</a:t>
            </a:r>
            <a:endParaRPr lang="en-US" dirty="0"/>
          </a:p>
          <a:p>
            <a:pPr lvl="1" eaLnBrk="1" hangingPunct="1">
              <a:buClr>
                <a:schemeClr val="accent1"/>
              </a:buClr>
              <a:buSzPct val="80000"/>
              <a:buFont typeface="Wingdings 2" panose="05020102010507070707" pitchFamily="18" charset="2"/>
            </a:pPr>
            <a:r>
              <a:rPr lang="en-US" dirty="0"/>
              <a:t>We need multi-dimensional analysis without knowing data distribution.</a:t>
            </a:r>
            <a:endParaRPr lang="en-US" dirty="0"/>
          </a:p>
          <a:p>
            <a:pPr eaLnBrk="1" hangingPunct="1">
              <a:buClr>
                <a:schemeClr val="accent1"/>
              </a:buClr>
              <a:buSzPct val="70000"/>
              <a:buFont typeface="Wingdings" panose="05000000000000000000" pitchFamily="2" charset="2"/>
            </a:pPr>
            <a:r>
              <a:rPr lang="en-US" dirty="0"/>
              <a:t>Distance-based outlier: A DB(p, D)-outlier is an object O in a dataset T such that at least a fraction p of the objects in T lies at a distance greater than D from O</a:t>
            </a:r>
            <a:endParaRPr lang="en-US" dirty="0"/>
          </a:p>
          <a:p>
            <a:pPr eaLnBrk="1" hangingPunct="1">
              <a:buClr>
                <a:schemeClr val="accent1"/>
              </a:buClr>
              <a:buSzPct val="70000"/>
              <a:buFont typeface="Wingdings" panose="05000000000000000000" pitchFamily="2" charset="2"/>
            </a:pPr>
            <a:r>
              <a:rPr lang="en-US" dirty="0"/>
              <a:t>Algorithms for mining distance-based outliers  </a:t>
            </a:r>
            <a:endParaRPr lang="en-US" dirty="0"/>
          </a:p>
          <a:p>
            <a:pPr lvl="1" eaLnBrk="1" hangingPunct="1">
              <a:buClr>
                <a:schemeClr val="accent1"/>
              </a:buClr>
              <a:buSzPct val="80000"/>
              <a:buFont typeface="Wingdings 2" panose="05020102010507070707" pitchFamily="18" charset="2"/>
            </a:pPr>
            <a:r>
              <a:rPr lang="en-US" dirty="0"/>
              <a:t>Index-based algorithm</a:t>
            </a:r>
            <a:endParaRPr lang="en-US" dirty="0"/>
          </a:p>
          <a:p>
            <a:pPr lvl="1" eaLnBrk="1" hangingPunct="1">
              <a:buClr>
                <a:schemeClr val="accent1"/>
              </a:buClr>
              <a:buSzPct val="80000"/>
              <a:buFont typeface="Wingdings 2" panose="05020102010507070707" pitchFamily="18" charset="2"/>
            </a:pPr>
            <a:r>
              <a:rPr lang="en-US" dirty="0"/>
              <a:t>Nested-loop algorithm </a:t>
            </a:r>
            <a:endParaRPr lang="en-US" dirty="0"/>
          </a:p>
          <a:p>
            <a:pPr lvl="1" eaLnBrk="1" hangingPunct="1">
              <a:buClr>
                <a:schemeClr val="accent1"/>
              </a:buClr>
              <a:buSzPct val="80000"/>
              <a:buFont typeface="Wingdings 2" panose="05020102010507070707" pitchFamily="18" charset="2"/>
            </a:pPr>
            <a:r>
              <a:rPr lang="en-US" dirty="0"/>
              <a:t>Cell-based algorithm</a:t>
            </a:r>
            <a:endParaRPr lang="en-US" dirty="0"/>
          </a:p>
        </p:txBody>
      </p:sp>
    </p:spTree>
  </p:cSld>
  <p:clrMapOvr>
    <a:masterClrMapping/>
  </p:clrMapOvr>
  <p:transition>
    <p:wipe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noChangeArrowheads="1"/>
          </p:cNvSpPr>
          <p:nvPr>
            <p:ph type="title"/>
          </p:nvPr>
        </p:nvSpPr>
        <p:spPr>
          <a:xfrm>
            <a:off x="1447800" y="228600"/>
            <a:ext cx="7010400" cy="10668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Outlier Discovery: Deviation-Based Approach</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00355" name="Rectangle 3"/>
          <p:cNvSpPr>
            <a:spLocks noGrp="1" noChangeArrowheads="1"/>
          </p:cNvSpPr>
          <p:nvPr>
            <p:ph sz="quarter" idx="1"/>
          </p:nvPr>
        </p:nvSpPr>
        <p:spPr>
          <a:xfrm>
            <a:off x="457200" y="1676400"/>
            <a:ext cx="8077200" cy="4495800"/>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5000"/>
              </a:lnSpc>
              <a:spcBef>
                <a:spcPct val="250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Identifies outliers by examining the main characteristics of objects in a group</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5000"/>
              </a:lnSpc>
              <a:spcBef>
                <a:spcPct val="250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Objects that “deviate” from this description are considered outliers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5000"/>
              </a:lnSpc>
              <a:spcBef>
                <a:spcPct val="250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sequential exception technique </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5000"/>
              </a:lnSpc>
              <a:spcBef>
                <a:spcPct val="25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smtClean="0">
                <a:ln>
                  <a:noFill/>
                </a:ln>
                <a:solidFill>
                  <a:schemeClr val="tx1"/>
                </a:solidFill>
                <a:effectLst/>
                <a:uLnTx/>
                <a:uFillTx/>
                <a:latin typeface="+mn-lt"/>
                <a:ea typeface="+mn-ea"/>
                <a:cs typeface="+mn-cs"/>
              </a:rPr>
              <a:t>simulates the way in which humans can distinguish unusual objects from among a series of supposedly like objects</a:t>
            </a:r>
            <a:endParaRPr kumimoji="0" lang="en-US" sz="21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5000"/>
              </a:lnSpc>
              <a:spcBef>
                <a:spcPct val="250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OLAP data cube technique</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5000"/>
              </a:lnSpc>
              <a:spcBef>
                <a:spcPct val="25000"/>
              </a:spcBef>
              <a:spcAft>
                <a:spcPts val="0"/>
              </a:spcAft>
              <a:buClr>
                <a:schemeClr val="accent1"/>
              </a:buClr>
              <a:buSzPct val="80000"/>
              <a:buFont typeface="Wingdings 2" panose="05020102010507070707"/>
              <a:buChar char=""/>
              <a:defRPr/>
            </a:pPr>
            <a:r>
              <a:rPr kumimoji="0" lang="en-US" sz="2100" b="0" i="0" u="none" strike="noStrike" kern="1200" cap="none" spc="0" normalizeH="0" baseline="0" noProof="0" smtClean="0">
                <a:ln>
                  <a:noFill/>
                </a:ln>
                <a:solidFill>
                  <a:schemeClr val="tx1"/>
                </a:solidFill>
                <a:effectLst/>
                <a:uLnTx/>
                <a:uFillTx/>
                <a:latin typeface="+mn-lt"/>
                <a:ea typeface="+mn-ea"/>
                <a:cs typeface="+mn-cs"/>
              </a:rPr>
              <a:t>uses data cubes to identify regions of anomalies in large multidimensional data</a:t>
            </a:r>
            <a:endParaRPr kumimoji="0" lang="en-US" sz="2100" b="0" i="0" u="none" strike="noStrike" kern="1200" cap="none" spc="0" normalizeH="0" baseline="0" noProof="0" smtClean="0">
              <a:ln>
                <a:noFill/>
              </a:ln>
              <a:solidFill>
                <a:schemeClr val="tx1"/>
              </a:solidFill>
              <a:effectLst/>
              <a:uLnTx/>
              <a:uFillTx/>
              <a:latin typeface="+mn-lt"/>
              <a:ea typeface="+mn-ea"/>
              <a:cs typeface="+mn-cs"/>
            </a:endParaRPr>
          </a:p>
        </p:txBody>
      </p:sp>
      <p:sp>
        <p:nvSpPr>
          <p:cNvPr id="17408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408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408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p:cNvSpPr>
          <p:nvPr>
            <p:ph type="title"/>
          </p:nvPr>
        </p:nvSpPr>
        <p:spPr>
          <a:xfrm>
            <a:off x="1600200" y="304800"/>
            <a:ext cx="6781800" cy="990600"/>
          </a:xfrm>
          <a:noFill/>
          <a:ln>
            <a:noFill/>
          </a:ln>
        </p:spPr>
        <p:txBody>
          <a:bodyPr vert="horz" wrap="square" lIns="92075" tIns="46038" rIns="92075" bIns="46038" anchor="ctr" anchorCtr="0"/>
          <a:p>
            <a:pPr marL="0" marR="0" indent="0" algn="l" defTabSz="914400" rtl="0" eaLnBrk="1" fontAlgn="base" latinLnBrk="0" hangingPunct="1">
              <a:lnSpc>
                <a:spcPct val="100000"/>
              </a:lnSpc>
              <a:spcBef>
                <a:spcPct val="0"/>
              </a:spcBef>
              <a:spcAft>
                <a:spcPct val="0"/>
              </a:spcAft>
              <a:buClrTx/>
              <a:buSzTx/>
              <a:buFontTx/>
              <a:buNone/>
            </a:pPr>
            <a:r>
              <a:rPr kumimoji="0" lang="en-US" altLang="zh-CN" sz="3000" b="0" i="0" u="none" strike="noStrike" kern="1200" cap="small" spc="0" normalizeH="0" baseline="0" noProof="1" dirty="0">
                <a:solidFill>
                  <a:schemeClr val="tx2"/>
                </a:solidFill>
                <a:latin typeface="+mj-lt"/>
                <a:ea typeface="SimSun" panose="02010600030101010101" pitchFamily="2" charset="-122"/>
                <a:cs typeface="+mj-cs"/>
              </a:rPr>
              <a:t>Chapter 8. </a:t>
            </a:r>
            <a:r>
              <a:rPr kumimoji="0" lang="en-AU" altLang="zh-TW" sz="3000" b="0" i="0" u="none" strike="noStrike" kern="1200" cap="small" spc="0" normalizeH="0" baseline="0" noProof="1" dirty="0">
                <a:solidFill>
                  <a:schemeClr val="tx2"/>
                </a:solidFill>
                <a:latin typeface="+mj-lt"/>
                <a:ea typeface="PMingLiU" pitchFamily="18" charset="-120"/>
                <a:cs typeface="+mj-cs"/>
              </a:rPr>
              <a:t>Cluster Analysis</a:t>
            </a:r>
            <a:endParaRPr kumimoji="0" lang="en-US" altLang="zh-CN" sz="3000" b="0" i="0" u="none" strike="noStrike" kern="1200" cap="small" spc="0" normalizeH="0" baseline="0" noProof="1" dirty="0">
              <a:solidFill>
                <a:schemeClr val="tx2"/>
              </a:solidFill>
              <a:latin typeface="+mj-lt"/>
              <a:ea typeface="PMingLiU" pitchFamily="18" charset="-120"/>
              <a:cs typeface="+mj-cs"/>
            </a:endParaRPr>
          </a:p>
        </p:txBody>
      </p:sp>
      <p:sp>
        <p:nvSpPr>
          <p:cNvPr id="101379" name="Rectangle 3"/>
          <p:cNvSpPr>
            <a:spLocks noGrp="1" noChangeArrowheads="1"/>
          </p:cNvSpPr>
          <p:nvPr>
            <p:ph sz="quarter" idx="1"/>
          </p:nvPr>
        </p:nvSpPr>
        <p:spPr>
          <a:xfrm>
            <a:off x="685800" y="1676400"/>
            <a:ext cx="7924800" cy="46482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What is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Types of Data in Cluster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A Categorization of Major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Partitioning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Hierarchical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Density-Based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Grid-Based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Model-Based Clustering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Outlier Analysis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Summary </a:t>
            </a:r>
            <a:endParaRPr kumimoji="0" lang="en-US" sz="2400" b="0" i="0" u="none" strike="noStrike" kern="1200" cap="none" spc="0" normalizeH="0" baseline="0" noProof="0" smtClean="0">
              <a:ln>
                <a:noFill/>
              </a:ln>
              <a:solidFill>
                <a:schemeClr val="hlink"/>
              </a:solidFill>
              <a:effectLst/>
              <a:uLnTx/>
              <a:uFillTx/>
              <a:latin typeface="+mn-lt"/>
              <a:ea typeface="+mn-ea"/>
              <a:cs typeface="+mn-cs"/>
            </a:endParaRPr>
          </a:p>
        </p:txBody>
      </p:sp>
      <p:sp>
        <p:nvSpPr>
          <p:cNvPr id="17510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510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510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noChangeArrowheads="1"/>
          </p:cNvSpPr>
          <p:nvPr>
            <p:ph type="title"/>
          </p:nvPr>
        </p:nvSpPr>
        <p:spPr>
          <a:xfrm>
            <a:off x="1284288" y="741363"/>
            <a:ext cx="7156450" cy="498475"/>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Problems and Challenges</a:t>
            </a:r>
            <a:endParaRPr kumimoji="0" lang="en-US" sz="2400" b="1" i="0" u="none" strike="noStrike" kern="1200" cap="small" spc="0" normalizeH="0" baseline="0" noProof="0" smtClean="0">
              <a:ln>
                <a:noFill/>
              </a:ln>
              <a:solidFill>
                <a:schemeClr val="tx2"/>
              </a:solidFill>
              <a:effectLst/>
              <a:uLnTx/>
              <a:uFillTx/>
              <a:latin typeface="+mj-lt"/>
              <a:ea typeface="+mj-ea"/>
              <a:cs typeface="+mj-cs"/>
            </a:endParaRPr>
          </a:p>
        </p:txBody>
      </p:sp>
      <p:sp>
        <p:nvSpPr>
          <p:cNvPr id="176130" name="Rectangle 3"/>
          <p:cNvSpPr>
            <a:spLocks noGrp="1"/>
          </p:cNvSpPr>
          <p:nvPr>
            <p:ph sz="quarter" idx="1"/>
          </p:nvPr>
        </p:nvSpPr>
        <p:spPr>
          <a:xfrm>
            <a:off x="457200" y="1600200"/>
            <a:ext cx="8305800" cy="4953000"/>
          </a:xfrm>
          <a:ln/>
        </p:spPr>
        <p:txBody>
          <a:bodyPr vert="horz" wrap="square" lIns="91440" tIns="45720" rIns="91440" bIns="45720" anchor="t" anchorCtr="0"/>
          <a:p>
            <a:pPr eaLnBrk="1" hangingPunct="1">
              <a:lnSpc>
                <a:spcPct val="110000"/>
              </a:lnSpc>
              <a:buClr>
                <a:schemeClr val="accent1"/>
              </a:buClr>
              <a:buSzPct val="70000"/>
              <a:buFont typeface="Wingdings" panose="05000000000000000000" pitchFamily="2" charset="2"/>
            </a:pPr>
            <a:r>
              <a:rPr lang="en-US" dirty="0"/>
              <a:t>Considerable progress has been made in scalable clustering methods</a:t>
            </a:r>
            <a:endParaRPr lang="en-US" dirty="0"/>
          </a:p>
          <a:p>
            <a:pPr lvl="1" eaLnBrk="1" hangingPunct="1">
              <a:lnSpc>
                <a:spcPct val="110000"/>
              </a:lnSpc>
              <a:buClr>
                <a:schemeClr val="accent1"/>
              </a:buClr>
              <a:buSzPct val="80000"/>
              <a:buFont typeface="Wingdings 2" panose="05020102010507070707" pitchFamily="18" charset="2"/>
            </a:pPr>
            <a:r>
              <a:rPr lang="en-US" dirty="0"/>
              <a:t>Partitioning: k-means, k-medoids, CLARANS</a:t>
            </a:r>
            <a:endParaRPr lang="en-US" dirty="0"/>
          </a:p>
          <a:p>
            <a:pPr lvl="1" eaLnBrk="1" hangingPunct="1">
              <a:lnSpc>
                <a:spcPct val="110000"/>
              </a:lnSpc>
              <a:buClr>
                <a:schemeClr val="accent1"/>
              </a:buClr>
              <a:buSzPct val="80000"/>
              <a:buFont typeface="Wingdings 2" panose="05020102010507070707" pitchFamily="18" charset="2"/>
            </a:pPr>
            <a:r>
              <a:rPr lang="en-US" dirty="0"/>
              <a:t>Hierarchical: BIRCH, CURE</a:t>
            </a:r>
            <a:endParaRPr lang="en-US" dirty="0"/>
          </a:p>
          <a:p>
            <a:pPr lvl="1" eaLnBrk="1" hangingPunct="1">
              <a:lnSpc>
                <a:spcPct val="110000"/>
              </a:lnSpc>
              <a:buClr>
                <a:schemeClr val="accent1"/>
              </a:buClr>
              <a:buSzPct val="80000"/>
              <a:buFont typeface="Wingdings 2" panose="05020102010507070707" pitchFamily="18" charset="2"/>
            </a:pPr>
            <a:r>
              <a:rPr lang="en-US" dirty="0"/>
              <a:t>Density-based: DBSCAN, CLIQUE, OPTICS</a:t>
            </a:r>
            <a:endParaRPr lang="en-US" dirty="0"/>
          </a:p>
          <a:p>
            <a:pPr lvl="1" eaLnBrk="1" hangingPunct="1">
              <a:lnSpc>
                <a:spcPct val="110000"/>
              </a:lnSpc>
              <a:buClr>
                <a:schemeClr val="accent1"/>
              </a:buClr>
              <a:buSzPct val="80000"/>
              <a:buFont typeface="Wingdings 2" panose="05020102010507070707" pitchFamily="18" charset="2"/>
            </a:pPr>
            <a:r>
              <a:rPr lang="en-US" dirty="0"/>
              <a:t>Grid-based: STING, WaveCluster</a:t>
            </a:r>
            <a:endParaRPr lang="en-US" dirty="0"/>
          </a:p>
          <a:p>
            <a:pPr lvl="1" eaLnBrk="1" hangingPunct="1">
              <a:lnSpc>
                <a:spcPct val="110000"/>
              </a:lnSpc>
              <a:buClr>
                <a:schemeClr val="accent1"/>
              </a:buClr>
              <a:buSzPct val="80000"/>
              <a:buFont typeface="Wingdings 2" panose="05020102010507070707" pitchFamily="18" charset="2"/>
            </a:pPr>
            <a:r>
              <a:rPr lang="en-US" dirty="0"/>
              <a:t>Model-based: Autoclass, Denclue, Cobweb</a:t>
            </a:r>
            <a:endParaRPr lang="en-US" dirty="0"/>
          </a:p>
          <a:p>
            <a:pPr eaLnBrk="1" hangingPunct="1">
              <a:lnSpc>
                <a:spcPct val="110000"/>
              </a:lnSpc>
              <a:buClr>
                <a:schemeClr val="accent1"/>
              </a:buClr>
              <a:buSzPct val="70000"/>
              <a:buFont typeface="Wingdings" panose="05000000000000000000" pitchFamily="2" charset="2"/>
            </a:pPr>
            <a:r>
              <a:rPr lang="en-US" dirty="0"/>
              <a:t>Current clustering techniques do not </a:t>
            </a:r>
            <a:r>
              <a:rPr lang="en-US" u="sng" dirty="0"/>
              <a:t>address</a:t>
            </a:r>
            <a:r>
              <a:rPr lang="en-US" dirty="0"/>
              <a:t> all the requirements adequately</a:t>
            </a:r>
            <a:endParaRPr lang="en-US" dirty="0"/>
          </a:p>
          <a:p>
            <a:pPr eaLnBrk="1" hangingPunct="1">
              <a:lnSpc>
                <a:spcPct val="110000"/>
              </a:lnSpc>
              <a:buClr>
                <a:schemeClr val="accent1"/>
              </a:buClr>
              <a:buSzPct val="70000"/>
              <a:buFont typeface="Wingdings" panose="05000000000000000000" pitchFamily="2" charset="2"/>
            </a:pPr>
            <a:r>
              <a:rPr lang="en-US" dirty="0"/>
              <a:t>Constraint-based clustering analysis: Constraints exist in data space (bridges and highways) or in user queries</a:t>
            </a:r>
            <a:endParaRPr lang="en-US" dirty="0"/>
          </a:p>
        </p:txBody>
      </p:sp>
      <p:sp>
        <p:nvSpPr>
          <p:cNvPr id="176131"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6132"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6133"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609600" y="304800"/>
            <a:ext cx="8229600" cy="8382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Constraint-Based Clustering Analysis</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77154" name="Rectangle 3"/>
          <p:cNvSpPr>
            <a:spLocks noGrp="1"/>
          </p:cNvSpPr>
          <p:nvPr>
            <p:ph sz="quarter" idx="1"/>
          </p:nvPr>
        </p:nvSpPr>
        <p:spPr>
          <a:xfrm>
            <a:off x="228600" y="1600200"/>
            <a:ext cx="8696325" cy="5124450"/>
          </a:xfrm>
          <a:ln/>
        </p:spPr>
        <p:txBody>
          <a:bodyPr vert="horz" wrap="square" lIns="91440" tIns="45720" rIns="91440" bIns="45720" anchor="t" anchorCtr="0"/>
          <a:p>
            <a:pPr eaLnBrk="1" hangingPunct="1">
              <a:lnSpc>
                <a:spcPct val="140000"/>
              </a:lnSpc>
              <a:buClr>
                <a:schemeClr val="accent1"/>
              </a:buClr>
              <a:buSzPct val="80000"/>
              <a:buFont typeface="Wingdings" panose="05000000000000000000" pitchFamily="2" charset="2"/>
            </a:pPr>
            <a:r>
              <a:rPr lang="en-US" dirty="0"/>
              <a:t>Clustering analysis: less parameters but more user-desired constraints, e.g., an ATM allocation problem</a:t>
            </a:r>
            <a:endParaRPr lang="en-US" dirty="0"/>
          </a:p>
        </p:txBody>
      </p:sp>
      <p:sp>
        <p:nvSpPr>
          <p:cNvPr id="177155"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7156"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7157"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
        <p:nvSpPr>
          <p:cNvPr id="177158" name="Rectangle 4"/>
          <p:cNvSpPr/>
          <p:nvPr/>
        </p:nvSpPr>
        <p:spPr>
          <a:xfrm>
            <a:off x="381000" y="2743200"/>
            <a:ext cx="8305800" cy="3962400"/>
          </a:xfrm>
          <a:prstGeom prst="rect">
            <a:avLst/>
          </a:prstGeom>
          <a:no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159" name="Line 5"/>
          <p:cNvSpPr/>
          <p:nvPr/>
        </p:nvSpPr>
        <p:spPr>
          <a:xfrm>
            <a:off x="398463" y="2781300"/>
            <a:ext cx="4259262" cy="1477963"/>
          </a:xfrm>
          <a:prstGeom prst="line">
            <a:avLst/>
          </a:prstGeom>
          <a:ln w="88900" cap="flat" cmpd="sng">
            <a:solidFill>
              <a:srgbClr val="339966"/>
            </a:solidFill>
            <a:prstDash val="solid"/>
            <a:round/>
            <a:headEnd type="none" w="med" len="med"/>
            <a:tailEnd type="none" w="med" len="med"/>
          </a:ln>
        </p:spPr>
      </p:sp>
      <p:sp>
        <p:nvSpPr>
          <p:cNvPr id="177160" name="Oval 6"/>
          <p:cNvSpPr/>
          <p:nvPr/>
        </p:nvSpPr>
        <p:spPr>
          <a:xfrm>
            <a:off x="619125" y="31448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1" name="Oval 7"/>
          <p:cNvSpPr/>
          <p:nvPr/>
        </p:nvSpPr>
        <p:spPr>
          <a:xfrm>
            <a:off x="1479550" y="44529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2" name="Oval 8"/>
          <p:cNvSpPr/>
          <p:nvPr/>
        </p:nvSpPr>
        <p:spPr>
          <a:xfrm>
            <a:off x="1531938" y="41449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3" name="Oval 9"/>
          <p:cNvSpPr/>
          <p:nvPr/>
        </p:nvSpPr>
        <p:spPr>
          <a:xfrm>
            <a:off x="1595438" y="367665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4" name="Oval 10"/>
          <p:cNvSpPr/>
          <p:nvPr/>
        </p:nvSpPr>
        <p:spPr>
          <a:xfrm>
            <a:off x="1677988" y="34528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5" name="Oval 11"/>
          <p:cNvSpPr/>
          <p:nvPr/>
        </p:nvSpPr>
        <p:spPr>
          <a:xfrm>
            <a:off x="935038" y="40100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6" name="Oval 12"/>
          <p:cNvSpPr/>
          <p:nvPr/>
        </p:nvSpPr>
        <p:spPr>
          <a:xfrm>
            <a:off x="1174750" y="44211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7" name="Oval 13"/>
          <p:cNvSpPr/>
          <p:nvPr/>
        </p:nvSpPr>
        <p:spPr>
          <a:xfrm>
            <a:off x="2393950" y="53673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8" name="Oval 14"/>
          <p:cNvSpPr/>
          <p:nvPr/>
        </p:nvSpPr>
        <p:spPr>
          <a:xfrm>
            <a:off x="1377950" y="34702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69" name="Oval 15"/>
          <p:cNvSpPr/>
          <p:nvPr/>
        </p:nvSpPr>
        <p:spPr>
          <a:xfrm>
            <a:off x="4373563" y="57292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0" name="Oval 16"/>
          <p:cNvSpPr/>
          <p:nvPr/>
        </p:nvSpPr>
        <p:spPr>
          <a:xfrm>
            <a:off x="3716338" y="54070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1" name="Oval 17"/>
          <p:cNvSpPr/>
          <p:nvPr/>
        </p:nvSpPr>
        <p:spPr>
          <a:xfrm>
            <a:off x="3768725" y="57467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2" name="Oval 18"/>
          <p:cNvSpPr/>
          <p:nvPr/>
        </p:nvSpPr>
        <p:spPr>
          <a:xfrm>
            <a:off x="3992563" y="59134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3" name="Oval 19"/>
          <p:cNvSpPr/>
          <p:nvPr/>
        </p:nvSpPr>
        <p:spPr>
          <a:xfrm>
            <a:off x="2486025" y="58340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4" name="Oval 20"/>
          <p:cNvSpPr/>
          <p:nvPr/>
        </p:nvSpPr>
        <p:spPr>
          <a:xfrm>
            <a:off x="3460750" y="64341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5" name="Oval 21"/>
          <p:cNvSpPr/>
          <p:nvPr/>
        </p:nvSpPr>
        <p:spPr>
          <a:xfrm>
            <a:off x="2819400" y="61690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6" name="Oval 22"/>
          <p:cNvSpPr/>
          <p:nvPr/>
        </p:nvSpPr>
        <p:spPr>
          <a:xfrm>
            <a:off x="742950" y="34702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7" name="Oval 23"/>
          <p:cNvSpPr/>
          <p:nvPr/>
        </p:nvSpPr>
        <p:spPr>
          <a:xfrm>
            <a:off x="996950" y="33480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8" name="Oval 24"/>
          <p:cNvSpPr/>
          <p:nvPr/>
        </p:nvSpPr>
        <p:spPr>
          <a:xfrm>
            <a:off x="1076325" y="36020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79" name="Oval 25"/>
          <p:cNvSpPr/>
          <p:nvPr/>
        </p:nvSpPr>
        <p:spPr>
          <a:xfrm>
            <a:off x="1314450" y="33369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0" name="Oval 26"/>
          <p:cNvSpPr/>
          <p:nvPr/>
        </p:nvSpPr>
        <p:spPr>
          <a:xfrm>
            <a:off x="1309688" y="36909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1" name="Oval 27"/>
          <p:cNvSpPr/>
          <p:nvPr/>
        </p:nvSpPr>
        <p:spPr>
          <a:xfrm>
            <a:off x="1258888" y="40592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2" name="Oval 28"/>
          <p:cNvSpPr/>
          <p:nvPr/>
        </p:nvSpPr>
        <p:spPr>
          <a:xfrm>
            <a:off x="1685925" y="42116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3" name="Oval 29"/>
          <p:cNvSpPr/>
          <p:nvPr/>
        </p:nvSpPr>
        <p:spPr>
          <a:xfrm>
            <a:off x="1852613" y="38877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4" name="Oval 30"/>
          <p:cNvSpPr/>
          <p:nvPr/>
        </p:nvSpPr>
        <p:spPr>
          <a:xfrm>
            <a:off x="1917700" y="41275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5" name="Oval 31"/>
          <p:cNvSpPr/>
          <p:nvPr/>
        </p:nvSpPr>
        <p:spPr>
          <a:xfrm>
            <a:off x="1220788" y="37877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6" name="Oval 32"/>
          <p:cNvSpPr/>
          <p:nvPr/>
        </p:nvSpPr>
        <p:spPr>
          <a:xfrm>
            <a:off x="1573213" y="39703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7" name="Oval 33"/>
          <p:cNvSpPr/>
          <p:nvPr/>
        </p:nvSpPr>
        <p:spPr>
          <a:xfrm>
            <a:off x="4799013" y="46561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8" name="Oval 34"/>
          <p:cNvSpPr/>
          <p:nvPr/>
        </p:nvSpPr>
        <p:spPr>
          <a:xfrm>
            <a:off x="2182813" y="43608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89" name="Oval 35"/>
          <p:cNvSpPr/>
          <p:nvPr/>
        </p:nvSpPr>
        <p:spPr>
          <a:xfrm>
            <a:off x="2724150" y="53213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0" name="Oval 36"/>
          <p:cNvSpPr/>
          <p:nvPr/>
        </p:nvSpPr>
        <p:spPr>
          <a:xfrm>
            <a:off x="2921000" y="52292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1" name="Oval 37"/>
          <p:cNvSpPr/>
          <p:nvPr/>
        </p:nvSpPr>
        <p:spPr>
          <a:xfrm>
            <a:off x="3057525" y="55832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2" name="Oval 38"/>
          <p:cNvSpPr/>
          <p:nvPr/>
        </p:nvSpPr>
        <p:spPr>
          <a:xfrm>
            <a:off x="2633663" y="56911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3" name="Oval 39"/>
          <p:cNvSpPr/>
          <p:nvPr/>
        </p:nvSpPr>
        <p:spPr>
          <a:xfrm>
            <a:off x="3160713" y="58880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4" name="Oval 40"/>
          <p:cNvSpPr/>
          <p:nvPr/>
        </p:nvSpPr>
        <p:spPr>
          <a:xfrm>
            <a:off x="3355975" y="57800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5" name="Oval 41"/>
          <p:cNvSpPr/>
          <p:nvPr/>
        </p:nvSpPr>
        <p:spPr>
          <a:xfrm>
            <a:off x="3205163" y="61928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6" name="Oval 42"/>
          <p:cNvSpPr/>
          <p:nvPr/>
        </p:nvSpPr>
        <p:spPr>
          <a:xfrm>
            <a:off x="3502025" y="62293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7" name="Oval 43"/>
          <p:cNvSpPr/>
          <p:nvPr/>
        </p:nvSpPr>
        <p:spPr>
          <a:xfrm>
            <a:off x="2327275" y="29178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8" name="Oval 44"/>
          <p:cNvSpPr/>
          <p:nvPr/>
        </p:nvSpPr>
        <p:spPr>
          <a:xfrm>
            <a:off x="2479675" y="31702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199" name="Oval 45"/>
          <p:cNvSpPr/>
          <p:nvPr/>
        </p:nvSpPr>
        <p:spPr>
          <a:xfrm>
            <a:off x="2746375" y="31638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0" name="Oval 46"/>
          <p:cNvSpPr/>
          <p:nvPr/>
        </p:nvSpPr>
        <p:spPr>
          <a:xfrm>
            <a:off x="2943225" y="33893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1" name="Oval 47"/>
          <p:cNvSpPr/>
          <p:nvPr/>
        </p:nvSpPr>
        <p:spPr>
          <a:xfrm>
            <a:off x="2662238" y="37433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2" name="Oval 48"/>
          <p:cNvSpPr/>
          <p:nvPr/>
        </p:nvSpPr>
        <p:spPr>
          <a:xfrm>
            <a:off x="3017838" y="39243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3" name="Oval 49"/>
          <p:cNvSpPr/>
          <p:nvPr/>
        </p:nvSpPr>
        <p:spPr>
          <a:xfrm>
            <a:off x="3271838" y="34845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4" name="Oval 50"/>
          <p:cNvSpPr/>
          <p:nvPr/>
        </p:nvSpPr>
        <p:spPr>
          <a:xfrm>
            <a:off x="3005138" y="407035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5" name="Oval 51"/>
          <p:cNvSpPr/>
          <p:nvPr/>
        </p:nvSpPr>
        <p:spPr>
          <a:xfrm>
            <a:off x="2667000" y="30686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6" name="Oval 52"/>
          <p:cNvSpPr/>
          <p:nvPr/>
        </p:nvSpPr>
        <p:spPr>
          <a:xfrm>
            <a:off x="3641725" y="43465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7" name="Oval 53"/>
          <p:cNvSpPr/>
          <p:nvPr/>
        </p:nvSpPr>
        <p:spPr>
          <a:xfrm>
            <a:off x="3967163" y="52371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8" name="Oval 54"/>
          <p:cNvSpPr/>
          <p:nvPr/>
        </p:nvSpPr>
        <p:spPr>
          <a:xfrm>
            <a:off x="3051175" y="44497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09" name="Oval 55"/>
          <p:cNvSpPr/>
          <p:nvPr/>
        </p:nvSpPr>
        <p:spPr>
          <a:xfrm>
            <a:off x="3419475" y="43719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0" name="Oval 56"/>
          <p:cNvSpPr/>
          <p:nvPr/>
        </p:nvSpPr>
        <p:spPr>
          <a:xfrm>
            <a:off x="3052763" y="42640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1" name="Oval 57"/>
          <p:cNvSpPr/>
          <p:nvPr/>
        </p:nvSpPr>
        <p:spPr>
          <a:xfrm>
            <a:off x="5675313" y="55276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2" name="Oval 58"/>
          <p:cNvSpPr/>
          <p:nvPr/>
        </p:nvSpPr>
        <p:spPr>
          <a:xfrm>
            <a:off x="6127750" y="54070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3" name="Oval 59"/>
          <p:cNvSpPr/>
          <p:nvPr/>
        </p:nvSpPr>
        <p:spPr>
          <a:xfrm>
            <a:off x="5400675" y="53419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4" name="Oval 60"/>
          <p:cNvSpPr/>
          <p:nvPr/>
        </p:nvSpPr>
        <p:spPr>
          <a:xfrm>
            <a:off x="5856288" y="51482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5" name="Oval 61"/>
          <p:cNvSpPr/>
          <p:nvPr/>
        </p:nvSpPr>
        <p:spPr>
          <a:xfrm>
            <a:off x="5084763" y="47958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6" name="Oval 62"/>
          <p:cNvSpPr/>
          <p:nvPr/>
        </p:nvSpPr>
        <p:spPr>
          <a:xfrm>
            <a:off x="5237163" y="56689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7" name="Oval 63"/>
          <p:cNvSpPr/>
          <p:nvPr/>
        </p:nvSpPr>
        <p:spPr>
          <a:xfrm>
            <a:off x="6081713" y="456565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8" name="Oval 64"/>
          <p:cNvSpPr/>
          <p:nvPr/>
        </p:nvSpPr>
        <p:spPr>
          <a:xfrm>
            <a:off x="5483225" y="45720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19" name="Oval 65"/>
          <p:cNvSpPr/>
          <p:nvPr/>
        </p:nvSpPr>
        <p:spPr>
          <a:xfrm>
            <a:off x="5030788" y="56642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0" name="Oval 66"/>
          <p:cNvSpPr/>
          <p:nvPr/>
        </p:nvSpPr>
        <p:spPr>
          <a:xfrm>
            <a:off x="5340350" y="42164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1" name="Oval 67"/>
          <p:cNvSpPr/>
          <p:nvPr/>
        </p:nvSpPr>
        <p:spPr>
          <a:xfrm>
            <a:off x="3095625" y="35417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2" name="Oval 68"/>
          <p:cNvSpPr/>
          <p:nvPr/>
        </p:nvSpPr>
        <p:spPr>
          <a:xfrm>
            <a:off x="3378200" y="35941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3" name="Oval 69"/>
          <p:cNvSpPr/>
          <p:nvPr/>
        </p:nvSpPr>
        <p:spPr>
          <a:xfrm>
            <a:off x="3341688" y="39766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4" name="Oval 70"/>
          <p:cNvSpPr/>
          <p:nvPr/>
        </p:nvSpPr>
        <p:spPr>
          <a:xfrm>
            <a:off x="2687638" y="34496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5" name="Oval 71"/>
          <p:cNvSpPr/>
          <p:nvPr/>
        </p:nvSpPr>
        <p:spPr>
          <a:xfrm>
            <a:off x="3446463" y="29670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26" name="Oval 72"/>
          <p:cNvSpPr/>
          <p:nvPr/>
        </p:nvSpPr>
        <p:spPr>
          <a:xfrm>
            <a:off x="2603500" y="40576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7" name="Oval 73"/>
          <p:cNvSpPr/>
          <p:nvPr/>
        </p:nvSpPr>
        <p:spPr>
          <a:xfrm>
            <a:off x="2495550" y="37480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8" name="Oval 74"/>
          <p:cNvSpPr/>
          <p:nvPr/>
        </p:nvSpPr>
        <p:spPr>
          <a:xfrm>
            <a:off x="2820988" y="41036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29" name="Oval 75"/>
          <p:cNvSpPr/>
          <p:nvPr/>
        </p:nvSpPr>
        <p:spPr>
          <a:xfrm>
            <a:off x="2395538" y="42132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0" name="Oval 76"/>
          <p:cNvSpPr/>
          <p:nvPr/>
        </p:nvSpPr>
        <p:spPr>
          <a:xfrm>
            <a:off x="2794000" y="43656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1" name="Oval 77"/>
          <p:cNvSpPr/>
          <p:nvPr/>
        </p:nvSpPr>
        <p:spPr>
          <a:xfrm>
            <a:off x="4619625" y="50657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2" name="Oval 78"/>
          <p:cNvSpPr/>
          <p:nvPr/>
        </p:nvSpPr>
        <p:spPr>
          <a:xfrm>
            <a:off x="4670425" y="47704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3" name="Oval 79"/>
          <p:cNvSpPr/>
          <p:nvPr/>
        </p:nvSpPr>
        <p:spPr>
          <a:xfrm>
            <a:off x="4924425" y="53705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4" name="Oval 80"/>
          <p:cNvSpPr/>
          <p:nvPr/>
        </p:nvSpPr>
        <p:spPr>
          <a:xfrm>
            <a:off x="5076825" y="55229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5" name="Oval 81"/>
          <p:cNvSpPr/>
          <p:nvPr/>
        </p:nvSpPr>
        <p:spPr>
          <a:xfrm>
            <a:off x="5381625" y="58277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6" name="Oval 82"/>
          <p:cNvSpPr/>
          <p:nvPr/>
        </p:nvSpPr>
        <p:spPr>
          <a:xfrm>
            <a:off x="5526088" y="28400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7" name="Oval 83"/>
          <p:cNvSpPr/>
          <p:nvPr/>
        </p:nvSpPr>
        <p:spPr>
          <a:xfrm>
            <a:off x="5287963" y="52736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8" name="Oval 84"/>
          <p:cNvSpPr/>
          <p:nvPr/>
        </p:nvSpPr>
        <p:spPr>
          <a:xfrm>
            <a:off x="5686425" y="61325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39" name="Oval 85"/>
          <p:cNvSpPr/>
          <p:nvPr/>
        </p:nvSpPr>
        <p:spPr>
          <a:xfrm>
            <a:off x="5637213" y="57658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0" name="Oval 86"/>
          <p:cNvSpPr/>
          <p:nvPr/>
        </p:nvSpPr>
        <p:spPr>
          <a:xfrm>
            <a:off x="5976938" y="57308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1" name="Oval 87"/>
          <p:cNvSpPr/>
          <p:nvPr/>
        </p:nvSpPr>
        <p:spPr>
          <a:xfrm>
            <a:off x="6143625" y="65897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2" name="Oval 88"/>
          <p:cNvSpPr/>
          <p:nvPr/>
        </p:nvSpPr>
        <p:spPr>
          <a:xfrm>
            <a:off x="5618163" y="51974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3" name="Oval 89"/>
          <p:cNvSpPr/>
          <p:nvPr/>
        </p:nvSpPr>
        <p:spPr>
          <a:xfrm>
            <a:off x="7778750" y="58864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4" name="Oval 90"/>
          <p:cNvSpPr/>
          <p:nvPr/>
        </p:nvSpPr>
        <p:spPr>
          <a:xfrm>
            <a:off x="6492875" y="56689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5" name="Oval 91"/>
          <p:cNvSpPr/>
          <p:nvPr/>
        </p:nvSpPr>
        <p:spPr>
          <a:xfrm>
            <a:off x="6203950" y="29702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6" name="Oval 92"/>
          <p:cNvSpPr/>
          <p:nvPr/>
        </p:nvSpPr>
        <p:spPr>
          <a:xfrm>
            <a:off x="5534025" y="30368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7" name="Oval 93"/>
          <p:cNvSpPr/>
          <p:nvPr/>
        </p:nvSpPr>
        <p:spPr>
          <a:xfrm>
            <a:off x="5584825" y="35210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8" name="Oval 94"/>
          <p:cNvSpPr/>
          <p:nvPr/>
        </p:nvSpPr>
        <p:spPr>
          <a:xfrm>
            <a:off x="5853113" y="34274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49" name="Oval 95"/>
          <p:cNvSpPr/>
          <p:nvPr/>
        </p:nvSpPr>
        <p:spPr>
          <a:xfrm>
            <a:off x="6021388" y="31750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0" name="Oval 96"/>
          <p:cNvSpPr/>
          <p:nvPr/>
        </p:nvSpPr>
        <p:spPr>
          <a:xfrm>
            <a:off x="6273800" y="31257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1" name="Oval 97"/>
          <p:cNvSpPr/>
          <p:nvPr/>
        </p:nvSpPr>
        <p:spPr>
          <a:xfrm>
            <a:off x="5791200" y="31194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2" name="Oval 98"/>
          <p:cNvSpPr/>
          <p:nvPr/>
        </p:nvSpPr>
        <p:spPr>
          <a:xfrm>
            <a:off x="5886450" y="32718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3" name="Oval 99"/>
          <p:cNvSpPr/>
          <p:nvPr/>
        </p:nvSpPr>
        <p:spPr>
          <a:xfrm>
            <a:off x="6124575" y="36845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4" name="Oval 100"/>
          <p:cNvSpPr/>
          <p:nvPr/>
        </p:nvSpPr>
        <p:spPr>
          <a:xfrm>
            <a:off x="5989638" y="38941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5" name="Oval 101"/>
          <p:cNvSpPr/>
          <p:nvPr/>
        </p:nvSpPr>
        <p:spPr>
          <a:xfrm>
            <a:off x="5708650" y="37433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6" name="Oval 102"/>
          <p:cNvSpPr/>
          <p:nvPr/>
        </p:nvSpPr>
        <p:spPr>
          <a:xfrm>
            <a:off x="6380163" y="43862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7" name="Oval 103"/>
          <p:cNvSpPr/>
          <p:nvPr/>
        </p:nvSpPr>
        <p:spPr>
          <a:xfrm>
            <a:off x="6705600" y="46545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8" name="Oval 104"/>
          <p:cNvSpPr/>
          <p:nvPr/>
        </p:nvSpPr>
        <p:spPr>
          <a:xfrm>
            <a:off x="7102475" y="52244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59" name="Oval 105"/>
          <p:cNvSpPr/>
          <p:nvPr/>
        </p:nvSpPr>
        <p:spPr>
          <a:xfrm>
            <a:off x="7024688" y="45831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0" name="Oval 106"/>
          <p:cNvSpPr/>
          <p:nvPr/>
        </p:nvSpPr>
        <p:spPr>
          <a:xfrm>
            <a:off x="7466013" y="49228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1" name="Oval 107"/>
          <p:cNvSpPr/>
          <p:nvPr/>
        </p:nvSpPr>
        <p:spPr>
          <a:xfrm>
            <a:off x="7343775" y="50323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2" name="Oval 108"/>
          <p:cNvSpPr/>
          <p:nvPr/>
        </p:nvSpPr>
        <p:spPr>
          <a:xfrm>
            <a:off x="7294563" y="47371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3" name="Oval 109"/>
          <p:cNvSpPr/>
          <p:nvPr/>
        </p:nvSpPr>
        <p:spPr>
          <a:xfrm>
            <a:off x="5080000" y="32448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4" name="Oval 110"/>
          <p:cNvSpPr/>
          <p:nvPr/>
        </p:nvSpPr>
        <p:spPr>
          <a:xfrm>
            <a:off x="7056438" y="49196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5" name="Oval 111"/>
          <p:cNvSpPr/>
          <p:nvPr/>
        </p:nvSpPr>
        <p:spPr>
          <a:xfrm>
            <a:off x="6573838" y="43926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6" name="Oval 112"/>
          <p:cNvSpPr/>
          <p:nvPr/>
        </p:nvSpPr>
        <p:spPr>
          <a:xfrm>
            <a:off x="5651500" y="33242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7" name="Oval 113"/>
          <p:cNvSpPr/>
          <p:nvPr/>
        </p:nvSpPr>
        <p:spPr>
          <a:xfrm>
            <a:off x="5138738" y="34782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8" name="Oval 114"/>
          <p:cNvSpPr/>
          <p:nvPr/>
        </p:nvSpPr>
        <p:spPr>
          <a:xfrm>
            <a:off x="5349875" y="37020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69" name="Oval 115"/>
          <p:cNvSpPr/>
          <p:nvPr/>
        </p:nvSpPr>
        <p:spPr>
          <a:xfrm>
            <a:off x="5661025" y="40417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0" name="Oval 116"/>
          <p:cNvSpPr/>
          <p:nvPr/>
        </p:nvSpPr>
        <p:spPr>
          <a:xfrm>
            <a:off x="5480050" y="38481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1" name="Oval 117"/>
          <p:cNvSpPr/>
          <p:nvPr/>
        </p:nvSpPr>
        <p:spPr>
          <a:xfrm>
            <a:off x="5892800" y="46355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2" name="Oval 118"/>
          <p:cNvSpPr/>
          <p:nvPr/>
        </p:nvSpPr>
        <p:spPr>
          <a:xfrm>
            <a:off x="5886450" y="43830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3" name="Oval 119"/>
          <p:cNvSpPr/>
          <p:nvPr/>
        </p:nvSpPr>
        <p:spPr>
          <a:xfrm>
            <a:off x="6211888" y="43338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4" name="Oval 120"/>
          <p:cNvSpPr/>
          <p:nvPr/>
        </p:nvSpPr>
        <p:spPr>
          <a:xfrm>
            <a:off x="6321425" y="46878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5" name="Oval 121"/>
          <p:cNvSpPr/>
          <p:nvPr/>
        </p:nvSpPr>
        <p:spPr>
          <a:xfrm>
            <a:off x="6616700" y="48260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6" name="Oval 122"/>
          <p:cNvSpPr/>
          <p:nvPr/>
        </p:nvSpPr>
        <p:spPr>
          <a:xfrm>
            <a:off x="7015163" y="49942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7" name="Oval 123"/>
          <p:cNvSpPr/>
          <p:nvPr/>
        </p:nvSpPr>
        <p:spPr>
          <a:xfrm>
            <a:off x="6792913" y="508635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8" name="Oval 124"/>
          <p:cNvSpPr/>
          <p:nvPr/>
        </p:nvSpPr>
        <p:spPr>
          <a:xfrm>
            <a:off x="6829425" y="53117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79" name="Oval 125"/>
          <p:cNvSpPr/>
          <p:nvPr/>
        </p:nvSpPr>
        <p:spPr>
          <a:xfrm>
            <a:off x="7515225" y="53054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0" name="Oval 126"/>
          <p:cNvSpPr/>
          <p:nvPr/>
        </p:nvSpPr>
        <p:spPr>
          <a:xfrm>
            <a:off x="7278688" y="54006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1" name="Oval 127"/>
          <p:cNvSpPr/>
          <p:nvPr/>
        </p:nvSpPr>
        <p:spPr>
          <a:xfrm>
            <a:off x="7488238" y="57404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2" name="Oval 128"/>
          <p:cNvSpPr/>
          <p:nvPr/>
        </p:nvSpPr>
        <p:spPr>
          <a:xfrm>
            <a:off x="7337425" y="59372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3" name="Oval 129"/>
          <p:cNvSpPr/>
          <p:nvPr/>
        </p:nvSpPr>
        <p:spPr>
          <a:xfrm>
            <a:off x="7693025" y="61023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4" name="Oval 130"/>
          <p:cNvSpPr/>
          <p:nvPr/>
        </p:nvSpPr>
        <p:spPr>
          <a:xfrm>
            <a:off x="7975600" y="59531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5" name="Oval 131"/>
          <p:cNvSpPr/>
          <p:nvPr/>
        </p:nvSpPr>
        <p:spPr>
          <a:xfrm>
            <a:off x="8040688" y="61626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6" name="Oval 132"/>
          <p:cNvSpPr/>
          <p:nvPr/>
        </p:nvSpPr>
        <p:spPr>
          <a:xfrm>
            <a:off x="7443788" y="64023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287" name="Oval 133"/>
          <p:cNvSpPr/>
          <p:nvPr/>
        </p:nvSpPr>
        <p:spPr>
          <a:xfrm>
            <a:off x="3267075" y="31924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88" name="Oval 134"/>
          <p:cNvSpPr/>
          <p:nvPr/>
        </p:nvSpPr>
        <p:spPr>
          <a:xfrm>
            <a:off x="5699125" y="28829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89" name="Oval 135"/>
          <p:cNvSpPr/>
          <p:nvPr/>
        </p:nvSpPr>
        <p:spPr>
          <a:xfrm>
            <a:off x="4465638" y="38862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0" name="Oval 136"/>
          <p:cNvSpPr/>
          <p:nvPr/>
        </p:nvSpPr>
        <p:spPr>
          <a:xfrm>
            <a:off x="3494088" y="34321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1" name="Oval 137"/>
          <p:cNvSpPr/>
          <p:nvPr/>
        </p:nvSpPr>
        <p:spPr>
          <a:xfrm>
            <a:off x="2419350" y="40036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2" name="Oval 138"/>
          <p:cNvSpPr/>
          <p:nvPr/>
        </p:nvSpPr>
        <p:spPr>
          <a:xfrm>
            <a:off x="3509963" y="36496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3" name="Oval 139"/>
          <p:cNvSpPr/>
          <p:nvPr/>
        </p:nvSpPr>
        <p:spPr>
          <a:xfrm>
            <a:off x="4513263" y="40338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4" name="Oval 140"/>
          <p:cNvSpPr/>
          <p:nvPr/>
        </p:nvSpPr>
        <p:spPr>
          <a:xfrm>
            <a:off x="3252788" y="38687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5" name="Oval 141"/>
          <p:cNvSpPr/>
          <p:nvPr/>
        </p:nvSpPr>
        <p:spPr>
          <a:xfrm>
            <a:off x="5265738" y="37179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6" name="Oval 142"/>
          <p:cNvSpPr/>
          <p:nvPr/>
        </p:nvSpPr>
        <p:spPr>
          <a:xfrm>
            <a:off x="4567238" y="37242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7" name="Oval 143"/>
          <p:cNvSpPr/>
          <p:nvPr/>
        </p:nvSpPr>
        <p:spPr>
          <a:xfrm>
            <a:off x="5065713" y="38782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8" name="Oval 144"/>
          <p:cNvSpPr/>
          <p:nvPr/>
        </p:nvSpPr>
        <p:spPr>
          <a:xfrm>
            <a:off x="5275263" y="47958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299" name="Oval 145"/>
          <p:cNvSpPr/>
          <p:nvPr/>
        </p:nvSpPr>
        <p:spPr>
          <a:xfrm>
            <a:off x="5240338" y="49482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0" name="Oval 146"/>
          <p:cNvSpPr/>
          <p:nvPr/>
        </p:nvSpPr>
        <p:spPr>
          <a:xfrm>
            <a:off x="5608638" y="452278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1" name="Oval 147"/>
          <p:cNvSpPr/>
          <p:nvPr/>
        </p:nvSpPr>
        <p:spPr>
          <a:xfrm>
            <a:off x="5805488" y="47466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2" name="Oval 148"/>
          <p:cNvSpPr/>
          <p:nvPr/>
        </p:nvSpPr>
        <p:spPr>
          <a:xfrm>
            <a:off x="5884863" y="54054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3" name="Oval 149"/>
          <p:cNvSpPr/>
          <p:nvPr/>
        </p:nvSpPr>
        <p:spPr>
          <a:xfrm>
            <a:off x="5951538" y="52546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4" name="Oval 150"/>
          <p:cNvSpPr/>
          <p:nvPr/>
        </p:nvSpPr>
        <p:spPr>
          <a:xfrm>
            <a:off x="6189663" y="57102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5" name="Oval 151"/>
          <p:cNvSpPr/>
          <p:nvPr/>
        </p:nvSpPr>
        <p:spPr>
          <a:xfrm>
            <a:off x="7019925" y="58181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6" name="Oval 152"/>
          <p:cNvSpPr/>
          <p:nvPr/>
        </p:nvSpPr>
        <p:spPr>
          <a:xfrm>
            <a:off x="7100888" y="60293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7" name="Oval 153"/>
          <p:cNvSpPr/>
          <p:nvPr/>
        </p:nvSpPr>
        <p:spPr>
          <a:xfrm>
            <a:off x="7267575" y="55911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8" name="Oval 154"/>
          <p:cNvSpPr/>
          <p:nvPr/>
        </p:nvSpPr>
        <p:spPr>
          <a:xfrm>
            <a:off x="6799263" y="63198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09" name="Oval 155"/>
          <p:cNvSpPr/>
          <p:nvPr/>
        </p:nvSpPr>
        <p:spPr>
          <a:xfrm>
            <a:off x="6951663" y="64722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0" name="Oval 156"/>
          <p:cNvSpPr/>
          <p:nvPr/>
        </p:nvSpPr>
        <p:spPr>
          <a:xfrm>
            <a:off x="5318125" y="31496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1" name="Oval 157"/>
          <p:cNvSpPr/>
          <p:nvPr/>
        </p:nvSpPr>
        <p:spPr>
          <a:xfrm>
            <a:off x="5281613" y="29702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2" name="Oval 158"/>
          <p:cNvSpPr/>
          <p:nvPr/>
        </p:nvSpPr>
        <p:spPr>
          <a:xfrm>
            <a:off x="5549900" y="33686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3" name="Oval 159"/>
          <p:cNvSpPr/>
          <p:nvPr/>
        </p:nvSpPr>
        <p:spPr>
          <a:xfrm>
            <a:off x="5384800" y="34194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4" name="Oval 160"/>
          <p:cNvSpPr/>
          <p:nvPr/>
        </p:nvSpPr>
        <p:spPr>
          <a:xfrm>
            <a:off x="5854700" y="36734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5" name="Oval 161"/>
          <p:cNvSpPr/>
          <p:nvPr/>
        </p:nvSpPr>
        <p:spPr>
          <a:xfrm>
            <a:off x="6310313" y="38560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6" name="Oval 162"/>
          <p:cNvSpPr/>
          <p:nvPr/>
        </p:nvSpPr>
        <p:spPr>
          <a:xfrm>
            <a:off x="6159500" y="39782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7" name="Oval 163"/>
          <p:cNvSpPr/>
          <p:nvPr/>
        </p:nvSpPr>
        <p:spPr>
          <a:xfrm>
            <a:off x="6183313" y="4910138"/>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8" name="Oval 164"/>
          <p:cNvSpPr/>
          <p:nvPr/>
        </p:nvSpPr>
        <p:spPr>
          <a:xfrm>
            <a:off x="6118225" y="47736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19" name="Oval 165"/>
          <p:cNvSpPr/>
          <p:nvPr/>
        </p:nvSpPr>
        <p:spPr>
          <a:xfrm>
            <a:off x="6834188" y="44497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0" name="Oval 166"/>
          <p:cNvSpPr/>
          <p:nvPr/>
        </p:nvSpPr>
        <p:spPr>
          <a:xfrm>
            <a:off x="6769100" y="48768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1" name="Oval 167"/>
          <p:cNvSpPr/>
          <p:nvPr/>
        </p:nvSpPr>
        <p:spPr>
          <a:xfrm>
            <a:off x="6921500" y="47402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2" name="Oval 168"/>
          <p:cNvSpPr/>
          <p:nvPr/>
        </p:nvSpPr>
        <p:spPr>
          <a:xfrm>
            <a:off x="7146925" y="471963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3" name="Oval 169"/>
          <p:cNvSpPr/>
          <p:nvPr/>
        </p:nvSpPr>
        <p:spPr>
          <a:xfrm>
            <a:off x="7226300" y="52482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4" name="Oval 170"/>
          <p:cNvSpPr/>
          <p:nvPr/>
        </p:nvSpPr>
        <p:spPr>
          <a:xfrm>
            <a:off x="7378700" y="51974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5" name="Oval 171"/>
          <p:cNvSpPr/>
          <p:nvPr/>
        </p:nvSpPr>
        <p:spPr>
          <a:xfrm>
            <a:off x="7604125" y="5221288"/>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6" name="Oval 172"/>
          <p:cNvSpPr/>
          <p:nvPr/>
        </p:nvSpPr>
        <p:spPr>
          <a:xfrm>
            <a:off x="7481888" y="544512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7" name="Oval 173"/>
          <p:cNvSpPr/>
          <p:nvPr/>
        </p:nvSpPr>
        <p:spPr>
          <a:xfrm>
            <a:off x="7835900" y="56546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8" name="Oval 174"/>
          <p:cNvSpPr/>
          <p:nvPr/>
        </p:nvSpPr>
        <p:spPr>
          <a:xfrm>
            <a:off x="7988300" y="56054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29" name="Oval 175"/>
          <p:cNvSpPr/>
          <p:nvPr/>
        </p:nvSpPr>
        <p:spPr>
          <a:xfrm>
            <a:off x="6986588" y="5324475"/>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30" name="Oval 176"/>
          <p:cNvSpPr/>
          <p:nvPr/>
        </p:nvSpPr>
        <p:spPr>
          <a:xfrm>
            <a:off x="7542213" y="596741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eaLnBrk="0" hangingPunct="0"/>
            <a:endParaRPr lang="en-US" b="1" u="sng" dirty="0">
              <a:latin typeface="Times New Roman" panose="02020603050405020304" pitchFamily="18" charset="0"/>
            </a:endParaRPr>
          </a:p>
        </p:txBody>
      </p:sp>
      <p:sp>
        <p:nvSpPr>
          <p:cNvPr id="177331" name="Line 177"/>
          <p:cNvSpPr/>
          <p:nvPr/>
        </p:nvSpPr>
        <p:spPr>
          <a:xfrm>
            <a:off x="4648200" y="4244975"/>
            <a:ext cx="4027488" cy="2301875"/>
          </a:xfrm>
          <a:prstGeom prst="line">
            <a:avLst/>
          </a:prstGeom>
          <a:ln w="88900" cap="flat" cmpd="sng">
            <a:solidFill>
              <a:srgbClr val="339966"/>
            </a:solidFill>
            <a:prstDash val="solid"/>
            <a:round/>
            <a:headEnd type="none" w="med" len="med"/>
            <a:tailEnd type="none" w="med" len="med"/>
          </a:ln>
        </p:spPr>
      </p:sp>
      <p:sp>
        <p:nvSpPr>
          <p:cNvPr id="177332" name="Line 178"/>
          <p:cNvSpPr/>
          <p:nvPr/>
        </p:nvSpPr>
        <p:spPr>
          <a:xfrm flipV="1">
            <a:off x="1362075" y="2728913"/>
            <a:ext cx="1168400" cy="3981450"/>
          </a:xfrm>
          <a:prstGeom prst="line">
            <a:avLst/>
          </a:prstGeom>
          <a:ln w="38100" cap="flat" cmpd="sng">
            <a:solidFill>
              <a:schemeClr val="tx1"/>
            </a:solidFill>
            <a:prstDash val="solid"/>
            <a:round/>
            <a:headEnd type="none" w="med" len="med"/>
            <a:tailEnd type="none" w="med" len="med"/>
          </a:ln>
        </p:spPr>
      </p:sp>
      <p:sp>
        <p:nvSpPr>
          <p:cNvPr id="177333" name="Line 179"/>
          <p:cNvSpPr/>
          <p:nvPr/>
        </p:nvSpPr>
        <p:spPr>
          <a:xfrm>
            <a:off x="4943475" y="3606800"/>
            <a:ext cx="3765550" cy="3175"/>
          </a:xfrm>
          <a:prstGeom prst="line">
            <a:avLst/>
          </a:prstGeom>
          <a:ln w="38100" cap="flat" cmpd="sng">
            <a:solidFill>
              <a:schemeClr val="tx1"/>
            </a:solidFill>
            <a:prstDash val="solid"/>
            <a:round/>
            <a:headEnd type="none" w="med" len="med"/>
            <a:tailEnd type="none" w="med" len="med"/>
          </a:ln>
        </p:spPr>
      </p:sp>
      <p:sp>
        <p:nvSpPr>
          <p:cNvPr id="177334" name="Line 180"/>
          <p:cNvSpPr/>
          <p:nvPr/>
        </p:nvSpPr>
        <p:spPr>
          <a:xfrm flipV="1">
            <a:off x="3944938" y="2720975"/>
            <a:ext cx="1282700" cy="3963988"/>
          </a:xfrm>
          <a:prstGeom prst="line">
            <a:avLst/>
          </a:prstGeom>
          <a:ln w="38100" cap="flat" cmpd="sng">
            <a:solidFill>
              <a:schemeClr val="tx1"/>
            </a:solidFill>
            <a:prstDash val="solid"/>
            <a:round/>
            <a:headEnd type="none" w="med" len="med"/>
            <a:tailEnd type="none" w="med" len="med"/>
          </a:ln>
        </p:spPr>
      </p:sp>
      <p:sp>
        <p:nvSpPr>
          <p:cNvPr id="177335" name="Line 181"/>
          <p:cNvSpPr/>
          <p:nvPr/>
        </p:nvSpPr>
        <p:spPr>
          <a:xfrm flipV="1">
            <a:off x="6480175" y="2736850"/>
            <a:ext cx="14288" cy="3963988"/>
          </a:xfrm>
          <a:prstGeom prst="line">
            <a:avLst/>
          </a:prstGeom>
          <a:ln w="38100" cap="flat" cmpd="sng">
            <a:solidFill>
              <a:schemeClr val="tx1"/>
            </a:solidFill>
            <a:prstDash val="solid"/>
            <a:round/>
            <a:headEnd type="none" w="med" len="med"/>
            <a:tailEnd type="none" w="med" len="med"/>
          </a:ln>
        </p:spPr>
      </p:sp>
      <p:sp>
        <p:nvSpPr>
          <p:cNvPr id="177336" name="Oval 182"/>
          <p:cNvSpPr/>
          <p:nvPr/>
        </p:nvSpPr>
        <p:spPr>
          <a:xfrm>
            <a:off x="2335213" y="45132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37" name="Oval 183"/>
          <p:cNvSpPr/>
          <p:nvPr/>
        </p:nvSpPr>
        <p:spPr>
          <a:xfrm>
            <a:off x="2314575" y="428942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38" name="Oval 184"/>
          <p:cNvSpPr/>
          <p:nvPr/>
        </p:nvSpPr>
        <p:spPr>
          <a:xfrm>
            <a:off x="2293938" y="40814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39" name="Oval 185"/>
          <p:cNvSpPr/>
          <p:nvPr/>
        </p:nvSpPr>
        <p:spPr>
          <a:xfrm>
            <a:off x="2792413" y="49704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0" name="Oval 186"/>
          <p:cNvSpPr/>
          <p:nvPr/>
        </p:nvSpPr>
        <p:spPr>
          <a:xfrm>
            <a:off x="3203575" y="497840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1" name="Oval 187"/>
          <p:cNvSpPr/>
          <p:nvPr/>
        </p:nvSpPr>
        <p:spPr>
          <a:xfrm>
            <a:off x="4481513" y="55499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2" name="Oval 188"/>
          <p:cNvSpPr/>
          <p:nvPr/>
        </p:nvSpPr>
        <p:spPr>
          <a:xfrm>
            <a:off x="3249613" y="54276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3" name="Oval 189"/>
          <p:cNvSpPr/>
          <p:nvPr/>
        </p:nvSpPr>
        <p:spPr>
          <a:xfrm>
            <a:off x="3402013" y="55800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4" name="Oval 190"/>
          <p:cNvSpPr/>
          <p:nvPr/>
        </p:nvSpPr>
        <p:spPr>
          <a:xfrm>
            <a:off x="3554413" y="57324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5" name="Oval 191"/>
          <p:cNvSpPr/>
          <p:nvPr/>
        </p:nvSpPr>
        <p:spPr>
          <a:xfrm>
            <a:off x="3706813" y="5884863"/>
            <a:ext cx="74612"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6" name="Oval 192"/>
          <p:cNvSpPr/>
          <p:nvPr/>
        </p:nvSpPr>
        <p:spPr>
          <a:xfrm>
            <a:off x="1285875" y="49212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47" name="Rectangle 193"/>
          <p:cNvSpPr/>
          <p:nvPr/>
        </p:nvSpPr>
        <p:spPr>
          <a:xfrm>
            <a:off x="2901950" y="2855913"/>
            <a:ext cx="258763" cy="2444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348" name="Rectangle 194"/>
          <p:cNvSpPr/>
          <p:nvPr/>
        </p:nvSpPr>
        <p:spPr>
          <a:xfrm>
            <a:off x="6113463" y="3284538"/>
            <a:ext cx="258762" cy="2444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349" name="Rectangle 195"/>
          <p:cNvSpPr/>
          <p:nvPr/>
        </p:nvSpPr>
        <p:spPr>
          <a:xfrm>
            <a:off x="4937125" y="4070350"/>
            <a:ext cx="258763" cy="2444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350" name="Rectangle 196"/>
          <p:cNvSpPr/>
          <p:nvPr/>
        </p:nvSpPr>
        <p:spPr>
          <a:xfrm>
            <a:off x="6605588" y="5003800"/>
            <a:ext cx="258762" cy="2444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351" name="Rectangle 197"/>
          <p:cNvSpPr/>
          <p:nvPr/>
        </p:nvSpPr>
        <p:spPr>
          <a:xfrm>
            <a:off x="1822450" y="3452813"/>
            <a:ext cx="258763" cy="2444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352" name="Rectangle 198"/>
          <p:cNvSpPr/>
          <p:nvPr/>
        </p:nvSpPr>
        <p:spPr>
          <a:xfrm>
            <a:off x="4197350" y="4356100"/>
            <a:ext cx="258763" cy="2444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en-US" dirty="0">
              <a:latin typeface="Tahoma" panose="020B0604030504040204" pitchFamily="34" charset="0"/>
            </a:endParaRPr>
          </a:p>
        </p:txBody>
      </p:sp>
      <p:sp>
        <p:nvSpPr>
          <p:cNvPr id="177353" name="Oval 199"/>
          <p:cNvSpPr/>
          <p:nvPr/>
        </p:nvSpPr>
        <p:spPr>
          <a:xfrm>
            <a:off x="3981450" y="429736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54" name="Oval 200"/>
          <p:cNvSpPr/>
          <p:nvPr/>
        </p:nvSpPr>
        <p:spPr>
          <a:xfrm>
            <a:off x="4003675" y="4476750"/>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55" name="Oval 201"/>
          <p:cNvSpPr/>
          <p:nvPr/>
        </p:nvSpPr>
        <p:spPr>
          <a:xfrm>
            <a:off x="4098925" y="48037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56" name="Oval 202"/>
          <p:cNvSpPr/>
          <p:nvPr/>
        </p:nvSpPr>
        <p:spPr>
          <a:xfrm>
            <a:off x="4251325" y="4956175"/>
            <a:ext cx="74613"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57" name="Oval 203"/>
          <p:cNvSpPr/>
          <p:nvPr/>
        </p:nvSpPr>
        <p:spPr>
          <a:xfrm>
            <a:off x="4098925" y="4659313"/>
            <a:ext cx="74613" cy="7461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
        <p:nvSpPr>
          <p:cNvPr id="177358" name="Oval 204"/>
          <p:cNvSpPr/>
          <p:nvPr/>
        </p:nvSpPr>
        <p:spPr>
          <a:xfrm>
            <a:off x="4294188" y="4724400"/>
            <a:ext cx="74612" cy="746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en-US" dirty="0">
              <a:latin typeface="Tahoma" panose="020B0604030504040204" pitchFamily="34" charset="0"/>
            </a:endParaRPr>
          </a:p>
        </p:txBody>
      </p:sp>
    </p:spTree>
  </p:cSld>
  <p:clrMapOvr>
    <a:masterClrMapping/>
  </p:clrMapOvr>
  <p:transition>
    <p:strips dir="rd"/>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1026"/>
          <p:cNvSpPr>
            <a:spLocks noGrp="1" noChangeArrowheads="1"/>
          </p:cNvSpPr>
          <p:nvPr>
            <p:ph type="title"/>
          </p:nvPr>
        </p:nvSpPr>
        <p:spPr>
          <a:xfrm>
            <a:off x="1371600" y="457200"/>
            <a:ext cx="3657600" cy="6096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small" spc="0" normalizeH="0" baseline="0" noProof="0" smtClean="0">
                <a:ln>
                  <a:noFill/>
                </a:ln>
                <a:solidFill>
                  <a:schemeClr val="tx2"/>
                </a:solidFill>
                <a:effectLst/>
                <a:uLnTx/>
                <a:uFillTx/>
                <a:latin typeface="+mj-lt"/>
                <a:ea typeface="+mj-ea"/>
                <a:cs typeface="+mj-cs"/>
              </a:rPr>
              <a:t>Summary</a:t>
            </a:r>
            <a:endParaRPr kumimoji="0" lang="en-US" sz="3000" b="0" i="0" u="none" strike="noStrike" kern="1200" cap="small" spc="0" normalizeH="0" baseline="0" noProof="0" smtClean="0">
              <a:ln>
                <a:noFill/>
              </a:ln>
              <a:solidFill>
                <a:schemeClr val="tx2"/>
              </a:solidFill>
              <a:effectLst/>
              <a:uLnTx/>
              <a:uFillTx/>
              <a:latin typeface="+mj-lt"/>
              <a:ea typeface="+mj-ea"/>
              <a:cs typeface="+mj-cs"/>
            </a:endParaRPr>
          </a:p>
        </p:txBody>
      </p:sp>
      <p:sp>
        <p:nvSpPr>
          <p:cNvPr id="104451" name="Rectangle 1027"/>
          <p:cNvSpPr>
            <a:spLocks noGrp="1" noChangeArrowheads="1"/>
          </p:cNvSpPr>
          <p:nvPr>
            <p:ph sz="quarter" idx="1"/>
          </p:nvPr>
        </p:nvSpPr>
        <p:spPr>
          <a:xfrm>
            <a:off x="381000" y="1600200"/>
            <a:ext cx="8382000" cy="4953000"/>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Cluster analysis</a:t>
            </a:r>
            <a:r>
              <a:rPr kumimoji="0" lang="en-US" sz="2400" b="0" i="0" u="none" strike="noStrike" kern="1200" cap="none" spc="0" normalizeH="0" baseline="0" noProof="0" smtClean="0">
                <a:ln>
                  <a:noFill/>
                </a:ln>
                <a:solidFill>
                  <a:schemeClr val="tx1"/>
                </a:solidFill>
                <a:effectLst/>
                <a:uLnTx/>
                <a:uFillTx/>
                <a:latin typeface="+mn-lt"/>
                <a:ea typeface="+mn-ea"/>
                <a:cs typeface="+mn-cs"/>
              </a:rPr>
              <a:t> groups objects based on their </a:t>
            </a:r>
            <a:r>
              <a:rPr kumimoji="0" lang="en-US" sz="2400" b="0" i="0" u="none" strike="noStrike" kern="1200" cap="none" spc="0" normalizeH="0" baseline="0" noProof="0" smtClean="0">
                <a:ln>
                  <a:noFill/>
                </a:ln>
                <a:solidFill>
                  <a:schemeClr val="hlink"/>
                </a:solidFill>
                <a:effectLst/>
                <a:uLnTx/>
                <a:uFillTx/>
                <a:latin typeface="+mn-lt"/>
                <a:ea typeface="+mn-ea"/>
                <a:cs typeface="+mn-cs"/>
              </a:rPr>
              <a:t>similarity</a:t>
            </a:r>
            <a:r>
              <a:rPr kumimoji="0" lang="en-US" sz="2400" b="0" i="0" u="none" strike="noStrike" kern="1200" cap="none" spc="0" normalizeH="0" baseline="0" noProof="0" smtClean="0">
                <a:ln>
                  <a:noFill/>
                </a:ln>
                <a:solidFill>
                  <a:schemeClr val="tx1"/>
                </a:solidFill>
                <a:effectLst/>
                <a:uLnTx/>
                <a:uFillTx/>
                <a:latin typeface="+mn-lt"/>
                <a:ea typeface="+mn-ea"/>
                <a:cs typeface="+mn-cs"/>
              </a:rPr>
              <a:t>  and has wide applications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Measure of similarity can be computed for </a:t>
            </a:r>
            <a:r>
              <a:rPr kumimoji="0" lang="en-US" sz="2400" b="0" i="0" u="none" strike="noStrike" kern="1200" cap="none" spc="0" normalizeH="0" baseline="0" noProof="0" smtClean="0">
                <a:ln>
                  <a:noFill/>
                </a:ln>
                <a:solidFill>
                  <a:schemeClr val="hlink"/>
                </a:solidFill>
                <a:effectLst/>
                <a:uLnTx/>
                <a:uFillTx/>
                <a:latin typeface="+mn-lt"/>
                <a:ea typeface="+mn-ea"/>
                <a:cs typeface="+mn-cs"/>
              </a:rPr>
              <a:t>various types of data</a:t>
            </a:r>
            <a:endParaRPr kumimoji="0" lang="en-US" sz="2400" b="0" i="0" u="none" strike="noStrike" kern="1200" cap="none" spc="0" normalizeH="0" baseline="0" noProof="0" smtClean="0">
              <a:ln>
                <a:noFill/>
              </a:ln>
              <a:solidFill>
                <a:schemeClr val="hlink"/>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Clustering algorithms can be </a:t>
            </a:r>
            <a:r>
              <a:rPr kumimoji="0" lang="en-US" sz="2400" b="0" i="0" u="none" strike="noStrike" kern="1200" cap="none" spc="0" normalizeH="0" baseline="0" noProof="0" smtClean="0">
                <a:ln>
                  <a:noFill/>
                </a:ln>
                <a:solidFill>
                  <a:schemeClr val="hlink"/>
                </a:solidFill>
                <a:effectLst/>
                <a:uLnTx/>
                <a:uFillTx/>
                <a:latin typeface="+mn-lt"/>
                <a:ea typeface="+mn-ea"/>
                <a:cs typeface="+mn-cs"/>
              </a:rPr>
              <a:t>categorized</a:t>
            </a:r>
            <a:r>
              <a:rPr kumimoji="0" lang="en-US" sz="2400" b="0" i="0" u="none" strike="noStrike" kern="1200" cap="none" spc="0" normalizeH="0" baseline="0" noProof="0" smtClean="0">
                <a:ln>
                  <a:noFill/>
                </a:ln>
                <a:solidFill>
                  <a:schemeClr val="tx1"/>
                </a:solidFill>
                <a:effectLst/>
                <a:uLnTx/>
                <a:uFillTx/>
                <a:latin typeface="+mn-lt"/>
                <a:ea typeface="+mn-ea"/>
                <a:cs typeface="+mn-cs"/>
              </a:rPr>
              <a:t> into partitioning methods, hierarchical methods, density-based methods, grid-based methods, and model-based methods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hlink"/>
                </a:solidFill>
                <a:effectLst/>
                <a:uLnTx/>
                <a:uFillTx/>
                <a:latin typeface="+mn-lt"/>
                <a:ea typeface="+mn-ea"/>
                <a:cs typeface="+mn-cs"/>
              </a:rPr>
              <a:t>Outlier detection</a:t>
            </a:r>
            <a:r>
              <a:rPr kumimoji="0" lang="en-US" sz="2400" b="0" i="0" u="none" strike="noStrike" kern="1200" cap="none" spc="0" normalizeH="0" baseline="0" noProof="0" smtClean="0">
                <a:ln>
                  <a:noFill/>
                </a:ln>
                <a:solidFill>
                  <a:schemeClr val="tx1"/>
                </a:solidFill>
                <a:effectLst/>
                <a:uLnTx/>
                <a:uFillTx/>
                <a:latin typeface="+mn-lt"/>
                <a:ea typeface="+mn-ea"/>
                <a:cs typeface="+mn-cs"/>
              </a:rPr>
              <a:t> and analysis are very useful for fraud detection, etc. and can be performed by statistical, distance-based or deviation-based approaches</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2400" b="0" i="0" u="none" strike="noStrike" kern="1200" cap="none" spc="0" normalizeH="0" baseline="0" noProof="0" smtClean="0">
                <a:ln>
                  <a:noFill/>
                </a:ln>
                <a:solidFill>
                  <a:schemeClr val="tx1"/>
                </a:solidFill>
                <a:effectLst/>
                <a:uLnTx/>
                <a:uFillTx/>
                <a:latin typeface="+mn-lt"/>
                <a:ea typeface="+mn-ea"/>
                <a:cs typeface="+mn-cs"/>
              </a:rPr>
              <a:t>There are still lots of research issues on cluster analysis, such as </a:t>
            </a:r>
            <a:r>
              <a:rPr kumimoji="0" lang="en-US" sz="2400" b="0" i="0" u="none" strike="noStrike" kern="1200" cap="none" spc="0" normalizeH="0" baseline="0" noProof="0" smtClean="0">
                <a:ln>
                  <a:noFill/>
                </a:ln>
                <a:solidFill>
                  <a:schemeClr val="hlink"/>
                </a:solidFill>
                <a:effectLst/>
                <a:uLnTx/>
                <a:uFillTx/>
                <a:latin typeface="+mn-lt"/>
                <a:ea typeface="+mn-ea"/>
                <a:cs typeface="+mn-cs"/>
              </a:rPr>
              <a:t>constraint-based clustering</a:t>
            </a:r>
            <a:endParaRPr kumimoji="0" 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178179"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8180"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8181"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noChangeArrowheads="1"/>
          </p:cNvSpPr>
          <p:nvPr>
            <p:ph type="title"/>
          </p:nvPr>
        </p:nvSpPr>
        <p:spPr>
          <a:xfrm>
            <a:off x="1981200" y="304800"/>
            <a:ext cx="3429000" cy="85725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References (1)</a:t>
            </a:r>
            <a:endParaRPr kumimoji="0" lang="en-US" sz="3200" b="1" i="0" u="sng" strike="noStrike" kern="1200" cap="small" spc="0" normalizeH="0" baseline="0" noProof="0" smtClean="0">
              <a:ln>
                <a:noFill/>
              </a:ln>
              <a:solidFill>
                <a:schemeClr val="tx2"/>
              </a:solidFill>
              <a:effectLst/>
              <a:uLnTx/>
              <a:uFillTx/>
              <a:latin typeface="+mj-lt"/>
              <a:ea typeface="+mj-ea"/>
              <a:cs typeface="+mj-cs"/>
            </a:endParaRPr>
          </a:p>
        </p:txBody>
      </p:sp>
      <p:sp>
        <p:nvSpPr>
          <p:cNvPr id="105475" name="Rectangle 3"/>
          <p:cNvSpPr>
            <a:spLocks noGrp="1" noChangeArrowheads="1"/>
          </p:cNvSpPr>
          <p:nvPr>
            <p:ph sz="quarter" idx="1"/>
          </p:nvPr>
        </p:nvSpPr>
        <p:spPr>
          <a:xfrm>
            <a:off x="304800" y="1447800"/>
            <a:ext cx="8686800" cy="52578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R. Agrawal, J. Gehrke, D. Gunopulos, and P. Raghavan. Automatic subspace clustering of high dimensional data for data mining applications. SIGMOD'98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M. R. Anderberg. Cluster Analysis for Applications. Academic Press, 1973.</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M. Ankerst, M. Breunig, H.-P. Kriegel, and J. Sander.  Optics:  Ordering points to identify the clustering structure, SIGMOD’99.</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P. Arabie, L. J. Hubert, and G. De Soete. Clustering and Classification. World Scietific, 1996</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M. Ester, H.-P. Kriegel, J. Sander, and X. Xu. A density-based algorithm for discovering clusters in large spatial databases. KDD'96.</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M. Ester, H.-P. Kriegel, and X. Xu. Knowledge discovery in large spatial databases: Focusing techniques for efficient class identification. SSD'95.</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D. Fisher. Knowledge acquisition via incremental conceptual clustering. Machine Learning, 2:139-172, 1987.</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D. Gibson, J. Kleinberg, and P. Raghavan. Clustering categorical data: An approach based on dynamic systems. In Proc. VLDB’98.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S. Guha, R. Rastogi, and K. Shim. Cure: An efficient clustering algorithm for large databases. SIGMOD'98.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A. K. Jain and R. C. Dubes. Algorithms for Clustering Data. Printice Hall, 1988.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p:txBody>
      </p:sp>
      <p:sp>
        <p:nvSpPr>
          <p:cNvPr id="179203"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79204"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79205"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noChangeArrowheads="1"/>
          </p:cNvSpPr>
          <p:nvPr>
            <p:ph type="title"/>
          </p:nvPr>
        </p:nvSpPr>
        <p:spPr>
          <a:xfrm>
            <a:off x="1524000" y="381000"/>
            <a:ext cx="3505200" cy="781050"/>
          </a:xfrm>
        </p:spPr>
        <p:txBody>
          <a:bodyPr vert="horz" lIns="92075" tIns="46038" rIns="92075" bIns="46038"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small" spc="0" normalizeH="0" baseline="0" noProof="0" smtClean="0">
                <a:ln>
                  <a:noFill/>
                </a:ln>
                <a:solidFill>
                  <a:schemeClr val="tx2"/>
                </a:solidFill>
                <a:effectLst/>
                <a:uLnTx/>
                <a:uFillTx/>
                <a:latin typeface="+mj-lt"/>
                <a:ea typeface="+mj-ea"/>
                <a:cs typeface="+mj-cs"/>
              </a:rPr>
              <a:t>References (2)</a:t>
            </a:r>
            <a:endParaRPr kumimoji="0" lang="en-US" sz="3200" b="1" i="0" u="sng" strike="noStrike" kern="1200" cap="small" spc="0" normalizeH="0" baseline="0" noProof="0" smtClean="0">
              <a:ln>
                <a:noFill/>
              </a:ln>
              <a:solidFill>
                <a:schemeClr val="tx2"/>
              </a:solidFill>
              <a:effectLst/>
              <a:uLnTx/>
              <a:uFillTx/>
              <a:latin typeface="+mj-lt"/>
              <a:ea typeface="+mj-ea"/>
              <a:cs typeface="+mj-cs"/>
            </a:endParaRPr>
          </a:p>
        </p:txBody>
      </p:sp>
      <p:sp>
        <p:nvSpPr>
          <p:cNvPr id="106499" name="Rectangle 3"/>
          <p:cNvSpPr>
            <a:spLocks noGrp="1" noChangeArrowheads="1"/>
          </p:cNvSpPr>
          <p:nvPr>
            <p:ph sz="quarter" idx="1"/>
          </p:nvPr>
        </p:nvSpPr>
        <p:spPr>
          <a:xfrm>
            <a:off x="304800" y="1524000"/>
            <a:ext cx="8458200" cy="4953000"/>
          </a:xfrm>
        </p:spPr>
        <p:txBody>
          <a:bodyPr vert="horz" wrap="square" lIns="92075" tIns="46038" rIns="92075" bIns="46038" numCol="1" anchor="t" anchorCtr="0" compatLnSpc="1">
            <a:normAutofit lnSpcReduction="10000"/>
          </a:bodyPr>
          <a:lstStyle/>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L. Kaufman and P. J. Rousseeuw. Finding Groups in Data: an Introduction to Cluster Analysis. John Wiley &amp; Sons, 1990.</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E. Knorr and R. Ng. Algorithms for mining distance-based outliers in large datasets. VLDB’98.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G. J. McLachlan and K.E. Bkasford. Mixture Models: Inference and Applications to Clustering. John Wiley and Sons, 1988.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P. Michaud. Clustering techniques. Future Generation Computer systems, 13, 1997.</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R. Ng and J. Han. Efficient and effective clustering method for spatial data mining. VLDB'94.</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E. Schikuta. Grid clustering: An efficient hierarchical clustering method for very large data sets. Proc. 1996 Int. Conf. on Pattern Recognition, 101-105.</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G. Sheikholeslami, S. Chatterjee, and A. Zhang. WaveCluster: A multi-resolution clustering approach for very large spatial databases. VLDB’98.</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W. Wang, Yang, R. Muntz, STING: A Statistical Information grid Approach to Spatial Data Mining, VLDB’97.</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10000"/>
              </a:lnSpc>
              <a:spcBef>
                <a:spcPts val="600"/>
              </a:spcBef>
              <a:spcAft>
                <a:spcPts val="0"/>
              </a:spcAft>
              <a:buClr>
                <a:schemeClr val="accent1"/>
              </a:buClr>
              <a:buSzPct val="70000"/>
              <a:buFont typeface="Wingdings" panose="05000000000000000000"/>
              <a:buChar char=""/>
              <a:defRPr/>
            </a:pPr>
            <a:r>
              <a:rPr kumimoji="0" lang="en-US" sz="1600" b="0" i="0" u="none" strike="noStrike" kern="1200" cap="none" spc="0" normalizeH="0" baseline="0" noProof="0" smtClean="0">
                <a:ln>
                  <a:noFill/>
                </a:ln>
                <a:solidFill>
                  <a:schemeClr val="tx1"/>
                </a:solidFill>
                <a:effectLst/>
                <a:uLnTx/>
                <a:uFillTx/>
                <a:latin typeface="+mn-lt"/>
                <a:ea typeface="+mn-ea"/>
                <a:cs typeface="+mn-cs"/>
              </a:rPr>
              <a:t>T. Zhang, R. Ramakrishnan, and M. Livny. BIRCH : an efficient data clustering method for very large databases. SIGMOD'96.</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p:txBody>
      </p:sp>
      <p:sp>
        <p:nvSpPr>
          <p:cNvPr id="180227"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80228"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80229"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spTree>
  </p:cSld>
  <p:clrMapOvr>
    <a:masterClrMapping/>
  </p:clrMapOvr>
  <p:transition>
    <p:strips dir="rd"/>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23" name="Rectangle 3"/>
          <p:cNvSpPr>
            <a:spLocks noGrp="1" noChangeArrowheads="1"/>
          </p:cNvSpPr>
          <p:nvPr>
            <p:ph sz="quarter" idx="1"/>
          </p:nvPr>
        </p:nvSpPr>
        <p:spPr>
          <a:xfrm>
            <a:off x="609600" y="5410200"/>
            <a:ext cx="8077200" cy="1219200"/>
          </a:xfrm>
        </p:spPr>
        <p:txBody>
          <a:bodyPr vert="horz" wrap="square" lIns="92075" tIns="46038" rIns="92075" bIns="46038" numCol="1" anchor="t" anchorCtr="0" compatLnSpc="1">
            <a:normAutofit/>
          </a:bodyPr>
          <a:lstStyle/>
          <a:p>
            <a:pPr marL="274320" marR="0" lvl="0" indent="-274320" algn="ctr" defTabSz="914400" rtl="0" eaLnBrk="1" fontAlgn="auto" latinLnBrk="0" hangingPunct="1">
              <a:lnSpc>
                <a:spcPct val="90000"/>
              </a:lnSpc>
              <a:spcBef>
                <a:spcPts val="600"/>
              </a:spcBef>
              <a:spcAft>
                <a:spcPts val="0"/>
              </a:spcAft>
              <a:buClr>
                <a:schemeClr val="accent3"/>
              </a:buClr>
              <a:buSzPct val="70000"/>
              <a:buFont typeface="Wingdings" panose="05000000000000000000" pitchFamily="2" charset="2"/>
              <a:buNone/>
              <a:defRPr/>
            </a:pPr>
            <a:r>
              <a:rPr kumimoji="0" lang="en-US" sz="7200" b="0" i="0" u="none" strike="noStrike" kern="1200" cap="none" spc="0" normalizeH="0" baseline="0" noProof="0" smtClean="0">
                <a:ln>
                  <a:noFill/>
                </a:ln>
                <a:solidFill>
                  <a:schemeClr val="hlink"/>
                </a:solidFill>
                <a:effectLst>
                  <a:outerShdw blurRad="38100" dist="38100" dir="2700000" algn="tl">
                    <a:srgbClr val="C0C0C0"/>
                  </a:outerShdw>
                </a:effectLst>
                <a:uLnTx/>
                <a:uFillTx/>
                <a:latin typeface="Arial" panose="020B0604020202020204" pitchFamily="34" charset="0"/>
                <a:ea typeface="+mn-ea"/>
                <a:cs typeface="+mn-cs"/>
              </a:rPr>
              <a:t>Thank you !!!</a:t>
            </a:r>
            <a:endParaRPr kumimoji="0" lang="en-US" sz="1600" b="0" i="0" u="none" strike="noStrike" kern="1200" cap="none" spc="0" normalizeH="0" baseline="0" noProof="0" smtClean="0">
              <a:ln>
                <a:noFill/>
              </a:ln>
              <a:solidFill>
                <a:schemeClr val="tx1"/>
              </a:solidFill>
              <a:effectLst/>
              <a:uLnTx/>
              <a:uFillTx/>
              <a:latin typeface="+mn-lt"/>
              <a:ea typeface="+mn-ea"/>
              <a:cs typeface="+mn-cs"/>
            </a:endParaRPr>
          </a:p>
        </p:txBody>
      </p:sp>
      <p:sp>
        <p:nvSpPr>
          <p:cNvPr id="181250" name="Date Placeholder 3"/>
          <p:cNvSpPr>
            <a:spLocks noGrp="1"/>
          </p:cNvSpPr>
          <p:nvPr>
            <p:ph type="dt" sz="half" idx="2"/>
          </p:nvPr>
        </p:nvSpPr>
        <p:spPr>
          <a:xfrm rot="5400000">
            <a:off x="7585075" y="1077913"/>
            <a:ext cx="2011363" cy="384175"/>
          </a:xfrm>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a:buSzTx/>
            </a:pPr>
            <a:fld id="{BB962C8B-B14F-4D97-AF65-F5344CB8AC3E}" type="datetime4">
              <a:rPr lang="en-US" altLang="zh-CN" sz="1200" dirty="0">
                <a:solidFill>
                  <a:schemeClr val="tx2"/>
                </a:solidFill>
                <a:latin typeface="Tahoma" panose="020B0604030504040204" pitchFamily="34" charset="0"/>
                <a:ea typeface="SimSun" panose="02010600030101010101" pitchFamily="2" charset="-122"/>
              </a:rPr>
            </a:fld>
            <a:endParaRPr lang="en-US" altLang="zh-CN" sz="1200" dirty="0">
              <a:solidFill>
                <a:schemeClr val="tx2"/>
              </a:solidFill>
              <a:latin typeface="Tahoma" panose="020B0604030504040204" pitchFamily="34" charset="0"/>
              <a:ea typeface="SimSun" panose="02010600030101010101" pitchFamily="2" charset="-122"/>
            </a:endParaRPr>
          </a:p>
        </p:txBody>
      </p:sp>
      <p:sp>
        <p:nvSpPr>
          <p:cNvPr id="181251" name="Slide Number Placeholder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ctr">
              <a:buSzTx/>
            </a:pPr>
            <a:fld id="{9A0DB2DC-4C9A-4742-B13C-FB6460FD3503}" type="slidenum">
              <a:rPr lang="en-US" altLang="zh-CN" sz="1400" b="1" dirty="0">
                <a:solidFill>
                  <a:srgbClr val="FFFFFF"/>
                </a:solidFill>
                <a:latin typeface="Tahoma" panose="020B0604030504040204" pitchFamily="34" charset="0"/>
                <a:ea typeface="SimSun" panose="02010600030101010101" pitchFamily="2" charset="-122"/>
              </a:rPr>
            </a:fld>
            <a:endParaRPr lang="en-US" altLang="zh-CN" sz="1400" b="1" dirty="0">
              <a:solidFill>
                <a:srgbClr val="FFFFFF"/>
              </a:solidFill>
              <a:latin typeface="Tahoma" panose="020B0604030504040204" pitchFamily="34" charset="0"/>
              <a:ea typeface="SimSun" panose="02010600030101010101" pitchFamily="2" charset="-122"/>
            </a:endParaRPr>
          </a:p>
        </p:txBody>
      </p:sp>
      <p:sp>
        <p:nvSpPr>
          <p:cNvPr id="181252" name="Footer Placeholder 4"/>
          <p:cNvSpPr>
            <a:spLocks noGrp="1"/>
          </p:cNvSpPr>
          <p:nvPr>
            <p:ph type="ftr" sz="quarter" idx="3"/>
          </p:nvPr>
        </p:nvSpPr>
        <p:spPr>
          <a:noFill/>
          <a:ln>
            <a:noFill/>
          </a:ln>
        </p:spPr>
        <p:txBody>
          <a:bodyPr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buSzTx/>
            </a:pPr>
            <a:r>
              <a:rPr lang="en-US" sz="1200" dirty="0">
                <a:solidFill>
                  <a:schemeClr val="tx2"/>
                </a:solidFill>
                <a:latin typeface="Tahoma" panose="020B0604030504040204" pitchFamily="34" charset="0"/>
              </a:rPr>
              <a:t>Data Mining: Concepts and Techniques</a:t>
            </a:r>
            <a:endParaRPr lang="en-US" sz="1200" dirty="0">
              <a:solidFill>
                <a:schemeClr val="tx2"/>
              </a:solidFill>
              <a:latin typeface="Tahoma" panose="020B0604030504040204" pitchFamily="34" charset="0"/>
            </a:endParaRPr>
          </a:p>
        </p:txBody>
      </p:sp>
      <p:graphicFrame>
        <p:nvGraphicFramePr>
          <p:cNvPr id="181253" name="Object 4"/>
          <p:cNvGraphicFramePr/>
          <p:nvPr/>
        </p:nvGraphicFramePr>
        <p:xfrm>
          <a:off x="2590800" y="1219200"/>
          <a:ext cx="4189413" cy="4191000"/>
        </p:xfrm>
        <a:graphic>
          <a:graphicData uri="http://schemas.openxmlformats.org/presentationml/2006/ole">
            <mc:AlternateContent xmlns:mc="http://schemas.openxmlformats.org/markup-compatibility/2006">
              <mc:Choice xmlns:v="urn:schemas-microsoft-com:vml" Requires="v">
                <p:oleObj spid="_x0000_s3141" name="" r:id="rId1" imgW="7833360" imgH="7839075" progId="MS_ClipArt_Gallery.2">
                  <p:embed/>
                </p:oleObj>
              </mc:Choice>
              <mc:Fallback>
                <p:oleObj name="" r:id="rId1" imgW="7833360" imgH="7839075" progId="MS_ClipArt_Gallery.2">
                  <p:embed/>
                  <p:pic>
                    <p:nvPicPr>
                      <p:cNvPr id="0" name="Picture 3140"/>
                      <p:cNvPicPr/>
                      <p:nvPr/>
                    </p:nvPicPr>
                    <p:blipFill>
                      <a:blip r:embed="rId2"/>
                      <a:stretch>
                        <a:fillRect/>
                      </a:stretch>
                    </p:blipFill>
                    <p:spPr>
                      <a:xfrm>
                        <a:off x="2590800" y="1219200"/>
                        <a:ext cx="4189413" cy="4191000"/>
                      </a:xfrm>
                      <a:prstGeom prst="rect">
                        <a:avLst/>
                      </a:prstGeom>
                      <a:noFill/>
                      <a:ln w="38100">
                        <a:noFill/>
                        <a:miter/>
                      </a:ln>
                    </p:spPr>
                  </p:pic>
                </p:oleObj>
              </mc:Fallback>
            </mc:AlternateContent>
          </a:graphicData>
        </a:graphic>
      </p:graphicFrame>
    </p:spTree>
  </p:cSld>
  <p:clrMapOvr>
    <a:masterClrMapping/>
  </p:clrMapOvr>
  <p:transition>
    <p:strips dir="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48757</Words>
  <Application>WPS Presentation</Application>
  <PresentationFormat/>
  <Paragraphs>2378</Paragraphs>
  <Slides>152</Slides>
  <Notes>16</Notes>
  <HiddenSlides>2</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68</vt:i4>
      </vt:variant>
      <vt:variant>
        <vt:lpstr>幻灯片标题</vt:lpstr>
      </vt:variant>
      <vt:variant>
        <vt:i4>152</vt:i4>
      </vt:variant>
    </vt:vector>
  </HeadingPairs>
  <TitlesOfParts>
    <vt:vector size="245" baseType="lpstr">
      <vt:lpstr>Arial</vt:lpstr>
      <vt:lpstr>SimSun</vt:lpstr>
      <vt:lpstr>Wingdings</vt:lpstr>
      <vt:lpstr>Tahoma</vt:lpstr>
      <vt:lpstr>Century Schoolbook</vt:lpstr>
      <vt:lpstr>Wingdings 2</vt:lpstr>
      <vt:lpstr>Times New Roman</vt:lpstr>
      <vt:lpstr>PMingLiU</vt:lpstr>
      <vt:lpstr>MingLiU-ExtB</vt:lpstr>
      <vt:lpstr>Symbol</vt:lpstr>
      <vt:lpstr>Sakkal Majalla</vt:lpstr>
      <vt:lpstr>AMGDT</vt:lpstr>
      <vt:lpstr>Courier New</vt:lpstr>
      <vt:lpstr>Gulim</vt:lpstr>
      <vt:lpstr>Malgun Gothic</vt:lpstr>
      <vt:lpstr>ＭＳ Ｐ明朝</vt:lpstr>
      <vt:lpstr>Yu Gothic</vt:lpstr>
      <vt:lpstr>MS PGothic</vt:lpstr>
      <vt:lpstr>Monotype Sorts</vt:lpstr>
      <vt:lpstr>Wingdings</vt:lpstr>
      <vt:lpstr>Wingdings</vt:lpstr>
      <vt:lpstr>Wingdings 2</vt:lpstr>
      <vt:lpstr>Microsoft YaHei</vt:lpstr>
      <vt:lpstr>Arial Unicode MS</vt:lpstr>
      <vt:lpstr>Oriel</vt:lpstr>
      <vt:lpstr>Equation.3</vt:lpstr>
      <vt:lpstr>Equation.3</vt:lpstr>
      <vt:lpstr>Equation.3</vt:lpstr>
      <vt:lpstr>Equation.3</vt:lpstr>
      <vt:lpstr>Word.Document.8</vt:lpstr>
      <vt:lpstr>Equation.3</vt:lpstr>
      <vt:lpstr>Equation.3</vt:lpstr>
      <vt:lpstr>Equation.3</vt:lpstr>
      <vt:lpstr>Equation.3</vt:lpstr>
      <vt:lpstr>Equation.3</vt:lpstr>
      <vt:lpstr>Equation.3</vt:lpstr>
      <vt:lpstr>Equation.3</vt:lpstr>
      <vt:lpstr>Excel.Sheet.8</vt:lpstr>
      <vt:lpstr>Excel.Sheet.8</vt:lpstr>
      <vt:lpstr>Excel.Sheet.8</vt:lpstr>
      <vt:lpstr>Excel.Sheet.8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Excel.Sheet.8</vt:lpstr>
      <vt:lpstr>Equation.3</vt:lpstr>
      <vt:lpstr>Equation.3</vt:lpstr>
      <vt:lpstr>Equation.3</vt:lpstr>
      <vt:lpstr>Equation.3</vt:lpstr>
      <vt:lpstr>Word.Document.8</vt:lpstr>
      <vt:lpstr>Word.Document.8</vt:lpstr>
      <vt:lpstr>Word.Document.8</vt:lpstr>
      <vt:lpstr>Equation.3</vt:lpstr>
      <vt:lpstr>Equation.3</vt:lpstr>
      <vt:lpstr>Equation.3</vt:lpstr>
      <vt:lpstr>Equation.2</vt:lpstr>
      <vt:lpstr>MS_ClipArt_Gallery.2</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KIIT0001</cp:lastModifiedBy>
  <cp:revision>334</cp:revision>
  <cp:lastPrinted>1999-09-10T20:38:56Z</cp:lastPrinted>
  <dcterms:created xsi:type="dcterms:W3CDTF">1998-06-19T04:38:52Z</dcterms:created>
  <dcterms:modified xsi:type="dcterms:W3CDTF">2024-03-18T06:11:22Z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1033-12.2.0.13489</vt:lpwstr>
  </property>
  <property fmtid="{D5CDD505-2E9C-101B-9397-08002B2CF9AE}" pid="3" name="ICV">
    <vt:lpwstr>009A3A2ADA0A426ABEAEA3DCFA599BF2_13</vt:lpwstr>
  </property>
</Properties>
</file>