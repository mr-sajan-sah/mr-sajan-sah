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4"/>
  </p:notesMasterIdLst>
  <p:sldIdLst>
    <p:sldId id="256" r:id="rId2"/>
    <p:sldId id="728" r:id="rId3"/>
    <p:sldId id="729" r:id="rId4"/>
    <p:sldId id="792" r:id="rId5"/>
    <p:sldId id="730" r:id="rId6"/>
    <p:sldId id="731" r:id="rId7"/>
    <p:sldId id="732" r:id="rId8"/>
    <p:sldId id="733" r:id="rId9"/>
    <p:sldId id="793" r:id="rId10"/>
    <p:sldId id="794" r:id="rId11"/>
    <p:sldId id="795" r:id="rId12"/>
    <p:sldId id="796" r:id="rId13"/>
    <p:sldId id="797" r:id="rId14"/>
    <p:sldId id="798" r:id="rId15"/>
    <p:sldId id="799" r:id="rId16"/>
    <p:sldId id="800" r:id="rId17"/>
    <p:sldId id="801" r:id="rId18"/>
    <p:sldId id="802" r:id="rId19"/>
    <p:sldId id="803" r:id="rId20"/>
    <p:sldId id="804" r:id="rId21"/>
    <p:sldId id="805" r:id="rId22"/>
    <p:sldId id="806" r:id="rId23"/>
    <p:sldId id="807" r:id="rId24"/>
    <p:sldId id="808" r:id="rId25"/>
    <p:sldId id="809" r:id="rId26"/>
    <p:sldId id="736" r:id="rId27"/>
    <p:sldId id="737" r:id="rId28"/>
    <p:sldId id="738" r:id="rId29"/>
    <p:sldId id="771" r:id="rId30"/>
    <p:sldId id="772" r:id="rId31"/>
    <p:sldId id="739" r:id="rId32"/>
    <p:sldId id="740" r:id="rId33"/>
    <p:sldId id="741" r:id="rId34"/>
    <p:sldId id="834" r:id="rId35"/>
    <p:sldId id="810" r:id="rId36"/>
    <p:sldId id="811" r:id="rId37"/>
    <p:sldId id="812" r:id="rId38"/>
    <p:sldId id="813" r:id="rId39"/>
    <p:sldId id="814" r:id="rId40"/>
    <p:sldId id="815" r:id="rId41"/>
    <p:sldId id="816" r:id="rId42"/>
    <p:sldId id="817" r:id="rId43"/>
    <p:sldId id="818" r:id="rId44"/>
    <p:sldId id="819" r:id="rId45"/>
    <p:sldId id="820" r:id="rId46"/>
    <p:sldId id="821" r:id="rId47"/>
    <p:sldId id="822" r:id="rId48"/>
    <p:sldId id="823" r:id="rId49"/>
    <p:sldId id="824" r:id="rId50"/>
    <p:sldId id="825" r:id="rId51"/>
    <p:sldId id="826" r:id="rId52"/>
    <p:sldId id="827" r:id="rId53"/>
    <p:sldId id="828" r:id="rId54"/>
    <p:sldId id="829" r:id="rId55"/>
    <p:sldId id="830" r:id="rId56"/>
    <p:sldId id="831" r:id="rId57"/>
    <p:sldId id="832" r:id="rId58"/>
    <p:sldId id="833" r:id="rId59"/>
    <p:sldId id="745" r:id="rId60"/>
    <p:sldId id="746" r:id="rId61"/>
    <p:sldId id="747" r:id="rId62"/>
    <p:sldId id="748" r:id="rId63"/>
    <p:sldId id="749" r:id="rId64"/>
    <p:sldId id="777" r:id="rId65"/>
    <p:sldId id="778" r:id="rId66"/>
    <p:sldId id="779" r:id="rId67"/>
    <p:sldId id="750" r:id="rId68"/>
    <p:sldId id="751" r:id="rId69"/>
    <p:sldId id="752" r:id="rId70"/>
    <p:sldId id="753" r:id="rId71"/>
    <p:sldId id="761" r:id="rId72"/>
    <p:sldId id="762" r:id="rId73"/>
    <p:sldId id="763" r:id="rId74"/>
    <p:sldId id="790" r:id="rId75"/>
    <p:sldId id="791" r:id="rId76"/>
    <p:sldId id="754" r:id="rId77"/>
    <p:sldId id="780" r:id="rId78"/>
    <p:sldId id="755" r:id="rId79"/>
    <p:sldId id="782" r:id="rId80"/>
    <p:sldId id="783" r:id="rId81"/>
    <p:sldId id="784" r:id="rId82"/>
    <p:sldId id="785" r:id="rId83"/>
    <p:sldId id="786" r:id="rId84"/>
    <p:sldId id="787" r:id="rId85"/>
    <p:sldId id="788" r:id="rId86"/>
    <p:sldId id="789" r:id="rId87"/>
    <p:sldId id="781" r:id="rId88"/>
    <p:sldId id="756" r:id="rId89"/>
    <p:sldId id="757" r:id="rId90"/>
    <p:sldId id="758" r:id="rId91"/>
    <p:sldId id="759" r:id="rId92"/>
    <p:sldId id="760" r:id="rId93"/>
  </p:sldIdLst>
  <p:sldSz cx="9144000" cy="6858000" type="screen4x3"/>
  <p:notesSz cx="6858000" cy="9144000"/>
  <p:defaultTextStyle>
    <a:defPPr>
      <a:defRPr lang="en-AU"/>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52D1"/>
    <a:srgbClr val="3399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64" d="100"/>
          <a:sy n="64" d="100"/>
        </p:scale>
        <p:origin x="-1336" y="-68"/>
      </p:cViewPr>
      <p:guideLst>
        <p:guide orient="horz" pos="2041"/>
        <p:guide pos="3081"/>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pPr/>
              <a:t>9/27/2023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Text Box 1"/>
          <p:cNvSpPr>
            <a:spLocks noGrp="1"/>
          </p:cNvSpPr>
          <p:nvPr>
            <p:ph type="body"/>
          </p:nvPr>
        </p:nvSpPr>
        <p:spPr>
          <a:xfrm>
            <a:off x="931863" y="4408488"/>
            <a:ext cx="5121275" cy="608012"/>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When you think of a computer science queue, you can imagine a line of people waiting for a teller in a bank.  The line has a front (the next person to be served) and a rear (the last person to arrive.</a:t>
            </a:r>
          </a:p>
        </p:txBody>
      </p:sp>
      <p:sp>
        <p:nvSpPr>
          <p:cNvPr id="8195" name="Rectangle 2"/>
          <p:cNvSpPr>
            <a:spLocks noGrp="1" noRot="1" noChangeAspect="1" noTextEdi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Text Box 2"/>
          <p:cNvSpPr>
            <a:spLocks noGrp="1"/>
          </p:cNvSpPr>
          <p:nvPr>
            <p:ph type="body"/>
          </p:nvPr>
        </p:nvSpPr>
        <p:spPr>
          <a:xfrm>
            <a:off x="931863" y="4408488"/>
            <a:ext cx="5121275" cy="608012"/>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Don’t ask me why the C++ STL used the name push.  It only confuses matters with a stack.  In any case, when a new item enters a queue, it does so at the rear.</a:t>
            </a:r>
          </a:p>
        </p:txBody>
      </p:sp>
      <p:sp>
        <p:nvSpPr>
          <p:cNvPr id="10243" name="Rectangle 3"/>
          <p:cNvSpPr>
            <a:spLocks noGrp="1" noRot="1" noChangeAspect="1" noTextEdit="1"/>
          </p:cNvSpPr>
          <p:nvPr>
            <p:ph type="sldImg"/>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Text Box 2"/>
          <p:cNvSpPr>
            <a:spLocks noGrp="1"/>
          </p:cNvSpPr>
          <p:nvPr>
            <p:ph type="body"/>
          </p:nvPr>
        </p:nvSpPr>
        <p:spPr>
          <a:xfrm>
            <a:off x="931863" y="4408488"/>
            <a:ext cx="5121275" cy="266700"/>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When an item is removed from a queue, the removal occurs at the front.</a:t>
            </a:r>
          </a:p>
        </p:txBody>
      </p:sp>
      <p:sp>
        <p:nvSpPr>
          <p:cNvPr id="12291" name="Rectangle 3"/>
          <p:cNvSpPr>
            <a:spLocks noGrp="1" noRot="1" noChangeAspect="1" noTextEdit="1"/>
          </p:cNvSpPr>
          <p:nvPr>
            <p:ph type="sldImg"/>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957638" y="8818563"/>
            <a:ext cx="3027362" cy="463550"/>
          </a:xfrm>
          <a:prstGeom prst="rect">
            <a:avLst/>
          </a:prstGeom>
          <a:noFill/>
          <a:ln w="9525">
            <a:noFill/>
          </a:ln>
        </p:spPr>
        <p:txBody>
          <a:bodyPr wrap="square" lIns="19364" tIns="0" rIns="19364" bIns="0" anchor="b"/>
          <a:lstStyle/>
          <a:p>
            <a:pPr lvl="0" indent="0" algn="r" defTabSz="930275"/>
            <a:fld id="{9A0DB2DC-4C9A-4742-B13C-FB6460FD3503}" type="slidenum">
              <a:rPr lang="en-GB" altLang="en-US" sz="1000" i="1" dirty="0">
                <a:solidFill>
                  <a:schemeClr val="tx1"/>
                </a:solidFill>
              </a:rPr>
              <a:pPr lvl="0" indent="0" algn="r" defTabSz="930275"/>
              <a:t>8</a:t>
            </a:fld>
            <a:endParaRPr lang="en-GB" altLang="en-US" sz="1000" i="1" dirty="0">
              <a:solidFill>
                <a:schemeClr val="tx1"/>
              </a:solidFill>
            </a:endParaRPr>
          </a:p>
        </p:txBody>
      </p:sp>
      <p:sp>
        <p:nvSpPr>
          <p:cNvPr id="14339" name="Rectangle 1"/>
          <p:cNvSpPr>
            <a:spLocks noGrp="1" noRot="1" noChangeAspect="1" noTextEdit="1"/>
          </p:cNvSpPr>
          <p:nvPr>
            <p:ph type="sldImg"/>
          </p:nvPr>
        </p:nvSpPr>
        <p:spPr>
          <a:xfrm>
            <a:off x="1171575" y="696913"/>
            <a:ext cx="4641850" cy="3481387"/>
          </a:xfrm>
          <a:solidFill>
            <a:srgbClr val="FFFFFF"/>
          </a:solidFill>
        </p:spPr>
      </p:sp>
      <p:sp>
        <p:nvSpPr>
          <p:cNvPr id="14340" name="Rectangle 2"/>
          <p:cNvSpPr>
            <a:spLocks noGrp="1"/>
          </p:cNvSpPr>
          <p:nvPr>
            <p:ph type="body"/>
          </p:nvPr>
        </p:nvSpPr>
        <p:spPr>
          <a:xfrm>
            <a:off x="698500" y="4410075"/>
            <a:ext cx="5588000" cy="4176713"/>
          </a:xfrm>
        </p:spPr>
        <p:txBody>
          <a:bodyPr wrap="none" lIns="93594" tIns="46798" rIns="93594" bIns="46798" anchor="ctr"/>
          <a:lstStyle/>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9C4371-784C-415D-A338-59317367CD53}" type="slidenum">
              <a:rPr lang="en-US" smtClean="0"/>
              <a:pPr/>
              <a:t>10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11</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12</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13</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14</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15</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16</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17</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20</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21</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22</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23</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24</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0D81FF-534A-43EB-A935-95B7A35A8BB9}" type="slidenum">
              <a:rPr lang="en-US"/>
              <a:pPr/>
              <a:t>25</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7"/>
          <p:cNvSpPr txBox="1">
            <a:spLocks noGrp="1"/>
          </p:cNvSpPr>
          <p:nvPr>
            <p:ph type="sldNum" sz="quarter"/>
          </p:nvPr>
        </p:nvSpPr>
        <p:spPr>
          <a:xfrm>
            <a:off x="3957638" y="8818563"/>
            <a:ext cx="3027362" cy="463550"/>
          </a:xfrm>
          <a:prstGeom prst="rect">
            <a:avLst/>
          </a:prstGeom>
          <a:noFill/>
          <a:ln w="9525">
            <a:noFill/>
          </a:ln>
        </p:spPr>
        <p:txBody>
          <a:bodyPr wrap="square" lIns="19364" tIns="0" rIns="19364" bIns="0" anchor="b"/>
          <a:lstStyle/>
          <a:p>
            <a:pPr lvl="0" indent="0" algn="r" defTabSz="930275"/>
            <a:fld id="{9A0DB2DC-4C9A-4742-B13C-FB6460FD3503}" type="slidenum">
              <a:rPr lang="en-GB" altLang="en-US" sz="1000" i="1" dirty="0">
                <a:solidFill>
                  <a:schemeClr val="tx1"/>
                </a:solidFill>
              </a:rPr>
              <a:pPr lvl="0" indent="0" algn="r" defTabSz="930275"/>
              <a:t>26</a:t>
            </a:fld>
            <a:endParaRPr lang="en-GB" altLang="en-US" sz="1000" i="1" dirty="0">
              <a:solidFill>
                <a:schemeClr val="tx1"/>
              </a:solidFill>
            </a:endParaRPr>
          </a:p>
        </p:txBody>
      </p:sp>
      <p:sp>
        <p:nvSpPr>
          <p:cNvPr id="20483" name="Rectangle 1"/>
          <p:cNvSpPr>
            <a:spLocks noGrp="1" noRot="1" noChangeAspect="1" noTextEdit="1"/>
          </p:cNvSpPr>
          <p:nvPr>
            <p:ph type="sldImg"/>
          </p:nvPr>
        </p:nvSpPr>
        <p:spPr>
          <a:xfrm>
            <a:off x="1171575" y="696913"/>
            <a:ext cx="4641850" cy="3481387"/>
          </a:xfrm>
          <a:solidFill>
            <a:srgbClr val="FFFFFF"/>
          </a:solidFill>
        </p:spPr>
      </p:sp>
      <p:sp>
        <p:nvSpPr>
          <p:cNvPr id="20484" name="Rectangle 2"/>
          <p:cNvSpPr>
            <a:spLocks noGrp="1"/>
          </p:cNvSpPr>
          <p:nvPr>
            <p:ph type="body"/>
          </p:nvPr>
        </p:nvSpPr>
        <p:spPr>
          <a:xfrm>
            <a:off x="698500" y="4410075"/>
            <a:ext cx="5588000" cy="4176713"/>
          </a:xfrm>
        </p:spPr>
        <p:txBody>
          <a:bodyPr wrap="none" lIns="93594" tIns="46798" rIns="93594" bIns="46798" anchor="ctr"/>
          <a:lstStyle/>
          <a:p>
            <a:pPr lvl="0"/>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Text Box 2"/>
          <p:cNvSpPr>
            <a:spLocks noGrp="1"/>
          </p:cNvSpPr>
          <p:nvPr>
            <p:ph type="body"/>
          </p:nvPr>
        </p:nvSpPr>
        <p:spPr>
          <a:xfrm>
            <a:off x="931863" y="4408488"/>
            <a:ext cx="5121275" cy="266700"/>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Here are some of the key aspects of an array implementation of a queue.</a:t>
            </a:r>
          </a:p>
        </p:txBody>
      </p:sp>
      <p:sp>
        <p:nvSpPr>
          <p:cNvPr id="22531" name="Rectangle 3"/>
          <p:cNvSpPr>
            <a:spLocks noGrp="1" noRot="1" noChangeAspect="1" noTextEdit="1"/>
          </p:cNvSpPr>
          <p:nvPr>
            <p:ph type="sldImg"/>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Text Box 2"/>
          <p:cNvSpPr>
            <a:spLocks noGrp="1"/>
          </p:cNvSpPr>
          <p:nvPr>
            <p:ph type="body"/>
          </p:nvPr>
        </p:nvSpPr>
        <p:spPr>
          <a:xfrm>
            <a:off x="931863" y="4408488"/>
            <a:ext cx="5121275" cy="266700"/>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Here are some of the key aspects of an array implementation of a queue.</a:t>
            </a:r>
          </a:p>
        </p:txBody>
      </p:sp>
      <p:sp>
        <p:nvSpPr>
          <p:cNvPr id="24579" name="Rectangle 3"/>
          <p:cNvSpPr>
            <a:spLocks noGrp="1" noRot="1" noChangeAspect="1" noTextEdit="1"/>
          </p:cNvSpPr>
          <p:nvPr>
            <p:ph type="sldImg"/>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Text Box 2"/>
          <p:cNvSpPr>
            <a:spLocks noGrp="1"/>
          </p:cNvSpPr>
          <p:nvPr>
            <p:ph type="body"/>
          </p:nvPr>
        </p:nvSpPr>
        <p:spPr>
          <a:xfrm>
            <a:off x="931863" y="4408488"/>
            <a:ext cx="5121275" cy="266700"/>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Here are some of the key aspects of an array implementation of a queue.</a:t>
            </a:r>
          </a:p>
        </p:txBody>
      </p:sp>
      <p:sp>
        <p:nvSpPr>
          <p:cNvPr id="24579" name="Rectangle 3"/>
          <p:cNvSpPr>
            <a:spLocks noGrp="1" noRot="1" noChangeAspect="1" noTextEdit="1"/>
          </p:cNvSpPr>
          <p:nvPr>
            <p:ph type="sldImg"/>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Text Box 2"/>
          <p:cNvSpPr>
            <a:spLocks noGrp="1"/>
          </p:cNvSpPr>
          <p:nvPr>
            <p:ph type="body"/>
          </p:nvPr>
        </p:nvSpPr>
        <p:spPr>
          <a:xfrm>
            <a:off x="931863" y="4408488"/>
            <a:ext cx="5121275" cy="266700"/>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Here are some of the key aspects of an array implementation of a queue.</a:t>
            </a:r>
          </a:p>
        </p:txBody>
      </p:sp>
      <p:sp>
        <p:nvSpPr>
          <p:cNvPr id="24579" name="Rectangle 3"/>
          <p:cNvSpPr>
            <a:spLocks noGrp="1" noRot="1" noChangeAspect="1" noTextEdit="1"/>
          </p:cNvSpPr>
          <p:nvPr>
            <p:ph type="sldImg"/>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Text Box 2"/>
          <p:cNvSpPr>
            <a:spLocks noGrp="1"/>
          </p:cNvSpPr>
          <p:nvPr>
            <p:ph type="body"/>
          </p:nvPr>
        </p:nvSpPr>
        <p:spPr>
          <a:xfrm>
            <a:off x="931863" y="4408488"/>
            <a:ext cx="5121275" cy="266700"/>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Here are some of the key aspects of an array implementation of a queue.</a:t>
            </a:r>
          </a:p>
        </p:txBody>
      </p:sp>
      <p:sp>
        <p:nvSpPr>
          <p:cNvPr id="26627" name="Rectangle 3"/>
          <p:cNvSpPr>
            <a:spLocks noGrp="1" noRot="1" noChangeAspect="1" noTextEdit="1"/>
          </p:cNvSpPr>
          <p:nvPr>
            <p:ph type="sldImg"/>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Text Box 2"/>
          <p:cNvSpPr>
            <a:spLocks noGrp="1"/>
          </p:cNvSpPr>
          <p:nvPr>
            <p:ph type="body"/>
          </p:nvPr>
        </p:nvSpPr>
        <p:spPr>
          <a:xfrm>
            <a:off x="931863" y="4408488"/>
            <a:ext cx="5121275" cy="266700"/>
          </a:xfrm>
        </p:spPr>
        <p:txBody>
          <a:bodyPr wrap="square" lIns="93594" tIns="46798" rIns="93594" bIns="46798" anchor="t">
            <a:spAutoFit/>
          </a:bodyPr>
          <a:lstStyle/>
          <a:p>
            <a:pPr lvl="0" defTabSz="914400">
              <a:lnSpc>
                <a:spcPct val="93000"/>
              </a:lnSpc>
              <a:spcBef>
                <a:spcPts val="465"/>
              </a:spcBef>
              <a:tabLst>
                <a:tab pos="0" algn="l"/>
                <a:tab pos="929005" algn="l"/>
                <a:tab pos="1859280" algn="l"/>
                <a:tab pos="2787650" algn="l"/>
                <a:tab pos="3717925" algn="l"/>
                <a:tab pos="4646930" algn="l"/>
                <a:tab pos="5577205" algn="l"/>
                <a:tab pos="6505575" algn="l"/>
                <a:tab pos="7435850" algn="l"/>
                <a:tab pos="8364855" algn="l"/>
                <a:tab pos="9295130" algn="l"/>
                <a:tab pos="10223500" algn="l"/>
              </a:tabLst>
            </a:pPr>
            <a:r>
              <a:rPr lang="en-GB" altLang="en-US" dirty="0">
                <a:latin typeface="Arial" panose="020B0604020202020204" pitchFamily="34" charset="0"/>
                <a:ea typeface="Arial Unicode MS" panose="020B0604020202020204" pitchFamily="34" charset="-128"/>
              </a:rPr>
              <a:t>Here are some of the key aspects of an array implementation of a queue.</a:t>
            </a:r>
          </a:p>
        </p:txBody>
      </p:sp>
      <p:sp>
        <p:nvSpPr>
          <p:cNvPr id="28675" name="Rectangle 3"/>
          <p:cNvSpPr>
            <a:spLocks noGrp="1" noRot="1" noChangeAspect="1" noTextEdit="1"/>
          </p:cNvSpPr>
          <p:nvPr>
            <p:ph type="sldImg"/>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p:cNvSpPr txBox="1">
            <a:spLocks noGrp="1"/>
          </p:cNvSpPr>
          <p:nvPr>
            <p:ph type="sldNum" sz="quarter"/>
          </p:nvPr>
        </p:nvSpPr>
        <p:spPr>
          <a:xfrm>
            <a:off x="3957638" y="8818563"/>
            <a:ext cx="3027362" cy="463550"/>
          </a:xfrm>
          <a:prstGeom prst="rect">
            <a:avLst/>
          </a:prstGeom>
          <a:noFill/>
          <a:ln w="9525">
            <a:noFill/>
          </a:ln>
        </p:spPr>
        <p:txBody>
          <a:bodyPr wrap="square" lIns="19364" tIns="0" rIns="19364" bIns="0" anchor="b"/>
          <a:lstStyle/>
          <a:p>
            <a:pPr lvl="0" indent="0" algn="r" defTabSz="930275"/>
            <a:fld id="{9A0DB2DC-4C9A-4742-B13C-FB6460FD3503}" type="slidenum">
              <a:rPr lang="en-GB" altLang="en-US" sz="1000" i="1" dirty="0">
                <a:solidFill>
                  <a:schemeClr val="tx1"/>
                </a:solidFill>
              </a:rPr>
              <a:pPr lvl="0" indent="0" algn="r" defTabSz="930275"/>
              <a:t>34</a:t>
            </a:fld>
            <a:endParaRPr lang="en-GB" altLang="en-US" sz="1000" i="1" dirty="0">
              <a:solidFill>
                <a:schemeClr val="tx1"/>
              </a:solidFill>
            </a:endParaRPr>
          </a:p>
        </p:txBody>
      </p:sp>
      <p:sp>
        <p:nvSpPr>
          <p:cNvPr id="31747" name="Rectangle 1"/>
          <p:cNvSpPr>
            <a:spLocks noGrp="1" noRot="1" noChangeAspect="1" noTextEdit="1"/>
          </p:cNvSpPr>
          <p:nvPr>
            <p:ph type="sldImg"/>
          </p:nvPr>
        </p:nvSpPr>
        <p:spPr>
          <a:xfrm>
            <a:off x="1171575" y="696913"/>
            <a:ext cx="4641850" cy="3481387"/>
          </a:xfrm>
          <a:solidFill>
            <a:srgbClr val="FFFFFF"/>
          </a:solidFill>
        </p:spPr>
      </p:sp>
      <p:sp>
        <p:nvSpPr>
          <p:cNvPr id="31748" name="Rectangle 2"/>
          <p:cNvSpPr>
            <a:spLocks noGrp="1"/>
          </p:cNvSpPr>
          <p:nvPr>
            <p:ph type="body"/>
          </p:nvPr>
        </p:nvSpPr>
        <p:spPr>
          <a:xfrm>
            <a:off x="698500" y="4410075"/>
            <a:ext cx="5588000" cy="4176713"/>
          </a:xfrm>
        </p:spPr>
        <p:txBody>
          <a:bodyPr wrap="none" lIns="93594" tIns="46798" rIns="93594" bIns="46798" anchor="ctr"/>
          <a:lstStyle/>
          <a:p>
            <a:pPr lvl="0"/>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7"/>
          <p:cNvSpPr txBox="1">
            <a:spLocks noGrp="1"/>
          </p:cNvSpPr>
          <p:nvPr>
            <p:ph type="sldNum" sz="quarter"/>
          </p:nvPr>
        </p:nvSpPr>
        <p:spPr>
          <a:xfrm>
            <a:off x="3957638" y="8818563"/>
            <a:ext cx="3027362" cy="463550"/>
          </a:xfrm>
          <a:prstGeom prst="rect">
            <a:avLst/>
          </a:prstGeom>
          <a:noFill/>
          <a:ln w="9525">
            <a:noFill/>
          </a:ln>
        </p:spPr>
        <p:txBody>
          <a:bodyPr wrap="square" lIns="19364" tIns="0" rIns="19364" bIns="0" anchor="b"/>
          <a:lstStyle/>
          <a:p>
            <a:pPr lvl="0" indent="0" algn="r" defTabSz="930275"/>
            <a:fld id="{9A0DB2DC-4C9A-4742-B13C-FB6460FD3503}" type="slidenum">
              <a:rPr lang="en-GB" altLang="en-US" sz="1000" i="1" dirty="0">
                <a:solidFill>
                  <a:schemeClr val="tx1"/>
                </a:solidFill>
              </a:rPr>
              <a:pPr lvl="0" indent="0" algn="r" defTabSz="930275"/>
              <a:t>61</a:t>
            </a:fld>
            <a:endParaRPr lang="en-GB" altLang="en-US" sz="1000" i="1" dirty="0">
              <a:solidFill>
                <a:schemeClr val="tx1"/>
              </a:solidFill>
            </a:endParaRPr>
          </a:p>
        </p:txBody>
      </p:sp>
      <p:sp>
        <p:nvSpPr>
          <p:cNvPr id="39939" name="Rectangle 1"/>
          <p:cNvSpPr>
            <a:spLocks noGrp="1" noRot="1" noChangeAspect="1" noTextEdit="1"/>
          </p:cNvSpPr>
          <p:nvPr>
            <p:ph type="sldImg"/>
          </p:nvPr>
        </p:nvSpPr>
        <p:spPr>
          <a:xfrm>
            <a:off x="1171575" y="696913"/>
            <a:ext cx="4641850" cy="3481387"/>
          </a:xfrm>
          <a:solidFill>
            <a:srgbClr val="FFFFFF"/>
          </a:solidFill>
        </p:spPr>
      </p:sp>
      <p:sp>
        <p:nvSpPr>
          <p:cNvPr id="39940" name="Rectangle 2"/>
          <p:cNvSpPr>
            <a:spLocks noGrp="1"/>
          </p:cNvSpPr>
          <p:nvPr>
            <p:ph type="body"/>
          </p:nvPr>
        </p:nvSpPr>
        <p:spPr>
          <a:xfrm>
            <a:off x="698500" y="4410075"/>
            <a:ext cx="5588000" cy="4176713"/>
          </a:xfrm>
        </p:spPr>
        <p:txBody>
          <a:bodyPr wrap="none" lIns="93594" tIns="46798" rIns="93594" bIns="46798" anchor="ctr"/>
          <a:lstStyle/>
          <a:p>
            <a:pPr lvl="0"/>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7"/>
          <p:cNvSpPr txBox="1">
            <a:spLocks noGrp="1"/>
          </p:cNvSpPr>
          <p:nvPr>
            <p:ph type="sldNum" sz="quarter"/>
          </p:nvPr>
        </p:nvSpPr>
        <p:spPr>
          <a:xfrm>
            <a:off x="3957638" y="8818563"/>
            <a:ext cx="3027362" cy="463550"/>
          </a:xfrm>
          <a:prstGeom prst="rect">
            <a:avLst/>
          </a:prstGeom>
          <a:noFill/>
          <a:ln w="9525">
            <a:noFill/>
          </a:ln>
        </p:spPr>
        <p:txBody>
          <a:bodyPr wrap="square" lIns="19364" tIns="0" rIns="19364" bIns="0" anchor="b"/>
          <a:lstStyle/>
          <a:p>
            <a:pPr lvl="0" indent="0" algn="r" defTabSz="930275"/>
            <a:fld id="{9A0DB2DC-4C9A-4742-B13C-FB6460FD3503}" type="slidenum">
              <a:rPr lang="en-GB" altLang="en-US" sz="1000" i="1" dirty="0">
                <a:solidFill>
                  <a:schemeClr val="tx1"/>
                </a:solidFill>
              </a:rPr>
              <a:pPr lvl="0" indent="0" algn="r" defTabSz="930275"/>
              <a:t>62</a:t>
            </a:fld>
            <a:endParaRPr lang="en-GB" altLang="en-US" sz="1000" i="1" dirty="0">
              <a:solidFill>
                <a:schemeClr val="tx1"/>
              </a:solidFill>
            </a:endParaRPr>
          </a:p>
        </p:txBody>
      </p:sp>
      <p:sp>
        <p:nvSpPr>
          <p:cNvPr id="41987" name="Rectangle 1"/>
          <p:cNvSpPr>
            <a:spLocks noGrp="1" noRot="1" noChangeAspect="1" noTextEdit="1"/>
          </p:cNvSpPr>
          <p:nvPr>
            <p:ph type="sldImg"/>
          </p:nvPr>
        </p:nvSpPr>
        <p:spPr>
          <a:xfrm>
            <a:off x="1171575" y="696913"/>
            <a:ext cx="4641850" cy="3481387"/>
          </a:xfrm>
          <a:solidFill>
            <a:srgbClr val="FFFFFF"/>
          </a:solidFill>
        </p:spPr>
      </p:sp>
      <p:sp>
        <p:nvSpPr>
          <p:cNvPr id="41988" name="Rectangle 2"/>
          <p:cNvSpPr>
            <a:spLocks noGrp="1"/>
          </p:cNvSpPr>
          <p:nvPr>
            <p:ph type="body"/>
          </p:nvPr>
        </p:nvSpPr>
        <p:spPr>
          <a:xfrm>
            <a:off x="698500" y="4410075"/>
            <a:ext cx="5588000" cy="4176713"/>
          </a:xfrm>
        </p:spPr>
        <p:txBody>
          <a:bodyPr wrap="none" lIns="93594" tIns="46798" rIns="93594" bIns="46798" anchor="ctr"/>
          <a:lstStyle/>
          <a:p>
            <a:pPr lvl="0"/>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957638" y="8818563"/>
            <a:ext cx="3027362" cy="463550"/>
          </a:xfrm>
          <a:prstGeom prst="rect">
            <a:avLst/>
          </a:prstGeom>
          <a:noFill/>
          <a:ln w="9525">
            <a:noFill/>
          </a:ln>
        </p:spPr>
        <p:txBody>
          <a:bodyPr wrap="square" lIns="19364" tIns="0" rIns="19364" bIns="0" anchor="b"/>
          <a:lstStyle/>
          <a:p>
            <a:pPr lvl="0" indent="0" algn="r" defTabSz="930275"/>
            <a:fld id="{9A0DB2DC-4C9A-4742-B13C-FB6460FD3503}" type="slidenum">
              <a:rPr lang="en-US" altLang="en-US" sz="1000" i="1" dirty="0">
                <a:solidFill>
                  <a:schemeClr val="tx1"/>
                </a:solidFill>
              </a:rPr>
              <a:pPr lvl="0" indent="0" algn="r" defTabSz="930275"/>
              <a:t>76</a:t>
            </a:fld>
            <a:endParaRPr lang="en-US" altLang="en-US" sz="1000" i="1" dirty="0">
              <a:solidFill>
                <a:schemeClr val="tx1"/>
              </a:solidFill>
            </a:endParaRPr>
          </a:p>
        </p:txBody>
      </p:sp>
      <p:sp>
        <p:nvSpPr>
          <p:cNvPr id="49154" name="Rectangle 2"/>
          <p:cNvSpPr>
            <a:spLocks noGrp="1" noRot="1" noChangeAspect="1" noTextEdit="1"/>
          </p:cNvSpPr>
          <p:nvPr>
            <p:ph type="sldImg"/>
          </p:nvPr>
        </p:nvSpPr>
        <p:spPr/>
      </p:sp>
      <p:sp>
        <p:nvSpPr>
          <p:cNvPr id="49155" name="Rectangle 3"/>
          <p:cNvSpPr>
            <a:spLocks noGrp="1"/>
          </p:cNvSpPr>
          <p:nvPr>
            <p:ph type="body"/>
          </p:nvPr>
        </p:nvSpPr>
        <p:spPr>
          <a:xfrm>
            <a:off x="931863" y="4408488"/>
            <a:ext cx="5121275" cy="4176712"/>
          </a:xfrm>
        </p:spPr>
        <p:txBody>
          <a:bodyPr wrap="square" lIns="93594" tIns="46798" rIns="93594" bIns="46798" anchor="t"/>
          <a:lstStyle/>
          <a:p>
            <a:pPr lvl="0"/>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957638" y="8818563"/>
            <a:ext cx="3027362" cy="463550"/>
          </a:xfrm>
          <a:prstGeom prst="rect">
            <a:avLst/>
          </a:prstGeom>
          <a:noFill/>
          <a:ln w="9525">
            <a:noFill/>
          </a:ln>
        </p:spPr>
        <p:txBody>
          <a:bodyPr wrap="square" lIns="19364" tIns="0" rIns="19364" bIns="0" anchor="b"/>
          <a:lstStyle/>
          <a:p>
            <a:pPr lvl="0" indent="0" algn="r" defTabSz="930275"/>
            <a:fld id="{9A0DB2DC-4C9A-4742-B13C-FB6460FD3503}" type="slidenum">
              <a:rPr lang="en-US" altLang="en-US" sz="1000" i="1" dirty="0">
                <a:solidFill>
                  <a:schemeClr val="tx1"/>
                </a:solidFill>
              </a:rPr>
              <a:pPr lvl="0" indent="0" algn="r" defTabSz="930275"/>
              <a:t>77</a:t>
            </a:fld>
            <a:endParaRPr lang="en-US" altLang="en-US" sz="1000" i="1" dirty="0">
              <a:solidFill>
                <a:schemeClr val="tx1"/>
              </a:solidFill>
            </a:endParaRPr>
          </a:p>
        </p:txBody>
      </p:sp>
      <p:sp>
        <p:nvSpPr>
          <p:cNvPr id="49154" name="Rectangle 2"/>
          <p:cNvSpPr>
            <a:spLocks noGrp="1" noRot="1" noChangeAspect="1" noTextEdit="1"/>
          </p:cNvSpPr>
          <p:nvPr>
            <p:ph type="sldImg"/>
          </p:nvPr>
        </p:nvSpPr>
        <p:spPr/>
      </p:sp>
      <p:sp>
        <p:nvSpPr>
          <p:cNvPr id="49155" name="Rectangle 3"/>
          <p:cNvSpPr>
            <a:spLocks noGrp="1"/>
          </p:cNvSpPr>
          <p:nvPr>
            <p:ph type="body"/>
          </p:nvPr>
        </p:nvSpPr>
        <p:spPr>
          <a:xfrm>
            <a:off x="931863" y="4408488"/>
            <a:ext cx="5121275" cy="4176712"/>
          </a:xfrm>
        </p:spPr>
        <p:txBody>
          <a:bodyPr wrap="square" lIns="93594" tIns="46798" rIns="93594" bIns="46798" anchor="t"/>
          <a:lstStyle/>
          <a:p>
            <a:pPr lvl="0"/>
            <a:endParaRPr lang="en-US"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957638" y="8818563"/>
            <a:ext cx="3027362" cy="463550"/>
          </a:xfrm>
          <a:prstGeom prst="rect">
            <a:avLst/>
          </a:prstGeom>
          <a:noFill/>
          <a:ln w="9525">
            <a:noFill/>
          </a:ln>
        </p:spPr>
        <p:txBody>
          <a:bodyPr wrap="square" lIns="19364" tIns="0" rIns="19364" bIns="0" anchor="b"/>
          <a:lstStyle/>
          <a:p>
            <a:pPr lvl="0" indent="0" algn="r" defTabSz="930275"/>
            <a:fld id="{9A0DB2DC-4C9A-4742-B13C-FB6460FD3503}" type="slidenum">
              <a:rPr lang="en-US" altLang="en-US" sz="1000" i="1" dirty="0">
                <a:solidFill>
                  <a:schemeClr val="tx1"/>
                </a:solidFill>
              </a:rPr>
              <a:pPr lvl="0" indent="0" algn="r" defTabSz="930275"/>
              <a:t>82</a:t>
            </a:fld>
            <a:endParaRPr lang="en-US" altLang="en-US" sz="1000" i="1" dirty="0">
              <a:solidFill>
                <a:schemeClr val="tx1"/>
              </a:solidFill>
            </a:endParaRPr>
          </a:p>
        </p:txBody>
      </p:sp>
      <p:sp>
        <p:nvSpPr>
          <p:cNvPr id="49154" name="Rectangle 2"/>
          <p:cNvSpPr>
            <a:spLocks noGrp="1" noRot="1" noChangeAspect="1" noTextEdit="1"/>
          </p:cNvSpPr>
          <p:nvPr>
            <p:ph type="sldImg"/>
          </p:nvPr>
        </p:nvSpPr>
        <p:spPr/>
      </p:sp>
      <p:sp>
        <p:nvSpPr>
          <p:cNvPr id="49155" name="Rectangle 3"/>
          <p:cNvSpPr>
            <a:spLocks noGrp="1"/>
          </p:cNvSpPr>
          <p:nvPr>
            <p:ph type="body"/>
          </p:nvPr>
        </p:nvSpPr>
        <p:spPr>
          <a:xfrm>
            <a:off x="931863" y="4408488"/>
            <a:ext cx="5121275" cy="4176712"/>
          </a:xfrm>
        </p:spPr>
        <p:txBody>
          <a:bodyPr wrap="square" lIns="93594" tIns="46798" rIns="93594" bIns="46798" anchor="t"/>
          <a:lstStyle/>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7170" name="Group 7169"/>
          <p:cNvGrpSpPr/>
          <p:nvPr/>
        </p:nvGrpSpPr>
        <p:grpSpPr>
          <a:xfrm>
            <a:off x="0" y="2438400"/>
            <a:ext cx="9009063" cy="1052513"/>
            <a:chOff x="0" y="1536"/>
            <a:chExt cx="5675" cy="663"/>
          </a:xfrm>
        </p:grpSpPr>
        <p:grpSp>
          <p:nvGrpSpPr>
            <p:cNvPr id="7171" name="Group 7170"/>
            <p:cNvGrpSpPr/>
            <p:nvPr/>
          </p:nvGrpSpPr>
          <p:grpSpPr>
            <a:xfrm>
              <a:off x="183" y="1604"/>
              <a:ext cx="448" cy="299"/>
              <a:chOff x="720" y="336"/>
              <a:chExt cx="624" cy="432"/>
            </a:xfrm>
          </p:grpSpPr>
          <p:sp>
            <p:nvSpPr>
              <p:cNvPr id="7172" name="Rectangle 7171"/>
              <p:cNvSpPr/>
              <p:nvPr/>
            </p:nvSpPr>
            <p:spPr>
              <a:xfrm>
                <a:off x="720" y="336"/>
                <a:ext cx="384" cy="432"/>
              </a:xfrm>
              <a:prstGeom prst="rect">
                <a:avLst/>
              </a:prstGeom>
              <a:solidFill>
                <a:schemeClr val="folHlink"/>
              </a:solidFill>
              <a:ln w="9525">
                <a:noFill/>
              </a:ln>
            </p:spPr>
            <p:txBody>
              <a:bodyPr/>
              <a:lstStyle/>
              <a:p>
                <a:endParaRPr lang="en-US"/>
              </a:p>
            </p:txBody>
          </p:sp>
          <p:sp>
            <p:nvSpPr>
              <p:cNvPr id="7173" name="Rectangle 7172"/>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en-US"/>
              </a:p>
            </p:txBody>
          </p:sp>
        </p:grpSp>
        <p:grpSp>
          <p:nvGrpSpPr>
            <p:cNvPr id="7174" name="Group 7173"/>
            <p:cNvGrpSpPr/>
            <p:nvPr/>
          </p:nvGrpSpPr>
          <p:grpSpPr>
            <a:xfrm>
              <a:off x="261" y="1870"/>
              <a:ext cx="465" cy="299"/>
              <a:chOff x="912" y="2640"/>
              <a:chExt cx="672" cy="432"/>
            </a:xfrm>
          </p:grpSpPr>
          <p:sp>
            <p:nvSpPr>
              <p:cNvPr id="7175" name="Rectangle 7174"/>
              <p:cNvSpPr/>
              <p:nvPr/>
            </p:nvSpPr>
            <p:spPr>
              <a:xfrm>
                <a:off x="912" y="2640"/>
                <a:ext cx="384" cy="432"/>
              </a:xfrm>
              <a:prstGeom prst="rect">
                <a:avLst/>
              </a:prstGeom>
              <a:solidFill>
                <a:schemeClr val="accent2"/>
              </a:solidFill>
              <a:ln w="9525">
                <a:noFill/>
              </a:ln>
            </p:spPr>
            <p:txBody>
              <a:bodyPr/>
              <a:lstStyle/>
              <a:p>
                <a:endParaRPr lang="en-US"/>
              </a:p>
            </p:txBody>
          </p:sp>
          <p:sp>
            <p:nvSpPr>
              <p:cNvPr id="7176" name="Rectangle 7175"/>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en-US"/>
              </a:p>
            </p:txBody>
          </p:sp>
        </p:grpSp>
        <p:sp>
          <p:nvSpPr>
            <p:cNvPr id="7177" name="Rectangle 7176"/>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en-US"/>
            </a:p>
          </p:txBody>
        </p:sp>
        <p:sp>
          <p:nvSpPr>
            <p:cNvPr id="7178" name="Rectangle 7177"/>
            <p:cNvSpPr/>
            <p:nvPr/>
          </p:nvSpPr>
          <p:spPr>
            <a:xfrm>
              <a:off x="400" y="1536"/>
              <a:ext cx="20" cy="663"/>
            </a:xfrm>
            <a:prstGeom prst="rect">
              <a:avLst/>
            </a:prstGeom>
            <a:solidFill>
              <a:schemeClr val="bg2"/>
            </a:solidFill>
            <a:ln w="9525">
              <a:noFill/>
            </a:ln>
          </p:spPr>
          <p:txBody>
            <a:bodyPr/>
            <a:lstStyle/>
            <a:p>
              <a:endParaRPr lang="en-US"/>
            </a:p>
          </p:txBody>
        </p:sp>
        <p:sp>
          <p:nvSpPr>
            <p:cNvPr id="7179" name="Rectangle 7178"/>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en-US"/>
            </a:p>
          </p:txBody>
        </p:sp>
      </p:grpSp>
      <p:sp>
        <p:nvSpPr>
          <p:cNvPr id="7180" name="Title 7179"/>
          <p:cNvSpPr>
            <a:spLocks noGrp="1"/>
          </p:cNvSpPr>
          <p:nvPr>
            <p:ph type="ctrTitle"/>
          </p:nvPr>
        </p:nvSpPr>
        <p:spPr>
          <a:xfrm>
            <a:off x="990600" y="1676400"/>
            <a:ext cx="7772400" cy="1462088"/>
          </a:xfrm>
          <a:prstGeom prst="rect">
            <a:avLst/>
          </a:prstGeom>
          <a:noFill/>
          <a:ln w="9525">
            <a:noFill/>
          </a:ln>
        </p:spPr>
        <p:txBody>
          <a:bodyPr anchor="b"/>
          <a:lstStyle>
            <a:lvl1pPr lvl="0">
              <a:defRPr/>
            </a:lvl1pPr>
          </a:lstStyle>
          <a:p>
            <a:pPr lvl="0"/>
            <a:r>
              <a:rPr dirty="0"/>
              <a:t>Click to edit Master title style</a:t>
            </a:r>
          </a:p>
        </p:txBody>
      </p:sp>
      <p:sp>
        <p:nvSpPr>
          <p:cNvPr id="7181" name="Subtitle 7180"/>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dirty="0"/>
              <a:t>Click to edit Master subtitle style</a:t>
            </a:r>
          </a:p>
        </p:txBody>
      </p:sp>
      <p:sp>
        <p:nvSpPr>
          <p:cNvPr id="7182" name="Date Placeholder 7181"/>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pPr>
              <a:buClr>
                <a:schemeClr val="bg1"/>
              </a:buClr>
            </a:pPr>
            <a:endParaRPr lang="en-AU">
              <a:ea typeface="Arial" panose="020B0604020202020204" pitchFamily="34" charset="0"/>
            </a:endParaRPr>
          </a:p>
        </p:txBody>
      </p:sp>
      <p:sp>
        <p:nvSpPr>
          <p:cNvPr id="7183" name="Footer Placeholder 7182"/>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pPr>
              <a:buClr>
                <a:schemeClr val="bg1"/>
              </a:buClr>
            </a:pPr>
            <a:endParaRPr lang="en-AU">
              <a:ea typeface="Arial" panose="020B0604020202020204" pitchFamily="34" charset="0"/>
            </a:endParaRPr>
          </a:p>
        </p:txBody>
      </p:sp>
      <p:sp>
        <p:nvSpPr>
          <p:cNvPr id="7184" name="Slide Number Placeholder 7183"/>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pPr>
              <a:buClr>
                <a:schemeClr val="bg1"/>
              </a:buClr>
            </a:pPr>
            <a:fld id="{9A0DB2DC-4C9A-4742-B13C-FB6460FD3503}" type="slidenum">
              <a:rPr lang="en-AU">
                <a:ea typeface="Arial" panose="020B0604020202020204" pitchFamily="34" charset="0"/>
              </a:rPr>
              <a:pPr>
                <a:buClr>
                  <a:schemeClr val="bg1"/>
                </a:buClr>
              </a:pPr>
              <a:t>‹#›</a:t>
            </a:fld>
            <a:endParaRPr lang="en-AU">
              <a:ea typeface="Arial" panose="020B06040202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5" name="Footer Placeholder 4"/>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6" name="Slide Number Placeholder 5"/>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5" name="Footer Placeholder 4"/>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6" name="Slide Number Placeholder 5"/>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82688" y="2017713"/>
            <a:ext cx="3808476"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46612" y="2017713"/>
            <a:ext cx="3808476"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6" name="Footer Placeholder 5"/>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7" name="Slide Number Placeholder 6"/>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8" name="Footer Placeholder 7"/>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9" name="Slide Number Placeholder 8"/>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4" name="Footer Placeholder 3"/>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5" name="Slide Number Placeholder 4"/>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3" name="Footer Placeholder 2"/>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4" name="Slide Number Placeholder 3"/>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6" name="Footer Placeholder 5"/>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7" name="Slide Number Placeholder 6"/>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6" name="Footer Placeholder 5"/>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7" name="Slide Number Placeholder 6"/>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5" name="Footer Placeholder 4"/>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6" name="Slide Number Placeholder 5"/>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1" y="214313"/>
            <a:ext cx="1951038" cy="5918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50938" y="214313"/>
            <a:ext cx="5740009" cy="5918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5" name="Footer Placeholder 4"/>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6" name="Slide Number Placeholder 5"/>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lvl="0">
              <a:buClr>
                <a:schemeClr val="bg1"/>
              </a:buClr>
            </a:pPr>
            <a:endParaRPr lang="en-AU">
              <a:ea typeface="Arial" panose="020B0604020202020204" pitchFamily="34" charset="0"/>
            </a:endParaRPr>
          </a:p>
        </p:txBody>
      </p:sp>
      <p:sp>
        <p:nvSpPr>
          <p:cNvPr id="6" name="Footer Placeholder 5"/>
          <p:cNvSpPr>
            <a:spLocks noGrp="1"/>
          </p:cNvSpPr>
          <p:nvPr>
            <p:ph type="ftr" sz="quarter" idx="11"/>
          </p:nvPr>
        </p:nvSpPr>
        <p:spPr/>
        <p:txBody>
          <a:bodyPr/>
          <a:lstStyle/>
          <a:p>
            <a:pPr lvl="0">
              <a:buClr>
                <a:schemeClr val="bg1"/>
              </a:buClr>
            </a:pPr>
            <a:endParaRPr lang="en-AU">
              <a:ea typeface="Arial" panose="020B0604020202020204" pitchFamily="34" charset="0"/>
            </a:endParaRPr>
          </a:p>
        </p:txBody>
      </p:sp>
      <p:sp>
        <p:nvSpPr>
          <p:cNvPr id="7" name="Slide Number Placeholder 6"/>
          <p:cNvSpPr>
            <a:spLocks noGrp="1"/>
          </p:cNvSpPr>
          <p:nvPr>
            <p:ph type="sldNum" sz="quarter" idx="12"/>
          </p:nvPr>
        </p:nvSpPr>
        <p:spPr/>
        <p:txBody>
          <a:body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bg>
      <p:bgPr>
        <a:solidFill>
          <a:schemeClr val="bg1"/>
        </a:solidFill>
        <a:effectLst/>
      </p:bgPr>
    </p:bg>
    <p:spTree>
      <p:nvGrpSpPr>
        <p:cNvPr id="1" name=""/>
        <p:cNvGrpSpPr/>
        <p:nvPr/>
      </p:nvGrpSpPr>
      <p:grpSpPr>
        <a:xfrm>
          <a:off x="0" y="0"/>
          <a:ext cx="0" cy="0"/>
          <a:chOff x="0" y="0"/>
          <a:chExt cx="0" cy="0"/>
        </a:xfrm>
      </p:grpSpPr>
      <p:sp>
        <p:nvSpPr>
          <p:cNvPr id="2" name="Content Placeholder 1"/>
          <p:cNvSpPr>
            <a:spLocks noGrp="1"/>
          </p:cNvSpPr>
          <p:nvPr>
            <p:ph/>
          </p:nvPr>
        </p:nvSpPr>
        <p:spPr>
          <a:xfrm>
            <a:off x="1173163" y="457200"/>
            <a:ext cx="7772400" cy="5638800"/>
          </a:xfrm>
        </p:spPr>
        <p:txBody>
          <a:bodyPr/>
          <a:lstStyle/>
          <a:p>
            <a:pPr lvl="0" fontAlgn="base"/>
            <a:r>
              <a:rPr lang="en-US" strike="noStrike" noProof="1" smtClean="0"/>
              <a:t>Click to edit Master text styles</a:t>
            </a:r>
          </a:p>
          <a:p>
            <a:pPr lvl="1" fontAlgn="base"/>
            <a:r>
              <a:rPr lang="en-US" strike="noStrike" noProof="1" smtClean="0"/>
              <a:t>Second level</a:t>
            </a:r>
          </a:p>
          <a:p>
            <a:pPr lvl="2" fontAlgn="base"/>
            <a:r>
              <a:rPr lang="en-US" strike="noStrike" noProof="1" smtClean="0"/>
              <a:t>Third level</a:t>
            </a:r>
          </a:p>
          <a:p>
            <a:pPr lvl="3" fontAlgn="base"/>
            <a:r>
              <a:rPr lang="en-US" strike="noStrike" noProof="1" smtClean="0"/>
              <a:t>Fourth level</a:t>
            </a:r>
          </a:p>
          <a:p>
            <a:pPr lvl="4" fontAlgn="base"/>
            <a:r>
              <a:rPr lang="en-US" strike="noStrike" noProof="1" smtClean="0"/>
              <a:t>Fifth level</a:t>
            </a:r>
            <a:endParaRPr lang="en-US" strike="noStrike" noProof="1"/>
          </a:p>
        </p:txBody>
      </p:sp>
      <p:sp>
        <p:nvSpPr>
          <p:cNvPr id="3" name="Date Placeholder 2"/>
          <p:cNvSpPr>
            <a:spLocks noGrp="1"/>
          </p:cNvSpPr>
          <p:nvPr>
            <p:ph type="dt" sz="half" idx="10"/>
          </p:nvPr>
        </p:nvSpPr>
        <p:spPr>
          <a:xfrm>
            <a:off x="685800" y="6400800"/>
            <a:ext cx="1905000" cy="457200"/>
          </a:xfrm>
          <a:prstGeom prst="rect">
            <a:avLst/>
          </a:prstGeom>
          <a:noFill/>
          <a:ln>
            <a:noFill/>
          </a:ln>
          <a:effectLst/>
        </p:spPr>
        <p:txBody>
          <a:bodyPr vert="horz" wrap="none" lIns="92075" tIns="46038" rIns="92075" bIns="46038" numCol="1" anchor="ctr" anchorCtr="0" compatLnSpc="1"/>
          <a:lstStyle/>
          <a:p>
            <a:pPr lvl="0" fontAlgn="base">
              <a:spcBef>
                <a:spcPct val="50000"/>
              </a:spcBef>
            </a:pPr>
            <a:endParaRPr lang="zh-TW" altLang="en-US" strike="noStrike" noProof="1"/>
          </a:p>
        </p:txBody>
      </p:sp>
      <p:sp>
        <p:nvSpPr>
          <p:cNvPr id="4" name="Footer Placeholder 3"/>
          <p:cNvSpPr>
            <a:spLocks noGrp="1"/>
          </p:cNvSpPr>
          <p:nvPr>
            <p:ph type="ftr" sz="quarter" idx="11"/>
          </p:nvPr>
        </p:nvSpPr>
        <p:spPr>
          <a:xfrm>
            <a:off x="3124200" y="6400800"/>
            <a:ext cx="2895600" cy="457200"/>
          </a:xfrm>
          <a:prstGeom prst="rect">
            <a:avLst/>
          </a:prstGeom>
          <a:noFill/>
          <a:ln>
            <a:noFill/>
          </a:ln>
          <a:effectLst/>
        </p:spPr>
        <p:txBody>
          <a:bodyPr vert="horz" wrap="none" lIns="92075" tIns="46038" rIns="92075" bIns="46038" numCol="1" anchor="ctr" anchorCtr="0" compatLnSpc="1"/>
          <a:lstStyle/>
          <a:p>
            <a:pPr lvl="0" fontAlgn="base">
              <a:spcBef>
                <a:spcPct val="50000"/>
              </a:spcBef>
            </a:pPr>
            <a:r>
              <a:rPr lang="zh-TW" altLang="en-US" strike="noStrike" noProof="1">
                <a:latin typeface="Times New Roman" panose="02020603050405020304" pitchFamily="18" charset="0"/>
                <a:ea typeface="+mn-ea"/>
                <a:cs typeface="+mn-cs"/>
              </a:rPr>
              <a:t>CHAPTER 2</a:t>
            </a:r>
            <a:endParaRPr lang="zh-TW" altLang="en-US" strike="noStrike" noProof="1"/>
          </a:p>
        </p:txBody>
      </p:sp>
      <p:sp>
        <p:nvSpPr>
          <p:cNvPr id="5" name="Slide Number Placeholder 4"/>
          <p:cNvSpPr>
            <a:spLocks noGrp="1"/>
          </p:cNvSpPr>
          <p:nvPr>
            <p:ph type="sldNum" sz="quarter" idx="12"/>
          </p:nvPr>
        </p:nvSpPr>
        <p:spPr>
          <a:xfrm>
            <a:off x="6553200" y="6399213"/>
            <a:ext cx="1905000" cy="457200"/>
          </a:xfrm>
          <a:prstGeom prst="rect">
            <a:avLst/>
          </a:prstGeom>
          <a:noFill/>
          <a:ln>
            <a:noFill/>
          </a:ln>
          <a:effectLst/>
        </p:spPr>
        <p:txBody>
          <a:bodyPr vert="horz" wrap="none" lIns="92075" tIns="46038" rIns="92075" bIns="46038" numCol="1" anchor="ctr" anchorCtr="0" compatLnSpc="1"/>
          <a:lstStyle/>
          <a:p>
            <a:pPr lvl="0" fontAlgn="base">
              <a:spcBef>
                <a:spcPct val="50000"/>
              </a:spcBef>
            </a:pPr>
            <a:fld id="{9A0DB2DC-4C9A-4742-B13C-FB6460FD3503}" type="slidenum">
              <a:rPr lang="zh-TW" altLang="en-US" strike="noStrike" noProof="1">
                <a:latin typeface="Times New Roman" panose="02020603050405020304" pitchFamily="18" charset="0"/>
                <a:ea typeface="+mn-ea"/>
                <a:cs typeface="+mn-cs"/>
              </a:rPr>
              <a:pPr lvl="0" fontAlgn="base">
                <a:spcBef>
                  <a:spcPct val="50000"/>
                </a:spcBef>
              </a:pPr>
              <a:t>‹#›</a:t>
            </a:fld>
            <a:endParaRPr lang="zh-TW"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cSld name="Title, Text and Char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sz="half" idx="1"/>
          </p:nvPr>
        </p:nvSpPr>
        <p:spPr>
          <a:xfrm>
            <a:off x="838200" y="1905000"/>
            <a:ext cx="3810000" cy="4114800"/>
          </a:xfrm>
        </p:spPr>
        <p:txBody>
          <a:bodyPr/>
          <a:lstStyle/>
          <a:p>
            <a:pPr lvl="0" fontAlgn="base"/>
            <a:r>
              <a:rPr lang="en-US" strike="noStrike" noProof="1" smtClean="0"/>
              <a:t>Click to edit Master text styles</a:t>
            </a:r>
          </a:p>
          <a:p>
            <a:pPr lvl="1" fontAlgn="base"/>
            <a:r>
              <a:rPr lang="en-US" strike="noStrike" noProof="1" smtClean="0"/>
              <a:t>Second level</a:t>
            </a:r>
          </a:p>
          <a:p>
            <a:pPr lvl="2" fontAlgn="base"/>
            <a:r>
              <a:rPr lang="en-US" strike="noStrike" noProof="1" smtClean="0"/>
              <a:t>Third level</a:t>
            </a:r>
          </a:p>
          <a:p>
            <a:pPr lvl="3" fontAlgn="base"/>
            <a:r>
              <a:rPr lang="en-US" strike="noStrike" noProof="1" smtClean="0"/>
              <a:t>Fourth level</a:t>
            </a:r>
          </a:p>
          <a:p>
            <a:pPr lvl="4" fontAlgn="base"/>
            <a:r>
              <a:rPr lang="en-US" strike="noStrike" noProof="1" smtClean="0"/>
              <a:t>Fifth level</a:t>
            </a:r>
            <a:endParaRPr lang="en-US" strike="noStrike" noProof="1"/>
          </a:p>
        </p:txBody>
      </p:sp>
      <p:sp>
        <p:nvSpPr>
          <p:cNvPr id="4" name="Chart Placeholder 3"/>
          <p:cNvSpPr>
            <a:spLocks noGrp="1"/>
          </p:cNvSpPr>
          <p:nvPr>
            <p:ph type="chart" sz="half" idx="2"/>
          </p:nvPr>
        </p:nvSpPr>
        <p:spPr>
          <a:xfrm>
            <a:off x="4800600" y="1905000"/>
            <a:ext cx="3810000" cy="4114800"/>
          </a:xfrm>
        </p:spPr>
        <p:txBody>
          <a:bodyPr vert="horz" wrap="square" lIns="92075" tIns="46038" rIns="92075" bIns="46038" numCol="1" rtlCol="0" anchor="t" anchorCtr="0" compatLnSpc="1">
            <a:normAutofit/>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7" name="Rectangle 65"/>
          <p:cNvSpPr>
            <a:spLocks noGrp="1" noChangeArrowheads="1"/>
          </p:cNvSpPr>
          <p:nvPr>
            <p:ph type="dt" sz="half" idx="1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8" name="Rectangle 6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t" anchorCtr="0" compatLnSpc="1"/>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 name="Rectangle 67"/>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none" lIns="92075" tIns="46038" rIns="92075" bIns="46038" numCol="1" anchor="ctr" anchorCtr="0" compatLnSpc="1"/>
          <a:lstStyle/>
          <a:p>
            <a:pPr algn="r" fontAlgn="base"/>
            <a:fld id="{9A0DB2DC-4C9A-4742-B13C-FB6460FD3503}" type="slidenum">
              <a:rPr lang="en-US" strike="noStrike" noProof="1" dirty="0">
                <a:latin typeface="Times New Roman" panose="02020603050405020304" pitchFamily="18" charset="0"/>
                <a:ea typeface="+mn-ea"/>
                <a:cs typeface="+mn-cs"/>
              </a:rPr>
              <a:pPr algn="r" fontAlgn="base"/>
              <a:t>‹#›</a:t>
            </a:fld>
            <a:endParaRPr 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719263"/>
            <a:ext cx="8229600" cy="4411662"/>
          </a:xfrm>
        </p:spPr>
        <p:txBody>
          <a:bodyPr/>
          <a:lstStyle/>
          <a:p>
            <a:endParaRPr lang="en-US"/>
          </a:p>
        </p:txBody>
      </p:sp>
      <p:sp>
        <p:nvSpPr>
          <p:cNvPr id="4" name="Date Placeholder 3"/>
          <p:cNvSpPr>
            <a:spLocks noGrp="1"/>
          </p:cNvSpPr>
          <p:nvPr>
            <p:ph type="dt" sz="half" idx="10"/>
          </p:nvPr>
        </p:nvSpPr>
        <p:spPr>
          <a:xfrm>
            <a:off x="457200" y="6248400"/>
            <a:ext cx="2133600" cy="457200"/>
          </a:xfrm>
        </p:spPr>
        <p:txBody>
          <a:bodyPr/>
          <a:lstStyle>
            <a:lvl1pPr>
              <a:defRPr/>
            </a:lvl1pPr>
          </a:lstStyle>
          <a:p>
            <a:fld id="{2A257F95-F43D-4F53-8DA4-1E525207F97D}" type="datetime1">
              <a:rPr lang="en-US" altLang="en-US" smtClean="0"/>
              <a:pPr/>
              <a:t>9/27/2023</a:t>
            </a:fld>
            <a:endParaRPr lang="en-US" alt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fld id="{74E22635-7FE9-4421-97F1-05CE0EFEF615}"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6145"/>
          <p:cNvSpPr/>
          <p:nvPr/>
        </p:nvSpPr>
        <p:spPr>
          <a:xfrm>
            <a:off x="417513" y="1098550"/>
            <a:ext cx="438150" cy="474663"/>
          </a:xfrm>
          <a:prstGeom prst="rect">
            <a:avLst/>
          </a:prstGeom>
          <a:solidFill>
            <a:schemeClr val="accent2"/>
          </a:solidFill>
          <a:ln w="9525">
            <a:noFill/>
          </a:ln>
        </p:spPr>
        <p:txBody>
          <a:bodyPr wrap="none" anchor="ctr"/>
          <a:lstStyle/>
          <a:p>
            <a:pPr lvl="0" algn="ctr">
              <a:buClr>
                <a:schemeClr val="bg1"/>
              </a:buClr>
            </a:pPr>
            <a:endParaRPr lang="en-IN" altLang="x-none" sz="2400">
              <a:latin typeface="Tahoma" panose="020B0604030504040204" pitchFamily="34" charset="0"/>
              <a:ea typeface="Arial" panose="020B0604020202020204" pitchFamily="34" charset="0"/>
            </a:endParaRPr>
          </a:p>
        </p:txBody>
      </p:sp>
      <p:sp>
        <p:nvSpPr>
          <p:cNvPr id="6147" name="Rectangle 6146"/>
          <p:cNvSpPr/>
          <p:nvPr/>
        </p:nvSpPr>
        <p:spPr>
          <a:xfrm>
            <a:off x="800100" y="1098550"/>
            <a:ext cx="328613" cy="474663"/>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buClr>
                <a:schemeClr val="bg1"/>
              </a:buClr>
            </a:pPr>
            <a:endParaRPr lang="en-IN" altLang="x-none" sz="2400">
              <a:latin typeface="Tahoma" panose="020B0604030504040204" pitchFamily="34" charset="0"/>
              <a:ea typeface="Arial" panose="020B0604020202020204" pitchFamily="34" charset="0"/>
            </a:endParaRPr>
          </a:p>
        </p:txBody>
      </p:sp>
      <p:sp>
        <p:nvSpPr>
          <p:cNvPr id="6148" name="Rectangle 6147"/>
          <p:cNvSpPr/>
          <p:nvPr/>
        </p:nvSpPr>
        <p:spPr>
          <a:xfrm>
            <a:off x="541338" y="1520825"/>
            <a:ext cx="422275" cy="474663"/>
          </a:xfrm>
          <a:prstGeom prst="rect">
            <a:avLst/>
          </a:prstGeom>
          <a:solidFill>
            <a:schemeClr val="folHlink"/>
          </a:solidFill>
          <a:ln w="9525">
            <a:noFill/>
          </a:ln>
        </p:spPr>
        <p:txBody>
          <a:bodyPr wrap="none" anchor="ctr"/>
          <a:lstStyle/>
          <a:p>
            <a:pPr lvl="0" algn="ctr">
              <a:buClr>
                <a:schemeClr val="bg1"/>
              </a:buClr>
            </a:pPr>
            <a:endParaRPr lang="en-IN" altLang="x-none" sz="2400">
              <a:latin typeface="Tahoma" panose="020B0604030504040204" pitchFamily="34" charset="0"/>
              <a:ea typeface="Arial" panose="020B0604020202020204" pitchFamily="34" charset="0"/>
            </a:endParaRPr>
          </a:p>
        </p:txBody>
      </p:sp>
      <p:sp>
        <p:nvSpPr>
          <p:cNvPr id="6149" name="Rectangle 6148"/>
          <p:cNvSpPr/>
          <p:nvPr/>
        </p:nvSpPr>
        <p:spPr>
          <a:xfrm>
            <a:off x="911225" y="15208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buClr>
                <a:schemeClr val="bg1"/>
              </a:buClr>
            </a:pPr>
            <a:endParaRPr lang="en-IN" altLang="x-none" sz="2400">
              <a:latin typeface="Tahoma" panose="020B0604030504040204" pitchFamily="34" charset="0"/>
              <a:ea typeface="Arial" panose="020B0604020202020204" pitchFamily="34" charset="0"/>
            </a:endParaRPr>
          </a:p>
        </p:txBody>
      </p:sp>
      <p:sp>
        <p:nvSpPr>
          <p:cNvPr id="6150" name="Rectangle 6149"/>
          <p:cNvSpPr/>
          <p:nvPr/>
        </p:nvSpPr>
        <p:spPr>
          <a:xfrm>
            <a:off x="127000" y="1447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buClr>
                <a:schemeClr val="bg1"/>
              </a:buClr>
            </a:pPr>
            <a:endParaRPr lang="en-IN" altLang="x-none" sz="2400">
              <a:latin typeface="Tahoma" panose="020B0604030504040204" pitchFamily="34" charset="0"/>
              <a:ea typeface="Arial" panose="020B0604020202020204" pitchFamily="34" charset="0"/>
            </a:endParaRPr>
          </a:p>
        </p:txBody>
      </p:sp>
      <p:sp>
        <p:nvSpPr>
          <p:cNvPr id="6151" name="Rectangle 6150"/>
          <p:cNvSpPr/>
          <p:nvPr/>
        </p:nvSpPr>
        <p:spPr>
          <a:xfrm>
            <a:off x="762000" y="990600"/>
            <a:ext cx="31750" cy="1052513"/>
          </a:xfrm>
          <a:prstGeom prst="rect">
            <a:avLst/>
          </a:prstGeom>
          <a:solidFill>
            <a:schemeClr val="bg2"/>
          </a:solidFill>
          <a:ln w="9525">
            <a:noFill/>
          </a:ln>
        </p:spPr>
        <p:txBody>
          <a:bodyPr wrap="none" anchor="ctr"/>
          <a:lstStyle/>
          <a:p>
            <a:pPr lvl="0" algn="ctr">
              <a:buClr>
                <a:schemeClr val="bg1"/>
              </a:buClr>
            </a:pPr>
            <a:endParaRPr lang="en-IN" altLang="x-none" sz="2400">
              <a:latin typeface="Tahoma" panose="020B0604030504040204" pitchFamily="34" charset="0"/>
              <a:ea typeface="Arial" panose="020B0604020202020204" pitchFamily="34" charset="0"/>
            </a:endParaRPr>
          </a:p>
        </p:txBody>
      </p:sp>
      <p:sp>
        <p:nvSpPr>
          <p:cNvPr id="6152" name="Rectangle 6151"/>
          <p:cNvSpPr/>
          <p:nvPr/>
        </p:nvSpPr>
        <p:spPr>
          <a:xfrm>
            <a:off x="442913" y="1781175"/>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buClr>
                <a:schemeClr val="bg1"/>
              </a:buClr>
            </a:pPr>
            <a:endParaRPr lang="en-IN" altLang="x-none" sz="2400">
              <a:latin typeface="Tahoma" panose="020B0604030504040204" pitchFamily="34" charset="0"/>
              <a:ea typeface="Arial" panose="020B0604020202020204" pitchFamily="34" charset="0"/>
            </a:endParaRPr>
          </a:p>
        </p:txBody>
      </p:sp>
      <p:sp>
        <p:nvSpPr>
          <p:cNvPr id="6153" name="Title 6152"/>
          <p:cNvSpPr>
            <a:spLocks noGrp="1"/>
          </p:cNvSpPr>
          <p:nvPr>
            <p:ph type="title"/>
          </p:nvPr>
        </p:nvSpPr>
        <p:spPr>
          <a:xfrm>
            <a:off x="1150938" y="214313"/>
            <a:ext cx="7793037" cy="1462087"/>
          </a:xfrm>
          <a:prstGeom prst="rect">
            <a:avLst/>
          </a:prstGeom>
          <a:noFill/>
          <a:ln w="9525">
            <a:noFill/>
          </a:ln>
        </p:spPr>
        <p:txBody>
          <a:bodyPr anchor="b"/>
          <a:lstStyle/>
          <a:p>
            <a:pPr lvl="0"/>
            <a:r>
              <a:rPr dirty="0"/>
              <a:t>Click to edit Master title style</a:t>
            </a:r>
          </a:p>
        </p:txBody>
      </p:sp>
      <p:sp>
        <p:nvSpPr>
          <p:cNvPr id="6154" name="Text Placeholder 6153"/>
          <p:cNvSpPr>
            <a:spLocks noGrp="1"/>
          </p:cNvSpPr>
          <p:nvPr>
            <p:ph type="body" idx="1"/>
          </p:nvPr>
        </p:nvSpPr>
        <p:spPr>
          <a:xfrm>
            <a:off x="1182688" y="2017713"/>
            <a:ext cx="7772400" cy="4114800"/>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155" name="Date Placeholder 6154"/>
          <p:cNvSpPr>
            <a:spLocks noGrp="1"/>
          </p:cNvSpPr>
          <p:nvPr>
            <p:ph type="dt" sz="half" idx="2"/>
          </p:nvPr>
        </p:nvSpPr>
        <p:spPr>
          <a:xfrm>
            <a:off x="1162050" y="6243638"/>
            <a:ext cx="1905000" cy="457200"/>
          </a:xfrm>
          <a:prstGeom prst="rect">
            <a:avLst/>
          </a:prstGeom>
          <a:noFill/>
          <a:ln w="9525">
            <a:noFill/>
          </a:ln>
        </p:spPr>
        <p:txBody>
          <a:bodyPr anchor="b"/>
          <a:lstStyle>
            <a:lvl1pPr>
              <a:defRPr sz="1400">
                <a:latin typeface="Tahoma" panose="020B0604030504040204" pitchFamily="34" charset="0"/>
              </a:defRPr>
            </a:lvl1pPr>
          </a:lstStyle>
          <a:p>
            <a:pPr lvl="0">
              <a:buClr>
                <a:schemeClr val="bg1"/>
              </a:buClr>
            </a:pPr>
            <a:endParaRPr lang="en-AU">
              <a:ea typeface="Arial" panose="020B0604020202020204" pitchFamily="34" charset="0"/>
            </a:endParaRPr>
          </a:p>
        </p:txBody>
      </p:sp>
      <p:sp>
        <p:nvSpPr>
          <p:cNvPr id="6156" name="Footer Placeholder 6155"/>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buClr>
                <a:schemeClr val="bg1"/>
              </a:buClr>
            </a:pPr>
            <a:endParaRPr lang="en-AU">
              <a:ea typeface="Arial" panose="020B0604020202020204" pitchFamily="34" charset="0"/>
            </a:endParaRPr>
          </a:p>
        </p:txBody>
      </p:sp>
      <p:sp>
        <p:nvSpPr>
          <p:cNvPr id="6157" name="Slide Number Placeholder 6156"/>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buClr>
                <a:schemeClr val="bg1"/>
              </a:buClr>
            </a:pPr>
            <a:fld id="{9A0DB2DC-4C9A-4742-B13C-FB6460FD3503}" type="slidenum">
              <a:rPr lang="en-AU">
                <a:ea typeface="Arial" panose="020B0604020202020204" pitchFamily="34" charset="0"/>
              </a:rPr>
              <a:pPr lvl="0">
                <a:buClr>
                  <a:schemeClr val="bg1"/>
                </a:buClr>
              </a:pPr>
              <a:t>‹#›</a:t>
            </a:fld>
            <a:endParaRPr lang="en-AU">
              <a:ea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ahoma" panose="020B0604030504040204" pitchFamily="34" charset="0"/>
          <a:ea typeface="Times New Roman" panose="02020603050405020304" pitchFamily="18" charset="0"/>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hyperlink" Target="http://letusc-sharp.blogspot.com/2012/10/circular-queue.html"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en.wikipedia.org/wiki/Queue_(data_structur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2049"/>
          <p:cNvSpPr>
            <a:spLocks noGrp="1"/>
          </p:cNvSpPr>
          <p:nvPr>
            <p:ph type="ctrTitle"/>
          </p:nvPr>
        </p:nvSpPr>
        <p:spPr>
          <a:xfrm>
            <a:off x="929005" y="885825"/>
            <a:ext cx="8243570" cy="1873250"/>
          </a:xfrm>
        </p:spPr>
        <p:txBody>
          <a:bodyPr anchor="b"/>
          <a:lstStyle/>
          <a:p>
            <a:pPr algn="ctr" defTabSz="914400">
              <a:buSzPct val="100000"/>
            </a:pPr>
            <a:r>
              <a:rPr lang="en-US" sz="4000" b="1" kern="1200" baseline="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Queue</a:t>
            </a:r>
          </a:p>
        </p:txBody>
      </p:sp>
      <p:sp>
        <p:nvSpPr>
          <p:cNvPr id="2" name="Title 2049"/>
          <p:cNvSpPr>
            <a:spLocks noGrp="1"/>
          </p:cNvSpPr>
          <p:nvPr/>
        </p:nvSpPr>
        <p:spPr>
          <a:xfrm>
            <a:off x="2285985" y="4859020"/>
            <a:ext cx="6673866" cy="878205"/>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r" defTabSz="914400">
              <a:buSzPct val="100000"/>
            </a:pPr>
            <a:r>
              <a:rPr lang="en-US" sz="4000" b="1" kern="1200" baseline="0" dirty="0" err="1" smtClean="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Dr.Pradeep</a:t>
            </a:r>
            <a:r>
              <a:rPr lang="en-US" sz="4000" b="1" kern="1200" dirty="0" smtClean="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 Kumar </a:t>
            </a:r>
            <a:r>
              <a:rPr lang="en-US" sz="4000" b="1" kern="1200" dirty="0" err="1" smtClean="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rPr>
              <a:t>Mallick</a:t>
            </a:r>
            <a:endParaRPr lang="en-US" sz="4000" b="1" kern="1200" baseline="0" dirty="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p:nvPr>
        </p:nvSpPr>
        <p:spPr>
          <a:xfrm>
            <a:off x="1167765" y="819785"/>
            <a:ext cx="7433310" cy="914400"/>
          </a:xfrm>
        </p:spPr>
        <p:txBody>
          <a:bodyPr wrap="square" lIns="92075" tIns="46038" rIns="92075" bIns="46038" anchor="ctr"/>
          <a:lstStyle/>
          <a:p>
            <a:r>
              <a:rPr lang="en-US" altLang="en-US" sz="3600" dirty="0"/>
              <a:t>Definitions</a:t>
            </a:r>
          </a:p>
        </p:txBody>
      </p:sp>
      <p:sp>
        <p:nvSpPr>
          <p:cNvPr id="5122" name="Rectangle 3"/>
          <p:cNvSpPr>
            <a:spLocks noGrp="1"/>
          </p:cNvSpPr>
          <p:nvPr>
            <p:ph idx="1"/>
          </p:nvPr>
        </p:nvSpPr>
        <p:spPr>
          <a:xfrm>
            <a:off x="838200" y="2030095"/>
            <a:ext cx="7696200" cy="4144645"/>
          </a:xfrm>
        </p:spPr>
        <p:txBody>
          <a:bodyPr wrap="square" lIns="92075" tIns="46038" rIns="92075" bIns="46038" anchor="t"/>
          <a:lstStyle/>
          <a:p>
            <a:pPr indent="-333375">
              <a:lnSpc>
                <a:spcPct val="100000"/>
              </a:lnSpc>
              <a:spcBef>
                <a:spcPts val="1200"/>
              </a:spcBef>
            </a:pPr>
            <a:r>
              <a:rPr lang="en-US" altLang="en-US" sz="2000" dirty="0"/>
              <a:t>A queue is a linear data structure such that insertions are made at one end, called the </a:t>
            </a:r>
            <a:r>
              <a:rPr lang="en-US" altLang="en-US" sz="2000" dirty="0">
                <a:solidFill>
                  <a:srgbClr val="FF0000"/>
                </a:solidFill>
              </a:rPr>
              <a:t>rear</a:t>
            </a:r>
            <a:r>
              <a:rPr lang="en-US" altLang="en-US" sz="2000" dirty="0"/>
              <a:t>, and removals are made at the other end, called the </a:t>
            </a:r>
            <a:r>
              <a:rPr lang="en-US" altLang="en-US" sz="2000" dirty="0">
                <a:solidFill>
                  <a:srgbClr val="FF0000"/>
                </a:solidFill>
              </a:rPr>
              <a:t>front</a:t>
            </a:r>
            <a:r>
              <a:rPr lang="en-US" altLang="en-US" sz="2000" dirty="0"/>
              <a:t>.</a:t>
            </a:r>
          </a:p>
          <a:p>
            <a:pPr indent="-333375">
              <a:lnSpc>
                <a:spcPct val="100000"/>
              </a:lnSpc>
              <a:spcBef>
                <a:spcPts val="1200"/>
              </a:spcBef>
            </a:pPr>
            <a:r>
              <a:rPr lang="en-US" altLang="en-US" sz="2000" dirty="0"/>
              <a:t>Operations performed on queues on </a:t>
            </a:r>
            <a:r>
              <a:rPr lang="en-US" altLang="en-US" sz="2000" dirty="0">
                <a:solidFill>
                  <a:srgbClr val="C00000"/>
                </a:solidFill>
              </a:rPr>
              <a:t>first-in first-out</a:t>
            </a:r>
            <a:r>
              <a:rPr lang="en-US" altLang="en-US" sz="2000" dirty="0"/>
              <a:t> (</a:t>
            </a:r>
            <a:r>
              <a:rPr lang="en-US" altLang="en-US" sz="2000" dirty="0">
                <a:solidFill>
                  <a:schemeClr val="tx1"/>
                </a:solidFill>
              </a:rPr>
              <a:t>FIFO</a:t>
            </a:r>
            <a:r>
              <a:rPr lang="en-US" altLang="en-US" sz="2000" dirty="0"/>
              <a:t>) principle.</a:t>
            </a:r>
          </a:p>
          <a:p>
            <a:pPr lvl="1" indent="0">
              <a:lnSpc>
                <a:spcPct val="100000"/>
              </a:lnSpc>
              <a:spcBef>
                <a:spcPts val="1200"/>
              </a:spcBef>
              <a:buNone/>
            </a:pPr>
            <a:r>
              <a:rPr lang="en-US" altLang="en-US" sz="2000" dirty="0"/>
              <a:t>	insert() </a:t>
            </a:r>
            <a:r>
              <a:rPr lang="en-US" altLang="en-US" sz="2000" dirty="0">
                <a:sym typeface="Wingdings" panose="05000000000000000000" pitchFamily="2" charset="2"/>
              </a:rPr>
              <a:t></a:t>
            </a:r>
            <a:r>
              <a:rPr lang="en-US" altLang="en-US" sz="2000" dirty="0">
                <a:solidFill>
                  <a:schemeClr val="tx1"/>
                </a:solidFill>
              </a:rPr>
              <a:t> Queue </a:t>
            </a:r>
            <a:r>
              <a:rPr lang="en-US" altLang="en-US" sz="2000" dirty="0">
                <a:sym typeface="Wingdings" panose="05000000000000000000" pitchFamily="2" charset="2"/>
              </a:rPr>
              <a:t></a:t>
            </a:r>
            <a:r>
              <a:rPr lang="en-US" altLang="en-US" sz="2000" dirty="0"/>
              <a:t> delete()</a:t>
            </a:r>
          </a:p>
          <a:p>
            <a:pPr indent="-333375">
              <a:lnSpc>
                <a:spcPct val="100000"/>
              </a:lnSpc>
              <a:spcBef>
                <a:spcPts val="1200"/>
              </a:spcBef>
              <a:buNone/>
            </a:pPr>
            <a:r>
              <a:rPr lang="en-US" altLang="en-US" sz="2000" dirty="0"/>
              <a:t>The two basic operations are:</a:t>
            </a:r>
          </a:p>
          <a:p>
            <a:pPr indent="-333375">
              <a:lnSpc>
                <a:spcPct val="100000"/>
              </a:lnSpc>
              <a:spcBef>
                <a:spcPts val="1200"/>
              </a:spcBef>
            </a:pPr>
            <a:r>
              <a:rPr lang="en-US" altLang="en-US" sz="2000" u="sng" dirty="0">
                <a:solidFill>
                  <a:srgbClr val="1552D1"/>
                </a:solidFill>
              </a:rPr>
              <a:t>insert()</a:t>
            </a:r>
            <a:r>
              <a:rPr lang="en-US" altLang="en-US" sz="2000" dirty="0"/>
              <a:t>: adds an element to the rear of the queue.</a:t>
            </a:r>
          </a:p>
          <a:p>
            <a:pPr indent="-333375">
              <a:lnSpc>
                <a:spcPct val="100000"/>
              </a:lnSpc>
              <a:spcBef>
                <a:spcPts val="1200"/>
              </a:spcBef>
            </a:pPr>
            <a:r>
              <a:rPr lang="en-US" altLang="en-US" sz="2000" u="sng" dirty="0">
                <a:solidFill>
                  <a:srgbClr val="1552D1"/>
                </a:solidFill>
              </a:rPr>
              <a:t>Delete()</a:t>
            </a:r>
            <a:r>
              <a:rPr lang="en-US" altLang="en-US" sz="2000" dirty="0"/>
              <a:t>: removes and returns the element at the front of the queue.</a:t>
            </a:r>
          </a:p>
          <a:p>
            <a:pPr indent="0">
              <a:lnSpc>
                <a:spcPct val="100000"/>
              </a:lnSpc>
              <a:spcBef>
                <a:spcPts val="1200"/>
              </a:spcBef>
              <a:buNone/>
            </a:pPr>
            <a:endParaRPr lang="en-US" altLang="en-US" sz="2000" dirty="0"/>
          </a:p>
          <a:p>
            <a:pPr indent="0">
              <a:lnSpc>
                <a:spcPct val="100000"/>
              </a:lnSpc>
              <a:spcBef>
                <a:spcPts val="1200"/>
              </a:spcBef>
              <a:buNone/>
            </a:pPr>
            <a:endParaRPr lang="en-US" alt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type="title"/>
          </p:nvPr>
        </p:nvSpPr>
        <p:spPr>
          <a:xfrm>
            <a:off x="1189990" y="897255"/>
            <a:ext cx="7297420" cy="838200"/>
          </a:xfrm>
        </p:spPr>
        <p:txBody>
          <a:bodyPr wrap="square" lIns="92075" tIns="46038" rIns="92075" bIns="46038" anchor="ctr"/>
          <a:lstStyle/>
          <a:p>
            <a:r>
              <a:rPr lang="en-US" altLang="en-US" sz="3600" dirty="0"/>
              <a:t>Applications</a:t>
            </a:r>
          </a:p>
        </p:txBody>
      </p:sp>
      <p:sp>
        <p:nvSpPr>
          <p:cNvPr id="6146" name="Rectangle 3"/>
          <p:cNvSpPr>
            <a:spLocks noGrp="1"/>
          </p:cNvSpPr>
          <p:nvPr>
            <p:ph idx="1"/>
          </p:nvPr>
        </p:nvSpPr>
        <p:spPr>
          <a:xfrm>
            <a:off x="792480" y="2023110"/>
            <a:ext cx="7818120" cy="3310890"/>
          </a:xfrm>
        </p:spPr>
        <p:txBody>
          <a:bodyPr wrap="square" lIns="92075" tIns="46038" rIns="92075" bIns="46038" anchor="t"/>
          <a:lstStyle/>
          <a:p>
            <a:pPr>
              <a:spcBef>
                <a:spcPts val="600"/>
              </a:spcBef>
            </a:pPr>
            <a:r>
              <a:rPr lang="en-US" altLang="en-US" sz="2000" dirty="0"/>
              <a:t>Shared resources management (system programming)</a:t>
            </a:r>
          </a:p>
          <a:p>
            <a:pPr marL="694055" lvl="1" indent="-347980">
              <a:spcBef>
                <a:spcPts val="300"/>
              </a:spcBef>
            </a:pPr>
            <a:r>
              <a:rPr lang="en-US" altLang="en-US" sz="1800" dirty="0"/>
              <a:t>Access to the processor</a:t>
            </a:r>
          </a:p>
          <a:p>
            <a:pPr marL="694055" lvl="1" indent="-347980">
              <a:spcBef>
                <a:spcPts val="300"/>
              </a:spcBef>
            </a:pPr>
            <a:r>
              <a:rPr lang="en-US" altLang="en-US" sz="1800" dirty="0"/>
              <a:t>Access to the peripherals such as disks and printers</a:t>
            </a:r>
          </a:p>
          <a:p>
            <a:pPr>
              <a:spcBef>
                <a:spcPts val="1200"/>
              </a:spcBef>
            </a:pPr>
            <a:r>
              <a:rPr lang="en-US" altLang="en-US" sz="2000" dirty="0"/>
              <a:t>Application programs</a:t>
            </a:r>
          </a:p>
          <a:p>
            <a:pPr lvl="1">
              <a:spcBef>
                <a:spcPts val="300"/>
              </a:spcBef>
            </a:pPr>
            <a:r>
              <a:rPr lang="en-US" altLang="en-US" sz="1800" dirty="0"/>
              <a:t>Simulations</a:t>
            </a:r>
          </a:p>
          <a:p>
            <a:pPr lvl="1">
              <a:spcBef>
                <a:spcPts val="300"/>
              </a:spcBef>
            </a:pPr>
            <a:endParaRPr lang="en-US" altLang="en-US" sz="1800" dirty="0"/>
          </a:p>
          <a:p>
            <a:pPr lvl="1">
              <a:spcBef>
                <a:spcPts val="600"/>
              </a:spcBef>
            </a:pPr>
            <a:endParaRPr lang="en-US" alt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290" y="1000108"/>
            <a:ext cx="6338910" cy="642942"/>
          </a:xfrm>
        </p:spPr>
        <p:txBody>
          <a:bodyPr/>
          <a:lstStyle/>
          <a:p>
            <a:r>
              <a:rPr lang="en-US" dirty="0" smtClean="0"/>
              <a:t>Types</a:t>
            </a:r>
            <a:endParaRPr lang="en-US" dirty="0"/>
          </a:p>
        </p:txBody>
      </p:sp>
      <p:sp>
        <p:nvSpPr>
          <p:cNvPr id="4" name="Pentagon 3"/>
          <p:cNvSpPr/>
          <p:nvPr/>
        </p:nvSpPr>
        <p:spPr>
          <a:xfrm>
            <a:off x="2428860" y="2357430"/>
            <a:ext cx="4648200" cy="928694"/>
          </a:xfrm>
          <a:prstGeom prst="homePlate">
            <a:avLst/>
          </a:prstGeom>
          <a:solidFill>
            <a:schemeClr val="accent4">
              <a:lumMod val="50000"/>
            </a:schemeClr>
          </a:solidFill>
          <a:ln>
            <a:noFill/>
          </a:ln>
          <a:effectLst>
            <a:glow rad="63500">
              <a:schemeClr val="accent1">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3">
            <a:schemeClr val="lt1"/>
          </a:lnRef>
          <a:fillRef idx="1">
            <a:schemeClr val="accent1"/>
          </a:fillRef>
          <a:effectRef idx="1">
            <a:schemeClr val="accent1"/>
          </a:effectRef>
          <a:fontRef idx="minor">
            <a:schemeClr val="lt1"/>
          </a:fontRef>
        </p:style>
        <p:txBody>
          <a:bodyPr anchor="ctr"/>
          <a:lstStyle/>
          <a:p>
            <a:pPr algn="ctr">
              <a:defRPr/>
            </a:pPr>
            <a:r>
              <a:rPr lang="en-US" sz="2800" dirty="0" smtClean="0">
                <a:solidFill>
                  <a:schemeClr val="bg1"/>
                </a:solidFill>
              </a:rPr>
              <a:t>Linear Queue</a:t>
            </a:r>
            <a:endParaRPr lang="en-IN" sz="2800" dirty="0">
              <a:ln w="18415" cmpd="sng">
                <a:solidFill>
                  <a:srgbClr val="FFFFFF"/>
                </a:solidFill>
                <a:prstDash val="solid"/>
              </a:ln>
              <a:solidFill>
                <a:schemeClr val="bg1"/>
              </a:solidFill>
              <a:effectLst>
                <a:outerShdw blurRad="63500" dir="3600000" algn="tl" rotWithShape="0">
                  <a:srgbClr val="000000">
                    <a:alpha val="70000"/>
                  </a:srgbClr>
                </a:outerShdw>
              </a:effectLst>
            </a:endParaRPr>
          </a:p>
        </p:txBody>
      </p:sp>
      <p:sp>
        <p:nvSpPr>
          <p:cNvPr id="5" name="Pentagon 4"/>
          <p:cNvSpPr/>
          <p:nvPr/>
        </p:nvSpPr>
        <p:spPr>
          <a:xfrm>
            <a:off x="2428860" y="3429000"/>
            <a:ext cx="5043518" cy="928694"/>
          </a:xfrm>
          <a:prstGeom prst="homePlate">
            <a:avLst/>
          </a:prstGeom>
          <a:solidFill>
            <a:srgbClr val="C00000"/>
          </a:solidFill>
          <a:ln>
            <a:noFill/>
          </a:ln>
          <a:effectLst>
            <a:glow rad="63500">
              <a:schemeClr val="accent1">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3">
            <a:schemeClr val="lt1"/>
          </a:lnRef>
          <a:fillRef idx="1">
            <a:schemeClr val="accent1"/>
          </a:fillRef>
          <a:effectRef idx="1">
            <a:schemeClr val="accent1"/>
          </a:effectRef>
          <a:fontRef idx="minor">
            <a:schemeClr val="lt1"/>
          </a:fontRef>
        </p:style>
        <p:txBody>
          <a:bodyPr anchor="ctr"/>
          <a:lstStyle/>
          <a:p>
            <a:pPr algn="ctr"/>
            <a:r>
              <a:rPr lang="en-US" sz="2800" dirty="0" smtClean="0">
                <a:solidFill>
                  <a:srgbClr val="FFFF00"/>
                </a:solidFill>
              </a:rPr>
              <a:t>Circular Queue</a:t>
            </a:r>
          </a:p>
        </p:txBody>
      </p:sp>
      <p:sp>
        <p:nvSpPr>
          <p:cNvPr id="6" name="Pentagon 5"/>
          <p:cNvSpPr/>
          <p:nvPr/>
        </p:nvSpPr>
        <p:spPr>
          <a:xfrm>
            <a:off x="2428860" y="4500570"/>
            <a:ext cx="5029200" cy="928694"/>
          </a:xfrm>
          <a:prstGeom prst="homePlate">
            <a:avLst/>
          </a:prstGeom>
          <a:solidFill>
            <a:srgbClr val="00B050"/>
          </a:solidFill>
          <a:ln>
            <a:noFill/>
          </a:ln>
          <a:effectLst>
            <a:glow rad="63500">
              <a:schemeClr val="accent1">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3">
            <a:schemeClr val="lt1"/>
          </a:lnRef>
          <a:fillRef idx="1">
            <a:schemeClr val="accent1"/>
          </a:fillRef>
          <a:effectRef idx="1">
            <a:schemeClr val="accent1"/>
          </a:effectRef>
          <a:fontRef idx="minor">
            <a:schemeClr val="lt1"/>
          </a:fontRef>
        </p:style>
        <p:txBody>
          <a:bodyPr anchor="ctr"/>
          <a:lstStyle/>
          <a:p>
            <a:pPr algn="ctr"/>
            <a:r>
              <a:rPr lang="en-US" sz="2800" dirty="0" smtClean="0">
                <a:solidFill>
                  <a:schemeClr val="tx1"/>
                </a:solidFill>
              </a:rPr>
              <a:t>Double-Ended Queue(</a:t>
            </a:r>
            <a:r>
              <a:rPr lang="en-US" sz="2800" dirty="0" err="1" smtClean="0">
                <a:solidFill>
                  <a:schemeClr val="tx1"/>
                </a:solidFill>
              </a:rPr>
              <a:t>Deque</a:t>
            </a:r>
            <a:r>
              <a:rPr lang="en-US" sz="2800" dirty="0" smtClean="0">
                <a:solidFill>
                  <a:schemeClr val="tx1"/>
                </a:solidFill>
              </a:rPr>
              <a:t>)</a:t>
            </a:r>
          </a:p>
        </p:txBody>
      </p:sp>
      <p:sp>
        <p:nvSpPr>
          <p:cNvPr id="7" name="Pentagon 6"/>
          <p:cNvSpPr/>
          <p:nvPr/>
        </p:nvSpPr>
        <p:spPr>
          <a:xfrm>
            <a:off x="2428860" y="5572140"/>
            <a:ext cx="4357718" cy="928694"/>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3">
            <a:schemeClr val="lt1"/>
          </a:lnRef>
          <a:fillRef idx="1">
            <a:schemeClr val="accent1"/>
          </a:fillRef>
          <a:effectRef idx="1">
            <a:schemeClr val="accent1"/>
          </a:effectRef>
          <a:fontRef idx="minor">
            <a:schemeClr val="lt1"/>
          </a:fontRef>
        </p:style>
        <p:txBody>
          <a:bodyPr anchor="ctr"/>
          <a:lstStyle/>
          <a:p>
            <a:pPr algn="ctr"/>
            <a:r>
              <a:rPr lang="en-US" sz="2800" dirty="0" smtClean="0">
                <a:solidFill>
                  <a:schemeClr val="tx1"/>
                </a:solidFill>
              </a:rPr>
              <a:t>Priority Queue</a:t>
            </a:r>
          </a:p>
        </p:txBody>
      </p:sp>
      <p:sp>
        <p:nvSpPr>
          <p:cNvPr id="10" name="Slide Number Placeholder 9"/>
          <p:cNvSpPr>
            <a:spLocks noGrp="1"/>
          </p:cNvSpPr>
          <p:nvPr>
            <p:ph type="sldNum" sz="quarter" idx="12"/>
          </p:nvPr>
        </p:nvSpPr>
        <p:spPr/>
        <p:txBody>
          <a:bodyPr/>
          <a:lstStyle/>
          <a:p>
            <a:fld id="{CA8B4530-02B6-4BE1-914D-F37489CFEB04}"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p:cNvSpPr>
          <p:nvPr>
            <p:ph type="title"/>
          </p:nvPr>
        </p:nvSpPr>
        <p:spPr>
          <a:xfrm>
            <a:off x="1184910" y="943610"/>
            <a:ext cx="7444740" cy="876300"/>
          </a:xfrm>
        </p:spPr>
        <p:txBody>
          <a:bodyPr wrap="square" lIns="92075" tIns="46038" rIns="92075" bIns="46038" anchor="ctr"/>
          <a:lstStyle/>
          <a:p>
            <a:pPr defTabSz="91440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t>The Queue Operations</a:t>
            </a:r>
          </a:p>
        </p:txBody>
      </p:sp>
      <p:sp>
        <p:nvSpPr>
          <p:cNvPr id="7170" name="Rectangle 2"/>
          <p:cNvSpPr>
            <a:spLocks noGrp="1"/>
          </p:cNvSpPr>
          <p:nvPr>
            <p:ph sz="half" idx="1"/>
          </p:nvPr>
        </p:nvSpPr>
        <p:spPr>
          <a:xfrm>
            <a:off x="746124" y="2124075"/>
            <a:ext cx="7254899" cy="3543300"/>
          </a:xfrm>
        </p:spPr>
        <p:txBody>
          <a:bodyPr wrap="square" lIns="92075" tIns="46038" rIns="92075" bIns="46038" anchor="t"/>
          <a:lstStyle/>
          <a:p>
            <a:pPr defTabSz="914400">
              <a:lnSpc>
                <a:spcPct val="95000"/>
              </a:lnSpc>
              <a:spcBef>
                <a:spcPts val="700"/>
              </a:spcBef>
              <a:buClrTx/>
              <a:buSzTx/>
              <a:buFont typeface="Wingdings" panose="05000000000000000000"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mn-lt"/>
                <a:ea typeface="+mn-ea"/>
                <a:cs typeface="+mn-cs"/>
              </a:rPr>
              <a:t>A queue is like a line of people waiting for a bank teller. The queue has a </a:t>
            </a:r>
            <a:r>
              <a:rPr lang="en-GB" altLang="en-US" sz="2000" u="sng" dirty="0">
                <a:solidFill>
                  <a:srgbClr val="FF8000"/>
                </a:solidFill>
                <a:latin typeface="+mn-lt"/>
                <a:ea typeface="+mn-ea"/>
                <a:cs typeface="+mn-cs"/>
              </a:rPr>
              <a:t>front</a:t>
            </a:r>
            <a:r>
              <a:rPr lang="en-GB" altLang="en-US" sz="2000" dirty="0">
                <a:latin typeface="+mn-lt"/>
                <a:ea typeface="+mn-ea"/>
                <a:cs typeface="+mn-cs"/>
              </a:rPr>
              <a:t> and a </a:t>
            </a:r>
            <a:r>
              <a:rPr lang="en-GB" altLang="en-US" sz="2000" u="sng" dirty="0">
                <a:solidFill>
                  <a:srgbClr val="FF8000"/>
                </a:solidFill>
                <a:latin typeface="+mn-lt"/>
                <a:ea typeface="+mn-ea"/>
                <a:cs typeface="+mn-cs"/>
              </a:rPr>
              <a:t>rear</a:t>
            </a:r>
            <a:r>
              <a:rPr lang="en-GB" altLang="en-US" sz="2000" dirty="0">
                <a:latin typeface="+mn-lt"/>
                <a:ea typeface="+mn-ea"/>
                <a:cs typeface="+mn-cs"/>
              </a:rPr>
              <a:t>.</a:t>
            </a:r>
          </a:p>
          <a:p>
            <a:pPr defTabSz="914400">
              <a:spcBef>
                <a:spcPts val="700"/>
              </a:spcBef>
              <a:buClrTx/>
              <a:buSzTx/>
              <a:buFont typeface="Monotype Sorts"/>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dirty="0">
              <a:latin typeface="+mn-lt"/>
              <a:ea typeface="+mn-ea"/>
              <a:cs typeface="+mn-cs"/>
            </a:endParaRPr>
          </a:p>
        </p:txBody>
      </p:sp>
      <p:grpSp>
        <p:nvGrpSpPr>
          <p:cNvPr id="7171" name="Group 97"/>
          <p:cNvGrpSpPr/>
          <p:nvPr/>
        </p:nvGrpSpPr>
        <p:grpSpPr>
          <a:xfrm>
            <a:off x="2997200" y="4074795"/>
            <a:ext cx="381000" cy="1295400"/>
            <a:chOff x="2784" y="2448"/>
            <a:chExt cx="240" cy="816"/>
          </a:xfrm>
        </p:grpSpPr>
        <p:grpSp>
          <p:nvGrpSpPr>
            <p:cNvPr id="7172" name="Group 94"/>
            <p:cNvGrpSpPr/>
            <p:nvPr/>
          </p:nvGrpSpPr>
          <p:grpSpPr>
            <a:xfrm>
              <a:off x="2832" y="2784"/>
              <a:ext cx="144" cy="240"/>
              <a:chOff x="3312" y="3072"/>
              <a:chExt cx="144" cy="240"/>
            </a:xfrm>
          </p:grpSpPr>
          <p:sp>
            <p:nvSpPr>
              <p:cNvPr id="7173" name="Rectangle 95"/>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74" name="Rectangle 96"/>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7175" name="Rectangle 88"/>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76" name="Oval 85"/>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7177" name="Group 93"/>
            <p:cNvGrpSpPr/>
            <p:nvPr/>
          </p:nvGrpSpPr>
          <p:grpSpPr>
            <a:xfrm>
              <a:off x="2832" y="3024"/>
              <a:ext cx="144" cy="240"/>
              <a:chOff x="3312" y="3072"/>
              <a:chExt cx="144" cy="240"/>
            </a:xfrm>
          </p:grpSpPr>
          <p:sp>
            <p:nvSpPr>
              <p:cNvPr id="7178" name="Rectangle 91"/>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79" name="Rectangle 92"/>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7180" name="Group 98"/>
          <p:cNvGrpSpPr/>
          <p:nvPr/>
        </p:nvGrpSpPr>
        <p:grpSpPr>
          <a:xfrm>
            <a:off x="3657600" y="4074795"/>
            <a:ext cx="381000" cy="1295400"/>
            <a:chOff x="2784" y="2448"/>
            <a:chExt cx="240" cy="816"/>
          </a:xfrm>
        </p:grpSpPr>
        <p:grpSp>
          <p:nvGrpSpPr>
            <p:cNvPr id="7181" name="Group 99"/>
            <p:cNvGrpSpPr/>
            <p:nvPr/>
          </p:nvGrpSpPr>
          <p:grpSpPr>
            <a:xfrm>
              <a:off x="2832" y="2784"/>
              <a:ext cx="144" cy="240"/>
              <a:chOff x="3312" y="3072"/>
              <a:chExt cx="144" cy="240"/>
            </a:xfrm>
          </p:grpSpPr>
          <p:sp>
            <p:nvSpPr>
              <p:cNvPr id="7182" name="Rectangle 100"/>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83" name="Rectangle 101"/>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7184" name="Rectangle 102"/>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85" name="Oval 103"/>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7186" name="Group 104"/>
            <p:cNvGrpSpPr/>
            <p:nvPr/>
          </p:nvGrpSpPr>
          <p:grpSpPr>
            <a:xfrm>
              <a:off x="2832" y="3024"/>
              <a:ext cx="144" cy="240"/>
              <a:chOff x="3312" y="3072"/>
              <a:chExt cx="144" cy="240"/>
            </a:xfrm>
          </p:grpSpPr>
          <p:sp>
            <p:nvSpPr>
              <p:cNvPr id="7187" name="Rectangle 105"/>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88" name="Rectangle 106"/>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7189" name="Group 107"/>
          <p:cNvGrpSpPr/>
          <p:nvPr/>
        </p:nvGrpSpPr>
        <p:grpSpPr>
          <a:xfrm>
            <a:off x="4318000" y="4074795"/>
            <a:ext cx="381000" cy="1295400"/>
            <a:chOff x="2784" y="2448"/>
            <a:chExt cx="240" cy="816"/>
          </a:xfrm>
        </p:grpSpPr>
        <p:grpSp>
          <p:nvGrpSpPr>
            <p:cNvPr id="7190" name="Group 108"/>
            <p:cNvGrpSpPr/>
            <p:nvPr/>
          </p:nvGrpSpPr>
          <p:grpSpPr>
            <a:xfrm>
              <a:off x="2832" y="2784"/>
              <a:ext cx="144" cy="240"/>
              <a:chOff x="3312" y="3072"/>
              <a:chExt cx="144" cy="240"/>
            </a:xfrm>
          </p:grpSpPr>
          <p:sp>
            <p:nvSpPr>
              <p:cNvPr id="7191" name="Rectangle 109"/>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92" name="Rectangle 110"/>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7193" name="Rectangle 111"/>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94" name="Oval 112"/>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7195" name="Group 113"/>
            <p:cNvGrpSpPr/>
            <p:nvPr/>
          </p:nvGrpSpPr>
          <p:grpSpPr>
            <a:xfrm>
              <a:off x="2832" y="3024"/>
              <a:ext cx="144" cy="240"/>
              <a:chOff x="3312" y="3072"/>
              <a:chExt cx="144" cy="240"/>
            </a:xfrm>
          </p:grpSpPr>
          <p:sp>
            <p:nvSpPr>
              <p:cNvPr id="7196" name="Rectangle 114"/>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197" name="Rectangle 115"/>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7198" name="Group 116"/>
          <p:cNvGrpSpPr/>
          <p:nvPr/>
        </p:nvGrpSpPr>
        <p:grpSpPr>
          <a:xfrm>
            <a:off x="4978400" y="4074795"/>
            <a:ext cx="381000" cy="1295400"/>
            <a:chOff x="2784" y="2448"/>
            <a:chExt cx="240" cy="816"/>
          </a:xfrm>
        </p:grpSpPr>
        <p:grpSp>
          <p:nvGrpSpPr>
            <p:cNvPr id="7199" name="Group 117"/>
            <p:cNvGrpSpPr/>
            <p:nvPr/>
          </p:nvGrpSpPr>
          <p:grpSpPr>
            <a:xfrm>
              <a:off x="2832" y="2784"/>
              <a:ext cx="144" cy="240"/>
              <a:chOff x="3312" y="3072"/>
              <a:chExt cx="144" cy="240"/>
            </a:xfrm>
          </p:grpSpPr>
          <p:sp>
            <p:nvSpPr>
              <p:cNvPr id="7200" name="Rectangle 118"/>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201" name="Rectangle 119"/>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7202" name="Rectangle 120"/>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203" name="Oval 121"/>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7204" name="Group 122"/>
            <p:cNvGrpSpPr/>
            <p:nvPr/>
          </p:nvGrpSpPr>
          <p:grpSpPr>
            <a:xfrm>
              <a:off x="2832" y="3024"/>
              <a:ext cx="144" cy="240"/>
              <a:chOff x="3312" y="3072"/>
              <a:chExt cx="144" cy="240"/>
            </a:xfrm>
          </p:grpSpPr>
          <p:sp>
            <p:nvSpPr>
              <p:cNvPr id="7205" name="Rectangle 123"/>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206" name="Rectangle 124"/>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7207" name="Group 153"/>
          <p:cNvGrpSpPr/>
          <p:nvPr/>
        </p:nvGrpSpPr>
        <p:grpSpPr>
          <a:xfrm>
            <a:off x="7507605" y="3769995"/>
            <a:ext cx="457200" cy="1295400"/>
            <a:chOff x="5136" y="2304"/>
            <a:chExt cx="288" cy="816"/>
          </a:xfrm>
        </p:grpSpPr>
        <p:grpSp>
          <p:nvGrpSpPr>
            <p:cNvPr id="7208" name="Group 125"/>
            <p:cNvGrpSpPr/>
            <p:nvPr/>
          </p:nvGrpSpPr>
          <p:grpSpPr>
            <a:xfrm>
              <a:off x="5160" y="2304"/>
              <a:ext cx="240" cy="816"/>
              <a:chOff x="2784" y="2448"/>
              <a:chExt cx="240" cy="816"/>
            </a:xfrm>
          </p:grpSpPr>
          <p:grpSp>
            <p:nvGrpSpPr>
              <p:cNvPr id="7209" name="Group 126"/>
              <p:cNvGrpSpPr/>
              <p:nvPr/>
            </p:nvGrpSpPr>
            <p:grpSpPr>
              <a:xfrm>
                <a:off x="2832" y="2784"/>
                <a:ext cx="144" cy="240"/>
                <a:chOff x="3312" y="3072"/>
                <a:chExt cx="144" cy="240"/>
              </a:xfrm>
            </p:grpSpPr>
            <p:sp>
              <p:nvSpPr>
                <p:cNvPr id="7210" name="Rectangle 127"/>
                <p:cNvSpPr/>
                <p:nvPr/>
              </p:nvSpPr>
              <p:spPr>
                <a:xfrm rot="1704760">
                  <a:off x="3312"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211" name="Rectangle 128"/>
                <p:cNvSpPr/>
                <p:nvPr/>
              </p:nvSpPr>
              <p:spPr>
                <a:xfrm rot="-1704760" flipH="1">
                  <a:off x="3408"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7212" name="Rectangle 129"/>
              <p:cNvSpPr/>
              <p:nvPr/>
            </p:nvSpPr>
            <p:spPr>
              <a:xfrm>
                <a:off x="2880" y="2688"/>
                <a:ext cx="4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213" name="Oval 130"/>
              <p:cNvSpPr/>
              <p:nvPr/>
            </p:nvSpPr>
            <p:spPr>
              <a:xfrm>
                <a:off x="2784" y="2448"/>
                <a:ext cx="240" cy="28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7214" name="Group 131"/>
              <p:cNvGrpSpPr/>
              <p:nvPr/>
            </p:nvGrpSpPr>
            <p:grpSpPr>
              <a:xfrm>
                <a:off x="2832" y="3024"/>
                <a:ext cx="144" cy="240"/>
                <a:chOff x="3312" y="3072"/>
                <a:chExt cx="144" cy="240"/>
              </a:xfrm>
            </p:grpSpPr>
            <p:sp>
              <p:nvSpPr>
                <p:cNvPr id="7215" name="Rectangle 132"/>
                <p:cNvSpPr/>
                <p:nvPr/>
              </p:nvSpPr>
              <p:spPr>
                <a:xfrm rot="1704760">
                  <a:off x="3312"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7216" name="Rectangle 133"/>
                <p:cNvSpPr/>
                <p:nvPr/>
              </p:nvSpPr>
              <p:spPr>
                <a:xfrm rot="-1704760" flipH="1">
                  <a:off x="3408"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sp>
          <p:nvSpPr>
            <p:cNvPr id="7217" name="Rectangle 152"/>
            <p:cNvSpPr/>
            <p:nvPr/>
          </p:nvSpPr>
          <p:spPr>
            <a:xfrm>
              <a:off x="5136" y="2304"/>
              <a:ext cx="288" cy="288"/>
            </a:xfrm>
            <a:prstGeom prst="rect">
              <a:avLst/>
            </a:prstGeom>
            <a:noFill/>
            <a:ln w="9525">
              <a:noFill/>
            </a:ln>
          </p:spPr>
          <p:txBody>
            <a:bodyPr lIns="90360" tIns="44280" rIns="90360" bIns="44280" anchor="t"/>
            <a:lstStyle/>
            <a:p>
              <a:pPr defTabSz="457200" eaLnBrk="0" hangingPunct="0">
                <a:lnSpc>
                  <a:spcPct val="95000"/>
                </a:lnSpc>
                <a:spcBef>
                  <a:spcPts val="700"/>
                </a:spcBef>
                <a:buClr>
                  <a:srgbClr val="00CECE"/>
                </a:buClr>
                <a:buSzPct val="75000"/>
                <a:buFont typeface="Monotype Sorts"/>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GB" altLang="en-US" sz="1200" b="1" i="1" dirty="0">
                <a:solidFill>
                  <a:schemeClr val="tx1"/>
                </a:solidFill>
                <a:latin typeface="Times New Roman" panose="02020603050405020304" pitchFamily="18" charset="0"/>
                <a:ea typeface="Arial Unicode MS" panose="020B0604020202020204" pitchFamily="34" charset="-128"/>
              </a:endParaRPr>
            </a:p>
          </p:txBody>
        </p:sp>
      </p:grpSp>
      <p:sp>
        <p:nvSpPr>
          <p:cNvPr id="9278" name="AutoShape 67"/>
          <p:cNvSpPr/>
          <p:nvPr/>
        </p:nvSpPr>
        <p:spPr>
          <a:xfrm>
            <a:off x="2885440" y="5579110"/>
            <a:ext cx="612775" cy="350838"/>
          </a:xfrm>
          <a:prstGeom prst="roundRect">
            <a:avLst>
              <a:gd name="adj" fmla="val 306"/>
            </a:avLst>
          </a:prstGeom>
          <a:noFill/>
          <a:ln w="9525">
            <a:noFill/>
          </a:ln>
        </p:spPr>
        <p:txBody>
          <a:bodyPr wrap="none" lIns="90360" tIns="44280" rIns="90360" bIns="44280" anchor="t">
            <a:spAutoFit/>
          </a:bodyPr>
          <a:lstStyle/>
          <a:p>
            <a:pPr defTabSz="914400" eaLnBrk="0" hangingPunct="0">
              <a:lnSpc>
                <a:spcPct val="95000"/>
              </a:lnSpc>
              <a:buClr>
                <a:srgbClr val="E0E0E0"/>
              </a:buClr>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Times New Roman" panose="02020603050405020304" pitchFamily="18" charset="0"/>
                <a:ea typeface="Arial Unicode MS" panose="020B0604020202020204" pitchFamily="34" charset="-128"/>
              </a:rPr>
              <a:t>Rear</a:t>
            </a:r>
          </a:p>
        </p:txBody>
      </p:sp>
      <p:sp>
        <p:nvSpPr>
          <p:cNvPr id="9277" name="AutoShape 66"/>
          <p:cNvSpPr/>
          <p:nvPr/>
        </p:nvSpPr>
        <p:spPr>
          <a:xfrm>
            <a:off x="4800600" y="5554345"/>
            <a:ext cx="676275" cy="350838"/>
          </a:xfrm>
          <a:prstGeom prst="roundRect">
            <a:avLst>
              <a:gd name="adj" fmla="val 306"/>
            </a:avLst>
          </a:prstGeom>
          <a:noFill/>
          <a:ln w="9525">
            <a:noFill/>
          </a:ln>
        </p:spPr>
        <p:txBody>
          <a:bodyPr wrap="none" lIns="90360" tIns="44280" rIns="90360" bIns="44280" anchor="t">
            <a:spAutoFit/>
          </a:bodyPr>
          <a:lstStyle/>
          <a:p>
            <a:pPr defTabSz="914400" eaLnBrk="0" hangingPunct="0">
              <a:lnSpc>
                <a:spcPct val="95000"/>
              </a:lnSpc>
              <a:buClr>
                <a:srgbClr val="E0E0E0"/>
              </a:buClr>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Times New Roman" panose="02020603050405020304" pitchFamily="18" charset="0"/>
                <a:ea typeface="Arial Unicode MS" panose="020B0604020202020204" pitchFamily="34" charset="-128"/>
              </a:rPr>
              <a:t>Front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Oval 60"/>
          <p:cNvSpPr/>
          <p:nvPr/>
        </p:nvSpPr>
        <p:spPr>
          <a:xfrm>
            <a:off x="1752600" y="3613150"/>
            <a:ext cx="1066800" cy="1981200"/>
          </a:xfrm>
          <a:prstGeom prst="ellipse">
            <a:avLst/>
          </a:prstGeom>
          <a:solidFill>
            <a:schemeClr val="hlink"/>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18" name="Rectangle 2"/>
          <p:cNvSpPr>
            <a:spLocks noGrp="1"/>
          </p:cNvSpPr>
          <p:nvPr>
            <p:ph type="title"/>
          </p:nvPr>
        </p:nvSpPr>
        <p:spPr>
          <a:xfrm>
            <a:off x="1127125" y="894715"/>
            <a:ext cx="7576820" cy="876300"/>
          </a:xfrm>
        </p:spPr>
        <p:txBody>
          <a:bodyPr wrap="square" lIns="92075" tIns="46038" rIns="92075" bIns="46038" anchor="ctr"/>
          <a:lstStyle/>
          <a:p>
            <a:pPr defTabSz="91440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t>The Queue Operations</a:t>
            </a:r>
          </a:p>
        </p:txBody>
      </p:sp>
      <p:sp>
        <p:nvSpPr>
          <p:cNvPr id="9219" name="Rectangle 3"/>
          <p:cNvSpPr>
            <a:spLocks noGrp="1"/>
          </p:cNvSpPr>
          <p:nvPr>
            <p:ph sz="half" idx="1"/>
          </p:nvPr>
        </p:nvSpPr>
        <p:spPr>
          <a:xfrm>
            <a:off x="800100" y="1930400"/>
            <a:ext cx="7696200" cy="1143000"/>
          </a:xfrm>
        </p:spPr>
        <p:txBody>
          <a:bodyPr wrap="square" lIns="92075" tIns="46038" rIns="92075" bIns="46038" anchor="t"/>
          <a:lstStyle/>
          <a:p>
            <a:pPr defTabSz="914400">
              <a:lnSpc>
                <a:spcPct val="95000"/>
              </a:lnSpc>
              <a:spcBef>
                <a:spcPts val="700"/>
              </a:spcBef>
              <a:buClrTx/>
              <a:buSzTx/>
              <a:buFont typeface="Wingdings" panose="05000000000000000000"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mn-lt"/>
                <a:ea typeface="+mn-ea"/>
                <a:cs typeface="+mn-cs"/>
              </a:rPr>
              <a:t>New item must enter the queue at the</a:t>
            </a:r>
            <a:r>
              <a:rPr lang="en-GB" altLang="en-US" sz="2000" dirty="0">
                <a:solidFill>
                  <a:schemeClr val="tx1"/>
                </a:solidFill>
                <a:latin typeface="+mn-lt"/>
                <a:ea typeface="+mn-ea"/>
                <a:cs typeface="+mn-cs"/>
              </a:rPr>
              <a:t> </a:t>
            </a:r>
            <a:r>
              <a:rPr lang="en-GB" altLang="en-US" sz="2000" dirty="0">
                <a:solidFill>
                  <a:srgbClr val="C00000"/>
                </a:solidFill>
                <a:latin typeface="+mn-lt"/>
                <a:ea typeface="+mn-ea"/>
                <a:cs typeface="+mn-cs"/>
              </a:rPr>
              <a:t>rear</a:t>
            </a:r>
            <a:r>
              <a:rPr lang="en-GB" altLang="en-US" sz="2000" dirty="0">
                <a:solidFill>
                  <a:schemeClr val="tx1"/>
                </a:solidFill>
                <a:latin typeface="+mn-lt"/>
                <a:ea typeface="+mn-ea"/>
                <a:cs typeface="+mn-cs"/>
              </a:rPr>
              <a:t> </a:t>
            </a:r>
            <a:r>
              <a:rPr lang="en-GB" altLang="en-US" sz="2000" dirty="0">
                <a:latin typeface="+mn-lt"/>
                <a:ea typeface="+mn-ea"/>
                <a:cs typeface="+mn-cs"/>
              </a:rPr>
              <a:t>end. </a:t>
            </a:r>
          </a:p>
          <a:p>
            <a:pPr defTabSz="914400">
              <a:lnSpc>
                <a:spcPct val="95000"/>
              </a:lnSpc>
              <a:spcBef>
                <a:spcPts val="700"/>
              </a:spcBef>
              <a:buClrTx/>
              <a:buSzTx/>
              <a:buFont typeface="Wingdings" panose="05000000000000000000"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mn-lt"/>
                <a:ea typeface="+mn-ea"/>
                <a:cs typeface="+mn-cs"/>
              </a:rPr>
              <a:t>This operation is called as </a:t>
            </a:r>
            <a:r>
              <a:rPr lang="en-GB" altLang="en-US" sz="2000" dirty="0">
                <a:solidFill>
                  <a:srgbClr val="C00000"/>
                </a:solidFill>
                <a:latin typeface="+mn-lt"/>
                <a:ea typeface="+mn-ea"/>
                <a:cs typeface="+mn-cs"/>
              </a:rPr>
              <a:t>insert </a:t>
            </a:r>
            <a:r>
              <a:rPr lang="en-GB" altLang="en-US" sz="2000" dirty="0">
                <a:latin typeface="+mn-lt"/>
                <a:ea typeface="+mn-ea"/>
                <a:cs typeface="+mn-cs"/>
              </a:rPr>
              <a:t>operation.</a:t>
            </a:r>
          </a:p>
          <a:p>
            <a:pPr defTabSz="914400">
              <a:spcBef>
                <a:spcPts val="700"/>
              </a:spcBef>
              <a:buClrTx/>
              <a:buSzTx/>
              <a:buFont typeface="Wingdings" panose="05000000000000000000"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dirty="0">
              <a:latin typeface="+mn-lt"/>
              <a:ea typeface="+mn-ea"/>
              <a:cs typeface="+mn-cs"/>
            </a:endParaRPr>
          </a:p>
        </p:txBody>
      </p:sp>
      <p:grpSp>
        <p:nvGrpSpPr>
          <p:cNvPr id="9220" name="Group 4"/>
          <p:cNvGrpSpPr/>
          <p:nvPr/>
        </p:nvGrpSpPr>
        <p:grpSpPr>
          <a:xfrm>
            <a:off x="2921000" y="3536950"/>
            <a:ext cx="381000" cy="1295400"/>
            <a:chOff x="2784" y="2448"/>
            <a:chExt cx="240" cy="816"/>
          </a:xfrm>
        </p:grpSpPr>
        <p:grpSp>
          <p:nvGrpSpPr>
            <p:cNvPr id="9221" name="Group 5"/>
            <p:cNvGrpSpPr/>
            <p:nvPr/>
          </p:nvGrpSpPr>
          <p:grpSpPr>
            <a:xfrm>
              <a:off x="2832" y="2784"/>
              <a:ext cx="144" cy="240"/>
              <a:chOff x="3312" y="3072"/>
              <a:chExt cx="144" cy="240"/>
            </a:xfrm>
          </p:grpSpPr>
          <p:sp>
            <p:nvSpPr>
              <p:cNvPr id="9222" name="Rectangle 6"/>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23" name="Rectangle 7"/>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9224" name="Rectangle 8"/>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25" name="Oval 9"/>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9226" name="Group 10"/>
            <p:cNvGrpSpPr/>
            <p:nvPr/>
          </p:nvGrpSpPr>
          <p:grpSpPr>
            <a:xfrm>
              <a:off x="2832" y="3024"/>
              <a:ext cx="144" cy="240"/>
              <a:chOff x="3312" y="3072"/>
              <a:chExt cx="144" cy="240"/>
            </a:xfrm>
          </p:grpSpPr>
          <p:sp>
            <p:nvSpPr>
              <p:cNvPr id="9227" name="Rectangle 11"/>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28" name="Rectangle 12"/>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9229" name="Group 13"/>
          <p:cNvGrpSpPr/>
          <p:nvPr/>
        </p:nvGrpSpPr>
        <p:grpSpPr>
          <a:xfrm>
            <a:off x="3581400" y="3536950"/>
            <a:ext cx="381000" cy="1295400"/>
            <a:chOff x="2784" y="2448"/>
            <a:chExt cx="240" cy="816"/>
          </a:xfrm>
        </p:grpSpPr>
        <p:grpSp>
          <p:nvGrpSpPr>
            <p:cNvPr id="9230" name="Group 14"/>
            <p:cNvGrpSpPr/>
            <p:nvPr/>
          </p:nvGrpSpPr>
          <p:grpSpPr>
            <a:xfrm>
              <a:off x="2832" y="2784"/>
              <a:ext cx="144" cy="240"/>
              <a:chOff x="3312" y="3072"/>
              <a:chExt cx="144" cy="240"/>
            </a:xfrm>
          </p:grpSpPr>
          <p:sp>
            <p:nvSpPr>
              <p:cNvPr id="9231" name="Rectangle 15"/>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32" name="Rectangle 16"/>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9233" name="Rectangle 17"/>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34" name="Oval 18"/>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9235" name="Group 19"/>
            <p:cNvGrpSpPr/>
            <p:nvPr/>
          </p:nvGrpSpPr>
          <p:grpSpPr>
            <a:xfrm>
              <a:off x="2832" y="3024"/>
              <a:ext cx="144" cy="240"/>
              <a:chOff x="3312" y="3072"/>
              <a:chExt cx="144" cy="240"/>
            </a:xfrm>
          </p:grpSpPr>
          <p:sp>
            <p:nvSpPr>
              <p:cNvPr id="9236" name="Rectangle 20"/>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37" name="Rectangle 21"/>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9238" name="Group 22"/>
          <p:cNvGrpSpPr/>
          <p:nvPr/>
        </p:nvGrpSpPr>
        <p:grpSpPr>
          <a:xfrm>
            <a:off x="4241800" y="3536950"/>
            <a:ext cx="381000" cy="1295400"/>
            <a:chOff x="2784" y="2448"/>
            <a:chExt cx="240" cy="816"/>
          </a:xfrm>
        </p:grpSpPr>
        <p:grpSp>
          <p:nvGrpSpPr>
            <p:cNvPr id="9239" name="Group 23"/>
            <p:cNvGrpSpPr/>
            <p:nvPr/>
          </p:nvGrpSpPr>
          <p:grpSpPr>
            <a:xfrm>
              <a:off x="2832" y="2784"/>
              <a:ext cx="144" cy="240"/>
              <a:chOff x="3312" y="3072"/>
              <a:chExt cx="144" cy="240"/>
            </a:xfrm>
          </p:grpSpPr>
          <p:sp>
            <p:nvSpPr>
              <p:cNvPr id="9240" name="Rectangle 24"/>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41" name="Rectangle 25"/>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9242" name="Rectangle 26"/>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43" name="Oval 27"/>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9244" name="Group 28"/>
            <p:cNvGrpSpPr/>
            <p:nvPr/>
          </p:nvGrpSpPr>
          <p:grpSpPr>
            <a:xfrm>
              <a:off x="2832" y="3024"/>
              <a:ext cx="144" cy="240"/>
              <a:chOff x="3312" y="3072"/>
              <a:chExt cx="144" cy="240"/>
            </a:xfrm>
          </p:grpSpPr>
          <p:sp>
            <p:nvSpPr>
              <p:cNvPr id="9245" name="Rectangle 29"/>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46" name="Rectangle 30"/>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9247" name="Group 31"/>
          <p:cNvGrpSpPr/>
          <p:nvPr/>
        </p:nvGrpSpPr>
        <p:grpSpPr>
          <a:xfrm>
            <a:off x="4902200" y="3536950"/>
            <a:ext cx="381000" cy="1295400"/>
            <a:chOff x="2784" y="2448"/>
            <a:chExt cx="240" cy="816"/>
          </a:xfrm>
        </p:grpSpPr>
        <p:grpSp>
          <p:nvGrpSpPr>
            <p:cNvPr id="9248" name="Group 32"/>
            <p:cNvGrpSpPr/>
            <p:nvPr/>
          </p:nvGrpSpPr>
          <p:grpSpPr>
            <a:xfrm>
              <a:off x="2832" y="2784"/>
              <a:ext cx="144" cy="240"/>
              <a:chOff x="3312" y="3072"/>
              <a:chExt cx="144" cy="240"/>
            </a:xfrm>
          </p:grpSpPr>
          <p:sp>
            <p:nvSpPr>
              <p:cNvPr id="9249" name="Rectangle 33"/>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50" name="Rectangle 34"/>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9251" name="Rectangle 35"/>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52" name="Oval 36"/>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9253" name="Group 37"/>
            <p:cNvGrpSpPr/>
            <p:nvPr/>
          </p:nvGrpSpPr>
          <p:grpSpPr>
            <a:xfrm>
              <a:off x="2832" y="3024"/>
              <a:ext cx="144" cy="240"/>
              <a:chOff x="3312" y="3072"/>
              <a:chExt cx="144" cy="240"/>
            </a:xfrm>
          </p:grpSpPr>
          <p:sp>
            <p:nvSpPr>
              <p:cNvPr id="9254" name="Rectangle 38"/>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55" name="Rectangle 39"/>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9256" name="Group 40"/>
          <p:cNvGrpSpPr/>
          <p:nvPr/>
        </p:nvGrpSpPr>
        <p:grpSpPr>
          <a:xfrm>
            <a:off x="8077200" y="3232150"/>
            <a:ext cx="457200" cy="1295400"/>
            <a:chOff x="5136" y="2304"/>
            <a:chExt cx="288" cy="816"/>
          </a:xfrm>
        </p:grpSpPr>
        <p:grpSp>
          <p:nvGrpSpPr>
            <p:cNvPr id="9257" name="Group 41"/>
            <p:cNvGrpSpPr/>
            <p:nvPr/>
          </p:nvGrpSpPr>
          <p:grpSpPr>
            <a:xfrm>
              <a:off x="5160" y="2304"/>
              <a:ext cx="240" cy="816"/>
              <a:chOff x="2784" y="2448"/>
              <a:chExt cx="240" cy="816"/>
            </a:xfrm>
          </p:grpSpPr>
          <p:grpSp>
            <p:nvGrpSpPr>
              <p:cNvPr id="9258" name="Group 42"/>
              <p:cNvGrpSpPr/>
              <p:nvPr/>
            </p:nvGrpSpPr>
            <p:grpSpPr>
              <a:xfrm>
                <a:off x="2832" y="2784"/>
                <a:ext cx="144" cy="240"/>
                <a:chOff x="3312" y="3072"/>
                <a:chExt cx="144" cy="240"/>
              </a:xfrm>
            </p:grpSpPr>
            <p:sp>
              <p:nvSpPr>
                <p:cNvPr id="9259" name="Rectangle 43"/>
                <p:cNvSpPr/>
                <p:nvPr/>
              </p:nvSpPr>
              <p:spPr>
                <a:xfrm rot="1704760">
                  <a:off x="3312"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60" name="Rectangle 44"/>
                <p:cNvSpPr/>
                <p:nvPr/>
              </p:nvSpPr>
              <p:spPr>
                <a:xfrm rot="-1704760" flipH="1">
                  <a:off x="3408"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9261" name="Rectangle 45"/>
              <p:cNvSpPr/>
              <p:nvPr/>
            </p:nvSpPr>
            <p:spPr>
              <a:xfrm>
                <a:off x="2880" y="2688"/>
                <a:ext cx="4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62" name="Oval 46"/>
              <p:cNvSpPr/>
              <p:nvPr/>
            </p:nvSpPr>
            <p:spPr>
              <a:xfrm>
                <a:off x="2784" y="2448"/>
                <a:ext cx="240" cy="28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9263" name="Group 47"/>
              <p:cNvGrpSpPr/>
              <p:nvPr/>
            </p:nvGrpSpPr>
            <p:grpSpPr>
              <a:xfrm>
                <a:off x="2832" y="3024"/>
                <a:ext cx="144" cy="240"/>
                <a:chOff x="3312" y="3072"/>
                <a:chExt cx="144" cy="240"/>
              </a:xfrm>
            </p:grpSpPr>
            <p:sp>
              <p:nvSpPr>
                <p:cNvPr id="9264" name="Rectangle 48"/>
                <p:cNvSpPr/>
                <p:nvPr/>
              </p:nvSpPr>
              <p:spPr>
                <a:xfrm rot="1704760">
                  <a:off x="3312"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65" name="Rectangle 49"/>
                <p:cNvSpPr/>
                <p:nvPr/>
              </p:nvSpPr>
              <p:spPr>
                <a:xfrm rot="-1704760" flipH="1">
                  <a:off x="3408"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sp>
          <p:nvSpPr>
            <p:cNvPr id="9266" name="Rectangle 50"/>
            <p:cNvSpPr/>
            <p:nvPr/>
          </p:nvSpPr>
          <p:spPr>
            <a:xfrm>
              <a:off x="5136" y="2304"/>
              <a:ext cx="288" cy="288"/>
            </a:xfrm>
            <a:prstGeom prst="rect">
              <a:avLst/>
            </a:prstGeom>
            <a:noFill/>
            <a:ln w="9525">
              <a:noFill/>
            </a:ln>
          </p:spPr>
          <p:txBody>
            <a:bodyPr lIns="90360" tIns="44280" rIns="90360" bIns="44280" anchor="t"/>
            <a:lstStyle/>
            <a:p>
              <a:pPr defTabSz="457200" eaLnBrk="0" hangingPunct="0">
                <a:lnSpc>
                  <a:spcPct val="95000"/>
                </a:lnSpc>
                <a:spcBef>
                  <a:spcPts val="700"/>
                </a:spcBef>
                <a:buClr>
                  <a:srgbClr val="00CECE"/>
                </a:buClr>
                <a:buSzPct val="75000"/>
                <a:buFont typeface="Monotype Sorts"/>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GB" altLang="en-US" sz="1200" b="1" i="1" dirty="0">
                <a:solidFill>
                  <a:schemeClr val="tx1"/>
                </a:solidFill>
                <a:latin typeface="Times New Roman" panose="02020603050405020304" pitchFamily="18" charset="0"/>
                <a:ea typeface="Arial Unicode MS" panose="020B0604020202020204" pitchFamily="34" charset="-128"/>
              </a:endParaRPr>
            </a:p>
          </p:txBody>
        </p:sp>
      </p:grpSp>
      <p:grpSp>
        <p:nvGrpSpPr>
          <p:cNvPr id="9267" name="Group 51"/>
          <p:cNvGrpSpPr/>
          <p:nvPr/>
        </p:nvGrpSpPr>
        <p:grpSpPr>
          <a:xfrm>
            <a:off x="2095500" y="3765550"/>
            <a:ext cx="381000" cy="1295400"/>
            <a:chOff x="2784" y="2448"/>
            <a:chExt cx="240" cy="816"/>
          </a:xfrm>
        </p:grpSpPr>
        <p:grpSp>
          <p:nvGrpSpPr>
            <p:cNvPr id="9268" name="Group 52"/>
            <p:cNvGrpSpPr/>
            <p:nvPr/>
          </p:nvGrpSpPr>
          <p:grpSpPr>
            <a:xfrm>
              <a:off x="2832" y="2784"/>
              <a:ext cx="144" cy="240"/>
              <a:chOff x="3312" y="3072"/>
              <a:chExt cx="144" cy="240"/>
            </a:xfrm>
          </p:grpSpPr>
          <p:sp>
            <p:nvSpPr>
              <p:cNvPr id="9269" name="Rectangle 53"/>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70" name="Rectangle 54"/>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9271" name="Rectangle 55"/>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72" name="Oval 56"/>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9273" name="Group 57"/>
            <p:cNvGrpSpPr/>
            <p:nvPr/>
          </p:nvGrpSpPr>
          <p:grpSpPr>
            <a:xfrm>
              <a:off x="2832" y="3024"/>
              <a:ext cx="144" cy="240"/>
              <a:chOff x="3312" y="3072"/>
              <a:chExt cx="144" cy="240"/>
            </a:xfrm>
          </p:grpSpPr>
          <p:sp>
            <p:nvSpPr>
              <p:cNvPr id="9274" name="Rectangle 58"/>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9275" name="Rectangle 59"/>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sp>
        <p:nvSpPr>
          <p:cNvPr id="9276" name="Line 65"/>
          <p:cNvSpPr/>
          <p:nvPr/>
        </p:nvSpPr>
        <p:spPr>
          <a:xfrm flipV="1">
            <a:off x="304800" y="4756150"/>
            <a:ext cx="1524000" cy="457200"/>
          </a:xfrm>
          <a:prstGeom prst="line">
            <a:avLst/>
          </a:prstGeom>
          <a:ln w="76200" cap="flat" cmpd="sng">
            <a:solidFill>
              <a:schemeClr val="tx1"/>
            </a:solidFill>
            <a:prstDash val="solid"/>
            <a:round/>
            <a:headEnd type="none" w="med" len="med"/>
            <a:tailEnd type="triangle" w="med" len="med"/>
          </a:ln>
        </p:spPr>
      </p:sp>
      <p:sp>
        <p:nvSpPr>
          <p:cNvPr id="9277" name="AutoShape 66"/>
          <p:cNvSpPr/>
          <p:nvPr/>
        </p:nvSpPr>
        <p:spPr>
          <a:xfrm>
            <a:off x="4800600" y="4908550"/>
            <a:ext cx="676275" cy="350838"/>
          </a:xfrm>
          <a:prstGeom prst="roundRect">
            <a:avLst>
              <a:gd name="adj" fmla="val 306"/>
            </a:avLst>
          </a:prstGeom>
          <a:noFill/>
          <a:ln w="9525">
            <a:noFill/>
          </a:ln>
        </p:spPr>
        <p:txBody>
          <a:bodyPr wrap="none" lIns="90360" tIns="44280" rIns="90360" bIns="44280" anchor="t">
            <a:spAutoFit/>
          </a:bodyPr>
          <a:lstStyle/>
          <a:p>
            <a:pPr defTabSz="914400" eaLnBrk="0" hangingPunct="0">
              <a:lnSpc>
                <a:spcPct val="95000"/>
              </a:lnSpc>
              <a:buClr>
                <a:srgbClr val="E0E0E0"/>
              </a:buClr>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Times New Roman" panose="02020603050405020304" pitchFamily="18" charset="0"/>
                <a:ea typeface="Arial Unicode MS" panose="020B0604020202020204" pitchFamily="34" charset="-128"/>
              </a:rPr>
              <a:t>Front</a:t>
            </a:r>
          </a:p>
        </p:txBody>
      </p:sp>
      <p:sp>
        <p:nvSpPr>
          <p:cNvPr id="9278" name="AutoShape 67"/>
          <p:cNvSpPr/>
          <p:nvPr/>
        </p:nvSpPr>
        <p:spPr>
          <a:xfrm>
            <a:off x="1127125" y="5259705"/>
            <a:ext cx="612775" cy="350838"/>
          </a:xfrm>
          <a:prstGeom prst="roundRect">
            <a:avLst>
              <a:gd name="adj" fmla="val 306"/>
            </a:avLst>
          </a:prstGeom>
          <a:noFill/>
          <a:ln w="9525">
            <a:noFill/>
          </a:ln>
        </p:spPr>
        <p:txBody>
          <a:bodyPr wrap="none" lIns="90360" tIns="44280" rIns="90360" bIns="44280" anchor="t">
            <a:spAutoFit/>
          </a:bodyPr>
          <a:lstStyle/>
          <a:p>
            <a:pPr defTabSz="914400" eaLnBrk="0" hangingPunct="0">
              <a:lnSpc>
                <a:spcPct val="95000"/>
              </a:lnSpc>
              <a:buClr>
                <a:srgbClr val="E0E0E0"/>
              </a:buClr>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Times New Roman" panose="02020603050405020304" pitchFamily="18" charset="0"/>
                <a:ea typeface="Arial Unicode MS" panose="020B0604020202020204" pitchFamily="34" charset="-128"/>
              </a:rPr>
              <a:t>Rear</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Oval 63"/>
          <p:cNvSpPr/>
          <p:nvPr/>
        </p:nvSpPr>
        <p:spPr>
          <a:xfrm>
            <a:off x="4572000" y="3970655"/>
            <a:ext cx="1066800" cy="1981200"/>
          </a:xfrm>
          <a:prstGeom prst="ellipse">
            <a:avLst/>
          </a:prstGeom>
          <a:solidFill>
            <a:schemeClr val="hlink"/>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66" name="Rectangle 3"/>
          <p:cNvSpPr>
            <a:spLocks noGrp="1"/>
          </p:cNvSpPr>
          <p:nvPr>
            <p:ph type="title"/>
          </p:nvPr>
        </p:nvSpPr>
        <p:spPr>
          <a:xfrm>
            <a:off x="1195070" y="865505"/>
            <a:ext cx="7643495" cy="952500"/>
          </a:xfrm>
        </p:spPr>
        <p:txBody>
          <a:bodyPr wrap="square" lIns="92075" tIns="46038" rIns="92075" bIns="46038" anchor="ctr"/>
          <a:lstStyle/>
          <a:p>
            <a:pPr defTabSz="91440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t>The Queue Operations</a:t>
            </a:r>
          </a:p>
        </p:txBody>
      </p:sp>
      <p:sp>
        <p:nvSpPr>
          <p:cNvPr id="11267" name="Rectangle 4"/>
          <p:cNvSpPr>
            <a:spLocks noGrp="1"/>
          </p:cNvSpPr>
          <p:nvPr>
            <p:ph sz="half" idx="1"/>
          </p:nvPr>
        </p:nvSpPr>
        <p:spPr>
          <a:xfrm>
            <a:off x="802005" y="2103755"/>
            <a:ext cx="7960995" cy="1096645"/>
          </a:xfrm>
        </p:spPr>
        <p:txBody>
          <a:bodyPr wrap="square" lIns="92075" tIns="46038" rIns="92075" bIns="46038" anchor="t"/>
          <a:lstStyle/>
          <a:p>
            <a:pPr defTabSz="914400">
              <a:lnSpc>
                <a:spcPct val="95000"/>
              </a:lnSpc>
              <a:spcBef>
                <a:spcPts val="700"/>
              </a:spcBef>
              <a:buClrTx/>
              <a:buSzTx/>
              <a:buFont typeface="Wingdings" panose="05000000000000000000"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mn-lt"/>
                <a:ea typeface="+mn-ea"/>
                <a:cs typeface="+mn-cs"/>
              </a:rPr>
              <a:t>When an item is taken from the queue, it always comes from the </a:t>
            </a:r>
            <a:r>
              <a:rPr lang="en-GB" altLang="en-US" sz="2000" dirty="0">
                <a:solidFill>
                  <a:srgbClr val="C00000"/>
                </a:solidFill>
                <a:latin typeface="+mn-lt"/>
                <a:ea typeface="+mn-ea"/>
                <a:cs typeface="+mn-cs"/>
              </a:rPr>
              <a:t>front </a:t>
            </a:r>
            <a:r>
              <a:rPr lang="en-GB" altLang="en-US" sz="2000" dirty="0">
                <a:latin typeface="+mn-lt"/>
                <a:ea typeface="+mn-ea"/>
                <a:cs typeface="+mn-cs"/>
              </a:rPr>
              <a:t>end.</a:t>
            </a:r>
          </a:p>
          <a:p>
            <a:pPr defTabSz="914400">
              <a:lnSpc>
                <a:spcPct val="95000"/>
              </a:lnSpc>
              <a:spcBef>
                <a:spcPts val="700"/>
              </a:spcBef>
              <a:buClrTx/>
              <a:buSzTx/>
              <a:buFont typeface="Wingdings" panose="05000000000000000000"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mn-lt"/>
                <a:ea typeface="+mn-ea"/>
                <a:cs typeface="+mn-cs"/>
              </a:rPr>
              <a:t>It is usually called a </a:t>
            </a:r>
            <a:r>
              <a:rPr lang="en-GB" altLang="en-US" sz="2000" dirty="0">
                <a:solidFill>
                  <a:srgbClr val="C00000"/>
                </a:solidFill>
                <a:latin typeface="+mn-lt"/>
                <a:ea typeface="+mn-ea"/>
                <a:cs typeface="+mn-cs"/>
              </a:rPr>
              <a:t>delete</a:t>
            </a:r>
            <a:r>
              <a:rPr lang="en-GB" altLang="en-US" sz="2000" dirty="0">
                <a:latin typeface="+mn-lt"/>
                <a:ea typeface="+mn-ea"/>
                <a:cs typeface="+mn-cs"/>
              </a:rPr>
              <a:t> operation.</a:t>
            </a:r>
          </a:p>
          <a:p>
            <a:pPr defTabSz="914400">
              <a:spcBef>
                <a:spcPts val="700"/>
              </a:spcBef>
              <a:buClrTx/>
              <a:buSzTx/>
              <a:buFont typeface="Wingdings" panose="05000000000000000000"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dirty="0">
              <a:latin typeface="+mn-lt"/>
              <a:ea typeface="+mn-ea"/>
              <a:cs typeface="+mn-cs"/>
            </a:endParaRPr>
          </a:p>
        </p:txBody>
      </p:sp>
      <p:grpSp>
        <p:nvGrpSpPr>
          <p:cNvPr id="11268" name="Group 5"/>
          <p:cNvGrpSpPr/>
          <p:nvPr/>
        </p:nvGrpSpPr>
        <p:grpSpPr>
          <a:xfrm>
            <a:off x="2844800" y="4275455"/>
            <a:ext cx="381000" cy="1295400"/>
            <a:chOff x="2784" y="2448"/>
            <a:chExt cx="240" cy="816"/>
          </a:xfrm>
        </p:grpSpPr>
        <p:grpSp>
          <p:nvGrpSpPr>
            <p:cNvPr id="11269" name="Group 6"/>
            <p:cNvGrpSpPr/>
            <p:nvPr/>
          </p:nvGrpSpPr>
          <p:grpSpPr>
            <a:xfrm>
              <a:off x="2832" y="2784"/>
              <a:ext cx="144" cy="240"/>
              <a:chOff x="3312" y="3072"/>
              <a:chExt cx="144" cy="240"/>
            </a:xfrm>
          </p:grpSpPr>
          <p:sp>
            <p:nvSpPr>
              <p:cNvPr id="11270" name="Rectangle 7"/>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71" name="Rectangle 8"/>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11272" name="Rectangle 9"/>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73" name="Oval 10"/>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11274" name="Group 11"/>
            <p:cNvGrpSpPr/>
            <p:nvPr/>
          </p:nvGrpSpPr>
          <p:grpSpPr>
            <a:xfrm>
              <a:off x="2832" y="3024"/>
              <a:ext cx="144" cy="240"/>
              <a:chOff x="3312" y="3072"/>
              <a:chExt cx="144" cy="240"/>
            </a:xfrm>
          </p:grpSpPr>
          <p:sp>
            <p:nvSpPr>
              <p:cNvPr id="11275" name="Rectangle 12"/>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76" name="Rectangle 13"/>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11277" name="Group 14"/>
          <p:cNvGrpSpPr/>
          <p:nvPr/>
        </p:nvGrpSpPr>
        <p:grpSpPr>
          <a:xfrm>
            <a:off x="3505200" y="4275455"/>
            <a:ext cx="381000" cy="1295400"/>
            <a:chOff x="2784" y="2448"/>
            <a:chExt cx="240" cy="816"/>
          </a:xfrm>
        </p:grpSpPr>
        <p:grpSp>
          <p:nvGrpSpPr>
            <p:cNvPr id="11278" name="Group 15"/>
            <p:cNvGrpSpPr/>
            <p:nvPr/>
          </p:nvGrpSpPr>
          <p:grpSpPr>
            <a:xfrm>
              <a:off x="2832" y="2784"/>
              <a:ext cx="144" cy="240"/>
              <a:chOff x="3312" y="3072"/>
              <a:chExt cx="144" cy="240"/>
            </a:xfrm>
          </p:grpSpPr>
          <p:sp>
            <p:nvSpPr>
              <p:cNvPr id="11279" name="Rectangle 16"/>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80" name="Rectangle 17"/>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11281" name="Rectangle 18"/>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82" name="Oval 19"/>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11283" name="Group 20"/>
            <p:cNvGrpSpPr/>
            <p:nvPr/>
          </p:nvGrpSpPr>
          <p:grpSpPr>
            <a:xfrm>
              <a:off x="2832" y="3024"/>
              <a:ext cx="144" cy="240"/>
              <a:chOff x="3312" y="3072"/>
              <a:chExt cx="144" cy="240"/>
            </a:xfrm>
          </p:grpSpPr>
          <p:sp>
            <p:nvSpPr>
              <p:cNvPr id="11284" name="Rectangle 21"/>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85" name="Rectangle 22"/>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11286" name="Group 23"/>
          <p:cNvGrpSpPr/>
          <p:nvPr/>
        </p:nvGrpSpPr>
        <p:grpSpPr>
          <a:xfrm>
            <a:off x="4165600" y="4275455"/>
            <a:ext cx="381000" cy="1295400"/>
            <a:chOff x="2784" y="2448"/>
            <a:chExt cx="240" cy="816"/>
          </a:xfrm>
        </p:grpSpPr>
        <p:grpSp>
          <p:nvGrpSpPr>
            <p:cNvPr id="11287" name="Group 24"/>
            <p:cNvGrpSpPr/>
            <p:nvPr/>
          </p:nvGrpSpPr>
          <p:grpSpPr>
            <a:xfrm>
              <a:off x="2832" y="2784"/>
              <a:ext cx="144" cy="240"/>
              <a:chOff x="3312" y="3072"/>
              <a:chExt cx="144" cy="240"/>
            </a:xfrm>
          </p:grpSpPr>
          <p:sp>
            <p:nvSpPr>
              <p:cNvPr id="11288" name="Rectangle 25"/>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89" name="Rectangle 26"/>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11290" name="Rectangle 27"/>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91" name="Oval 28"/>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11292" name="Group 29"/>
            <p:cNvGrpSpPr/>
            <p:nvPr/>
          </p:nvGrpSpPr>
          <p:grpSpPr>
            <a:xfrm>
              <a:off x="2832" y="3024"/>
              <a:ext cx="144" cy="240"/>
              <a:chOff x="3312" y="3072"/>
              <a:chExt cx="144" cy="240"/>
            </a:xfrm>
          </p:grpSpPr>
          <p:sp>
            <p:nvSpPr>
              <p:cNvPr id="11293" name="Rectangle 30"/>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94" name="Rectangle 31"/>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11295" name="Group 32"/>
          <p:cNvGrpSpPr/>
          <p:nvPr/>
        </p:nvGrpSpPr>
        <p:grpSpPr>
          <a:xfrm>
            <a:off x="4826000" y="4275455"/>
            <a:ext cx="381000" cy="1295400"/>
            <a:chOff x="2784" y="2448"/>
            <a:chExt cx="240" cy="816"/>
          </a:xfrm>
        </p:grpSpPr>
        <p:grpSp>
          <p:nvGrpSpPr>
            <p:cNvPr id="11296" name="Group 33"/>
            <p:cNvGrpSpPr/>
            <p:nvPr/>
          </p:nvGrpSpPr>
          <p:grpSpPr>
            <a:xfrm>
              <a:off x="2832" y="2784"/>
              <a:ext cx="144" cy="240"/>
              <a:chOff x="3312" y="3072"/>
              <a:chExt cx="144" cy="240"/>
            </a:xfrm>
          </p:grpSpPr>
          <p:sp>
            <p:nvSpPr>
              <p:cNvPr id="11297" name="Rectangle 34"/>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298" name="Rectangle 35"/>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11299" name="Rectangle 36"/>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300" name="Oval 37"/>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11301" name="Group 38"/>
            <p:cNvGrpSpPr/>
            <p:nvPr/>
          </p:nvGrpSpPr>
          <p:grpSpPr>
            <a:xfrm>
              <a:off x="2832" y="3024"/>
              <a:ext cx="144" cy="240"/>
              <a:chOff x="3312" y="3072"/>
              <a:chExt cx="144" cy="240"/>
            </a:xfrm>
          </p:grpSpPr>
          <p:sp>
            <p:nvSpPr>
              <p:cNvPr id="11302" name="Rectangle 39"/>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303" name="Rectangle 40"/>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grpSp>
        <p:nvGrpSpPr>
          <p:cNvPr id="11304" name="Group 41"/>
          <p:cNvGrpSpPr/>
          <p:nvPr/>
        </p:nvGrpSpPr>
        <p:grpSpPr>
          <a:xfrm>
            <a:off x="8001000" y="3970655"/>
            <a:ext cx="457200" cy="1295400"/>
            <a:chOff x="5136" y="2304"/>
            <a:chExt cx="288" cy="816"/>
          </a:xfrm>
        </p:grpSpPr>
        <p:grpSp>
          <p:nvGrpSpPr>
            <p:cNvPr id="11305" name="Group 42"/>
            <p:cNvGrpSpPr/>
            <p:nvPr/>
          </p:nvGrpSpPr>
          <p:grpSpPr>
            <a:xfrm>
              <a:off x="5160" y="2304"/>
              <a:ext cx="240" cy="816"/>
              <a:chOff x="2784" y="2448"/>
              <a:chExt cx="240" cy="816"/>
            </a:xfrm>
          </p:grpSpPr>
          <p:grpSp>
            <p:nvGrpSpPr>
              <p:cNvPr id="11306" name="Group 43"/>
              <p:cNvGrpSpPr/>
              <p:nvPr/>
            </p:nvGrpSpPr>
            <p:grpSpPr>
              <a:xfrm>
                <a:off x="2832" y="2784"/>
                <a:ext cx="144" cy="240"/>
                <a:chOff x="3312" y="3072"/>
                <a:chExt cx="144" cy="240"/>
              </a:xfrm>
            </p:grpSpPr>
            <p:sp>
              <p:nvSpPr>
                <p:cNvPr id="11307" name="Rectangle 44"/>
                <p:cNvSpPr/>
                <p:nvPr/>
              </p:nvSpPr>
              <p:spPr>
                <a:xfrm rot="1704760">
                  <a:off x="3312"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308" name="Rectangle 45"/>
                <p:cNvSpPr/>
                <p:nvPr/>
              </p:nvSpPr>
              <p:spPr>
                <a:xfrm rot="-1704760" flipH="1">
                  <a:off x="3408"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11309" name="Rectangle 46"/>
              <p:cNvSpPr/>
              <p:nvPr/>
            </p:nvSpPr>
            <p:spPr>
              <a:xfrm>
                <a:off x="2880" y="2688"/>
                <a:ext cx="4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310" name="Oval 47"/>
              <p:cNvSpPr/>
              <p:nvPr/>
            </p:nvSpPr>
            <p:spPr>
              <a:xfrm>
                <a:off x="2784" y="2448"/>
                <a:ext cx="240" cy="28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11311" name="Group 48"/>
              <p:cNvGrpSpPr/>
              <p:nvPr/>
            </p:nvGrpSpPr>
            <p:grpSpPr>
              <a:xfrm>
                <a:off x="2832" y="3024"/>
                <a:ext cx="144" cy="240"/>
                <a:chOff x="3312" y="3072"/>
                <a:chExt cx="144" cy="240"/>
              </a:xfrm>
            </p:grpSpPr>
            <p:sp>
              <p:nvSpPr>
                <p:cNvPr id="11312" name="Rectangle 49"/>
                <p:cNvSpPr/>
                <p:nvPr/>
              </p:nvSpPr>
              <p:spPr>
                <a:xfrm rot="1704760">
                  <a:off x="3312"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313" name="Rectangle 50"/>
                <p:cNvSpPr/>
                <p:nvPr/>
              </p:nvSpPr>
              <p:spPr>
                <a:xfrm rot="-1704760" flipH="1">
                  <a:off x="3408" y="3072"/>
                  <a:ext cx="48" cy="2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sp>
          <p:nvSpPr>
            <p:cNvPr id="11314" name="Rectangle 51"/>
            <p:cNvSpPr/>
            <p:nvPr/>
          </p:nvSpPr>
          <p:spPr>
            <a:xfrm>
              <a:off x="5136" y="2304"/>
              <a:ext cx="288" cy="288"/>
            </a:xfrm>
            <a:prstGeom prst="rect">
              <a:avLst/>
            </a:prstGeom>
            <a:noFill/>
            <a:ln w="9525">
              <a:noFill/>
            </a:ln>
          </p:spPr>
          <p:txBody>
            <a:bodyPr lIns="90360" tIns="44280" rIns="90360" bIns="44280" anchor="t"/>
            <a:lstStyle/>
            <a:p>
              <a:pPr defTabSz="457200" eaLnBrk="0" hangingPunct="0">
                <a:lnSpc>
                  <a:spcPct val="95000"/>
                </a:lnSpc>
                <a:spcBef>
                  <a:spcPts val="700"/>
                </a:spcBef>
                <a:buClr>
                  <a:srgbClr val="00CECE"/>
                </a:buClr>
                <a:buSzPct val="75000"/>
                <a:buFont typeface="Monotype Sorts"/>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GB" altLang="en-US" sz="1200" b="1" i="1" dirty="0">
                <a:solidFill>
                  <a:schemeClr val="tx1"/>
                </a:solidFill>
                <a:latin typeface="Times New Roman" panose="02020603050405020304" pitchFamily="18" charset="0"/>
                <a:ea typeface="Arial Unicode MS" panose="020B0604020202020204" pitchFamily="34" charset="-128"/>
              </a:endParaRPr>
            </a:p>
          </p:txBody>
        </p:sp>
      </p:grpSp>
      <p:grpSp>
        <p:nvGrpSpPr>
          <p:cNvPr id="11315" name="Group 52"/>
          <p:cNvGrpSpPr/>
          <p:nvPr/>
        </p:nvGrpSpPr>
        <p:grpSpPr>
          <a:xfrm>
            <a:off x="2209800" y="4275455"/>
            <a:ext cx="381000" cy="1295400"/>
            <a:chOff x="2784" y="2448"/>
            <a:chExt cx="240" cy="816"/>
          </a:xfrm>
        </p:grpSpPr>
        <p:grpSp>
          <p:nvGrpSpPr>
            <p:cNvPr id="11316" name="Group 53"/>
            <p:cNvGrpSpPr/>
            <p:nvPr/>
          </p:nvGrpSpPr>
          <p:grpSpPr>
            <a:xfrm>
              <a:off x="2832" y="2784"/>
              <a:ext cx="144" cy="240"/>
              <a:chOff x="3312" y="3072"/>
              <a:chExt cx="144" cy="240"/>
            </a:xfrm>
          </p:grpSpPr>
          <p:sp>
            <p:nvSpPr>
              <p:cNvPr id="11317" name="Rectangle 54"/>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318" name="Rectangle 55"/>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sp>
          <p:nvSpPr>
            <p:cNvPr id="11319" name="Rectangle 56"/>
            <p:cNvSpPr/>
            <p:nvPr/>
          </p:nvSpPr>
          <p:spPr>
            <a:xfrm>
              <a:off x="2880" y="2688"/>
              <a:ext cx="48" cy="384"/>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320" name="Oval 57"/>
            <p:cNvSpPr/>
            <p:nvPr/>
          </p:nvSpPr>
          <p:spPr>
            <a:xfrm>
              <a:off x="2784" y="2448"/>
              <a:ext cx="240" cy="288"/>
            </a:xfrm>
            <a:prstGeom prst="ellipse">
              <a:avLst/>
            </a:prstGeom>
            <a:solidFill>
              <a:srgbClr val="00B8FF"/>
            </a:solidFill>
            <a:ln w="9525" cap="flat" cmpd="sng">
              <a:solidFill>
                <a:schemeClr val="tx1"/>
              </a:solidFill>
              <a:prstDash val="solid"/>
              <a:round/>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nvGrpSpPr>
            <p:cNvPr id="11321" name="Group 58"/>
            <p:cNvGrpSpPr/>
            <p:nvPr/>
          </p:nvGrpSpPr>
          <p:grpSpPr>
            <a:xfrm>
              <a:off x="2832" y="3024"/>
              <a:ext cx="144" cy="240"/>
              <a:chOff x="3312" y="3072"/>
              <a:chExt cx="144" cy="240"/>
            </a:xfrm>
          </p:grpSpPr>
          <p:sp>
            <p:nvSpPr>
              <p:cNvPr id="11322" name="Rectangle 59"/>
              <p:cNvSpPr/>
              <p:nvPr/>
            </p:nvSpPr>
            <p:spPr>
              <a:xfrm rot="1704760">
                <a:off x="3312"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sp>
            <p:nvSpPr>
              <p:cNvPr id="11323" name="Rectangle 60"/>
              <p:cNvSpPr/>
              <p:nvPr/>
            </p:nvSpPr>
            <p:spPr>
              <a:xfrm rot="-1704760" flipH="1">
                <a:off x="3408" y="3072"/>
                <a:ext cx="48" cy="240"/>
              </a:xfrm>
              <a:prstGeom prst="rect">
                <a:avLst/>
              </a:prstGeom>
              <a:solidFill>
                <a:srgbClr val="00B8FF"/>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600" dirty="0">
                  <a:solidFill>
                    <a:schemeClr val="bg1"/>
                  </a:solidFill>
                  <a:latin typeface="Times New Roman" panose="02020603050405020304" pitchFamily="18" charset="0"/>
                  <a:ea typeface="Arial Unicode MS" panose="020B0604020202020204" pitchFamily="34" charset="-128"/>
                </a:endParaRPr>
              </a:p>
            </p:txBody>
          </p:sp>
        </p:grpSp>
      </p:grpSp>
      <p:sp>
        <p:nvSpPr>
          <p:cNvPr id="11324" name="AutoShape 61"/>
          <p:cNvSpPr/>
          <p:nvPr/>
        </p:nvSpPr>
        <p:spPr>
          <a:xfrm>
            <a:off x="5638800" y="5570855"/>
            <a:ext cx="676275" cy="350838"/>
          </a:xfrm>
          <a:prstGeom prst="roundRect">
            <a:avLst>
              <a:gd name="adj" fmla="val 306"/>
            </a:avLst>
          </a:prstGeom>
          <a:noFill/>
          <a:ln w="9525">
            <a:noFill/>
          </a:ln>
        </p:spPr>
        <p:txBody>
          <a:bodyPr wrap="none" lIns="90360" tIns="44280" rIns="90360" bIns="44280" anchor="t">
            <a:spAutoFit/>
          </a:bodyPr>
          <a:lstStyle/>
          <a:p>
            <a:pPr defTabSz="914400" eaLnBrk="0" hangingPunct="0">
              <a:lnSpc>
                <a:spcPct val="95000"/>
              </a:lnSpc>
              <a:buClr>
                <a:srgbClr val="E0E0E0"/>
              </a:buClr>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Times New Roman" panose="02020603050405020304" pitchFamily="18" charset="0"/>
                <a:ea typeface="Arial Unicode MS" panose="020B0604020202020204" pitchFamily="34" charset="-128"/>
              </a:rPr>
              <a:t>Front</a:t>
            </a:r>
          </a:p>
        </p:txBody>
      </p:sp>
      <p:sp>
        <p:nvSpPr>
          <p:cNvPr id="11325" name="AutoShape 62"/>
          <p:cNvSpPr/>
          <p:nvPr/>
        </p:nvSpPr>
        <p:spPr>
          <a:xfrm>
            <a:off x="2057400" y="5647055"/>
            <a:ext cx="612775" cy="350838"/>
          </a:xfrm>
          <a:prstGeom prst="roundRect">
            <a:avLst>
              <a:gd name="adj" fmla="val 306"/>
            </a:avLst>
          </a:prstGeom>
          <a:noFill/>
          <a:ln w="9525">
            <a:noFill/>
          </a:ln>
        </p:spPr>
        <p:txBody>
          <a:bodyPr wrap="none" lIns="90360" tIns="44280" rIns="90360" bIns="44280" anchor="t">
            <a:spAutoFit/>
          </a:bodyPr>
          <a:lstStyle/>
          <a:p>
            <a:pPr defTabSz="914400" eaLnBrk="0" hangingPunct="0">
              <a:lnSpc>
                <a:spcPct val="95000"/>
              </a:lnSpc>
              <a:buClr>
                <a:srgbClr val="E0E0E0"/>
              </a:buClr>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Times New Roman" panose="02020603050405020304" pitchFamily="18" charset="0"/>
                <a:ea typeface="Arial Unicode MS" panose="020B0604020202020204" pitchFamily="34" charset="-128"/>
              </a:rPr>
              <a:t>Rear</a:t>
            </a:r>
          </a:p>
        </p:txBody>
      </p:sp>
      <p:sp>
        <p:nvSpPr>
          <p:cNvPr id="11326" name="Line 64"/>
          <p:cNvSpPr/>
          <p:nvPr/>
        </p:nvSpPr>
        <p:spPr>
          <a:xfrm flipV="1">
            <a:off x="5410200" y="4275455"/>
            <a:ext cx="1524000" cy="457200"/>
          </a:xfrm>
          <a:prstGeom prst="line">
            <a:avLst/>
          </a:prstGeom>
          <a:ln w="76200" cap="flat" cmpd="sng">
            <a:solidFill>
              <a:schemeClr val="tx1"/>
            </a:solidFill>
            <a:prstDash val="solid"/>
            <a:round/>
            <a:headEnd type="none" w="med" len="med"/>
            <a:tailEnd type="triangle" w="med" len="med"/>
          </a:ln>
        </p:spPr>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1"/>
          <p:cNvSpPr txBox="1"/>
          <p:nvPr/>
        </p:nvSpPr>
        <p:spPr>
          <a:xfrm>
            <a:off x="228600" y="860425"/>
            <a:ext cx="8610600" cy="369888"/>
          </a:xfrm>
          <a:prstGeom prst="rect">
            <a:avLst/>
          </a:prstGeom>
          <a:noFill/>
          <a:ln w="9525">
            <a:noFill/>
          </a:ln>
        </p:spPr>
        <p:txBody>
          <a:bodyPr wrap="none" anchor="ctr"/>
          <a:lstStyle/>
          <a:p>
            <a:pPr eaLnBrk="0" hangingPunct="0"/>
            <a:endParaRPr lang="en-US" altLang="en-US" dirty="0">
              <a:latin typeface="Times New Roman" panose="02020603050405020304" pitchFamily="18" charset="0"/>
            </a:endParaRPr>
          </a:p>
        </p:txBody>
      </p:sp>
      <p:sp>
        <p:nvSpPr>
          <p:cNvPr id="4098" name="Text Box 2"/>
          <p:cNvSpPr txBox="1">
            <a:spLocks noChangeArrowheads="1"/>
          </p:cNvSpPr>
          <p:nvPr/>
        </p:nvSpPr>
        <p:spPr bwMode="auto">
          <a:xfrm>
            <a:off x="771525" y="1618615"/>
            <a:ext cx="6807835" cy="4224655"/>
          </a:xfrm>
          <a:prstGeom prst="rect">
            <a:avLst/>
          </a:prstGeom>
          <a:noFill/>
          <a:ln w="9525">
            <a:noFill/>
            <a:round/>
          </a:ln>
          <a:effectLst/>
        </p:spPr>
        <p:txBody>
          <a:bodyPr wrap="square" lIns="90000" tIns="46800" rIns="90000" bIns="46800">
            <a:spAutoFit/>
          </a:bodyPr>
          <a:lstStyle/>
          <a:p>
            <a:pPr marR="0" defTabSz="914400" eaLnBrk="0" hangingPunct="0">
              <a:lnSpc>
                <a:spcPct val="150000"/>
              </a:lnSpc>
              <a:buClrTx/>
              <a:buSzTx/>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2000" kern="1200" cap="none" spc="0" normalizeH="0" baseline="0" noProof="0" dirty="0">
                <a:solidFill>
                  <a:srgbClr val="C00000"/>
                </a:solidFill>
                <a:latin typeface="+mn-lt"/>
                <a:ea typeface="+mn-ea"/>
                <a:cs typeface="+mn-lt"/>
                <a:sym typeface="+mn-ea"/>
              </a:rPr>
              <a:t>Queue (Linear Queue)</a:t>
            </a:r>
          </a:p>
          <a:p>
            <a:pPr marL="224155" marR="0" indent="-212090" defTabSz="914400" eaLnBrk="0" hangingPunct="0">
              <a:lnSpc>
                <a:spcPct val="100000"/>
              </a:lnSpc>
              <a:spcBef>
                <a:spcPts val="300"/>
              </a:spcBef>
              <a:buClrTx/>
              <a:buSzTx/>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GB" sz="1800" kern="1200" cap="none" spc="0" normalizeH="0" baseline="0" noProof="0" dirty="0">
                <a:solidFill>
                  <a:srgbClr val="000000"/>
                </a:solidFill>
                <a:latin typeface="+mn-lt"/>
                <a:ea typeface="+mn-ea"/>
                <a:cs typeface="+mn-lt"/>
                <a:sym typeface="+mn-ea"/>
              </a:rPr>
              <a:t>A</a:t>
            </a:r>
            <a:r>
              <a:rPr kumimoji="0" lang="en-GB" sz="1800" kern="1200" cap="none" spc="0" normalizeH="0" baseline="0" noProof="0" dirty="0">
                <a:solidFill>
                  <a:srgbClr val="000000"/>
                </a:solidFill>
                <a:latin typeface="+mn-lt"/>
                <a:ea typeface="+mn-ea"/>
                <a:cs typeface="+mn-lt"/>
                <a:sym typeface="+mn-ea"/>
              </a:rPr>
              <a:t> linear data structure consisting of  list of items.</a:t>
            </a:r>
          </a:p>
          <a:p>
            <a:pPr marL="224155" marR="0" indent="-212090" defTabSz="914400" eaLnBrk="0" hangingPunct="0">
              <a:lnSpc>
                <a:spcPct val="100000"/>
              </a:lnSpc>
              <a:spcBef>
                <a:spcPts val="300"/>
              </a:spcBef>
              <a:buClrTx/>
              <a:buSzTx/>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GB" sz="1800" kern="1200" cap="none" spc="0" normalizeH="0" baseline="0" noProof="0" dirty="0">
                <a:solidFill>
                  <a:srgbClr val="000000"/>
                </a:solidFill>
                <a:latin typeface="+mn-lt"/>
                <a:ea typeface="+mn-ea"/>
                <a:cs typeface="+mn-lt"/>
                <a:sym typeface="+mn-ea"/>
              </a:rPr>
              <a:t>D</a:t>
            </a:r>
            <a:r>
              <a:rPr kumimoji="0" lang="en-GB" sz="1800" kern="1200" cap="none" spc="0" normalizeH="0" baseline="0" noProof="0" dirty="0">
                <a:solidFill>
                  <a:srgbClr val="000000"/>
                </a:solidFill>
                <a:latin typeface="+mn-lt"/>
                <a:ea typeface="+mn-ea"/>
                <a:cs typeface="+mn-lt"/>
                <a:sym typeface="+mn-ea"/>
              </a:rPr>
              <a:t>ata elements are added at one end, called the </a:t>
            </a:r>
            <a:r>
              <a:rPr kumimoji="0" lang="en-GB" sz="1800" b="1" i="1" kern="1200" cap="none" spc="0" normalizeH="0" baseline="0" noProof="0" dirty="0">
                <a:solidFill>
                  <a:srgbClr val="1552D1"/>
                </a:solidFill>
                <a:latin typeface="+mn-lt"/>
                <a:ea typeface="+mn-ea"/>
                <a:cs typeface="+mn-lt"/>
                <a:sym typeface="+mn-ea"/>
              </a:rPr>
              <a:t>rear</a:t>
            </a:r>
            <a:r>
              <a:rPr kumimoji="0" lang="en-GB" sz="1800" b="1" i="1" kern="1200" cap="none" spc="0" normalizeH="0" baseline="0" noProof="0" dirty="0">
                <a:solidFill>
                  <a:srgbClr val="000000"/>
                </a:solidFill>
                <a:latin typeface="+mn-lt"/>
                <a:ea typeface="+mn-ea"/>
                <a:cs typeface="+mn-lt"/>
                <a:sym typeface="+mn-ea"/>
              </a:rPr>
              <a:t> </a:t>
            </a:r>
            <a:r>
              <a:rPr kumimoji="0" lang="en-GB" sz="1800" kern="1200" cap="none" spc="0" normalizeH="0" baseline="0" noProof="0" dirty="0">
                <a:solidFill>
                  <a:srgbClr val="000000"/>
                </a:solidFill>
                <a:latin typeface="+mn-lt"/>
                <a:ea typeface="+mn-ea"/>
                <a:cs typeface="+mn-lt"/>
                <a:sym typeface="+mn-ea"/>
              </a:rPr>
              <a:t>and removed from another end, called the </a:t>
            </a:r>
            <a:r>
              <a:rPr kumimoji="0" lang="en-GB" sz="1800" b="1" i="1" kern="1200" cap="none" spc="0" normalizeH="0" baseline="0" noProof="0" dirty="0">
                <a:solidFill>
                  <a:srgbClr val="1552D1"/>
                </a:solidFill>
                <a:latin typeface="+mn-lt"/>
                <a:ea typeface="+mn-ea"/>
                <a:cs typeface="+mn-lt"/>
                <a:sym typeface="+mn-ea"/>
              </a:rPr>
              <a:t>front</a:t>
            </a:r>
            <a:r>
              <a:rPr kumimoji="0" lang="en-GB" sz="1800" b="1" i="1" kern="1200" cap="none" spc="0" normalizeH="0" baseline="0" noProof="0" dirty="0">
                <a:solidFill>
                  <a:srgbClr val="000000"/>
                </a:solidFill>
                <a:latin typeface="+mn-lt"/>
                <a:ea typeface="+mn-ea"/>
                <a:cs typeface="+mn-lt"/>
                <a:sym typeface="+mn-ea"/>
              </a:rPr>
              <a:t> </a:t>
            </a:r>
            <a:r>
              <a:rPr kumimoji="0" lang="en-GB" sz="1800" kern="1200" cap="none" spc="0" normalizeH="0" baseline="0" noProof="0" dirty="0">
                <a:solidFill>
                  <a:srgbClr val="000000"/>
                </a:solidFill>
                <a:latin typeface="+mn-lt"/>
                <a:ea typeface="+mn-ea"/>
                <a:cs typeface="+mn-lt"/>
                <a:sym typeface="+mn-ea"/>
              </a:rPr>
              <a:t>of the list.  </a:t>
            </a:r>
          </a:p>
          <a:p>
            <a:pPr marL="224155" marR="0" indent="-212090" defTabSz="914400" eaLnBrk="0" hangingPunct="0">
              <a:lnSpc>
                <a:spcPct val="100000"/>
              </a:lnSpc>
              <a:spcBef>
                <a:spcPts val="300"/>
              </a:spcBef>
              <a:buClrTx/>
              <a:buSzTx/>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kern="1200" cap="none" spc="0" normalizeH="0" baseline="0" noProof="0" dirty="0">
                <a:solidFill>
                  <a:srgbClr val="000000"/>
                </a:solidFill>
                <a:latin typeface="+mn-lt"/>
                <a:ea typeface="+mn-ea"/>
                <a:cs typeface="+mn-lt"/>
                <a:sym typeface="+mn-ea"/>
              </a:rPr>
              <a:t>Two basic operations are associated with queue:</a:t>
            </a:r>
          </a:p>
          <a:p>
            <a:pPr marL="593725" marR="0" indent="-252095" defTabSz="914400" eaLnBrk="0" hangingPunct="0">
              <a:lnSpc>
                <a:spcPct val="100000"/>
              </a:lnSpc>
              <a:spcBef>
                <a:spcPts val="300"/>
              </a:spcBef>
              <a:buClr>
                <a:srgbClr val="000000"/>
              </a:buClr>
              <a:buSzTx/>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kern="1200" cap="none" spc="0" normalizeH="0" baseline="0" noProof="0" dirty="0">
                <a:solidFill>
                  <a:srgbClr val="000000"/>
                </a:solidFill>
                <a:latin typeface="+mn-lt"/>
                <a:ea typeface="+mn-ea"/>
                <a:cs typeface="+mn-lt"/>
                <a:sym typeface="+mn-ea"/>
              </a:rPr>
              <a:t>“</a:t>
            </a:r>
            <a:r>
              <a:rPr kumimoji="0" lang="en-GB" sz="1800" kern="1200" cap="none" spc="0" normalizeH="0" baseline="0" noProof="0" dirty="0">
                <a:solidFill>
                  <a:srgbClr val="C00000"/>
                </a:solidFill>
                <a:latin typeface="+mn-lt"/>
                <a:ea typeface="+mn-ea"/>
                <a:cs typeface="+mn-lt"/>
                <a:sym typeface="+mn-ea"/>
              </a:rPr>
              <a:t>Insert</a:t>
            </a:r>
            <a:r>
              <a:rPr kumimoji="0" lang="en-GB" sz="1800" kern="1200" cap="none" spc="0" normalizeH="0" baseline="0" noProof="0" dirty="0">
                <a:solidFill>
                  <a:srgbClr val="000000"/>
                </a:solidFill>
                <a:latin typeface="+mn-lt"/>
                <a:ea typeface="+mn-ea"/>
                <a:cs typeface="+mn-lt"/>
                <a:sym typeface="+mn-ea"/>
              </a:rPr>
              <a:t>” operation is used to insert an element into a queue.</a:t>
            </a:r>
          </a:p>
          <a:p>
            <a:pPr marL="593725" marR="0" indent="-252095" defTabSz="914400" eaLnBrk="0" hangingPunct="0">
              <a:lnSpc>
                <a:spcPct val="100000"/>
              </a:lnSpc>
              <a:spcBef>
                <a:spcPts val="300"/>
              </a:spcBef>
              <a:buClr>
                <a:srgbClr val="000000"/>
              </a:buClr>
              <a:buSzTx/>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kern="1200" cap="none" spc="0" normalizeH="0" baseline="0" noProof="0" dirty="0">
                <a:solidFill>
                  <a:srgbClr val="000000"/>
                </a:solidFill>
                <a:latin typeface="+mn-lt"/>
                <a:ea typeface="+mn-ea"/>
                <a:cs typeface="+mn-lt"/>
                <a:sym typeface="+mn-ea"/>
              </a:rPr>
              <a:t>“</a:t>
            </a:r>
            <a:r>
              <a:rPr kumimoji="0" lang="en-GB" sz="1800" kern="1200" cap="none" spc="0" normalizeH="0" baseline="0" noProof="0" dirty="0">
                <a:solidFill>
                  <a:srgbClr val="C00000"/>
                </a:solidFill>
                <a:latin typeface="+mn-lt"/>
                <a:ea typeface="+mn-ea"/>
                <a:cs typeface="+mn-lt"/>
                <a:sym typeface="+mn-ea"/>
              </a:rPr>
              <a:t>Delete</a:t>
            </a:r>
            <a:r>
              <a:rPr kumimoji="0" lang="en-GB" sz="1800" kern="1200" cap="none" spc="0" normalizeH="0" baseline="0" noProof="0" dirty="0">
                <a:solidFill>
                  <a:srgbClr val="000000"/>
                </a:solidFill>
                <a:latin typeface="+mn-lt"/>
                <a:ea typeface="+mn-ea"/>
                <a:cs typeface="+mn-lt"/>
                <a:sym typeface="+mn-ea"/>
              </a:rPr>
              <a:t>” operation is used to delete an element from a queue.</a:t>
            </a:r>
          </a:p>
          <a:p>
            <a:pPr marL="332105" marR="0" indent="-332105" defTabSz="914400" eaLnBrk="0" hangingPunct="0">
              <a:lnSpc>
                <a:spcPct val="100000"/>
              </a:lnSpc>
              <a:spcBef>
                <a:spcPts val="300"/>
              </a:spcBef>
              <a:buClr>
                <a:srgbClr val="000000"/>
              </a:buClr>
              <a:buSzPct val="90000"/>
              <a:buFont typeface="Wingdings" panose="05000000000000000000"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kern="1200" cap="none" spc="0" normalizeH="0" baseline="0" noProof="0" dirty="0">
                <a:solidFill>
                  <a:srgbClr val="000000"/>
                </a:solidFill>
                <a:latin typeface="+mn-lt"/>
                <a:ea typeface="+mn-ea"/>
                <a:cs typeface="+mn-lt"/>
                <a:sym typeface="+mn-ea"/>
              </a:rPr>
              <a:t>FIFO list</a:t>
            </a:r>
          </a:p>
          <a:p>
            <a:pPr marL="332105" marR="0" indent="-332105" defTabSz="914400" eaLnBrk="0" hangingPunct="0">
              <a:lnSpc>
                <a:spcPct val="100000"/>
              </a:lnSpc>
              <a:spcBef>
                <a:spcPts val="300"/>
              </a:spcBef>
              <a:buClr>
                <a:srgbClr val="000000"/>
              </a:buClr>
              <a:buSzPct val="90000"/>
              <a:buFont typeface="Wingdings" panose="05000000000000000000"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kern="1200" cap="none" spc="0" normalizeH="0" baseline="0" noProof="0" dirty="0">
                <a:solidFill>
                  <a:srgbClr val="000000"/>
                </a:solidFill>
                <a:latin typeface="+mn-lt"/>
                <a:ea typeface="+mn-ea"/>
                <a:cs typeface="+mn-lt"/>
                <a:sym typeface="+mn-ea"/>
              </a:rPr>
              <a:t>Example:   Queue:  10, 20, 30, 40, 50</a:t>
            </a:r>
          </a:p>
          <a:p>
            <a:pPr marR="0" defTabSz="914400" eaLnBrk="0" hangingPunct="0">
              <a:lnSpc>
                <a:spcPct val="100000"/>
              </a:lnSpc>
              <a:spcBef>
                <a:spcPts val="300"/>
              </a:spcBef>
              <a:buClrTx/>
              <a:buSzTx/>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n-GB" sz="1800" kern="1200" cap="none" spc="0" normalizeH="0" baseline="0" noProof="0" dirty="0">
              <a:solidFill>
                <a:srgbClr val="000000"/>
              </a:solidFill>
              <a:latin typeface="+mn-lt"/>
              <a:ea typeface="+mn-ea"/>
              <a:cs typeface="+mn-lt"/>
              <a:sym typeface="+mn-ea"/>
            </a:endParaRPr>
          </a:p>
          <a:p>
            <a:pPr marR="0" defTabSz="914400" eaLnBrk="0" hangingPunct="0">
              <a:lnSpc>
                <a:spcPct val="100000"/>
              </a:lnSpc>
              <a:spcBef>
                <a:spcPts val="300"/>
              </a:spcBef>
              <a:buClrTx/>
              <a:buSzTx/>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n-GB" sz="1800" kern="1200" cap="none" spc="0" normalizeH="0" baseline="0" noProof="0" dirty="0">
              <a:solidFill>
                <a:srgbClr val="000000"/>
              </a:solidFill>
              <a:latin typeface="+mn-lt"/>
              <a:ea typeface="+mn-ea"/>
              <a:cs typeface="+mn-lt"/>
              <a:sym typeface="+mn-ea"/>
            </a:endParaRPr>
          </a:p>
        </p:txBody>
      </p:sp>
      <p:grpSp>
        <p:nvGrpSpPr>
          <p:cNvPr id="13315" name="Group 3"/>
          <p:cNvGrpSpPr/>
          <p:nvPr/>
        </p:nvGrpSpPr>
        <p:grpSpPr>
          <a:xfrm>
            <a:off x="902653" y="5468938"/>
            <a:ext cx="5332412" cy="684212"/>
            <a:chOff x="244" y="2618"/>
            <a:chExt cx="3359" cy="431"/>
          </a:xfrm>
        </p:grpSpPr>
        <p:grpSp>
          <p:nvGrpSpPr>
            <p:cNvPr id="13316" name="Group 4"/>
            <p:cNvGrpSpPr/>
            <p:nvPr/>
          </p:nvGrpSpPr>
          <p:grpSpPr>
            <a:xfrm>
              <a:off x="244" y="2618"/>
              <a:ext cx="2879" cy="431"/>
              <a:chOff x="244" y="2618"/>
              <a:chExt cx="2879" cy="431"/>
            </a:xfrm>
          </p:grpSpPr>
          <p:sp>
            <p:nvSpPr>
              <p:cNvPr id="13317" name="Rectangle 5"/>
              <p:cNvSpPr/>
              <p:nvPr/>
            </p:nvSpPr>
            <p:spPr>
              <a:xfrm>
                <a:off x="244" y="2618"/>
                <a:ext cx="480" cy="432"/>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10</a:t>
                </a:r>
              </a:p>
            </p:txBody>
          </p:sp>
          <p:sp>
            <p:nvSpPr>
              <p:cNvPr id="13318" name="Rectangle 6"/>
              <p:cNvSpPr/>
              <p:nvPr/>
            </p:nvSpPr>
            <p:spPr>
              <a:xfrm>
                <a:off x="724" y="2618"/>
                <a:ext cx="480" cy="432"/>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20</a:t>
                </a:r>
              </a:p>
            </p:txBody>
          </p:sp>
          <p:sp>
            <p:nvSpPr>
              <p:cNvPr id="13319" name="Rectangle 7"/>
              <p:cNvSpPr/>
              <p:nvPr/>
            </p:nvSpPr>
            <p:spPr>
              <a:xfrm>
                <a:off x="1204" y="2618"/>
                <a:ext cx="480" cy="432"/>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30</a:t>
                </a:r>
              </a:p>
            </p:txBody>
          </p:sp>
          <p:sp>
            <p:nvSpPr>
              <p:cNvPr id="13320" name="Rectangle 8"/>
              <p:cNvSpPr/>
              <p:nvPr/>
            </p:nvSpPr>
            <p:spPr>
              <a:xfrm>
                <a:off x="1684" y="2618"/>
                <a:ext cx="480" cy="432"/>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40</a:t>
                </a:r>
              </a:p>
            </p:txBody>
          </p:sp>
          <p:sp>
            <p:nvSpPr>
              <p:cNvPr id="13321" name="Rectangle 9"/>
              <p:cNvSpPr/>
              <p:nvPr/>
            </p:nvSpPr>
            <p:spPr>
              <a:xfrm>
                <a:off x="2164" y="2618"/>
                <a:ext cx="480" cy="432"/>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50</a:t>
                </a:r>
              </a:p>
            </p:txBody>
          </p:sp>
          <p:sp>
            <p:nvSpPr>
              <p:cNvPr id="13322" name="Rectangle 10"/>
              <p:cNvSpPr/>
              <p:nvPr/>
            </p:nvSpPr>
            <p:spPr>
              <a:xfrm>
                <a:off x="2644" y="2618"/>
                <a:ext cx="480" cy="432"/>
              </a:xfrm>
              <a:prstGeom prst="rect">
                <a:avLst/>
              </a:prstGeom>
              <a:solidFill>
                <a:srgbClr val="4F81BD"/>
              </a:solidFill>
              <a:ln w="25560" cap="flat" cmpd="sng">
                <a:solidFill>
                  <a:srgbClr val="385D8A"/>
                </a:solidFill>
                <a:prstDash val="solid"/>
                <a:miter/>
                <a:headEnd type="none" w="med" len="med"/>
                <a:tailEnd type="none" w="med" len="med"/>
              </a:ln>
            </p:spPr>
            <p:txBody>
              <a:bodyPr wrap="none" anchor="ctr"/>
              <a:lstStyle/>
              <a:p>
                <a:pPr eaLnBrk="0" hangingPunct="0"/>
                <a:endParaRPr lang="en-US" altLang="en-US" sz="1800" dirty="0">
                  <a:solidFill>
                    <a:schemeClr val="tx1"/>
                  </a:solidFill>
                  <a:latin typeface="+mn-lt"/>
                  <a:cs typeface="+mn-lt"/>
                </a:endParaRPr>
              </a:p>
            </p:txBody>
          </p:sp>
        </p:grpSp>
        <p:sp>
          <p:nvSpPr>
            <p:cNvPr id="13323" name="Rectangle 11"/>
            <p:cNvSpPr/>
            <p:nvPr/>
          </p:nvSpPr>
          <p:spPr>
            <a:xfrm>
              <a:off x="3124" y="2618"/>
              <a:ext cx="480" cy="432"/>
            </a:xfrm>
            <a:prstGeom prst="rect">
              <a:avLst/>
            </a:prstGeom>
            <a:solidFill>
              <a:srgbClr val="4F81BD"/>
            </a:solidFill>
            <a:ln w="25560" cap="flat" cmpd="sng">
              <a:solidFill>
                <a:srgbClr val="385D8A"/>
              </a:solidFill>
              <a:prstDash val="solid"/>
              <a:miter/>
              <a:headEnd type="none" w="med" len="med"/>
              <a:tailEnd type="none" w="med" len="med"/>
            </a:ln>
          </p:spPr>
          <p:txBody>
            <a:bodyPr wrap="none" anchor="ctr"/>
            <a:lstStyle/>
            <a:p>
              <a:pPr eaLnBrk="0" hangingPunct="0"/>
              <a:endParaRPr lang="en-US" altLang="en-US" sz="1800" dirty="0">
                <a:solidFill>
                  <a:schemeClr val="tx1"/>
                </a:solidFill>
                <a:latin typeface="+mn-lt"/>
                <a:cs typeface="+mn-lt"/>
              </a:endParaRPr>
            </a:p>
          </p:txBody>
        </p:sp>
      </p:grpSp>
      <p:sp>
        <p:nvSpPr>
          <p:cNvPr id="13324" name="Text Box 12"/>
          <p:cNvSpPr txBox="1"/>
          <p:nvPr/>
        </p:nvSpPr>
        <p:spPr>
          <a:xfrm>
            <a:off x="3390583" y="6356033"/>
            <a:ext cx="990600" cy="369570"/>
          </a:xfrm>
          <a:prstGeom prst="rect">
            <a:avLst/>
          </a:prstGeom>
          <a:noFill/>
          <a:ln w="9525">
            <a:noFill/>
          </a:ln>
        </p:spPr>
        <p:txBody>
          <a:bodyPr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Rear</a:t>
            </a:r>
          </a:p>
        </p:txBody>
      </p:sp>
      <p:grpSp>
        <p:nvGrpSpPr>
          <p:cNvPr id="13325" name="Group 13"/>
          <p:cNvGrpSpPr/>
          <p:nvPr/>
        </p:nvGrpSpPr>
        <p:grpSpPr>
          <a:xfrm>
            <a:off x="1125220" y="5170170"/>
            <a:ext cx="4876800" cy="369706"/>
            <a:chOff x="384" y="2378"/>
            <a:chExt cx="3072" cy="577"/>
          </a:xfrm>
        </p:grpSpPr>
        <p:sp>
          <p:nvSpPr>
            <p:cNvPr id="13326" name="Text Box 14"/>
            <p:cNvSpPr txBox="1"/>
            <p:nvPr/>
          </p:nvSpPr>
          <p:spPr>
            <a:xfrm>
              <a:off x="384" y="2378"/>
              <a:ext cx="192" cy="57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0</a:t>
              </a:r>
            </a:p>
          </p:txBody>
        </p:sp>
        <p:sp>
          <p:nvSpPr>
            <p:cNvPr id="13327" name="Text Box 15"/>
            <p:cNvSpPr txBox="1"/>
            <p:nvPr/>
          </p:nvSpPr>
          <p:spPr>
            <a:xfrm>
              <a:off x="859" y="2378"/>
              <a:ext cx="192" cy="57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1</a:t>
              </a:r>
            </a:p>
          </p:txBody>
        </p:sp>
        <p:sp>
          <p:nvSpPr>
            <p:cNvPr id="13328" name="Text Box 16"/>
            <p:cNvSpPr txBox="1"/>
            <p:nvPr/>
          </p:nvSpPr>
          <p:spPr>
            <a:xfrm>
              <a:off x="1296" y="2378"/>
              <a:ext cx="192" cy="57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2</a:t>
              </a:r>
            </a:p>
          </p:txBody>
        </p:sp>
        <p:sp>
          <p:nvSpPr>
            <p:cNvPr id="13329" name="Text Box 17"/>
            <p:cNvSpPr txBox="1"/>
            <p:nvPr/>
          </p:nvSpPr>
          <p:spPr>
            <a:xfrm>
              <a:off x="1776" y="2378"/>
              <a:ext cx="192" cy="57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3</a:t>
              </a:r>
            </a:p>
          </p:txBody>
        </p:sp>
        <p:sp>
          <p:nvSpPr>
            <p:cNvPr id="13330" name="Text Box 18"/>
            <p:cNvSpPr txBox="1"/>
            <p:nvPr/>
          </p:nvSpPr>
          <p:spPr>
            <a:xfrm>
              <a:off x="2304" y="2378"/>
              <a:ext cx="192" cy="57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4</a:t>
              </a:r>
            </a:p>
          </p:txBody>
        </p:sp>
        <p:sp>
          <p:nvSpPr>
            <p:cNvPr id="13331" name="Text Box 19"/>
            <p:cNvSpPr txBox="1"/>
            <p:nvPr/>
          </p:nvSpPr>
          <p:spPr>
            <a:xfrm>
              <a:off x="2784" y="2378"/>
              <a:ext cx="192" cy="57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5</a:t>
              </a:r>
            </a:p>
          </p:txBody>
        </p:sp>
        <p:sp>
          <p:nvSpPr>
            <p:cNvPr id="13332" name="Text Box 20"/>
            <p:cNvSpPr txBox="1"/>
            <p:nvPr/>
          </p:nvSpPr>
          <p:spPr>
            <a:xfrm>
              <a:off x="3264" y="2378"/>
              <a:ext cx="192" cy="57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6</a:t>
              </a:r>
            </a:p>
          </p:txBody>
        </p:sp>
      </p:grpSp>
      <p:cxnSp>
        <p:nvCxnSpPr>
          <p:cNvPr id="13333" name="AutoShape 21"/>
          <p:cNvCxnSpPr/>
          <p:nvPr/>
        </p:nvCxnSpPr>
        <p:spPr>
          <a:xfrm rot="16200000">
            <a:off x="1257300" y="6277610"/>
            <a:ext cx="246380" cy="99060"/>
          </a:xfrm>
          <a:prstGeom prst="curvedConnector3">
            <a:avLst>
              <a:gd name="adj1" fmla="val 49742"/>
            </a:avLst>
          </a:prstGeom>
          <a:ln w="9360" cap="flat" cmpd="sng">
            <a:solidFill>
              <a:srgbClr val="4A7EBB"/>
            </a:solidFill>
            <a:prstDash val="solid"/>
            <a:miter/>
            <a:headEnd type="none" w="med" len="med"/>
            <a:tailEnd type="triangle" w="med" len="med"/>
          </a:ln>
        </p:spPr>
      </p:cxnSp>
      <p:sp>
        <p:nvSpPr>
          <p:cNvPr id="13334" name="Text Box 22"/>
          <p:cNvSpPr txBox="1"/>
          <p:nvPr/>
        </p:nvSpPr>
        <p:spPr>
          <a:xfrm>
            <a:off x="896303" y="6355398"/>
            <a:ext cx="838200" cy="369570"/>
          </a:xfrm>
          <a:prstGeom prst="rect">
            <a:avLst/>
          </a:prstGeom>
          <a:noFill/>
          <a:ln w="9525">
            <a:noFill/>
          </a:ln>
        </p:spPr>
        <p:txBody>
          <a:bodyPr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Front</a:t>
            </a:r>
          </a:p>
        </p:txBody>
      </p:sp>
      <p:sp>
        <p:nvSpPr>
          <p:cNvPr id="13335" name="Rectangle 23"/>
          <p:cNvSpPr/>
          <p:nvPr/>
        </p:nvSpPr>
        <p:spPr>
          <a:xfrm>
            <a:off x="7153910" y="2944813"/>
            <a:ext cx="762000" cy="609600"/>
          </a:xfrm>
          <a:prstGeom prst="rect">
            <a:avLst/>
          </a:prstGeom>
          <a:solidFill>
            <a:srgbClr val="4F81BD"/>
          </a:solidFill>
          <a:ln w="25560" cap="flat" cmpd="sng">
            <a:solidFill>
              <a:srgbClr val="385D8A"/>
            </a:solidFill>
            <a:prstDash val="solid"/>
            <a:miter/>
            <a:headEnd type="none" w="med" len="med"/>
            <a:tailEnd type="none" w="med" len="med"/>
          </a:ln>
        </p:spPr>
        <p:txBody>
          <a:bodyPr wrap="none" anchor="ctr"/>
          <a:lstStyle/>
          <a:p>
            <a:pPr eaLnBrk="0" hangingPunct="0"/>
            <a:endParaRPr lang="en-US" altLang="en-US" sz="1800" dirty="0">
              <a:solidFill>
                <a:schemeClr val="tx1"/>
              </a:solidFill>
              <a:latin typeface="+mn-lt"/>
              <a:cs typeface="+mn-lt"/>
            </a:endParaRPr>
          </a:p>
        </p:txBody>
      </p:sp>
      <p:sp>
        <p:nvSpPr>
          <p:cNvPr id="13336" name="Rectangle 24"/>
          <p:cNvSpPr/>
          <p:nvPr/>
        </p:nvSpPr>
        <p:spPr>
          <a:xfrm>
            <a:off x="7153910" y="3554413"/>
            <a:ext cx="762000" cy="609600"/>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50</a:t>
            </a:r>
          </a:p>
        </p:txBody>
      </p:sp>
      <p:sp>
        <p:nvSpPr>
          <p:cNvPr id="13337" name="Rectangle 25"/>
          <p:cNvSpPr/>
          <p:nvPr/>
        </p:nvSpPr>
        <p:spPr>
          <a:xfrm>
            <a:off x="7153910" y="4164013"/>
            <a:ext cx="762000" cy="609600"/>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40</a:t>
            </a:r>
          </a:p>
        </p:txBody>
      </p:sp>
      <p:sp>
        <p:nvSpPr>
          <p:cNvPr id="13338" name="Rectangle 26"/>
          <p:cNvSpPr/>
          <p:nvPr/>
        </p:nvSpPr>
        <p:spPr>
          <a:xfrm>
            <a:off x="7153910" y="4773613"/>
            <a:ext cx="762000" cy="609600"/>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30</a:t>
            </a:r>
          </a:p>
        </p:txBody>
      </p:sp>
      <p:sp>
        <p:nvSpPr>
          <p:cNvPr id="13339" name="Rectangle 27"/>
          <p:cNvSpPr/>
          <p:nvPr/>
        </p:nvSpPr>
        <p:spPr>
          <a:xfrm>
            <a:off x="7153910" y="5383213"/>
            <a:ext cx="762000" cy="609600"/>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20</a:t>
            </a:r>
          </a:p>
        </p:txBody>
      </p:sp>
      <p:sp>
        <p:nvSpPr>
          <p:cNvPr id="13340" name="Rectangle 28"/>
          <p:cNvSpPr/>
          <p:nvPr/>
        </p:nvSpPr>
        <p:spPr>
          <a:xfrm>
            <a:off x="7153910" y="5992813"/>
            <a:ext cx="762000" cy="609600"/>
          </a:xfrm>
          <a:prstGeom prst="rect">
            <a:avLst/>
          </a:prstGeom>
          <a:solidFill>
            <a:srgbClr val="4F81BD"/>
          </a:solidFill>
          <a:ln w="25560" cap="flat" cmpd="sng">
            <a:solidFill>
              <a:srgbClr val="385D8A"/>
            </a:solidFill>
            <a:prstDash val="solid"/>
            <a:miter/>
            <a:headEnd type="none" w="med" len="med"/>
            <a:tailEnd type="none" w="med" len="med"/>
          </a:ln>
        </p:spPr>
        <p:txBody>
          <a:bodyPr lIns="90000" tIns="46800" rIns="90000" bIns="46800" anchor="ctr"/>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10</a:t>
            </a:r>
          </a:p>
        </p:txBody>
      </p:sp>
      <p:sp>
        <p:nvSpPr>
          <p:cNvPr id="13341" name="Rectangle 29"/>
          <p:cNvSpPr/>
          <p:nvPr/>
        </p:nvSpPr>
        <p:spPr>
          <a:xfrm>
            <a:off x="7153910" y="2335213"/>
            <a:ext cx="762000" cy="609600"/>
          </a:xfrm>
          <a:prstGeom prst="rect">
            <a:avLst/>
          </a:prstGeom>
          <a:solidFill>
            <a:srgbClr val="4F81BD"/>
          </a:solidFill>
          <a:ln w="25560" cap="flat" cmpd="sng">
            <a:solidFill>
              <a:srgbClr val="385D8A"/>
            </a:solidFill>
            <a:prstDash val="solid"/>
            <a:miter/>
            <a:headEnd type="none" w="med" len="med"/>
            <a:tailEnd type="none" w="med" len="med"/>
          </a:ln>
        </p:spPr>
        <p:txBody>
          <a:bodyPr wrap="none" anchor="ctr"/>
          <a:lstStyle/>
          <a:p>
            <a:pPr eaLnBrk="0" hangingPunct="0"/>
            <a:endParaRPr lang="en-US" altLang="en-US" sz="1800" dirty="0">
              <a:solidFill>
                <a:schemeClr val="tx1"/>
              </a:solidFill>
              <a:latin typeface="+mn-lt"/>
              <a:cs typeface="+mn-lt"/>
            </a:endParaRPr>
          </a:p>
        </p:txBody>
      </p:sp>
      <p:sp>
        <p:nvSpPr>
          <p:cNvPr id="13342" name="Text Box 30"/>
          <p:cNvSpPr txBox="1"/>
          <p:nvPr/>
        </p:nvSpPr>
        <p:spPr>
          <a:xfrm>
            <a:off x="8427085" y="4369435"/>
            <a:ext cx="708025" cy="369570"/>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Rear</a:t>
            </a:r>
          </a:p>
        </p:txBody>
      </p:sp>
      <p:cxnSp>
        <p:nvCxnSpPr>
          <p:cNvPr id="13343" name="AutoShape 31"/>
          <p:cNvCxnSpPr/>
          <p:nvPr/>
        </p:nvCxnSpPr>
        <p:spPr>
          <a:xfrm rot="10800000">
            <a:off x="7929880" y="4060825"/>
            <a:ext cx="601345" cy="448310"/>
          </a:xfrm>
          <a:prstGeom prst="curvedConnector3">
            <a:avLst>
              <a:gd name="adj1" fmla="val 49947"/>
            </a:avLst>
          </a:prstGeom>
          <a:ln w="9360" cap="flat" cmpd="sng">
            <a:solidFill>
              <a:srgbClr val="4A7EBB"/>
            </a:solidFill>
            <a:prstDash val="solid"/>
            <a:miter/>
            <a:headEnd type="none" w="med" len="med"/>
            <a:tailEnd type="triangle" w="med" len="med"/>
          </a:ln>
        </p:spPr>
      </p:cxnSp>
      <p:cxnSp>
        <p:nvCxnSpPr>
          <p:cNvPr id="13344" name="AutoShape 32"/>
          <p:cNvCxnSpPr/>
          <p:nvPr/>
        </p:nvCxnSpPr>
        <p:spPr>
          <a:xfrm flipH="1" flipV="1">
            <a:off x="7930198" y="6497638"/>
            <a:ext cx="381000" cy="1587"/>
          </a:xfrm>
          <a:prstGeom prst="straightConnector1">
            <a:avLst/>
          </a:prstGeom>
          <a:ln w="9360" cap="flat" cmpd="sng">
            <a:solidFill>
              <a:srgbClr val="4A7EBB"/>
            </a:solidFill>
            <a:prstDash val="solid"/>
            <a:miter/>
            <a:headEnd type="none" w="med" len="med"/>
            <a:tailEnd type="triangle" w="med" len="med"/>
          </a:ln>
        </p:spPr>
      </p:cxnSp>
      <p:sp>
        <p:nvSpPr>
          <p:cNvPr id="13345" name="Text Box 33"/>
          <p:cNvSpPr txBox="1"/>
          <p:nvPr/>
        </p:nvSpPr>
        <p:spPr>
          <a:xfrm>
            <a:off x="8184833" y="6281738"/>
            <a:ext cx="762000" cy="369570"/>
          </a:xfrm>
          <a:prstGeom prst="rect">
            <a:avLst/>
          </a:prstGeom>
          <a:noFill/>
          <a:ln w="9525">
            <a:noFill/>
          </a:ln>
        </p:spPr>
        <p:txBody>
          <a:bodyPr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Front</a:t>
            </a:r>
          </a:p>
        </p:txBody>
      </p:sp>
      <p:sp>
        <p:nvSpPr>
          <p:cNvPr id="13346" name="Text Box 37"/>
          <p:cNvSpPr txBox="1"/>
          <p:nvPr/>
        </p:nvSpPr>
        <p:spPr>
          <a:xfrm>
            <a:off x="7930198" y="2460625"/>
            <a:ext cx="457200" cy="369570"/>
          </a:xfrm>
          <a:prstGeom prst="rect">
            <a:avLst/>
          </a:prstGeom>
          <a:noFill/>
          <a:ln w="9525">
            <a:noFill/>
          </a:ln>
        </p:spPr>
        <p:txBody>
          <a:bodyPr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6</a:t>
            </a:r>
          </a:p>
        </p:txBody>
      </p:sp>
      <p:sp>
        <p:nvSpPr>
          <p:cNvPr id="13347" name="Text Box 38"/>
          <p:cNvSpPr txBox="1"/>
          <p:nvPr/>
        </p:nvSpPr>
        <p:spPr>
          <a:xfrm>
            <a:off x="7930198" y="6080125"/>
            <a:ext cx="304165" cy="369570"/>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0</a:t>
            </a:r>
          </a:p>
        </p:txBody>
      </p:sp>
      <p:sp>
        <p:nvSpPr>
          <p:cNvPr id="13348" name="Text Box 39"/>
          <p:cNvSpPr txBox="1"/>
          <p:nvPr/>
        </p:nvSpPr>
        <p:spPr>
          <a:xfrm>
            <a:off x="7930198" y="5508625"/>
            <a:ext cx="304165" cy="369570"/>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1</a:t>
            </a:r>
          </a:p>
        </p:txBody>
      </p:sp>
      <p:sp>
        <p:nvSpPr>
          <p:cNvPr id="13349" name="Text Box 40"/>
          <p:cNvSpPr txBox="1"/>
          <p:nvPr/>
        </p:nvSpPr>
        <p:spPr>
          <a:xfrm>
            <a:off x="7930198" y="4899025"/>
            <a:ext cx="304165" cy="369570"/>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2</a:t>
            </a:r>
          </a:p>
        </p:txBody>
      </p:sp>
      <p:sp>
        <p:nvSpPr>
          <p:cNvPr id="13350" name="Text Box 41"/>
          <p:cNvSpPr txBox="1"/>
          <p:nvPr/>
        </p:nvSpPr>
        <p:spPr>
          <a:xfrm>
            <a:off x="7930198" y="4289425"/>
            <a:ext cx="304165" cy="369570"/>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3</a:t>
            </a:r>
          </a:p>
        </p:txBody>
      </p:sp>
      <p:sp>
        <p:nvSpPr>
          <p:cNvPr id="13351" name="Text Box 42"/>
          <p:cNvSpPr txBox="1"/>
          <p:nvPr/>
        </p:nvSpPr>
        <p:spPr>
          <a:xfrm>
            <a:off x="7930198" y="3665538"/>
            <a:ext cx="304165" cy="369570"/>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4</a:t>
            </a:r>
          </a:p>
        </p:txBody>
      </p:sp>
      <p:sp>
        <p:nvSpPr>
          <p:cNvPr id="13352" name="Text Box 43"/>
          <p:cNvSpPr txBox="1"/>
          <p:nvPr/>
        </p:nvSpPr>
        <p:spPr>
          <a:xfrm>
            <a:off x="7930198" y="3070225"/>
            <a:ext cx="304165" cy="369570"/>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chemeClr val="tx1"/>
                </a:solidFill>
                <a:latin typeface="+mn-lt"/>
                <a:cs typeface="+mn-lt"/>
              </a:rPr>
              <a:t>5</a:t>
            </a:r>
          </a:p>
        </p:txBody>
      </p:sp>
      <p:cxnSp>
        <p:nvCxnSpPr>
          <p:cNvPr id="13353" name="AutoShape 44"/>
          <p:cNvCxnSpPr/>
          <p:nvPr/>
        </p:nvCxnSpPr>
        <p:spPr>
          <a:xfrm rot="16200000">
            <a:off x="3977640" y="6246495"/>
            <a:ext cx="365125" cy="330200"/>
          </a:xfrm>
          <a:prstGeom prst="curvedConnector3">
            <a:avLst>
              <a:gd name="adj1" fmla="val 50000"/>
            </a:avLst>
          </a:prstGeom>
          <a:ln w="9360" cap="flat" cmpd="sng">
            <a:solidFill>
              <a:srgbClr val="4A7EBB"/>
            </a:solidFill>
            <a:prstDash val="solid"/>
            <a:miter/>
            <a:headEnd type="none" w="med" len="med"/>
            <a:tailEnd type="triangle" w="med" len="med"/>
          </a:ln>
        </p:spPr>
      </p:cxnSp>
      <p:sp>
        <p:nvSpPr>
          <p:cNvPr id="13354" name="Rectangle 2"/>
          <p:cNvSpPr txBox="1"/>
          <p:nvPr/>
        </p:nvSpPr>
        <p:spPr>
          <a:xfrm>
            <a:off x="1214755" y="1064260"/>
            <a:ext cx="7988935" cy="673100"/>
          </a:xfrm>
          <a:prstGeom prst="rect">
            <a:avLst/>
          </a:prstGeom>
          <a:noFill/>
          <a:ln w="9525">
            <a:noFill/>
          </a:ln>
        </p:spPr>
        <p:txBody>
          <a:bodyPr anchor="t"/>
          <a:lstStyle/>
          <a:p>
            <a:pPr algn="l" defTabSz="914400" eaLnBrk="0" hangingPunct="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solidFill>
                  <a:schemeClr val="tx2"/>
                </a:solidFill>
                <a:latin typeface="Times New Roman" panose="02020603050405020304" pitchFamily="18" charset="0"/>
              </a:rPr>
              <a:t>Array Implementation</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1928802"/>
            <a:ext cx="8413652" cy="4643470"/>
          </a:xfrm>
          <a:solidFill>
            <a:schemeClr val="bg1"/>
          </a:solidFill>
          <a:effectLst>
            <a:glow rad="101600">
              <a:schemeClr val="accent1">
                <a:satMod val="175000"/>
                <a:alpha val="40000"/>
              </a:schemeClr>
            </a:glow>
            <a:outerShdw blurRad="50800" dist="2540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a:normAutofit fontScale="92500" lnSpcReduction="10000"/>
          </a:bodyPr>
          <a:lstStyle/>
          <a:p>
            <a:pPr>
              <a:buNone/>
            </a:pPr>
            <a:r>
              <a:rPr lang="en-US" sz="2400" b="1" u="sng" dirty="0" smtClean="0">
                <a:solidFill>
                  <a:schemeClr val="tx1"/>
                </a:solidFill>
              </a:rPr>
              <a:t>ALGORITHM:</a:t>
            </a:r>
            <a:r>
              <a:rPr lang="en-US" sz="2400" b="1" dirty="0" smtClean="0">
                <a:solidFill>
                  <a:schemeClr val="tx1"/>
                </a:solidFill>
              </a:rPr>
              <a:t> </a:t>
            </a:r>
            <a:r>
              <a:rPr lang="en-US" sz="2400" dirty="0" smtClean="0">
                <a:solidFill>
                  <a:schemeClr val="tx1"/>
                </a:solidFill>
              </a:rPr>
              <a:t>Q_INSERT(QUEUE,MAX,FRONT,REAR, ITEM)</a:t>
            </a:r>
          </a:p>
          <a:p>
            <a:pPr algn="just">
              <a:buNone/>
            </a:pPr>
            <a:r>
              <a:rPr lang="en-US" sz="2400" b="1" dirty="0" smtClean="0">
                <a:solidFill>
                  <a:schemeClr val="tx1"/>
                </a:solidFill>
              </a:rPr>
              <a:t>Input: </a:t>
            </a:r>
            <a:r>
              <a:rPr lang="en-US" sz="2400" dirty="0" smtClean="0">
                <a:solidFill>
                  <a:schemeClr val="tx1"/>
                </a:solidFill>
              </a:rPr>
              <a:t>QUEUE is the linear array with maximum size  MAX.FRONT and REAR are the pointer variables  pointing to Front end and Rear end.</a:t>
            </a:r>
          </a:p>
          <a:p>
            <a:pPr algn="just">
              <a:buNone/>
            </a:pPr>
            <a:r>
              <a:rPr lang="en-US" sz="2400" b="1" dirty="0" smtClean="0">
                <a:solidFill>
                  <a:schemeClr val="tx1"/>
                </a:solidFill>
              </a:rPr>
              <a:t>Output: </a:t>
            </a:r>
            <a:r>
              <a:rPr lang="en-US" sz="2400" dirty="0" smtClean="0">
                <a:solidFill>
                  <a:schemeClr val="tx1"/>
                </a:solidFill>
              </a:rPr>
              <a:t>This algorithm inserts an element ITEM on to  the queue </a:t>
            </a:r>
            <a:r>
              <a:rPr lang="en-US" sz="2400" dirty="0" err="1" smtClean="0">
                <a:solidFill>
                  <a:schemeClr val="tx1"/>
                </a:solidFill>
              </a:rPr>
              <a:t>QUEUE</a:t>
            </a:r>
            <a:r>
              <a:rPr lang="en-US" sz="2400" dirty="0" smtClean="0">
                <a:solidFill>
                  <a:schemeClr val="tx1"/>
                </a:solidFill>
              </a:rPr>
              <a:t>.</a:t>
            </a:r>
          </a:p>
          <a:p>
            <a:pPr>
              <a:buNone/>
            </a:pPr>
            <a:r>
              <a:rPr lang="en-US" sz="2400" b="1" dirty="0" smtClean="0">
                <a:solidFill>
                  <a:schemeClr val="tx1"/>
                </a:solidFill>
              </a:rPr>
              <a:t>Step 1:</a:t>
            </a:r>
            <a:r>
              <a:rPr lang="en-US" sz="2400" dirty="0" smtClean="0">
                <a:solidFill>
                  <a:schemeClr val="tx1"/>
                </a:solidFill>
              </a:rPr>
              <a:t> If REAR=MAX-1, then</a:t>
            </a:r>
          </a:p>
          <a:p>
            <a:pPr>
              <a:buNone/>
            </a:pPr>
            <a:r>
              <a:rPr lang="en-US" sz="2400" dirty="0" smtClean="0">
                <a:solidFill>
                  <a:schemeClr val="tx1"/>
                </a:solidFill>
              </a:rPr>
              <a:t>			Print “Queue Overflow” and Exit.</a:t>
            </a:r>
          </a:p>
          <a:p>
            <a:pPr>
              <a:buNone/>
            </a:pPr>
            <a:r>
              <a:rPr lang="en-US" sz="2400" b="1" dirty="0" smtClean="0">
                <a:solidFill>
                  <a:schemeClr val="tx1"/>
                </a:solidFill>
              </a:rPr>
              <a:t>Step 2:</a:t>
            </a:r>
            <a:r>
              <a:rPr lang="en-US" sz="2400" dirty="0" smtClean="0">
                <a:solidFill>
                  <a:schemeClr val="tx1"/>
                </a:solidFill>
              </a:rPr>
              <a:t> If FRONT=-1 and REAR=-1,then</a:t>
            </a:r>
          </a:p>
          <a:p>
            <a:pPr>
              <a:buNone/>
            </a:pPr>
            <a:r>
              <a:rPr lang="en-US" sz="2400" dirty="0" smtClean="0">
                <a:solidFill>
                  <a:schemeClr val="tx1"/>
                </a:solidFill>
              </a:rPr>
              <a:t>			Set FRONT=0 and REAR=0</a:t>
            </a:r>
          </a:p>
          <a:p>
            <a:pPr>
              <a:buNone/>
            </a:pPr>
            <a:r>
              <a:rPr lang="en-US" sz="2400" dirty="0" smtClean="0">
                <a:solidFill>
                  <a:schemeClr val="tx1"/>
                </a:solidFill>
              </a:rPr>
              <a:t>		Else</a:t>
            </a:r>
          </a:p>
          <a:p>
            <a:pPr>
              <a:buNone/>
            </a:pPr>
            <a:r>
              <a:rPr lang="en-US" sz="2400" dirty="0" smtClean="0">
                <a:solidFill>
                  <a:schemeClr val="tx1"/>
                </a:solidFill>
              </a:rPr>
              <a:t>			Set REAR=REAR+1</a:t>
            </a:r>
          </a:p>
          <a:p>
            <a:endParaRPr lang="en-US" dirty="0"/>
          </a:p>
        </p:txBody>
      </p:sp>
      <p:sp>
        <p:nvSpPr>
          <p:cNvPr id="6" name="Slide Number Placeholder 5"/>
          <p:cNvSpPr>
            <a:spLocks noGrp="1"/>
          </p:cNvSpPr>
          <p:nvPr>
            <p:ph type="sldNum" sz="quarter" idx="12"/>
          </p:nvPr>
        </p:nvSpPr>
        <p:spPr/>
        <p:txBody>
          <a:bodyPr/>
          <a:lstStyle/>
          <a:p>
            <a:fld id="{CA8B4530-02B6-4BE1-914D-F37489CFEB04}" type="slidenum">
              <a:rPr lang="en-US" smtClean="0"/>
              <a:pPr/>
              <a:t>9</a:t>
            </a:fld>
            <a:endParaRPr lang="en-US"/>
          </a:p>
        </p:txBody>
      </p:sp>
      <p:sp>
        <p:nvSpPr>
          <p:cNvPr id="5" name="Title 4"/>
          <p:cNvSpPr>
            <a:spLocks noGrp="1"/>
          </p:cNvSpPr>
          <p:nvPr>
            <p:ph type="title"/>
          </p:nvPr>
        </p:nvSpPr>
        <p:spPr>
          <a:xfrm>
            <a:off x="1150938" y="214313"/>
            <a:ext cx="7793037" cy="1071547"/>
          </a:xfrm>
        </p:spPr>
        <p:txBody>
          <a:bodyPr/>
          <a:lstStyle/>
          <a:p>
            <a:r>
              <a:rPr lang="en-US" sz="3600" dirty="0" smtClean="0">
                <a:latin typeface="Times New Roman" pitchFamily="18" charset="0"/>
                <a:cs typeface="Times New Roman" pitchFamily="18" charset="0"/>
              </a:rPr>
              <a:t>Insertion(ENQUEUE) Operation</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143116"/>
            <a:ext cx="8413652" cy="4181484"/>
          </a:xfrm>
          <a:solidFill>
            <a:schemeClr val="bg1"/>
          </a:solidFill>
          <a:effectLst>
            <a:glow rad="101600">
              <a:schemeClr val="accent1">
                <a:satMod val="175000"/>
                <a:alpha val="40000"/>
              </a:schemeClr>
            </a:glow>
            <a:outerShdw blurRad="50800" dist="2540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a:normAutofit/>
          </a:bodyPr>
          <a:lstStyle/>
          <a:p>
            <a:pPr>
              <a:buNone/>
            </a:pPr>
            <a:r>
              <a:rPr lang="en-US" sz="2400" b="1" dirty="0" smtClean="0">
                <a:solidFill>
                  <a:schemeClr val="tx1"/>
                </a:solidFill>
              </a:rPr>
              <a:t>Step 3:</a:t>
            </a:r>
            <a:r>
              <a:rPr lang="en-US" sz="2400" dirty="0" smtClean="0">
                <a:solidFill>
                  <a:schemeClr val="tx1"/>
                </a:solidFill>
              </a:rPr>
              <a:t> [Insert an element in to the Queue]</a:t>
            </a:r>
          </a:p>
          <a:p>
            <a:pPr>
              <a:buNone/>
            </a:pPr>
            <a:r>
              <a:rPr lang="en-US" sz="2400" dirty="0" smtClean="0">
                <a:solidFill>
                  <a:schemeClr val="tx1"/>
                </a:solidFill>
              </a:rPr>
              <a:t>		 Set QUEUE[REAR]=ITEM</a:t>
            </a:r>
          </a:p>
          <a:p>
            <a:pPr>
              <a:buNone/>
            </a:pPr>
            <a:r>
              <a:rPr lang="en-US" sz="2400" b="1" dirty="0" smtClean="0">
                <a:solidFill>
                  <a:schemeClr val="tx1"/>
                </a:solidFill>
              </a:rPr>
              <a:t>Step 4: </a:t>
            </a:r>
            <a:r>
              <a:rPr lang="en-US" sz="2400" dirty="0" smtClean="0">
                <a:solidFill>
                  <a:schemeClr val="tx1"/>
                </a:solidFill>
              </a:rPr>
              <a:t>Exit</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CA8B4530-02B6-4BE1-914D-F37489CFEB04}" type="slidenum">
              <a:rPr lang="en-US" smtClean="0"/>
              <a:pPr/>
              <a:t>10</a:t>
            </a:fld>
            <a:endParaRPr lang="en-US"/>
          </a:p>
        </p:txBody>
      </p:sp>
      <p:sp>
        <p:nvSpPr>
          <p:cNvPr id="5" name="Title 4"/>
          <p:cNvSpPr>
            <a:spLocks noGrp="1"/>
          </p:cNvSpPr>
          <p:nvPr>
            <p:ph type="title"/>
          </p:nvPr>
        </p:nvSpPr>
        <p:spPr/>
        <p:txBody>
          <a:bodyPr/>
          <a:lstStyle/>
          <a:p>
            <a:r>
              <a:rPr lang="en-US" sz="3600" dirty="0" smtClean="0">
                <a:latin typeface="Times New Roman" pitchFamily="18" charset="0"/>
                <a:cs typeface="Times New Roman" pitchFamily="18" charset="0"/>
              </a:rPr>
              <a:t>Insertion(</a:t>
            </a:r>
            <a:r>
              <a:rPr lang="en-US" sz="3600" dirty="0" err="1" smtClean="0">
                <a:latin typeface="Times New Roman" pitchFamily="18" charset="0"/>
                <a:cs typeface="Times New Roman" pitchFamily="18" charset="0"/>
              </a:rPr>
              <a:t>enqueue</a:t>
            </a:r>
            <a:r>
              <a:rPr lang="en-US" sz="3600" dirty="0" smtClean="0">
                <a:latin typeface="Times New Roman" pitchFamily="18" charset="0"/>
                <a:cs typeface="Times New Roman" pitchFamily="18" charset="0"/>
              </a:rPr>
              <a:t>) Operation</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25" name="Text Box 61"/>
          <p:cNvSpPr txBox="1">
            <a:spLocks noChangeArrowheads="1"/>
          </p:cNvSpPr>
          <p:nvPr/>
        </p:nvSpPr>
        <p:spPr bwMode="auto">
          <a:xfrm>
            <a:off x="685800" y="1447800"/>
            <a:ext cx="7386662" cy="1040285"/>
          </a:xfrm>
          <a:prstGeom prst="rect">
            <a:avLst/>
          </a:prstGeom>
          <a:noFill/>
          <a:ln w="9525">
            <a:noFill/>
            <a:miter lim="800000"/>
            <a:headEnd/>
            <a:tailEnd/>
          </a:ln>
          <a:effectLst/>
        </p:spPr>
        <p:txBody>
          <a:bodyPr wrap="square">
            <a:spAutoFit/>
          </a:bodyPr>
          <a:lstStyle/>
          <a:p>
            <a:pPr>
              <a:spcBef>
                <a:spcPct val="20000"/>
              </a:spcBef>
              <a:buFontTx/>
              <a:buChar char="•"/>
            </a:pPr>
            <a:endParaRPr lang="en-US" b="1" dirty="0" smtClean="0"/>
          </a:p>
          <a:p>
            <a:pPr>
              <a:spcBef>
                <a:spcPct val="20000"/>
              </a:spcBef>
              <a:buFontTx/>
              <a:buChar char="•"/>
            </a:pPr>
            <a:r>
              <a:rPr lang="en-US" dirty="0" smtClean="0"/>
              <a:t>Max=5 , Front=-1 ,Rear=-1</a:t>
            </a:r>
            <a:endParaRPr lang="en-US" dirty="0"/>
          </a:p>
        </p:txBody>
      </p:sp>
      <p:sp>
        <p:nvSpPr>
          <p:cNvPr id="6" name="Rectangle 5"/>
          <p:cNvSpPr/>
          <p:nvPr/>
        </p:nvSpPr>
        <p:spPr>
          <a:xfrm rot="5400000">
            <a:off x="3533756" y="2324104"/>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781800" y="5486400"/>
            <a:ext cx="1066800" cy="307777"/>
          </a:xfrm>
          <a:prstGeom prst="rect">
            <a:avLst/>
          </a:prstGeom>
          <a:noFill/>
        </p:spPr>
        <p:txBody>
          <a:bodyPr wrap="square" rtlCol="0">
            <a:spAutoFit/>
          </a:bodyPr>
          <a:lstStyle/>
          <a:p>
            <a:r>
              <a:rPr lang="en-US" sz="1400" dirty="0" smtClean="0"/>
              <a:t>Front=-1</a:t>
            </a:r>
            <a:endParaRPr lang="en-US" sz="1400" dirty="0"/>
          </a:p>
        </p:txBody>
      </p:sp>
      <p:sp>
        <p:nvSpPr>
          <p:cNvPr id="23" name="Right Arrow 22"/>
          <p:cNvSpPr/>
          <p:nvPr/>
        </p:nvSpPr>
        <p:spPr>
          <a:xfrm rot="16200000" flipV="1">
            <a:off x="6172200" y="50292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6781800" y="50292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5943600" y="5486400"/>
            <a:ext cx="838200" cy="307777"/>
          </a:xfrm>
          <a:prstGeom prst="rect">
            <a:avLst/>
          </a:prstGeom>
          <a:noFill/>
        </p:spPr>
        <p:txBody>
          <a:bodyPr wrap="square" rtlCol="0">
            <a:spAutoFit/>
          </a:bodyPr>
          <a:lstStyle/>
          <a:p>
            <a:r>
              <a:rPr lang="en-US" sz="1400" dirty="0" smtClean="0"/>
              <a:t>Rear=-1</a:t>
            </a:r>
            <a:endParaRPr lang="en-US" sz="1400" dirty="0"/>
          </a:p>
        </p:txBody>
      </p:sp>
      <p:sp>
        <p:nvSpPr>
          <p:cNvPr id="26" name="TextBox 25"/>
          <p:cNvSpPr txBox="1"/>
          <p:nvPr/>
        </p:nvSpPr>
        <p:spPr>
          <a:xfrm>
            <a:off x="1828800" y="3276600"/>
            <a:ext cx="957250" cy="523220"/>
          </a:xfrm>
          <a:prstGeom prst="rect">
            <a:avLst/>
          </a:prstGeom>
          <a:noFill/>
        </p:spPr>
        <p:txBody>
          <a:bodyPr wrap="square" rtlCol="0">
            <a:spAutoFit/>
          </a:bodyPr>
          <a:lstStyle/>
          <a:p>
            <a:r>
              <a:rPr lang="en-US" dirty="0" smtClean="0"/>
              <a:t>Q[4]</a:t>
            </a:r>
            <a:endParaRPr lang="en-US" dirty="0"/>
          </a:p>
        </p:txBody>
      </p:sp>
      <p:sp>
        <p:nvSpPr>
          <p:cNvPr id="27" name="TextBox 26"/>
          <p:cNvSpPr txBox="1"/>
          <p:nvPr/>
        </p:nvSpPr>
        <p:spPr>
          <a:xfrm>
            <a:off x="2667000" y="3276600"/>
            <a:ext cx="904868" cy="523220"/>
          </a:xfrm>
          <a:prstGeom prst="rect">
            <a:avLst/>
          </a:prstGeom>
          <a:noFill/>
        </p:spPr>
        <p:txBody>
          <a:bodyPr wrap="square" rtlCol="0">
            <a:spAutoFit/>
          </a:bodyPr>
          <a:lstStyle/>
          <a:p>
            <a:r>
              <a:rPr lang="en-US" dirty="0" smtClean="0"/>
              <a:t>Q[3]</a:t>
            </a:r>
            <a:endParaRPr lang="en-US" dirty="0"/>
          </a:p>
        </p:txBody>
      </p:sp>
      <p:sp>
        <p:nvSpPr>
          <p:cNvPr id="28" name="TextBox 27"/>
          <p:cNvSpPr txBox="1"/>
          <p:nvPr/>
        </p:nvSpPr>
        <p:spPr>
          <a:xfrm>
            <a:off x="3505200" y="3257490"/>
            <a:ext cx="923924" cy="523220"/>
          </a:xfrm>
          <a:prstGeom prst="rect">
            <a:avLst/>
          </a:prstGeom>
          <a:noFill/>
        </p:spPr>
        <p:txBody>
          <a:bodyPr wrap="square" rtlCol="0">
            <a:spAutoFit/>
          </a:bodyPr>
          <a:lstStyle/>
          <a:p>
            <a:r>
              <a:rPr lang="en-US" dirty="0" smtClean="0"/>
              <a:t>Q[2]</a:t>
            </a:r>
            <a:endParaRPr lang="en-US" dirty="0"/>
          </a:p>
        </p:txBody>
      </p:sp>
      <p:sp>
        <p:nvSpPr>
          <p:cNvPr id="29" name="TextBox 28"/>
          <p:cNvSpPr txBox="1"/>
          <p:nvPr/>
        </p:nvSpPr>
        <p:spPr>
          <a:xfrm>
            <a:off x="4495800" y="3276600"/>
            <a:ext cx="933456" cy="523220"/>
          </a:xfrm>
          <a:prstGeom prst="rect">
            <a:avLst/>
          </a:prstGeom>
          <a:noFill/>
        </p:spPr>
        <p:txBody>
          <a:bodyPr wrap="square" rtlCol="0">
            <a:spAutoFit/>
          </a:bodyPr>
          <a:lstStyle/>
          <a:p>
            <a:r>
              <a:rPr lang="en-US" dirty="0" smtClean="0"/>
              <a:t>Q[1</a:t>
            </a:r>
            <a:r>
              <a:rPr lang="en-US" sz="2000" dirty="0" smtClean="0"/>
              <a:t>]</a:t>
            </a:r>
            <a:endParaRPr lang="en-US" sz="2000" dirty="0"/>
          </a:p>
        </p:txBody>
      </p:sp>
      <p:sp>
        <p:nvSpPr>
          <p:cNvPr id="30" name="TextBox 29"/>
          <p:cNvSpPr txBox="1"/>
          <p:nvPr/>
        </p:nvSpPr>
        <p:spPr>
          <a:xfrm>
            <a:off x="5572132" y="3276600"/>
            <a:ext cx="928694" cy="523220"/>
          </a:xfrm>
          <a:prstGeom prst="rect">
            <a:avLst/>
          </a:prstGeom>
          <a:noFill/>
        </p:spPr>
        <p:txBody>
          <a:bodyPr wrap="square" rtlCol="0">
            <a:spAutoFit/>
          </a:bodyPr>
          <a:lstStyle/>
          <a:p>
            <a:r>
              <a:rPr lang="en-US" dirty="0" smtClean="0"/>
              <a:t>Q[0</a:t>
            </a:r>
            <a:r>
              <a:rPr lang="en-US" sz="2000" dirty="0" smtClean="0"/>
              <a:t>]</a:t>
            </a:r>
            <a:endParaRPr lang="en-US" sz="2000" dirty="0"/>
          </a:p>
        </p:txBody>
      </p:sp>
      <p:sp>
        <p:nvSpPr>
          <p:cNvPr id="33" name="Slide Number Placeholder 32"/>
          <p:cNvSpPr>
            <a:spLocks noGrp="1"/>
          </p:cNvSpPr>
          <p:nvPr>
            <p:ph type="sldNum" sz="quarter" idx="12"/>
          </p:nvPr>
        </p:nvSpPr>
        <p:spPr/>
        <p:txBody>
          <a:bodyPr/>
          <a:lstStyle/>
          <a:p>
            <a:fld id="{74E22635-7FE9-4421-97F1-05CE0EFEF615}" type="slidenum">
              <a:rPr lang="en-US" altLang="en-US" smtClean="0"/>
              <a:pPr/>
              <a:t>11</a:t>
            </a:fld>
            <a:endParaRPr lang="en-US" altLang="en-US"/>
          </a:p>
        </p:txBody>
      </p:sp>
      <p:sp>
        <p:nvSpPr>
          <p:cNvPr id="22" name="Title 21"/>
          <p:cNvSpPr>
            <a:spLocks noGrp="1"/>
          </p:cNvSpPr>
          <p:nvPr>
            <p:ph type="title"/>
          </p:nvPr>
        </p:nvSpPr>
        <p:spPr>
          <a:xfrm>
            <a:off x="1142976" y="122238"/>
            <a:ext cx="6858024" cy="1295400"/>
          </a:xfrm>
        </p:spPr>
        <p:txBody>
          <a:bodyPr/>
          <a:lstStyle/>
          <a:p>
            <a:r>
              <a:rPr lang="en-US" dirty="0" smtClean="0">
                <a:latin typeface="Times New Roman" pitchFamily="18" charset="0"/>
                <a:cs typeface="Times New Roman" pitchFamily="18" charset="0"/>
              </a:rPr>
              <a:t>Insertion(</a:t>
            </a:r>
            <a:r>
              <a:rPr lang="en-US" dirty="0" err="1" smtClean="0">
                <a:latin typeface="Times New Roman" pitchFamily="18" charset="0"/>
                <a:cs typeface="Times New Roman" pitchFamily="18" charset="0"/>
              </a:rPr>
              <a:t>enqueue</a:t>
            </a:r>
            <a:r>
              <a:rPr lang="en-US" dirty="0" smtClean="0">
                <a:latin typeface="Times New Roman" pitchFamily="18" charset="0"/>
                <a:cs typeface="Times New Roman" pitchFamily="18" charset="0"/>
              </a:rPr>
              <a:t>) Operation</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715000" y="5486400"/>
            <a:ext cx="838200" cy="307777"/>
          </a:xfrm>
          <a:prstGeom prst="rect">
            <a:avLst/>
          </a:prstGeom>
          <a:noFill/>
        </p:spPr>
        <p:txBody>
          <a:bodyPr wrap="square" rtlCol="0">
            <a:spAutoFit/>
          </a:bodyPr>
          <a:lstStyle/>
          <a:p>
            <a:r>
              <a:rPr lang="en-US" sz="1400" dirty="0" smtClean="0"/>
              <a:t>Front=0</a:t>
            </a:r>
            <a:endParaRPr lang="en-US" sz="1400" dirty="0"/>
          </a:p>
        </p:txBody>
      </p:sp>
      <p:sp>
        <p:nvSpPr>
          <p:cNvPr id="23" name="Right Arrow 22"/>
          <p:cNvSpPr/>
          <p:nvPr/>
        </p:nvSpPr>
        <p:spPr>
          <a:xfrm rot="16200000" flipV="1">
            <a:off x="52578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57150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5105400" y="5486400"/>
            <a:ext cx="838200" cy="307777"/>
          </a:xfrm>
          <a:prstGeom prst="rect">
            <a:avLst/>
          </a:prstGeom>
          <a:noFill/>
        </p:spPr>
        <p:txBody>
          <a:bodyPr wrap="square" rtlCol="0">
            <a:spAutoFit/>
          </a:bodyPr>
          <a:lstStyle/>
          <a:p>
            <a:r>
              <a:rPr lang="en-US" sz="1400" dirty="0" smtClean="0"/>
              <a:t>Rear=0</a:t>
            </a:r>
            <a:endParaRPr lang="en-US" sz="1400" dirty="0"/>
          </a:p>
        </p:txBody>
      </p:sp>
      <p:sp>
        <p:nvSpPr>
          <p:cNvPr id="26" name="TextBox 25"/>
          <p:cNvSpPr txBox="1"/>
          <p:nvPr/>
        </p:nvSpPr>
        <p:spPr>
          <a:xfrm>
            <a:off x="1828800" y="3276600"/>
            <a:ext cx="957250" cy="523220"/>
          </a:xfrm>
          <a:prstGeom prst="rect">
            <a:avLst/>
          </a:prstGeom>
          <a:noFill/>
        </p:spPr>
        <p:txBody>
          <a:bodyPr wrap="square" rtlCol="0">
            <a:spAutoFit/>
          </a:bodyPr>
          <a:lstStyle/>
          <a:p>
            <a:r>
              <a:rPr lang="en-US" dirty="0" smtClean="0"/>
              <a:t>Q[4</a:t>
            </a:r>
            <a:r>
              <a:rPr lang="en-US" sz="2000" dirty="0" smtClean="0"/>
              <a:t>]</a:t>
            </a:r>
            <a:endParaRPr lang="en-US" sz="2000" dirty="0"/>
          </a:p>
        </p:txBody>
      </p:sp>
      <p:sp>
        <p:nvSpPr>
          <p:cNvPr id="27" name="TextBox 26"/>
          <p:cNvSpPr txBox="1"/>
          <p:nvPr/>
        </p:nvSpPr>
        <p:spPr>
          <a:xfrm>
            <a:off x="2667000" y="3276600"/>
            <a:ext cx="904868" cy="52322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05200" y="3288268"/>
            <a:ext cx="995362" cy="523220"/>
          </a:xfrm>
          <a:prstGeom prst="rect">
            <a:avLst/>
          </a:prstGeom>
          <a:noFill/>
        </p:spPr>
        <p:txBody>
          <a:bodyPr wrap="square" rtlCol="0">
            <a:spAutoFit/>
          </a:bodyPr>
          <a:lstStyle/>
          <a:p>
            <a:r>
              <a:rPr lang="en-US" dirty="0" smtClean="0"/>
              <a:t>Q[2]</a:t>
            </a:r>
            <a:endParaRPr lang="en-US" dirty="0"/>
          </a:p>
        </p:txBody>
      </p:sp>
      <p:sp>
        <p:nvSpPr>
          <p:cNvPr id="29" name="TextBox 28"/>
          <p:cNvSpPr txBox="1"/>
          <p:nvPr/>
        </p:nvSpPr>
        <p:spPr>
          <a:xfrm>
            <a:off x="4495800" y="3276600"/>
            <a:ext cx="1004894" cy="523220"/>
          </a:xfrm>
          <a:prstGeom prst="rect">
            <a:avLst/>
          </a:prstGeom>
          <a:noFill/>
        </p:spPr>
        <p:txBody>
          <a:bodyPr wrap="square" rtlCol="0">
            <a:spAutoFit/>
          </a:bodyPr>
          <a:lstStyle/>
          <a:p>
            <a:r>
              <a:rPr lang="en-US" dirty="0" smtClean="0"/>
              <a:t>Q[1]</a:t>
            </a:r>
            <a:endParaRPr lang="en-US" dirty="0"/>
          </a:p>
        </p:txBody>
      </p:sp>
      <p:sp>
        <p:nvSpPr>
          <p:cNvPr id="30" name="TextBox 29"/>
          <p:cNvSpPr txBox="1"/>
          <p:nvPr/>
        </p:nvSpPr>
        <p:spPr>
          <a:xfrm>
            <a:off x="5334000" y="3276600"/>
            <a:ext cx="1095388" cy="523220"/>
          </a:xfrm>
          <a:prstGeom prst="rect">
            <a:avLst/>
          </a:prstGeom>
          <a:noFill/>
        </p:spPr>
        <p:txBody>
          <a:bodyPr wrap="square" rtlCol="0">
            <a:spAutoFit/>
          </a:bodyPr>
          <a:lstStyle/>
          <a:p>
            <a:r>
              <a:rPr lang="en-US" dirty="0" smtClean="0"/>
              <a:t>Q[0]</a:t>
            </a:r>
            <a:endParaRPr lang="en-US" dirty="0"/>
          </a:p>
        </p:txBody>
      </p:sp>
      <p:sp>
        <p:nvSpPr>
          <p:cNvPr id="22" name="TextBox 21"/>
          <p:cNvSpPr txBox="1"/>
          <p:nvPr/>
        </p:nvSpPr>
        <p:spPr>
          <a:xfrm>
            <a:off x="5486400" y="4038600"/>
            <a:ext cx="609600" cy="461665"/>
          </a:xfrm>
          <a:prstGeom prst="rect">
            <a:avLst/>
          </a:prstGeom>
          <a:noFill/>
        </p:spPr>
        <p:txBody>
          <a:bodyPr wrap="square" rtlCol="0">
            <a:spAutoFit/>
          </a:bodyPr>
          <a:lstStyle/>
          <a:p>
            <a:r>
              <a:rPr lang="en-US" sz="2400" dirty="0" smtClean="0">
                <a:solidFill>
                  <a:srgbClr val="7030A0"/>
                </a:solidFill>
              </a:rPr>
              <a:t>10</a:t>
            </a:r>
            <a:endParaRPr lang="en-US" sz="2400" dirty="0">
              <a:solidFill>
                <a:srgbClr val="7030A0"/>
              </a:solidFill>
            </a:endParaRPr>
          </a:p>
        </p:txBody>
      </p:sp>
      <p:sp>
        <p:nvSpPr>
          <p:cNvPr id="31" name="TextBox 30"/>
          <p:cNvSpPr txBox="1"/>
          <p:nvPr/>
        </p:nvSpPr>
        <p:spPr>
          <a:xfrm>
            <a:off x="685800" y="1928803"/>
            <a:ext cx="3810000" cy="1384995"/>
          </a:xfrm>
          <a:prstGeom prst="rect">
            <a:avLst/>
          </a:prstGeom>
          <a:noFill/>
        </p:spPr>
        <p:txBody>
          <a:bodyPr wrap="square" rtlCol="0">
            <a:spAutoFit/>
          </a:bodyPr>
          <a:lstStyle/>
          <a:p>
            <a:endParaRPr lang="en-US" dirty="0" smtClean="0"/>
          </a:p>
          <a:p>
            <a:endParaRPr lang="en-US" dirty="0" smtClean="0"/>
          </a:p>
          <a:p>
            <a:r>
              <a:rPr lang="en-US" dirty="0" smtClean="0"/>
              <a:t>Insert 10</a:t>
            </a:r>
            <a:endParaRPr lang="en-US" dirty="0"/>
          </a:p>
        </p:txBody>
      </p:sp>
      <p:sp>
        <p:nvSpPr>
          <p:cNvPr id="35" name="Slide Number Placeholder 34"/>
          <p:cNvSpPr>
            <a:spLocks noGrp="1"/>
          </p:cNvSpPr>
          <p:nvPr>
            <p:ph type="sldNum" sz="quarter" idx="12"/>
          </p:nvPr>
        </p:nvSpPr>
        <p:spPr/>
        <p:txBody>
          <a:bodyPr/>
          <a:lstStyle/>
          <a:p>
            <a:fld id="{74E22635-7FE9-4421-97F1-05CE0EFEF615}" type="slidenum">
              <a:rPr lang="en-US" altLang="en-US" smtClean="0"/>
              <a:pPr/>
              <a:t>12</a:t>
            </a:fld>
            <a:endParaRPr lang="en-US" altLang="en-US"/>
          </a:p>
        </p:txBody>
      </p:sp>
      <p:sp>
        <p:nvSpPr>
          <p:cNvPr id="32" name="Title 31"/>
          <p:cNvSpPr>
            <a:spLocks noGrp="1"/>
          </p:cNvSpPr>
          <p:nvPr>
            <p:ph type="title"/>
          </p:nvPr>
        </p:nvSpPr>
        <p:spPr>
          <a:xfrm>
            <a:off x="1214414" y="122238"/>
            <a:ext cx="6786586" cy="1295400"/>
          </a:xfrm>
        </p:spPr>
        <p:txBody>
          <a:bodyPr/>
          <a:lstStyle/>
          <a:p>
            <a:r>
              <a:rPr lang="en-US" dirty="0" smtClean="0">
                <a:latin typeface="Times New Roman" pitchFamily="18" charset="0"/>
                <a:cs typeface="Times New Roman" pitchFamily="18" charset="0"/>
              </a:rPr>
              <a:t>Insertion(</a:t>
            </a:r>
            <a:r>
              <a:rPr lang="en-US" dirty="0" err="1" smtClean="0">
                <a:latin typeface="Times New Roman" pitchFamily="18" charset="0"/>
                <a:cs typeface="Times New Roman" pitchFamily="18" charset="0"/>
              </a:rPr>
              <a:t>enqueue</a:t>
            </a:r>
            <a:r>
              <a:rPr lang="en-US" dirty="0" smtClean="0">
                <a:latin typeface="Times New Roman" pitchFamily="18" charset="0"/>
                <a:cs typeface="Times New Roman" pitchFamily="18" charset="0"/>
              </a:rPr>
              <a:t>) Operation</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410200" y="5486400"/>
            <a:ext cx="838200" cy="307777"/>
          </a:xfrm>
          <a:prstGeom prst="rect">
            <a:avLst/>
          </a:prstGeom>
          <a:noFill/>
        </p:spPr>
        <p:txBody>
          <a:bodyPr wrap="square" rtlCol="0">
            <a:spAutoFit/>
          </a:bodyPr>
          <a:lstStyle/>
          <a:p>
            <a:r>
              <a:rPr lang="en-US" sz="1400" dirty="0" smtClean="0"/>
              <a:t>Front=0</a:t>
            </a:r>
            <a:endParaRPr lang="en-US" sz="1400" dirty="0"/>
          </a:p>
        </p:txBody>
      </p:sp>
      <p:sp>
        <p:nvSpPr>
          <p:cNvPr id="23" name="Right Arrow 22"/>
          <p:cNvSpPr/>
          <p:nvPr/>
        </p:nvSpPr>
        <p:spPr>
          <a:xfrm rot="16200000" flipV="1">
            <a:off x="44958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54864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4343400" y="5486400"/>
            <a:ext cx="838200" cy="307777"/>
          </a:xfrm>
          <a:prstGeom prst="rect">
            <a:avLst/>
          </a:prstGeom>
          <a:noFill/>
        </p:spPr>
        <p:txBody>
          <a:bodyPr wrap="square" rtlCol="0">
            <a:spAutoFit/>
          </a:bodyPr>
          <a:lstStyle/>
          <a:p>
            <a:r>
              <a:rPr lang="en-US" sz="1400" dirty="0" smtClean="0"/>
              <a:t>Rear=1</a:t>
            </a:r>
            <a:endParaRPr lang="en-US" sz="1400" dirty="0"/>
          </a:p>
        </p:txBody>
      </p:sp>
      <p:sp>
        <p:nvSpPr>
          <p:cNvPr id="26" name="TextBox 25"/>
          <p:cNvSpPr txBox="1"/>
          <p:nvPr/>
        </p:nvSpPr>
        <p:spPr>
          <a:xfrm>
            <a:off x="1828800" y="3276600"/>
            <a:ext cx="957250" cy="523220"/>
          </a:xfrm>
          <a:prstGeom prst="rect">
            <a:avLst/>
          </a:prstGeom>
          <a:noFill/>
        </p:spPr>
        <p:txBody>
          <a:bodyPr wrap="square" rtlCol="0">
            <a:spAutoFit/>
          </a:bodyPr>
          <a:lstStyle/>
          <a:p>
            <a:r>
              <a:rPr lang="en-US" dirty="0" smtClean="0"/>
              <a:t>Q[4</a:t>
            </a:r>
            <a:r>
              <a:rPr lang="en-US" sz="2000" dirty="0" smtClean="0"/>
              <a:t>]</a:t>
            </a:r>
            <a:endParaRPr lang="en-US" sz="2000" dirty="0"/>
          </a:p>
        </p:txBody>
      </p:sp>
      <p:sp>
        <p:nvSpPr>
          <p:cNvPr id="27" name="TextBox 26"/>
          <p:cNvSpPr txBox="1"/>
          <p:nvPr/>
        </p:nvSpPr>
        <p:spPr>
          <a:xfrm>
            <a:off x="2667000" y="3276600"/>
            <a:ext cx="976306" cy="52322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05200" y="3257490"/>
            <a:ext cx="995362" cy="523220"/>
          </a:xfrm>
          <a:prstGeom prst="rect">
            <a:avLst/>
          </a:prstGeom>
          <a:noFill/>
        </p:spPr>
        <p:txBody>
          <a:bodyPr wrap="square" rtlCol="0">
            <a:spAutoFit/>
          </a:bodyPr>
          <a:lstStyle/>
          <a:p>
            <a:r>
              <a:rPr lang="en-US" dirty="0" smtClean="0"/>
              <a:t>Q[2]</a:t>
            </a:r>
            <a:endParaRPr lang="en-US" dirty="0"/>
          </a:p>
        </p:txBody>
      </p:sp>
      <p:sp>
        <p:nvSpPr>
          <p:cNvPr id="29" name="TextBox 28"/>
          <p:cNvSpPr txBox="1"/>
          <p:nvPr/>
        </p:nvSpPr>
        <p:spPr>
          <a:xfrm>
            <a:off x="4495800" y="3276600"/>
            <a:ext cx="862018" cy="523220"/>
          </a:xfrm>
          <a:prstGeom prst="rect">
            <a:avLst/>
          </a:prstGeom>
          <a:noFill/>
        </p:spPr>
        <p:txBody>
          <a:bodyPr wrap="square" rtlCol="0">
            <a:spAutoFit/>
          </a:bodyPr>
          <a:lstStyle/>
          <a:p>
            <a:r>
              <a:rPr lang="en-US" dirty="0" smtClean="0"/>
              <a:t>Q[1</a:t>
            </a:r>
            <a:r>
              <a:rPr lang="en-US" sz="2000" dirty="0" smtClean="0"/>
              <a:t>]</a:t>
            </a:r>
            <a:endParaRPr lang="en-US" sz="2000" dirty="0"/>
          </a:p>
        </p:txBody>
      </p:sp>
      <p:sp>
        <p:nvSpPr>
          <p:cNvPr id="30" name="TextBox 29"/>
          <p:cNvSpPr txBox="1"/>
          <p:nvPr/>
        </p:nvSpPr>
        <p:spPr>
          <a:xfrm>
            <a:off x="5334000" y="3276600"/>
            <a:ext cx="881074" cy="523220"/>
          </a:xfrm>
          <a:prstGeom prst="rect">
            <a:avLst/>
          </a:prstGeom>
          <a:noFill/>
        </p:spPr>
        <p:txBody>
          <a:bodyPr wrap="square" rtlCol="0">
            <a:spAutoFit/>
          </a:bodyPr>
          <a:lstStyle/>
          <a:p>
            <a:r>
              <a:rPr lang="en-US" dirty="0" smtClean="0"/>
              <a:t>Q[0</a:t>
            </a:r>
            <a:r>
              <a:rPr lang="en-US" sz="2000" dirty="0" smtClean="0"/>
              <a:t>]</a:t>
            </a:r>
            <a:endParaRPr lang="en-US" sz="2000" dirty="0"/>
          </a:p>
        </p:txBody>
      </p:sp>
      <p:sp>
        <p:nvSpPr>
          <p:cNvPr id="22" name="TextBox 21"/>
          <p:cNvSpPr txBox="1"/>
          <p:nvPr/>
        </p:nvSpPr>
        <p:spPr>
          <a:xfrm>
            <a:off x="5486400" y="4038600"/>
            <a:ext cx="609600" cy="461665"/>
          </a:xfrm>
          <a:prstGeom prst="rect">
            <a:avLst/>
          </a:prstGeom>
          <a:noFill/>
        </p:spPr>
        <p:txBody>
          <a:bodyPr wrap="square" rtlCol="0">
            <a:spAutoFit/>
          </a:bodyPr>
          <a:lstStyle/>
          <a:p>
            <a:r>
              <a:rPr lang="en-US" sz="2400" dirty="0" smtClean="0">
                <a:solidFill>
                  <a:srgbClr val="7030A0"/>
                </a:solidFill>
              </a:rPr>
              <a:t>10</a:t>
            </a:r>
            <a:endParaRPr lang="en-US" sz="2400" dirty="0">
              <a:solidFill>
                <a:srgbClr val="7030A0"/>
              </a:solidFill>
            </a:endParaRPr>
          </a:p>
        </p:txBody>
      </p:sp>
      <p:sp>
        <p:nvSpPr>
          <p:cNvPr id="31" name="TextBox 30"/>
          <p:cNvSpPr txBox="1"/>
          <p:nvPr/>
        </p:nvSpPr>
        <p:spPr>
          <a:xfrm>
            <a:off x="685800" y="1371600"/>
            <a:ext cx="3810000" cy="1384995"/>
          </a:xfrm>
          <a:prstGeom prst="rect">
            <a:avLst/>
          </a:prstGeom>
          <a:noFill/>
        </p:spPr>
        <p:txBody>
          <a:bodyPr wrap="square" rtlCol="0">
            <a:spAutoFit/>
          </a:bodyPr>
          <a:lstStyle/>
          <a:p>
            <a:endParaRPr lang="en-US" dirty="0" smtClean="0"/>
          </a:p>
          <a:p>
            <a:endParaRPr lang="en-US" dirty="0" smtClean="0"/>
          </a:p>
          <a:p>
            <a:r>
              <a:rPr lang="en-US" dirty="0" smtClean="0"/>
              <a:t>Insert 20</a:t>
            </a:r>
            <a:endParaRPr lang="en-US" dirty="0"/>
          </a:p>
        </p:txBody>
      </p:sp>
      <p:sp>
        <p:nvSpPr>
          <p:cNvPr id="32" name="TextBox 31"/>
          <p:cNvSpPr txBox="1"/>
          <p:nvPr/>
        </p:nvSpPr>
        <p:spPr>
          <a:xfrm>
            <a:off x="4495800" y="4038600"/>
            <a:ext cx="609600" cy="461665"/>
          </a:xfrm>
          <a:prstGeom prst="rect">
            <a:avLst/>
          </a:prstGeom>
          <a:noFill/>
        </p:spPr>
        <p:txBody>
          <a:bodyPr wrap="square" rtlCol="0">
            <a:spAutoFit/>
          </a:bodyPr>
          <a:lstStyle/>
          <a:p>
            <a:r>
              <a:rPr lang="en-US" sz="2400" dirty="0" smtClean="0">
                <a:solidFill>
                  <a:srgbClr val="7030A0"/>
                </a:solidFill>
              </a:rPr>
              <a:t>20</a:t>
            </a:r>
            <a:endParaRPr lang="en-US" sz="2400" dirty="0">
              <a:solidFill>
                <a:srgbClr val="7030A0"/>
              </a:solidFill>
            </a:endParaRPr>
          </a:p>
        </p:txBody>
      </p:sp>
      <p:sp>
        <p:nvSpPr>
          <p:cNvPr id="36" name="Slide Number Placeholder 35"/>
          <p:cNvSpPr>
            <a:spLocks noGrp="1"/>
          </p:cNvSpPr>
          <p:nvPr>
            <p:ph type="sldNum" sz="quarter" idx="12"/>
          </p:nvPr>
        </p:nvSpPr>
        <p:spPr/>
        <p:txBody>
          <a:bodyPr/>
          <a:lstStyle/>
          <a:p>
            <a:fld id="{74E22635-7FE9-4421-97F1-05CE0EFEF615}" type="slidenum">
              <a:rPr lang="en-US" altLang="en-US" smtClean="0"/>
              <a:pPr/>
              <a:t>13</a:t>
            </a:fld>
            <a:endParaRPr lang="en-US" altLang="en-US"/>
          </a:p>
        </p:txBody>
      </p:sp>
      <p:sp>
        <p:nvSpPr>
          <p:cNvPr id="33" name="Title 32"/>
          <p:cNvSpPr>
            <a:spLocks noGrp="1"/>
          </p:cNvSpPr>
          <p:nvPr>
            <p:ph type="title"/>
          </p:nvPr>
        </p:nvSpPr>
        <p:spPr>
          <a:xfrm>
            <a:off x="1071538" y="122238"/>
            <a:ext cx="6929462" cy="1295400"/>
          </a:xfrm>
        </p:spPr>
        <p:txBody>
          <a:bodyPr/>
          <a:lstStyle/>
          <a:p>
            <a:r>
              <a:rPr lang="en-US" dirty="0" smtClean="0">
                <a:latin typeface="Times New Roman" pitchFamily="18" charset="0"/>
                <a:cs typeface="Times New Roman" pitchFamily="18" charset="0"/>
              </a:rPr>
              <a:t>Insertion(</a:t>
            </a:r>
            <a:r>
              <a:rPr lang="en-US" dirty="0" err="1" smtClean="0">
                <a:latin typeface="Times New Roman" pitchFamily="18" charset="0"/>
                <a:cs typeface="Times New Roman" pitchFamily="18" charset="0"/>
              </a:rPr>
              <a:t>enqueue</a:t>
            </a:r>
            <a:r>
              <a:rPr lang="en-US" dirty="0" smtClean="0">
                <a:latin typeface="Times New Roman" pitchFamily="18" charset="0"/>
                <a:cs typeface="Times New Roman" pitchFamily="18" charset="0"/>
              </a:rPr>
              <a:t>) Operation</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334000" y="5486400"/>
            <a:ext cx="838200" cy="307777"/>
          </a:xfrm>
          <a:prstGeom prst="rect">
            <a:avLst/>
          </a:prstGeom>
          <a:noFill/>
        </p:spPr>
        <p:txBody>
          <a:bodyPr wrap="square" rtlCol="0">
            <a:spAutoFit/>
          </a:bodyPr>
          <a:lstStyle/>
          <a:p>
            <a:r>
              <a:rPr lang="en-US" sz="1400" dirty="0" smtClean="0"/>
              <a:t>Front=0</a:t>
            </a:r>
            <a:endParaRPr lang="en-US" sz="1400" dirty="0"/>
          </a:p>
        </p:txBody>
      </p:sp>
      <p:sp>
        <p:nvSpPr>
          <p:cNvPr id="23" name="Right Arrow 22"/>
          <p:cNvSpPr/>
          <p:nvPr/>
        </p:nvSpPr>
        <p:spPr>
          <a:xfrm rot="16200000" flipV="1">
            <a:off x="35814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54864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3505200" y="5486400"/>
            <a:ext cx="838200" cy="307777"/>
          </a:xfrm>
          <a:prstGeom prst="rect">
            <a:avLst/>
          </a:prstGeom>
          <a:noFill/>
        </p:spPr>
        <p:txBody>
          <a:bodyPr wrap="square" rtlCol="0">
            <a:spAutoFit/>
          </a:bodyPr>
          <a:lstStyle/>
          <a:p>
            <a:r>
              <a:rPr lang="en-US" sz="1400" dirty="0" smtClean="0"/>
              <a:t>Rear=2</a:t>
            </a:r>
            <a:endParaRPr lang="en-US" sz="1400" dirty="0"/>
          </a:p>
        </p:txBody>
      </p:sp>
      <p:sp>
        <p:nvSpPr>
          <p:cNvPr id="26" name="TextBox 25"/>
          <p:cNvSpPr txBox="1"/>
          <p:nvPr/>
        </p:nvSpPr>
        <p:spPr>
          <a:xfrm>
            <a:off x="1828800" y="3276600"/>
            <a:ext cx="1028688" cy="523220"/>
          </a:xfrm>
          <a:prstGeom prst="rect">
            <a:avLst/>
          </a:prstGeom>
          <a:noFill/>
        </p:spPr>
        <p:txBody>
          <a:bodyPr wrap="square" rtlCol="0">
            <a:spAutoFit/>
          </a:bodyPr>
          <a:lstStyle/>
          <a:p>
            <a:r>
              <a:rPr lang="en-US" dirty="0" smtClean="0"/>
              <a:t>Q[4</a:t>
            </a:r>
            <a:r>
              <a:rPr lang="en-US" sz="2000" dirty="0" smtClean="0"/>
              <a:t>]</a:t>
            </a:r>
            <a:endParaRPr lang="en-US" sz="2000" dirty="0"/>
          </a:p>
        </p:txBody>
      </p:sp>
      <p:sp>
        <p:nvSpPr>
          <p:cNvPr id="27" name="TextBox 26"/>
          <p:cNvSpPr txBox="1"/>
          <p:nvPr/>
        </p:nvSpPr>
        <p:spPr>
          <a:xfrm>
            <a:off x="2667000" y="3276600"/>
            <a:ext cx="976306" cy="52322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81400" y="3257490"/>
            <a:ext cx="919162" cy="523220"/>
          </a:xfrm>
          <a:prstGeom prst="rect">
            <a:avLst/>
          </a:prstGeom>
          <a:noFill/>
        </p:spPr>
        <p:txBody>
          <a:bodyPr wrap="square" rtlCol="0">
            <a:spAutoFit/>
          </a:bodyPr>
          <a:lstStyle/>
          <a:p>
            <a:r>
              <a:rPr lang="en-US" dirty="0" smtClean="0"/>
              <a:t>Q[2</a:t>
            </a:r>
            <a:r>
              <a:rPr lang="en-US" sz="2000" dirty="0" smtClean="0"/>
              <a:t>]</a:t>
            </a:r>
            <a:endParaRPr lang="en-US" sz="2000" dirty="0"/>
          </a:p>
        </p:txBody>
      </p:sp>
      <p:sp>
        <p:nvSpPr>
          <p:cNvPr id="29" name="TextBox 28"/>
          <p:cNvSpPr txBox="1"/>
          <p:nvPr/>
        </p:nvSpPr>
        <p:spPr>
          <a:xfrm>
            <a:off x="4495800" y="3257490"/>
            <a:ext cx="933456" cy="523220"/>
          </a:xfrm>
          <a:prstGeom prst="rect">
            <a:avLst/>
          </a:prstGeom>
          <a:noFill/>
        </p:spPr>
        <p:txBody>
          <a:bodyPr wrap="square" rtlCol="0">
            <a:spAutoFit/>
          </a:bodyPr>
          <a:lstStyle/>
          <a:p>
            <a:r>
              <a:rPr lang="en-US" dirty="0" smtClean="0"/>
              <a:t>Q[1]</a:t>
            </a:r>
            <a:endParaRPr lang="en-US" dirty="0"/>
          </a:p>
        </p:txBody>
      </p:sp>
      <p:sp>
        <p:nvSpPr>
          <p:cNvPr id="30" name="TextBox 29"/>
          <p:cNvSpPr txBox="1"/>
          <p:nvPr/>
        </p:nvSpPr>
        <p:spPr>
          <a:xfrm>
            <a:off x="5334000" y="3257490"/>
            <a:ext cx="1023950" cy="523220"/>
          </a:xfrm>
          <a:prstGeom prst="rect">
            <a:avLst/>
          </a:prstGeom>
          <a:noFill/>
        </p:spPr>
        <p:txBody>
          <a:bodyPr wrap="square" rtlCol="0">
            <a:spAutoFit/>
          </a:bodyPr>
          <a:lstStyle/>
          <a:p>
            <a:r>
              <a:rPr lang="en-US" dirty="0" smtClean="0"/>
              <a:t>Q[0]</a:t>
            </a:r>
            <a:endParaRPr lang="en-US" dirty="0"/>
          </a:p>
        </p:txBody>
      </p:sp>
      <p:sp>
        <p:nvSpPr>
          <p:cNvPr id="22" name="TextBox 21"/>
          <p:cNvSpPr txBox="1"/>
          <p:nvPr/>
        </p:nvSpPr>
        <p:spPr>
          <a:xfrm>
            <a:off x="5486400" y="4038600"/>
            <a:ext cx="609600" cy="461665"/>
          </a:xfrm>
          <a:prstGeom prst="rect">
            <a:avLst/>
          </a:prstGeom>
          <a:noFill/>
        </p:spPr>
        <p:txBody>
          <a:bodyPr wrap="square" rtlCol="0">
            <a:spAutoFit/>
          </a:bodyPr>
          <a:lstStyle/>
          <a:p>
            <a:r>
              <a:rPr lang="en-US" sz="2400" dirty="0" smtClean="0">
                <a:solidFill>
                  <a:srgbClr val="7030A0"/>
                </a:solidFill>
              </a:rPr>
              <a:t>10</a:t>
            </a:r>
            <a:endParaRPr lang="en-US" sz="2400" dirty="0">
              <a:solidFill>
                <a:srgbClr val="7030A0"/>
              </a:solidFill>
            </a:endParaRPr>
          </a:p>
        </p:txBody>
      </p:sp>
      <p:sp>
        <p:nvSpPr>
          <p:cNvPr id="31" name="TextBox 30"/>
          <p:cNvSpPr txBox="1"/>
          <p:nvPr/>
        </p:nvSpPr>
        <p:spPr>
          <a:xfrm>
            <a:off x="685800" y="1371600"/>
            <a:ext cx="3810000" cy="1384995"/>
          </a:xfrm>
          <a:prstGeom prst="rect">
            <a:avLst/>
          </a:prstGeom>
          <a:noFill/>
        </p:spPr>
        <p:txBody>
          <a:bodyPr wrap="square" rtlCol="0">
            <a:spAutoFit/>
          </a:bodyPr>
          <a:lstStyle/>
          <a:p>
            <a:endParaRPr lang="en-US" dirty="0" smtClean="0"/>
          </a:p>
          <a:p>
            <a:endParaRPr lang="en-US" dirty="0" smtClean="0"/>
          </a:p>
          <a:p>
            <a:r>
              <a:rPr lang="en-US" dirty="0" smtClean="0"/>
              <a:t>Insert 30</a:t>
            </a:r>
            <a:endParaRPr lang="en-US" dirty="0"/>
          </a:p>
        </p:txBody>
      </p:sp>
      <p:sp>
        <p:nvSpPr>
          <p:cNvPr id="32" name="TextBox 31"/>
          <p:cNvSpPr txBox="1"/>
          <p:nvPr/>
        </p:nvSpPr>
        <p:spPr>
          <a:xfrm>
            <a:off x="4495800" y="4038600"/>
            <a:ext cx="609600" cy="461665"/>
          </a:xfrm>
          <a:prstGeom prst="rect">
            <a:avLst/>
          </a:prstGeom>
          <a:noFill/>
        </p:spPr>
        <p:txBody>
          <a:bodyPr wrap="square" rtlCol="0">
            <a:spAutoFit/>
          </a:bodyPr>
          <a:lstStyle/>
          <a:p>
            <a:r>
              <a:rPr lang="en-US" sz="2400" dirty="0" smtClean="0">
                <a:solidFill>
                  <a:srgbClr val="7030A0"/>
                </a:solidFill>
              </a:rPr>
              <a:t>20</a:t>
            </a:r>
            <a:endParaRPr lang="en-US" sz="2400" dirty="0">
              <a:solidFill>
                <a:srgbClr val="7030A0"/>
              </a:solidFill>
            </a:endParaRPr>
          </a:p>
        </p:txBody>
      </p:sp>
      <p:sp>
        <p:nvSpPr>
          <p:cNvPr id="33" name="TextBox 32"/>
          <p:cNvSpPr txBox="1"/>
          <p:nvPr/>
        </p:nvSpPr>
        <p:spPr>
          <a:xfrm>
            <a:off x="3657600" y="4038600"/>
            <a:ext cx="609600" cy="461665"/>
          </a:xfrm>
          <a:prstGeom prst="rect">
            <a:avLst/>
          </a:prstGeom>
          <a:noFill/>
        </p:spPr>
        <p:txBody>
          <a:bodyPr wrap="square" rtlCol="0">
            <a:spAutoFit/>
          </a:bodyPr>
          <a:lstStyle/>
          <a:p>
            <a:r>
              <a:rPr lang="en-US" sz="2400" dirty="0" smtClean="0">
                <a:solidFill>
                  <a:srgbClr val="7030A0"/>
                </a:solidFill>
              </a:rPr>
              <a:t>30</a:t>
            </a:r>
            <a:endParaRPr lang="en-US" sz="2400" dirty="0">
              <a:solidFill>
                <a:srgbClr val="7030A0"/>
              </a:solidFill>
            </a:endParaRPr>
          </a:p>
        </p:txBody>
      </p:sp>
      <p:sp>
        <p:nvSpPr>
          <p:cNvPr id="37" name="Slide Number Placeholder 36"/>
          <p:cNvSpPr>
            <a:spLocks noGrp="1"/>
          </p:cNvSpPr>
          <p:nvPr>
            <p:ph type="sldNum" sz="quarter" idx="12"/>
          </p:nvPr>
        </p:nvSpPr>
        <p:spPr/>
        <p:txBody>
          <a:bodyPr/>
          <a:lstStyle/>
          <a:p>
            <a:fld id="{74E22635-7FE9-4421-97F1-05CE0EFEF615}" type="slidenum">
              <a:rPr lang="en-US" altLang="en-US" smtClean="0"/>
              <a:pPr/>
              <a:t>14</a:t>
            </a:fld>
            <a:endParaRPr lang="en-US" altLang="en-US"/>
          </a:p>
        </p:txBody>
      </p:sp>
      <p:sp>
        <p:nvSpPr>
          <p:cNvPr id="34" name="Title 33"/>
          <p:cNvSpPr>
            <a:spLocks noGrp="1"/>
          </p:cNvSpPr>
          <p:nvPr>
            <p:ph type="title"/>
          </p:nvPr>
        </p:nvSpPr>
        <p:spPr>
          <a:xfrm>
            <a:off x="1071538" y="122238"/>
            <a:ext cx="6929462" cy="1295400"/>
          </a:xfrm>
        </p:spPr>
        <p:txBody>
          <a:bodyPr/>
          <a:lstStyle/>
          <a:p>
            <a:r>
              <a:rPr lang="en-US" dirty="0" smtClean="0">
                <a:latin typeface="Times New Roman" pitchFamily="18" charset="0"/>
                <a:cs typeface="Times New Roman" pitchFamily="18" charset="0"/>
              </a:rPr>
              <a:t>Insertion(</a:t>
            </a:r>
            <a:r>
              <a:rPr lang="en-US" dirty="0" err="1" smtClean="0">
                <a:latin typeface="Times New Roman" pitchFamily="18" charset="0"/>
                <a:cs typeface="Times New Roman" pitchFamily="18" charset="0"/>
              </a:rPr>
              <a:t>enqueue</a:t>
            </a:r>
            <a:r>
              <a:rPr lang="en-US" dirty="0" smtClean="0">
                <a:latin typeface="Times New Roman" pitchFamily="18" charset="0"/>
                <a:cs typeface="Times New Roman" pitchFamily="18" charset="0"/>
              </a:rPr>
              <a:t>) Operation</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334000" y="5486400"/>
            <a:ext cx="838200" cy="307777"/>
          </a:xfrm>
          <a:prstGeom prst="rect">
            <a:avLst/>
          </a:prstGeom>
          <a:noFill/>
        </p:spPr>
        <p:txBody>
          <a:bodyPr wrap="square" rtlCol="0">
            <a:spAutoFit/>
          </a:bodyPr>
          <a:lstStyle/>
          <a:p>
            <a:r>
              <a:rPr lang="en-US" sz="1400" dirty="0" smtClean="0"/>
              <a:t>Front=0</a:t>
            </a:r>
            <a:endParaRPr lang="en-US" sz="1400" dirty="0"/>
          </a:p>
        </p:txBody>
      </p:sp>
      <p:sp>
        <p:nvSpPr>
          <p:cNvPr id="23" name="Right Arrow 22"/>
          <p:cNvSpPr/>
          <p:nvPr/>
        </p:nvSpPr>
        <p:spPr>
          <a:xfrm rot="16200000" flipV="1">
            <a:off x="26670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54864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2590800" y="5486400"/>
            <a:ext cx="838200" cy="307777"/>
          </a:xfrm>
          <a:prstGeom prst="rect">
            <a:avLst/>
          </a:prstGeom>
          <a:noFill/>
        </p:spPr>
        <p:txBody>
          <a:bodyPr wrap="square" rtlCol="0">
            <a:spAutoFit/>
          </a:bodyPr>
          <a:lstStyle/>
          <a:p>
            <a:r>
              <a:rPr lang="en-US" sz="1400" dirty="0" smtClean="0"/>
              <a:t>Rear=3</a:t>
            </a:r>
            <a:endParaRPr lang="en-US" sz="1400" dirty="0"/>
          </a:p>
        </p:txBody>
      </p:sp>
      <p:sp>
        <p:nvSpPr>
          <p:cNvPr id="26" name="TextBox 25"/>
          <p:cNvSpPr txBox="1"/>
          <p:nvPr/>
        </p:nvSpPr>
        <p:spPr>
          <a:xfrm>
            <a:off x="1828800" y="3276600"/>
            <a:ext cx="1028688" cy="523220"/>
          </a:xfrm>
          <a:prstGeom prst="rect">
            <a:avLst/>
          </a:prstGeom>
          <a:noFill/>
        </p:spPr>
        <p:txBody>
          <a:bodyPr wrap="square" rtlCol="0">
            <a:spAutoFit/>
          </a:bodyPr>
          <a:lstStyle/>
          <a:p>
            <a:r>
              <a:rPr lang="en-US" dirty="0" smtClean="0"/>
              <a:t>Q[4</a:t>
            </a:r>
            <a:r>
              <a:rPr lang="en-US" sz="2000" dirty="0" smtClean="0"/>
              <a:t>]</a:t>
            </a:r>
            <a:endParaRPr lang="en-US" sz="2000" dirty="0"/>
          </a:p>
        </p:txBody>
      </p:sp>
      <p:sp>
        <p:nvSpPr>
          <p:cNvPr id="27" name="TextBox 26"/>
          <p:cNvSpPr txBox="1"/>
          <p:nvPr/>
        </p:nvSpPr>
        <p:spPr>
          <a:xfrm>
            <a:off x="2667000" y="3276600"/>
            <a:ext cx="976306" cy="52322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81400" y="3257490"/>
            <a:ext cx="919162" cy="523220"/>
          </a:xfrm>
          <a:prstGeom prst="rect">
            <a:avLst/>
          </a:prstGeom>
          <a:noFill/>
        </p:spPr>
        <p:txBody>
          <a:bodyPr wrap="square" rtlCol="0">
            <a:spAutoFit/>
          </a:bodyPr>
          <a:lstStyle/>
          <a:p>
            <a:r>
              <a:rPr lang="en-US" dirty="0" smtClean="0"/>
              <a:t>Q[2]</a:t>
            </a:r>
            <a:endParaRPr lang="en-US" dirty="0"/>
          </a:p>
        </p:txBody>
      </p:sp>
      <p:sp>
        <p:nvSpPr>
          <p:cNvPr id="29" name="TextBox 28"/>
          <p:cNvSpPr txBox="1"/>
          <p:nvPr/>
        </p:nvSpPr>
        <p:spPr>
          <a:xfrm>
            <a:off x="4495800" y="3257490"/>
            <a:ext cx="933456" cy="523220"/>
          </a:xfrm>
          <a:prstGeom prst="rect">
            <a:avLst/>
          </a:prstGeom>
          <a:noFill/>
        </p:spPr>
        <p:txBody>
          <a:bodyPr wrap="square" rtlCol="0">
            <a:spAutoFit/>
          </a:bodyPr>
          <a:lstStyle/>
          <a:p>
            <a:r>
              <a:rPr lang="en-US" dirty="0" smtClean="0"/>
              <a:t>Q[1]</a:t>
            </a:r>
            <a:endParaRPr lang="en-US" dirty="0"/>
          </a:p>
        </p:txBody>
      </p:sp>
      <p:sp>
        <p:nvSpPr>
          <p:cNvPr id="30" name="TextBox 29"/>
          <p:cNvSpPr txBox="1"/>
          <p:nvPr/>
        </p:nvSpPr>
        <p:spPr>
          <a:xfrm>
            <a:off x="5334000" y="3257490"/>
            <a:ext cx="1023950" cy="523220"/>
          </a:xfrm>
          <a:prstGeom prst="rect">
            <a:avLst/>
          </a:prstGeom>
          <a:noFill/>
        </p:spPr>
        <p:txBody>
          <a:bodyPr wrap="square" rtlCol="0">
            <a:spAutoFit/>
          </a:bodyPr>
          <a:lstStyle/>
          <a:p>
            <a:r>
              <a:rPr lang="en-US" dirty="0" smtClean="0"/>
              <a:t>Q[0</a:t>
            </a:r>
            <a:r>
              <a:rPr lang="en-US" sz="2000" dirty="0" smtClean="0"/>
              <a:t>]</a:t>
            </a:r>
            <a:endParaRPr lang="en-US" sz="2000" dirty="0"/>
          </a:p>
        </p:txBody>
      </p:sp>
      <p:sp>
        <p:nvSpPr>
          <p:cNvPr id="22" name="TextBox 21"/>
          <p:cNvSpPr txBox="1"/>
          <p:nvPr/>
        </p:nvSpPr>
        <p:spPr>
          <a:xfrm>
            <a:off x="5486400" y="4038600"/>
            <a:ext cx="609600" cy="461665"/>
          </a:xfrm>
          <a:prstGeom prst="rect">
            <a:avLst/>
          </a:prstGeom>
          <a:noFill/>
        </p:spPr>
        <p:txBody>
          <a:bodyPr wrap="square" rtlCol="0">
            <a:spAutoFit/>
          </a:bodyPr>
          <a:lstStyle/>
          <a:p>
            <a:r>
              <a:rPr lang="en-US" sz="2400" dirty="0" smtClean="0">
                <a:solidFill>
                  <a:srgbClr val="7030A0"/>
                </a:solidFill>
              </a:rPr>
              <a:t>10</a:t>
            </a:r>
            <a:endParaRPr lang="en-US" sz="2400" dirty="0">
              <a:solidFill>
                <a:srgbClr val="7030A0"/>
              </a:solidFill>
            </a:endParaRPr>
          </a:p>
        </p:txBody>
      </p:sp>
      <p:sp>
        <p:nvSpPr>
          <p:cNvPr id="31" name="TextBox 30"/>
          <p:cNvSpPr txBox="1"/>
          <p:nvPr/>
        </p:nvSpPr>
        <p:spPr>
          <a:xfrm>
            <a:off x="685800" y="1371600"/>
            <a:ext cx="3810000" cy="1384995"/>
          </a:xfrm>
          <a:prstGeom prst="rect">
            <a:avLst/>
          </a:prstGeom>
          <a:noFill/>
        </p:spPr>
        <p:txBody>
          <a:bodyPr wrap="square" rtlCol="0">
            <a:spAutoFit/>
          </a:bodyPr>
          <a:lstStyle/>
          <a:p>
            <a:endParaRPr lang="en-US" dirty="0" smtClean="0"/>
          </a:p>
          <a:p>
            <a:endParaRPr lang="en-US" dirty="0" smtClean="0"/>
          </a:p>
          <a:p>
            <a:r>
              <a:rPr lang="en-US" dirty="0" smtClean="0"/>
              <a:t>Insert 40</a:t>
            </a:r>
            <a:endParaRPr lang="en-US" dirty="0"/>
          </a:p>
        </p:txBody>
      </p:sp>
      <p:sp>
        <p:nvSpPr>
          <p:cNvPr id="32" name="TextBox 31"/>
          <p:cNvSpPr txBox="1"/>
          <p:nvPr/>
        </p:nvSpPr>
        <p:spPr>
          <a:xfrm>
            <a:off x="4495800" y="4038600"/>
            <a:ext cx="609600" cy="461665"/>
          </a:xfrm>
          <a:prstGeom prst="rect">
            <a:avLst/>
          </a:prstGeom>
          <a:noFill/>
        </p:spPr>
        <p:txBody>
          <a:bodyPr wrap="square" rtlCol="0">
            <a:spAutoFit/>
          </a:bodyPr>
          <a:lstStyle/>
          <a:p>
            <a:r>
              <a:rPr lang="en-US" sz="2400" dirty="0" smtClean="0">
                <a:solidFill>
                  <a:srgbClr val="7030A0"/>
                </a:solidFill>
              </a:rPr>
              <a:t>20</a:t>
            </a:r>
            <a:endParaRPr lang="en-US" sz="2400" dirty="0">
              <a:solidFill>
                <a:srgbClr val="7030A0"/>
              </a:solidFill>
            </a:endParaRPr>
          </a:p>
        </p:txBody>
      </p:sp>
      <p:sp>
        <p:nvSpPr>
          <p:cNvPr id="33" name="TextBox 32"/>
          <p:cNvSpPr txBox="1"/>
          <p:nvPr/>
        </p:nvSpPr>
        <p:spPr>
          <a:xfrm>
            <a:off x="3657600" y="4038600"/>
            <a:ext cx="609600" cy="461665"/>
          </a:xfrm>
          <a:prstGeom prst="rect">
            <a:avLst/>
          </a:prstGeom>
          <a:noFill/>
        </p:spPr>
        <p:txBody>
          <a:bodyPr wrap="square" rtlCol="0">
            <a:spAutoFit/>
          </a:bodyPr>
          <a:lstStyle/>
          <a:p>
            <a:r>
              <a:rPr lang="en-US" sz="2400" dirty="0" smtClean="0">
                <a:solidFill>
                  <a:srgbClr val="7030A0"/>
                </a:solidFill>
              </a:rPr>
              <a:t>30</a:t>
            </a:r>
            <a:endParaRPr lang="en-US" sz="2400" dirty="0">
              <a:solidFill>
                <a:srgbClr val="7030A0"/>
              </a:solidFill>
            </a:endParaRPr>
          </a:p>
        </p:txBody>
      </p:sp>
      <p:sp>
        <p:nvSpPr>
          <p:cNvPr id="34" name="TextBox 33"/>
          <p:cNvSpPr txBox="1"/>
          <p:nvPr/>
        </p:nvSpPr>
        <p:spPr>
          <a:xfrm>
            <a:off x="2743200" y="4038600"/>
            <a:ext cx="609600" cy="461665"/>
          </a:xfrm>
          <a:prstGeom prst="rect">
            <a:avLst/>
          </a:prstGeom>
          <a:noFill/>
        </p:spPr>
        <p:txBody>
          <a:bodyPr wrap="square" rtlCol="0">
            <a:spAutoFit/>
          </a:bodyPr>
          <a:lstStyle/>
          <a:p>
            <a:r>
              <a:rPr lang="en-US" sz="2400" dirty="0" smtClean="0">
                <a:solidFill>
                  <a:srgbClr val="7030A0"/>
                </a:solidFill>
              </a:rPr>
              <a:t>40</a:t>
            </a:r>
            <a:endParaRPr lang="en-US" sz="2400" dirty="0">
              <a:solidFill>
                <a:srgbClr val="7030A0"/>
              </a:solidFill>
            </a:endParaRPr>
          </a:p>
        </p:txBody>
      </p:sp>
      <p:sp>
        <p:nvSpPr>
          <p:cNvPr id="38" name="Slide Number Placeholder 37"/>
          <p:cNvSpPr>
            <a:spLocks noGrp="1"/>
          </p:cNvSpPr>
          <p:nvPr>
            <p:ph type="sldNum" sz="quarter" idx="12"/>
          </p:nvPr>
        </p:nvSpPr>
        <p:spPr/>
        <p:txBody>
          <a:bodyPr/>
          <a:lstStyle/>
          <a:p>
            <a:fld id="{74E22635-7FE9-4421-97F1-05CE0EFEF615}" type="slidenum">
              <a:rPr lang="en-US" altLang="en-US" smtClean="0"/>
              <a:pPr/>
              <a:t>15</a:t>
            </a:fld>
            <a:endParaRPr lang="en-US" altLang="en-US"/>
          </a:p>
        </p:txBody>
      </p:sp>
      <p:sp>
        <p:nvSpPr>
          <p:cNvPr id="35" name="Title 34"/>
          <p:cNvSpPr>
            <a:spLocks noGrp="1"/>
          </p:cNvSpPr>
          <p:nvPr>
            <p:ph type="title"/>
          </p:nvPr>
        </p:nvSpPr>
        <p:spPr>
          <a:xfrm>
            <a:off x="1071538" y="122238"/>
            <a:ext cx="6929462" cy="1295400"/>
          </a:xfrm>
        </p:spPr>
        <p:txBody>
          <a:bodyPr/>
          <a:lstStyle/>
          <a:p>
            <a:r>
              <a:rPr lang="en-US" dirty="0" smtClean="0">
                <a:latin typeface="Times New Roman" pitchFamily="18" charset="0"/>
                <a:cs typeface="Times New Roman" pitchFamily="18" charset="0"/>
              </a:rPr>
              <a:t>Insertion(</a:t>
            </a:r>
            <a:r>
              <a:rPr lang="en-US" dirty="0" err="1" smtClean="0">
                <a:latin typeface="Times New Roman" pitchFamily="18" charset="0"/>
                <a:cs typeface="Times New Roman" pitchFamily="18" charset="0"/>
              </a:rPr>
              <a:t>enqueue</a:t>
            </a:r>
            <a:r>
              <a:rPr lang="en-US" dirty="0" smtClean="0">
                <a:latin typeface="Times New Roman" pitchFamily="18" charset="0"/>
                <a:cs typeface="Times New Roman" pitchFamily="18" charset="0"/>
              </a:rPr>
              <a:t>) Operation</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334000" y="5486400"/>
            <a:ext cx="838200" cy="307777"/>
          </a:xfrm>
          <a:prstGeom prst="rect">
            <a:avLst/>
          </a:prstGeom>
          <a:noFill/>
        </p:spPr>
        <p:txBody>
          <a:bodyPr wrap="square" rtlCol="0">
            <a:spAutoFit/>
          </a:bodyPr>
          <a:lstStyle/>
          <a:p>
            <a:r>
              <a:rPr lang="en-US" sz="1400" dirty="0" smtClean="0"/>
              <a:t>Front=0</a:t>
            </a:r>
            <a:endParaRPr lang="en-US" sz="1400" dirty="0"/>
          </a:p>
        </p:txBody>
      </p:sp>
      <p:sp>
        <p:nvSpPr>
          <p:cNvPr id="23" name="Right Arrow 22"/>
          <p:cNvSpPr/>
          <p:nvPr/>
        </p:nvSpPr>
        <p:spPr>
          <a:xfrm rot="16200000" flipV="1">
            <a:off x="1905001"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54864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1828800" y="5486400"/>
            <a:ext cx="838200" cy="307777"/>
          </a:xfrm>
          <a:prstGeom prst="rect">
            <a:avLst/>
          </a:prstGeom>
          <a:noFill/>
        </p:spPr>
        <p:txBody>
          <a:bodyPr wrap="square" rtlCol="0">
            <a:spAutoFit/>
          </a:bodyPr>
          <a:lstStyle/>
          <a:p>
            <a:r>
              <a:rPr lang="en-US" sz="1400" dirty="0" smtClean="0"/>
              <a:t>Rear=4</a:t>
            </a:r>
            <a:endParaRPr lang="en-US" sz="1400" dirty="0"/>
          </a:p>
        </p:txBody>
      </p:sp>
      <p:sp>
        <p:nvSpPr>
          <p:cNvPr id="26" name="TextBox 25"/>
          <p:cNvSpPr txBox="1"/>
          <p:nvPr/>
        </p:nvSpPr>
        <p:spPr>
          <a:xfrm>
            <a:off x="1828800" y="3276600"/>
            <a:ext cx="1028688" cy="523220"/>
          </a:xfrm>
          <a:prstGeom prst="rect">
            <a:avLst/>
          </a:prstGeom>
          <a:noFill/>
        </p:spPr>
        <p:txBody>
          <a:bodyPr wrap="square" rtlCol="0">
            <a:spAutoFit/>
          </a:bodyPr>
          <a:lstStyle/>
          <a:p>
            <a:r>
              <a:rPr lang="en-US" dirty="0" smtClean="0"/>
              <a:t>Q[4</a:t>
            </a:r>
            <a:r>
              <a:rPr lang="en-US" sz="2000" dirty="0" smtClean="0"/>
              <a:t>]</a:t>
            </a:r>
            <a:endParaRPr lang="en-US" sz="2000" dirty="0"/>
          </a:p>
        </p:txBody>
      </p:sp>
      <p:sp>
        <p:nvSpPr>
          <p:cNvPr id="27" name="TextBox 26"/>
          <p:cNvSpPr txBox="1"/>
          <p:nvPr/>
        </p:nvSpPr>
        <p:spPr>
          <a:xfrm>
            <a:off x="2667000" y="3276600"/>
            <a:ext cx="976306" cy="52322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81400" y="3257490"/>
            <a:ext cx="919162" cy="523220"/>
          </a:xfrm>
          <a:prstGeom prst="rect">
            <a:avLst/>
          </a:prstGeom>
          <a:noFill/>
        </p:spPr>
        <p:txBody>
          <a:bodyPr wrap="square" rtlCol="0">
            <a:spAutoFit/>
          </a:bodyPr>
          <a:lstStyle/>
          <a:p>
            <a:r>
              <a:rPr lang="en-US" dirty="0" smtClean="0"/>
              <a:t>Q[2</a:t>
            </a:r>
            <a:r>
              <a:rPr lang="en-US" sz="2000" dirty="0" smtClean="0"/>
              <a:t>]</a:t>
            </a:r>
            <a:endParaRPr lang="en-US" sz="2000" dirty="0"/>
          </a:p>
        </p:txBody>
      </p:sp>
      <p:sp>
        <p:nvSpPr>
          <p:cNvPr id="29" name="TextBox 28"/>
          <p:cNvSpPr txBox="1"/>
          <p:nvPr/>
        </p:nvSpPr>
        <p:spPr>
          <a:xfrm>
            <a:off x="4495800" y="3257490"/>
            <a:ext cx="933456" cy="523220"/>
          </a:xfrm>
          <a:prstGeom prst="rect">
            <a:avLst/>
          </a:prstGeom>
          <a:noFill/>
        </p:spPr>
        <p:txBody>
          <a:bodyPr wrap="square" rtlCol="0">
            <a:spAutoFit/>
          </a:bodyPr>
          <a:lstStyle/>
          <a:p>
            <a:r>
              <a:rPr lang="en-US" dirty="0" smtClean="0"/>
              <a:t>Q[1</a:t>
            </a:r>
            <a:r>
              <a:rPr lang="en-US" sz="2000" dirty="0" smtClean="0"/>
              <a:t>]</a:t>
            </a:r>
            <a:endParaRPr lang="en-US" sz="2000" dirty="0"/>
          </a:p>
        </p:txBody>
      </p:sp>
      <p:sp>
        <p:nvSpPr>
          <p:cNvPr id="30" name="TextBox 29"/>
          <p:cNvSpPr txBox="1"/>
          <p:nvPr/>
        </p:nvSpPr>
        <p:spPr>
          <a:xfrm>
            <a:off x="5334000" y="3257490"/>
            <a:ext cx="1023950" cy="523220"/>
          </a:xfrm>
          <a:prstGeom prst="rect">
            <a:avLst/>
          </a:prstGeom>
          <a:noFill/>
        </p:spPr>
        <p:txBody>
          <a:bodyPr wrap="square" rtlCol="0">
            <a:spAutoFit/>
          </a:bodyPr>
          <a:lstStyle/>
          <a:p>
            <a:r>
              <a:rPr lang="en-US" dirty="0" smtClean="0"/>
              <a:t>Q[0</a:t>
            </a:r>
            <a:r>
              <a:rPr lang="en-US" sz="2000" dirty="0" smtClean="0"/>
              <a:t>]</a:t>
            </a:r>
            <a:endParaRPr lang="en-US" sz="2000" dirty="0"/>
          </a:p>
        </p:txBody>
      </p:sp>
      <p:sp>
        <p:nvSpPr>
          <p:cNvPr id="22" name="TextBox 21"/>
          <p:cNvSpPr txBox="1"/>
          <p:nvPr/>
        </p:nvSpPr>
        <p:spPr>
          <a:xfrm>
            <a:off x="5486400" y="4038600"/>
            <a:ext cx="609600" cy="461665"/>
          </a:xfrm>
          <a:prstGeom prst="rect">
            <a:avLst/>
          </a:prstGeom>
          <a:noFill/>
        </p:spPr>
        <p:txBody>
          <a:bodyPr wrap="square" rtlCol="0">
            <a:spAutoFit/>
          </a:bodyPr>
          <a:lstStyle/>
          <a:p>
            <a:r>
              <a:rPr lang="en-US" sz="2400" dirty="0" smtClean="0">
                <a:solidFill>
                  <a:srgbClr val="7030A0"/>
                </a:solidFill>
              </a:rPr>
              <a:t>10</a:t>
            </a:r>
            <a:endParaRPr lang="en-US" sz="2400" dirty="0">
              <a:solidFill>
                <a:srgbClr val="7030A0"/>
              </a:solidFill>
            </a:endParaRPr>
          </a:p>
        </p:txBody>
      </p:sp>
      <p:sp>
        <p:nvSpPr>
          <p:cNvPr id="31" name="TextBox 30"/>
          <p:cNvSpPr txBox="1"/>
          <p:nvPr/>
        </p:nvSpPr>
        <p:spPr>
          <a:xfrm>
            <a:off x="685800" y="1371600"/>
            <a:ext cx="3810000" cy="1384995"/>
          </a:xfrm>
          <a:prstGeom prst="rect">
            <a:avLst/>
          </a:prstGeom>
          <a:noFill/>
        </p:spPr>
        <p:txBody>
          <a:bodyPr wrap="square" rtlCol="0">
            <a:spAutoFit/>
          </a:bodyPr>
          <a:lstStyle/>
          <a:p>
            <a:endParaRPr lang="en-US" dirty="0" smtClean="0"/>
          </a:p>
          <a:p>
            <a:endParaRPr lang="en-US" dirty="0" smtClean="0"/>
          </a:p>
          <a:p>
            <a:r>
              <a:rPr lang="en-US" dirty="0" smtClean="0"/>
              <a:t>Insert 50</a:t>
            </a:r>
            <a:endParaRPr lang="en-US" dirty="0"/>
          </a:p>
        </p:txBody>
      </p:sp>
      <p:sp>
        <p:nvSpPr>
          <p:cNvPr id="32" name="TextBox 31"/>
          <p:cNvSpPr txBox="1"/>
          <p:nvPr/>
        </p:nvSpPr>
        <p:spPr>
          <a:xfrm>
            <a:off x="4495800" y="4038600"/>
            <a:ext cx="609600" cy="461665"/>
          </a:xfrm>
          <a:prstGeom prst="rect">
            <a:avLst/>
          </a:prstGeom>
          <a:noFill/>
        </p:spPr>
        <p:txBody>
          <a:bodyPr wrap="square" rtlCol="0">
            <a:spAutoFit/>
          </a:bodyPr>
          <a:lstStyle/>
          <a:p>
            <a:r>
              <a:rPr lang="en-US" sz="2400" dirty="0" smtClean="0">
                <a:solidFill>
                  <a:srgbClr val="7030A0"/>
                </a:solidFill>
              </a:rPr>
              <a:t>20</a:t>
            </a:r>
            <a:endParaRPr lang="en-US" sz="2400" dirty="0">
              <a:solidFill>
                <a:srgbClr val="7030A0"/>
              </a:solidFill>
            </a:endParaRPr>
          </a:p>
        </p:txBody>
      </p:sp>
      <p:sp>
        <p:nvSpPr>
          <p:cNvPr id="33" name="TextBox 32"/>
          <p:cNvSpPr txBox="1"/>
          <p:nvPr/>
        </p:nvSpPr>
        <p:spPr>
          <a:xfrm>
            <a:off x="3657600" y="4038600"/>
            <a:ext cx="609600" cy="461665"/>
          </a:xfrm>
          <a:prstGeom prst="rect">
            <a:avLst/>
          </a:prstGeom>
          <a:noFill/>
        </p:spPr>
        <p:txBody>
          <a:bodyPr wrap="square" rtlCol="0">
            <a:spAutoFit/>
          </a:bodyPr>
          <a:lstStyle/>
          <a:p>
            <a:r>
              <a:rPr lang="en-US" sz="2400" dirty="0" smtClean="0">
                <a:solidFill>
                  <a:srgbClr val="7030A0"/>
                </a:solidFill>
              </a:rPr>
              <a:t>30</a:t>
            </a:r>
            <a:endParaRPr lang="en-US" sz="2400" dirty="0">
              <a:solidFill>
                <a:srgbClr val="7030A0"/>
              </a:solidFill>
            </a:endParaRPr>
          </a:p>
        </p:txBody>
      </p:sp>
      <p:sp>
        <p:nvSpPr>
          <p:cNvPr id="34" name="TextBox 33"/>
          <p:cNvSpPr txBox="1"/>
          <p:nvPr/>
        </p:nvSpPr>
        <p:spPr>
          <a:xfrm>
            <a:off x="2743200" y="4038600"/>
            <a:ext cx="609600" cy="461665"/>
          </a:xfrm>
          <a:prstGeom prst="rect">
            <a:avLst/>
          </a:prstGeom>
          <a:noFill/>
        </p:spPr>
        <p:txBody>
          <a:bodyPr wrap="square" rtlCol="0">
            <a:spAutoFit/>
          </a:bodyPr>
          <a:lstStyle/>
          <a:p>
            <a:r>
              <a:rPr lang="en-US" sz="2400" dirty="0" smtClean="0">
                <a:solidFill>
                  <a:srgbClr val="7030A0"/>
                </a:solidFill>
              </a:rPr>
              <a:t>40</a:t>
            </a:r>
            <a:endParaRPr lang="en-US" sz="2400" dirty="0">
              <a:solidFill>
                <a:srgbClr val="7030A0"/>
              </a:solidFill>
            </a:endParaRPr>
          </a:p>
        </p:txBody>
      </p:sp>
      <p:sp>
        <p:nvSpPr>
          <p:cNvPr id="35" name="TextBox 34"/>
          <p:cNvSpPr txBox="1"/>
          <p:nvPr/>
        </p:nvSpPr>
        <p:spPr>
          <a:xfrm>
            <a:off x="1905000" y="4038600"/>
            <a:ext cx="609600" cy="461665"/>
          </a:xfrm>
          <a:prstGeom prst="rect">
            <a:avLst/>
          </a:prstGeom>
          <a:noFill/>
        </p:spPr>
        <p:txBody>
          <a:bodyPr wrap="square" rtlCol="0">
            <a:spAutoFit/>
          </a:bodyPr>
          <a:lstStyle/>
          <a:p>
            <a:r>
              <a:rPr lang="en-US" sz="2400" dirty="0" smtClean="0">
                <a:solidFill>
                  <a:srgbClr val="7030A0"/>
                </a:solidFill>
              </a:rPr>
              <a:t>50</a:t>
            </a:r>
            <a:endParaRPr lang="en-US" sz="2400" dirty="0">
              <a:solidFill>
                <a:srgbClr val="7030A0"/>
              </a:solidFill>
            </a:endParaRPr>
          </a:p>
        </p:txBody>
      </p:sp>
      <p:sp>
        <p:nvSpPr>
          <p:cNvPr id="39" name="Slide Number Placeholder 38"/>
          <p:cNvSpPr>
            <a:spLocks noGrp="1"/>
          </p:cNvSpPr>
          <p:nvPr>
            <p:ph type="sldNum" sz="quarter" idx="12"/>
          </p:nvPr>
        </p:nvSpPr>
        <p:spPr/>
        <p:txBody>
          <a:bodyPr/>
          <a:lstStyle/>
          <a:p>
            <a:fld id="{74E22635-7FE9-4421-97F1-05CE0EFEF615}" type="slidenum">
              <a:rPr lang="en-US" altLang="en-US" smtClean="0"/>
              <a:pPr/>
              <a:t>16</a:t>
            </a:fld>
            <a:endParaRPr lang="en-US" altLang="en-US"/>
          </a:p>
        </p:txBody>
      </p:sp>
      <p:sp>
        <p:nvSpPr>
          <p:cNvPr id="36" name="Title 35"/>
          <p:cNvSpPr>
            <a:spLocks noGrp="1"/>
          </p:cNvSpPr>
          <p:nvPr>
            <p:ph type="title"/>
          </p:nvPr>
        </p:nvSpPr>
        <p:spPr/>
        <p:txBody>
          <a:bodyPr/>
          <a:lstStyle/>
          <a:p>
            <a:r>
              <a:rPr lang="en-US" dirty="0" smtClean="0">
                <a:latin typeface="Times New Roman" pitchFamily="18" charset="0"/>
                <a:cs typeface="Times New Roman" pitchFamily="18" charset="0"/>
              </a:rPr>
              <a:t>Insertion(</a:t>
            </a:r>
            <a:r>
              <a:rPr lang="en-US" dirty="0" err="1" smtClean="0">
                <a:latin typeface="Times New Roman" pitchFamily="18" charset="0"/>
                <a:cs typeface="Times New Roman" pitchFamily="18" charset="0"/>
              </a:rPr>
              <a:t>enqueue</a:t>
            </a:r>
            <a:r>
              <a:rPr lang="en-US" dirty="0" smtClean="0">
                <a:latin typeface="Times New Roman" pitchFamily="18" charset="0"/>
                <a:cs typeface="Times New Roman" pitchFamily="18" charset="0"/>
              </a:rPr>
              <a:t>) Operation</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334000" y="5486400"/>
            <a:ext cx="838200" cy="307777"/>
          </a:xfrm>
          <a:prstGeom prst="rect">
            <a:avLst/>
          </a:prstGeom>
          <a:noFill/>
        </p:spPr>
        <p:txBody>
          <a:bodyPr wrap="square" rtlCol="0">
            <a:spAutoFit/>
          </a:bodyPr>
          <a:lstStyle/>
          <a:p>
            <a:r>
              <a:rPr lang="en-US" sz="1400" dirty="0" smtClean="0"/>
              <a:t>Front=0</a:t>
            </a:r>
            <a:endParaRPr lang="en-US" sz="1400" dirty="0"/>
          </a:p>
        </p:txBody>
      </p:sp>
      <p:sp>
        <p:nvSpPr>
          <p:cNvPr id="23" name="Right Arrow 22"/>
          <p:cNvSpPr/>
          <p:nvPr/>
        </p:nvSpPr>
        <p:spPr>
          <a:xfrm rot="16200000" flipV="1">
            <a:off x="1905001"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5486400" y="5105400"/>
            <a:ext cx="609600" cy="152400"/>
          </a:xfrm>
          <a:prstGeom prst="rightArrow">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1828800" y="5486400"/>
            <a:ext cx="838200" cy="307777"/>
          </a:xfrm>
          <a:prstGeom prst="rect">
            <a:avLst/>
          </a:prstGeom>
          <a:noFill/>
        </p:spPr>
        <p:txBody>
          <a:bodyPr wrap="square" rtlCol="0">
            <a:spAutoFit/>
          </a:bodyPr>
          <a:lstStyle/>
          <a:p>
            <a:r>
              <a:rPr lang="en-US" sz="1400" dirty="0" smtClean="0"/>
              <a:t>Rear=4</a:t>
            </a:r>
            <a:endParaRPr lang="en-US" sz="1400" dirty="0"/>
          </a:p>
        </p:txBody>
      </p:sp>
      <p:sp>
        <p:nvSpPr>
          <p:cNvPr id="26" name="TextBox 25"/>
          <p:cNvSpPr txBox="1"/>
          <p:nvPr/>
        </p:nvSpPr>
        <p:spPr>
          <a:xfrm>
            <a:off x="1828800" y="3276600"/>
            <a:ext cx="685800" cy="400110"/>
          </a:xfrm>
          <a:prstGeom prst="rect">
            <a:avLst/>
          </a:prstGeom>
          <a:noFill/>
        </p:spPr>
        <p:txBody>
          <a:bodyPr wrap="square" rtlCol="0">
            <a:spAutoFit/>
          </a:bodyPr>
          <a:lstStyle/>
          <a:p>
            <a:r>
              <a:rPr lang="en-US" dirty="0" smtClean="0"/>
              <a:t>Q[4</a:t>
            </a:r>
            <a:r>
              <a:rPr lang="en-US" sz="2000" dirty="0" smtClean="0"/>
              <a:t>]</a:t>
            </a:r>
            <a:endParaRPr lang="en-US" sz="2000" dirty="0"/>
          </a:p>
        </p:txBody>
      </p:sp>
      <p:sp>
        <p:nvSpPr>
          <p:cNvPr id="27" name="TextBox 26"/>
          <p:cNvSpPr txBox="1"/>
          <p:nvPr/>
        </p:nvSpPr>
        <p:spPr>
          <a:xfrm>
            <a:off x="2667000" y="3276600"/>
            <a:ext cx="685800" cy="40011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81400" y="3257490"/>
            <a:ext cx="685800" cy="400110"/>
          </a:xfrm>
          <a:prstGeom prst="rect">
            <a:avLst/>
          </a:prstGeom>
          <a:noFill/>
        </p:spPr>
        <p:txBody>
          <a:bodyPr wrap="square" rtlCol="0">
            <a:spAutoFit/>
          </a:bodyPr>
          <a:lstStyle/>
          <a:p>
            <a:r>
              <a:rPr lang="en-US" dirty="0" smtClean="0"/>
              <a:t>Q[2</a:t>
            </a:r>
            <a:r>
              <a:rPr lang="en-US" sz="2000" dirty="0" smtClean="0"/>
              <a:t>]</a:t>
            </a:r>
            <a:endParaRPr lang="en-US" sz="2000" dirty="0"/>
          </a:p>
        </p:txBody>
      </p:sp>
      <p:sp>
        <p:nvSpPr>
          <p:cNvPr id="29" name="TextBox 28"/>
          <p:cNvSpPr txBox="1"/>
          <p:nvPr/>
        </p:nvSpPr>
        <p:spPr>
          <a:xfrm>
            <a:off x="4495800" y="3257490"/>
            <a:ext cx="685800" cy="400110"/>
          </a:xfrm>
          <a:prstGeom prst="rect">
            <a:avLst/>
          </a:prstGeom>
          <a:noFill/>
        </p:spPr>
        <p:txBody>
          <a:bodyPr wrap="square" rtlCol="0">
            <a:spAutoFit/>
          </a:bodyPr>
          <a:lstStyle/>
          <a:p>
            <a:r>
              <a:rPr lang="en-US" dirty="0" smtClean="0"/>
              <a:t>Q[1</a:t>
            </a:r>
            <a:r>
              <a:rPr lang="en-US" sz="2000" dirty="0" smtClean="0"/>
              <a:t>]</a:t>
            </a:r>
            <a:endParaRPr lang="en-US" sz="2000" dirty="0"/>
          </a:p>
        </p:txBody>
      </p:sp>
      <p:sp>
        <p:nvSpPr>
          <p:cNvPr id="30" name="TextBox 29"/>
          <p:cNvSpPr txBox="1"/>
          <p:nvPr/>
        </p:nvSpPr>
        <p:spPr>
          <a:xfrm>
            <a:off x="5334000" y="3257490"/>
            <a:ext cx="685800" cy="400110"/>
          </a:xfrm>
          <a:prstGeom prst="rect">
            <a:avLst/>
          </a:prstGeom>
          <a:noFill/>
        </p:spPr>
        <p:txBody>
          <a:bodyPr wrap="square" rtlCol="0">
            <a:spAutoFit/>
          </a:bodyPr>
          <a:lstStyle/>
          <a:p>
            <a:r>
              <a:rPr lang="en-US" dirty="0" smtClean="0"/>
              <a:t>Q[0</a:t>
            </a:r>
            <a:r>
              <a:rPr lang="en-US" sz="2000" dirty="0" smtClean="0"/>
              <a:t>]</a:t>
            </a:r>
            <a:endParaRPr lang="en-US" sz="2000" dirty="0"/>
          </a:p>
        </p:txBody>
      </p:sp>
      <p:sp>
        <p:nvSpPr>
          <p:cNvPr id="22" name="TextBox 21"/>
          <p:cNvSpPr txBox="1"/>
          <p:nvPr/>
        </p:nvSpPr>
        <p:spPr>
          <a:xfrm>
            <a:off x="5486400" y="4038600"/>
            <a:ext cx="609600" cy="461665"/>
          </a:xfrm>
          <a:prstGeom prst="rect">
            <a:avLst/>
          </a:prstGeom>
          <a:noFill/>
        </p:spPr>
        <p:txBody>
          <a:bodyPr wrap="square" rtlCol="0">
            <a:spAutoFit/>
          </a:bodyPr>
          <a:lstStyle/>
          <a:p>
            <a:r>
              <a:rPr lang="en-US" sz="2400" dirty="0" smtClean="0">
                <a:solidFill>
                  <a:srgbClr val="7030A0"/>
                </a:solidFill>
              </a:rPr>
              <a:t>10</a:t>
            </a:r>
            <a:endParaRPr lang="en-US" sz="2400" dirty="0">
              <a:solidFill>
                <a:srgbClr val="7030A0"/>
              </a:solidFill>
            </a:endParaRPr>
          </a:p>
        </p:txBody>
      </p:sp>
      <p:sp>
        <p:nvSpPr>
          <p:cNvPr id="31" name="TextBox 30"/>
          <p:cNvSpPr txBox="1"/>
          <p:nvPr/>
        </p:nvSpPr>
        <p:spPr>
          <a:xfrm>
            <a:off x="685800" y="1371600"/>
            <a:ext cx="2314564" cy="1384995"/>
          </a:xfrm>
          <a:prstGeom prst="rect">
            <a:avLst/>
          </a:prstGeom>
          <a:noFill/>
        </p:spPr>
        <p:txBody>
          <a:bodyPr wrap="square" rtlCol="0">
            <a:spAutoFit/>
          </a:bodyPr>
          <a:lstStyle/>
          <a:p>
            <a:endParaRPr lang="en-US" dirty="0" smtClean="0"/>
          </a:p>
          <a:p>
            <a:endParaRPr lang="en-US" dirty="0" smtClean="0"/>
          </a:p>
          <a:p>
            <a:r>
              <a:rPr lang="en-US" dirty="0" smtClean="0"/>
              <a:t>Insert 60</a:t>
            </a:r>
            <a:endParaRPr lang="en-US" dirty="0"/>
          </a:p>
        </p:txBody>
      </p:sp>
      <p:sp>
        <p:nvSpPr>
          <p:cNvPr id="32" name="TextBox 31"/>
          <p:cNvSpPr txBox="1"/>
          <p:nvPr/>
        </p:nvSpPr>
        <p:spPr>
          <a:xfrm>
            <a:off x="4495800" y="4038600"/>
            <a:ext cx="609600" cy="461665"/>
          </a:xfrm>
          <a:prstGeom prst="rect">
            <a:avLst/>
          </a:prstGeom>
          <a:noFill/>
        </p:spPr>
        <p:txBody>
          <a:bodyPr wrap="square" rtlCol="0">
            <a:spAutoFit/>
          </a:bodyPr>
          <a:lstStyle/>
          <a:p>
            <a:r>
              <a:rPr lang="en-US" sz="2400" dirty="0" smtClean="0">
                <a:solidFill>
                  <a:srgbClr val="7030A0"/>
                </a:solidFill>
              </a:rPr>
              <a:t>20</a:t>
            </a:r>
            <a:endParaRPr lang="en-US" sz="2400" dirty="0">
              <a:solidFill>
                <a:srgbClr val="7030A0"/>
              </a:solidFill>
            </a:endParaRPr>
          </a:p>
        </p:txBody>
      </p:sp>
      <p:sp>
        <p:nvSpPr>
          <p:cNvPr id="33" name="TextBox 32"/>
          <p:cNvSpPr txBox="1"/>
          <p:nvPr/>
        </p:nvSpPr>
        <p:spPr>
          <a:xfrm>
            <a:off x="3657600" y="4038600"/>
            <a:ext cx="609600" cy="461665"/>
          </a:xfrm>
          <a:prstGeom prst="rect">
            <a:avLst/>
          </a:prstGeom>
          <a:noFill/>
        </p:spPr>
        <p:txBody>
          <a:bodyPr wrap="square" rtlCol="0">
            <a:spAutoFit/>
          </a:bodyPr>
          <a:lstStyle/>
          <a:p>
            <a:r>
              <a:rPr lang="en-US" sz="2400" dirty="0" smtClean="0">
                <a:solidFill>
                  <a:srgbClr val="7030A0"/>
                </a:solidFill>
              </a:rPr>
              <a:t>30</a:t>
            </a:r>
            <a:endParaRPr lang="en-US" sz="2400" dirty="0">
              <a:solidFill>
                <a:srgbClr val="7030A0"/>
              </a:solidFill>
            </a:endParaRPr>
          </a:p>
        </p:txBody>
      </p:sp>
      <p:sp>
        <p:nvSpPr>
          <p:cNvPr id="34" name="TextBox 33"/>
          <p:cNvSpPr txBox="1"/>
          <p:nvPr/>
        </p:nvSpPr>
        <p:spPr>
          <a:xfrm>
            <a:off x="2743200" y="4038600"/>
            <a:ext cx="609600" cy="461665"/>
          </a:xfrm>
          <a:prstGeom prst="rect">
            <a:avLst/>
          </a:prstGeom>
          <a:noFill/>
        </p:spPr>
        <p:txBody>
          <a:bodyPr wrap="square" rtlCol="0">
            <a:spAutoFit/>
          </a:bodyPr>
          <a:lstStyle/>
          <a:p>
            <a:r>
              <a:rPr lang="en-US" sz="2400" dirty="0" smtClean="0">
                <a:solidFill>
                  <a:srgbClr val="7030A0"/>
                </a:solidFill>
              </a:rPr>
              <a:t>40</a:t>
            </a:r>
            <a:endParaRPr lang="en-US" sz="2400" dirty="0">
              <a:solidFill>
                <a:srgbClr val="7030A0"/>
              </a:solidFill>
            </a:endParaRPr>
          </a:p>
        </p:txBody>
      </p:sp>
      <p:sp>
        <p:nvSpPr>
          <p:cNvPr id="35" name="TextBox 34"/>
          <p:cNvSpPr txBox="1"/>
          <p:nvPr/>
        </p:nvSpPr>
        <p:spPr>
          <a:xfrm>
            <a:off x="1905000" y="4038600"/>
            <a:ext cx="609600" cy="461665"/>
          </a:xfrm>
          <a:prstGeom prst="rect">
            <a:avLst/>
          </a:prstGeom>
          <a:noFill/>
        </p:spPr>
        <p:txBody>
          <a:bodyPr wrap="square" rtlCol="0">
            <a:spAutoFit/>
          </a:bodyPr>
          <a:lstStyle/>
          <a:p>
            <a:r>
              <a:rPr lang="en-US" sz="2400" dirty="0" smtClean="0">
                <a:solidFill>
                  <a:srgbClr val="7030A0"/>
                </a:solidFill>
              </a:rPr>
              <a:t>50</a:t>
            </a:r>
            <a:endParaRPr lang="en-US" sz="2400" dirty="0">
              <a:solidFill>
                <a:srgbClr val="7030A0"/>
              </a:solidFill>
            </a:endParaRPr>
          </a:p>
        </p:txBody>
      </p:sp>
      <p:sp>
        <p:nvSpPr>
          <p:cNvPr id="36" name="TextBox 35"/>
          <p:cNvSpPr txBox="1"/>
          <p:nvPr/>
        </p:nvSpPr>
        <p:spPr>
          <a:xfrm>
            <a:off x="6000760" y="1857364"/>
            <a:ext cx="2514600"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Rear=Max-1 (Rear=4)</a:t>
            </a:r>
          </a:p>
        </p:txBody>
      </p:sp>
      <p:sp>
        <p:nvSpPr>
          <p:cNvPr id="37" name="TextBox 36"/>
          <p:cNvSpPr txBox="1"/>
          <p:nvPr/>
        </p:nvSpPr>
        <p:spPr>
          <a:xfrm>
            <a:off x="6429388" y="5143512"/>
            <a:ext cx="2286000" cy="95410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smtClean="0"/>
              <a:t>Queue Overflow</a:t>
            </a:r>
          </a:p>
        </p:txBody>
      </p:sp>
      <p:sp>
        <p:nvSpPr>
          <p:cNvPr id="41" name="Slide Number Placeholder 40"/>
          <p:cNvSpPr>
            <a:spLocks noGrp="1"/>
          </p:cNvSpPr>
          <p:nvPr>
            <p:ph type="sldNum" sz="quarter" idx="12"/>
          </p:nvPr>
        </p:nvSpPr>
        <p:spPr/>
        <p:txBody>
          <a:bodyPr/>
          <a:lstStyle/>
          <a:p>
            <a:fld id="{74E22635-7FE9-4421-97F1-05CE0EFEF615}" type="slidenum">
              <a:rPr lang="en-US" altLang="en-US" smtClean="0"/>
              <a:pPr/>
              <a:t>17</a:t>
            </a:fld>
            <a:endParaRPr lang="en-US" altLang="en-US"/>
          </a:p>
        </p:txBody>
      </p:sp>
      <p:sp>
        <p:nvSpPr>
          <p:cNvPr id="38" name="Title 37"/>
          <p:cNvSpPr>
            <a:spLocks noGrp="1"/>
          </p:cNvSpPr>
          <p:nvPr>
            <p:ph type="title"/>
          </p:nvPr>
        </p:nvSpPr>
        <p:spPr>
          <a:xfrm>
            <a:off x="1142976" y="122238"/>
            <a:ext cx="6858024" cy="1295400"/>
          </a:xfrm>
        </p:spPr>
        <p:txBody>
          <a:bodyPr/>
          <a:lstStyle/>
          <a:p>
            <a:r>
              <a:rPr lang="en-US" dirty="0" smtClean="0">
                <a:latin typeface="Times New Roman" pitchFamily="18" charset="0"/>
                <a:cs typeface="Times New Roman" pitchFamily="18" charset="0"/>
              </a:rPr>
              <a:t>Insertion(</a:t>
            </a:r>
            <a:r>
              <a:rPr lang="en-US" dirty="0" err="1" smtClean="0">
                <a:latin typeface="Times New Roman" pitchFamily="18" charset="0"/>
                <a:cs typeface="Times New Roman" pitchFamily="18" charset="0"/>
              </a:rPr>
              <a:t>enqueue</a:t>
            </a:r>
            <a:r>
              <a:rPr lang="en-US" dirty="0" smtClean="0">
                <a:latin typeface="Times New Roman" pitchFamily="18" charset="0"/>
                <a:cs typeface="Times New Roman" pitchFamily="18" charset="0"/>
              </a:rPr>
              <a:t>) Operation</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143116"/>
            <a:ext cx="8485090" cy="4181484"/>
          </a:xfrm>
          <a:solidFill>
            <a:schemeClr val="bg1"/>
          </a:solidFill>
          <a:effectLst>
            <a:glow rad="101600">
              <a:schemeClr val="accent1">
                <a:satMod val="175000"/>
                <a:alpha val="40000"/>
              </a:schemeClr>
            </a:glow>
            <a:outerShdw blurRad="50800" dist="2540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a:normAutofit fontScale="92500" lnSpcReduction="10000"/>
          </a:bodyPr>
          <a:lstStyle/>
          <a:p>
            <a:pPr>
              <a:buNone/>
            </a:pPr>
            <a:r>
              <a:rPr lang="en-US" sz="2400" b="1" u="sng" dirty="0" smtClean="0">
                <a:solidFill>
                  <a:schemeClr val="tx1"/>
                </a:solidFill>
              </a:rPr>
              <a:t>ALGORITHM:</a:t>
            </a:r>
            <a:r>
              <a:rPr lang="en-US" sz="2400" b="1" dirty="0" smtClean="0">
                <a:solidFill>
                  <a:schemeClr val="tx1"/>
                </a:solidFill>
              </a:rPr>
              <a:t> </a:t>
            </a:r>
            <a:r>
              <a:rPr lang="en-US" sz="2400" dirty="0" smtClean="0">
                <a:solidFill>
                  <a:schemeClr val="tx1"/>
                </a:solidFill>
              </a:rPr>
              <a:t>Q_DELETE(QUEUE,MAX,FRONT,REAR, ITEM)</a:t>
            </a:r>
          </a:p>
          <a:p>
            <a:pPr algn="just">
              <a:buNone/>
            </a:pPr>
            <a:r>
              <a:rPr lang="en-US" sz="2400" b="1" dirty="0" smtClean="0">
                <a:solidFill>
                  <a:schemeClr val="tx1"/>
                </a:solidFill>
              </a:rPr>
              <a:t>Input:   </a:t>
            </a:r>
            <a:r>
              <a:rPr lang="en-US" sz="2400" dirty="0" smtClean="0">
                <a:solidFill>
                  <a:schemeClr val="tx1"/>
                </a:solidFill>
              </a:rPr>
              <a:t>QUEUE is the linear array with maximum size  MAX.FRONT and REAR are the pointer variables pointing to Front end and Rear end respectively.</a:t>
            </a:r>
          </a:p>
          <a:p>
            <a:pPr algn="just">
              <a:buNone/>
            </a:pPr>
            <a:r>
              <a:rPr lang="en-US" sz="2400" b="1" dirty="0" smtClean="0">
                <a:solidFill>
                  <a:schemeClr val="tx1"/>
                </a:solidFill>
              </a:rPr>
              <a:t>Output: </a:t>
            </a:r>
            <a:r>
              <a:rPr lang="en-US" sz="2400" dirty="0" smtClean="0">
                <a:solidFill>
                  <a:schemeClr val="tx1"/>
                </a:solidFill>
              </a:rPr>
              <a:t>This algorithm deletes an element from the queue 	  </a:t>
            </a:r>
            <a:r>
              <a:rPr lang="en-US" sz="2400" dirty="0" err="1" smtClean="0">
                <a:solidFill>
                  <a:schemeClr val="tx1"/>
                </a:solidFill>
              </a:rPr>
              <a:t>QUEUE</a:t>
            </a:r>
            <a:r>
              <a:rPr lang="en-US" sz="2400" dirty="0" smtClean="0">
                <a:solidFill>
                  <a:schemeClr val="tx1"/>
                </a:solidFill>
              </a:rPr>
              <a:t> and stores it in the variable  ITEM.</a:t>
            </a:r>
          </a:p>
          <a:p>
            <a:pPr>
              <a:buNone/>
            </a:pPr>
            <a:endParaRPr lang="en-US" sz="2400" dirty="0" smtClean="0">
              <a:solidFill>
                <a:schemeClr val="tx1"/>
              </a:solidFill>
            </a:endParaRPr>
          </a:p>
          <a:p>
            <a:pPr>
              <a:buNone/>
            </a:pPr>
            <a:r>
              <a:rPr lang="en-US" sz="2400" b="1" dirty="0" smtClean="0">
                <a:solidFill>
                  <a:schemeClr val="tx1"/>
                </a:solidFill>
              </a:rPr>
              <a:t>Step 1: </a:t>
            </a:r>
            <a:r>
              <a:rPr lang="en-US" sz="2400" dirty="0" smtClean="0">
                <a:solidFill>
                  <a:schemeClr val="tx1"/>
                </a:solidFill>
              </a:rPr>
              <a:t>If FRONT=-1 and REAR=-1, then</a:t>
            </a:r>
          </a:p>
          <a:p>
            <a:pPr>
              <a:buNone/>
            </a:pPr>
            <a:r>
              <a:rPr lang="en-US" sz="2400" dirty="0" smtClean="0">
                <a:solidFill>
                  <a:schemeClr val="tx1"/>
                </a:solidFill>
              </a:rPr>
              <a:t>			Print “Queue Underflow” and Exit.</a:t>
            </a:r>
          </a:p>
          <a:p>
            <a:pPr>
              <a:buNone/>
            </a:pPr>
            <a:r>
              <a:rPr lang="en-US" sz="2400" b="1" dirty="0" smtClean="0">
                <a:solidFill>
                  <a:schemeClr val="tx1"/>
                </a:solidFill>
              </a:rPr>
              <a:t>Step 2: </a:t>
            </a:r>
            <a:r>
              <a:rPr lang="en-US" sz="2400" dirty="0" smtClean="0">
                <a:solidFill>
                  <a:schemeClr val="tx1"/>
                </a:solidFill>
              </a:rPr>
              <a:t>[Delete an element from the Queue]</a:t>
            </a:r>
          </a:p>
          <a:p>
            <a:pPr>
              <a:buNone/>
            </a:pPr>
            <a:r>
              <a:rPr lang="en-US" sz="2400" dirty="0" smtClean="0">
                <a:solidFill>
                  <a:schemeClr val="tx1"/>
                </a:solidFill>
              </a:rPr>
              <a:t>		Set ITEM=QUEUE[FRONT]</a:t>
            </a:r>
          </a:p>
          <a:p>
            <a:endParaRPr lang="en-US" dirty="0"/>
          </a:p>
        </p:txBody>
      </p:sp>
      <p:sp>
        <p:nvSpPr>
          <p:cNvPr id="6" name="Slide Number Placeholder 5"/>
          <p:cNvSpPr>
            <a:spLocks noGrp="1"/>
          </p:cNvSpPr>
          <p:nvPr>
            <p:ph type="sldNum" sz="quarter" idx="12"/>
          </p:nvPr>
        </p:nvSpPr>
        <p:spPr/>
        <p:txBody>
          <a:bodyPr/>
          <a:lstStyle/>
          <a:p>
            <a:fld id="{CA8B4530-02B6-4BE1-914D-F37489CFEB04}" type="slidenum">
              <a:rPr lang="en-US" smtClean="0"/>
              <a:pPr/>
              <a:t>18</a:t>
            </a:fld>
            <a:endParaRPr lang="en-US"/>
          </a:p>
        </p:txBody>
      </p:sp>
      <p:sp>
        <p:nvSpPr>
          <p:cNvPr id="5" name="Title 4"/>
          <p:cNvSpPr>
            <a:spLocks noGrp="1"/>
          </p:cNvSpPr>
          <p:nvPr>
            <p:ph type="title"/>
          </p:nvPr>
        </p:nvSpPr>
        <p:spPr>
          <a:xfrm>
            <a:off x="1150938" y="214313"/>
            <a:ext cx="7793037" cy="1285861"/>
          </a:xfrm>
        </p:spPr>
        <p:txBody>
          <a:bodyPr/>
          <a:lstStyle/>
          <a:p>
            <a:r>
              <a:rPr lang="en-US" sz="3600" u="sng" dirty="0" smtClean="0">
                <a:latin typeface="Times New Roman" pitchFamily="18" charset="0"/>
                <a:cs typeface="Times New Roman" pitchFamily="18" charset="0"/>
              </a:rPr>
              <a:t/>
            </a:r>
            <a:br>
              <a:rPr lang="en-US" sz="3600" u="sng" dirty="0" smtClean="0">
                <a:latin typeface="Times New Roman" pitchFamily="18" charset="0"/>
                <a:cs typeface="Times New Roman" pitchFamily="18" charset="0"/>
              </a:rPr>
            </a:br>
            <a:r>
              <a:rPr lang="en-US" sz="3600" u="sng" dirty="0" smtClean="0">
                <a:latin typeface="Times New Roman" pitchFamily="18" charset="0"/>
                <a:cs typeface="Times New Roman" pitchFamily="18" charset="0"/>
              </a:rPr>
              <a:t/>
            </a:r>
            <a:br>
              <a:rPr lang="en-US" sz="3600" u="sng"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DELETION(DEQUEUE) Operation</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000100" y="2071678"/>
            <a:ext cx="7715304" cy="4252922"/>
          </a:xfrm>
          <a:solidFill>
            <a:schemeClr val="bg1"/>
          </a:solidFill>
          <a:effectLst>
            <a:glow rad="101600">
              <a:schemeClr val="accent1">
                <a:satMod val="175000"/>
                <a:alpha val="40000"/>
              </a:schemeClr>
            </a:glow>
            <a:outerShdw blurRad="50800" dist="2540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a:normAutofit/>
          </a:bodyPr>
          <a:lstStyle/>
          <a:p>
            <a:pPr>
              <a:buNone/>
            </a:pPr>
            <a:r>
              <a:rPr lang="en-US" sz="2400" b="1" dirty="0" smtClean="0">
                <a:solidFill>
                  <a:schemeClr val="tx1"/>
                </a:solidFill>
              </a:rPr>
              <a:t>Step 3: </a:t>
            </a:r>
            <a:r>
              <a:rPr lang="en-US" sz="2400" dirty="0" smtClean="0">
                <a:solidFill>
                  <a:schemeClr val="tx1"/>
                </a:solidFill>
              </a:rPr>
              <a:t>If FRONT= REAR , then</a:t>
            </a:r>
          </a:p>
          <a:p>
            <a:pPr>
              <a:buNone/>
            </a:pPr>
            <a:r>
              <a:rPr lang="en-US" sz="2400" dirty="0" smtClean="0">
                <a:solidFill>
                  <a:schemeClr val="tx1"/>
                </a:solidFill>
              </a:rPr>
              <a:t>			Set FRONT=-1 and REAR=-1</a:t>
            </a:r>
          </a:p>
          <a:p>
            <a:pPr>
              <a:buNone/>
            </a:pPr>
            <a:r>
              <a:rPr lang="en-US" sz="2400" dirty="0" smtClean="0">
                <a:solidFill>
                  <a:schemeClr val="tx1"/>
                </a:solidFill>
              </a:rPr>
              <a:t>		Else</a:t>
            </a:r>
          </a:p>
          <a:p>
            <a:pPr>
              <a:buNone/>
            </a:pPr>
            <a:r>
              <a:rPr lang="en-US" sz="2400" dirty="0" smtClean="0">
                <a:solidFill>
                  <a:schemeClr val="tx1"/>
                </a:solidFill>
              </a:rPr>
              <a:t>			Set FRONT=FRONT+1</a:t>
            </a:r>
          </a:p>
          <a:p>
            <a:pPr>
              <a:buNone/>
            </a:pPr>
            <a:r>
              <a:rPr lang="en-US" sz="2400" b="1" dirty="0" smtClean="0">
                <a:solidFill>
                  <a:schemeClr val="tx1"/>
                </a:solidFill>
              </a:rPr>
              <a:t>Step 4: </a:t>
            </a:r>
            <a:r>
              <a:rPr lang="en-US" sz="2400" dirty="0" smtClean="0">
                <a:solidFill>
                  <a:schemeClr val="tx1"/>
                </a:solidFill>
              </a:rPr>
              <a:t>Exit</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CA8B4530-02B6-4BE1-914D-F37489CFEB04}" type="slidenum">
              <a:rPr lang="en-US" smtClean="0"/>
              <a:pPr/>
              <a:t>19</a:t>
            </a:fld>
            <a:endParaRPr lang="en-US"/>
          </a:p>
        </p:txBody>
      </p:sp>
      <p:sp>
        <p:nvSpPr>
          <p:cNvPr id="5" name="Title 4"/>
          <p:cNvSpPr>
            <a:spLocks noGrp="1"/>
          </p:cNvSpPr>
          <p:nvPr>
            <p:ph type="title"/>
          </p:nvPr>
        </p:nvSpPr>
        <p:spPr/>
        <p:txBody>
          <a:bodyPr/>
          <a:lstStyle/>
          <a:p>
            <a:r>
              <a:rPr lang="en-US" sz="3600" dirty="0" smtClean="0"/>
              <a:t>DELETION(DEQUEUE) Operation</a:t>
            </a:r>
            <a:endParaRPr lang="en-US" sz="36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334000" y="5486400"/>
            <a:ext cx="838200" cy="307777"/>
          </a:xfrm>
          <a:prstGeom prst="rect">
            <a:avLst/>
          </a:prstGeom>
          <a:noFill/>
        </p:spPr>
        <p:txBody>
          <a:bodyPr wrap="square" rtlCol="0">
            <a:spAutoFit/>
          </a:bodyPr>
          <a:lstStyle/>
          <a:p>
            <a:r>
              <a:rPr lang="en-US" sz="1400" dirty="0" smtClean="0"/>
              <a:t>Front=0</a:t>
            </a:r>
            <a:endParaRPr lang="en-US" sz="1400" dirty="0"/>
          </a:p>
        </p:txBody>
      </p:sp>
      <p:sp>
        <p:nvSpPr>
          <p:cNvPr id="23" name="Right Arrow 22"/>
          <p:cNvSpPr/>
          <p:nvPr/>
        </p:nvSpPr>
        <p:spPr>
          <a:xfrm rot="16200000" flipV="1">
            <a:off x="1905001"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5486400"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1828800" y="5486400"/>
            <a:ext cx="838200" cy="307777"/>
          </a:xfrm>
          <a:prstGeom prst="rect">
            <a:avLst/>
          </a:prstGeom>
          <a:noFill/>
        </p:spPr>
        <p:txBody>
          <a:bodyPr wrap="square" rtlCol="0">
            <a:spAutoFit/>
          </a:bodyPr>
          <a:lstStyle/>
          <a:p>
            <a:r>
              <a:rPr lang="en-US" sz="1400" dirty="0" smtClean="0"/>
              <a:t>Rear=4</a:t>
            </a:r>
            <a:endParaRPr lang="en-US" sz="1400" dirty="0"/>
          </a:p>
        </p:txBody>
      </p:sp>
      <p:sp>
        <p:nvSpPr>
          <p:cNvPr id="26" name="TextBox 25"/>
          <p:cNvSpPr txBox="1"/>
          <p:nvPr/>
        </p:nvSpPr>
        <p:spPr>
          <a:xfrm>
            <a:off x="1828800" y="3276600"/>
            <a:ext cx="957250" cy="523220"/>
          </a:xfrm>
          <a:prstGeom prst="rect">
            <a:avLst/>
          </a:prstGeom>
          <a:noFill/>
        </p:spPr>
        <p:txBody>
          <a:bodyPr wrap="square" rtlCol="0">
            <a:spAutoFit/>
          </a:bodyPr>
          <a:lstStyle/>
          <a:p>
            <a:r>
              <a:rPr lang="en-US" dirty="0" smtClean="0"/>
              <a:t>Q[4</a:t>
            </a:r>
            <a:r>
              <a:rPr lang="en-US" sz="2000" dirty="0" smtClean="0"/>
              <a:t>]</a:t>
            </a:r>
            <a:endParaRPr lang="en-US" sz="2000" dirty="0"/>
          </a:p>
        </p:txBody>
      </p:sp>
      <p:sp>
        <p:nvSpPr>
          <p:cNvPr id="27" name="TextBox 26"/>
          <p:cNvSpPr txBox="1"/>
          <p:nvPr/>
        </p:nvSpPr>
        <p:spPr>
          <a:xfrm>
            <a:off x="2667000" y="3276600"/>
            <a:ext cx="904868" cy="52322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81400" y="3257490"/>
            <a:ext cx="919162" cy="523220"/>
          </a:xfrm>
          <a:prstGeom prst="rect">
            <a:avLst/>
          </a:prstGeom>
          <a:noFill/>
        </p:spPr>
        <p:txBody>
          <a:bodyPr wrap="square" rtlCol="0">
            <a:spAutoFit/>
          </a:bodyPr>
          <a:lstStyle/>
          <a:p>
            <a:r>
              <a:rPr lang="en-US" dirty="0" smtClean="0"/>
              <a:t>Q[2</a:t>
            </a:r>
            <a:r>
              <a:rPr lang="en-US" sz="2000" dirty="0" smtClean="0"/>
              <a:t>]</a:t>
            </a:r>
            <a:endParaRPr lang="en-US" sz="2000" dirty="0"/>
          </a:p>
        </p:txBody>
      </p:sp>
      <p:sp>
        <p:nvSpPr>
          <p:cNvPr id="29" name="TextBox 28"/>
          <p:cNvSpPr txBox="1"/>
          <p:nvPr/>
        </p:nvSpPr>
        <p:spPr>
          <a:xfrm>
            <a:off x="4495800" y="3257490"/>
            <a:ext cx="933456" cy="523220"/>
          </a:xfrm>
          <a:prstGeom prst="rect">
            <a:avLst/>
          </a:prstGeom>
          <a:noFill/>
        </p:spPr>
        <p:txBody>
          <a:bodyPr wrap="square" rtlCol="0">
            <a:spAutoFit/>
          </a:bodyPr>
          <a:lstStyle/>
          <a:p>
            <a:r>
              <a:rPr lang="en-US" dirty="0" smtClean="0"/>
              <a:t>Q[1</a:t>
            </a:r>
            <a:r>
              <a:rPr lang="en-US" sz="2000" dirty="0" smtClean="0"/>
              <a:t>]</a:t>
            </a:r>
            <a:endParaRPr lang="en-US" sz="2000" dirty="0"/>
          </a:p>
        </p:txBody>
      </p:sp>
      <p:sp>
        <p:nvSpPr>
          <p:cNvPr id="30" name="TextBox 29"/>
          <p:cNvSpPr txBox="1"/>
          <p:nvPr/>
        </p:nvSpPr>
        <p:spPr>
          <a:xfrm>
            <a:off x="5334000" y="3257490"/>
            <a:ext cx="952512" cy="523220"/>
          </a:xfrm>
          <a:prstGeom prst="rect">
            <a:avLst/>
          </a:prstGeom>
          <a:noFill/>
        </p:spPr>
        <p:txBody>
          <a:bodyPr wrap="square" rtlCol="0">
            <a:spAutoFit/>
          </a:bodyPr>
          <a:lstStyle/>
          <a:p>
            <a:r>
              <a:rPr lang="en-US" dirty="0" smtClean="0"/>
              <a:t>Q[0</a:t>
            </a:r>
            <a:r>
              <a:rPr lang="en-US" sz="2000" dirty="0" smtClean="0"/>
              <a:t>]</a:t>
            </a:r>
            <a:endParaRPr lang="en-US" sz="2000" dirty="0"/>
          </a:p>
        </p:txBody>
      </p:sp>
      <p:sp>
        <p:nvSpPr>
          <p:cNvPr id="22" name="TextBox 21"/>
          <p:cNvSpPr txBox="1"/>
          <p:nvPr/>
        </p:nvSpPr>
        <p:spPr>
          <a:xfrm>
            <a:off x="5486400" y="4038600"/>
            <a:ext cx="609600" cy="461665"/>
          </a:xfrm>
          <a:prstGeom prst="rect">
            <a:avLst/>
          </a:prstGeom>
          <a:noFill/>
        </p:spPr>
        <p:txBody>
          <a:bodyPr wrap="square" rtlCol="0">
            <a:spAutoFit/>
          </a:bodyPr>
          <a:lstStyle/>
          <a:p>
            <a:r>
              <a:rPr lang="en-US" sz="2400" dirty="0" smtClean="0">
                <a:solidFill>
                  <a:srgbClr val="7030A0"/>
                </a:solidFill>
              </a:rPr>
              <a:t>10</a:t>
            </a:r>
            <a:endParaRPr lang="en-US" sz="2400" dirty="0">
              <a:solidFill>
                <a:srgbClr val="7030A0"/>
              </a:solidFill>
            </a:endParaRPr>
          </a:p>
        </p:txBody>
      </p:sp>
      <p:sp>
        <p:nvSpPr>
          <p:cNvPr id="31" name="TextBox 30"/>
          <p:cNvSpPr txBox="1"/>
          <p:nvPr/>
        </p:nvSpPr>
        <p:spPr>
          <a:xfrm>
            <a:off x="685800" y="1371600"/>
            <a:ext cx="13716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2" name="TextBox 31"/>
          <p:cNvSpPr txBox="1"/>
          <p:nvPr/>
        </p:nvSpPr>
        <p:spPr>
          <a:xfrm>
            <a:off x="4495800" y="4038600"/>
            <a:ext cx="609600" cy="461665"/>
          </a:xfrm>
          <a:prstGeom prst="rect">
            <a:avLst/>
          </a:prstGeom>
          <a:noFill/>
        </p:spPr>
        <p:txBody>
          <a:bodyPr wrap="square" rtlCol="0">
            <a:spAutoFit/>
          </a:bodyPr>
          <a:lstStyle/>
          <a:p>
            <a:r>
              <a:rPr lang="en-US" sz="2400" dirty="0" smtClean="0">
                <a:solidFill>
                  <a:srgbClr val="7030A0"/>
                </a:solidFill>
              </a:rPr>
              <a:t>20</a:t>
            </a:r>
            <a:endParaRPr lang="en-US" sz="2400" dirty="0">
              <a:solidFill>
                <a:srgbClr val="7030A0"/>
              </a:solidFill>
            </a:endParaRPr>
          </a:p>
        </p:txBody>
      </p:sp>
      <p:sp>
        <p:nvSpPr>
          <p:cNvPr id="33" name="TextBox 32"/>
          <p:cNvSpPr txBox="1"/>
          <p:nvPr/>
        </p:nvSpPr>
        <p:spPr>
          <a:xfrm>
            <a:off x="3657600" y="4038600"/>
            <a:ext cx="609600" cy="461665"/>
          </a:xfrm>
          <a:prstGeom prst="rect">
            <a:avLst/>
          </a:prstGeom>
          <a:noFill/>
        </p:spPr>
        <p:txBody>
          <a:bodyPr wrap="square" rtlCol="0">
            <a:spAutoFit/>
          </a:bodyPr>
          <a:lstStyle/>
          <a:p>
            <a:r>
              <a:rPr lang="en-US" sz="2400" dirty="0" smtClean="0">
                <a:solidFill>
                  <a:srgbClr val="7030A0"/>
                </a:solidFill>
              </a:rPr>
              <a:t>30</a:t>
            </a:r>
            <a:endParaRPr lang="en-US" sz="2400" dirty="0">
              <a:solidFill>
                <a:srgbClr val="7030A0"/>
              </a:solidFill>
            </a:endParaRPr>
          </a:p>
        </p:txBody>
      </p:sp>
      <p:sp>
        <p:nvSpPr>
          <p:cNvPr id="34" name="TextBox 33"/>
          <p:cNvSpPr txBox="1"/>
          <p:nvPr/>
        </p:nvSpPr>
        <p:spPr>
          <a:xfrm>
            <a:off x="2743200" y="4038600"/>
            <a:ext cx="609600" cy="461665"/>
          </a:xfrm>
          <a:prstGeom prst="rect">
            <a:avLst/>
          </a:prstGeom>
          <a:noFill/>
        </p:spPr>
        <p:txBody>
          <a:bodyPr wrap="square" rtlCol="0">
            <a:spAutoFit/>
          </a:bodyPr>
          <a:lstStyle/>
          <a:p>
            <a:r>
              <a:rPr lang="en-US" sz="2400" dirty="0" smtClean="0">
                <a:solidFill>
                  <a:srgbClr val="7030A0"/>
                </a:solidFill>
              </a:rPr>
              <a:t>40</a:t>
            </a:r>
            <a:endParaRPr lang="en-US" sz="2400" dirty="0">
              <a:solidFill>
                <a:srgbClr val="7030A0"/>
              </a:solidFill>
            </a:endParaRPr>
          </a:p>
        </p:txBody>
      </p:sp>
      <p:sp>
        <p:nvSpPr>
          <p:cNvPr id="35" name="TextBox 34"/>
          <p:cNvSpPr txBox="1"/>
          <p:nvPr/>
        </p:nvSpPr>
        <p:spPr>
          <a:xfrm>
            <a:off x="1905000" y="4038600"/>
            <a:ext cx="609600" cy="461665"/>
          </a:xfrm>
          <a:prstGeom prst="rect">
            <a:avLst/>
          </a:prstGeom>
          <a:noFill/>
        </p:spPr>
        <p:txBody>
          <a:bodyPr wrap="square" rtlCol="0">
            <a:spAutoFit/>
          </a:bodyPr>
          <a:lstStyle/>
          <a:p>
            <a:r>
              <a:rPr lang="en-US" sz="2400" dirty="0" smtClean="0">
                <a:solidFill>
                  <a:srgbClr val="7030A0"/>
                </a:solidFill>
              </a:rPr>
              <a:t>50</a:t>
            </a:r>
            <a:endParaRPr lang="en-US" sz="2400" dirty="0">
              <a:solidFill>
                <a:srgbClr val="7030A0"/>
              </a:solidFill>
            </a:endParaRPr>
          </a:p>
        </p:txBody>
      </p:sp>
      <p:sp>
        <p:nvSpPr>
          <p:cNvPr id="38" name="TextBox 37"/>
          <p:cNvSpPr txBox="1"/>
          <p:nvPr/>
        </p:nvSpPr>
        <p:spPr>
          <a:xfrm>
            <a:off x="6143636" y="2071678"/>
            <a:ext cx="2514600"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Element=10</a:t>
            </a:r>
          </a:p>
        </p:txBody>
      </p:sp>
      <p:sp>
        <p:nvSpPr>
          <p:cNvPr id="40" name="Slide Number Placeholder 39"/>
          <p:cNvSpPr>
            <a:spLocks noGrp="1"/>
          </p:cNvSpPr>
          <p:nvPr>
            <p:ph type="sldNum" sz="quarter" idx="12"/>
          </p:nvPr>
        </p:nvSpPr>
        <p:spPr/>
        <p:txBody>
          <a:bodyPr/>
          <a:lstStyle/>
          <a:p>
            <a:fld id="{74E22635-7FE9-4421-97F1-05CE0EFEF615}" type="slidenum">
              <a:rPr lang="en-US" altLang="en-US" smtClean="0"/>
              <a:pPr/>
              <a:t>20</a:t>
            </a:fld>
            <a:endParaRPr lang="en-US" altLang="en-US"/>
          </a:p>
        </p:txBody>
      </p:sp>
      <p:sp>
        <p:nvSpPr>
          <p:cNvPr id="36" name="Title 35"/>
          <p:cNvSpPr>
            <a:spLocks noGrp="1"/>
          </p:cNvSpPr>
          <p:nvPr>
            <p:ph type="title"/>
          </p:nvPr>
        </p:nvSpPr>
        <p:spPr>
          <a:xfrm>
            <a:off x="1357290" y="122238"/>
            <a:ext cx="7358114" cy="1295400"/>
          </a:xfrm>
        </p:spPr>
        <p:txBody>
          <a:bodyPr/>
          <a:lstStyle/>
          <a:p>
            <a:r>
              <a:rPr lang="en-US" sz="3600" dirty="0" smtClean="0">
                <a:latin typeface="Times New Roman" pitchFamily="18" charset="0"/>
                <a:cs typeface="Times New Roman" pitchFamily="18" charset="0"/>
              </a:rPr>
              <a:t>DELETION(DEQUEUE) Operation</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495800" y="5486400"/>
            <a:ext cx="838200" cy="307777"/>
          </a:xfrm>
          <a:prstGeom prst="rect">
            <a:avLst/>
          </a:prstGeom>
          <a:noFill/>
        </p:spPr>
        <p:txBody>
          <a:bodyPr wrap="square" rtlCol="0">
            <a:spAutoFit/>
          </a:bodyPr>
          <a:lstStyle/>
          <a:p>
            <a:r>
              <a:rPr lang="en-US" sz="1400" dirty="0" smtClean="0"/>
              <a:t>Front=1</a:t>
            </a:r>
            <a:endParaRPr lang="en-US" sz="1400" dirty="0"/>
          </a:p>
        </p:txBody>
      </p:sp>
      <p:sp>
        <p:nvSpPr>
          <p:cNvPr id="23" name="Right Arrow 22"/>
          <p:cNvSpPr/>
          <p:nvPr/>
        </p:nvSpPr>
        <p:spPr>
          <a:xfrm rot="16200000" flipV="1">
            <a:off x="1905001"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4572000"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1828800" y="5486400"/>
            <a:ext cx="838200" cy="307777"/>
          </a:xfrm>
          <a:prstGeom prst="rect">
            <a:avLst/>
          </a:prstGeom>
          <a:noFill/>
        </p:spPr>
        <p:txBody>
          <a:bodyPr wrap="square" rtlCol="0">
            <a:spAutoFit/>
          </a:bodyPr>
          <a:lstStyle/>
          <a:p>
            <a:r>
              <a:rPr lang="en-US" sz="1400" dirty="0" smtClean="0"/>
              <a:t>Rear=4</a:t>
            </a:r>
            <a:endParaRPr lang="en-US" sz="1400" dirty="0"/>
          </a:p>
        </p:txBody>
      </p:sp>
      <p:sp>
        <p:nvSpPr>
          <p:cNvPr id="26" name="TextBox 25"/>
          <p:cNvSpPr txBox="1"/>
          <p:nvPr/>
        </p:nvSpPr>
        <p:spPr>
          <a:xfrm>
            <a:off x="1828800" y="3276600"/>
            <a:ext cx="1028688" cy="523220"/>
          </a:xfrm>
          <a:prstGeom prst="rect">
            <a:avLst/>
          </a:prstGeom>
          <a:noFill/>
        </p:spPr>
        <p:txBody>
          <a:bodyPr wrap="square" rtlCol="0">
            <a:spAutoFit/>
          </a:bodyPr>
          <a:lstStyle/>
          <a:p>
            <a:r>
              <a:rPr lang="en-US" dirty="0" smtClean="0"/>
              <a:t>Q[4]</a:t>
            </a:r>
            <a:endParaRPr lang="en-US" dirty="0"/>
          </a:p>
        </p:txBody>
      </p:sp>
      <p:sp>
        <p:nvSpPr>
          <p:cNvPr id="27" name="TextBox 26"/>
          <p:cNvSpPr txBox="1"/>
          <p:nvPr/>
        </p:nvSpPr>
        <p:spPr>
          <a:xfrm>
            <a:off x="2667000" y="3276600"/>
            <a:ext cx="976306" cy="52322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81400" y="3257490"/>
            <a:ext cx="990600" cy="523220"/>
          </a:xfrm>
          <a:prstGeom prst="rect">
            <a:avLst/>
          </a:prstGeom>
          <a:noFill/>
        </p:spPr>
        <p:txBody>
          <a:bodyPr wrap="square" rtlCol="0">
            <a:spAutoFit/>
          </a:bodyPr>
          <a:lstStyle/>
          <a:p>
            <a:r>
              <a:rPr lang="en-US" dirty="0" smtClean="0"/>
              <a:t>Q[2</a:t>
            </a:r>
            <a:r>
              <a:rPr lang="en-US" sz="2000" dirty="0" smtClean="0"/>
              <a:t>]</a:t>
            </a:r>
            <a:endParaRPr lang="en-US" sz="2000" dirty="0"/>
          </a:p>
        </p:txBody>
      </p:sp>
      <p:sp>
        <p:nvSpPr>
          <p:cNvPr id="29" name="TextBox 28"/>
          <p:cNvSpPr txBox="1"/>
          <p:nvPr/>
        </p:nvSpPr>
        <p:spPr>
          <a:xfrm>
            <a:off x="4495800" y="3257490"/>
            <a:ext cx="933456" cy="523220"/>
          </a:xfrm>
          <a:prstGeom prst="rect">
            <a:avLst/>
          </a:prstGeom>
          <a:noFill/>
        </p:spPr>
        <p:txBody>
          <a:bodyPr wrap="square" rtlCol="0">
            <a:spAutoFit/>
          </a:bodyPr>
          <a:lstStyle/>
          <a:p>
            <a:r>
              <a:rPr lang="en-US" dirty="0" smtClean="0"/>
              <a:t>Q[1</a:t>
            </a:r>
            <a:r>
              <a:rPr lang="en-US" sz="2000" dirty="0" smtClean="0"/>
              <a:t>]</a:t>
            </a:r>
            <a:endParaRPr lang="en-US" sz="2000" dirty="0"/>
          </a:p>
        </p:txBody>
      </p:sp>
      <p:sp>
        <p:nvSpPr>
          <p:cNvPr id="30" name="TextBox 29"/>
          <p:cNvSpPr txBox="1"/>
          <p:nvPr/>
        </p:nvSpPr>
        <p:spPr>
          <a:xfrm>
            <a:off x="5334000" y="3257490"/>
            <a:ext cx="952512" cy="523220"/>
          </a:xfrm>
          <a:prstGeom prst="rect">
            <a:avLst/>
          </a:prstGeom>
          <a:noFill/>
        </p:spPr>
        <p:txBody>
          <a:bodyPr wrap="square" rtlCol="0">
            <a:spAutoFit/>
          </a:bodyPr>
          <a:lstStyle/>
          <a:p>
            <a:r>
              <a:rPr lang="en-US" dirty="0" smtClean="0"/>
              <a:t>Q[0</a:t>
            </a:r>
            <a:r>
              <a:rPr lang="en-US" sz="2000" dirty="0" smtClean="0"/>
              <a:t>]</a:t>
            </a:r>
            <a:endParaRPr lang="en-US" sz="2000" dirty="0"/>
          </a:p>
        </p:txBody>
      </p:sp>
      <p:sp>
        <p:nvSpPr>
          <p:cNvPr id="31" name="TextBox 30"/>
          <p:cNvSpPr txBox="1"/>
          <p:nvPr/>
        </p:nvSpPr>
        <p:spPr>
          <a:xfrm>
            <a:off x="685800" y="1371600"/>
            <a:ext cx="13716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2" name="TextBox 31"/>
          <p:cNvSpPr txBox="1"/>
          <p:nvPr/>
        </p:nvSpPr>
        <p:spPr>
          <a:xfrm>
            <a:off x="4495800" y="4038600"/>
            <a:ext cx="609600" cy="461665"/>
          </a:xfrm>
          <a:prstGeom prst="rect">
            <a:avLst/>
          </a:prstGeom>
          <a:noFill/>
        </p:spPr>
        <p:txBody>
          <a:bodyPr wrap="square" rtlCol="0">
            <a:spAutoFit/>
          </a:bodyPr>
          <a:lstStyle/>
          <a:p>
            <a:r>
              <a:rPr lang="en-US" sz="2400" dirty="0" smtClean="0">
                <a:solidFill>
                  <a:srgbClr val="7030A0"/>
                </a:solidFill>
              </a:rPr>
              <a:t>20</a:t>
            </a:r>
            <a:endParaRPr lang="en-US" sz="2400" dirty="0">
              <a:solidFill>
                <a:srgbClr val="7030A0"/>
              </a:solidFill>
            </a:endParaRPr>
          </a:p>
        </p:txBody>
      </p:sp>
      <p:sp>
        <p:nvSpPr>
          <p:cNvPr id="33" name="TextBox 32"/>
          <p:cNvSpPr txBox="1"/>
          <p:nvPr/>
        </p:nvSpPr>
        <p:spPr>
          <a:xfrm>
            <a:off x="3657600" y="4038600"/>
            <a:ext cx="609600" cy="461665"/>
          </a:xfrm>
          <a:prstGeom prst="rect">
            <a:avLst/>
          </a:prstGeom>
          <a:noFill/>
        </p:spPr>
        <p:txBody>
          <a:bodyPr wrap="square" rtlCol="0">
            <a:spAutoFit/>
          </a:bodyPr>
          <a:lstStyle/>
          <a:p>
            <a:r>
              <a:rPr lang="en-US" sz="2400" dirty="0" smtClean="0">
                <a:solidFill>
                  <a:srgbClr val="7030A0"/>
                </a:solidFill>
              </a:rPr>
              <a:t>30</a:t>
            </a:r>
            <a:endParaRPr lang="en-US" sz="2400" dirty="0">
              <a:solidFill>
                <a:srgbClr val="7030A0"/>
              </a:solidFill>
            </a:endParaRPr>
          </a:p>
        </p:txBody>
      </p:sp>
      <p:sp>
        <p:nvSpPr>
          <p:cNvPr id="34" name="TextBox 33"/>
          <p:cNvSpPr txBox="1"/>
          <p:nvPr/>
        </p:nvSpPr>
        <p:spPr>
          <a:xfrm>
            <a:off x="2743200" y="4038600"/>
            <a:ext cx="609600" cy="461665"/>
          </a:xfrm>
          <a:prstGeom prst="rect">
            <a:avLst/>
          </a:prstGeom>
          <a:noFill/>
        </p:spPr>
        <p:txBody>
          <a:bodyPr wrap="square" rtlCol="0">
            <a:spAutoFit/>
          </a:bodyPr>
          <a:lstStyle/>
          <a:p>
            <a:r>
              <a:rPr lang="en-US" sz="2400" dirty="0" smtClean="0">
                <a:solidFill>
                  <a:srgbClr val="7030A0"/>
                </a:solidFill>
              </a:rPr>
              <a:t>40</a:t>
            </a:r>
            <a:endParaRPr lang="en-US" sz="2400" dirty="0">
              <a:solidFill>
                <a:srgbClr val="7030A0"/>
              </a:solidFill>
            </a:endParaRPr>
          </a:p>
        </p:txBody>
      </p:sp>
      <p:sp>
        <p:nvSpPr>
          <p:cNvPr id="35" name="TextBox 34"/>
          <p:cNvSpPr txBox="1"/>
          <p:nvPr/>
        </p:nvSpPr>
        <p:spPr>
          <a:xfrm>
            <a:off x="1905000" y="4038600"/>
            <a:ext cx="609600" cy="461665"/>
          </a:xfrm>
          <a:prstGeom prst="rect">
            <a:avLst/>
          </a:prstGeom>
          <a:noFill/>
        </p:spPr>
        <p:txBody>
          <a:bodyPr wrap="square" rtlCol="0">
            <a:spAutoFit/>
          </a:bodyPr>
          <a:lstStyle/>
          <a:p>
            <a:r>
              <a:rPr lang="en-US" sz="2400" dirty="0" smtClean="0">
                <a:solidFill>
                  <a:srgbClr val="7030A0"/>
                </a:solidFill>
              </a:rPr>
              <a:t>50</a:t>
            </a:r>
            <a:endParaRPr lang="en-US" sz="2400" dirty="0">
              <a:solidFill>
                <a:srgbClr val="7030A0"/>
              </a:solidFill>
            </a:endParaRPr>
          </a:p>
        </p:txBody>
      </p:sp>
      <p:sp>
        <p:nvSpPr>
          <p:cNvPr id="38" name="TextBox 37"/>
          <p:cNvSpPr txBox="1"/>
          <p:nvPr/>
        </p:nvSpPr>
        <p:spPr>
          <a:xfrm>
            <a:off x="6357950" y="2285992"/>
            <a:ext cx="2514600"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Element=20</a:t>
            </a:r>
          </a:p>
        </p:txBody>
      </p:sp>
      <p:sp>
        <p:nvSpPr>
          <p:cNvPr id="40" name="Slide Number Placeholder 39"/>
          <p:cNvSpPr>
            <a:spLocks noGrp="1"/>
          </p:cNvSpPr>
          <p:nvPr>
            <p:ph type="sldNum" sz="quarter" idx="12"/>
          </p:nvPr>
        </p:nvSpPr>
        <p:spPr/>
        <p:txBody>
          <a:bodyPr/>
          <a:lstStyle/>
          <a:p>
            <a:fld id="{74E22635-7FE9-4421-97F1-05CE0EFEF615}" type="slidenum">
              <a:rPr lang="en-US" altLang="en-US" smtClean="0"/>
              <a:pPr/>
              <a:t>21</a:t>
            </a:fld>
            <a:endParaRPr lang="en-US" altLang="en-US"/>
          </a:p>
        </p:txBody>
      </p:sp>
      <p:sp>
        <p:nvSpPr>
          <p:cNvPr id="36" name="Title 35"/>
          <p:cNvSpPr>
            <a:spLocks noGrp="1"/>
          </p:cNvSpPr>
          <p:nvPr>
            <p:ph type="title"/>
          </p:nvPr>
        </p:nvSpPr>
        <p:spPr>
          <a:xfrm>
            <a:off x="1357290" y="122238"/>
            <a:ext cx="7286676" cy="1295400"/>
          </a:xfrm>
        </p:spPr>
        <p:txBody>
          <a:bodyPr/>
          <a:lstStyle/>
          <a:p>
            <a:r>
              <a:rPr lang="en-US" sz="3600" dirty="0" smtClean="0">
                <a:latin typeface="Times New Roman" pitchFamily="18" charset="0"/>
                <a:cs typeface="Times New Roman" pitchFamily="18" charset="0"/>
              </a:rPr>
              <a:t>DELETION(DEQUEUE) Operation</a:t>
            </a:r>
            <a:endParaRPr lang="en-US" sz="36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505200" y="5486400"/>
            <a:ext cx="838200" cy="307777"/>
          </a:xfrm>
          <a:prstGeom prst="rect">
            <a:avLst/>
          </a:prstGeom>
          <a:noFill/>
        </p:spPr>
        <p:txBody>
          <a:bodyPr wrap="square" rtlCol="0">
            <a:spAutoFit/>
          </a:bodyPr>
          <a:lstStyle/>
          <a:p>
            <a:r>
              <a:rPr lang="en-US" sz="1400" dirty="0" smtClean="0"/>
              <a:t>Front=2</a:t>
            </a:r>
            <a:endParaRPr lang="en-US" sz="1400" dirty="0"/>
          </a:p>
        </p:txBody>
      </p:sp>
      <p:sp>
        <p:nvSpPr>
          <p:cNvPr id="23" name="Right Arrow 22"/>
          <p:cNvSpPr/>
          <p:nvPr/>
        </p:nvSpPr>
        <p:spPr>
          <a:xfrm rot="16200000" flipV="1">
            <a:off x="1905001"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3581400"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1828800" y="5486400"/>
            <a:ext cx="838200" cy="307777"/>
          </a:xfrm>
          <a:prstGeom prst="rect">
            <a:avLst/>
          </a:prstGeom>
          <a:noFill/>
        </p:spPr>
        <p:txBody>
          <a:bodyPr wrap="square" rtlCol="0">
            <a:spAutoFit/>
          </a:bodyPr>
          <a:lstStyle/>
          <a:p>
            <a:r>
              <a:rPr lang="en-US" sz="1400" dirty="0" smtClean="0"/>
              <a:t>Rear=4</a:t>
            </a:r>
            <a:endParaRPr lang="en-US" sz="1400" dirty="0"/>
          </a:p>
        </p:txBody>
      </p:sp>
      <p:sp>
        <p:nvSpPr>
          <p:cNvPr id="26" name="TextBox 25"/>
          <p:cNvSpPr txBox="1"/>
          <p:nvPr/>
        </p:nvSpPr>
        <p:spPr>
          <a:xfrm>
            <a:off x="1828800" y="3276600"/>
            <a:ext cx="1028688" cy="523220"/>
          </a:xfrm>
          <a:prstGeom prst="rect">
            <a:avLst/>
          </a:prstGeom>
          <a:noFill/>
        </p:spPr>
        <p:txBody>
          <a:bodyPr wrap="square" rtlCol="0">
            <a:spAutoFit/>
          </a:bodyPr>
          <a:lstStyle/>
          <a:p>
            <a:r>
              <a:rPr lang="en-US" dirty="0" smtClean="0"/>
              <a:t>Q[4]</a:t>
            </a:r>
            <a:endParaRPr lang="en-US" sz="2000" dirty="0"/>
          </a:p>
        </p:txBody>
      </p:sp>
      <p:sp>
        <p:nvSpPr>
          <p:cNvPr id="27" name="TextBox 26"/>
          <p:cNvSpPr txBox="1"/>
          <p:nvPr/>
        </p:nvSpPr>
        <p:spPr>
          <a:xfrm>
            <a:off x="2667000" y="3276600"/>
            <a:ext cx="1047744" cy="523220"/>
          </a:xfrm>
          <a:prstGeom prst="rect">
            <a:avLst/>
          </a:prstGeom>
          <a:noFill/>
        </p:spPr>
        <p:txBody>
          <a:bodyPr wrap="square" rtlCol="0">
            <a:spAutoFit/>
          </a:bodyPr>
          <a:lstStyle/>
          <a:p>
            <a:r>
              <a:rPr lang="en-US" dirty="0" smtClean="0"/>
              <a:t>Q[3]</a:t>
            </a:r>
            <a:endParaRPr lang="en-US" dirty="0"/>
          </a:p>
        </p:txBody>
      </p:sp>
      <p:sp>
        <p:nvSpPr>
          <p:cNvPr id="28" name="TextBox 27"/>
          <p:cNvSpPr txBox="1"/>
          <p:nvPr/>
        </p:nvSpPr>
        <p:spPr>
          <a:xfrm>
            <a:off x="3581400" y="3257490"/>
            <a:ext cx="1133476" cy="523220"/>
          </a:xfrm>
          <a:prstGeom prst="rect">
            <a:avLst/>
          </a:prstGeom>
          <a:noFill/>
        </p:spPr>
        <p:txBody>
          <a:bodyPr wrap="square" rtlCol="0">
            <a:spAutoFit/>
          </a:bodyPr>
          <a:lstStyle/>
          <a:p>
            <a:r>
              <a:rPr lang="en-US" dirty="0" smtClean="0"/>
              <a:t>Q[2]</a:t>
            </a:r>
            <a:endParaRPr lang="en-US" sz="2000" dirty="0"/>
          </a:p>
        </p:txBody>
      </p:sp>
      <p:sp>
        <p:nvSpPr>
          <p:cNvPr id="29" name="TextBox 28"/>
          <p:cNvSpPr txBox="1"/>
          <p:nvPr/>
        </p:nvSpPr>
        <p:spPr>
          <a:xfrm>
            <a:off x="4495800" y="3257490"/>
            <a:ext cx="1004894" cy="523220"/>
          </a:xfrm>
          <a:prstGeom prst="rect">
            <a:avLst/>
          </a:prstGeom>
          <a:noFill/>
        </p:spPr>
        <p:txBody>
          <a:bodyPr wrap="square" rtlCol="0">
            <a:spAutoFit/>
          </a:bodyPr>
          <a:lstStyle/>
          <a:p>
            <a:r>
              <a:rPr lang="en-US" dirty="0" smtClean="0"/>
              <a:t>Q[1</a:t>
            </a:r>
            <a:r>
              <a:rPr lang="en-US" sz="2000" dirty="0" smtClean="0"/>
              <a:t>]</a:t>
            </a:r>
            <a:endParaRPr lang="en-US" sz="2000" dirty="0"/>
          </a:p>
        </p:txBody>
      </p:sp>
      <p:sp>
        <p:nvSpPr>
          <p:cNvPr id="30" name="TextBox 29"/>
          <p:cNvSpPr txBox="1"/>
          <p:nvPr/>
        </p:nvSpPr>
        <p:spPr>
          <a:xfrm>
            <a:off x="5334000" y="3257490"/>
            <a:ext cx="952512" cy="523220"/>
          </a:xfrm>
          <a:prstGeom prst="rect">
            <a:avLst/>
          </a:prstGeom>
          <a:noFill/>
        </p:spPr>
        <p:txBody>
          <a:bodyPr wrap="square" rtlCol="0">
            <a:spAutoFit/>
          </a:bodyPr>
          <a:lstStyle/>
          <a:p>
            <a:r>
              <a:rPr lang="en-US" dirty="0" smtClean="0"/>
              <a:t>Q[0]</a:t>
            </a:r>
            <a:endParaRPr lang="en-US" sz="2000" dirty="0"/>
          </a:p>
        </p:txBody>
      </p:sp>
      <p:sp>
        <p:nvSpPr>
          <p:cNvPr id="31" name="TextBox 30"/>
          <p:cNvSpPr txBox="1"/>
          <p:nvPr/>
        </p:nvSpPr>
        <p:spPr>
          <a:xfrm>
            <a:off x="685800" y="1371600"/>
            <a:ext cx="13716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3" name="TextBox 32"/>
          <p:cNvSpPr txBox="1"/>
          <p:nvPr/>
        </p:nvSpPr>
        <p:spPr>
          <a:xfrm>
            <a:off x="3657600" y="4038600"/>
            <a:ext cx="609600" cy="461665"/>
          </a:xfrm>
          <a:prstGeom prst="rect">
            <a:avLst/>
          </a:prstGeom>
          <a:noFill/>
        </p:spPr>
        <p:txBody>
          <a:bodyPr wrap="square" rtlCol="0">
            <a:spAutoFit/>
          </a:bodyPr>
          <a:lstStyle/>
          <a:p>
            <a:r>
              <a:rPr lang="en-US" sz="2400" dirty="0" smtClean="0">
                <a:solidFill>
                  <a:srgbClr val="7030A0"/>
                </a:solidFill>
              </a:rPr>
              <a:t>30</a:t>
            </a:r>
            <a:endParaRPr lang="en-US" sz="2400" dirty="0">
              <a:solidFill>
                <a:srgbClr val="7030A0"/>
              </a:solidFill>
            </a:endParaRPr>
          </a:p>
        </p:txBody>
      </p:sp>
      <p:sp>
        <p:nvSpPr>
          <p:cNvPr id="34" name="TextBox 33"/>
          <p:cNvSpPr txBox="1"/>
          <p:nvPr/>
        </p:nvSpPr>
        <p:spPr>
          <a:xfrm>
            <a:off x="2743200" y="4038600"/>
            <a:ext cx="609600" cy="461665"/>
          </a:xfrm>
          <a:prstGeom prst="rect">
            <a:avLst/>
          </a:prstGeom>
          <a:noFill/>
        </p:spPr>
        <p:txBody>
          <a:bodyPr wrap="square" rtlCol="0">
            <a:spAutoFit/>
          </a:bodyPr>
          <a:lstStyle/>
          <a:p>
            <a:r>
              <a:rPr lang="en-US" sz="2400" dirty="0" smtClean="0">
                <a:solidFill>
                  <a:srgbClr val="7030A0"/>
                </a:solidFill>
              </a:rPr>
              <a:t>40</a:t>
            </a:r>
            <a:endParaRPr lang="en-US" sz="2400" dirty="0">
              <a:solidFill>
                <a:srgbClr val="7030A0"/>
              </a:solidFill>
            </a:endParaRPr>
          </a:p>
        </p:txBody>
      </p:sp>
      <p:sp>
        <p:nvSpPr>
          <p:cNvPr id="35" name="TextBox 34"/>
          <p:cNvSpPr txBox="1"/>
          <p:nvPr/>
        </p:nvSpPr>
        <p:spPr>
          <a:xfrm>
            <a:off x="1905000" y="4038600"/>
            <a:ext cx="609600" cy="461665"/>
          </a:xfrm>
          <a:prstGeom prst="rect">
            <a:avLst/>
          </a:prstGeom>
          <a:noFill/>
        </p:spPr>
        <p:txBody>
          <a:bodyPr wrap="square" rtlCol="0">
            <a:spAutoFit/>
          </a:bodyPr>
          <a:lstStyle/>
          <a:p>
            <a:r>
              <a:rPr lang="en-US" sz="2400" dirty="0" smtClean="0">
                <a:solidFill>
                  <a:srgbClr val="7030A0"/>
                </a:solidFill>
              </a:rPr>
              <a:t>50</a:t>
            </a:r>
            <a:endParaRPr lang="en-US" sz="2400" dirty="0">
              <a:solidFill>
                <a:srgbClr val="7030A0"/>
              </a:solidFill>
            </a:endParaRPr>
          </a:p>
        </p:txBody>
      </p:sp>
      <p:sp>
        <p:nvSpPr>
          <p:cNvPr id="38" name="TextBox 37"/>
          <p:cNvSpPr txBox="1"/>
          <p:nvPr/>
        </p:nvSpPr>
        <p:spPr>
          <a:xfrm>
            <a:off x="6286512" y="2000240"/>
            <a:ext cx="2514600"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Element=30</a:t>
            </a:r>
          </a:p>
        </p:txBody>
      </p:sp>
      <p:sp>
        <p:nvSpPr>
          <p:cNvPr id="37" name="Slide Number Placeholder 36"/>
          <p:cNvSpPr>
            <a:spLocks noGrp="1"/>
          </p:cNvSpPr>
          <p:nvPr>
            <p:ph type="sldNum" sz="quarter" idx="12"/>
          </p:nvPr>
        </p:nvSpPr>
        <p:spPr/>
        <p:txBody>
          <a:bodyPr/>
          <a:lstStyle/>
          <a:p>
            <a:fld id="{74E22635-7FE9-4421-97F1-05CE0EFEF615}" type="slidenum">
              <a:rPr lang="en-US" altLang="en-US" smtClean="0"/>
              <a:pPr/>
              <a:t>22</a:t>
            </a:fld>
            <a:endParaRPr lang="en-US" altLang="en-US"/>
          </a:p>
        </p:txBody>
      </p:sp>
      <p:sp>
        <p:nvSpPr>
          <p:cNvPr id="36" name="Title 35"/>
          <p:cNvSpPr>
            <a:spLocks noGrp="1"/>
          </p:cNvSpPr>
          <p:nvPr>
            <p:ph type="title"/>
          </p:nvPr>
        </p:nvSpPr>
        <p:spPr>
          <a:xfrm>
            <a:off x="1142976" y="122238"/>
            <a:ext cx="7572428" cy="1295400"/>
          </a:xfrm>
        </p:spPr>
        <p:txBody>
          <a:bodyPr/>
          <a:lstStyle/>
          <a:p>
            <a:r>
              <a:rPr lang="en-US" sz="3600" dirty="0" smtClean="0">
                <a:latin typeface="Times New Roman" pitchFamily="18" charset="0"/>
                <a:cs typeface="Times New Roman" pitchFamily="18" charset="0"/>
              </a:rPr>
              <a:t>DELETION(DEQUEUE) Operation</a:t>
            </a:r>
            <a:endParaRPr lang="en-US" sz="36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743200" y="5486400"/>
            <a:ext cx="838200" cy="307777"/>
          </a:xfrm>
          <a:prstGeom prst="rect">
            <a:avLst/>
          </a:prstGeom>
          <a:noFill/>
        </p:spPr>
        <p:txBody>
          <a:bodyPr wrap="square" rtlCol="0">
            <a:spAutoFit/>
          </a:bodyPr>
          <a:lstStyle/>
          <a:p>
            <a:r>
              <a:rPr lang="en-US" sz="1400" dirty="0" smtClean="0"/>
              <a:t>Front=3</a:t>
            </a:r>
            <a:endParaRPr lang="en-US" sz="1400" dirty="0"/>
          </a:p>
        </p:txBody>
      </p:sp>
      <p:sp>
        <p:nvSpPr>
          <p:cNvPr id="23" name="Right Arrow 22"/>
          <p:cNvSpPr/>
          <p:nvPr/>
        </p:nvSpPr>
        <p:spPr>
          <a:xfrm rot="16200000" flipV="1">
            <a:off x="1905001"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2743200"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1828800" y="5486400"/>
            <a:ext cx="838200" cy="307777"/>
          </a:xfrm>
          <a:prstGeom prst="rect">
            <a:avLst/>
          </a:prstGeom>
          <a:noFill/>
        </p:spPr>
        <p:txBody>
          <a:bodyPr wrap="square" rtlCol="0">
            <a:spAutoFit/>
          </a:bodyPr>
          <a:lstStyle/>
          <a:p>
            <a:r>
              <a:rPr lang="en-US" sz="1400" dirty="0" smtClean="0"/>
              <a:t>Rear=4</a:t>
            </a:r>
            <a:endParaRPr lang="en-US" sz="1400" dirty="0"/>
          </a:p>
        </p:txBody>
      </p:sp>
      <p:sp>
        <p:nvSpPr>
          <p:cNvPr id="26" name="TextBox 25"/>
          <p:cNvSpPr txBox="1"/>
          <p:nvPr/>
        </p:nvSpPr>
        <p:spPr>
          <a:xfrm>
            <a:off x="1828800" y="3276600"/>
            <a:ext cx="957250" cy="523220"/>
          </a:xfrm>
          <a:prstGeom prst="rect">
            <a:avLst/>
          </a:prstGeom>
          <a:noFill/>
        </p:spPr>
        <p:txBody>
          <a:bodyPr wrap="square" rtlCol="0">
            <a:spAutoFit/>
          </a:bodyPr>
          <a:lstStyle/>
          <a:p>
            <a:r>
              <a:rPr lang="en-US" dirty="0" smtClean="0"/>
              <a:t>Q[4]</a:t>
            </a:r>
            <a:endParaRPr lang="en-US" sz="2000" dirty="0"/>
          </a:p>
        </p:txBody>
      </p:sp>
      <p:sp>
        <p:nvSpPr>
          <p:cNvPr id="27" name="TextBox 26"/>
          <p:cNvSpPr txBox="1"/>
          <p:nvPr/>
        </p:nvSpPr>
        <p:spPr>
          <a:xfrm>
            <a:off x="2667000" y="3276600"/>
            <a:ext cx="904868" cy="523220"/>
          </a:xfrm>
          <a:prstGeom prst="rect">
            <a:avLst/>
          </a:prstGeom>
          <a:noFill/>
        </p:spPr>
        <p:txBody>
          <a:bodyPr wrap="square" rtlCol="0">
            <a:spAutoFit/>
          </a:bodyPr>
          <a:lstStyle/>
          <a:p>
            <a:r>
              <a:rPr lang="en-US" dirty="0" smtClean="0"/>
              <a:t>Q[3]</a:t>
            </a:r>
            <a:endParaRPr lang="en-US" sz="2000" dirty="0"/>
          </a:p>
        </p:txBody>
      </p:sp>
      <p:sp>
        <p:nvSpPr>
          <p:cNvPr id="28" name="TextBox 27"/>
          <p:cNvSpPr txBox="1"/>
          <p:nvPr/>
        </p:nvSpPr>
        <p:spPr>
          <a:xfrm>
            <a:off x="3581400" y="3257490"/>
            <a:ext cx="1133476" cy="523220"/>
          </a:xfrm>
          <a:prstGeom prst="rect">
            <a:avLst/>
          </a:prstGeom>
          <a:noFill/>
        </p:spPr>
        <p:txBody>
          <a:bodyPr wrap="square" rtlCol="0">
            <a:spAutoFit/>
          </a:bodyPr>
          <a:lstStyle/>
          <a:p>
            <a:r>
              <a:rPr lang="en-US" dirty="0" smtClean="0"/>
              <a:t>Q[2]</a:t>
            </a:r>
            <a:endParaRPr lang="en-US" sz="2000" dirty="0"/>
          </a:p>
        </p:txBody>
      </p:sp>
      <p:sp>
        <p:nvSpPr>
          <p:cNvPr id="29" name="TextBox 28"/>
          <p:cNvSpPr txBox="1"/>
          <p:nvPr/>
        </p:nvSpPr>
        <p:spPr>
          <a:xfrm>
            <a:off x="4495800" y="3257490"/>
            <a:ext cx="1076332" cy="523220"/>
          </a:xfrm>
          <a:prstGeom prst="rect">
            <a:avLst/>
          </a:prstGeom>
          <a:noFill/>
        </p:spPr>
        <p:txBody>
          <a:bodyPr wrap="square" rtlCol="0">
            <a:spAutoFit/>
          </a:bodyPr>
          <a:lstStyle/>
          <a:p>
            <a:r>
              <a:rPr lang="en-US" dirty="0" smtClean="0"/>
              <a:t>Q[1]</a:t>
            </a:r>
            <a:endParaRPr lang="en-US" sz="2000" dirty="0"/>
          </a:p>
        </p:txBody>
      </p:sp>
      <p:sp>
        <p:nvSpPr>
          <p:cNvPr id="30" name="TextBox 29"/>
          <p:cNvSpPr txBox="1"/>
          <p:nvPr/>
        </p:nvSpPr>
        <p:spPr>
          <a:xfrm>
            <a:off x="5334000" y="3257490"/>
            <a:ext cx="1381140" cy="523220"/>
          </a:xfrm>
          <a:prstGeom prst="rect">
            <a:avLst/>
          </a:prstGeom>
          <a:noFill/>
        </p:spPr>
        <p:txBody>
          <a:bodyPr wrap="square" rtlCol="0">
            <a:spAutoFit/>
          </a:bodyPr>
          <a:lstStyle/>
          <a:p>
            <a:r>
              <a:rPr lang="en-US" dirty="0" smtClean="0"/>
              <a:t>Q[0]</a:t>
            </a:r>
            <a:endParaRPr lang="en-US" sz="2000" dirty="0"/>
          </a:p>
        </p:txBody>
      </p:sp>
      <p:sp>
        <p:nvSpPr>
          <p:cNvPr id="31" name="TextBox 30"/>
          <p:cNvSpPr txBox="1"/>
          <p:nvPr/>
        </p:nvSpPr>
        <p:spPr>
          <a:xfrm>
            <a:off x="685800" y="1371600"/>
            <a:ext cx="13716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4" name="TextBox 33"/>
          <p:cNvSpPr txBox="1"/>
          <p:nvPr/>
        </p:nvSpPr>
        <p:spPr>
          <a:xfrm>
            <a:off x="2743200" y="4038600"/>
            <a:ext cx="609600" cy="461665"/>
          </a:xfrm>
          <a:prstGeom prst="rect">
            <a:avLst/>
          </a:prstGeom>
          <a:noFill/>
        </p:spPr>
        <p:txBody>
          <a:bodyPr wrap="square" rtlCol="0">
            <a:spAutoFit/>
          </a:bodyPr>
          <a:lstStyle/>
          <a:p>
            <a:r>
              <a:rPr lang="en-US" sz="2400" dirty="0" smtClean="0">
                <a:solidFill>
                  <a:srgbClr val="7030A0"/>
                </a:solidFill>
              </a:rPr>
              <a:t>40</a:t>
            </a:r>
            <a:endParaRPr lang="en-US" sz="2400" dirty="0">
              <a:solidFill>
                <a:srgbClr val="7030A0"/>
              </a:solidFill>
            </a:endParaRPr>
          </a:p>
        </p:txBody>
      </p:sp>
      <p:sp>
        <p:nvSpPr>
          <p:cNvPr id="35" name="TextBox 34"/>
          <p:cNvSpPr txBox="1"/>
          <p:nvPr/>
        </p:nvSpPr>
        <p:spPr>
          <a:xfrm>
            <a:off x="1905000" y="4038600"/>
            <a:ext cx="609600" cy="461665"/>
          </a:xfrm>
          <a:prstGeom prst="rect">
            <a:avLst/>
          </a:prstGeom>
          <a:noFill/>
        </p:spPr>
        <p:txBody>
          <a:bodyPr wrap="square" rtlCol="0">
            <a:spAutoFit/>
          </a:bodyPr>
          <a:lstStyle/>
          <a:p>
            <a:r>
              <a:rPr lang="en-US" sz="2400" dirty="0" smtClean="0">
                <a:solidFill>
                  <a:srgbClr val="7030A0"/>
                </a:solidFill>
              </a:rPr>
              <a:t>50</a:t>
            </a:r>
            <a:endParaRPr lang="en-US" sz="2400" dirty="0">
              <a:solidFill>
                <a:srgbClr val="7030A0"/>
              </a:solidFill>
            </a:endParaRPr>
          </a:p>
        </p:txBody>
      </p:sp>
      <p:sp>
        <p:nvSpPr>
          <p:cNvPr id="38" name="TextBox 37"/>
          <p:cNvSpPr txBox="1"/>
          <p:nvPr/>
        </p:nvSpPr>
        <p:spPr>
          <a:xfrm>
            <a:off x="6143636" y="2071678"/>
            <a:ext cx="2514600"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Element=40</a:t>
            </a:r>
          </a:p>
        </p:txBody>
      </p:sp>
      <p:sp>
        <p:nvSpPr>
          <p:cNvPr id="36" name="Slide Number Placeholder 35"/>
          <p:cNvSpPr>
            <a:spLocks noGrp="1"/>
          </p:cNvSpPr>
          <p:nvPr>
            <p:ph type="sldNum" sz="quarter" idx="12"/>
          </p:nvPr>
        </p:nvSpPr>
        <p:spPr/>
        <p:txBody>
          <a:bodyPr/>
          <a:lstStyle/>
          <a:p>
            <a:fld id="{74E22635-7FE9-4421-97F1-05CE0EFEF615}" type="slidenum">
              <a:rPr lang="en-US" altLang="en-US" smtClean="0"/>
              <a:pPr/>
              <a:t>23</a:t>
            </a:fld>
            <a:endParaRPr lang="en-US" altLang="en-US"/>
          </a:p>
        </p:txBody>
      </p:sp>
      <p:sp>
        <p:nvSpPr>
          <p:cNvPr id="22" name="Title 21"/>
          <p:cNvSpPr>
            <a:spLocks noGrp="1"/>
          </p:cNvSpPr>
          <p:nvPr>
            <p:ph type="title"/>
          </p:nvPr>
        </p:nvSpPr>
        <p:spPr>
          <a:xfrm>
            <a:off x="1357290" y="122238"/>
            <a:ext cx="7500990" cy="1295400"/>
          </a:xfrm>
        </p:spPr>
        <p:txBody>
          <a:bodyPr/>
          <a:lstStyle/>
          <a:p>
            <a:r>
              <a:rPr lang="en-US" sz="3600" dirty="0" smtClean="0">
                <a:latin typeface="Times New Roman" pitchFamily="18" charset="0"/>
                <a:cs typeface="Times New Roman" pitchFamily="18" charset="0"/>
              </a:rPr>
              <a:t>DELETION(DEQUEUE) Operation</a:t>
            </a:r>
            <a:endParaRPr lang="en-US" sz="36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209800" y="5486400"/>
            <a:ext cx="838200" cy="307777"/>
          </a:xfrm>
          <a:prstGeom prst="rect">
            <a:avLst/>
          </a:prstGeom>
          <a:noFill/>
        </p:spPr>
        <p:txBody>
          <a:bodyPr wrap="square" rtlCol="0">
            <a:spAutoFit/>
          </a:bodyPr>
          <a:lstStyle/>
          <a:p>
            <a:r>
              <a:rPr lang="en-US" sz="1400" dirty="0" smtClean="0"/>
              <a:t>Front=4</a:t>
            </a:r>
            <a:endParaRPr lang="en-US" sz="1400" dirty="0"/>
          </a:p>
        </p:txBody>
      </p:sp>
      <p:sp>
        <p:nvSpPr>
          <p:cNvPr id="23" name="Right Arrow 22"/>
          <p:cNvSpPr/>
          <p:nvPr/>
        </p:nvSpPr>
        <p:spPr>
          <a:xfrm rot="16200000" flipV="1">
            <a:off x="1600200"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2209800"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1524000" y="5486400"/>
            <a:ext cx="838200" cy="307777"/>
          </a:xfrm>
          <a:prstGeom prst="rect">
            <a:avLst/>
          </a:prstGeom>
          <a:noFill/>
        </p:spPr>
        <p:txBody>
          <a:bodyPr wrap="square" rtlCol="0">
            <a:spAutoFit/>
          </a:bodyPr>
          <a:lstStyle/>
          <a:p>
            <a:r>
              <a:rPr lang="en-US" sz="1400" dirty="0" smtClean="0"/>
              <a:t>Rear=4</a:t>
            </a:r>
            <a:endParaRPr lang="en-US" sz="1400" dirty="0"/>
          </a:p>
        </p:txBody>
      </p:sp>
      <p:sp>
        <p:nvSpPr>
          <p:cNvPr id="26" name="TextBox 25"/>
          <p:cNvSpPr txBox="1"/>
          <p:nvPr/>
        </p:nvSpPr>
        <p:spPr>
          <a:xfrm>
            <a:off x="1828800" y="3276600"/>
            <a:ext cx="957250" cy="523220"/>
          </a:xfrm>
          <a:prstGeom prst="rect">
            <a:avLst/>
          </a:prstGeom>
          <a:noFill/>
        </p:spPr>
        <p:txBody>
          <a:bodyPr wrap="square" rtlCol="0">
            <a:spAutoFit/>
          </a:bodyPr>
          <a:lstStyle/>
          <a:p>
            <a:r>
              <a:rPr lang="en-US" dirty="0" smtClean="0"/>
              <a:t>Q[4]</a:t>
            </a:r>
            <a:endParaRPr lang="en-US" sz="2000" dirty="0"/>
          </a:p>
        </p:txBody>
      </p:sp>
      <p:sp>
        <p:nvSpPr>
          <p:cNvPr id="27" name="TextBox 26"/>
          <p:cNvSpPr txBox="1"/>
          <p:nvPr/>
        </p:nvSpPr>
        <p:spPr>
          <a:xfrm>
            <a:off x="2667000" y="3276600"/>
            <a:ext cx="904868" cy="523220"/>
          </a:xfrm>
          <a:prstGeom prst="rect">
            <a:avLst/>
          </a:prstGeom>
          <a:noFill/>
        </p:spPr>
        <p:txBody>
          <a:bodyPr wrap="square" rtlCol="0">
            <a:spAutoFit/>
          </a:bodyPr>
          <a:lstStyle/>
          <a:p>
            <a:r>
              <a:rPr lang="en-US" dirty="0" smtClean="0"/>
              <a:t>Q[3]</a:t>
            </a:r>
            <a:endParaRPr lang="en-US" sz="2000" dirty="0"/>
          </a:p>
        </p:txBody>
      </p:sp>
      <p:sp>
        <p:nvSpPr>
          <p:cNvPr id="28" name="TextBox 27"/>
          <p:cNvSpPr txBox="1"/>
          <p:nvPr/>
        </p:nvSpPr>
        <p:spPr>
          <a:xfrm>
            <a:off x="3581400" y="3257490"/>
            <a:ext cx="1062038" cy="523220"/>
          </a:xfrm>
          <a:prstGeom prst="rect">
            <a:avLst/>
          </a:prstGeom>
          <a:noFill/>
        </p:spPr>
        <p:txBody>
          <a:bodyPr wrap="square" rtlCol="0">
            <a:spAutoFit/>
          </a:bodyPr>
          <a:lstStyle/>
          <a:p>
            <a:r>
              <a:rPr lang="en-US" dirty="0" smtClean="0"/>
              <a:t>Q[2]</a:t>
            </a:r>
            <a:endParaRPr lang="en-US" sz="2000" dirty="0"/>
          </a:p>
        </p:txBody>
      </p:sp>
      <p:sp>
        <p:nvSpPr>
          <p:cNvPr id="29" name="TextBox 28"/>
          <p:cNvSpPr txBox="1"/>
          <p:nvPr/>
        </p:nvSpPr>
        <p:spPr>
          <a:xfrm>
            <a:off x="4495800" y="3257490"/>
            <a:ext cx="1004894" cy="523220"/>
          </a:xfrm>
          <a:prstGeom prst="rect">
            <a:avLst/>
          </a:prstGeom>
          <a:noFill/>
        </p:spPr>
        <p:txBody>
          <a:bodyPr wrap="square" rtlCol="0">
            <a:spAutoFit/>
          </a:bodyPr>
          <a:lstStyle/>
          <a:p>
            <a:r>
              <a:rPr lang="en-US" dirty="0" smtClean="0"/>
              <a:t>Q[1]</a:t>
            </a:r>
            <a:endParaRPr lang="en-US" sz="2000" dirty="0"/>
          </a:p>
        </p:txBody>
      </p:sp>
      <p:sp>
        <p:nvSpPr>
          <p:cNvPr id="30" name="TextBox 29"/>
          <p:cNvSpPr txBox="1"/>
          <p:nvPr/>
        </p:nvSpPr>
        <p:spPr>
          <a:xfrm>
            <a:off x="5334000" y="3257490"/>
            <a:ext cx="1095388" cy="523220"/>
          </a:xfrm>
          <a:prstGeom prst="rect">
            <a:avLst/>
          </a:prstGeom>
          <a:noFill/>
        </p:spPr>
        <p:txBody>
          <a:bodyPr wrap="square" rtlCol="0">
            <a:spAutoFit/>
          </a:bodyPr>
          <a:lstStyle/>
          <a:p>
            <a:r>
              <a:rPr lang="en-US" dirty="0" smtClean="0"/>
              <a:t>Q[0]</a:t>
            </a:r>
            <a:endParaRPr lang="en-US" sz="2000" dirty="0"/>
          </a:p>
        </p:txBody>
      </p:sp>
      <p:sp>
        <p:nvSpPr>
          <p:cNvPr id="31" name="TextBox 30"/>
          <p:cNvSpPr txBox="1"/>
          <p:nvPr/>
        </p:nvSpPr>
        <p:spPr>
          <a:xfrm>
            <a:off x="685800" y="1371600"/>
            <a:ext cx="13716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5" name="TextBox 34"/>
          <p:cNvSpPr txBox="1"/>
          <p:nvPr/>
        </p:nvSpPr>
        <p:spPr>
          <a:xfrm>
            <a:off x="1905000" y="4038600"/>
            <a:ext cx="609600" cy="461665"/>
          </a:xfrm>
          <a:prstGeom prst="rect">
            <a:avLst/>
          </a:prstGeom>
          <a:noFill/>
        </p:spPr>
        <p:txBody>
          <a:bodyPr wrap="square" rtlCol="0">
            <a:spAutoFit/>
          </a:bodyPr>
          <a:lstStyle/>
          <a:p>
            <a:r>
              <a:rPr lang="en-US" sz="2400" dirty="0" smtClean="0">
                <a:solidFill>
                  <a:srgbClr val="7030A0"/>
                </a:solidFill>
              </a:rPr>
              <a:t>50</a:t>
            </a:r>
            <a:endParaRPr lang="en-US" sz="2400" dirty="0">
              <a:solidFill>
                <a:srgbClr val="7030A0"/>
              </a:solidFill>
            </a:endParaRPr>
          </a:p>
        </p:txBody>
      </p:sp>
      <p:sp>
        <p:nvSpPr>
          <p:cNvPr id="38" name="TextBox 37"/>
          <p:cNvSpPr txBox="1"/>
          <p:nvPr/>
        </p:nvSpPr>
        <p:spPr>
          <a:xfrm>
            <a:off x="6143636" y="2000240"/>
            <a:ext cx="2514600"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Element=50</a:t>
            </a:r>
          </a:p>
        </p:txBody>
      </p:sp>
      <p:sp>
        <p:nvSpPr>
          <p:cNvPr id="34" name="Slide Number Placeholder 33"/>
          <p:cNvSpPr>
            <a:spLocks noGrp="1"/>
          </p:cNvSpPr>
          <p:nvPr>
            <p:ph type="sldNum" sz="quarter" idx="12"/>
          </p:nvPr>
        </p:nvSpPr>
        <p:spPr/>
        <p:txBody>
          <a:bodyPr/>
          <a:lstStyle/>
          <a:p>
            <a:fld id="{74E22635-7FE9-4421-97F1-05CE0EFEF615}" type="slidenum">
              <a:rPr lang="en-US" altLang="en-US" smtClean="0"/>
              <a:pPr/>
              <a:t>24</a:t>
            </a:fld>
            <a:endParaRPr lang="en-US" altLang="en-US"/>
          </a:p>
        </p:txBody>
      </p:sp>
      <p:sp>
        <p:nvSpPr>
          <p:cNvPr id="22" name="Title 21"/>
          <p:cNvSpPr>
            <a:spLocks noGrp="1"/>
          </p:cNvSpPr>
          <p:nvPr>
            <p:ph type="title"/>
          </p:nvPr>
        </p:nvSpPr>
        <p:spPr>
          <a:xfrm>
            <a:off x="1071538" y="122238"/>
            <a:ext cx="7786742" cy="1295400"/>
          </a:xfrm>
        </p:spPr>
        <p:txBody>
          <a:bodyPr/>
          <a:lstStyle/>
          <a:p>
            <a:r>
              <a:rPr lang="en-US" dirty="0" smtClean="0">
                <a:latin typeface="Times New Roman" pitchFamily="18" charset="0"/>
                <a:cs typeface="Times New Roman" pitchFamily="18" charset="0"/>
              </a:rPr>
              <a:t>DELETION(DEQUEUE) Operation</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rot="5400000">
            <a:off x="3505200" y="2057400"/>
            <a:ext cx="1066800" cy="4419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rot="5400000">
            <a:off x="2057400" y="4267200"/>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28963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107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725194" y="4266406"/>
            <a:ext cx="1066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34200" y="5486400"/>
            <a:ext cx="914400" cy="307777"/>
          </a:xfrm>
          <a:prstGeom prst="rect">
            <a:avLst/>
          </a:prstGeom>
          <a:noFill/>
        </p:spPr>
        <p:txBody>
          <a:bodyPr wrap="square" rtlCol="0">
            <a:spAutoFit/>
          </a:bodyPr>
          <a:lstStyle/>
          <a:p>
            <a:r>
              <a:rPr lang="en-US" sz="1400" dirty="0" smtClean="0"/>
              <a:t>Front=-1</a:t>
            </a:r>
            <a:endParaRPr lang="en-US" sz="1400" dirty="0"/>
          </a:p>
        </p:txBody>
      </p:sp>
      <p:sp>
        <p:nvSpPr>
          <p:cNvPr id="23" name="Right Arrow 22"/>
          <p:cNvSpPr/>
          <p:nvPr/>
        </p:nvSpPr>
        <p:spPr>
          <a:xfrm rot="16200000" flipV="1">
            <a:off x="6172200"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4" name="Right Arrow 23"/>
          <p:cNvSpPr/>
          <p:nvPr/>
        </p:nvSpPr>
        <p:spPr>
          <a:xfrm rot="16200000" flipV="1">
            <a:off x="6934200" y="510540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5" name="TextBox 24"/>
          <p:cNvSpPr txBox="1"/>
          <p:nvPr/>
        </p:nvSpPr>
        <p:spPr>
          <a:xfrm>
            <a:off x="6019800" y="5486400"/>
            <a:ext cx="838200" cy="307777"/>
          </a:xfrm>
          <a:prstGeom prst="rect">
            <a:avLst/>
          </a:prstGeom>
          <a:noFill/>
        </p:spPr>
        <p:txBody>
          <a:bodyPr wrap="square" rtlCol="0">
            <a:spAutoFit/>
          </a:bodyPr>
          <a:lstStyle/>
          <a:p>
            <a:r>
              <a:rPr lang="en-US" sz="1400" dirty="0" smtClean="0"/>
              <a:t>Rear=-1</a:t>
            </a:r>
            <a:endParaRPr lang="en-US" sz="1400" dirty="0"/>
          </a:p>
        </p:txBody>
      </p:sp>
      <p:sp>
        <p:nvSpPr>
          <p:cNvPr id="26" name="TextBox 25"/>
          <p:cNvSpPr txBox="1"/>
          <p:nvPr/>
        </p:nvSpPr>
        <p:spPr>
          <a:xfrm>
            <a:off x="1828800" y="3276600"/>
            <a:ext cx="885812" cy="523220"/>
          </a:xfrm>
          <a:prstGeom prst="rect">
            <a:avLst/>
          </a:prstGeom>
          <a:noFill/>
        </p:spPr>
        <p:txBody>
          <a:bodyPr wrap="square" rtlCol="0">
            <a:spAutoFit/>
          </a:bodyPr>
          <a:lstStyle/>
          <a:p>
            <a:r>
              <a:rPr lang="en-US" dirty="0" smtClean="0"/>
              <a:t>Q[4</a:t>
            </a:r>
            <a:r>
              <a:rPr lang="en-US" sz="2000" dirty="0" smtClean="0"/>
              <a:t>]</a:t>
            </a:r>
            <a:endParaRPr lang="en-US" sz="2000" dirty="0"/>
          </a:p>
        </p:txBody>
      </p:sp>
      <p:sp>
        <p:nvSpPr>
          <p:cNvPr id="27" name="TextBox 26"/>
          <p:cNvSpPr txBox="1"/>
          <p:nvPr/>
        </p:nvSpPr>
        <p:spPr>
          <a:xfrm>
            <a:off x="2667000" y="3276600"/>
            <a:ext cx="976306" cy="523220"/>
          </a:xfrm>
          <a:prstGeom prst="rect">
            <a:avLst/>
          </a:prstGeom>
          <a:noFill/>
        </p:spPr>
        <p:txBody>
          <a:bodyPr wrap="square" rtlCol="0">
            <a:spAutoFit/>
          </a:bodyPr>
          <a:lstStyle/>
          <a:p>
            <a:r>
              <a:rPr lang="en-US" dirty="0" smtClean="0"/>
              <a:t>Q[3</a:t>
            </a:r>
            <a:r>
              <a:rPr lang="en-US" sz="2000" dirty="0" smtClean="0"/>
              <a:t>]</a:t>
            </a:r>
            <a:endParaRPr lang="en-US" sz="2000" dirty="0"/>
          </a:p>
        </p:txBody>
      </p:sp>
      <p:sp>
        <p:nvSpPr>
          <p:cNvPr id="28" name="TextBox 27"/>
          <p:cNvSpPr txBox="1"/>
          <p:nvPr/>
        </p:nvSpPr>
        <p:spPr>
          <a:xfrm>
            <a:off x="3581400" y="3257490"/>
            <a:ext cx="990600" cy="523220"/>
          </a:xfrm>
          <a:prstGeom prst="rect">
            <a:avLst/>
          </a:prstGeom>
          <a:noFill/>
        </p:spPr>
        <p:txBody>
          <a:bodyPr wrap="square" rtlCol="0">
            <a:spAutoFit/>
          </a:bodyPr>
          <a:lstStyle/>
          <a:p>
            <a:r>
              <a:rPr lang="en-US" dirty="0" smtClean="0"/>
              <a:t>Q[2</a:t>
            </a:r>
            <a:r>
              <a:rPr lang="en-US" sz="2000" dirty="0" smtClean="0"/>
              <a:t>]</a:t>
            </a:r>
            <a:endParaRPr lang="en-US" sz="2000" dirty="0"/>
          </a:p>
        </p:txBody>
      </p:sp>
      <p:sp>
        <p:nvSpPr>
          <p:cNvPr id="29" name="TextBox 28"/>
          <p:cNvSpPr txBox="1"/>
          <p:nvPr/>
        </p:nvSpPr>
        <p:spPr>
          <a:xfrm>
            <a:off x="4495800" y="3257490"/>
            <a:ext cx="933456" cy="523220"/>
          </a:xfrm>
          <a:prstGeom prst="rect">
            <a:avLst/>
          </a:prstGeom>
          <a:noFill/>
        </p:spPr>
        <p:txBody>
          <a:bodyPr wrap="square" rtlCol="0">
            <a:spAutoFit/>
          </a:bodyPr>
          <a:lstStyle/>
          <a:p>
            <a:r>
              <a:rPr lang="en-US" dirty="0" smtClean="0"/>
              <a:t>Q[1</a:t>
            </a:r>
            <a:r>
              <a:rPr lang="en-US" sz="2000" dirty="0" smtClean="0"/>
              <a:t>]</a:t>
            </a:r>
            <a:endParaRPr lang="en-US" sz="2000" dirty="0"/>
          </a:p>
        </p:txBody>
      </p:sp>
      <p:sp>
        <p:nvSpPr>
          <p:cNvPr id="30" name="TextBox 29"/>
          <p:cNvSpPr txBox="1"/>
          <p:nvPr/>
        </p:nvSpPr>
        <p:spPr>
          <a:xfrm>
            <a:off x="5334000" y="3257490"/>
            <a:ext cx="1023950" cy="523220"/>
          </a:xfrm>
          <a:prstGeom prst="rect">
            <a:avLst/>
          </a:prstGeom>
          <a:noFill/>
        </p:spPr>
        <p:txBody>
          <a:bodyPr wrap="square" rtlCol="0">
            <a:spAutoFit/>
          </a:bodyPr>
          <a:lstStyle/>
          <a:p>
            <a:r>
              <a:rPr lang="en-US" dirty="0" smtClean="0"/>
              <a:t>Q[0</a:t>
            </a:r>
            <a:r>
              <a:rPr lang="en-US" sz="2000" dirty="0" smtClean="0"/>
              <a:t>]</a:t>
            </a:r>
            <a:endParaRPr lang="en-US" sz="2000" dirty="0"/>
          </a:p>
        </p:txBody>
      </p:sp>
      <p:sp>
        <p:nvSpPr>
          <p:cNvPr id="31" name="TextBox 30"/>
          <p:cNvSpPr txBox="1"/>
          <p:nvPr/>
        </p:nvSpPr>
        <p:spPr>
          <a:xfrm>
            <a:off x="685800" y="1371600"/>
            <a:ext cx="13716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4" name="Slide Number Placeholder 33"/>
          <p:cNvSpPr>
            <a:spLocks noGrp="1"/>
          </p:cNvSpPr>
          <p:nvPr>
            <p:ph type="sldNum" sz="quarter" idx="12"/>
          </p:nvPr>
        </p:nvSpPr>
        <p:spPr/>
        <p:txBody>
          <a:bodyPr/>
          <a:lstStyle/>
          <a:p>
            <a:fld id="{74E22635-7FE9-4421-97F1-05CE0EFEF615}" type="slidenum">
              <a:rPr lang="en-US" altLang="en-US" smtClean="0"/>
              <a:pPr/>
              <a:t>25</a:t>
            </a:fld>
            <a:endParaRPr lang="en-US" altLang="en-US"/>
          </a:p>
        </p:txBody>
      </p:sp>
      <p:sp>
        <p:nvSpPr>
          <p:cNvPr id="22" name="Title 21"/>
          <p:cNvSpPr>
            <a:spLocks noGrp="1"/>
          </p:cNvSpPr>
          <p:nvPr>
            <p:ph type="title"/>
          </p:nvPr>
        </p:nvSpPr>
        <p:spPr>
          <a:xfrm>
            <a:off x="1071538" y="122238"/>
            <a:ext cx="7572428" cy="1295400"/>
          </a:xfrm>
        </p:spPr>
        <p:txBody>
          <a:bodyPr/>
          <a:lstStyle/>
          <a:p>
            <a:r>
              <a:rPr lang="en-US" sz="3600" dirty="0" smtClean="0">
                <a:latin typeface="Times New Roman" pitchFamily="18" charset="0"/>
                <a:cs typeface="Times New Roman" pitchFamily="18" charset="0"/>
              </a:rPr>
              <a:t>DELETION(DEQUEUE) Operation</a:t>
            </a:r>
            <a:endParaRPr lang="en-US" sz="36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Box 4"/>
          <p:cNvSpPr txBox="1"/>
          <p:nvPr/>
        </p:nvSpPr>
        <p:spPr>
          <a:xfrm>
            <a:off x="1179195" y="1403350"/>
            <a:ext cx="6990715" cy="708025"/>
          </a:xfrm>
          <a:prstGeom prst="rect">
            <a:avLst/>
          </a:prstGeom>
          <a:noFill/>
          <a:ln w="9525">
            <a:noFill/>
          </a:ln>
        </p:spPr>
        <p:txBody>
          <a:bodyPr wrap="square" lIns="90000" tIns="46800" rIns="90000" bIns="46800" anchor="t">
            <a:spAutoFit/>
          </a:bodyPr>
          <a:lstStyle/>
          <a:p>
            <a:pPr defTabSz="914400" eaLnBrk="0" hangingPunct="0">
              <a:lnSpc>
                <a:spcPct val="100000"/>
              </a:lnSpc>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dirty="0">
                <a:solidFill>
                  <a:srgbClr val="C00000"/>
                </a:solidFill>
                <a:latin typeface="+mn-lt"/>
                <a:cs typeface="+mn-lt"/>
              </a:rPr>
              <a:t>Example</a:t>
            </a:r>
            <a:r>
              <a:rPr lang="en-GB" altLang="en-US" sz="2000" dirty="0">
                <a:solidFill>
                  <a:srgbClr val="000000"/>
                </a:solidFill>
                <a:latin typeface="+mn-lt"/>
                <a:cs typeface="+mn-lt"/>
              </a:rPr>
              <a:t>:</a:t>
            </a:r>
            <a:r>
              <a:rPr lang="en-GB" altLang="en-US" sz="2000" b="1" dirty="0">
                <a:solidFill>
                  <a:srgbClr val="000000"/>
                </a:solidFill>
                <a:latin typeface="+mn-lt"/>
                <a:cs typeface="+mn-lt"/>
              </a:rPr>
              <a:t>  </a:t>
            </a:r>
            <a:r>
              <a:rPr lang="en-GB" altLang="en-US" sz="2000" dirty="0">
                <a:solidFill>
                  <a:srgbClr val="000000"/>
                </a:solidFill>
                <a:latin typeface="+mn-lt"/>
                <a:cs typeface="+mn-lt"/>
              </a:rPr>
              <a:t>Consider the following queue (linear queue).</a:t>
            </a:r>
          </a:p>
          <a:p>
            <a:pPr defTabSz="914400" eaLnBrk="0" hangingPunct="0">
              <a:lnSpc>
                <a:spcPct val="100000"/>
              </a:lnSpc>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dirty="0">
                <a:solidFill>
                  <a:srgbClr val="000000"/>
                </a:solidFill>
                <a:latin typeface="+mn-lt"/>
                <a:cs typeface="+mn-lt"/>
              </a:rPr>
              <a:t>Rear = 3  and  Front = 0  and N = 7</a:t>
            </a:r>
          </a:p>
        </p:txBody>
      </p:sp>
      <p:grpSp>
        <p:nvGrpSpPr>
          <p:cNvPr id="19458" name="Group 5"/>
          <p:cNvGrpSpPr/>
          <p:nvPr/>
        </p:nvGrpSpPr>
        <p:grpSpPr>
          <a:xfrm>
            <a:off x="1228408" y="2089468"/>
            <a:ext cx="5942012" cy="363537"/>
            <a:chOff x="288" y="655"/>
            <a:chExt cx="3743" cy="229"/>
          </a:xfrm>
        </p:grpSpPr>
        <p:sp>
          <p:nvSpPr>
            <p:cNvPr id="19459" name="Rectangle 6"/>
            <p:cNvSpPr/>
            <p:nvPr/>
          </p:nvSpPr>
          <p:spPr>
            <a:xfrm>
              <a:off x="288" y="655"/>
              <a:ext cx="453"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10</a:t>
              </a:r>
            </a:p>
          </p:txBody>
        </p:sp>
        <p:sp>
          <p:nvSpPr>
            <p:cNvPr id="19460" name="Rectangle 7"/>
            <p:cNvSpPr/>
            <p:nvPr/>
          </p:nvSpPr>
          <p:spPr>
            <a:xfrm>
              <a:off x="741" y="655"/>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50</a:t>
              </a:r>
            </a:p>
          </p:txBody>
        </p:sp>
        <p:sp>
          <p:nvSpPr>
            <p:cNvPr id="19461" name="Rectangle 8"/>
            <p:cNvSpPr/>
            <p:nvPr/>
          </p:nvSpPr>
          <p:spPr>
            <a:xfrm>
              <a:off x="1289" y="655"/>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30</a:t>
              </a:r>
            </a:p>
          </p:txBody>
        </p:sp>
        <p:sp>
          <p:nvSpPr>
            <p:cNvPr id="19462" name="Rectangle 9"/>
            <p:cNvSpPr/>
            <p:nvPr/>
          </p:nvSpPr>
          <p:spPr>
            <a:xfrm>
              <a:off x="1838" y="655"/>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40</a:t>
              </a:r>
            </a:p>
          </p:txBody>
        </p:sp>
        <p:sp>
          <p:nvSpPr>
            <p:cNvPr id="19463" name="Rectangle 10"/>
            <p:cNvSpPr/>
            <p:nvPr/>
          </p:nvSpPr>
          <p:spPr>
            <a:xfrm>
              <a:off x="2386" y="655"/>
              <a:ext cx="549"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464" name="Rectangle 11"/>
            <p:cNvSpPr/>
            <p:nvPr/>
          </p:nvSpPr>
          <p:spPr>
            <a:xfrm>
              <a:off x="2935" y="655"/>
              <a:ext cx="548"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465" name="Rectangle 12"/>
            <p:cNvSpPr/>
            <p:nvPr/>
          </p:nvSpPr>
          <p:spPr>
            <a:xfrm>
              <a:off x="3483" y="655"/>
              <a:ext cx="549"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466" name="Line 13"/>
            <p:cNvSpPr/>
            <p:nvPr/>
          </p:nvSpPr>
          <p:spPr>
            <a:xfrm>
              <a:off x="741" y="655"/>
              <a:ext cx="1" cy="230"/>
            </a:xfrm>
            <a:prstGeom prst="line">
              <a:avLst/>
            </a:prstGeom>
            <a:ln w="12600" cap="flat" cmpd="sng">
              <a:solidFill>
                <a:srgbClr val="FFFFFF"/>
              </a:solidFill>
              <a:prstDash val="solid"/>
              <a:miter/>
              <a:headEnd type="none" w="med" len="med"/>
              <a:tailEnd type="none" w="med" len="med"/>
            </a:ln>
          </p:spPr>
        </p:sp>
        <p:sp>
          <p:nvSpPr>
            <p:cNvPr id="19467" name="Line 14"/>
            <p:cNvSpPr/>
            <p:nvPr/>
          </p:nvSpPr>
          <p:spPr>
            <a:xfrm>
              <a:off x="1289" y="655"/>
              <a:ext cx="1" cy="230"/>
            </a:xfrm>
            <a:prstGeom prst="line">
              <a:avLst/>
            </a:prstGeom>
            <a:ln w="12600" cap="flat" cmpd="sng">
              <a:solidFill>
                <a:srgbClr val="FFFFFF"/>
              </a:solidFill>
              <a:prstDash val="solid"/>
              <a:miter/>
              <a:headEnd type="none" w="med" len="med"/>
              <a:tailEnd type="none" w="med" len="med"/>
            </a:ln>
          </p:spPr>
        </p:sp>
        <p:sp>
          <p:nvSpPr>
            <p:cNvPr id="19468" name="Line 15"/>
            <p:cNvSpPr/>
            <p:nvPr/>
          </p:nvSpPr>
          <p:spPr>
            <a:xfrm>
              <a:off x="1838" y="655"/>
              <a:ext cx="1" cy="230"/>
            </a:xfrm>
            <a:prstGeom prst="line">
              <a:avLst/>
            </a:prstGeom>
            <a:ln w="12600" cap="flat" cmpd="sng">
              <a:solidFill>
                <a:srgbClr val="FFFFFF"/>
              </a:solidFill>
              <a:prstDash val="solid"/>
              <a:miter/>
              <a:headEnd type="none" w="med" len="med"/>
              <a:tailEnd type="none" w="med" len="med"/>
            </a:ln>
          </p:spPr>
        </p:sp>
        <p:sp>
          <p:nvSpPr>
            <p:cNvPr id="19469" name="Line 16"/>
            <p:cNvSpPr/>
            <p:nvPr/>
          </p:nvSpPr>
          <p:spPr>
            <a:xfrm>
              <a:off x="2386" y="655"/>
              <a:ext cx="1" cy="230"/>
            </a:xfrm>
            <a:prstGeom prst="line">
              <a:avLst/>
            </a:prstGeom>
            <a:ln w="12600" cap="flat" cmpd="sng">
              <a:solidFill>
                <a:srgbClr val="FFFFFF"/>
              </a:solidFill>
              <a:prstDash val="solid"/>
              <a:miter/>
              <a:headEnd type="none" w="med" len="med"/>
              <a:tailEnd type="none" w="med" len="med"/>
            </a:ln>
          </p:spPr>
        </p:sp>
        <p:sp>
          <p:nvSpPr>
            <p:cNvPr id="19470" name="Line 17"/>
            <p:cNvSpPr/>
            <p:nvPr/>
          </p:nvSpPr>
          <p:spPr>
            <a:xfrm>
              <a:off x="2935" y="655"/>
              <a:ext cx="1" cy="230"/>
            </a:xfrm>
            <a:prstGeom prst="line">
              <a:avLst/>
            </a:prstGeom>
            <a:ln w="12600" cap="flat" cmpd="sng">
              <a:solidFill>
                <a:srgbClr val="FFFFFF"/>
              </a:solidFill>
              <a:prstDash val="solid"/>
              <a:miter/>
              <a:headEnd type="none" w="med" len="med"/>
              <a:tailEnd type="none" w="med" len="med"/>
            </a:ln>
          </p:spPr>
        </p:sp>
        <p:sp>
          <p:nvSpPr>
            <p:cNvPr id="19471" name="Line 18"/>
            <p:cNvSpPr/>
            <p:nvPr/>
          </p:nvSpPr>
          <p:spPr>
            <a:xfrm>
              <a:off x="3483" y="655"/>
              <a:ext cx="1" cy="230"/>
            </a:xfrm>
            <a:prstGeom prst="line">
              <a:avLst/>
            </a:prstGeom>
            <a:ln w="12600" cap="flat" cmpd="sng">
              <a:solidFill>
                <a:srgbClr val="FFFFFF"/>
              </a:solidFill>
              <a:prstDash val="solid"/>
              <a:miter/>
              <a:headEnd type="none" w="med" len="med"/>
              <a:tailEnd type="none" w="med" len="med"/>
            </a:ln>
          </p:spPr>
        </p:sp>
        <p:sp>
          <p:nvSpPr>
            <p:cNvPr id="19472" name="Line 19"/>
            <p:cNvSpPr/>
            <p:nvPr/>
          </p:nvSpPr>
          <p:spPr>
            <a:xfrm>
              <a:off x="288" y="655"/>
              <a:ext cx="1" cy="230"/>
            </a:xfrm>
            <a:prstGeom prst="line">
              <a:avLst/>
            </a:prstGeom>
            <a:ln w="12600" cap="flat" cmpd="sng">
              <a:solidFill>
                <a:srgbClr val="FFFFFF"/>
              </a:solidFill>
              <a:prstDash val="solid"/>
              <a:miter/>
              <a:headEnd type="none" w="med" len="med"/>
              <a:tailEnd type="none" w="med" len="med"/>
            </a:ln>
          </p:spPr>
        </p:sp>
        <p:sp>
          <p:nvSpPr>
            <p:cNvPr id="19473" name="Line 20"/>
            <p:cNvSpPr/>
            <p:nvPr/>
          </p:nvSpPr>
          <p:spPr>
            <a:xfrm>
              <a:off x="4032" y="655"/>
              <a:ext cx="1" cy="230"/>
            </a:xfrm>
            <a:prstGeom prst="line">
              <a:avLst/>
            </a:prstGeom>
            <a:ln w="12600" cap="flat" cmpd="sng">
              <a:solidFill>
                <a:srgbClr val="FFFFFF"/>
              </a:solidFill>
              <a:prstDash val="solid"/>
              <a:miter/>
              <a:headEnd type="none" w="med" len="med"/>
              <a:tailEnd type="none" w="med" len="med"/>
            </a:ln>
          </p:spPr>
        </p:sp>
        <p:sp>
          <p:nvSpPr>
            <p:cNvPr id="19474" name="Line 21"/>
            <p:cNvSpPr/>
            <p:nvPr/>
          </p:nvSpPr>
          <p:spPr>
            <a:xfrm>
              <a:off x="288" y="655"/>
              <a:ext cx="3744" cy="1"/>
            </a:xfrm>
            <a:prstGeom prst="line">
              <a:avLst/>
            </a:prstGeom>
            <a:ln w="12600" cap="flat" cmpd="sng">
              <a:solidFill>
                <a:srgbClr val="FFFFFF"/>
              </a:solidFill>
              <a:prstDash val="solid"/>
              <a:miter/>
              <a:headEnd type="none" w="med" len="med"/>
              <a:tailEnd type="none" w="med" len="med"/>
            </a:ln>
          </p:spPr>
        </p:sp>
        <p:sp>
          <p:nvSpPr>
            <p:cNvPr id="19475" name="Line 22"/>
            <p:cNvSpPr/>
            <p:nvPr/>
          </p:nvSpPr>
          <p:spPr>
            <a:xfrm>
              <a:off x="288" y="885"/>
              <a:ext cx="3744" cy="1"/>
            </a:xfrm>
            <a:prstGeom prst="line">
              <a:avLst/>
            </a:prstGeom>
            <a:ln w="38160" cap="flat" cmpd="sng">
              <a:solidFill>
                <a:srgbClr val="FFFFFF"/>
              </a:solidFill>
              <a:prstDash val="solid"/>
              <a:miter/>
              <a:headEnd type="none" w="med" len="med"/>
              <a:tailEnd type="none" w="med" len="med"/>
            </a:ln>
          </p:spPr>
        </p:sp>
      </p:grpSp>
      <p:sp>
        <p:nvSpPr>
          <p:cNvPr id="19476" name="Text Box 23"/>
          <p:cNvSpPr txBox="1"/>
          <p:nvPr/>
        </p:nvSpPr>
        <p:spPr>
          <a:xfrm>
            <a:off x="1228725" y="2708910"/>
            <a:ext cx="5972175" cy="369570"/>
          </a:xfrm>
          <a:prstGeom prst="rect">
            <a:avLst/>
          </a:prstGeom>
          <a:noFill/>
          <a:ln w="9525">
            <a:noFill/>
          </a:ln>
        </p:spPr>
        <p:txBody>
          <a:bodyPr wrap="square" lIns="90000" tIns="46800" rIns="90000" bIns="46800" anchor="t">
            <a:spAutoFit/>
          </a:bodyPr>
          <a:lstStyle/>
          <a:p>
            <a:pPr defTabSz="9144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(1) Insert 20. Now Rear = 4 and Front = 0</a:t>
            </a:r>
          </a:p>
        </p:txBody>
      </p:sp>
      <p:grpSp>
        <p:nvGrpSpPr>
          <p:cNvPr id="19477" name="Group 24"/>
          <p:cNvGrpSpPr/>
          <p:nvPr/>
        </p:nvGrpSpPr>
        <p:grpSpPr>
          <a:xfrm>
            <a:off x="1404620" y="2384425"/>
            <a:ext cx="5448300" cy="369717"/>
            <a:chOff x="399" y="850"/>
            <a:chExt cx="3432" cy="357"/>
          </a:xfrm>
        </p:grpSpPr>
        <p:sp>
          <p:nvSpPr>
            <p:cNvPr id="19478" name="Text Box 25"/>
            <p:cNvSpPr txBox="1"/>
            <p:nvPr/>
          </p:nvSpPr>
          <p:spPr>
            <a:xfrm>
              <a:off x="399" y="850"/>
              <a:ext cx="192" cy="35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0</a:t>
              </a:r>
            </a:p>
          </p:txBody>
        </p:sp>
        <p:sp>
          <p:nvSpPr>
            <p:cNvPr id="19479" name="Text Box 26"/>
            <p:cNvSpPr txBox="1"/>
            <p:nvPr/>
          </p:nvSpPr>
          <p:spPr>
            <a:xfrm>
              <a:off x="933" y="850"/>
              <a:ext cx="192" cy="35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1</a:t>
              </a:r>
            </a:p>
          </p:txBody>
        </p:sp>
        <p:sp>
          <p:nvSpPr>
            <p:cNvPr id="19480" name="Text Box 27"/>
            <p:cNvSpPr txBox="1"/>
            <p:nvPr/>
          </p:nvSpPr>
          <p:spPr>
            <a:xfrm>
              <a:off x="1425" y="850"/>
              <a:ext cx="192" cy="35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2</a:t>
              </a:r>
            </a:p>
          </p:txBody>
        </p:sp>
        <p:sp>
          <p:nvSpPr>
            <p:cNvPr id="19481" name="Text Box 28"/>
            <p:cNvSpPr txBox="1"/>
            <p:nvPr/>
          </p:nvSpPr>
          <p:spPr>
            <a:xfrm>
              <a:off x="1965" y="850"/>
              <a:ext cx="192" cy="35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3</a:t>
              </a:r>
            </a:p>
          </p:txBody>
        </p:sp>
        <p:sp>
          <p:nvSpPr>
            <p:cNvPr id="19482" name="Text Box 29"/>
            <p:cNvSpPr txBox="1"/>
            <p:nvPr/>
          </p:nvSpPr>
          <p:spPr>
            <a:xfrm>
              <a:off x="2559" y="850"/>
              <a:ext cx="192" cy="35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4</a:t>
              </a:r>
            </a:p>
          </p:txBody>
        </p:sp>
        <p:sp>
          <p:nvSpPr>
            <p:cNvPr id="19483" name="Text Box 30"/>
            <p:cNvSpPr txBox="1"/>
            <p:nvPr/>
          </p:nvSpPr>
          <p:spPr>
            <a:xfrm>
              <a:off x="3099" y="850"/>
              <a:ext cx="192" cy="35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5</a:t>
              </a:r>
            </a:p>
          </p:txBody>
        </p:sp>
        <p:sp>
          <p:nvSpPr>
            <p:cNvPr id="19484" name="Text Box 31"/>
            <p:cNvSpPr txBox="1"/>
            <p:nvPr/>
          </p:nvSpPr>
          <p:spPr>
            <a:xfrm>
              <a:off x="3639" y="850"/>
              <a:ext cx="192" cy="357"/>
            </a:xfrm>
            <a:prstGeom prst="rect">
              <a:avLst/>
            </a:prstGeom>
            <a:noFill/>
            <a:ln w="9525">
              <a:noFill/>
            </a:ln>
          </p:spPr>
          <p:txBody>
            <a:bodyPr wrap="squar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6</a:t>
              </a:r>
            </a:p>
          </p:txBody>
        </p:sp>
      </p:grpSp>
      <p:grpSp>
        <p:nvGrpSpPr>
          <p:cNvPr id="19485" name="Group 32"/>
          <p:cNvGrpSpPr/>
          <p:nvPr/>
        </p:nvGrpSpPr>
        <p:grpSpPr>
          <a:xfrm>
            <a:off x="1242695" y="3069273"/>
            <a:ext cx="5942013" cy="363537"/>
            <a:chOff x="297" y="1453"/>
            <a:chExt cx="3743" cy="229"/>
          </a:xfrm>
        </p:grpSpPr>
        <p:sp>
          <p:nvSpPr>
            <p:cNvPr id="19486" name="Rectangle 33"/>
            <p:cNvSpPr/>
            <p:nvPr/>
          </p:nvSpPr>
          <p:spPr>
            <a:xfrm>
              <a:off x="297" y="1453"/>
              <a:ext cx="453"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10</a:t>
              </a:r>
            </a:p>
          </p:txBody>
        </p:sp>
        <p:sp>
          <p:nvSpPr>
            <p:cNvPr id="19487" name="Rectangle 34"/>
            <p:cNvSpPr/>
            <p:nvPr/>
          </p:nvSpPr>
          <p:spPr>
            <a:xfrm>
              <a:off x="750" y="1453"/>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50</a:t>
              </a:r>
            </a:p>
          </p:txBody>
        </p:sp>
        <p:sp>
          <p:nvSpPr>
            <p:cNvPr id="19488" name="Rectangle 35"/>
            <p:cNvSpPr/>
            <p:nvPr/>
          </p:nvSpPr>
          <p:spPr>
            <a:xfrm>
              <a:off x="1298" y="1453"/>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30</a:t>
              </a:r>
            </a:p>
          </p:txBody>
        </p:sp>
        <p:sp>
          <p:nvSpPr>
            <p:cNvPr id="19489" name="Rectangle 36"/>
            <p:cNvSpPr/>
            <p:nvPr/>
          </p:nvSpPr>
          <p:spPr>
            <a:xfrm>
              <a:off x="1847" y="1453"/>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40</a:t>
              </a:r>
            </a:p>
          </p:txBody>
        </p:sp>
        <p:sp>
          <p:nvSpPr>
            <p:cNvPr id="19490" name="Rectangle 37"/>
            <p:cNvSpPr/>
            <p:nvPr/>
          </p:nvSpPr>
          <p:spPr>
            <a:xfrm>
              <a:off x="2395" y="1453"/>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20</a:t>
              </a:r>
            </a:p>
          </p:txBody>
        </p:sp>
        <p:sp>
          <p:nvSpPr>
            <p:cNvPr id="19491" name="Rectangle 38"/>
            <p:cNvSpPr/>
            <p:nvPr/>
          </p:nvSpPr>
          <p:spPr>
            <a:xfrm>
              <a:off x="2944" y="1453"/>
              <a:ext cx="548"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492" name="Rectangle 39"/>
            <p:cNvSpPr/>
            <p:nvPr/>
          </p:nvSpPr>
          <p:spPr>
            <a:xfrm>
              <a:off x="3492" y="1453"/>
              <a:ext cx="549"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493" name="Line 40"/>
            <p:cNvSpPr/>
            <p:nvPr/>
          </p:nvSpPr>
          <p:spPr>
            <a:xfrm>
              <a:off x="750" y="1453"/>
              <a:ext cx="1" cy="230"/>
            </a:xfrm>
            <a:prstGeom prst="line">
              <a:avLst/>
            </a:prstGeom>
            <a:ln w="12600" cap="flat" cmpd="sng">
              <a:solidFill>
                <a:srgbClr val="FFFFFF"/>
              </a:solidFill>
              <a:prstDash val="solid"/>
              <a:miter/>
              <a:headEnd type="none" w="med" len="med"/>
              <a:tailEnd type="none" w="med" len="med"/>
            </a:ln>
          </p:spPr>
        </p:sp>
        <p:sp>
          <p:nvSpPr>
            <p:cNvPr id="19494" name="Line 41"/>
            <p:cNvSpPr/>
            <p:nvPr/>
          </p:nvSpPr>
          <p:spPr>
            <a:xfrm>
              <a:off x="1298" y="1453"/>
              <a:ext cx="1" cy="230"/>
            </a:xfrm>
            <a:prstGeom prst="line">
              <a:avLst/>
            </a:prstGeom>
            <a:ln w="12600" cap="flat" cmpd="sng">
              <a:solidFill>
                <a:srgbClr val="FFFFFF"/>
              </a:solidFill>
              <a:prstDash val="solid"/>
              <a:miter/>
              <a:headEnd type="none" w="med" len="med"/>
              <a:tailEnd type="none" w="med" len="med"/>
            </a:ln>
          </p:spPr>
        </p:sp>
        <p:sp>
          <p:nvSpPr>
            <p:cNvPr id="19495" name="Line 42"/>
            <p:cNvSpPr/>
            <p:nvPr/>
          </p:nvSpPr>
          <p:spPr>
            <a:xfrm>
              <a:off x="1847" y="1453"/>
              <a:ext cx="1" cy="230"/>
            </a:xfrm>
            <a:prstGeom prst="line">
              <a:avLst/>
            </a:prstGeom>
            <a:ln w="12600" cap="flat" cmpd="sng">
              <a:solidFill>
                <a:srgbClr val="FFFFFF"/>
              </a:solidFill>
              <a:prstDash val="solid"/>
              <a:miter/>
              <a:headEnd type="none" w="med" len="med"/>
              <a:tailEnd type="none" w="med" len="med"/>
            </a:ln>
          </p:spPr>
        </p:sp>
        <p:sp>
          <p:nvSpPr>
            <p:cNvPr id="19496" name="Line 43"/>
            <p:cNvSpPr/>
            <p:nvPr/>
          </p:nvSpPr>
          <p:spPr>
            <a:xfrm>
              <a:off x="2395" y="1453"/>
              <a:ext cx="1" cy="230"/>
            </a:xfrm>
            <a:prstGeom prst="line">
              <a:avLst/>
            </a:prstGeom>
            <a:ln w="12600" cap="flat" cmpd="sng">
              <a:solidFill>
                <a:srgbClr val="FFFFFF"/>
              </a:solidFill>
              <a:prstDash val="solid"/>
              <a:miter/>
              <a:headEnd type="none" w="med" len="med"/>
              <a:tailEnd type="none" w="med" len="med"/>
            </a:ln>
          </p:spPr>
        </p:sp>
        <p:sp>
          <p:nvSpPr>
            <p:cNvPr id="19497" name="Line 44"/>
            <p:cNvSpPr/>
            <p:nvPr/>
          </p:nvSpPr>
          <p:spPr>
            <a:xfrm>
              <a:off x="2944" y="1453"/>
              <a:ext cx="1" cy="230"/>
            </a:xfrm>
            <a:prstGeom prst="line">
              <a:avLst/>
            </a:prstGeom>
            <a:ln w="12600" cap="flat" cmpd="sng">
              <a:solidFill>
                <a:srgbClr val="FFFFFF"/>
              </a:solidFill>
              <a:prstDash val="solid"/>
              <a:miter/>
              <a:headEnd type="none" w="med" len="med"/>
              <a:tailEnd type="none" w="med" len="med"/>
            </a:ln>
          </p:spPr>
        </p:sp>
        <p:sp>
          <p:nvSpPr>
            <p:cNvPr id="19498" name="Line 45"/>
            <p:cNvSpPr/>
            <p:nvPr/>
          </p:nvSpPr>
          <p:spPr>
            <a:xfrm>
              <a:off x="3492" y="1453"/>
              <a:ext cx="1" cy="230"/>
            </a:xfrm>
            <a:prstGeom prst="line">
              <a:avLst/>
            </a:prstGeom>
            <a:ln w="12600" cap="flat" cmpd="sng">
              <a:solidFill>
                <a:srgbClr val="FFFFFF"/>
              </a:solidFill>
              <a:prstDash val="solid"/>
              <a:miter/>
              <a:headEnd type="none" w="med" len="med"/>
              <a:tailEnd type="none" w="med" len="med"/>
            </a:ln>
          </p:spPr>
        </p:sp>
        <p:sp>
          <p:nvSpPr>
            <p:cNvPr id="19499" name="Line 46"/>
            <p:cNvSpPr/>
            <p:nvPr/>
          </p:nvSpPr>
          <p:spPr>
            <a:xfrm>
              <a:off x="297" y="1453"/>
              <a:ext cx="1" cy="230"/>
            </a:xfrm>
            <a:prstGeom prst="line">
              <a:avLst/>
            </a:prstGeom>
            <a:ln w="12600" cap="flat" cmpd="sng">
              <a:solidFill>
                <a:srgbClr val="FFFFFF"/>
              </a:solidFill>
              <a:prstDash val="solid"/>
              <a:miter/>
              <a:headEnd type="none" w="med" len="med"/>
              <a:tailEnd type="none" w="med" len="med"/>
            </a:ln>
          </p:spPr>
        </p:sp>
        <p:sp>
          <p:nvSpPr>
            <p:cNvPr id="19500" name="Line 47"/>
            <p:cNvSpPr/>
            <p:nvPr/>
          </p:nvSpPr>
          <p:spPr>
            <a:xfrm>
              <a:off x="4041" y="1453"/>
              <a:ext cx="1" cy="230"/>
            </a:xfrm>
            <a:prstGeom prst="line">
              <a:avLst/>
            </a:prstGeom>
            <a:ln w="12600" cap="flat" cmpd="sng">
              <a:solidFill>
                <a:srgbClr val="FFFFFF"/>
              </a:solidFill>
              <a:prstDash val="solid"/>
              <a:miter/>
              <a:headEnd type="none" w="med" len="med"/>
              <a:tailEnd type="none" w="med" len="med"/>
            </a:ln>
          </p:spPr>
        </p:sp>
        <p:sp>
          <p:nvSpPr>
            <p:cNvPr id="19501" name="Line 48"/>
            <p:cNvSpPr/>
            <p:nvPr/>
          </p:nvSpPr>
          <p:spPr>
            <a:xfrm>
              <a:off x="297" y="1453"/>
              <a:ext cx="3744" cy="1"/>
            </a:xfrm>
            <a:prstGeom prst="line">
              <a:avLst/>
            </a:prstGeom>
            <a:ln w="12600" cap="flat" cmpd="sng">
              <a:solidFill>
                <a:srgbClr val="FFFFFF"/>
              </a:solidFill>
              <a:prstDash val="solid"/>
              <a:miter/>
              <a:headEnd type="none" w="med" len="med"/>
              <a:tailEnd type="none" w="med" len="med"/>
            </a:ln>
          </p:spPr>
        </p:sp>
        <p:sp>
          <p:nvSpPr>
            <p:cNvPr id="19502" name="Line 49"/>
            <p:cNvSpPr/>
            <p:nvPr/>
          </p:nvSpPr>
          <p:spPr>
            <a:xfrm>
              <a:off x="297" y="1683"/>
              <a:ext cx="3744" cy="1"/>
            </a:xfrm>
            <a:prstGeom prst="line">
              <a:avLst/>
            </a:prstGeom>
            <a:ln w="38160" cap="flat" cmpd="sng">
              <a:solidFill>
                <a:srgbClr val="FFFFFF"/>
              </a:solidFill>
              <a:prstDash val="solid"/>
              <a:miter/>
              <a:headEnd type="none" w="med" len="med"/>
              <a:tailEnd type="none" w="med" len="med"/>
            </a:ln>
          </p:spPr>
        </p:sp>
      </p:grpSp>
      <p:grpSp>
        <p:nvGrpSpPr>
          <p:cNvPr id="19503" name="Group 50"/>
          <p:cNvGrpSpPr/>
          <p:nvPr/>
        </p:nvGrpSpPr>
        <p:grpSpPr>
          <a:xfrm>
            <a:off x="1418908" y="3380423"/>
            <a:ext cx="5448300" cy="369887"/>
            <a:chOff x="408" y="1649"/>
            <a:chExt cx="3432" cy="233"/>
          </a:xfrm>
        </p:grpSpPr>
        <p:sp>
          <p:nvSpPr>
            <p:cNvPr id="19504" name="Text Box 51"/>
            <p:cNvSpPr txBox="1"/>
            <p:nvPr/>
          </p:nvSpPr>
          <p:spPr>
            <a:xfrm>
              <a:off x="408" y="1649"/>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0</a:t>
              </a:r>
            </a:p>
          </p:txBody>
        </p:sp>
        <p:sp>
          <p:nvSpPr>
            <p:cNvPr id="19505" name="Text Box 52"/>
            <p:cNvSpPr txBox="1"/>
            <p:nvPr/>
          </p:nvSpPr>
          <p:spPr>
            <a:xfrm>
              <a:off x="942" y="1649"/>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1</a:t>
              </a:r>
            </a:p>
          </p:txBody>
        </p:sp>
        <p:sp>
          <p:nvSpPr>
            <p:cNvPr id="19506" name="Text Box 53"/>
            <p:cNvSpPr txBox="1"/>
            <p:nvPr/>
          </p:nvSpPr>
          <p:spPr>
            <a:xfrm>
              <a:off x="1434" y="1649"/>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2</a:t>
              </a:r>
            </a:p>
          </p:txBody>
        </p:sp>
        <p:sp>
          <p:nvSpPr>
            <p:cNvPr id="19507" name="Text Box 54"/>
            <p:cNvSpPr txBox="1"/>
            <p:nvPr/>
          </p:nvSpPr>
          <p:spPr>
            <a:xfrm>
              <a:off x="1974" y="1649"/>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3</a:t>
              </a:r>
            </a:p>
          </p:txBody>
        </p:sp>
        <p:sp>
          <p:nvSpPr>
            <p:cNvPr id="19508" name="Text Box 55"/>
            <p:cNvSpPr txBox="1"/>
            <p:nvPr/>
          </p:nvSpPr>
          <p:spPr>
            <a:xfrm>
              <a:off x="2568" y="1649"/>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4</a:t>
              </a:r>
            </a:p>
          </p:txBody>
        </p:sp>
        <p:sp>
          <p:nvSpPr>
            <p:cNvPr id="19509" name="Text Box 56"/>
            <p:cNvSpPr txBox="1"/>
            <p:nvPr/>
          </p:nvSpPr>
          <p:spPr>
            <a:xfrm>
              <a:off x="3108" y="1649"/>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5</a:t>
              </a:r>
            </a:p>
          </p:txBody>
        </p:sp>
        <p:sp>
          <p:nvSpPr>
            <p:cNvPr id="19510" name="Text Box 57"/>
            <p:cNvSpPr txBox="1"/>
            <p:nvPr/>
          </p:nvSpPr>
          <p:spPr>
            <a:xfrm>
              <a:off x="3648" y="1649"/>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6</a:t>
              </a:r>
            </a:p>
          </p:txBody>
        </p:sp>
      </p:grpSp>
      <p:sp>
        <p:nvSpPr>
          <p:cNvPr id="19511" name="Text Box 58"/>
          <p:cNvSpPr txBox="1"/>
          <p:nvPr/>
        </p:nvSpPr>
        <p:spPr>
          <a:xfrm>
            <a:off x="1255395" y="3707765"/>
            <a:ext cx="5945505" cy="369570"/>
          </a:xfrm>
          <a:prstGeom prst="rect">
            <a:avLst/>
          </a:prstGeom>
          <a:noFill/>
          <a:ln w="9525">
            <a:noFill/>
          </a:ln>
        </p:spPr>
        <p:txBody>
          <a:bodyPr wrap="square" lIns="90000" tIns="46800" rIns="90000" bIns="46800" anchor="t">
            <a:spAutoFit/>
          </a:bodyPr>
          <a:lstStyle/>
          <a:p>
            <a:pPr defTabSz="9144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(2) Delete Front Element. Now Rear = 4 and Front = 1</a:t>
            </a:r>
          </a:p>
        </p:txBody>
      </p:sp>
      <p:grpSp>
        <p:nvGrpSpPr>
          <p:cNvPr id="19512" name="Group 59"/>
          <p:cNvGrpSpPr/>
          <p:nvPr/>
        </p:nvGrpSpPr>
        <p:grpSpPr>
          <a:xfrm>
            <a:off x="1255395" y="4088448"/>
            <a:ext cx="5942013" cy="363537"/>
            <a:chOff x="305" y="2191"/>
            <a:chExt cx="3743" cy="229"/>
          </a:xfrm>
        </p:grpSpPr>
        <p:sp>
          <p:nvSpPr>
            <p:cNvPr id="19513" name="Rectangle 60"/>
            <p:cNvSpPr/>
            <p:nvPr/>
          </p:nvSpPr>
          <p:spPr>
            <a:xfrm>
              <a:off x="305" y="2191"/>
              <a:ext cx="453"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14" name="Rectangle 61"/>
            <p:cNvSpPr/>
            <p:nvPr/>
          </p:nvSpPr>
          <p:spPr>
            <a:xfrm>
              <a:off x="758" y="2191"/>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50</a:t>
              </a:r>
            </a:p>
          </p:txBody>
        </p:sp>
        <p:sp>
          <p:nvSpPr>
            <p:cNvPr id="19515" name="Rectangle 62"/>
            <p:cNvSpPr/>
            <p:nvPr/>
          </p:nvSpPr>
          <p:spPr>
            <a:xfrm>
              <a:off x="1306" y="2191"/>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30</a:t>
              </a:r>
            </a:p>
          </p:txBody>
        </p:sp>
        <p:sp>
          <p:nvSpPr>
            <p:cNvPr id="19516" name="Rectangle 63"/>
            <p:cNvSpPr/>
            <p:nvPr/>
          </p:nvSpPr>
          <p:spPr>
            <a:xfrm>
              <a:off x="1855" y="2191"/>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40</a:t>
              </a:r>
            </a:p>
          </p:txBody>
        </p:sp>
        <p:sp>
          <p:nvSpPr>
            <p:cNvPr id="19517" name="Rectangle 64"/>
            <p:cNvSpPr/>
            <p:nvPr/>
          </p:nvSpPr>
          <p:spPr>
            <a:xfrm>
              <a:off x="2403" y="2191"/>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20</a:t>
              </a:r>
            </a:p>
          </p:txBody>
        </p:sp>
        <p:sp>
          <p:nvSpPr>
            <p:cNvPr id="19518" name="Rectangle 65"/>
            <p:cNvSpPr/>
            <p:nvPr/>
          </p:nvSpPr>
          <p:spPr>
            <a:xfrm>
              <a:off x="2952" y="2191"/>
              <a:ext cx="548"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19" name="Rectangle 66"/>
            <p:cNvSpPr/>
            <p:nvPr/>
          </p:nvSpPr>
          <p:spPr>
            <a:xfrm>
              <a:off x="3500" y="2191"/>
              <a:ext cx="549"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20" name="Line 67"/>
            <p:cNvSpPr/>
            <p:nvPr/>
          </p:nvSpPr>
          <p:spPr>
            <a:xfrm>
              <a:off x="758" y="2191"/>
              <a:ext cx="1" cy="230"/>
            </a:xfrm>
            <a:prstGeom prst="line">
              <a:avLst/>
            </a:prstGeom>
            <a:ln w="12600" cap="flat" cmpd="sng">
              <a:solidFill>
                <a:srgbClr val="FFFFFF"/>
              </a:solidFill>
              <a:prstDash val="solid"/>
              <a:miter/>
              <a:headEnd type="none" w="med" len="med"/>
              <a:tailEnd type="none" w="med" len="med"/>
            </a:ln>
          </p:spPr>
        </p:sp>
        <p:sp>
          <p:nvSpPr>
            <p:cNvPr id="19521" name="Line 68"/>
            <p:cNvSpPr/>
            <p:nvPr/>
          </p:nvSpPr>
          <p:spPr>
            <a:xfrm>
              <a:off x="1306" y="2191"/>
              <a:ext cx="1" cy="230"/>
            </a:xfrm>
            <a:prstGeom prst="line">
              <a:avLst/>
            </a:prstGeom>
            <a:ln w="12600" cap="flat" cmpd="sng">
              <a:solidFill>
                <a:srgbClr val="FFFFFF"/>
              </a:solidFill>
              <a:prstDash val="solid"/>
              <a:miter/>
              <a:headEnd type="none" w="med" len="med"/>
              <a:tailEnd type="none" w="med" len="med"/>
            </a:ln>
          </p:spPr>
        </p:sp>
        <p:sp>
          <p:nvSpPr>
            <p:cNvPr id="19522" name="Line 69"/>
            <p:cNvSpPr/>
            <p:nvPr/>
          </p:nvSpPr>
          <p:spPr>
            <a:xfrm>
              <a:off x="1855" y="2191"/>
              <a:ext cx="1" cy="230"/>
            </a:xfrm>
            <a:prstGeom prst="line">
              <a:avLst/>
            </a:prstGeom>
            <a:ln w="12600" cap="flat" cmpd="sng">
              <a:solidFill>
                <a:srgbClr val="FFFFFF"/>
              </a:solidFill>
              <a:prstDash val="solid"/>
              <a:miter/>
              <a:headEnd type="none" w="med" len="med"/>
              <a:tailEnd type="none" w="med" len="med"/>
            </a:ln>
          </p:spPr>
        </p:sp>
        <p:sp>
          <p:nvSpPr>
            <p:cNvPr id="19523" name="Line 70"/>
            <p:cNvSpPr/>
            <p:nvPr/>
          </p:nvSpPr>
          <p:spPr>
            <a:xfrm>
              <a:off x="2403" y="2191"/>
              <a:ext cx="1" cy="230"/>
            </a:xfrm>
            <a:prstGeom prst="line">
              <a:avLst/>
            </a:prstGeom>
            <a:ln w="12600" cap="flat" cmpd="sng">
              <a:solidFill>
                <a:srgbClr val="FFFFFF"/>
              </a:solidFill>
              <a:prstDash val="solid"/>
              <a:miter/>
              <a:headEnd type="none" w="med" len="med"/>
              <a:tailEnd type="none" w="med" len="med"/>
            </a:ln>
          </p:spPr>
        </p:sp>
        <p:sp>
          <p:nvSpPr>
            <p:cNvPr id="19524" name="Line 71"/>
            <p:cNvSpPr/>
            <p:nvPr/>
          </p:nvSpPr>
          <p:spPr>
            <a:xfrm>
              <a:off x="2952" y="2191"/>
              <a:ext cx="1" cy="230"/>
            </a:xfrm>
            <a:prstGeom prst="line">
              <a:avLst/>
            </a:prstGeom>
            <a:ln w="12600" cap="flat" cmpd="sng">
              <a:solidFill>
                <a:srgbClr val="FFFFFF"/>
              </a:solidFill>
              <a:prstDash val="solid"/>
              <a:miter/>
              <a:headEnd type="none" w="med" len="med"/>
              <a:tailEnd type="none" w="med" len="med"/>
            </a:ln>
          </p:spPr>
        </p:sp>
        <p:sp>
          <p:nvSpPr>
            <p:cNvPr id="19525" name="Line 72"/>
            <p:cNvSpPr/>
            <p:nvPr/>
          </p:nvSpPr>
          <p:spPr>
            <a:xfrm>
              <a:off x="3500" y="2191"/>
              <a:ext cx="1" cy="230"/>
            </a:xfrm>
            <a:prstGeom prst="line">
              <a:avLst/>
            </a:prstGeom>
            <a:ln w="12600" cap="flat" cmpd="sng">
              <a:solidFill>
                <a:srgbClr val="FFFFFF"/>
              </a:solidFill>
              <a:prstDash val="solid"/>
              <a:miter/>
              <a:headEnd type="none" w="med" len="med"/>
              <a:tailEnd type="none" w="med" len="med"/>
            </a:ln>
          </p:spPr>
        </p:sp>
        <p:sp>
          <p:nvSpPr>
            <p:cNvPr id="19526" name="Line 73"/>
            <p:cNvSpPr/>
            <p:nvPr/>
          </p:nvSpPr>
          <p:spPr>
            <a:xfrm>
              <a:off x="305" y="2191"/>
              <a:ext cx="1" cy="230"/>
            </a:xfrm>
            <a:prstGeom prst="line">
              <a:avLst/>
            </a:prstGeom>
            <a:ln w="12600" cap="flat" cmpd="sng">
              <a:solidFill>
                <a:srgbClr val="FFFFFF"/>
              </a:solidFill>
              <a:prstDash val="solid"/>
              <a:miter/>
              <a:headEnd type="none" w="med" len="med"/>
              <a:tailEnd type="none" w="med" len="med"/>
            </a:ln>
          </p:spPr>
        </p:sp>
        <p:sp>
          <p:nvSpPr>
            <p:cNvPr id="19527" name="Line 74"/>
            <p:cNvSpPr/>
            <p:nvPr/>
          </p:nvSpPr>
          <p:spPr>
            <a:xfrm>
              <a:off x="4049" y="2191"/>
              <a:ext cx="1" cy="230"/>
            </a:xfrm>
            <a:prstGeom prst="line">
              <a:avLst/>
            </a:prstGeom>
            <a:ln w="12600" cap="flat" cmpd="sng">
              <a:solidFill>
                <a:srgbClr val="FFFFFF"/>
              </a:solidFill>
              <a:prstDash val="solid"/>
              <a:miter/>
              <a:headEnd type="none" w="med" len="med"/>
              <a:tailEnd type="none" w="med" len="med"/>
            </a:ln>
          </p:spPr>
        </p:sp>
        <p:sp>
          <p:nvSpPr>
            <p:cNvPr id="19528" name="Line 75"/>
            <p:cNvSpPr/>
            <p:nvPr/>
          </p:nvSpPr>
          <p:spPr>
            <a:xfrm>
              <a:off x="305" y="2191"/>
              <a:ext cx="3744" cy="1"/>
            </a:xfrm>
            <a:prstGeom prst="line">
              <a:avLst/>
            </a:prstGeom>
            <a:ln w="12600" cap="flat" cmpd="sng">
              <a:solidFill>
                <a:srgbClr val="FFFFFF"/>
              </a:solidFill>
              <a:prstDash val="solid"/>
              <a:miter/>
              <a:headEnd type="none" w="med" len="med"/>
              <a:tailEnd type="none" w="med" len="med"/>
            </a:ln>
          </p:spPr>
        </p:sp>
        <p:sp>
          <p:nvSpPr>
            <p:cNvPr id="19529" name="Line 76"/>
            <p:cNvSpPr/>
            <p:nvPr/>
          </p:nvSpPr>
          <p:spPr>
            <a:xfrm>
              <a:off x="305" y="2421"/>
              <a:ext cx="3744" cy="1"/>
            </a:xfrm>
            <a:prstGeom prst="line">
              <a:avLst/>
            </a:prstGeom>
            <a:ln w="38160" cap="flat" cmpd="sng">
              <a:solidFill>
                <a:srgbClr val="FFFFFF"/>
              </a:solidFill>
              <a:prstDash val="solid"/>
              <a:miter/>
              <a:headEnd type="none" w="med" len="med"/>
              <a:tailEnd type="none" w="med" len="med"/>
            </a:ln>
          </p:spPr>
        </p:sp>
      </p:grpSp>
      <p:grpSp>
        <p:nvGrpSpPr>
          <p:cNvPr id="19530" name="Group 77"/>
          <p:cNvGrpSpPr/>
          <p:nvPr/>
        </p:nvGrpSpPr>
        <p:grpSpPr>
          <a:xfrm>
            <a:off x="1433195" y="4398010"/>
            <a:ext cx="5448300" cy="369888"/>
            <a:chOff x="417" y="2386"/>
            <a:chExt cx="3432" cy="233"/>
          </a:xfrm>
        </p:grpSpPr>
        <p:sp>
          <p:nvSpPr>
            <p:cNvPr id="19531" name="Text Box 78"/>
            <p:cNvSpPr txBox="1"/>
            <p:nvPr/>
          </p:nvSpPr>
          <p:spPr>
            <a:xfrm>
              <a:off x="417" y="238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0</a:t>
              </a:r>
            </a:p>
          </p:txBody>
        </p:sp>
        <p:sp>
          <p:nvSpPr>
            <p:cNvPr id="19532" name="Text Box 79"/>
            <p:cNvSpPr txBox="1"/>
            <p:nvPr/>
          </p:nvSpPr>
          <p:spPr>
            <a:xfrm>
              <a:off x="951" y="238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1</a:t>
              </a:r>
            </a:p>
          </p:txBody>
        </p:sp>
        <p:sp>
          <p:nvSpPr>
            <p:cNvPr id="19533" name="Text Box 80"/>
            <p:cNvSpPr txBox="1"/>
            <p:nvPr/>
          </p:nvSpPr>
          <p:spPr>
            <a:xfrm>
              <a:off x="1443" y="238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2</a:t>
              </a:r>
            </a:p>
          </p:txBody>
        </p:sp>
        <p:sp>
          <p:nvSpPr>
            <p:cNvPr id="19534" name="Text Box 81"/>
            <p:cNvSpPr txBox="1"/>
            <p:nvPr/>
          </p:nvSpPr>
          <p:spPr>
            <a:xfrm>
              <a:off x="1983" y="238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3</a:t>
              </a:r>
            </a:p>
          </p:txBody>
        </p:sp>
        <p:sp>
          <p:nvSpPr>
            <p:cNvPr id="19535" name="Text Box 82"/>
            <p:cNvSpPr txBox="1"/>
            <p:nvPr/>
          </p:nvSpPr>
          <p:spPr>
            <a:xfrm>
              <a:off x="2577" y="238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4</a:t>
              </a:r>
            </a:p>
          </p:txBody>
        </p:sp>
        <p:sp>
          <p:nvSpPr>
            <p:cNvPr id="19536" name="Text Box 83"/>
            <p:cNvSpPr txBox="1"/>
            <p:nvPr/>
          </p:nvSpPr>
          <p:spPr>
            <a:xfrm>
              <a:off x="3117" y="238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5</a:t>
              </a:r>
            </a:p>
          </p:txBody>
        </p:sp>
        <p:sp>
          <p:nvSpPr>
            <p:cNvPr id="19537" name="Text Box 84"/>
            <p:cNvSpPr txBox="1"/>
            <p:nvPr/>
          </p:nvSpPr>
          <p:spPr>
            <a:xfrm>
              <a:off x="3657" y="238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6</a:t>
              </a:r>
            </a:p>
          </p:txBody>
        </p:sp>
      </p:grpSp>
      <p:sp>
        <p:nvSpPr>
          <p:cNvPr id="19538" name="Text Box 85"/>
          <p:cNvSpPr txBox="1"/>
          <p:nvPr/>
        </p:nvSpPr>
        <p:spPr>
          <a:xfrm>
            <a:off x="1214120" y="4742815"/>
            <a:ext cx="5945505" cy="369570"/>
          </a:xfrm>
          <a:prstGeom prst="rect">
            <a:avLst/>
          </a:prstGeom>
          <a:noFill/>
          <a:ln w="9525">
            <a:noFill/>
          </a:ln>
        </p:spPr>
        <p:txBody>
          <a:bodyPr wrap="square" lIns="90000" tIns="46800" rIns="90000" bIns="46800" anchor="t">
            <a:spAutoFit/>
          </a:bodyPr>
          <a:lstStyle/>
          <a:p>
            <a:pPr defTabSz="9144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(3) Delete Front Element. Now Rear = 4 and Front =2</a:t>
            </a:r>
          </a:p>
        </p:txBody>
      </p:sp>
      <p:grpSp>
        <p:nvGrpSpPr>
          <p:cNvPr id="19539" name="Group 86"/>
          <p:cNvGrpSpPr/>
          <p:nvPr/>
        </p:nvGrpSpPr>
        <p:grpSpPr>
          <a:xfrm>
            <a:off x="1214120" y="5123815"/>
            <a:ext cx="5942013" cy="363538"/>
            <a:chOff x="279" y="2894"/>
            <a:chExt cx="3743" cy="229"/>
          </a:xfrm>
        </p:grpSpPr>
        <p:sp>
          <p:nvSpPr>
            <p:cNvPr id="19540" name="Rectangle 87"/>
            <p:cNvSpPr/>
            <p:nvPr/>
          </p:nvSpPr>
          <p:spPr>
            <a:xfrm>
              <a:off x="279" y="2894"/>
              <a:ext cx="453"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41" name="Rectangle 88"/>
            <p:cNvSpPr/>
            <p:nvPr/>
          </p:nvSpPr>
          <p:spPr>
            <a:xfrm>
              <a:off x="732" y="2894"/>
              <a:ext cx="548"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42" name="Rectangle 89"/>
            <p:cNvSpPr/>
            <p:nvPr/>
          </p:nvSpPr>
          <p:spPr>
            <a:xfrm>
              <a:off x="1280" y="2894"/>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30</a:t>
              </a:r>
            </a:p>
          </p:txBody>
        </p:sp>
        <p:sp>
          <p:nvSpPr>
            <p:cNvPr id="19543" name="Rectangle 90"/>
            <p:cNvSpPr/>
            <p:nvPr/>
          </p:nvSpPr>
          <p:spPr>
            <a:xfrm>
              <a:off x="1829" y="2894"/>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40</a:t>
              </a:r>
            </a:p>
          </p:txBody>
        </p:sp>
        <p:sp>
          <p:nvSpPr>
            <p:cNvPr id="19544" name="Rectangle 91"/>
            <p:cNvSpPr/>
            <p:nvPr/>
          </p:nvSpPr>
          <p:spPr>
            <a:xfrm>
              <a:off x="2377" y="2894"/>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20</a:t>
              </a:r>
            </a:p>
          </p:txBody>
        </p:sp>
        <p:sp>
          <p:nvSpPr>
            <p:cNvPr id="19545" name="Rectangle 92"/>
            <p:cNvSpPr/>
            <p:nvPr/>
          </p:nvSpPr>
          <p:spPr>
            <a:xfrm>
              <a:off x="2926" y="2894"/>
              <a:ext cx="548"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46" name="Rectangle 93"/>
            <p:cNvSpPr/>
            <p:nvPr/>
          </p:nvSpPr>
          <p:spPr>
            <a:xfrm>
              <a:off x="3474" y="2894"/>
              <a:ext cx="549"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47" name="Line 94"/>
            <p:cNvSpPr/>
            <p:nvPr/>
          </p:nvSpPr>
          <p:spPr>
            <a:xfrm>
              <a:off x="732" y="2894"/>
              <a:ext cx="1" cy="230"/>
            </a:xfrm>
            <a:prstGeom prst="line">
              <a:avLst/>
            </a:prstGeom>
            <a:ln w="12600" cap="flat" cmpd="sng">
              <a:solidFill>
                <a:srgbClr val="FFFFFF"/>
              </a:solidFill>
              <a:prstDash val="solid"/>
              <a:miter/>
              <a:headEnd type="none" w="med" len="med"/>
              <a:tailEnd type="none" w="med" len="med"/>
            </a:ln>
          </p:spPr>
        </p:sp>
        <p:sp>
          <p:nvSpPr>
            <p:cNvPr id="19548" name="Line 95"/>
            <p:cNvSpPr/>
            <p:nvPr/>
          </p:nvSpPr>
          <p:spPr>
            <a:xfrm>
              <a:off x="1280" y="2894"/>
              <a:ext cx="1" cy="230"/>
            </a:xfrm>
            <a:prstGeom prst="line">
              <a:avLst/>
            </a:prstGeom>
            <a:ln w="12600" cap="flat" cmpd="sng">
              <a:solidFill>
                <a:srgbClr val="FFFFFF"/>
              </a:solidFill>
              <a:prstDash val="solid"/>
              <a:miter/>
              <a:headEnd type="none" w="med" len="med"/>
              <a:tailEnd type="none" w="med" len="med"/>
            </a:ln>
          </p:spPr>
        </p:sp>
        <p:sp>
          <p:nvSpPr>
            <p:cNvPr id="19549" name="Line 96"/>
            <p:cNvSpPr/>
            <p:nvPr/>
          </p:nvSpPr>
          <p:spPr>
            <a:xfrm>
              <a:off x="1829" y="2894"/>
              <a:ext cx="1" cy="230"/>
            </a:xfrm>
            <a:prstGeom prst="line">
              <a:avLst/>
            </a:prstGeom>
            <a:ln w="12600" cap="flat" cmpd="sng">
              <a:solidFill>
                <a:srgbClr val="FFFFFF"/>
              </a:solidFill>
              <a:prstDash val="solid"/>
              <a:miter/>
              <a:headEnd type="none" w="med" len="med"/>
              <a:tailEnd type="none" w="med" len="med"/>
            </a:ln>
          </p:spPr>
        </p:sp>
        <p:sp>
          <p:nvSpPr>
            <p:cNvPr id="19550" name="Line 97"/>
            <p:cNvSpPr/>
            <p:nvPr/>
          </p:nvSpPr>
          <p:spPr>
            <a:xfrm>
              <a:off x="2377" y="2894"/>
              <a:ext cx="1" cy="230"/>
            </a:xfrm>
            <a:prstGeom prst="line">
              <a:avLst/>
            </a:prstGeom>
            <a:ln w="12600" cap="flat" cmpd="sng">
              <a:solidFill>
                <a:srgbClr val="FFFFFF"/>
              </a:solidFill>
              <a:prstDash val="solid"/>
              <a:miter/>
              <a:headEnd type="none" w="med" len="med"/>
              <a:tailEnd type="none" w="med" len="med"/>
            </a:ln>
          </p:spPr>
        </p:sp>
        <p:sp>
          <p:nvSpPr>
            <p:cNvPr id="19551" name="Line 98"/>
            <p:cNvSpPr/>
            <p:nvPr/>
          </p:nvSpPr>
          <p:spPr>
            <a:xfrm>
              <a:off x="2926" y="2894"/>
              <a:ext cx="1" cy="230"/>
            </a:xfrm>
            <a:prstGeom prst="line">
              <a:avLst/>
            </a:prstGeom>
            <a:ln w="12600" cap="flat" cmpd="sng">
              <a:solidFill>
                <a:srgbClr val="FFFFFF"/>
              </a:solidFill>
              <a:prstDash val="solid"/>
              <a:miter/>
              <a:headEnd type="none" w="med" len="med"/>
              <a:tailEnd type="none" w="med" len="med"/>
            </a:ln>
          </p:spPr>
        </p:sp>
        <p:sp>
          <p:nvSpPr>
            <p:cNvPr id="19552" name="Line 99"/>
            <p:cNvSpPr/>
            <p:nvPr/>
          </p:nvSpPr>
          <p:spPr>
            <a:xfrm>
              <a:off x="3474" y="2894"/>
              <a:ext cx="1" cy="230"/>
            </a:xfrm>
            <a:prstGeom prst="line">
              <a:avLst/>
            </a:prstGeom>
            <a:ln w="12600" cap="flat" cmpd="sng">
              <a:solidFill>
                <a:srgbClr val="FFFFFF"/>
              </a:solidFill>
              <a:prstDash val="solid"/>
              <a:miter/>
              <a:headEnd type="none" w="med" len="med"/>
              <a:tailEnd type="none" w="med" len="med"/>
            </a:ln>
          </p:spPr>
        </p:sp>
        <p:sp>
          <p:nvSpPr>
            <p:cNvPr id="19553" name="Line 100"/>
            <p:cNvSpPr/>
            <p:nvPr/>
          </p:nvSpPr>
          <p:spPr>
            <a:xfrm>
              <a:off x="279" y="2894"/>
              <a:ext cx="1" cy="230"/>
            </a:xfrm>
            <a:prstGeom prst="line">
              <a:avLst/>
            </a:prstGeom>
            <a:ln w="12600" cap="flat" cmpd="sng">
              <a:solidFill>
                <a:srgbClr val="FFFFFF"/>
              </a:solidFill>
              <a:prstDash val="solid"/>
              <a:miter/>
              <a:headEnd type="none" w="med" len="med"/>
              <a:tailEnd type="none" w="med" len="med"/>
            </a:ln>
          </p:spPr>
        </p:sp>
        <p:sp>
          <p:nvSpPr>
            <p:cNvPr id="19554" name="Line 101"/>
            <p:cNvSpPr/>
            <p:nvPr/>
          </p:nvSpPr>
          <p:spPr>
            <a:xfrm>
              <a:off x="4023" y="2894"/>
              <a:ext cx="1" cy="230"/>
            </a:xfrm>
            <a:prstGeom prst="line">
              <a:avLst/>
            </a:prstGeom>
            <a:ln w="12600" cap="flat" cmpd="sng">
              <a:solidFill>
                <a:srgbClr val="FFFFFF"/>
              </a:solidFill>
              <a:prstDash val="solid"/>
              <a:miter/>
              <a:headEnd type="none" w="med" len="med"/>
              <a:tailEnd type="none" w="med" len="med"/>
            </a:ln>
          </p:spPr>
        </p:sp>
        <p:sp>
          <p:nvSpPr>
            <p:cNvPr id="19555" name="Line 102"/>
            <p:cNvSpPr/>
            <p:nvPr/>
          </p:nvSpPr>
          <p:spPr>
            <a:xfrm>
              <a:off x="279" y="2894"/>
              <a:ext cx="3744" cy="1"/>
            </a:xfrm>
            <a:prstGeom prst="line">
              <a:avLst/>
            </a:prstGeom>
            <a:ln w="12600" cap="flat" cmpd="sng">
              <a:solidFill>
                <a:srgbClr val="FFFFFF"/>
              </a:solidFill>
              <a:prstDash val="solid"/>
              <a:miter/>
              <a:headEnd type="none" w="med" len="med"/>
              <a:tailEnd type="none" w="med" len="med"/>
            </a:ln>
          </p:spPr>
        </p:sp>
        <p:sp>
          <p:nvSpPr>
            <p:cNvPr id="19556" name="Line 103"/>
            <p:cNvSpPr/>
            <p:nvPr/>
          </p:nvSpPr>
          <p:spPr>
            <a:xfrm>
              <a:off x="279" y="3124"/>
              <a:ext cx="3744" cy="1"/>
            </a:xfrm>
            <a:prstGeom prst="line">
              <a:avLst/>
            </a:prstGeom>
            <a:ln w="38160" cap="flat" cmpd="sng">
              <a:solidFill>
                <a:srgbClr val="FFFFFF"/>
              </a:solidFill>
              <a:prstDash val="solid"/>
              <a:miter/>
              <a:headEnd type="none" w="med" len="med"/>
              <a:tailEnd type="none" w="med" len="med"/>
            </a:ln>
          </p:spPr>
        </p:sp>
      </p:grpSp>
      <p:grpSp>
        <p:nvGrpSpPr>
          <p:cNvPr id="19557" name="Group 104"/>
          <p:cNvGrpSpPr/>
          <p:nvPr/>
        </p:nvGrpSpPr>
        <p:grpSpPr>
          <a:xfrm>
            <a:off x="1491933" y="5412740"/>
            <a:ext cx="5448300" cy="369888"/>
            <a:chOff x="454" y="3076"/>
            <a:chExt cx="3432" cy="233"/>
          </a:xfrm>
        </p:grpSpPr>
        <p:sp>
          <p:nvSpPr>
            <p:cNvPr id="19558" name="Text Box 105"/>
            <p:cNvSpPr txBox="1"/>
            <p:nvPr/>
          </p:nvSpPr>
          <p:spPr>
            <a:xfrm>
              <a:off x="454" y="307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0</a:t>
              </a:r>
            </a:p>
          </p:txBody>
        </p:sp>
        <p:sp>
          <p:nvSpPr>
            <p:cNvPr id="19559" name="Text Box 106"/>
            <p:cNvSpPr txBox="1"/>
            <p:nvPr/>
          </p:nvSpPr>
          <p:spPr>
            <a:xfrm>
              <a:off x="988" y="307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1</a:t>
              </a:r>
            </a:p>
          </p:txBody>
        </p:sp>
        <p:sp>
          <p:nvSpPr>
            <p:cNvPr id="19560" name="Text Box 107"/>
            <p:cNvSpPr txBox="1"/>
            <p:nvPr/>
          </p:nvSpPr>
          <p:spPr>
            <a:xfrm>
              <a:off x="1480" y="307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2</a:t>
              </a:r>
            </a:p>
          </p:txBody>
        </p:sp>
        <p:sp>
          <p:nvSpPr>
            <p:cNvPr id="19561" name="Text Box 108"/>
            <p:cNvSpPr txBox="1"/>
            <p:nvPr/>
          </p:nvSpPr>
          <p:spPr>
            <a:xfrm>
              <a:off x="2020" y="307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3</a:t>
              </a:r>
            </a:p>
          </p:txBody>
        </p:sp>
        <p:sp>
          <p:nvSpPr>
            <p:cNvPr id="19562" name="Text Box 109"/>
            <p:cNvSpPr txBox="1"/>
            <p:nvPr/>
          </p:nvSpPr>
          <p:spPr>
            <a:xfrm>
              <a:off x="2614" y="307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4</a:t>
              </a:r>
            </a:p>
          </p:txBody>
        </p:sp>
        <p:sp>
          <p:nvSpPr>
            <p:cNvPr id="19563" name="Text Box 110"/>
            <p:cNvSpPr txBox="1"/>
            <p:nvPr/>
          </p:nvSpPr>
          <p:spPr>
            <a:xfrm>
              <a:off x="3154" y="307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5</a:t>
              </a:r>
            </a:p>
          </p:txBody>
        </p:sp>
        <p:sp>
          <p:nvSpPr>
            <p:cNvPr id="19564" name="Text Box 111"/>
            <p:cNvSpPr txBox="1"/>
            <p:nvPr/>
          </p:nvSpPr>
          <p:spPr>
            <a:xfrm>
              <a:off x="3694" y="3076"/>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6</a:t>
              </a:r>
            </a:p>
          </p:txBody>
        </p:sp>
      </p:grpSp>
      <p:sp>
        <p:nvSpPr>
          <p:cNvPr id="19565" name="Text Box 112"/>
          <p:cNvSpPr txBox="1"/>
          <p:nvPr/>
        </p:nvSpPr>
        <p:spPr>
          <a:xfrm>
            <a:off x="1235075" y="5736590"/>
            <a:ext cx="5965825" cy="369570"/>
          </a:xfrm>
          <a:prstGeom prst="rect">
            <a:avLst/>
          </a:prstGeom>
          <a:noFill/>
          <a:ln w="9525">
            <a:noFill/>
          </a:ln>
        </p:spPr>
        <p:txBody>
          <a:bodyPr wrap="square" lIns="90000" tIns="46800" rIns="90000" bIns="46800" anchor="t">
            <a:spAutoFit/>
          </a:bodyPr>
          <a:lstStyle/>
          <a:p>
            <a:pPr defTabSz="9144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(4) Insert 60. Now Rear = 5 and Front = 2</a:t>
            </a:r>
          </a:p>
        </p:txBody>
      </p:sp>
      <p:grpSp>
        <p:nvGrpSpPr>
          <p:cNvPr id="19566" name="Group 113"/>
          <p:cNvGrpSpPr/>
          <p:nvPr/>
        </p:nvGrpSpPr>
        <p:grpSpPr>
          <a:xfrm>
            <a:off x="1249045" y="6096635"/>
            <a:ext cx="5942013" cy="363538"/>
            <a:chOff x="301" y="3600"/>
            <a:chExt cx="3743" cy="229"/>
          </a:xfrm>
        </p:grpSpPr>
        <p:sp>
          <p:nvSpPr>
            <p:cNvPr id="19567" name="Rectangle 114"/>
            <p:cNvSpPr/>
            <p:nvPr/>
          </p:nvSpPr>
          <p:spPr>
            <a:xfrm>
              <a:off x="301" y="3600"/>
              <a:ext cx="453"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68" name="Rectangle 115"/>
            <p:cNvSpPr/>
            <p:nvPr/>
          </p:nvSpPr>
          <p:spPr>
            <a:xfrm>
              <a:off x="754" y="3600"/>
              <a:ext cx="548"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69" name="Rectangle 116"/>
            <p:cNvSpPr/>
            <p:nvPr/>
          </p:nvSpPr>
          <p:spPr>
            <a:xfrm>
              <a:off x="1302" y="3600"/>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30</a:t>
              </a:r>
            </a:p>
          </p:txBody>
        </p:sp>
        <p:sp>
          <p:nvSpPr>
            <p:cNvPr id="19570" name="Rectangle 117"/>
            <p:cNvSpPr/>
            <p:nvPr/>
          </p:nvSpPr>
          <p:spPr>
            <a:xfrm>
              <a:off x="1851" y="3600"/>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40</a:t>
              </a:r>
            </a:p>
          </p:txBody>
        </p:sp>
        <p:sp>
          <p:nvSpPr>
            <p:cNvPr id="19571" name="Rectangle 118"/>
            <p:cNvSpPr/>
            <p:nvPr/>
          </p:nvSpPr>
          <p:spPr>
            <a:xfrm>
              <a:off x="2399" y="3600"/>
              <a:ext cx="549"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20</a:t>
              </a:r>
            </a:p>
          </p:txBody>
        </p:sp>
        <p:sp>
          <p:nvSpPr>
            <p:cNvPr id="19572" name="Rectangle 119"/>
            <p:cNvSpPr/>
            <p:nvPr/>
          </p:nvSpPr>
          <p:spPr>
            <a:xfrm>
              <a:off x="2948" y="3600"/>
              <a:ext cx="548" cy="230"/>
            </a:xfrm>
            <a:prstGeom prst="rect">
              <a:avLst/>
            </a:prstGeom>
            <a:solidFill>
              <a:srgbClr val="4F81BD"/>
            </a:solidFill>
            <a:ln w="9525">
              <a:noFill/>
            </a:ln>
          </p:spPr>
          <p:txBody>
            <a:bodyPr lIns="90000" tIns="46800" rIns="90000" bIns="46800" anchor="t"/>
            <a:lstStyle/>
            <a:p>
              <a:pPr algn="ctr" defTabSz="914400" eaLnBrk="0" hangingPunct="0">
                <a:buClr>
                  <a:srgbClr val="FFFFFF"/>
                </a:buClr>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b="1" dirty="0">
                  <a:solidFill>
                    <a:srgbClr val="FFFFFF"/>
                  </a:solidFill>
                  <a:latin typeface="+mn-lt"/>
                  <a:cs typeface="+mn-lt"/>
                </a:rPr>
                <a:t>60</a:t>
              </a:r>
            </a:p>
          </p:txBody>
        </p:sp>
        <p:sp>
          <p:nvSpPr>
            <p:cNvPr id="19573" name="Rectangle 120"/>
            <p:cNvSpPr/>
            <p:nvPr/>
          </p:nvSpPr>
          <p:spPr>
            <a:xfrm>
              <a:off x="3496" y="3600"/>
              <a:ext cx="549" cy="230"/>
            </a:xfrm>
            <a:prstGeom prst="rect">
              <a:avLst/>
            </a:prstGeom>
            <a:solidFill>
              <a:srgbClr val="4F81BD"/>
            </a:solidFill>
            <a:ln w="9525">
              <a:noFill/>
            </a:ln>
          </p:spPr>
          <p:txBody>
            <a:bodyPr wrap="none" anchor="ctr"/>
            <a:lstStyle/>
            <a:p>
              <a:pPr eaLnBrk="0" hangingPunct="0"/>
              <a:endParaRPr lang="en-US" altLang="en-US" sz="1800" dirty="0">
                <a:latin typeface="+mn-lt"/>
                <a:cs typeface="+mn-lt"/>
              </a:endParaRPr>
            </a:p>
          </p:txBody>
        </p:sp>
        <p:sp>
          <p:nvSpPr>
            <p:cNvPr id="19574" name="Line 121"/>
            <p:cNvSpPr/>
            <p:nvPr/>
          </p:nvSpPr>
          <p:spPr>
            <a:xfrm>
              <a:off x="754" y="3600"/>
              <a:ext cx="1" cy="230"/>
            </a:xfrm>
            <a:prstGeom prst="line">
              <a:avLst/>
            </a:prstGeom>
            <a:ln w="12600" cap="flat" cmpd="sng">
              <a:solidFill>
                <a:srgbClr val="FFFFFF"/>
              </a:solidFill>
              <a:prstDash val="solid"/>
              <a:miter/>
              <a:headEnd type="none" w="med" len="med"/>
              <a:tailEnd type="none" w="med" len="med"/>
            </a:ln>
          </p:spPr>
        </p:sp>
        <p:sp>
          <p:nvSpPr>
            <p:cNvPr id="19575" name="Line 122"/>
            <p:cNvSpPr/>
            <p:nvPr/>
          </p:nvSpPr>
          <p:spPr>
            <a:xfrm>
              <a:off x="1302" y="3600"/>
              <a:ext cx="1" cy="230"/>
            </a:xfrm>
            <a:prstGeom prst="line">
              <a:avLst/>
            </a:prstGeom>
            <a:ln w="12600" cap="flat" cmpd="sng">
              <a:solidFill>
                <a:srgbClr val="FFFFFF"/>
              </a:solidFill>
              <a:prstDash val="solid"/>
              <a:miter/>
              <a:headEnd type="none" w="med" len="med"/>
              <a:tailEnd type="none" w="med" len="med"/>
            </a:ln>
          </p:spPr>
        </p:sp>
        <p:sp>
          <p:nvSpPr>
            <p:cNvPr id="19576" name="Line 123"/>
            <p:cNvSpPr/>
            <p:nvPr/>
          </p:nvSpPr>
          <p:spPr>
            <a:xfrm>
              <a:off x="1851" y="3600"/>
              <a:ext cx="1" cy="230"/>
            </a:xfrm>
            <a:prstGeom prst="line">
              <a:avLst/>
            </a:prstGeom>
            <a:ln w="12600" cap="flat" cmpd="sng">
              <a:solidFill>
                <a:srgbClr val="FFFFFF"/>
              </a:solidFill>
              <a:prstDash val="solid"/>
              <a:miter/>
              <a:headEnd type="none" w="med" len="med"/>
              <a:tailEnd type="none" w="med" len="med"/>
            </a:ln>
          </p:spPr>
        </p:sp>
        <p:sp>
          <p:nvSpPr>
            <p:cNvPr id="19577" name="Line 124"/>
            <p:cNvSpPr/>
            <p:nvPr/>
          </p:nvSpPr>
          <p:spPr>
            <a:xfrm>
              <a:off x="2399" y="3600"/>
              <a:ext cx="1" cy="230"/>
            </a:xfrm>
            <a:prstGeom prst="line">
              <a:avLst/>
            </a:prstGeom>
            <a:ln w="12600" cap="flat" cmpd="sng">
              <a:solidFill>
                <a:srgbClr val="FFFFFF"/>
              </a:solidFill>
              <a:prstDash val="solid"/>
              <a:miter/>
              <a:headEnd type="none" w="med" len="med"/>
              <a:tailEnd type="none" w="med" len="med"/>
            </a:ln>
          </p:spPr>
        </p:sp>
        <p:sp>
          <p:nvSpPr>
            <p:cNvPr id="19578" name="Line 125"/>
            <p:cNvSpPr/>
            <p:nvPr/>
          </p:nvSpPr>
          <p:spPr>
            <a:xfrm>
              <a:off x="2948" y="3600"/>
              <a:ext cx="1" cy="230"/>
            </a:xfrm>
            <a:prstGeom prst="line">
              <a:avLst/>
            </a:prstGeom>
            <a:ln w="12600" cap="flat" cmpd="sng">
              <a:solidFill>
                <a:srgbClr val="FFFFFF"/>
              </a:solidFill>
              <a:prstDash val="solid"/>
              <a:miter/>
              <a:headEnd type="none" w="med" len="med"/>
              <a:tailEnd type="none" w="med" len="med"/>
            </a:ln>
          </p:spPr>
        </p:sp>
        <p:sp>
          <p:nvSpPr>
            <p:cNvPr id="19579" name="Line 126"/>
            <p:cNvSpPr/>
            <p:nvPr/>
          </p:nvSpPr>
          <p:spPr>
            <a:xfrm>
              <a:off x="3496" y="3600"/>
              <a:ext cx="1" cy="230"/>
            </a:xfrm>
            <a:prstGeom prst="line">
              <a:avLst/>
            </a:prstGeom>
            <a:ln w="12600" cap="flat" cmpd="sng">
              <a:solidFill>
                <a:srgbClr val="FFFFFF"/>
              </a:solidFill>
              <a:prstDash val="solid"/>
              <a:miter/>
              <a:headEnd type="none" w="med" len="med"/>
              <a:tailEnd type="none" w="med" len="med"/>
            </a:ln>
          </p:spPr>
        </p:sp>
        <p:sp>
          <p:nvSpPr>
            <p:cNvPr id="19580" name="Line 127"/>
            <p:cNvSpPr/>
            <p:nvPr/>
          </p:nvSpPr>
          <p:spPr>
            <a:xfrm>
              <a:off x="301" y="3600"/>
              <a:ext cx="1" cy="230"/>
            </a:xfrm>
            <a:prstGeom prst="line">
              <a:avLst/>
            </a:prstGeom>
            <a:ln w="12600" cap="flat" cmpd="sng">
              <a:solidFill>
                <a:srgbClr val="FFFFFF"/>
              </a:solidFill>
              <a:prstDash val="solid"/>
              <a:miter/>
              <a:headEnd type="none" w="med" len="med"/>
              <a:tailEnd type="none" w="med" len="med"/>
            </a:ln>
          </p:spPr>
        </p:sp>
        <p:sp>
          <p:nvSpPr>
            <p:cNvPr id="19581" name="Line 128"/>
            <p:cNvSpPr/>
            <p:nvPr/>
          </p:nvSpPr>
          <p:spPr>
            <a:xfrm>
              <a:off x="4045" y="3600"/>
              <a:ext cx="1" cy="230"/>
            </a:xfrm>
            <a:prstGeom prst="line">
              <a:avLst/>
            </a:prstGeom>
            <a:ln w="12600" cap="flat" cmpd="sng">
              <a:solidFill>
                <a:srgbClr val="FFFFFF"/>
              </a:solidFill>
              <a:prstDash val="solid"/>
              <a:miter/>
              <a:headEnd type="none" w="med" len="med"/>
              <a:tailEnd type="none" w="med" len="med"/>
            </a:ln>
          </p:spPr>
        </p:sp>
        <p:sp>
          <p:nvSpPr>
            <p:cNvPr id="19582" name="Line 129"/>
            <p:cNvSpPr/>
            <p:nvPr/>
          </p:nvSpPr>
          <p:spPr>
            <a:xfrm>
              <a:off x="301" y="3600"/>
              <a:ext cx="3744" cy="1"/>
            </a:xfrm>
            <a:prstGeom prst="line">
              <a:avLst/>
            </a:prstGeom>
            <a:ln w="12600" cap="flat" cmpd="sng">
              <a:solidFill>
                <a:srgbClr val="FFFFFF"/>
              </a:solidFill>
              <a:prstDash val="solid"/>
              <a:miter/>
              <a:headEnd type="none" w="med" len="med"/>
              <a:tailEnd type="none" w="med" len="med"/>
            </a:ln>
          </p:spPr>
        </p:sp>
        <p:sp>
          <p:nvSpPr>
            <p:cNvPr id="19583" name="Line 130"/>
            <p:cNvSpPr/>
            <p:nvPr/>
          </p:nvSpPr>
          <p:spPr>
            <a:xfrm>
              <a:off x="301" y="3830"/>
              <a:ext cx="3744" cy="1"/>
            </a:xfrm>
            <a:prstGeom prst="line">
              <a:avLst/>
            </a:prstGeom>
            <a:ln w="38160" cap="flat" cmpd="sng">
              <a:solidFill>
                <a:srgbClr val="FFFFFF"/>
              </a:solidFill>
              <a:prstDash val="solid"/>
              <a:miter/>
              <a:headEnd type="none" w="med" len="med"/>
              <a:tailEnd type="none" w="med" len="med"/>
            </a:ln>
          </p:spPr>
        </p:sp>
      </p:grpSp>
      <p:grpSp>
        <p:nvGrpSpPr>
          <p:cNvPr id="19584" name="Group 131"/>
          <p:cNvGrpSpPr/>
          <p:nvPr/>
        </p:nvGrpSpPr>
        <p:grpSpPr>
          <a:xfrm>
            <a:off x="1425258" y="6406198"/>
            <a:ext cx="5448300" cy="369887"/>
            <a:chOff x="412" y="3795"/>
            <a:chExt cx="3432" cy="233"/>
          </a:xfrm>
        </p:grpSpPr>
        <p:sp>
          <p:nvSpPr>
            <p:cNvPr id="19585" name="Text Box 132"/>
            <p:cNvSpPr txBox="1"/>
            <p:nvPr/>
          </p:nvSpPr>
          <p:spPr>
            <a:xfrm>
              <a:off x="412" y="3795"/>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0</a:t>
              </a:r>
            </a:p>
          </p:txBody>
        </p:sp>
        <p:sp>
          <p:nvSpPr>
            <p:cNvPr id="19586" name="Text Box 133"/>
            <p:cNvSpPr txBox="1"/>
            <p:nvPr/>
          </p:nvSpPr>
          <p:spPr>
            <a:xfrm>
              <a:off x="946" y="3795"/>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1</a:t>
              </a:r>
            </a:p>
          </p:txBody>
        </p:sp>
        <p:sp>
          <p:nvSpPr>
            <p:cNvPr id="19587" name="Text Box 134"/>
            <p:cNvSpPr txBox="1"/>
            <p:nvPr/>
          </p:nvSpPr>
          <p:spPr>
            <a:xfrm>
              <a:off x="1438" y="3795"/>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2</a:t>
              </a:r>
            </a:p>
          </p:txBody>
        </p:sp>
        <p:sp>
          <p:nvSpPr>
            <p:cNvPr id="19588" name="Text Box 135"/>
            <p:cNvSpPr txBox="1"/>
            <p:nvPr/>
          </p:nvSpPr>
          <p:spPr>
            <a:xfrm>
              <a:off x="1978" y="3795"/>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3</a:t>
              </a:r>
            </a:p>
          </p:txBody>
        </p:sp>
        <p:sp>
          <p:nvSpPr>
            <p:cNvPr id="19589" name="Text Box 136"/>
            <p:cNvSpPr txBox="1"/>
            <p:nvPr/>
          </p:nvSpPr>
          <p:spPr>
            <a:xfrm>
              <a:off x="2572" y="3795"/>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4</a:t>
              </a:r>
            </a:p>
          </p:txBody>
        </p:sp>
        <p:sp>
          <p:nvSpPr>
            <p:cNvPr id="19590" name="Text Box 137"/>
            <p:cNvSpPr txBox="1"/>
            <p:nvPr/>
          </p:nvSpPr>
          <p:spPr>
            <a:xfrm>
              <a:off x="3112" y="3795"/>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5</a:t>
              </a:r>
            </a:p>
          </p:txBody>
        </p:sp>
        <p:sp>
          <p:nvSpPr>
            <p:cNvPr id="19591" name="Text Box 138"/>
            <p:cNvSpPr txBox="1"/>
            <p:nvPr/>
          </p:nvSpPr>
          <p:spPr>
            <a:xfrm>
              <a:off x="3652" y="3795"/>
              <a:ext cx="192" cy="233"/>
            </a:xfrm>
            <a:prstGeom prst="rect">
              <a:avLst/>
            </a:prstGeom>
            <a:noFill/>
            <a:ln w="9525">
              <a:noFill/>
            </a:ln>
          </p:spPr>
          <p:txBody>
            <a:bodyPr wrap="none" lIns="90000" tIns="46800" rIns="90000" bIns="46800" anchor="t">
              <a:spAutoFit/>
            </a:bodyPr>
            <a:lstStyle/>
            <a:p>
              <a:pPr defTabSz="914400" eaLnBrk="0" hangingPunct="0">
                <a:buFont typeface="Calibri" panose="020F050202020403020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6</a:t>
              </a:r>
            </a:p>
          </p:txBody>
        </p:sp>
      </p:grpSp>
      <p:sp>
        <p:nvSpPr>
          <p:cNvPr id="19592" name="Rectangle 2"/>
          <p:cNvSpPr txBox="1"/>
          <p:nvPr/>
        </p:nvSpPr>
        <p:spPr>
          <a:xfrm>
            <a:off x="1117600" y="754380"/>
            <a:ext cx="7505700" cy="673100"/>
          </a:xfrm>
          <a:prstGeom prst="rect">
            <a:avLst/>
          </a:prstGeom>
          <a:noFill/>
          <a:ln w="9525">
            <a:noFill/>
          </a:ln>
        </p:spPr>
        <p:txBody>
          <a:bodyPr anchor="t"/>
          <a:lstStyle/>
          <a:p>
            <a:pPr algn="l" defTabSz="914400" eaLnBrk="0" hangingPunct="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solidFill>
                  <a:schemeClr val="tx2"/>
                </a:solidFill>
                <a:latin typeface="Times New Roman" panose="02020603050405020304" pitchFamily="18" charset="0"/>
              </a:rPr>
              <a:t>Array Implementation: Example</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a:xfrm>
            <a:off x="1185545" y="849630"/>
            <a:ext cx="7379335" cy="922655"/>
          </a:xfrm>
        </p:spPr>
        <p:txBody>
          <a:bodyPr wrap="square" lIns="92075" tIns="46038" rIns="92075" bIns="46038" anchor="ctr"/>
          <a:lstStyle/>
          <a:p>
            <a:pPr defTabSz="91440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t>Queue Operations</a:t>
            </a:r>
          </a:p>
        </p:txBody>
      </p:sp>
      <p:sp>
        <p:nvSpPr>
          <p:cNvPr id="21506" name="Rectangle 3"/>
          <p:cNvSpPr>
            <a:spLocks noGrp="1"/>
          </p:cNvSpPr>
          <p:nvPr>
            <p:ph sz="half" idx="1"/>
          </p:nvPr>
        </p:nvSpPr>
        <p:spPr>
          <a:xfrm>
            <a:off x="840740" y="1894840"/>
            <a:ext cx="7846060" cy="4734560"/>
          </a:xfrm>
        </p:spPr>
        <p:txBody>
          <a:bodyPr wrap="square" lIns="92075" tIns="46038" rIns="92075" bIns="46038" anchor="t"/>
          <a:lstStyle/>
          <a:p>
            <a:pPr marL="0" indent="0">
              <a:lnSpc>
                <a:spcPct val="90000"/>
              </a:lnSpc>
              <a:spcBef>
                <a:spcPts val="600"/>
              </a:spcBef>
              <a:buClrTx/>
              <a:buSzTx/>
              <a:buFontTx/>
              <a:buNone/>
            </a:pPr>
            <a:r>
              <a:rPr lang="en-US" altLang="en-US" sz="2000" dirty="0">
                <a:latin typeface="+mn-lt"/>
                <a:ea typeface="+mn-ea"/>
                <a:cs typeface="+mn-cs"/>
              </a:rPr>
              <a:t>#define SIZE 50</a:t>
            </a:r>
          </a:p>
          <a:p>
            <a:pPr marL="0" indent="0">
              <a:lnSpc>
                <a:spcPct val="90000"/>
              </a:lnSpc>
              <a:spcBef>
                <a:spcPts val="600"/>
              </a:spcBef>
              <a:buClrTx/>
              <a:buSzTx/>
              <a:buFontTx/>
              <a:buNone/>
            </a:pPr>
            <a:endParaRPr lang="en-US" altLang="en-US" sz="2000" dirty="0">
              <a:latin typeface="+mn-lt"/>
              <a:ea typeface="+mn-ea"/>
              <a:cs typeface="+mn-cs"/>
            </a:endParaRPr>
          </a:p>
          <a:p>
            <a:pPr marL="0" indent="0">
              <a:lnSpc>
                <a:spcPct val="90000"/>
              </a:lnSpc>
              <a:spcBef>
                <a:spcPts val="600"/>
              </a:spcBef>
              <a:buClrTx/>
              <a:buSzTx/>
              <a:buFontTx/>
              <a:buNone/>
            </a:pPr>
            <a:r>
              <a:rPr lang="en-US" altLang="en-US" sz="2000" dirty="0">
                <a:latin typeface="+mn-lt"/>
                <a:ea typeface="+mn-ea"/>
                <a:cs typeface="+mn-cs"/>
              </a:rPr>
              <a:t>int rear = -1,  front = 0;</a:t>
            </a:r>
          </a:p>
          <a:p>
            <a:pPr marL="0" indent="0">
              <a:lnSpc>
                <a:spcPct val="90000"/>
              </a:lnSpc>
              <a:spcBef>
                <a:spcPts val="600"/>
              </a:spcBef>
              <a:buClrTx/>
              <a:buSzTx/>
              <a:buFontTx/>
              <a:buNone/>
            </a:pPr>
            <a:r>
              <a:rPr lang="en-US" altLang="en-US" sz="2000" dirty="0">
                <a:latin typeface="+mn-lt"/>
                <a:ea typeface="+mn-ea"/>
                <a:cs typeface="+mn-cs"/>
              </a:rPr>
              <a:t>int q[SIZE];</a:t>
            </a:r>
          </a:p>
          <a:p>
            <a:pPr marL="0" indent="0">
              <a:lnSpc>
                <a:spcPct val="90000"/>
              </a:lnSpc>
              <a:spcBef>
                <a:spcPts val="600"/>
              </a:spcBef>
              <a:buClrTx/>
              <a:buSzTx/>
              <a:buFontTx/>
              <a:buNone/>
            </a:pPr>
            <a:endParaRPr lang="en-US" altLang="en-US" sz="2000" dirty="0">
              <a:latin typeface="+mn-lt"/>
              <a:ea typeface="+mn-ea"/>
              <a:cs typeface="+mn-cs"/>
            </a:endParaRPr>
          </a:p>
          <a:p>
            <a:pPr marL="0" indent="0">
              <a:lnSpc>
                <a:spcPct val="90000"/>
              </a:lnSpc>
              <a:spcBef>
                <a:spcPts val="600"/>
              </a:spcBef>
              <a:buClrTx/>
              <a:buSzTx/>
              <a:buFontTx/>
              <a:buNone/>
            </a:pPr>
            <a:r>
              <a:rPr lang="en-US" altLang="en-US" sz="2000" dirty="0">
                <a:latin typeface="+mn-lt"/>
                <a:ea typeface="+mn-ea"/>
                <a:cs typeface="+mn-cs"/>
              </a:rPr>
              <a:t>void insert(int x)  {</a:t>
            </a:r>
          </a:p>
          <a:p>
            <a:pPr marL="0" indent="0">
              <a:lnSpc>
                <a:spcPct val="90000"/>
              </a:lnSpc>
              <a:spcBef>
                <a:spcPts val="600"/>
              </a:spcBef>
              <a:buClrTx/>
              <a:buSzTx/>
              <a:buFontTx/>
              <a:buNone/>
            </a:pPr>
            <a:r>
              <a:rPr lang="en-US" altLang="en-US" sz="2000" dirty="0">
                <a:latin typeface="+mn-lt"/>
                <a:ea typeface="+mn-ea"/>
                <a:cs typeface="+mn-cs"/>
              </a:rPr>
              <a:t>	if (rear == MAX - 1)</a:t>
            </a:r>
          </a:p>
          <a:p>
            <a:pPr marL="0" indent="0">
              <a:lnSpc>
                <a:spcPct val="90000"/>
              </a:lnSpc>
              <a:spcBef>
                <a:spcPts val="600"/>
              </a:spcBef>
              <a:buClrTx/>
              <a:buSzTx/>
              <a:buFontTx/>
              <a:buNone/>
            </a:pPr>
            <a:r>
              <a:rPr lang="en-US" altLang="en-US" sz="2000" dirty="0">
                <a:latin typeface="+mn-lt"/>
                <a:ea typeface="+mn-ea"/>
                <a:cs typeface="+mn-cs"/>
              </a:rPr>
              <a:t>		printf("Queue Overflow \n");</a:t>
            </a:r>
          </a:p>
          <a:p>
            <a:pPr marL="0" indent="0">
              <a:lnSpc>
                <a:spcPct val="90000"/>
              </a:lnSpc>
              <a:spcBef>
                <a:spcPts val="600"/>
              </a:spcBef>
              <a:buClrTx/>
              <a:buSzTx/>
              <a:buFontTx/>
              <a:buNone/>
            </a:pPr>
            <a:r>
              <a:rPr lang="en-US" altLang="en-US" sz="2000" dirty="0">
                <a:latin typeface="+mn-lt"/>
                <a:ea typeface="+mn-ea"/>
                <a:cs typeface="+mn-cs"/>
              </a:rPr>
              <a:t>	else  {</a:t>
            </a:r>
          </a:p>
          <a:p>
            <a:pPr marL="0" indent="0">
              <a:lnSpc>
                <a:spcPct val="90000"/>
              </a:lnSpc>
              <a:spcBef>
                <a:spcPts val="600"/>
              </a:spcBef>
              <a:buClrTx/>
              <a:buSzTx/>
              <a:buFontTx/>
              <a:buNone/>
            </a:pPr>
            <a:r>
              <a:rPr lang="en-US" altLang="en-US" sz="2000" dirty="0">
                <a:latin typeface="+mn-lt"/>
                <a:ea typeface="+mn-ea"/>
                <a:cs typeface="+mn-cs"/>
              </a:rPr>
              <a:t>		rear = rear + 1;</a:t>
            </a:r>
          </a:p>
          <a:p>
            <a:pPr marL="0" indent="0">
              <a:lnSpc>
                <a:spcPct val="90000"/>
              </a:lnSpc>
              <a:spcBef>
                <a:spcPts val="600"/>
              </a:spcBef>
              <a:buClrTx/>
              <a:buSzTx/>
              <a:buFontTx/>
              <a:buNone/>
            </a:pPr>
            <a:r>
              <a:rPr lang="en-US" altLang="en-US" sz="2000" dirty="0">
                <a:latin typeface="+mn-lt"/>
                <a:ea typeface="+mn-ea"/>
                <a:cs typeface="+mn-cs"/>
              </a:rPr>
              <a:t>		q[rear] = x;</a:t>
            </a:r>
          </a:p>
          <a:p>
            <a:pPr marL="0" indent="0">
              <a:lnSpc>
                <a:spcPct val="90000"/>
              </a:lnSpc>
              <a:spcBef>
                <a:spcPts val="600"/>
              </a:spcBef>
              <a:buClrTx/>
              <a:buSzTx/>
              <a:buFontTx/>
              <a:buNone/>
            </a:pPr>
            <a:r>
              <a:rPr lang="en-US" altLang="en-US" sz="2000" dirty="0">
                <a:latin typeface="+mn-lt"/>
                <a:ea typeface="+mn-ea"/>
                <a:cs typeface="+mn-cs"/>
              </a:rPr>
              <a:t>	}</a:t>
            </a:r>
          </a:p>
          <a:p>
            <a:pPr marL="0" indent="0">
              <a:lnSpc>
                <a:spcPct val="90000"/>
              </a:lnSpc>
              <a:spcBef>
                <a:spcPts val="600"/>
              </a:spcBef>
              <a:buClrTx/>
              <a:buSzTx/>
              <a:buFontTx/>
              <a:buNone/>
            </a:pPr>
            <a:r>
              <a:rPr lang="en-US" altLang="en-US" sz="2000" dirty="0">
                <a:latin typeface="+mn-lt"/>
                <a:ea typeface="+mn-ea"/>
                <a:cs typeface="+mn-cs"/>
              </a:rPr>
              <a:t>} </a:t>
            </a:r>
            <a:endParaRPr lang="en-GB" altLang="en-US" sz="2000" dirty="0">
              <a:latin typeface="+mn-lt"/>
              <a:ea typeface="+mn-ea"/>
              <a:cs typeface="+mn-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1026160" y="965835"/>
            <a:ext cx="7475855" cy="796290"/>
          </a:xfrm>
        </p:spPr>
        <p:txBody>
          <a:bodyPr wrap="square" lIns="92075" tIns="46038" rIns="92075" bIns="46038" anchor="ctr"/>
          <a:lstStyle/>
          <a:p>
            <a:pPr defTabSz="91440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t>Queue Operations</a:t>
            </a:r>
          </a:p>
        </p:txBody>
      </p:sp>
      <p:sp>
        <p:nvSpPr>
          <p:cNvPr id="23554" name="Rectangle 3"/>
          <p:cNvSpPr>
            <a:spLocks noGrp="1"/>
          </p:cNvSpPr>
          <p:nvPr>
            <p:ph sz="half" idx="1"/>
          </p:nvPr>
        </p:nvSpPr>
        <p:spPr>
          <a:xfrm>
            <a:off x="876300" y="2021205"/>
            <a:ext cx="7775575" cy="4608195"/>
          </a:xfrm>
        </p:spPr>
        <p:txBody>
          <a:bodyPr wrap="square" lIns="92075" tIns="46038" rIns="92075" bIns="46038" anchor="t"/>
          <a:lstStyle/>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delete()  {</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int x</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if (rear &lt; front)</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printf("Queue Underflow \n");</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else</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x = q[front];</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front = front + 1;</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void display()  {</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int i;</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if (rear &lt; front)</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printf("Queue is empty \n");</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else  {</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printf("Queue is : \n");</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for (i = front; i &lt;= rear; i++)</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printf("%d ", q[i]);</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80000"/>
              </a:lnSpc>
              <a:spcBef>
                <a:spcPct val="0"/>
              </a:spcBef>
              <a:buClrTx/>
              <a:buSzTx/>
              <a:buFontTx/>
              <a:buNone/>
              <a:tabLst>
                <a:tab pos="457200" algn="l"/>
                <a:tab pos="914400" algn="l"/>
                <a:tab pos="1371600" algn="l"/>
              </a:tabLst>
            </a:pPr>
            <a:r>
              <a:rPr lang="en-US" altLang="en-US" sz="1800" dirty="0">
                <a:latin typeface="+mn-lt"/>
                <a:ea typeface="+mn-ea"/>
                <a:cs typeface="+mn-cs"/>
              </a:rPr>
              <a:t>}</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1026160" y="965835"/>
            <a:ext cx="7475855" cy="796290"/>
          </a:xfrm>
        </p:spPr>
        <p:txBody>
          <a:bodyPr wrap="square" lIns="92075" tIns="46038" rIns="92075" bIns="46038" anchor="ctr"/>
          <a:lstStyle/>
          <a:p>
            <a:pPr defTabSz="914400">
              <a:lnSpc>
                <a:spcPct val="95000"/>
              </a:lnSpc>
              <a:tabLst>
                <a:tab pos="0" algn="l"/>
                <a:tab pos="457200" algn="l"/>
                <a:tab pos="914400" algn="l"/>
                <a:tab pos="1371600" algn="l"/>
                <a:tab pos="1828800" algn="l"/>
                <a:tab pos="2743200" algn="l"/>
                <a:tab pos="3657600" algn="l"/>
                <a:tab pos="4572000" algn="l"/>
                <a:tab pos="5486400" algn="l"/>
                <a:tab pos="6400800" algn="l"/>
                <a:tab pos="7315200" algn="l"/>
                <a:tab pos="8229600" algn="l"/>
                <a:tab pos="9144000" algn="l"/>
                <a:tab pos="10058400" algn="l"/>
              </a:tabLst>
            </a:pPr>
            <a:r>
              <a:rPr lang="en-US" altLang="en-GB" sz="3600" dirty="0"/>
              <a:t>Implemetation of </a:t>
            </a:r>
            <a:r>
              <a:rPr lang="en-GB" altLang="en-US" sz="3600" dirty="0"/>
              <a:t>Queue</a:t>
            </a:r>
          </a:p>
        </p:txBody>
      </p:sp>
      <p:sp>
        <p:nvSpPr>
          <p:cNvPr id="23554" name="Rectangle 3"/>
          <p:cNvSpPr>
            <a:spLocks noGrp="1"/>
          </p:cNvSpPr>
          <p:nvPr>
            <p:ph sz="half" idx="1"/>
          </p:nvPr>
        </p:nvSpPr>
        <p:spPr>
          <a:xfrm>
            <a:off x="813435" y="1690370"/>
            <a:ext cx="3852545" cy="4994910"/>
          </a:xfrm>
        </p:spPr>
        <p:txBody>
          <a:bodyPr wrap="square" lIns="92075" tIns="46038" rIns="92075" bIns="46038" anchor="t"/>
          <a:lstStyle/>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#include &lt;stdio.h&gt;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#define MAX 50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void insert();</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void Delete();</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void display();</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int que[MAX];</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int rear = - 1;</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int front = - 1;</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int main()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int choice;</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do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printf("1.Insert \n");</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printf("2.Delete \n");</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printf("3.Display \n");</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printf("4.Quit \n");</a:t>
            </a:r>
          </a:p>
          <a:p>
            <a:pPr marL="0" indent="0" defTabSz="914400">
              <a:lnSpc>
                <a:spcPct val="100000"/>
              </a:lnSpc>
              <a:spcBef>
                <a:spcPts val="200"/>
              </a:spcBef>
              <a:buClrTx/>
              <a:buSzTx/>
              <a:buFontTx/>
              <a:buNone/>
              <a:tabLst>
                <a:tab pos="457200" algn="l"/>
                <a:tab pos="914400" algn="l"/>
                <a:tab pos="1371600" algn="l"/>
              </a:tabLst>
            </a:pPr>
            <a:r>
              <a:rPr lang="en-US" altLang="en-US" sz="1800" dirty="0">
                <a:sym typeface="+mn-ea"/>
              </a:rPr>
              <a:t>        printf("Enter your choice : ");</a:t>
            </a:r>
            <a:endParaRPr lang="en-US" altLang="en-US" sz="1800" dirty="0">
              <a:latin typeface="+mn-lt"/>
              <a:ea typeface="+mn-ea"/>
              <a:cs typeface="+mn-cs"/>
            </a:endParaRPr>
          </a:p>
          <a:p>
            <a:pPr marL="0" indent="0" defTabSz="914400">
              <a:lnSpc>
                <a:spcPct val="100000"/>
              </a:lnSpc>
              <a:spcBef>
                <a:spcPts val="200"/>
              </a:spcBef>
              <a:buClrTx/>
              <a:buSzTx/>
              <a:buFontTx/>
              <a:buNone/>
              <a:tabLst>
                <a:tab pos="457200" algn="l"/>
                <a:tab pos="914400" algn="l"/>
                <a:tab pos="1371600" algn="l"/>
              </a:tabLst>
            </a:pPr>
            <a:r>
              <a:rPr lang="en-US" altLang="en-US" sz="1800" dirty="0">
                <a:sym typeface="+mn-ea"/>
              </a:rPr>
              <a:t>        scanf("%d", &amp;choice);</a:t>
            </a:r>
            <a:endParaRPr lang="en-US" altLang="en-US" sz="1800" dirty="0">
              <a:latin typeface="+mn-lt"/>
              <a:ea typeface="+mn-ea"/>
              <a:cs typeface="+mn-cs"/>
            </a:endParaRPr>
          </a:p>
        </p:txBody>
      </p:sp>
      <p:sp>
        <p:nvSpPr>
          <p:cNvPr id="2" name="Rectangle 3"/>
          <p:cNvSpPr>
            <a:spLocks noGrp="1"/>
          </p:cNvSpPr>
          <p:nvPr/>
        </p:nvSpPr>
        <p:spPr>
          <a:xfrm>
            <a:off x="4824095" y="1704340"/>
            <a:ext cx="4258310" cy="5053330"/>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switch (choice)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case 1:</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insert();</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break;</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case 2:</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Delete();</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break;</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case 3:</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display();</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break;</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case 4:</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break;</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default:</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printf("Wrong choice \n");</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}while(choice != 4);</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1026160" y="965835"/>
            <a:ext cx="7475855" cy="796290"/>
          </a:xfrm>
        </p:spPr>
        <p:txBody>
          <a:bodyPr wrap="square" lIns="92075" tIns="46038" rIns="92075" bIns="46038" anchor="ctr"/>
          <a:lstStyle/>
          <a:p>
            <a:pPr defTabSz="914400">
              <a:lnSpc>
                <a:spcPct val="95000"/>
              </a:lnSpc>
              <a:tabLst>
                <a:tab pos="0" algn="l"/>
                <a:tab pos="457200" algn="l"/>
                <a:tab pos="914400" algn="l"/>
                <a:tab pos="1371600" algn="l"/>
                <a:tab pos="1828800" algn="l"/>
                <a:tab pos="2743200" algn="l"/>
                <a:tab pos="3657600" algn="l"/>
                <a:tab pos="4572000" algn="l"/>
                <a:tab pos="5486400" algn="l"/>
                <a:tab pos="6400800" algn="l"/>
                <a:tab pos="7315200" algn="l"/>
                <a:tab pos="8229600" algn="l"/>
                <a:tab pos="9144000" algn="l"/>
                <a:tab pos="10058400" algn="l"/>
              </a:tabLst>
            </a:pPr>
            <a:r>
              <a:rPr lang="en-US" altLang="en-GB" sz="3600" dirty="0"/>
              <a:t>Implemetation of </a:t>
            </a:r>
            <a:r>
              <a:rPr lang="en-GB" altLang="en-US" sz="3600" dirty="0"/>
              <a:t>Queue</a:t>
            </a:r>
          </a:p>
        </p:txBody>
      </p:sp>
      <p:sp>
        <p:nvSpPr>
          <p:cNvPr id="23554" name="Rectangle 3"/>
          <p:cNvSpPr>
            <a:spLocks noGrp="1"/>
          </p:cNvSpPr>
          <p:nvPr>
            <p:ph sz="half" idx="1"/>
          </p:nvPr>
        </p:nvSpPr>
        <p:spPr>
          <a:xfrm>
            <a:off x="148590" y="2164080"/>
            <a:ext cx="4230370" cy="4521200"/>
          </a:xfrm>
        </p:spPr>
        <p:txBody>
          <a:bodyPr wrap="square" lIns="92075" tIns="46038" rIns="92075" bIns="46038" anchor="t"/>
          <a:lstStyle/>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void insert()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int item;</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if (rear == MAX-1)</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printf("Queue Overflow \n");</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else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if (front == - 1)</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front = 0;</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printf("Insert the element in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queue: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scanf("%d", &amp;item);</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rear = rear + 1;</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que[rear] = item;</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100000"/>
              </a:lnSpc>
              <a:spcBef>
                <a:spcPts val="200"/>
              </a:spcBef>
              <a:buClrTx/>
              <a:buSzTx/>
              <a:buFontTx/>
              <a:buNone/>
              <a:tabLst>
                <a:tab pos="457200" algn="l"/>
                <a:tab pos="914400" algn="l"/>
                <a:tab pos="1371600" algn="l"/>
              </a:tabLst>
            </a:pPr>
            <a:r>
              <a:rPr lang="en-US" altLang="en-US" sz="1800" dirty="0">
                <a:latin typeface="+mn-lt"/>
                <a:ea typeface="+mn-ea"/>
                <a:cs typeface="+mn-cs"/>
              </a:rPr>
              <a:t>}</a:t>
            </a:r>
          </a:p>
        </p:txBody>
      </p:sp>
      <p:sp>
        <p:nvSpPr>
          <p:cNvPr id="2" name="Rectangle 3"/>
          <p:cNvSpPr>
            <a:spLocks noGrp="1"/>
          </p:cNvSpPr>
          <p:nvPr/>
        </p:nvSpPr>
        <p:spPr>
          <a:xfrm>
            <a:off x="4443730" y="1496695"/>
            <a:ext cx="4599305" cy="5246370"/>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void delete()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if (front == - 1 || front &gt; rear)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printf("Queue Underflow \n");</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return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else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printf("Element: %d\n", que[front]);</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front = front + 1;</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void display()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int i;</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if(front == -1)</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printf("Queue is empty \n");</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else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printf("Queue is : \n");</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for (i = front; i &lt;= rear; i++)</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printf("%d ", que[i]);</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printf("\n");</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    }</a:t>
            </a:r>
          </a:p>
          <a:p>
            <a:pPr marL="0" indent="0" defTabSz="914400">
              <a:lnSpc>
                <a:spcPct val="85000"/>
              </a:lnSpc>
              <a:spcBef>
                <a:spcPts val="200"/>
              </a:spcBef>
              <a:buClrTx/>
              <a:buSzTx/>
              <a:buFontTx/>
              <a:buNone/>
              <a:tabLst>
                <a:tab pos="457200" algn="l"/>
                <a:tab pos="914400" algn="l"/>
                <a:tab pos="1371600" algn="l"/>
              </a:tabLst>
            </a:pPr>
            <a:r>
              <a:rPr lang="en-US" altLang="en-US" sz="1800" dirty="0">
                <a:latin typeface="+mn-lt"/>
                <a:ea typeface="+mn-ea"/>
                <a:cs typeface="+mn-cs"/>
              </a:rPr>
              <a: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1151255" y="1002665"/>
            <a:ext cx="7792720" cy="745490"/>
          </a:xfrm>
        </p:spPr>
        <p:txBody>
          <a:bodyPr wrap="square" lIns="92075" tIns="46038" rIns="92075" bIns="46038" anchor="ctr"/>
          <a:lstStyle/>
          <a:p>
            <a:pPr defTabSz="91440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3600" dirty="0"/>
              <a:t>Drawbacks of Linear Queue</a:t>
            </a:r>
            <a:endParaRPr lang="en-GB" altLang="en-US" sz="3600" dirty="0"/>
          </a:p>
        </p:txBody>
      </p:sp>
      <p:sp>
        <p:nvSpPr>
          <p:cNvPr id="14339" name="Rectangle 3"/>
          <p:cNvSpPr>
            <a:spLocks noGrp="1" noChangeArrowheads="1"/>
          </p:cNvSpPr>
          <p:nvPr>
            <p:ph sz="half" idx="1"/>
          </p:nvPr>
        </p:nvSpPr>
        <p:spPr>
          <a:xfrm>
            <a:off x="825500" y="1921510"/>
            <a:ext cx="8011160" cy="4568825"/>
          </a:xfrm>
        </p:spPr>
        <p:txBody>
          <a:bodyPr vert="horz" wrap="square" lIns="92075" tIns="46038" rIns="92075" bIns="46038" numCol="1" anchor="t" anchorCtr="0" compatLnSpc="1"/>
          <a:lstStyle/>
          <a:p>
            <a:pPr marR="0" lvl="0" algn="l" defTabSz="914400" rtl="0" eaLnBrk="0" fontAlgn="base" latinLnBrk="0" hangingPunct="0">
              <a:lnSpc>
                <a:spcPct val="100000"/>
              </a:lnSpc>
              <a:spcBef>
                <a:spcPts val="600"/>
              </a:spcBef>
              <a:spcAft>
                <a:spcPct val="0"/>
              </a:spcAft>
              <a:buClrTx/>
              <a:buSzTx/>
              <a:buFont typeface="Wingdings" panose="05000000000000000000" charset="0"/>
              <a:buChar char="§"/>
              <a:defRPr/>
            </a:pPr>
            <a:r>
              <a:rPr kumimoji="0" lang="en-US" sz="2000" b="0" i="0" u="none" strike="noStrike" kern="0" cap="none" spc="0" normalizeH="0" baseline="0" noProof="0" dirty="0">
                <a:ln>
                  <a:noFill/>
                </a:ln>
                <a:solidFill>
                  <a:schemeClr val="tx1"/>
                </a:solidFill>
                <a:effectLst/>
                <a:uLnTx/>
                <a:uFillTx/>
                <a:latin typeface="+mn-lt"/>
                <a:ea typeface="+mn-ea"/>
                <a:cs typeface="+mn-cs"/>
              </a:rPr>
              <a:t>when </a:t>
            </a:r>
            <a:r>
              <a:rPr kumimoji="0" lang="en-US" sz="2000" b="0" i="0" u="none" strike="noStrike" kern="0" cap="none" spc="0" normalizeH="0" baseline="0" noProof="0" dirty="0" smtClean="0">
                <a:ln>
                  <a:noFill/>
                </a:ln>
                <a:solidFill>
                  <a:schemeClr val="tx1"/>
                </a:solidFill>
                <a:effectLst/>
                <a:uLnTx/>
                <a:uFillTx/>
                <a:latin typeface="+mn-lt"/>
                <a:ea typeface="+mn-ea"/>
                <a:cs typeface="+mn-cs"/>
              </a:rPr>
              <a:t>an </a:t>
            </a:r>
            <a:r>
              <a:rPr kumimoji="0" lang="en-US" sz="2000" b="0" i="0" u="none" strike="noStrike" kern="0" cap="none" spc="0" normalizeH="0" baseline="0" noProof="0" dirty="0">
                <a:ln>
                  <a:noFill/>
                </a:ln>
                <a:solidFill>
                  <a:schemeClr val="tx1"/>
                </a:solidFill>
                <a:effectLst/>
                <a:uLnTx/>
                <a:uFillTx/>
                <a:latin typeface="+mn-lt"/>
                <a:ea typeface="+mn-ea"/>
                <a:cs typeface="+mn-cs"/>
              </a:rPr>
              <a:t>element </a:t>
            </a:r>
            <a:r>
              <a:rPr kumimoji="0" lang="en-US" sz="2000" b="0" i="0" u="none" strike="noStrike" kern="0" cap="none" spc="0" normalizeH="0" baseline="0" noProof="0" dirty="0" smtClean="0">
                <a:ln>
                  <a:noFill/>
                </a:ln>
                <a:solidFill>
                  <a:schemeClr val="tx1"/>
                </a:solidFill>
                <a:effectLst/>
                <a:uLnTx/>
                <a:uFillTx/>
                <a:latin typeface="+mn-lt"/>
                <a:ea typeface="+mn-ea"/>
                <a:cs typeface="+mn-cs"/>
              </a:rPr>
              <a:t>added into </a:t>
            </a:r>
            <a:r>
              <a:rPr kumimoji="0" lang="en-US" sz="2000" b="0" i="0" u="none" strike="noStrike" kern="0" cap="none" spc="0" normalizeH="0" baseline="0" noProof="0" dirty="0">
                <a:ln>
                  <a:noFill/>
                </a:ln>
                <a:solidFill>
                  <a:schemeClr val="tx1"/>
                </a:solidFill>
                <a:effectLst/>
                <a:uLnTx/>
                <a:uFillTx/>
                <a:latin typeface="+mn-lt"/>
                <a:ea typeface="+mn-ea"/>
                <a:cs typeface="+mn-cs"/>
              </a:rPr>
              <a:t>Queue, </a:t>
            </a:r>
            <a:r>
              <a:rPr kumimoji="0" lang="en-US" sz="2000" b="0" i="0" u="none" strike="noStrike" kern="0" cap="none" spc="0" normalizeH="0" baseline="0" noProof="0" dirty="0">
                <a:ln>
                  <a:noFill/>
                </a:ln>
                <a:solidFill>
                  <a:srgbClr val="FF0000"/>
                </a:solidFill>
                <a:effectLst/>
                <a:uLnTx/>
                <a:uFillTx/>
                <a:latin typeface="+mn-lt"/>
                <a:ea typeface="+mn-ea"/>
                <a:cs typeface="+mn-cs"/>
              </a:rPr>
              <a:t>rear</a:t>
            </a:r>
            <a:r>
              <a:rPr kumimoji="0" lang="en-US" sz="2000" b="0" i="0" u="none" strike="noStrike" kern="0" cap="none" spc="0" normalizeH="0" baseline="0" noProof="0" dirty="0">
                <a:ln>
                  <a:noFill/>
                </a:ln>
                <a:solidFill>
                  <a:schemeClr val="tx1"/>
                </a:solidFill>
                <a:effectLst/>
                <a:uLnTx/>
                <a:uFillTx/>
                <a:latin typeface="+mn-lt"/>
                <a:ea typeface="+mn-ea"/>
                <a:cs typeface="+mn-cs"/>
              </a:rPr>
              <a:t> pointer is increased by 1 </a:t>
            </a:r>
          </a:p>
          <a:p>
            <a:pPr marR="0" lvl="0" algn="l" defTabSz="914400" rtl="0" eaLnBrk="0" fontAlgn="base" latinLnBrk="0" hangingPunct="0">
              <a:lnSpc>
                <a:spcPct val="100000"/>
              </a:lnSpc>
              <a:spcBef>
                <a:spcPts val="600"/>
              </a:spcBef>
              <a:spcAft>
                <a:spcPct val="0"/>
              </a:spcAft>
              <a:buClrTx/>
              <a:buSzTx/>
              <a:buFont typeface="Wingdings" panose="05000000000000000000" charset="0"/>
              <a:buChar char="§"/>
              <a:defRPr/>
            </a:pPr>
            <a:r>
              <a:rPr kumimoji="0" lang="en-US" sz="2000" b="0" i="0" u="none" strike="noStrike" kern="0" cap="none" spc="0" normalizeH="0" baseline="0" noProof="0" dirty="0">
                <a:ln>
                  <a:noFill/>
                </a:ln>
                <a:solidFill>
                  <a:schemeClr val="tx1"/>
                </a:solidFill>
                <a:effectLst/>
                <a:uLnTx/>
                <a:uFillTx/>
                <a:latin typeface="+mn-lt"/>
                <a:ea typeface="+mn-ea"/>
                <a:cs typeface="+mn-cs"/>
              </a:rPr>
              <a:t>but when </a:t>
            </a:r>
            <a:r>
              <a:rPr kumimoji="0" lang="en-US" sz="2000" b="0" i="0" u="none" strike="noStrike" kern="0" cap="none" spc="0" normalizeH="0" baseline="0" noProof="0" dirty="0" smtClean="0">
                <a:ln>
                  <a:noFill/>
                </a:ln>
                <a:solidFill>
                  <a:schemeClr val="tx1"/>
                </a:solidFill>
                <a:effectLst/>
                <a:uLnTx/>
                <a:uFillTx/>
                <a:latin typeface="+mn-lt"/>
                <a:ea typeface="+mn-ea"/>
                <a:cs typeface="+mn-cs"/>
              </a:rPr>
              <a:t>an </a:t>
            </a:r>
            <a:r>
              <a:rPr kumimoji="0" lang="en-US" sz="2000" b="0" i="0" u="none" strike="noStrike" kern="0" cap="none" spc="0" normalizeH="0" baseline="0" noProof="0" dirty="0">
                <a:ln>
                  <a:noFill/>
                </a:ln>
                <a:solidFill>
                  <a:schemeClr val="tx1"/>
                </a:solidFill>
                <a:effectLst/>
                <a:uLnTx/>
                <a:uFillTx/>
                <a:latin typeface="+mn-lt"/>
                <a:ea typeface="+mn-ea"/>
                <a:cs typeface="+mn-cs"/>
              </a:rPr>
              <a:t>element </a:t>
            </a:r>
            <a:r>
              <a:rPr kumimoji="0" lang="en-US" sz="2000" b="0" i="0" u="none" strike="noStrike" kern="0" cap="none" spc="0" normalizeH="0" baseline="0" noProof="0" dirty="0" smtClean="0">
                <a:ln>
                  <a:noFill/>
                </a:ln>
                <a:solidFill>
                  <a:schemeClr val="tx1"/>
                </a:solidFill>
                <a:effectLst/>
                <a:uLnTx/>
                <a:uFillTx/>
                <a:latin typeface="+mn-lt"/>
                <a:ea typeface="+mn-ea"/>
                <a:cs typeface="+mn-cs"/>
              </a:rPr>
              <a:t>is removed </a:t>
            </a:r>
            <a:r>
              <a:rPr kumimoji="0" lang="en-US" sz="2000" b="0" i="0" u="none" strike="noStrike" kern="0" cap="none" spc="0" normalizeH="0" baseline="0" noProof="0" dirty="0" smtClean="0">
                <a:ln>
                  <a:noFill/>
                </a:ln>
                <a:solidFill>
                  <a:srgbClr val="FF0000"/>
                </a:solidFill>
                <a:effectLst/>
                <a:uLnTx/>
                <a:uFillTx/>
                <a:latin typeface="+mn-lt"/>
                <a:ea typeface="+mn-ea"/>
                <a:cs typeface="+mn-cs"/>
              </a:rPr>
              <a:t>front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a:t>
            </a:r>
            <a:r>
              <a:rPr kumimoji="0" lang="en-US" sz="2000" b="0" i="0" u="none" strike="noStrike" kern="0" cap="none" spc="0" normalizeH="0" baseline="0" noProof="0" dirty="0">
                <a:ln>
                  <a:noFill/>
                </a:ln>
                <a:solidFill>
                  <a:schemeClr val="tx1"/>
                </a:solidFill>
                <a:effectLst/>
                <a:uLnTx/>
                <a:uFillTx/>
                <a:latin typeface="+mn-lt"/>
                <a:ea typeface="+mn-ea"/>
                <a:cs typeface="+mn-cs"/>
              </a:rPr>
              <a:t>pointer is increased by 1</a:t>
            </a:r>
          </a:p>
          <a:p>
            <a:pPr marR="0" lvl="0" algn="l" defTabSz="914400" rtl="0" eaLnBrk="0" fontAlgn="base" latinLnBrk="0" hangingPunct="0">
              <a:lnSpc>
                <a:spcPct val="100000"/>
              </a:lnSpc>
              <a:spcBef>
                <a:spcPts val="600"/>
              </a:spcBef>
              <a:spcAft>
                <a:spcPct val="0"/>
              </a:spcAft>
              <a:buClrTx/>
              <a:buSzTx/>
              <a:buFont typeface="Wingdings" panose="05000000000000000000" charset="0"/>
              <a:buChar char="§"/>
              <a:defRPr/>
            </a:pPr>
            <a:r>
              <a:rPr kumimoji="0" lang="en-US" sz="2000" b="0" i="0" u="none" strike="noStrike" kern="0" cap="none" spc="0" normalizeH="0" baseline="0" noProof="0" dirty="0">
                <a:ln>
                  <a:noFill/>
                </a:ln>
                <a:solidFill>
                  <a:schemeClr val="tx1"/>
                </a:solidFill>
                <a:effectLst/>
                <a:uLnTx/>
                <a:uFillTx/>
                <a:latin typeface="+mn-lt"/>
                <a:ea typeface="+mn-ea"/>
                <a:cs typeface="+mn-cs"/>
              </a:rPr>
              <a:t>Array implementation of queue may cause problems</a:t>
            </a:r>
          </a:p>
          <a:p>
            <a:pPr marR="0" lvl="0" algn="l" defTabSz="914400" rtl="0" eaLnBrk="0" fontAlgn="base" latinLnBrk="0" hangingPunct="0">
              <a:lnSpc>
                <a:spcPct val="100000"/>
              </a:lnSpc>
              <a:spcBef>
                <a:spcPts val="600"/>
              </a:spcBef>
              <a:spcAft>
                <a:spcPct val="0"/>
              </a:spcAft>
              <a:buClrTx/>
              <a:buSzTx/>
              <a:buFont typeface="Wingdings" panose="05000000000000000000" charset="0"/>
              <a:buChar char="§"/>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Consider </a:t>
            </a:r>
            <a:r>
              <a:rPr kumimoji="0" lang="en-US" sz="2000" b="0" i="0" u="none" strike="noStrike" kern="0" cap="none" spc="0" normalizeH="0" baseline="0" noProof="0" dirty="0">
                <a:ln>
                  <a:noFill/>
                </a:ln>
                <a:solidFill>
                  <a:schemeClr val="tx1"/>
                </a:solidFill>
                <a:effectLst/>
                <a:uLnTx/>
                <a:uFillTx/>
                <a:latin typeface="+mn-lt"/>
                <a:ea typeface="+mn-ea"/>
                <a:cs typeface="+mn-cs"/>
              </a:rPr>
              <a:t>operations performed on a Queue (with SIZE = 5) as follows:</a:t>
            </a:r>
          </a:p>
          <a:p>
            <a:pPr marR="0" lvl="0" algn="l" defTabSz="914400" rtl="0" eaLnBrk="0" fontAlgn="base" latinLnBrk="0" hangingPunct="0">
              <a:lnSpc>
                <a:spcPct val="100000"/>
              </a:lnSpc>
              <a:spcBef>
                <a:spcPts val="600"/>
              </a:spcBef>
              <a:spcAft>
                <a:spcPct val="0"/>
              </a:spcAft>
              <a:buClrTx/>
              <a:buSzTx/>
              <a:buFont typeface="Wingdings" panose="05000000000000000000" charset="0"/>
              <a:buChar char="§"/>
              <a:defRPr/>
            </a:pPr>
            <a:endParaRPr kumimoji="0" lang="en-US" sz="2000" b="0" i="0" u="none" strike="noStrike" kern="0" cap="none" spc="0" normalizeH="0" baseline="0" noProof="0" dirty="0">
              <a:ln>
                <a:noFill/>
              </a:ln>
              <a:solidFill>
                <a:schemeClr val="tx1"/>
              </a:solidFill>
              <a:effectLst/>
              <a:uLnTx/>
              <a:uFillTx/>
              <a:latin typeface="+mn-lt"/>
              <a:ea typeface="+mn-ea"/>
              <a:cs typeface="+mn-cs"/>
            </a:endParaRPr>
          </a:p>
          <a:p>
            <a:pPr marL="680720" marR="0" lvl="0" indent="-456565" algn="l" defTabSz="914400" rtl="0" eaLnBrk="0" fontAlgn="base" latinLnBrk="0" hangingPunct="0">
              <a:lnSpc>
                <a:spcPct val="100000"/>
              </a:lnSpc>
              <a:spcBef>
                <a:spcPts val="600"/>
              </a:spcBef>
              <a:spcAft>
                <a:spcPct val="0"/>
              </a:spcAft>
              <a:buClrTx/>
              <a:buSzTx/>
              <a:buFontTx/>
              <a:buAutoNum type="arabicPeriod"/>
              <a:defRPr/>
            </a:pPr>
            <a:r>
              <a:rPr kumimoji="0" lang="en-US" sz="1800" b="0" i="0" u="none" strike="noStrike" kern="0" cap="none" spc="0" normalizeH="0" baseline="0" noProof="0" dirty="0" smtClean="0">
                <a:ln>
                  <a:noFill/>
                </a:ln>
                <a:solidFill>
                  <a:schemeClr val="tx1"/>
                </a:solidFill>
                <a:effectLst/>
                <a:uLnTx/>
                <a:uFillTx/>
                <a:latin typeface="+mn-lt"/>
                <a:ea typeface="+mn-ea"/>
                <a:cs typeface="+mn-cs"/>
              </a:rPr>
              <a:t>Initially Queue is empty: front </a:t>
            </a:r>
            <a:r>
              <a:rPr kumimoji="0" lang="en-US" sz="1800" b="0" i="0" u="none" strike="noStrike" kern="0" cap="none" spc="0" normalizeH="0" baseline="0" noProof="0" dirty="0">
                <a:ln>
                  <a:noFill/>
                </a:ln>
                <a:solidFill>
                  <a:schemeClr val="tx1"/>
                </a:solidFill>
                <a:effectLst/>
                <a:uLnTx/>
                <a:uFillTx/>
                <a:latin typeface="+mn-lt"/>
                <a:ea typeface="+mn-ea"/>
                <a:cs typeface="+mn-cs"/>
              </a:rPr>
              <a:t>= 0 and rear = -</a:t>
            </a:r>
            <a:r>
              <a:rPr kumimoji="0" lang="en-US" sz="1800" b="0" i="0" u="none" strike="noStrike" kern="0" cap="none" spc="0" normalizeH="0" baseline="0" noProof="0" dirty="0" smtClean="0">
                <a:ln>
                  <a:noFill/>
                </a:ln>
                <a:solidFill>
                  <a:schemeClr val="tx1"/>
                </a:solidFill>
                <a:effectLst/>
                <a:uLnTx/>
                <a:uFillTx/>
                <a:latin typeface="+mn-lt"/>
                <a:ea typeface="+mn-ea"/>
                <a:cs typeface="+mn-cs"/>
              </a:rPr>
              <a:t>1</a:t>
            </a:r>
          </a:p>
          <a:p>
            <a:pPr marL="680720" marR="0" lvl="0" indent="-456565" algn="l" defTabSz="914400" rtl="0" eaLnBrk="0" fontAlgn="base" latinLnBrk="0" hangingPunct="0">
              <a:lnSpc>
                <a:spcPct val="100000"/>
              </a:lnSpc>
              <a:spcBef>
                <a:spcPts val="600"/>
              </a:spcBef>
              <a:spcAft>
                <a:spcPct val="0"/>
              </a:spcAft>
              <a:buClrTx/>
              <a:buSzTx/>
              <a:buFontTx/>
              <a:buAutoNum type="arabicPeriod"/>
              <a:defRPr/>
            </a:pPr>
            <a:endParaRPr kumimoji="0" lang="en-US" sz="1800" b="0" i="0" u="none" strike="noStrike" kern="0" cap="none" spc="0" normalizeH="0" baseline="0" noProof="0" dirty="0">
              <a:ln>
                <a:noFill/>
              </a:ln>
              <a:solidFill>
                <a:schemeClr val="tx1"/>
              </a:solidFill>
              <a:effectLst/>
              <a:uLnTx/>
              <a:uFillTx/>
              <a:latin typeface="+mn-lt"/>
              <a:ea typeface="+mn-ea"/>
              <a:cs typeface="+mn-cs"/>
            </a:endParaRPr>
          </a:p>
          <a:p>
            <a:pPr marL="680720" marR="0" lvl="0" indent="-456565" algn="l" defTabSz="914400" rtl="0" eaLnBrk="0" fontAlgn="base" latinLnBrk="0" hangingPunct="0">
              <a:lnSpc>
                <a:spcPct val="100000"/>
              </a:lnSpc>
              <a:spcBef>
                <a:spcPts val="600"/>
              </a:spcBef>
              <a:spcAft>
                <a:spcPct val="0"/>
              </a:spcAft>
              <a:buClrTx/>
              <a:buSzTx/>
              <a:buFontTx/>
              <a:buAutoNum type="arabicPeriod"/>
              <a:defRPr/>
            </a:pPr>
            <a:endParaRPr kumimoji="0" lang="en-US" sz="1800" b="0" i="0" u="none" strike="noStrike" kern="0" cap="none" spc="0" normalizeH="0" baseline="0" noProof="0" dirty="0">
              <a:ln>
                <a:noFill/>
              </a:ln>
              <a:solidFill>
                <a:schemeClr val="tx1"/>
              </a:solidFill>
              <a:effectLst/>
              <a:uLnTx/>
              <a:uFillTx/>
              <a:latin typeface="+mn-lt"/>
              <a:ea typeface="+mn-ea"/>
              <a:cs typeface="+mn-cs"/>
            </a:endParaRPr>
          </a:p>
          <a:p>
            <a:pPr marL="680720" marR="0" lvl="0" indent="-456565" algn="l" defTabSz="914400" rtl="0" eaLnBrk="0" fontAlgn="base" latinLnBrk="0" hangingPunct="0">
              <a:lnSpc>
                <a:spcPct val="100000"/>
              </a:lnSpc>
              <a:spcBef>
                <a:spcPts val="600"/>
              </a:spcBef>
              <a:spcAft>
                <a:spcPct val="0"/>
              </a:spcAft>
              <a:buClrTx/>
              <a:buSzTx/>
              <a:buFontTx/>
              <a:buAutoNum type="arabicPeriod"/>
              <a:defRPr/>
            </a:pPr>
            <a:r>
              <a:rPr kumimoji="0" lang="en-US" sz="1800" b="0" i="0" u="none" strike="noStrike" kern="0" cap="none" spc="0" normalizeH="0" baseline="0" noProof="0" dirty="0" smtClean="0">
                <a:ln>
                  <a:noFill/>
                </a:ln>
                <a:solidFill>
                  <a:schemeClr val="tx1"/>
                </a:solidFill>
                <a:effectLst/>
                <a:uLnTx/>
                <a:uFillTx/>
                <a:latin typeface="+mn-lt"/>
                <a:ea typeface="+mn-ea"/>
                <a:cs typeface="+mn-cs"/>
              </a:rPr>
              <a:t>When 5 </a:t>
            </a:r>
            <a:r>
              <a:rPr kumimoji="0" lang="en-US" sz="1800" b="0" i="0" u="none" strike="noStrike" kern="0" cap="none" spc="0" normalizeH="0" baseline="0" noProof="0" dirty="0">
                <a:ln>
                  <a:noFill/>
                </a:ln>
                <a:solidFill>
                  <a:schemeClr val="tx1"/>
                </a:solidFill>
                <a:effectLst/>
                <a:uLnTx/>
                <a:uFillTx/>
                <a:latin typeface="+mn-lt"/>
                <a:ea typeface="+mn-ea"/>
                <a:cs typeface="+mn-cs"/>
              </a:rPr>
              <a:t>elements </a:t>
            </a:r>
            <a:r>
              <a:rPr kumimoji="0" lang="en-US" sz="1800" b="0" i="0" u="none" strike="noStrike" kern="0" cap="none" spc="0" normalizeH="0" baseline="0" noProof="0" dirty="0" smtClean="0">
                <a:ln>
                  <a:noFill/>
                </a:ln>
                <a:solidFill>
                  <a:schemeClr val="tx1"/>
                </a:solidFill>
                <a:effectLst/>
                <a:uLnTx/>
                <a:uFillTx/>
                <a:latin typeface="+mn-lt"/>
                <a:ea typeface="+mn-ea"/>
                <a:cs typeface="+mn-cs"/>
              </a:rPr>
              <a:t>are added to </a:t>
            </a:r>
            <a:r>
              <a:rPr kumimoji="0" lang="en-US" sz="1800" b="0" i="0" u="none" strike="noStrike" kern="0" cap="none" spc="0" normalizeH="0" baseline="0" noProof="0" dirty="0">
                <a:ln>
                  <a:noFill/>
                </a:ln>
                <a:solidFill>
                  <a:schemeClr val="tx1"/>
                </a:solidFill>
                <a:effectLst/>
                <a:uLnTx/>
                <a:uFillTx/>
                <a:latin typeface="+mn-lt"/>
                <a:ea typeface="+mn-ea"/>
                <a:cs typeface="+mn-cs"/>
              </a:rPr>
              <a:t>queue, the state of the queue becomes as follows with front = 0 and rear = </a:t>
            </a:r>
            <a:r>
              <a:rPr kumimoji="0" lang="en-US" sz="1800" b="0" i="0" u="none" strike="noStrike" kern="0" cap="none" spc="0" normalizeH="0" baseline="0" noProof="0" dirty="0" smtClean="0">
                <a:ln>
                  <a:noFill/>
                </a:ln>
                <a:solidFill>
                  <a:schemeClr val="tx1"/>
                </a:solidFill>
                <a:effectLst/>
                <a:uLnTx/>
                <a:uFillTx/>
                <a:latin typeface="+mn-lt"/>
                <a:ea typeface="+mn-ea"/>
                <a:cs typeface="+mn-cs"/>
              </a:rPr>
              <a:t>4.</a:t>
            </a:r>
            <a:endParaRPr kumimoji="0" lang="en-US" sz="1800" b="0" i="0" u="none" strike="noStrike" kern="0" cap="none" spc="0" normalizeH="0" baseline="0" noProof="0" dirty="0">
              <a:ln>
                <a:noFill/>
              </a:ln>
              <a:solidFill>
                <a:schemeClr val="tx1"/>
              </a:solidFill>
              <a:effectLst/>
              <a:uLnTx/>
              <a:uFillTx/>
              <a:latin typeface="+mn-lt"/>
              <a:ea typeface="+mn-ea"/>
              <a:cs typeface="+mn-cs"/>
            </a:endParaRPr>
          </a:p>
        </p:txBody>
      </p:sp>
      <p:pic>
        <p:nvPicPr>
          <p:cNvPr id="3" name="Content Placeholder 2"/>
          <p:cNvPicPr>
            <a:picLocks noGrp="1" noChangeAspect="1"/>
          </p:cNvPicPr>
          <p:nvPr>
            <p:ph sz="half" idx="2"/>
          </p:nvPr>
        </p:nvPicPr>
        <p:blipFill>
          <a:blip r:embed="rId3"/>
          <a:stretch>
            <a:fillRect/>
          </a:stretch>
        </p:blipFill>
        <p:spPr>
          <a:xfrm>
            <a:off x="2510790" y="4553585"/>
            <a:ext cx="3169920" cy="563880"/>
          </a:xfrm>
          <a:prstGeom prst="rect">
            <a:avLst/>
          </a:prstGeom>
        </p:spPr>
      </p:pic>
      <p:pic>
        <p:nvPicPr>
          <p:cNvPr id="4" name="Picture 3"/>
          <p:cNvPicPr>
            <a:picLocks noChangeAspect="1"/>
          </p:cNvPicPr>
          <p:nvPr/>
        </p:nvPicPr>
        <p:blipFill>
          <a:blip r:embed="rId4"/>
          <a:stretch>
            <a:fillRect/>
          </a:stretch>
        </p:blipFill>
        <p:spPr>
          <a:xfrm>
            <a:off x="2510790" y="5958205"/>
            <a:ext cx="3215640" cy="45974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a:xfrm>
            <a:off x="1079500" y="1074420"/>
            <a:ext cx="7792720" cy="745490"/>
          </a:xfrm>
        </p:spPr>
        <p:txBody>
          <a:bodyPr wrap="square" lIns="92075" tIns="46038" rIns="92075" bIns="46038" anchor="ctr"/>
          <a:lstStyle/>
          <a:p>
            <a:pPr defTabSz="914400">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3600" dirty="0"/>
              <a:t>Drawbacks of Linear Queue</a:t>
            </a:r>
            <a:endParaRPr lang="en-GB" altLang="en-US" sz="3600" dirty="0"/>
          </a:p>
        </p:txBody>
      </p:sp>
      <p:sp>
        <p:nvSpPr>
          <p:cNvPr id="14339" name="Rectangle 3"/>
          <p:cNvSpPr>
            <a:spLocks noGrp="1" noChangeArrowheads="1"/>
          </p:cNvSpPr>
          <p:nvPr>
            <p:ph sz="half" idx="1"/>
          </p:nvPr>
        </p:nvSpPr>
        <p:spPr>
          <a:xfrm>
            <a:off x="941070" y="1902460"/>
            <a:ext cx="7846695" cy="4230370"/>
          </a:xfrm>
        </p:spPr>
        <p:txBody>
          <a:bodyPr vert="horz" wrap="square" lIns="92075" tIns="46038" rIns="92075" bIns="46038" numCol="1" anchor="t" anchorCtr="0" compatLnSpc="1"/>
          <a:lstStyle/>
          <a:p>
            <a:pPr marL="467995" marR="0" lvl="0" indent="-241300" algn="l" defTabSz="914400" rtl="0" eaLnBrk="0" hangingPunct="0">
              <a:lnSpc>
                <a:spcPct val="100000"/>
              </a:lnSpc>
              <a:spcBef>
                <a:spcPts val="600"/>
              </a:spcBef>
              <a:spcAft>
                <a:spcPct val="0"/>
              </a:spcAft>
              <a:buClrTx/>
              <a:buSzTx/>
              <a:buFontTx/>
              <a:buNone/>
              <a:defRPr/>
            </a:pPr>
            <a:r>
              <a:rPr kumimoji="0" lang="en-US" sz="2000" b="0" i="0" u="none" strike="noStrike" kern="0" cap="none" spc="0" normalizeH="0" baseline="0" noProof="0" dirty="0">
                <a:ln>
                  <a:noFill/>
                </a:ln>
                <a:solidFill>
                  <a:schemeClr val="tx1"/>
                </a:solidFill>
                <a:effectLst/>
                <a:uLnTx/>
                <a:uFillTx/>
                <a:latin typeface="+mn-lt"/>
                <a:ea typeface="+mn-ea"/>
                <a:cs typeface="+mn-cs"/>
              </a:rPr>
              <a:t>3.</a:t>
            </a:r>
            <a:r>
              <a:rPr kumimoji="0" lang="en-US" sz="1800" b="0" i="0" u="none" strike="noStrike" kern="0" cap="none" spc="0" normalizeH="0" baseline="0" noProof="0" dirty="0">
                <a:ln>
                  <a:noFill/>
                </a:ln>
                <a:solidFill>
                  <a:schemeClr val="tx1"/>
                </a:solidFill>
                <a:effectLst/>
                <a:uLnTx/>
                <a:uFillTx/>
                <a:latin typeface="+mn-lt"/>
                <a:ea typeface="+mn-ea"/>
                <a:cs typeface="+mn-cs"/>
              </a:rPr>
              <a:t>Now suppose </a:t>
            </a:r>
            <a:r>
              <a:rPr kumimoji="0" lang="en-US" sz="1800" b="0" i="0" u="none" strike="noStrike" kern="0" cap="none" spc="0" normalizeH="0" baseline="0" noProof="0" dirty="0" smtClean="0">
                <a:ln>
                  <a:noFill/>
                </a:ln>
                <a:solidFill>
                  <a:schemeClr val="tx1"/>
                </a:solidFill>
                <a:effectLst/>
                <a:uLnTx/>
                <a:uFillTx/>
                <a:latin typeface="+mn-lt"/>
                <a:ea typeface="+mn-ea"/>
                <a:cs typeface="+mn-cs"/>
              </a:rPr>
              <a:t>two </a:t>
            </a:r>
            <a:r>
              <a:rPr kumimoji="0" lang="en-US" sz="1800" b="0" i="0" u="none" strike="noStrike" kern="0" cap="none" spc="0" normalizeH="0" baseline="0" noProof="0" dirty="0">
                <a:ln>
                  <a:noFill/>
                </a:ln>
                <a:solidFill>
                  <a:schemeClr val="tx1"/>
                </a:solidFill>
                <a:effectLst/>
                <a:uLnTx/>
                <a:uFillTx/>
                <a:latin typeface="+mn-lt"/>
                <a:ea typeface="+mn-ea"/>
                <a:cs typeface="+mn-cs"/>
              </a:rPr>
              <a:t>elements </a:t>
            </a:r>
            <a:r>
              <a:rPr kumimoji="0" lang="en-US" sz="1800" b="0" i="0" u="none" strike="noStrike" kern="0" cap="none" spc="0" normalizeH="0" baseline="0" noProof="0" dirty="0" smtClean="0">
                <a:ln>
                  <a:noFill/>
                </a:ln>
                <a:solidFill>
                  <a:schemeClr val="tx1"/>
                </a:solidFill>
                <a:effectLst/>
                <a:uLnTx/>
                <a:uFillTx/>
                <a:latin typeface="+mn-lt"/>
                <a:ea typeface="+mn-ea"/>
                <a:cs typeface="+mn-cs"/>
              </a:rPr>
              <a:t>are deleted from </a:t>
            </a:r>
            <a:r>
              <a:rPr kumimoji="0" lang="en-US" sz="1800" b="0" i="0" u="none" strike="noStrike" kern="0" cap="none" spc="0" normalizeH="0" baseline="0" noProof="0" dirty="0">
                <a:ln>
                  <a:noFill/>
                </a:ln>
                <a:solidFill>
                  <a:schemeClr val="tx1"/>
                </a:solidFill>
                <a:effectLst/>
                <a:uLnTx/>
                <a:uFillTx/>
                <a:latin typeface="+mn-lt"/>
                <a:ea typeface="+mn-ea"/>
                <a:cs typeface="+mn-cs"/>
              </a:rPr>
              <a:t>Queue then, the state of the Queue becomes as follows, </a:t>
            </a:r>
            <a:r>
              <a:rPr kumimoji="0" lang="en-US" sz="1800" b="0" i="0" u="none" strike="noStrike" kern="0" cap="none" spc="0" normalizeH="0" baseline="0" noProof="0" dirty="0" smtClean="0">
                <a:ln>
                  <a:noFill/>
                </a:ln>
                <a:solidFill>
                  <a:schemeClr val="tx1"/>
                </a:solidFill>
                <a:effectLst/>
                <a:uLnTx/>
                <a:uFillTx/>
                <a:latin typeface="+mn-lt"/>
                <a:ea typeface="+mn-ea"/>
                <a:cs typeface="+mn-cs"/>
              </a:rPr>
              <a:t>with front </a:t>
            </a:r>
            <a:r>
              <a:rPr kumimoji="0" lang="en-US" sz="1800" b="0" i="0" u="none" strike="noStrike" kern="0" cap="none" spc="0" normalizeH="0" baseline="0" noProof="0" dirty="0">
                <a:ln>
                  <a:noFill/>
                </a:ln>
                <a:solidFill>
                  <a:schemeClr val="tx1"/>
                </a:solidFill>
                <a:effectLst/>
                <a:uLnTx/>
                <a:uFillTx/>
                <a:latin typeface="+mn-lt"/>
                <a:ea typeface="+mn-ea"/>
                <a:cs typeface="+mn-cs"/>
              </a:rPr>
              <a:t>= 2 and rear = 4</a:t>
            </a:r>
          </a:p>
          <a:p>
            <a:pPr marL="467995" marR="0" lvl="0" indent="-241300" algn="l" defTabSz="914400" rtl="0" eaLnBrk="0" hangingPunct="0">
              <a:lnSpc>
                <a:spcPct val="100000"/>
              </a:lnSpc>
              <a:spcBef>
                <a:spcPts val="600"/>
              </a:spcBef>
              <a:spcAft>
                <a:spcPct val="0"/>
              </a:spcAft>
              <a:buClrTx/>
              <a:buSzTx/>
              <a:buFontTx/>
              <a:buNone/>
              <a:defRPr/>
            </a:pPr>
            <a:endParaRPr kumimoji="0" lang="en-US" sz="1800" b="0" i="0" u="none" strike="noStrike" kern="0" cap="none" spc="0" normalizeH="0" baseline="0" noProof="0" dirty="0" smtClean="0">
              <a:ln>
                <a:noFill/>
              </a:ln>
              <a:solidFill>
                <a:schemeClr val="tx1"/>
              </a:solidFill>
              <a:effectLst/>
              <a:uLnTx/>
              <a:uFillTx/>
              <a:latin typeface="+mn-lt"/>
              <a:ea typeface="+mn-ea"/>
              <a:cs typeface="+mn-cs"/>
            </a:endParaRPr>
          </a:p>
          <a:p>
            <a:pPr marL="467995" marR="0" lvl="0" indent="-241300" algn="l" defTabSz="914400" rtl="0" eaLnBrk="0" hangingPunct="0">
              <a:lnSpc>
                <a:spcPct val="100000"/>
              </a:lnSpc>
              <a:spcBef>
                <a:spcPts val="600"/>
              </a:spcBef>
              <a:spcAft>
                <a:spcPct val="0"/>
              </a:spcAft>
              <a:buClrTx/>
              <a:buSzTx/>
              <a:buFontTx/>
              <a:buNone/>
              <a:defRPr/>
            </a:pPr>
            <a:endParaRPr kumimoji="0" lang="en-US" sz="1800" b="0" i="0" u="none" strike="noStrike" kern="0" cap="none" spc="0" normalizeH="0" baseline="0" noProof="0" dirty="0">
              <a:ln>
                <a:noFill/>
              </a:ln>
              <a:solidFill>
                <a:schemeClr val="tx1"/>
              </a:solidFill>
              <a:effectLst/>
              <a:uLnTx/>
              <a:uFillTx/>
              <a:latin typeface="+mn-lt"/>
              <a:ea typeface="+mn-ea"/>
              <a:cs typeface="+mn-cs"/>
            </a:endParaRPr>
          </a:p>
          <a:p>
            <a:pPr marL="467995" marR="0" lvl="0" indent="-241300" algn="l" defTabSz="914400" rtl="0" eaLnBrk="0" hangingPunct="0">
              <a:lnSpc>
                <a:spcPct val="100000"/>
              </a:lnSpc>
              <a:spcBef>
                <a:spcPts val="600"/>
              </a:spcBef>
              <a:spcAft>
                <a:spcPct val="0"/>
              </a:spcAft>
              <a:buClrTx/>
              <a:buSzTx/>
              <a:buFontTx/>
              <a:buNone/>
              <a:defRPr/>
            </a:pPr>
            <a:endParaRPr kumimoji="0" lang="en-US" sz="1800" b="0" i="0" u="none" strike="noStrike" kern="0" cap="none" spc="0" normalizeH="0" baseline="0" noProof="0" dirty="0">
              <a:ln>
                <a:noFill/>
              </a:ln>
              <a:solidFill>
                <a:schemeClr val="tx1"/>
              </a:solidFill>
              <a:effectLst/>
              <a:uLnTx/>
              <a:uFillTx/>
              <a:latin typeface="+mn-lt"/>
              <a:ea typeface="+mn-ea"/>
              <a:cs typeface="+mn-cs"/>
            </a:endParaRPr>
          </a:p>
          <a:p>
            <a:pPr marL="467995" marR="0" lvl="0" indent="-241300" algn="l" defTabSz="914400" rtl="0" eaLnBrk="0" hangingPunct="0">
              <a:lnSpc>
                <a:spcPct val="100000"/>
              </a:lnSpc>
              <a:spcBef>
                <a:spcPts val="600"/>
              </a:spcBef>
              <a:spcAft>
                <a:spcPct val="0"/>
              </a:spcAft>
              <a:buClrTx/>
              <a:buSzTx/>
              <a:buFontTx/>
              <a:buAutoNum type="arabicPeriod" startAt="4"/>
              <a:defRPr/>
            </a:pPr>
            <a:r>
              <a:rPr kumimoji="0" lang="en-US" sz="1800" b="0" i="0" u="none" strike="noStrike" kern="0" cap="none" spc="0" normalizeH="0" baseline="0" noProof="0" dirty="0" smtClean="0">
                <a:ln>
                  <a:noFill/>
                </a:ln>
                <a:solidFill>
                  <a:schemeClr val="tx1"/>
                </a:solidFill>
                <a:effectLst/>
                <a:uLnTx/>
                <a:uFillTx/>
                <a:latin typeface="+mn-lt"/>
                <a:ea typeface="+mn-ea"/>
                <a:cs typeface="+mn-cs"/>
              </a:rPr>
              <a:t>Now</a:t>
            </a:r>
            <a:r>
              <a:rPr kumimoji="0" lang="en-US" sz="1800" b="0" i="0" u="none" strike="noStrike" kern="0" cap="none" spc="0" normalizeH="0" baseline="0" noProof="0" dirty="0">
                <a:ln>
                  <a:noFill/>
                </a:ln>
                <a:solidFill>
                  <a:schemeClr val="tx1"/>
                </a:solidFill>
                <a:effectLst/>
                <a:uLnTx/>
                <a:uFillTx/>
                <a:latin typeface="+mn-lt"/>
                <a:ea typeface="+mn-ea"/>
                <a:cs typeface="+mn-cs"/>
              </a:rPr>
              <a:t>, actually </a:t>
            </a:r>
            <a:r>
              <a:rPr kumimoji="0" lang="en-US" sz="1800" b="0" i="0" u="none" strike="noStrike" kern="0" cap="none" spc="0" normalizeH="0" baseline="0" noProof="0" dirty="0" smtClean="0">
                <a:ln>
                  <a:noFill/>
                </a:ln>
                <a:solidFill>
                  <a:schemeClr val="tx1"/>
                </a:solidFill>
                <a:effectLst/>
                <a:uLnTx/>
                <a:uFillTx/>
                <a:latin typeface="+mn-lt"/>
                <a:ea typeface="+mn-ea"/>
                <a:cs typeface="+mn-cs"/>
              </a:rPr>
              <a:t>two </a:t>
            </a:r>
            <a:r>
              <a:rPr kumimoji="0" lang="en-US" sz="1800" b="0" i="0" u="none" strike="noStrike" kern="0" cap="none" spc="0" normalizeH="0" baseline="0" noProof="0" dirty="0">
                <a:ln>
                  <a:noFill/>
                </a:ln>
                <a:solidFill>
                  <a:schemeClr val="tx1"/>
                </a:solidFill>
                <a:effectLst/>
                <a:uLnTx/>
                <a:uFillTx/>
                <a:latin typeface="+mn-lt"/>
                <a:ea typeface="+mn-ea"/>
                <a:cs typeface="+mn-cs"/>
              </a:rPr>
              <a:t>elements </a:t>
            </a:r>
            <a:r>
              <a:rPr kumimoji="0" lang="en-US" sz="1800" b="0" i="0" u="none" strike="noStrike" kern="0" cap="none" spc="0" normalizeH="0" baseline="0" noProof="0" dirty="0" smtClean="0">
                <a:ln>
                  <a:noFill/>
                </a:ln>
                <a:solidFill>
                  <a:schemeClr val="tx1"/>
                </a:solidFill>
                <a:effectLst/>
                <a:uLnTx/>
                <a:uFillTx/>
                <a:latin typeface="+mn-lt"/>
                <a:ea typeface="+mn-ea"/>
                <a:cs typeface="+mn-cs"/>
              </a:rPr>
              <a:t>are deleted from </a:t>
            </a:r>
            <a:r>
              <a:rPr kumimoji="0" lang="en-US" sz="1800" b="0" i="0" u="none" strike="noStrike" kern="0" cap="none" spc="0" normalizeH="0" baseline="0" noProof="0" dirty="0">
                <a:ln>
                  <a:noFill/>
                </a:ln>
                <a:solidFill>
                  <a:schemeClr val="tx1"/>
                </a:solidFill>
                <a:effectLst/>
                <a:uLnTx/>
                <a:uFillTx/>
                <a:latin typeface="+mn-lt"/>
                <a:ea typeface="+mn-ea"/>
                <a:cs typeface="+mn-cs"/>
              </a:rPr>
              <a:t>queue so, there should be space for another 2 elements in the queue, but as rear pointer is pointing at last position and Queue overflow </a:t>
            </a:r>
            <a:r>
              <a:rPr kumimoji="0" lang="en-US" sz="1800" b="0" i="0" u="none" strike="noStrike" kern="0" cap="none" spc="0" normalizeH="0" baseline="0" noProof="0" dirty="0" smtClean="0">
                <a:ln>
                  <a:noFill/>
                </a:ln>
                <a:solidFill>
                  <a:schemeClr val="tx1"/>
                </a:solidFill>
                <a:effectLst/>
                <a:uLnTx/>
                <a:uFillTx/>
                <a:latin typeface="+mn-lt"/>
                <a:ea typeface="+mn-ea"/>
                <a:cs typeface="+mn-cs"/>
              </a:rPr>
              <a:t>condition (</a:t>
            </a:r>
            <a:r>
              <a:rPr kumimoji="0" lang="en-US" sz="1800" b="0" i="0" u="none" strike="noStrike" kern="0" cap="none" spc="0" normalizeH="0" baseline="0" noProof="0" dirty="0">
                <a:ln>
                  <a:noFill/>
                </a:ln>
                <a:solidFill>
                  <a:schemeClr val="tx1"/>
                </a:solidFill>
                <a:effectLst/>
                <a:uLnTx/>
                <a:uFillTx/>
                <a:latin typeface="+mn-lt"/>
                <a:ea typeface="+mn-ea"/>
                <a:cs typeface="+mn-cs"/>
              </a:rPr>
              <a:t>Rear == SIZE-1) is true, </a:t>
            </a:r>
            <a:r>
              <a:rPr kumimoji="0" lang="en-US" sz="1800" b="0" i="0" u="none" strike="noStrike" kern="0" cap="none" spc="0" normalizeH="0" baseline="0" noProof="0" dirty="0" smtClean="0">
                <a:ln>
                  <a:noFill/>
                </a:ln>
                <a:solidFill>
                  <a:schemeClr val="tx1"/>
                </a:solidFill>
                <a:effectLst/>
                <a:uLnTx/>
                <a:uFillTx/>
                <a:latin typeface="+mn-lt"/>
                <a:ea typeface="+mn-ea"/>
                <a:cs typeface="+mn-cs"/>
              </a:rPr>
              <a:t>new </a:t>
            </a:r>
            <a:r>
              <a:rPr kumimoji="0" lang="en-US" sz="1800" b="0" i="0" u="none" strike="noStrike" kern="0" cap="none" spc="0" normalizeH="0" baseline="0" noProof="0" dirty="0">
                <a:ln>
                  <a:noFill/>
                </a:ln>
                <a:solidFill>
                  <a:schemeClr val="tx1"/>
                </a:solidFill>
                <a:effectLst/>
                <a:uLnTx/>
                <a:uFillTx/>
                <a:latin typeface="+mn-lt"/>
                <a:ea typeface="+mn-ea"/>
                <a:cs typeface="+mn-cs"/>
              </a:rPr>
              <a:t>element </a:t>
            </a:r>
            <a:r>
              <a:rPr kumimoji="0" lang="en-US" sz="1800" b="0" i="0" u="none" strike="noStrike" kern="0" cap="none" spc="0" normalizeH="0" baseline="0" noProof="0" dirty="0" smtClean="0">
                <a:ln>
                  <a:noFill/>
                </a:ln>
                <a:solidFill>
                  <a:schemeClr val="tx1"/>
                </a:solidFill>
                <a:effectLst/>
                <a:uLnTx/>
                <a:uFillTx/>
                <a:latin typeface="+mn-lt"/>
                <a:ea typeface="+mn-ea"/>
                <a:cs typeface="+mn-cs"/>
              </a:rPr>
              <a:t>cannot be inserted in </a:t>
            </a:r>
            <a:r>
              <a:rPr kumimoji="0" lang="en-US" sz="1800" b="0" i="0" u="none" strike="noStrike" kern="0" cap="none" spc="0" normalizeH="0" baseline="0" noProof="0" dirty="0">
                <a:ln>
                  <a:noFill/>
                </a:ln>
                <a:solidFill>
                  <a:schemeClr val="tx1"/>
                </a:solidFill>
                <a:effectLst/>
                <a:uLnTx/>
                <a:uFillTx/>
                <a:latin typeface="+mn-lt"/>
                <a:ea typeface="+mn-ea"/>
                <a:cs typeface="+mn-cs"/>
              </a:rPr>
              <a:t>the queue even if it has </a:t>
            </a:r>
            <a:r>
              <a:rPr kumimoji="0" lang="en-US" sz="1800" b="0" i="0" u="none" strike="noStrike" kern="0" cap="none" spc="0" normalizeH="0" baseline="0" noProof="0" dirty="0" smtClean="0">
                <a:ln>
                  <a:noFill/>
                </a:ln>
                <a:solidFill>
                  <a:schemeClr val="tx1"/>
                </a:solidFill>
                <a:effectLst/>
                <a:uLnTx/>
                <a:uFillTx/>
                <a:latin typeface="+mn-lt"/>
                <a:ea typeface="+mn-ea"/>
                <a:cs typeface="+mn-cs"/>
              </a:rPr>
              <a:t>empty spaces.</a:t>
            </a:r>
            <a:r>
              <a:rPr kumimoji="0" lang="en-US" sz="1800" b="0" i="0" u="none" strike="noStrike" kern="0" cap="none" spc="0" normalizeH="0" baseline="0" noProof="0" dirty="0">
                <a:ln>
                  <a:noFill/>
                </a:ln>
                <a:solidFill>
                  <a:schemeClr val="tx1"/>
                </a:solidFill>
                <a:effectLst/>
                <a:uLnTx/>
                <a:uFillTx/>
                <a:latin typeface="+mn-lt"/>
                <a:ea typeface="+mn-ea"/>
                <a:cs typeface="+mn-cs"/>
              </a:rPr>
              <a:t/>
            </a:r>
            <a:br>
              <a:rPr kumimoji="0" lang="en-US" sz="1800" b="0" i="0" u="none" strike="noStrike" kern="0" cap="none" spc="0" normalizeH="0" baseline="0" noProof="0" dirty="0">
                <a:ln>
                  <a:noFill/>
                </a:ln>
                <a:solidFill>
                  <a:schemeClr val="tx1"/>
                </a:solidFill>
                <a:effectLst/>
                <a:uLnTx/>
                <a:uFillTx/>
                <a:latin typeface="+mn-lt"/>
                <a:ea typeface="+mn-ea"/>
                <a:cs typeface="+mn-cs"/>
              </a:rPr>
            </a:br>
            <a:endParaRPr kumimoji="0" lang="en-US" sz="2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Tx/>
              <a:buSzTx/>
              <a:buFontTx/>
              <a:buNone/>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To </a:t>
            </a:r>
            <a:r>
              <a:rPr kumimoji="0" lang="en-US" sz="2000" b="0" i="0" u="none" strike="noStrike" kern="0" cap="none" spc="0" normalizeH="0" baseline="0" noProof="0" dirty="0">
                <a:ln>
                  <a:noFill/>
                </a:ln>
                <a:solidFill>
                  <a:schemeClr val="tx1"/>
                </a:solidFill>
                <a:effectLst/>
                <a:uLnTx/>
                <a:uFillTx/>
                <a:latin typeface="+mn-lt"/>
                <a:ea typeface="+mn-ea"/>
                <a:cs typeface="+mn-cs"/>
              </a:rPr>
              <a:t>overcome this problem there is another variation of queue </a:t>
            </a:r>
            <a:r>
              <a:rPr kumimoji="0" lang="en-US" sz="2000" b="0" i="0" u="none" strike="noStrike" kern="0" cap="none" spc="0" normalizeH="0" baseline="0" noProof="0" dirty="0" smtClean="0">
                <a:ln>
                  <a:noFill/>
                </a:ln>
                <a:solidFill>
                  <a:schemeClr val="tx1"/>
                </a:solidFill>
                <a:effectLst/>
                <a:uLnTx/>
                <a:uFillTx/>
                <a:latin typeface="+mn-lt"/>
                <a:ea typeface="+mn-ea"/>
                <a:cs typeface="+mn-cs"/>
              </a:rPr>
              <a:t>called</a:t>
            </a:r>
            <a:r>
              <a:rPr kumimoji="0" lang="en-US" sz="2000" b="0" i="0" u="none" strike="noStrike" kern="0" cap="none" spc="0" normalizeH="0" baseline="0" noProof="0" dirty="0">
                <a:ln>
                  <a:noFill/>
                </a:ln>
                <a:solidFill>
                  <a:schemeClr val="tx1"/>
                </a:solidFill>
                <a:effectLst/>
                <a:uLnTx/>
                <a:uFillTx/>
                <a:latin typeface="+mn-lt"/>
                <a:ea typeface="+mn-ea"/>
                <a:cs typeface="+mn-cs"/>
              </a:rPr>
              <a:t> </a:t>
            </a:r>
            <a:r>
              <a:rPr kumimoji="0" lang="en-US" sz="2000" b="0" i="0" u="none" strike="noStrike" kern="0" cap="none" spc="0" normalizeH="0" baseline="0" noProof="0" dirty="0" smtClean="0">
                <a:ln>
                  <a:noFill/>
                </a:ln>
                <a:solidFill>
                  <a:schemeClr val="tx1"/>
                </a:solidFill>
                <a:effectLst/>
                <a:uLnTx/>
                <a:uFillTx/>
                <a:latin typeface="+mn-lt"/>
                <a:ea typeface="+mn-ea"/>
                <a:cs typeface="+mn-cs"/>
                <a:hlinkClick r:id="rId3"/>
              </a:rPr>
              <a:t>circular queue</a:t>
            </a:r>
            <a:r>
              <a:rPr kumimoji="0" lang="en-US" sz="2000" b="0" i="0" u="none" strike="noStrike" kern="0" cap="none" spc="0" normalizeH="0" baseline="0" noProof="0" dirty="0" smtClean="0">
                <a:ln>
                  <a:noFill/>
                </a:ln>
                <a:solidFill>
                  <a:schemeClr val="tx1"/>
                </a:solidFill>
                <a:effectLst/>
                <a:uLnTx/>
                <a:uFillTx/>
                <a:latin typeface="+mn-lt"/>
                <a:ea typeface="+mn-ea"/>
                <a:cs typeface="+mn-cs"/>
              </a:rPr>
              <a:t>.</a:t>
            </a:r>
            <a:endParaRPr kumimoji="0" lang="en-US"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Tx/>
              <a:buSzTx/>
              <a:buFontTx/>
              <a:buNone/>
              <a:defRPr/>
            </a:pPr>
            <a:endParaRPr kumimoji="0" lang="en-US" sz="2000" b="0" i="0" u="none" strike="noStrike" kern="0" cap="none" spc="0" normalizeH="0" baseline="0" noProof="0" dirty="0">
              <a:ln>
                <a:noFill/>
              </a:ln>
              <a:solidFill>
                <a:schemeClr val="tx1"/>
              </a:solidFill>
              <a:effectLst/>
              <a:uLnTx/>
              <a:uFillTx/>
              <a:latin typeface="+mn-lt"/>
              <a:ea typeface="+mn-ea"/>
              <a:cs typeface="+mn-cs"/>
            </a:endParaRPr>
          </a:p>
        </p:txBody>
      </p:sp>
      <p:pic>
        <p:nvPicPr>
          <p:cNvPr id="4" name="Content Placeholder 3"/>
          <p:cNvPicPr>
            <a:picLocks noGrp="1" noChangeAspect="1"/>
          </p:cNvPicPr>
          <p:nvPr>
            <p:ph sz="half" idx="2"/>
          </p:nvPr>
        </p:nvPicPr>
        <p:blipFill>
          <a:blip r:embed="rId4"/>
          <a:stretch>
            <a:fillRect/>
          </a:stretch>
        </p:blipFill>
        <p:spPr>
          <a:xfrm>
            <a:off x="1920875" y="2740660"/>
            <a:ext cx="3808730" cy="673100"/>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type="title"/>
          </p:nvPr>
        </p:nvSpPr>
        <p:spPr>
          <a:xfrm>
            <a:off x="1179830" y="849630"/>
            <a:ext cx="7355840" cy="856615"/>
          </a:xfrm>
        </p:spPr>
        <p:txBody>
          <a:bodyPr wrap="square" lIns="92075" tIns="46038" rIns="92075" bIns="46038" anchor="ctr"/>
          <a:lstStyle/>
          <a:p>
            <a:r>
              <a:rPr lang="en-US" altLang="en-US" sz="3600" dirty="0"/>
              <a:t>Circular Queue</a:t>
            </a:r>
          </a:p>
        </p:txBody>
      </p:sp>
      <p:sp>
        <p:nvSpPr>
          <p:cNvPr id="29698" name="Rectangle 3"/>
          <p:cNvSpPr>
            <a:spLocks noGrp="1"/>
          </p:cNvSpPr>
          <p:nvPr>
            <p:ph idx="1"/>
          </p:nvPr>
        </p:nvSpPr>
        <p:spPr>
          <a:xfrm>
            <a:off x="860425" y="1960245"/>
            <a:ext cx="7597775" cy="2306955"/>
          </a:xfrm>
        </p:spPr>
        <p:txBody>
          <a:bodyPr wrap="square" lIns="92075" tIns="46038" rIns="92075" bIns="46038" anchor="t"/>
          <a:lstStyle/>
          <a:p>
            <a:pPr>
              <a:spcBef>
                <a:spcPts val="1200"/>
              </a:spcBef>
            </a:pPr>
            <a:r>
              <a:rPr lang="en-US" altLang="en-US" sz="2000" dirty="0"/>
              <a:t>Queues, implemented wrapping around, are called </a:t>
            </a:r>
            <a:r>
              <a:rPr lang="en-US" altLang="en-US" sz="2000" dirty="0">
                <a:solidFill>
                  <a:srgbClr val="C00000"/>
                </a:solidFill>
              </a:rPr>
              <a:t>Circular Queues</a:t>
            </a:r>
            <a:r>
              <a:rPr lang="en-US" altLang="en-US" sz="2000" dirty="0"/>
              <a:t>.</a:t>
            </a:r>
          </a:p>
          <a:p>
            <a:pPr>
              <a:spcBef>
                <a:spcPts val="1200"/>
              </a:spcBef>
            </a:pPr>
            <a:r>
              <a:rPr lang="en-US" altLang="en-US" sz="2000" dirty="0"/>
              <a:t>Both the front and the rear pointers wrap around to the beginning of the array. </a:t>
            </a:r>
          </a:p>
          <a:p>
            <a:pPr>
              <a:spcBef>
                <a:spcPts val="1200"/>
              </a:spcBef>
            </a:pPr>
            <a:r>
              <a:rPr lang="en-US" altLang="en-US" sz="2000" dirty="0"/>
              <a:t>It is also called as “</a:t>
            </a:r>
            <a:r>
              <a:rPr lang="en-US" altLang="en-US" sz="2000" dirty="0">
                <a:solidFill>
                  <a:srgbClr val="1552D1"/>
                </a:solidFill>
              </a:rPr>
              <a:t>Ring buffer</a:t>
            </a:r>
            <a:r>
              <a:rPr lang="en-US" altLang="en-US" sz="2000"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7"/>
          <p:cNvSpPr txBox="1"/>
          <p:nvPr/>
        </p:nvSpPr>
        <p:spPr>
          <a:xfrm>
            <a:off x="615950" y="1923415"/>
            <a:ext cx="7842250" cy="708025"/>
          </a:xfrm>
          <a:prstGeom prst="rect">
            <a:avLst/>
          </a:prstGeom>
          <a:noFill/>
          <a:ln w="9525">
            <a:noFill/>
          </a:ln>
        </p:spPr>
        <p:txBody>
          <a:bodyPr wrap="square" lIns="90000" tIns="46800" rIns="90000" bIns="46800" anchor="t">
            <a:spAutoFit/>
          </a:bodyPr>
          <a:lstStyle/>
          <a:p>
            <a:pPr marL="344805" indent="-344805" defTabSz="914400" eaLnBrk="0" hangingPunct="0">
              <a:lnSpc>
                <a:spcPct val="200000"/>
              </a:lnSpc>
              <a:buFont typeface="Wingdings" panose="05000000000000000000"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dirty="0">
                <a:solidFill>
                  <a:srgbClr val="000000"/>
                </a:solidFill>
                <a:latin typeface="+mn-lt"/>
                <a:cs typeface="+mn-lt"/>
              </a:rPr>
              <a:t>The structure of circular queue is shown in following figure:</a:t>
            </a:r>
          </a:p>
        </p:txBody>
      </p:sp>
      <p:pic>
        <p:nvPicPr>
          <p:cNvPr id="30722" name="Picture 8"/>
          <p:cNvPicPr>
            <a:picLocks noChangeAspect="1"/>
          </p:cNvPicPr>
          <p:nvPr/>
        </p:nvPicPr>
        <p:blipFill>
          <a:blip r:embed="rId3"/>
          <a:stretch>
            <a:fillRect/>
          </a:stretch>
        </p:blipFill>
        <p:spPr>
          <a:xfrm>
            <a:off x="5473700" y="2742565"/>
            <a:ext cx="3331210" cy="2103755"/>
          </a:xfrm>
          <a:prstGeom prst="rect">
            <a:avLst/>
          </a:prstGeom>
          <a:solidFill>
            <a:srgbClr val="4F81BD"/>
          </a:solidFill>
          <a:ln w="9360" cap="flat" cmpd="sng">
            <a:solidFill>
              <a:srgbClr val="000000"/>
            </a:solidFill>
            <a:prstDash val="solid"/>
            <a:miter/>
            <a:headEnd type="none" w="med" len="med"/>
            <a:tailEnd type="none" w="med" len="med"/>
          </a:ln>
        </p:spPr>
      </p:pic>
      <p:sp>
        <p:nvSpPr>
          <p:cNvPr id="30723" name="Text Box 9"/>
          <p:cNvSpPr txBox="1"/>
          <p:nvPr/>
        </p:nvSpPr>
        <p:spPr>
          <a:xfrm>
            <a:off x="5562600" y="4971415"/>
            <a:ext cx="3429000" cy="646430"/>
          </a:xfrm>
          <a:prstGeom prst="rect">
            <a:avLst/>
          </a:prstGeom>
          <a:noFill/>
          <a:ln w="9525">
            <a:noFill/>
          </a:ln>
        </p:spPr>
        <p:txBody>
          <a:bodyPr lIns="90000" tIns="46800" rIns="90000" bIns="46800" anchor="t">
            <a:spAutoFit/>
          </a:bodyPr>
          <a:lstStyle/>
          <a:p>
            <a:pPr defTabSz="9144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Figure: Circular Queue  having </a:t>
            </a:r>
          </a:p>
          <a:p>
            <a:pPr defTabSz="9144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1800" dirty="0">
                <a:solidFill>
                  <a:srgbClr val="000000"/>
                </a:solidFill>
                <a:latin typeface="+mn-lt"/>
                <a:cs typeface="+mn-lt"/>
              </a:rPr>
              <a:t>    Rear = 5 and Front = 0  </a:t>
            </a:r>
          </a:p>
        </p:txBody>
      </p:sp>
      <p:sp>
        <p:nvSpPr>
          <p:cNvPr id="30724" name="Text Box 10"/>
          <p:cNvSpPr txBox="1"/>
          <p:nvPr/>
        </p:nvSpPr>
        <p:spPr>
          <a:xfrm>
            <a:off x="358775" y="3022600"/>
            <a:ext cx="5056188" cy="2308225"/>
          </a:xfrm>
          <a:prstGeom prst="rect">
            <a:avLst/>
          </a:prstGeom>
          <a:noFill/>
          <a:ln w="9525">
            <a:noFill/>
          </a:ln>
        </p:spPr>
        <p:txBody>
          <a:bodyPr lIns="90000" tIns="46800" rIns="90000" bIns="46800" anchor="t">
            <a:spAutoFit/>
          </a:bodyPr>
          <a:lstStyle/>
          <a:p>
            <a:pPr marL="342900" indent="-342900" algn="just" defTabSz="914400" eaLnBrk="0" hangingPunct="0">
              <a:lnSpc>
                <a:spcPct val="120000"/>
              </a:lnSpc>
              <a:spcBef>
                <a:spcPts val="600"/>
              </a:spcBef>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dirty="0">
                <a:solidFill>
                  <a:srgbClr val="000000"/>
                </a:solidFill>
                <a:latin typeface="+mn-lt"/>
                <a:cs typeface="+mn-lt"/>
              </a:rPr>
              <a:t>In circular queue, once the Queue is full the "First" element of the Queue becomes the "Rear" most element, if and only if the "Front" has moved forward. otherwise it will again be a "Queue overflow" state.</a:t>
            </a:r>
          </a:p>
        </p:txBody>
      </p:sp>
      <p:sp>
        <p:nvSpPr>
          <p:cNvPr id="12" name="Rectangle 2"/>
          <p:cNvSpPr txBox="1">
            <a:spLocks noChangeArrowheads="1"/>
          </p:cNvSpPr>
          <p:nvPr/>
        </p:nvSpPr>
        <p:spPr>
          <a:xfrm>
            <a:off x="1179830" y="994410"/>
            <a:ext cx="7278370" cy="72136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3600" b="0" i="0" u="none" strike="noStrike" kern="0" cap="none" spc="0" normalizeH="0" baseline="0" noProof="0" smtClean="0">
                <a:ln>
                  <a:noFill/>
                </a:ln>
                <a:solidFill>
                  <a:schemeClr val="tx2"/>
                </a:solidFill>
                <a:effectLst/>
                <a:uLnTx/>
                <a:uFillTx/>
                <a:latin typeface="+mj-lt"/>
                <a:ea typeface="+mj-ea"/>
                <a:cs typeface="+mj-cs"/>
                <a:sym typeface="+mn-ea"/>
              </a:rPr>
              <a:t>Circular Queue</a:t>
            </a:r>
            <a:endParaRPr kumimoji="0" lang="en-US" altLang="en-US" sz="3600" b="0" i="0" u="none" strike="noStrike" kern="0" cap="none" spc="0" normalizeH="0" baseline="0" noProof="0" dirty="0" smtClean="0">
              <a:ln>
                <a:noFill/>
              </a:ln>
              <a:solidFill>
                <a:schemeClr val="tx2"/>
              </a:solidFill>
              <a:effectLst/>
              <a:uLnTx/>
              <a:uFillTx/>
              <a:latin typeface="+mj-lt"/>
              <a:ea typeface="+mj-ea"/>
              <a:cs typeface="+mj-cs"/>
              <a:sym typeface="+mn-ea"/>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28662" y="2000240"/>
            <a:ext cx="8001056" cy="4324360"/>
          </a:xfrm>
          <a:solidFill>
            <a:schemeClr val="bg1"/>
          </a:solidFill>
          <a:effectLst>
            <a:glow rad="101600">
              <a:schemeClr val="accent1">
                <a:satMod val="175000"/>
                <a:alpha val="40000"/>
              </a:schemeClr>
            </a:glow>
            <a:outerShdw blurRad="50800" dist="2540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a:normAutofit fontScale="85000" lnSpcReduction="10000"/>
          </a:bodyPr>
          <a:lstStyle/>
          <a:p>
            <a:pPr>
              <a:buNone/>
            </a:pPr>
            <a:r>
              <a:rPr lang="en-US" sz="2400" b="1" u="sng" dirty="0" smtClean="0">
                <a:solidFill>
                  <a:schemeClr val="tx1"/>
                </a:solidFill>
              </a:rPr>
              <a:t>ALGORITHM:</a:t>
            </a:r>
            <a:r>
              <a:rPr lang="en-US" sz="2400" b="1" dirty="0" smtClean="0">
                <a:solidFill>
                  <a:schemeClr val="tx1"/>
                </a:solidFill>
              </a:rPr>
              <a:t> C_</a:t>
            </a:r>
            <a:r>
              <a:rPr lang="en-US" sz="2400" dirty="0" smtClean="0">
                <a:solidFill>
                  <a:schemeClr val="tx1"/>
                </a:solidFill>
              </a:rPr>
              <a:t>Q_INSERT(C_QUEUE,MAX,FRONT,REAR, ITEM)</a:t>
            </a:r>
          </a:p>
          <a:p>
            <a:pPr algn="just">
              <a:buNone/>
            </a:pPr>
            <a:r>
              <a:rPr lang="en-US" sz="2400" b="1" dirty="0" smtClean="0">
                <a:solidFill>
                  <a:schemeClr val="tx1"/>
                </a:solidFill>
              </a:rPr>
              <a:t>Input:   </a:t>
            </a:r>
            <a:r>
              <a:rPr lang="en-US" sz="2400" dirty="0" smtClean="0">
                <a:solidFill>
                  <a:schemeClr val="tx1"/>
                </a:solidFill>
              </a:rPr>
              <a:t>C_QUEUE is the Circular  Queue with maximum size MAX.FRONT and REAR are the pointer variables pointing to Front end and Rear end respectively.</a:t>
            </a:r>
          </a:p>
          <a:p>
            <a:pPr algn="just">
              <a:buNone/>
            </a:pPr>
            <a:r>
              <a:rPr lang="en-US" sz="2400" b="1" dirty="0" smtClean="0">
                <a:solidFill>
                  <a:schemeClr val="tx1"/>
                </a:solidFill>
              </a:rPr>
              <a:t>Output: </a:t>
            </a:r>
            <a:r>
              <a:rPr lang="en-US" sz="2400" dirty="0" smtClean="0">
                <a:solidFill>
                  <a:schemeClr val="tx1"/>
                </a:solidFill>
              </a:rPr>
              <a:t>This algorithm inserts an element ITEM on to   the circular queue C_QUEUE.</a:t>
            </a:r>
          </a:p>
          <a:p>
            <a:pPr>
              <a:buNone/>
            </a:pPr>
            <a:endParaRPr lang="en-US" sz="2400" dirty="0" smtClean="0">
              <a:solidFill>
                <a:schemeClr val="tx1"/>
              </a:solidFill>
            </a:endParaRPr>
          </a:p>
          <a:p>
            <a:pPr>
              <a:buNone/>
            </a:pPr>
            <a:r>
              <a:rPr lang="en-US" sz="2400" b="1" dirty="0" smtClean="0">
                <a:solidFill>
                  <a:schemeClr val="tx1"/>
                </a:solidFill>
              </a:rPr>
              <a:t>Step 1: </a:t>
            </a:r>
            <a:r>
              <a:rPr lang="en-US" sz="2400" dirty="0" smtClean="0">
                <a:solidFill>
                  <a:schemeClr val="tx1"/>
                </a:solidFill>
              </a:rPr>
              <a:t>If FRONT=(REAR+1)%MAX , then</a:t>
            </a:r>
          </a:p>
          <a:p>
            <a:pPr>
              <a:buNone/>
            </a:pPr>
            <a:r>
              <a:rPr lang="en-US" sz="2400" dirty="0" smtClean="0">
                <a:solidFill>
                  <a:schemeClr val="tx1"/>
                </a:solidFill>
              </a:rPr>
              <a:t>			Print “Circular Queue Overflow” and Exit.</a:t>
            </a:r>
          </a:p>
          <a:p>
            <a:pPr>
              <a:buNone/>
            </a:pPr>
            <a:r>
              <a:rPr lang="en-US" sz="2400" b="1" dirty="0" smtClean="0">
                <a:solidFill>
                  <a:schemeClr val="tx1"/>
                </a:solidFill>
              </a:rPr>
              <a:t>Step 2:</a:t>
            </a:r>
            <a:r>
              <a:rPr lang="en-US" sz="2400" dirty="0" smtClean="0">
                <a:solidFill>
                  <a:schemeClr val="tx1"/>
                </a:solidFill>
              </a:rPr>
              <a:t> If FRONT=-1 and REAR=-1,then</a:t>
            </a:r>
          </a:p>
          <a:p>
            <a:pPr>
              <a:buNone/>
            </a:pPr>
            <a:r>
              <a:rPr lang="en-US" sz="2400" dirty="0" smtClean="0">
                <a:solidFill>
                  <a:schemeClr val="tx1"/>
                </a:solidFill>
              </a:rPr>
              <a:t>			Set FRONT=0 and REAR=0</a:t>
            </a:r>
          </a:p>
          <a:p>
            <a:pPr>
              <a:buNone/>
            </a:pPr>
            <a:r>
              <a:rPr lang="en-US" sz="2400" dirty="0" smtClean="0">
                <a:solidFill>
                  <a:schemeClr val="tx1"/>
                </a:solidFill>
              </a:rPr>
              <a:t>		Else</a:t>
            </a:r>
          </a:p>
          <a:p>
            <a:pPr>
              <a:buNone/>
            </a:pPr>
            <a:r>
              <a:rPr lang="en-US" sz="2400" dirty="0" smtClean="0">
                <a:solidFill>
                  <a:schemeClr val="tx1"/>
                </a:solidFill>
              </a:rPr>
              <a:t>			Set REAR=(REAR+1) % MAX</a:t>
            </a:r>
          </a:p>
          <a:p>
            <a:endParaRPr lang="en-US" dirty="0"/>
          </a:p>
        </p:txBody>
      </p:sp>
      <p:sp>
        <p:nvSpPr>
          <p:cNvPr id="6" name="Slide Number Placeholder 5"/>
          <p:cNvSpPr>
            <a:spLocks noGrp="1"/>
          </p:cNvSpPr>
          <p:nvPr>
            <p:ph type="sldNum" sz="quarter" idx="12"/>
          </p:nvPr>
        </p:nvSpPr>
        <p:spPr/>
        <p:txBody>
          <a:bodyPr/>
          <a:lstStyle/>
          <a:p>
            <a:fld id="{CA8B4530-02B6-4BE1-914D-F37489CFEB04}" type="slidenum">
              <a:rPr lang="en-US" smtClean="0"/>
              <a:pPr/>
              <a:t>35</a:t>
            </a:fld>
            <a:endParaRPr lang="en-US"/>
          </a:p>
        </p:txBody>
      </p:sp>
      <p:sp>
        <p:nvSpPr>
          <p:cNvPr id="5" name="Title 4"/>
          <p:cNvSpPr>
            <a:spLocks noGrp="1"/>
          </p:cNvSpPr>
          <p:nvPr>
            <p:ph type="title"/>
          </p:nvPr>
        </p:nvSpPr>
        <p:spPr>
          <a:xfrm>
            <a:off x="1150938" y="214313"/>
            <a:ext cx="7793037" cy="1142985"/>
          </a:xfrm>
        </p:spPr>
        <p:txBody>
          <a:bodyPr/>
          <a:lstStyle/>
          <a:p>
            <a:r>
              <a:rPr lang="en-US" sz="3600" dirty="0" smtClean="0">
                <a:latin typeface="Times New Roman" pitchFamily="18" charset="0"/>
                <a:cs typeface="Times New Roman" pitchFamily="18" charset="0"/>
              </a:rPr>
              <a:t>INSERTION</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14348" y="2071678"/>
            <a:ext cx="8143932" cy="4252922"/>
          </a:xfrm>
          <a:solidFill>
            <a:schemeClr val="bg1"/>
          </a:solidFill>
          <a:effectLst>
            <a:glow rad="101600">
              <a:schemeClr val="accent1">
                <a:satMod val="175000"/>
                <a:alpha val="40000"/>
              </a:schemeClr>
            </a:glow>
            <a:outerShdw blurRad="50800" dist="2540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a:normAutofit/>
          </a:bodyPr>
          <a:lstStyle/>
          <a:p>
            <a:pPr>
              <a:buNone/>
            </a:pPr>
            <a:r>
              <a:rPr lang="en-US" sz="2400" dirty="0" smtClean="0">
                <a:solidFill>
                  <a:schemeClr val="tx1"/>
                </a:solidFill>
              </a:rPr>
              <a:t>Step 3: [Insert an element in to the Queue]</a:t>
            </a:r>
          </a:p>
          <a:p>
            <a:pPr>
              <a:buNone/>
            </a:pPr>
            <a:r>
              <a:rPr lang="en-US" sz="2400" dirty="0" smtClean="0">
                <a:solidFill>
                  <a:schemeClr val="tx1"/>
                </a:solidFill>
              </a:rPr>
              <a:t>		 Set C_QUEUE[REAR]=ITEM</a:t>
            </a:r>
          </a:p>
          <a:p>
            <a:pPr>
              <a:buNone/>
            </a:pPr>
            <a:r>
              <a:rPr lang="en-US" sz="2400" dirty="0" smtClean="0">
                <a:solidFill>
                  <a:schemeClr val="tx1"/>
                </a:solidFill>
              </a:rPr>
              <a:t>Step 4: Exit</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CA8B4530-02B6-4BE1-914D-F37489CFEB04}" type="slidenum">
              <a:rPr lang="en-US" smtClean="0"/>
              <a:pPr/>
              <a:t>36</a:t>
            </a:fld>
            <a:endParaRPr lang="en-US"/>
          </a:p>
        </p:txBody>
      </p:sp>
      <p:sp>
        <p:nvSpPr>
          <p:cNvPr id="5" name="Title 4"/>
          <p:cNvSpPr>
            <a:spLocks noGrp="1"/>
          </p:cNvSpPr>
          <p:nvPr>
            <p:ph type="title"/>
          </p:nvPr>
        </p:nvSpPr>
        <p:spPr>
          <a:xfrm>
            <a:off x="1150938" y="214313"/>
            <a:ext cx="7793037" cy="1285861"/>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000232" y="2928934"/>
            <a:ext cx="5643602" cy="2937919"/>
            <a:chOff x="4191000" y="3349625"/>
            <a:chExt cx="4370388" cy="2593975"/>
          </a:xfrm>
        </p:grpSpPr>
        <p:grpSp>
          <p:nvGrpSpPr>
            <p:cNvPr id="3" name="Group 23"/>
            <p:cNvGrpSpPr>
              <a:grpSpLocks/>
            </p:cNvGrpSpPr>
            <p:nvPr/>
          </p:nvGrpSpPr>
          <p:grpSpPr bwMode="auto">
            <a:xfrm>
              <a:off x="4495800" y="3349625"/>
              <a:ext cx="4065588" cy="2593975"/>
              <a:chOff x="3822" y="2062"/>
              <a:chExt cx="2561" cy="1634"/>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793" y="2062"/>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-1</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5252" y="2062"/>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-1</a:t>
                </a:r>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76806" name="Text Box 21"/>
          <p:cNvSpPr txBox="1">
            <a:spLocks noChangeArrowheads="1"/>
          </p:cNvSpPr>
          <p:nvPr/>
        </p:nvSpPr>
        <p:spPr bwMode="auto">
          <a:xfrm>
            <a:off x="5643570" y="2071678"/>
            <a:ext cx="1401763" cy="307975"/>
          </a:xfrm>
          <a:prstGeom prst="rect">
            <a:avLst/>
          </a:prstGeom>
          <a:noFill/>
          <a:ln w="38100">
            <a:noFill/>
            <a:miter lim="800000"/>
            <a:headEnd/>
            <a:tailEnd/>
          </a:ln>
        </p:spPr>
        <p:txBody>
          <a:bodyPr>
            <a:spAutoFit/>
          </a:bodyPr>
          <a:lstStyle/>
          <a:p>
            <a:pPr algn="ctr">
              <a:spcBef>
                <a:spcPct val="50000"/>
              </a:spcBef>
            </a:pPr>
            <a:r>
              <a:rPr lang="en-US" sz="1400" b="1" dirty="0" err="1" smtClean="0"/>
              <a:t>C_Queue</a:t>
            </a:r>
            <a:endParaRPr lang="en-US" sz="1400" b="1" dirty="0"/>
          </a:p>
        </p:txBody>
      </p:sp>
      <p:sp>
        <p:nvSpPr>
          <p:cNvPr id="31" name="Right Arrow 30"/>
          <p:cNvSpPr/>
          <p:nvPr/>
        </p:nvSpPr>
        <p:spPr>
          <a:xfrm rot="16200000" flipV="1">
            <a:off x="7058044" y="3514724"/>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16200000" flipV="1">
            <a:off x="5986474" y="3443286"/>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4" name="Slide Number Placeholder 33"/>
          <p:cNvSpPr>
            <a:spLocks noGrp="1"/>
          </p:cNvSpPr>
          <p:nvPr>
            <p:ph type="sldNum" sz="quarter" idx="12"/>
          </p:nvPr>
        </p:nvSpPr>
        <p:spPr/>
        <p:txBody>
          <a:bodyPr/>
          <a:lstStyle/>
          <a:p>
            <a:fld id="{CA8B4530-02B6-4BE1-914D-F37489CFEB04}" type="slidenum">
              <a:rPr lang="en-US" smtClean="0"/>
              <a:pPr/>
              <a:t>37</a:t>
            </a:fld>
            <a:endParaRPr lang="en-US"/>
          </a:p>
        </p:txBody>
      </p:sp>
      <p:sp>
        <p:nvSpPr>
          <p:cNvPr id="33" name="Title 32"/>
          <p:cNvSpPr>
            <a:spLocks noGrp="1"/>
          </p:cNvSpPr>
          <p:nvPr>
            <p:ph type="title"/>
          </p:nvPr>
        </p:nvSpPr>
        <p:spPr>
          <a:xfrm>
            <a:off x="1428727" y="642918"/>
            <a:ext cx="7143801" cy="928694"/>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1928794" y="2857496"/>
            <a:ext cx="5357705" cy="3547439"/>
            <a:chOff x="4191000" y="2811463"/>
            <a:chExt cx="3511549" cy="3132138"/>
          </a:xfrm>
        </p:grpSpPr>
        <p:grpSp>
          <p:nvGrpSpPr>
            <p:cNvPr id="3" name="Group 23"/>
            <p:cNvGrpSpPr>
              <a:grpSpLocks/>
            </p:cNvGrpSpPr>
            <p:nvPr/>
          </p:nvGrpSpPr>
          <p:grpSpPr bwMode="auto">
            <a:xfrm>
              <a:off x="4495799" y="2811463"/>
              <a:ext cx="3206750" cy="3132138"/>
              <a:chOff x="3822" y="1723"/>
              <a:chExt cx="2020" cy="197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370" y="1977"/>
                <a:ext cx="472"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5164" y="1723"/>
                <a:ext cx="531"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0</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76806" name="Text Box 21"/>
          <p:cNvSpPr txBox="1">
            <a:spLocks noChangeArrowheads="1"/>
          </p:cNvSpPr>
          <p:nvPr/>
        </p:nvSpPr>
        <p:spPr bwMode="auto">
          <a:xfrm>
            <a:off x="6929454" y="2000240"/>
            <a:ext cx="1401763" cy="307975"/>
          </a:xfrm>
          <a:prstGeom prst="rect">
            <a:avLst/>
          </a:prstGeom>
          <a:noFill/>
          <a:ln w="38100">
            <a:noFill/>
            <a:miter lim="800000"/>
            <a:headEnd/>
            <a:tailEnd/>
          </a:ln>
        </p:spPr>
        <p:txBody>
          <a:bodyPr>
            <a:spAutoFit/>
          </a:bodyPr>
          <a:lstStyle/>
          <a:p>
            <a:pPr algn="ctr">
              <a:spcBef>
                <a:spcPct val="50000"/>
              </a:spcBef>
            </a:pPr>
            <a:r>
              <a:rPr lang="en-US" sz="1400" b="1" dirty="0" err="1" smtClean="0"/>
              <a:t>C_Queue</a:t>
            </a:r>
            <a:endParaRPr lang="en-US" sz="1400" b="1" dirty="0"/>
          </a:p>
        </p:txBody>
      </p:sp>
      <p:sp>
        <p:nvSpPr>
          <p:cNvPr id="31" name="Right Arrow 30"/>
          <p:cNvSpPr/>
          <p:nvPr/>
        </p:nvSpPr>
        <p:spPr>
          <a:xfrm rot="8964981" flipV="1">
            <a:off x="5425624" y="3644918"/>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7864080" flipV="1">
            <a:off x="5096393" y="3418344"/>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947850" cy="954107"/>
          </a:xfrm>
          <a:prstGeom prst="rect">
            <a:avLst/>
          </a:prstGeom>
          <a:noFill/>
        </p:spPr>
        <p:txBody>
          <a:bodyPr wrap="square" rtlCol="0">
            <a:spAutoFit/>
          </a:bodyPr>
          <a:lstStyle/>
          <a:p>
            <a:endParaRPr lang="en-US" dirty="0" smtClean="0"/>
          </a:p>
          <a:p>
            <a:r>
              <a:rPr lang="en-US" dirty="0" smtClean="0"/>
              <a:t>Insert 10</a:t>
            </a:r>
            <a:endParaRPr lang="en-US" dirty="0"/>
          </a:p>
        </p:txBody>
      </p:sp>
      <p:sp>
        <p:nvSpPr>
          <p:cNvPr id="33" name="TextBox 32"/>
          <p:cNvSpPr txBox="1"/>
          <p:nvPr/>
        </p:nvSpPr>
        <p:spPr>
          <a:xfrm>
            <a:off x="4429124" y="4071942"/>
            <a:ext cx="381000" cy="307777"/>
          </a:xfrm>
          <a:prstGeom prst="rect">
            <a:avLst/>
          </a:prstGeom>
          <a:solidFill>
            <a:srgbClr val="FFFF00"/>
          </a:solidFill>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solidFill>
                  <a:schemeClr val="tx1"/>
                </a:solidFill>
              </a:rPr>
              <a:t>10</a:t>
            </a:r>
            <a:endParaRPr lang="en-US" sz="1400" dirty="0">
              <a:solidFill>
                <a:schemeClr val="tx1"/>
              </a:solidFill>
            </a:endParaRPr>
          </a:p>
        </p:txBody>
      </p:sp>
      <p:sp>
        <p:nvSpPr>
          <p:cNvPr id="37" name="Slide Number Placeholder 36"/>
          <p:cNvSpPr>
            <a:spLocks noGrp="1"/>
          </p:cNvSpPr>
          <p:nvPr>
            <p:ph type="sldNum" sz="quarter" idx="12"/>
          </p:nvPr>
        </p:nvSpPr>
        <p:spPr/>
        <p:txBody>
          <a:bodyPr/>
          <a:lstStyle/>
          <a:p>
            <a:fld id="{CA8B4530-02B6-4BE1-914D-F37489CFEB04}" type="slidenum">
              <a:rPr lang="en-US" smtClean="0"/>
              <a:pPr/>
              <a:t>38</a:t>
            </a:fld>
            <a:endParaRPr lang="en-US"/>
          </a:p>
        </p:txBody>
      </p:sp>
      <p:sp>
        <p:nvSpPr>
          <p:cNvPr id="34" name="Title 33"/>
          <p:cNvSpPr>
            <a:spLocks noGrp="1"/>
          </p:cNvSpPr>
          <p:nvPr>
            <p:ph type="title"/>
          </p:nvPr>
        </p:nvSpPr>
        <p:spPr>
          <a:xfrm>
            <a:off x="1150938" y="214313"/>
            <a:ext cx="7793037" cy="1142985"/>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714612" y="2928934"/>
            <a:ext cx="4036560" cy="3090749"/>
            <a:chOff x="4191000" y="3214688"/>
            <a:chExt cx="4137027" cy="2728913"/>
          </a:xfrm>
        </p:grpSpPr>
        <p:grpSp>
          <p:nvGrpSpPr>
            <p:cNvPr id="3" name="Group 23"/>
            <p:cNvGrpSpPr>
              <a:grpSpLocks/>
            </p:cNvGrpSpPr>
            <p:nvPr/>
          </p:nvGrpSpPr>
          <p:grpSpPr bwMode="auto">
            <a:xfrm>
              <a:off x="4495801" y="3214688"/>
              <a:ext cx="3832226" cy="2728913"/>
              <a:chOff x="3822" y="1977"/>
              <a:chExt cx="2414" cy="1719"/>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5646" y="2232"/>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1</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5568501" y="3787794"/>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9605931" flipV="1">
            <a:off x="4869186" y="3181111"/>
            <a:ext cx="674753" cy="185555"/>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947850" cy="954107"/>
          </a:xfrm>
          <a:prstGeom prst="rect">
            <a:avLst/>
          </a:prstGeom>
          <a:noFill/>
        </p:spPr>
        <p:txBody>
          <a:bodyPr wrap="square" rtlCol="0">
            <a:spAutoFit/>
          </a:bodyPr>
          <a:lstStyle/>
          <a:p>
            <a:r>
              <a:rPr lang="en-US" dirty="0" smtClean="0"/>
              <a:t> </a:t>
            </a:r>
          </a:p>
          <a:p>
            <a:r>
              <a:rPr lang="en-US" dirty="0" smtClean="0"/>
              <a:t>Insert 20</a:t>
            </a:r>
            <a:endParaRPr lang="en-US" dirty="0"/>
          </a:p>
        </p:txBody>
      </p:sp>
      <p:sp>
        <p:nvSpPr>
          <p:cNvPr id="33" name="TextBox 32"/>
          <p:cNvSpPr txBox="1"/>
          <p:nvPr/>
        </p:nvSpPr>
        <p:spPr>
          <a:xfrm>
            <a:off x="4286248" y="3714752"/>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4714876" y="414338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8" name="Slide Number Placeholder 37"/>
          <p:cNvSpPr>
            <a:spLocks noGrp="1"/>
          </p:cNvSpPr>
          <p:nvPr>
            <p:ph type="sldNum" sz="quarter" idx="12"/>
          </p:nvPr>
        </p:nvSpPr>
        <p:spPr/>
        <p:txBody>
          <a:bodyPr/>
          <a:lstStyle/>
          <a:p>
            <a:fld id="{CA8B4530-02B6-4BE1-914D-F37489CFEB04}" type="slidenum">
              <a:rPr lang="en-US" smtClean="0"/>
              <a:pPr/>
              <a:t>39</a:t>
            </a:fld>
            <a:endParaRPr lang="en-US"/>
          </a:p>
        </p:txBody>
      </p:sp>
      <p:sp>
        <p:nvSpPr>
          <p:cNvPr id="35" name="Title 34"/>
          <p:cNvSpPr>
            <a:spLocks noGrp="1"/>
          </p:cNvSpPr>
          <p:nvPr>
            <p:ph type="title"/>
          </p:nvPr>
        </p:nvSpPr>
        <p:spPr>
          <a:xfrm>
            <a:off x="1150938" y="214313"/>
            <a:ext cx="7793037" cy="1142985"/>
          </a:xfrm>
        </p:spPr>
        <p:txBody>
          <a:bodyPr/>
          <a:lstStyle/>
          <a:p>
            <a:r>
              <a:rPr lang="en-US" dirty="0" smtClean="0"/>
              <a:t/>
            </a:r>
            <a:br>
              <a:rPr lang="en-US" dirty="0" smtClean="0"/>
            </a:br>
            <a:r>
              <a:rPr lang="en-US" dirty="0" smtClean="0"/>
              <a:t>INSERTION</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811878" y="1751946"/>
            <a:ext cx="3960660" cy="3090749"/>
            <a:chOff x="4191000" y="3214688"/>
            <a:chExt cx="4059238" cy="2728913"/>
          </a:xfrm>
        </p:grpSpPr>
        <p:grpSp>
          <p:nvGrpSpPr>
            <p:cNvPr id="3" name="Group 23"/>
            <p:cNvGrpSpPr>
              <a:grpSpLocks/>
            </p:cNvGrpSpPr>
            <p:nvPr/>
          </p:nvGrpSpPr>
          <p:grpSpPr bwMode="auto">
            <a:xfrm>
              <a:off x="4495800" y="3214688"/>
              <a:ext cx="3754438" cy="2728913"/>
              <a:chOff x="3822" y="1977"/>
              <a:chExt cx="2365" cy="1719"/>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5597" y="3122"/>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2</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6092369" y="1973281"/>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10800000" flipV="1">
            <a:off x="6880567" y="3528962"/>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733536" cy="954107"/>
          </a:xfrm>
          <a:prstGeom prst="rect">
            <a:avLst/>
          </a:prstGeom>
          <a:noFill/>
        </p:spPr>
        <p:txBody>
          <a:bodyPr wrap="square" rtlCol="0">
            <a:spAutoFit/>
          </a:bodyPr>
          <a:lstStyle/>
          <a:p>
            <a:endParaRPr lang="en-US" dirty="0" smtClean="0"/>
          </a:p>
          <a:p>
            <a:r>
              <a:rPr lang="en-US" dirty="0" smtClean="0"/>
              <a:t>Insert 30</a:t>
            </a:r>
            <a:endParaRPr lang="en-US" dirty="0"/>
          </a:p>
        </p:txBody>
      </p:sp>
      <p:sp>
        <p:nvSpPr>
          <p:cNvPr id="33" name="TextBox 32"/>
          <p:cNvSpPr txBox="1"/>
          <p:nvPr/>
        </p:nvSpPr>
        <p:spPr>
          <a:xfrm>
            <a:off x="5410200" y="2438400"/>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5867400" y="28956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5867400" y="3426023"/>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9" name="Slide Number Placeholder 38"/>
          <p:cNvSpPr>
            <a:spLocks noGrp="1"/>
          </p:cNvSpPr>
          <p:nvPr>
            <p:ph type="sldNum" sz="quarter" idx="12"/>
          </p:nvPr>
        </p:nvSpPr>
        <p:spPr/>
        <p:txBody>
          <a:bodyPr/>
          <a:lstStyle/>
          <a:p>
            <a:fld id="{CA8B4530-02B6-4BE1-914D-F37489CFEB04}" type="slidenum">
              <a:rPr lang="en-US" smtClean="0"/>
              <a:pPr/>
              <a:t>40</a:t>
            </a:fld>
            <a:endParaRPr lang="en-US"/>
          </a:p>
        </p:txBody>
      </p:sp>
      <p:sp>
        <p:nvSpPr>
          <p:cNvPr id="36" name="Title 35"/>
          <p:cNvSpPr>
            <a:spLocks noGrp="1"/>
          </p:cNvSpPr>
          <p:nvPr>
            <p:ph type="title"/>
          </p:nvPr>
        </p:nvSpPr>
        <p:spPr>
          <a:xfrm>
            <a:off x="1150938" y="214313"/>
            <a:ext cx="7793037" cy="1285861"/>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811878" y="1751946"/>
            <a:ext cx="3883213" cy="3554631"/>
            <a:chOff x="4191000" y="3214688"/>
            <a:chExt cx="3979863" cy="3138488"/>
          </a:xfrm>
        </p:grpSpPr>
        <p:grpSp>
          <p:nvGrpSpPr>
            <p:cNvPr id="3" name="Group 23"/>
            <p:cNvGrpSpPr>
              <a:grpSpLocks/>
            </p:cNvGrpSpPr>
            <p:nvPr/>
          </p:nvGrpSpPr>
          <p:grpSpPr bwMode="auto">
            <a:xfrm>
              <a:off x="4495800" y="3214688"/>
              <a:ext cx="3675063" cy="3138488"/>
              <a:chOff x="3822" y="1977"/>
              <a:chExt cx="2315" cy="1977"/>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5449" y="3800"/>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3</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6092369" y="1973281"/>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13163240" flipV="1">
            <a:off x="5927182" y="4699985"/>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876412" cy="954107"/>
          </a:xfrm>
          <a:prstGeom prst="rect">
            <a:avLst/>
          </a:prstGeom>
          <a:noFill/>
        </p:spPr>
        <p:txBody>
          <a:bodyPr wrap="square" rtlCol="0">
            <a:spAutoFit/>
          </a:bodyPr>
          <a:lstStyle/>
          <a:p>
            <a:endParaRPr lang="en-US" dirty="0" smtClean="0"/>
          </a:p>
          <a:p>
            <a:r>
              <a:rPr lang="en-US" dirty="0" smtClean="0"/>
              <a:t>Insert 40</a:t>
            </a:r>
            <a:endParaRPr lang="en-US" dirty="0"/>
          </a:p>
        </p:txBody>
      </p:sp>
      <p:sp>
        <p:nvSpPr>
          <p:cNvPr id="33" name="TextBox 32"/>
          <p:cNvSpPr txBox="1"/>
          <p:nvPr/>
        </p:nvSpPr>
        <p:spPr>
          <a:xfrm>
            <a:off x="5410200" y="2438400"/>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5867400" y="28956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5867400" y="3426023"/>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5410200" y="38862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40" name="Slide Number Placeholder 39"/>
          <p:cNvSpPr>
            <a:spLocks noGrp="1"/>
          </p:cNvSpPr>
          <p:nvPr>
            <p:ph type="sldNum" sz="quarter" idx="12"/>
          </p:nvPr>
        </p:nvSpPr>
        <p:spPr/>
        <p:txBody>
          <a:bodyPr/>
          <a:lstStyle/>
          <a:p>
            <a:fld id="{CA8B4530-02B6-4BE1-914D-F37489CFEB04}" type="slidenum">
              <a:rPr lang="en-US" smtClean="0"/>
              <a:pPr/>
              <a:t>41</a:t>
            </a:fld>
            <a:endParaRPr lang="en-US"/>
          </a:p>
        </p:txBody>
      </p:sp>
      <p:sp>
        <p:nvSpPr>
          <p:cNvPr id="37" name="Title 36"/>
          <p:cNvSpPr>
            <a:spLocks noGrp="1"/>
          </p:cNvSpPr>
          <p:nvPr>
            <p:ph type="title"/>
          </p:nvPr>
        </p:nvSpPr>
        <p:spPr>
          <a:xfrm>
            <a:off x="1150938" y="214313"/>
            <a:ext cx="7793037" cy="1142985"/>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811878" y="1751946"/>
            <a:ext cx="3883213" cy="4011321"/>
            <a:chOff x="4191000" y="3214688"/>
            <a:chExt cx="3979863" cy="3541713"/>
          </a:xfrm>
        </p:grpSpPr>
        <p:grpSp>
          <p:nvGrpSpPr>
            <p:cNvPr id="3" name="Group 23"/>
            <p:cNvGrpSpPr>
              <a:grpSpLocks/>
            </p:cNvGrpSpPr>
            <p:nvPr/>
          </p:nvGrpSpPr>
          <p:grpSpPr bwMode="auto">
            <a:xfrm>
              <a:off x="4495800" y="3214688"/>
              <a:ext cx="3675063" cy="3541713"/>
              <a:chOff x="3822" y="1977"/>
              <a:chExt cx="2315" cy="2231"/>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924" y="4054"/>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4</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6092369" y="1973281"/>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17304401" flipV="1">
            <a:off x="4414531" y="4909946"/>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876412" cy="954107"/>
          </a:xfrm>
          <a:prstGeom prst="rect">
            <a:avLst/>
          </a:prstGeom>
          <a:noFill/>
        </p:spPr>
        <p:txBody>
          <a:bodyPr wrap="square" rtlCol="0">
            <a:spAutoFit/>
          </a:bodyPr>
          <a:lstStyle/>
          <a:p>
            <a:endParaRPr lang="en-US" dirty="0" smtClean="0"/>
          </a:p>
          <a:p>
            <a:r>
              <a:rPr lang="en-US" dirty="0" smtClean="0"/>
              <a:t>Insert 50</a:t>
            </a:r>
            <a:endParaRPr lang="en-US" dirty="0"/>
          </a:p>
        </p:txBody>
      </p:sp>
      <p:sp>
        <p:nvSpPr>
          <p:cNvPr id="33" name="TextBox 32"/>
          <p:cNvSpPr txBox="1"/>
          <p:nvPr/>
        </p:nvSpPr>
        <p:spPr>
          <a:xfrm>
            <a:off x="5410200" y="2438400"/>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5867400" y="28956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5867400" y="3426023"/>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5410200" y="38862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4800600" y="38862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41" name="Slide Number Placeholder 40"/>
          <p:cNvSpPr>
            <a:spLocks noGrp="1"/>
          </p:cNvSpPr>
          <p:nvPr>
            <p:ph type="sldNum" sz="quarter" idx="12"/>
          </p:nvPr>
        </p:nvSpPr>
        <p:spPr/>
        <p:txBody>
          <a:bodyPr/>
          <a:lstStyle/>
          <a:p>
            <a:fld id="{CA8B4530-02B6-4BE1-914D-F37489CFEB04}" type="slidenum">
              <a:rPr lang="en-US" smtClean="0"/>
              <a:pPr/>
              <a:t>42</a:t>
            </a:fld>
            <a:endParaRPr lang="en-US"/>
          </a:p>
        </p:txBody>
      </p:sp>
      <p:sp>
        <p:nvSpPr>
          <p:cNvPr id="38" name="Title 37"/>
          <p:cNvSpPr>
            <a:spLocks noGrp="1"/>
          </p:cNvSpPr>
          <p:nvPr>
            <p:ph type="title"/>
          </p:nvPr>
        </p:nvSpPr>
        <p:spPr>
          <a:xfrm>
            <a:off x="1150938" y="214313"/>
            <a:ext cx="7793037" cy="1000109"/>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513859" y="1751946"/>
            <a:ext cx="5181231" cy="3090749"/>
            <a:chOff x="2860675" y="3214688"/>
            <a:chExt cx="5310188" cy="2728913"/>
          </a:xfrm>
        </p:grpSpPr>
        <p:grpSp>
          <p:nvGrpSpPr>
            <p:cNvPr id="3" name="Group 23"/>
            <p:cNvGrpSpPr>
              <a:grpSpLocks/>
            </p:cNvGrpSpPr>
            <p:nvPr/>
          </p:nvGrpSpPr>
          <p:grpSpPr bwMode="auto">
            <a:xfrm>
              <a:off x="2860675" y="3214688"/>
              <a:ext cx="5310188" cy="2728913"/>
              <a:chOff x="2792" y="1977"/>
              <a:chExt cx="3345" cy="1719"/>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2792" y="3376"/>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5</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6092369" y="1973281"/>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20714034" flipV="1">
            <a:off x="3231269" y="3927614"/>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2019288" cy="954107"/>
          </a:xfrm>
          <a:prstGeom prst="rect">
            <a:avLst/>
          </a:prstGeom>
          <a:noFill/>
        </p:spPr>
        <p:txBody>
          <a:bodyPr wrap="square" rtlCol="0">
            <a:spAutoFit/>
          </a:bodyPr>
          <a:lstStyle/>
          <a:p>
            <a:endParaRPr lang="en-US" dirty="0" smtClean="0"/>
          </a:p>
          <a:p>
            <a:r>
              <a:rPr lang="en-US" dirty="0" smtClean="0"/>
              <a:t>Insert 60</a:t>
            </a:r>
            <a:endParaRPr lang="en-US" dirty="0"/>
          </a:p>
        </p:txBody>
      </p:sp>
      <p:sp>
        <p:nvSpPr>
          <p:cNvPr id="33" name="TextBox 32"/>
          <p:cNvSpPr txBox="1"/>
          <p:nvPr/>
        </p:nvSpPr>
        <p:spPr>
          <a:xfrm>
            <a:off x="5410200" y="2438400"/>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5867400" y="28956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5867400" y="3426023"/>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5410200" y="38862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4800600" y="38862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4343400" y="34290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42" name="Slide Number Placeholder 41"/>
          <p:cNvSpPr>
            <a:spLocks noGrp="1"/>
          </p:cNvSpPr>
          <p:nvPr>
            <p:ph type="sldNum" sz="quarter" idx="12"/>
          </p:nvPr>
        </p:nvSpPr>
        <p:spPr/>
        <p:txBody>
          <a:bodyPr/>
          <a:lstStyle/>
          <a:p>
            <a:fld id="{CA8B4530-02B6-4BE1-914D-F37489CFEB04}" type="slidenum">
              <a:rPr lang="en-US" smtClean="0"/>
              <a:pPr/>
              <a:t>43</a:t>
            </a:fld>
            <a:endParaRPr lang="en-US"/>
          </a:p>
        </p:txBody>
      </p:sp>
      <p:sp>
        <p:nvSpPr>
          <p:cNvPr id="39" name="Title 38"/>
          <p:cNvSpPr>
            <a:spLocks noGrp="1"/>
          </p:cNvSpPr>
          <p:nvPr>
            <p:ph type="title"/>
          </p:nvPr>
        </p:nvSpPr>
        <p:spPr>
          <a:xfrm>
            <a:off x="1150938" y="214313"/>
            <a:ext cx="7793037" cy="1000109"/>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513859" y="1751946"/>
            <a:ext cx="5181231" cy="3090749"/>
            <a:chOff x="2860675" y="3214688"/>
            <a:chExt cx="5310188" cy="2728913"/>
          </a:xfrm>
        </p:grpSpPr>
        <p:grpSp>
          <p:nvGrpSpPr>
            <p:cNvPr id="3" name="Group 23"/>
            <p:cNvGrpSpPr>
              <a:grpSpLocks/>
            </p:cNvGrpSpPr>
            <p:nvPr/>
          </p:nvGrpSpPr>
          <p:grpSpPr bwMode="auto">
            <a:xfrm>
              <a:off x="2860675" y="3214688"/>
              <a:ext cx="5310188" cy="2728913"/>
              <a:chOff x="2792" y="1977"/>
              <a:chExt cx="3345" cy="1719"/>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2792" y="2486"/>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6</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6092369" y="1973281"/>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1005287" flipV="1">
            <a:off x="3214667" y="2537380"/>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804974" cy="954107"/>
          </a:xfrm>
          <a:prstGeom prst="rect">
            <a:avLst/>
          </a:prstGeom>
          <a:noFill/>
        </p:spPr>
        <p:txBody>
          <a:bodyPr wrap="square" rtlCol="0">
            <a:spAutoFit/>
          </a:bodyPr>
          <a:lstStyle/>
          <a:p>
            <a:endParaRPr lang="en-US" dirty="0" smtClean="0"/>
          </a:p>
          <a:p>
            <a:r>
              <a:rPr lang="en-US" dirty="0" smtClean="0"/>
              <a:t>Insert 70</a:t>
            </a:r>
            <a:endParaRPr lang="en-US" dirty="0"/>
          </a:p>
        </p:txBody>
      </p:sp>
      <p:sp>
        <p:nvSpPr>
          <p:cNvPr id="33" name="TextBox 32"/>
          <p:cNvSpPr txBox="1"/>
          <p:nvPr/>
        </p:nvSpPr>
        <p:spPr>
          <a:xfrm>
            <a:off x="5410200" y="2438400"/>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5867400" y="28956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5867400" y="3426023"/>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5410200" y="38862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4800600" y="38862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4343400" y="342900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4343400" y="2892623"/>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3" name="Slide Number Placeholder 42"/>
          <p:cNvSpPr>
            <a:spLocks noGrp="1"/>
          </p:cNvSpPr>
          <p:nvPr>
            <p:ph type="sldNum" sz="quarter" idx="12"/>
          </p:nvPr>
        </p:nvSpPr>
        <p:spPr/>
        <p:txBody>
          <a:bodyPr/>
          <a:lstStyle/>
          <a:p>
            <a:fld id="{CA8B4530-02B6-4BE1-914D-F37489CFEB04}" type="slidenum">
              <a:rPr lang="en-US" smtClean="0"/>
              <a:pPr/>
              <a:t>44</a:t>
            </a:fld>
            <a:endParaRPr lang="en-US"/>
          </a:p>
        </p:txBody>
      </p:sp>
      <p:sp>
        <p:nvSpPr>
          <p:cNvPr id="40" name="Title 39"/>
          <p:cNvSpPr>
            <a:spLocks noGrp="1"/>
          </p:cNvSpPr>
          <p:nvPr>
            <p:ph type="title"/>
          </p:nvPr>
        </p:nvSpPr>
        <p:spPr>
          <a:xfrm>
            <a:off x="1150938" y="214313"/>
            <a:ext cx="7793037" cy="1071547"/>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143240" y="2428868"/>
            <a:ext cx="4114005" cy="3547439"/>
            <a:chOff x="3954462" y="2811463"/>
            <a:chExt cx="4216400" cy="3132138"/>
          </a:xfrm>
        </p:grpSpPr>
        <p:grpSp>
          <p:nvGrpSpPr>
            <p:cNvPr id="3" name="Group 23"/>
            <p:cNvGrpSpPr>
              <a:grpSpLocks/>
            </p:cNvGrpSpPr>
            <p:nvPr/>
          </p:nvGrpSpPr>
          <p:grpSpPr bwMode="auto">
            <a:xfrm>
              <a:off x="3954462" y="2811463"/>
              <a:ext cx="4216400" cy="3132138"/>
              <a:chOff x="3481" y="1723"/>
              <a:chExt cx="2656" cy="197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481" y="172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5568501" y="3144852"/>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3567391" y="2984597"/>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804974" cy="954107"/>
          </a:xfrm>
          <a:prstGeom prst="rect">
            <a:avLst/>
          </a:prstGeom>
          <a:noFill/>
        </p:spPr>
        <p:txBody>
          <a:bodyPr wrap="square" rtlCol="0">
            <a:spAutoFit/>
          </a:bodyPr>
          <a:lstStyle/>
          <a:p>
            <a:endParaRPr lang="en-US" dirty="0" smtClean="0"/>
          </a:p>
          <a:p>
            <a:r>
              <a:rPr lang="en-US" dirty="0" smtClean="0"/>
              <a:t>Insert 80</a:t>
            </a:r>
            <a:endParaRPr lang="en-US" dirty="0"/>
          </a:p>
        </p:txBody>
      </p:sp>
      <p:sp>
        <p:nvSpPr>
          <p:cNvPr id="33" name="TextBox 32"/>
          <p:cNvSpPr txBox="1"/>
          <p:nvPr/>
        </p:nvSpPr>
        <p:spPr>
          <a:xfrm>
            <a:off x="4929190" y="3643314"/>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5286380" y="414338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5429256" y="464344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4929190" y="5143512"/>
            <a:ext cx="428628"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4357686" y="500063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3857620" y="471488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3929058" y="407194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4357686" y="364331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4" name="Slide Number Placeholder 43"/>
          <p:cNvSpPr>
            <a:spLocks noGrp="1"/>
          </p:cNvSpPr>
          <p:nvPr>
            <p:ph type="sldNum" sz="quarter" idx="12"/>
          </p:nvPr>
        </p:nvSpPr>
        <p:spPr/>
        <p:txBody>
          <a:bodyPr/>
          <a:lstStyle/>
          <a:p>
            <a:fld id="{CA8B4530-02B6-4BE1-914D-F37489CFEB04}" type="slidenum">
              <a:rPr lang="en-US" smtClean="0"/>
              <a:pPr/>
              <a:t>45</a:t>
            </a:fld>
            <a:endParaRPr lang="en-US"/>
          </a:p>
        </p:txBody>
      </p:sp>
      <p:sp>
        <p:nvSpPr>
          <p:cNvPr id="41" name="Title 40"/>
          <p:cNvSpPr>
            <a:spLocks noGrp="1"/>
          </p:cNvSpPr>
          <p:nvPr>
            <p:ph type="title"/>
          </p:nvPr>
        </p:nvSpPr>
        <p:spPr>
          <a:xfrm>
            <a:off x="1150938" y="214313"/>
            <a:ext cx="7793037" cy="1142985"/>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4214810" y="2500306"/>
            <a:ext cx="4114005" cy="3547439"/>
            <a:chOff x="3954462" y="2811463"/>
            <a:chExt cx="4216400" cy="3132138"/>
          </a:xfrm>
        </p:grpSpPr>
        <p:grpSp>
          <p:nvGrpSpPr>
            <p:cNvPr id="3" name="Group 23"/>
            <p:cNvGrpSpPr>
              <a:grpSpLocks/>
            </p:cNvGrpSpPr>
            <p:nvPr/>
          </p:nvGrpSpPr>
          <p:grpSpPr bwMode="auto">
            <a:xfrm>
              <a:off x="3954462" y="2811463"/>
              <a:ext cx="4216400" cy="3132138"/>
              <a:chOff x="3481" y="1723"/>
              <a:chExt cx="2656" cy="197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481" y="172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6711509" y="3216290"/>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4996152" y="2841720"/>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876412" cy="954107"/>
          </a:xfrm>
          <a:prstGeom prst="rect">
            <a:avLst/>
          </a:prstGeom>
          <a:noFill/>
        </p:spPr>
        <p:txBody>
          <a:bodyPr wrap="square" rtlCol="0">
            <a:spAutoFit/>
          </a:bodyPr>
          <a:lstStyle/>
          <a:p>
            <a:endParaRPr lang="en-US" dirty="0" smtClean="0"/>
          </a:p>
          <a:p>
            <a:r>
              <a:rPr lang="en-US" dirty="0" smtClean="0"/>
              <a:t>Insert 90</a:t>
            </a:r>
            <a:endParaRPr lang="en-US" dirty="0"/>
          </a:p>
        </p:txBody>
      </p:sp>
      <p:sp>
        <p:nvSpPr>
          <p:cNvPr id="33" name="TextBox 32"/>
          <p:cNvSpPr txBox="1"/>
          <p:nvPr/>
        </p:nvSpPr>
        <p:spPr>
          <a:xfrm>
            <a:off x="5929322" y="3786190"/>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6429388" y="407194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6500826" y="464344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6072198" y="507207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5429256" y="514351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4929190" y="464344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5000628" y="407194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5357818" y="364331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1000100" y="3357562"/>
            <a:ext cx="3071834"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Front =(rear+1)%max</a:t>
            </a:r>
          </a:p>
        </p:txBody>
      </p:sp>
      <p:sp>
        <p:nvSpPr>
          <p:cNvPr id="42" name="TextBox 41"/>
          <p:cNvSpPr txBox="1"/>
          <p:nvPr/>
        </p:nvSpPr>
        <p:spPr>
          <a:xfrm>
            <a:off x="1142976" y="5029200"/>
            <a:ext cx="2438424" cy="95410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US" dirty="0" smtClean="0"/>
              <a:t>Queue Overflow</a:t>
            </a:r>
          </a:p>
        </p:txBody>
      </p:sp>
      <p:sp>
        <p:nvSpPr>
          <p:cNvPr id="46" name="Slide Number Placeholder 45"/>
          <p:cNvSpPr>
            <a:spLocks noGrp="1"/>
          </p:cNvSpPr>
          <p:nvPr>
            <p:ph type="sldNum" sz="quarter" idx="12"/>
          </p:nvPr>
        </p:nvSpPr>
        <p:spPr/>
        <p:txBody>
          <a:bodyPr/>
          <a:lstStyle/>
          <a:p>
            <a:fld id="{CA8B4530-02B6-4BE1-914D-F37489CFEB04}" type="slidenum">
              <a:rPr lang="en-US" smtClean="0"/>
              <a:pPr/>
              <a:t>46</a:t>
            </a:fld>
            <a:endParaRPr lang="en-US"/>
          </a:p>
        </p:txBody>
      </p:sp>
      <p:sp>
        <p:nvSpPr>
          <p:cNvPr id="43" name="Title 42"/>
          <p:cNvSpPr>
            <a:spLocks noGrp="1"/>
          </p:cNvSpPr>
          <p:nvPr>
            <p:ph type="title"/>
          </p:nvPr>
        </p:nvSpPr>
        <p:spPr>
          <a:xfrm>
            <a:off x="1150938" y="214313"/>
            <a:ext cx="7793037" cy="1071547"/>
          </a:xfrm>
        </p:spPr>
        <p:txBody>
          <a:bodyPr/>
          <a:lstStyle/>
          <a:p>
            <a:r>
              <a:rPr lang="en-US" dirty="0" smtClean="0"/>
              <a:t>INSERTION</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28662" y="2071678"/>
            <a:ext cx="8072494" cy="4429156"/>
          </a:xfrm>
          <a:solidFill>
            <a:schemeClr val="bg1"/>
          </a:solidFill>
          <a:effectLst>
            <a:glow rad="101600">
              <a:schemeClr val="accent1">
                <a:satMod val="175000"/>
                <a:alpha val="40000"/>
              </a:schemeClr>
            </a:glow>
            <a:outerShdw blurRad="50800" dist="2540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a:normAutofit fontScale="92500" lnSpcReduction="10000"/>
          </a:bodyPr>
          <a:lstStyle/>
          <a:p>
            <a:pPr>
              <a:buNone/>
            </a:pPr>
            <a:r>
              <a:rPr lang="en-US" sz="2400" b="1" u="sng" dirty="0" smtClean="0">
                <a:solidFill>
                  <a:schemeClr val="tx1"/>
                </a:solidFill>
              </a:rPr>
              <a:t>ALGORITHM:</a:t>
            </a:r>
            <a:r>
              <a:rPr lang="en-US" sz="2400" b="1" dirty="0" smtClean="0">
                <a:solidFill>
                  <a:schemeClr val="tx1"/>
                </a:solidFill>
              </a:rPr>
              <a:t> C_</a:t>
            </a:r>
            <a:r>
              <a:rPr lang="en-US" sz="2400" dirty="0" smtClean="0">
                <a:solidFill>
                  <a:schemeClr val="tx1"/>
                </a:solidFill>
              </a:rPr>
              <a:t>Q_DELETE(C_QUEUE,MAX,FRONT,REAR, ITEM)</a:t>
            </a:r>
          </a:p>
          <a:p>
            <a:pPr>
              <a:buNone/>
            </a:pPr>
            <a:r>
              <a:rPr lang="en-US" sz="2400" b="1" dirty="0" smtClean="0">
                <a:solidFill>
                  <a:schemeClr val="tx1"/>
                </a:solidFill>
              </a:rPr>
              <a:t>Input:  </a:t>
            </a:r>
            <a:r>
              <a:rPr lang="en-US" sz="2400" dirty="0" smtClean="0">
                <a:solidFill>
                  <a:schemeClr val="tx1"/>
                </a:solidFill>
              </a:rPr>
              <a:t>C_QUEUE is the Circular Queue with maximum size 	    MAX. FRONT and REAR are the pointer variables 	 pointing to Front end and Rear end respectively.</a:t>
            </a:r>
          </a:p>
          <a:p>
            <a:pPr>
              <a:buNone/>
            </a:pPr>
            <a:r>
              <a:rPr lang="en-US" sz="2400" b="1" dirty="0" smtClean="0">
                <a:solidFill>
                  <a:schemeClr val="tx1"/>
                </a:solidFill>
              </a:rPr>
              <a:t>Output: </a:t>
            </a:r>
            <a:r>
              <a:rPr lang="en-US" sz="2400" dirty="0" smtClean="0">
                <a:solidFill>
                  <a:schemeClr val="tx1"/>
                </a:solidFill>
              </a:rPr>
              <a:t>This algorithm deletes an element from the Circular 	  Queue C_QUEUE and stores it in the variable  ITEM.</a:t>
            </a:r>
          </a:p>
          <a:p>
            <a:pPr>
              <a:buNone/>
            </a:pPr>
            <a:endParaRPr lang="en-US" sz="2400" dirty="0" smtClean="0">
              <a:solidFill>
                <a:schemeClr val="tx1"/>
              </a:solidFill>
            </a:endParaRPr>
          </a:p>
          <a:p>
            <a:pPr>
              <a:buNone/>
            </a:pPr>
            <a:r>
              <a:rPr lang="en-US" sz="2400" b="1" dirty="0" smtClean="0">
                <a:solidFill>
                  <a:schemeClr val="tx1"/>
                </a:solidFill>
              </a:rPr>
              <a:t>Step 1: </a:t>
            </a:r>
            <a:r>
              <a:rPr lang="en-US" sz="2400" dirty="0" smtClean="0">
                <a:solidFill>
                  <a:schemeClr val="tx1"/>
                </a:solidFill>
              </a:rPr>
              <a:t>If FRONT=-1 and REAR=-1,  then</a:t>
            </a:r>
          </a:p>
          <a:p>
            <a:pPr>
              <a:buNone/>
            </a:pPr>
            <a:r>
              <a:rPr lang="en-US" sz="2400" dirty="0" smtClean="0">
                <a:solidFill>
                  <a:schemeClr val="tx1"/>
                </a:solidFill>
              </a:rPr>
              <a:t>			Print “Circular Queue Underflow” and Exit.</a:t>
            </a:r>
          </a:p>
          <a:p>
            <a:pPr>
              <a:buNone/>
            </a:pPr>
            <a:r>
              <a:rPr lang="en-US" sz="2400" b="1" dirty="0" smtClean="0">
                <a:solidFill>
                  <a:schemeClr val="tx1"/>
                </a:solidFill>
              </a:rPr>
              <a:t>Step 2: </a:t>
            </a:r>
            <a:r>
              <a:rPr lang="en-US" sz="2400" dirty="0" smtClean="0">
                <a:solidFill>
                  <a:schemeClr val="tx1"/>
                </a:solidFill>
              </a:rPr>
              <a:t>[Delete an element from the Queue]</a:t>
            </a:r>
          </a:p>
          <a:p>
            <a:pPr>
              <a:buNone/>
            </a:pPr>
            <a:r>
              <a:rPr lang="en-US" sz="2400" dirty="0" smtClean="0">
                <a:solidFill>
                  <a:schemeClr val="tx1"/>
                </a:solidFill>
              </a:rPr>
              <a:t>		Set ITEM=C_QUEUE[FRONT]</a:t>
            </a:r>
          </a:p>
          <a:p>
            <a:endParaRPr lang="en-US" dirty="0"/>
          </a:p>
        </p:txBody>
      </p:sp>
      <p:sp>
        <p:nvSpPr>
          <p:cNvPr id="7" name="Slide Number Placeholder 6"/>
          <p:cNvSpPr>
            <a:spLocks noGrp="1"/>
          </p:cNvSpPr>
          <p:nvPr>
            <p:ph type="sldNum" sz="quarter" idx="12"/>
          </p:nvPr>
        </p:nvSpPr>
        <p:spPr/>
        <p:txBody>
          <a:bodyPr/>
          <a:lstStyle/>
          <a:p>
            <a:fld id="{CA8B4530-02B6-4BE1-914D-F37489CFEB04}" type="slidenum">
              <a:rPr lang="en-US" smtClean="0"/>
              <a:pPr/>
              <a:t>47</a:t>
            </a:fld>
            <a:endParaRPr lang="en-US"/>
          </a:p>
        </p:txBody>
      </p:sp>
      <p:sp>
        <p:nvSpPr>
          <p:cNvPr id="5" name="Title 4"/>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85786" y="2214554"/>
            <a:ext cx="8072494" cy="4000528"/>
          </a:xfrm>
          <a:solidFill>
            <a:schemeClr val="bg1"/>
          </a:solidFill>
          <a:effectLst>
            <a:glow rad="101600">
              <a:schemeClr val="accent1">
                <a:satMod val="175000"/>
                <a:alpha val="40000"/>
              </a:schemeClr>
            </a:glow>
            <a:outerShdw blurRad="50800" dist="2540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a:normAutofit/>
          </a:bodyPr>
          <a:lstStyle/>
          <a:p>
            <a:pPr>
              <a:buNone/>
            </a:pPr>
            <a:r>
              <a:rPr lang="en-US" sz="2400" dirty="0" smtClean="0">
                <a:solidFill>
                  <a:schemeClr val="tx1"/>
                </a:solidFill>
              </a:rPr>
              <a:t>Step 3: If FRONT= REAR , then</a:t>
            </a:r>
          </a:p>
          <a:p>
            <a:pPr>
              <a:buNone/>
            </a:pPr>
            <a:r>
              <a:rPr lang="en-US" sz="2400" dirty="0" smtClean="0">
                <a:solidFill>
                  <a:schemeClr val="tx1"/>
                </a:solidFill>
              </a:rPr>
              <a:t>			Set FRONT=-1 and REAR=-1</a:t>
            </a:r>
          </a:p>
          <a:p>
            <a:pPr>
              <a:buNone/>
            </a:pPr>
            <a:r>
              <a:rPr lang="en-US" sz="2400" dirty="0" smtClean="0">
                <a:solidFill>
                  <a:schemeClr val="tx1"/>
                </a:solidFill>
              </a:rPr>
              <a:t>		Else</a:t>
            </a:r>
          </a:p>
          <a:p>
            <a:pPr>
              <a:buNone/>
            </a:pPr>
            <a:r>
              <a:rPr lang="en-US" sz="2400" dirty="0" smtClean="0">
                <a:solidFill>
                  <a:schemeClr val="tx1"/>
                </a:solidFill>
              </a:rPr>
              <a:t>			Set FRONT=(FRONT+1)%MAX</a:t>
            </a:r>
          </a:p>
          <a:p>
            <a:pPr>
              <a:buNone/>
            </a:pPr>
            <a:r>
              <a:rPr lang="en-US" sz="2400" dirty="0" smtClean="0">
                <a:solidFill>
                  <a:schemeClr val="tx1"/>
                </a:solidFill>
              </a:rPr>
              <a:t>Step 4: Exit</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CA8B4530-02B6-4BE1-914D-F37489CFEB04}" type="slidenum">
              <a:rPr lang="en-US" smtClean="0"/>
              <a:pPr/>
              <a:t>48</a:t>
            </a:fld>
            <a:endParaRPr lang="en-US"/>
          </a:p>
        </p:txBody>
      </p:sp>
      <p:sp>
        <p:nvSpPr>
          <p:cNvPr id="5" name="Title 4"/>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214546" y="2357430"/>
            <a:ext cx="4114005" cy="3547439"/>
            <a:chOff x="3954462" y="2811463"/>
            <a:chExt cx="4216400" cy="3132138"/>
          </a:xfrm>
        </p:grpSpPr>
        <p:grpSp>
          <p:nvGrpSpPr>
            <p:cNvPr id="3" name="Group 23"/>
            <p:cNvGrpSpPr>
              <a:grpSpLocks/>
            </p:cNvGrpSpPr>
            <p:nvPr/>
          </p:nvGrpSpPr>
          <p:grpSpPr bwMode="auto">
            <a:xfrm>
              <a:off x="3954462" y="2811463"/>
              <a:ext cx="4216400" cy="3132138"/>
              <a:chOff x="3481" y="1723"/>
              <a:chExt cx="2656" cy="197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547" y="1977"/>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481" y="172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4568368" y="3073415"/>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2567260" y="2841721"/>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3" name="TextBox 32"/>
          <p:cNvSpPr txBox="1"/>
          <p:nvPr/>
        </p:nvSpPr>
        <p:spPr>
          <a:xfrm>
            <a:off x="4071934" y="3500438"/>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4500562" y="392906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4500562" y="450057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4071934" y="500063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3500430" y="492919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3000364" y="450057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2928926" y="400050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3357554" y="350043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4" name="Slide Number Placeholder 43"/>
          <p:cNvSpPr>
            <a:spLocks noGrp="1"/>
          </p:cNvSpPr>
          <p:nvPr>
            <p:ph type="sldNum" sz="quarter" idx="12"/>
          </p:nvPr>
        </p:nvSpPr>
        <p:spPr/>
        <p:txBody>
          <a:bodyPr/>
          <a:lstStyle/>
          <a:p>
            <a:fld id="{CA8B4530-02B6-4BE1-914D-F37489CFEB04}" type="slidenum">
              <a:rPr lang="en-US" smtClean="0"/>
              <a:pPr/>
              <a:t>49</a:t>
            </a:fld>
            <a:endParaRPr lang="en-US"/>
          </a:p>
        </p:txBody>
      </p:sp>
      <p:sp>
        <p:nvSpPr>
          <p:cNvPr id="41" name="Title 40"/>
          <p:cNvSpPr>
            <a:spLocks noGrp="1"/>
          </p:cNvSpPr>
          <p:nvPr>
            <p:ph type="title"/>
          </p:nvPr>
        </p:nvSpPr>
        <p:spPr>
          <a:xfrm>
            <a:off x="1357290" y="214313"/>
            <a:ext cx="7586685" cy="1428737"/>
          </a:xfrm>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643307" y="2071678"/>
            <a:ext cx="3842940" cy="3357586"/>
            <a:chOff x="3954463" y="2811463"/>
            <a:chExt cx="3938588" cy="3132138"/>
          </a:xfrm>
        </p:grpSpPr>
        <p:grpSp>
          <p:nvGrpSpPr>
            <p:cNvPr id="3" name="Group 23"/>
            <p:cNvGrpSpPr>
              <a:grpSpLocks/>
            </p:cNvGrpSpPr>
            <p:nvPr/>
          </p:nvGrpSpPr>
          <p:grpSpPr bwMode="auto">
            <a:xfrm>
              <a:off x="3954463" y="2811463"/>
              <a:ext cx="3938588" cy="3132138"/>
              <a:chOff x="3481" y="1723"/>
              <a:chExt cx="2481" cy="197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372" y="1765"/>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0</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481" y="172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8964981" flipV="1">
            <a:off x="6068567" y="2644786"/>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4424648" y="2413093"/>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876412" cy="954107"/>
          </a:xfrm>
          <a:prstGeom prst="rect">
            <a:avLst/>
          </a:prstGeom>
          <a:noFill/>
        </p:spPr>
        <p:txBody>
          <a:bodyPr wrap="square" rtlCol="0">
            <a:spAutoFit/>
          </a:bodyPr>
          <a:lstStyle/>
          <a:p>
            <a:endParaRPr lang="en-US" dirty="0" smtClean="0"/>
          </a:p>
          <a:p>
            <a:r>
              <a:rPr lang="en-US" dirty="0" smtClean="0"/>
              <a:t>Delete</a:t>
            </a:r>
            <a:endParaRPr lang="en-US" dirty="0"/>
          </a:p>
        </p:txBody>
      </p:sp>
      <p:sp>
        <p:nvSpPr>
          <p:cNvPr id="33" name="TextBox 32"/>
          <p:cNvSpPr txBox="1"/>
          <p:nvPr/>
        </p:nvSpPr>
        <p:spPr>
          <a:xfrm>
            <a:off x="5357818" y="3000372"/>
            <a:ext cx="381000" cy="30777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400" dirty="0" smtClean="0"/>
              <a:t>10</a:t>
            </a:r>
            <a:endParaRPr lang="en-US" sz="1400" dirty="0"/>
          </a:p>
        </p:txBody>
      </p:sp>
      <p:sp>
        <p:nvSpPr>
          <p:cNvPr id="34" name="TextBox 33"/>
          <p:cNvSpPr txBox="1"/>
          <p:nvPr/>
        </p:nvSpPr>
        <p:spPr>
          <a:xfrm>
            <a:off x="5857884" y="350043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5929322" y="407194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5429256" y="457200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4929190" y="457200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4357686" y="407194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4357686" y="350043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4857752" y="314324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571472" y="5072074"/>
            <a:ext cx="3929090"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 =10</a:t>
            </a:r>
          </a:p>
        </p:txBody>
      </p:sp>
      <p:sp>
        <p:nvSpPr>
          <p:cNvPr id="45" name="Slide Number Placeholder 44"/>
          <p:cNvSpPr>
            <a:spLocks noGrp="1"/>
          </p:cNvSpPr>
          <p:nvPr>
            <p:ph type="sldNum" sz="quarter" idx="12"/>
          </p:nvPr>
        </p:nvSpPr>
        <p:spPr/>
        <p:txBody>
          <a:bodyPr/>
          <a:lstStyle/>
          <a:p>
            <a:fld id="{CA8B4530-02B6-4BE1-914D-F37489CFEB04}" type="slidenum">
              <a:rPr lang="en-US" smtClean="0"/>
              <a:pPr/>
              <a:t>50</a:t>
            </a:fld>
            <a:endParaRPr lang="en-US"/>
          </a:p>
        </p:txBody>
      </p:sp>
      <p:sp>
        <p:nvSpPr>
          <p:cNvPr id="42" name="Title 41"/>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659651" y="2356949"/>
            <a:ext cx="4183709" cy="3619359"/>
            <a:chOff x="4191000" y="2747963"/>
            <a:chExt cx="4287839" cy="3195638"/>
          </a:xfrm>
        </p:grpSpPr>
        <p:grpSp>
          <p:nvGrpSpPr>
            <p:cNvPr id="3" name="Group 23"/>
            <p:cNvGrpSpPr>
              <a:grpSpLocks/>
            </p:cNvGrpSpPr>
            <p:nvPr/>
          </p:nvGrpSpPr>
          <p:grpSpPr bwMode="auto">
            <a:xfrm>
              <a:off x="4321176" y="2747963"/>
              <a:ext cx="4157663" cy="3195638"/>
              <a:chOff x="3712" y="1683"/>
              <a:chExt cx="2619" cy="201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741" y="2398"/>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1</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712" y="168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9669957" flipV="1">
            <a:off x="5366098" y="4094822"/>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3210202" y="2913159"/>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2954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4" name="TextBox 33"/>
          <p:cNvSpPr txBox="1"/>
          <p:nvPr/>
        </p:nvSpPr>
        <p:spPr>
          <a:xfrm>
            <a:off x="4714876" y="400050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20</a:t>
            </a:r>
            <a:endParaRPr lang="en-US" sz="1400" dirty="0"/>
          </a:p>
        </p:txBody>
      </p:sp>
      <p:sp>
        <p:nvSpPr>
          <p:cNvPr id="35" name="TextBox 34"/>
          <p:cNvSpPr txBox="1"/>
          <p:nvPr/>
        </p:nvSpPr>
        <p:spPr>
          <a:xfrm>
            <a:off x="4714876" y="457200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4286248" y="500063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3643306" y="507207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3286116" y="457200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3214678" y="400050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3643306" y="357187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285720" y="6143644"/>
            <a:ext cx="4286280"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 =20</a:t>
            </a:r>
          </a:p>
        </p:txBody>
      </p:sp>
      <p:sp>
        <p:nvSpPr>
          <p:cNvPr id="45" name="Slide Number Placeholder 44"/>
          <p:cNvSpPr>
            <a:spLocks noGrp="1"/>
          </p:cNvSpPr>
          <p:nvPr>
            <p:ph type="sldNum" sz="quarter" idx="12"/>
          </p:nvPr>
        </p:nvSpPr>
        <p:spPr/>
        <p:txBody>
          <a:bodyPr/>
          <a:lstStyle/>
          <a:p>
            <a:fld id="{CA8B4530-02B6-4BE1-914D-F37489CFEB04}" type="slidenum">
              <a:rPr lang="en-US" smtClean="0"/>
              <a:pPr/>
              <a:t>51</a:t>
            </a:fld>
            <a:endParaRPr lang="en-US"/>
          </a:p>
        </p:txBody>
      </p:sp>
      <p:sp>
        <p:nvSpPr>
          <p:cNvPr id="42" name="Title 41"/>
          <p:cNvSpPr>
            <a:spLocks noGrp="1"/>
          </p:cNvSpPr>
          <p:nvPr>
            <p:ph type="title"/>
          </p:nvPr>
        </p:nvSpPr>
        <p:spPr>
          <a:xfrm>
            <a:off x="1150938" y="214313"/>
            <a:ext cx="7793037" cy="1285861"/>
          </a:xfrm>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731089" y="2072513"/>
            <a:ext cx="4326212" cy="3689481"/>
            <a:chOff x="4191000" y="2686051"/>
            <a:chExt cx="4433889" cy="3257551"/>
          </a:xfrm>
        </p:grpSpPr>
        <p:grpSp>
          <p:nvGrpSpPr>
            <p:cNvPr id="3" name="Group 23"/>
            <p:cNvGrpSpPr>
              <a:grpSpLocks/>
            </p:cNvGrpSpPr>
            <p:nvPr/>
          </p:nvGrpSpPr>
          <p:grpSpPr bwMode="auto">
            <a:xfrm>
              <a:off x="4394201" y="2686051"/>
              <a:ext cx="4230688" cy="3257551"/>
              <a:chOff x="3758" y="1644"/>
              <a:chExt cx="2665" cy="2052"/>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833" y="3233"/>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2</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758" y="1644"/>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dirty="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12016537" flipV="1">
            <a:off x="5508213" y="4887225"/>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3281640" y="2627406"/>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2954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5" name="TextBox 34"/>
          <p:cNvSpPr txBox="1"/>
          <p:nvPr/>
        </p:nvSpPr>
        <p:spPr>
          <a:xfrm>
            <a:off x="4786314" y="435769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30</a:t>
            </a:r>
            <a:endParaRPr lang="en-US" sz="1400" dirty="0"/>
          </a:p>
        </p:txBody>
      </p:sp>
      <p:sp>
        <p:nvSpPr>
          <p:cNvPr id="36" name="TextBox 35"/>
          <p:cNvSpPr txBox="1"/>
          <p:nvPr/>
        </p:nvSpPr>
        <p:spPr>
          <a:xfrm>
            <a:off x="4357686" y="478632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3714744" y="478632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3286116" y="435769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3286116" y="385762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3714744" y="335756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214282" y="6215082"/>
            <a:ext cx="4371988"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 =30</a:t>
            </a:r>
          </a:p>
        </p:txBody>
      </p:sp>
      <p:sp>
        <p:nvSpPr>
          <p:cNvPr id="45" name="Slide Number Placeholder 44"/>
          <p:cNvSpPr>
            <a:spLocks noGrp="1"/>
          </p:cNvSpPr>
          <p:nvPr>
            <p:ph type="sldNum" sz="quarter" idx="12"/>
          </p:nvPr>
        </p:nvSpPr>
        <p:spPr/>
        <p:txBody>
          <a:bodyPr/>
          <a:lstStyle/>
          <a:p>
            <a:fld id="{CA8B4530-02B6-4BE1-914D-F37489CFEB04}" type="slidenum">
              <a:rPr lang="en-US" smtClean="0"/>
              <a:pPr/>
              <a:t>52</a:t>
            </a:fld>
            <a:endParaRPr lang="en-US"/>
          </a:p>
        </p:txBody>
      </p:sp>
      <p:sp>
        <p:nvSpPr>
          <p:cNvPr id="42" name="Title 41"/>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945404" y="1785444"/>
            <a:ext cx="3655517" cy="4158757"/>
            <a:chOff x="4191000" y="2747963"/>
            <a:chExt cx="3746501" cy="3671888"/>
          </a:xfrm>
        </p:grpSpPr>
        <p:grpSp>
          <p:nvGrpSpPr>
            <p:cNvPr id="3" name="Group 23"/>
            <p:cNvGrpSpPr>
              <a:grpSpLocks/>
            </p:cNvGrpSpPr>
            <p:nvPr/>
          </p:nvGrpSpPr>
          <p:grpSpPr bwMode="auto">
            <a:xfrm>
              <a:off x="4246563" y="2747963"/>
              <a:ext cx="3690938" cy="3671888"/>
              <a:chOff x="3665" y="1683"/>
              <a:chExt cx="2325" cy="231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400" y="3842"/>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3</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665" y="168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13862151" flipV="1">
            <a:off x="5232497" y="5352223"/>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3567391" y="2270216"/>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2954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6" name="TextBox 35"/>
          <p:cNvSpPr txBox="1"/>
          <p:nvPr/>
        </p:nvSpPr>
        <p:spPr>
          <a:xfrm>
            <a:off x="4572000" y="450057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40</a:t>
            </a:r>
            <a:endParaRPr lang="en-US" sz="1400" dirty="0"/>
          </a:p>
        </p:txBody>
      </p:sp>
      <p:sp>
        <p:nvSpPr>
          <p:cNvPr id="37" name="TextBox 36"/>
          <p:cNvSpPr txBox="1"/>
          <p:nvPr/>
        </p:nvSpPr>
        <p:spPr>
          <a:xfrm>
            <a:off x="4000496" y="4500570"/>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3500430" y="400050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3428992" y="350043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3857620" y="300037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357158" y="6143644"/>
            <a:ext cx="4143404"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 =40</a:t>
            </a:r>
          </a:p>
        </p:txBody>
      </p:sp>
      <p:sp>
        <p:nvSpPr>
          <p:cNvPr id="45" name="Slide Number Placeholder 44"/>
          <p:cNvSpPr>
            <a:spLocks noGrp="1"/>
          </p:cNvSpPr>
          <p:nvPr>
            <p:ph type="sldNum" sz="quarter" idx="12"/>
          </p:nvPr>
        </p:nvSpPr>
        <p:spPr/>
        <p:txBody>
          <a:bodyPr/>
          <a:lstStyle/>
          <a:p>
            <a:fld id="{CA8B4530-02B6-4BE1-914D-F37489CFEB04}" type="slidenum">
              <a:rPr lang="en-US" smtClean="0"/>
              <a:pPr/>
              <a:t>53</a:t>
            </a:fld>
            <a:endParaRPr lang="en-US"/>
          </a:p>
        </p:txBody>
      </p:sp>
      <p:sp>
        <p:nvSpPr>
          <p:cNvPr id="42" name="Title 41"/>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929113" y="2071678"/>
            <a:ext cx="3424723" cy="3919623"/>
            <a:chOff x="3881438" y="2811463"/>
            <a:chExt cx="3509962" cy="3460750"/>
          </a:xfrm>
        </p:grpSpPr>
        <p:grpSp>
          <p:nvGrpSpPr>
            <p:cNvPr id="3" name="Group 23"/>
            <p:cNvGrpSpPr>
              <a:grpSpLocks/>
            </p:cNvGrpSpPr>
            <p:nvPr/>
          </p:nvGrpSpPr>
          <p:grpSpPr bwMode="auto">
            <a:xfrm>
              <a:off x="3881438" y="2811463"/>
              <a:ext cx="3027363" cy="3460750"/>
              <a:chOff x="3435" y="1723"/>
              <a:chExt cx="1907" cy="2180"/>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3435" y="3749"/>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4</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481" y="172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17682676" flipV="1">
            <a:off x="3606586" y="5376055"/>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3781706" y="2484531"/>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295400" cy="1384995"/>
          </a:xfrm>
          <a:prstGeom prst="rect">
            <a:avLst/>
          </a:prstGeom>
          <a:noFill/>
        </p:spPr>
        <p:txBody>
          <a:bodyPr wrap="square" rtlCol="0">
            <a:spAutoFit/>
          </a:bodyPr>
          <a:lstStyle/>
          <a:p>
            <a:endParaRPr lang="en-US" dirty="0" smtClean="0"/>
          </a:p>
          <a:p>
            <a:endParaRPr lang="en-US" dirty="0" smtClean="0"/>
          </a:p>
          <a:p>
            <a:r>
              <a:rPr lang="en-US" dirty="0" smtClean="0"/>
              <a:t>Delete</a:t>
            </a:r>
            <a:endParaRPr lang="en-US" dirty="0"/>
          </a:p>
        </p:txBody>
      </p:sp>
      <p:sp>
        <p:nvSpPr>
          <p:cNvPr id="37" name="TextBox 36"/>
          <p:cNvSpPr txBox="1"/>
          <p:nvPr/>
        </p:nvSpPr>
        <p:spPr>
          <a:xfrm>
            <a:off x="4214810" y="471488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50</a:t>
            </a:r>
            <a:endParaRPr lang="en-US" sz="1400" dirty="0"/>
          </a:p>
        </p:txBody>
      </p:sp>
      <p:sp>
        <p:nvSpPr>
          <p:cNvPr id="38" name="TextBox 37"/>
          <p:cNvSpPr txBox="1"/>
          <p:nvPr/>
        </p:nvSpPr>
        <p:spPr>
          <a:xfrm>
            <a:off x="3786182" y="421481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3857620" y="364331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4214810" y="321468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357158" y="6072206"/>
            <a:ext cx="3729046"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 =50</a:t>
            </a:r>
          </a:p>
        </p:txBody>
      </p:sp>
      <p:sp>
        <p:nvSpPr>
          <p:cNvPr id="43" name="Slide Number Placeholder 42"/>
          <p:cNvSpPr>
            <a:spLocks noGrp="1"/>
          </p:cNvSpPr>
          <p:nvPr>
            <p:ph type="sldNum" sz="quarter" idx="12"/>
          </p:nvPr>
        </p:nvSpPr>
        <p:spPr/>
        <p:txBody>
          <a:bodyPr/>
          <a:lstStyle/>
          <a:p>
            <a:fld id="{CA8B4530-02B6-4BE1-914D-F37489CFEB04}" type="slidenum">
              <a:rPr lang="en-US" smtClean="0"/>
              <a:pPr/>
              <a:t>54</a:t>
            </a:fld>
            <a:endParaRPr lang="en-US"/>
          </a:p>
        </p:txBody>
      </p:sp>
      <p:sp>
        <p:nvSpPr>
          <p:cNvPr id="42" name="Title 41"/>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285927" y="1857364"/>
            <a:ext cx="4533768" cy="3547439"/>
            <a:chOff x="2744789" y="2811463"/>
            <a:chExt cx="4646611" cy="3132138"/>
          </a:xfrm>
        </p:grpSpPr>
        <p:grpSp>
          <p:nvGrpSpPr>
            <p:cNvPr id="3" name="Group 23"/>
            <p:cNvGrpSpPr>
              <a:grpSpLocks/>
            </p:cNvGrpSpPr>
            <p:nvPr/>
          </p:nvGrpSpPr>
          <p:grpSpPr bwMode="auto">
            <a:xfrm>
              <a:off x="2744789" y="2811463"/>
              <a:ext cx="4164014" cy="3132138"/>
              <a:chOff x="2719" y="1723"/>
              <a:chExt cx="2623" cy="197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2719" y="3233"/>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5</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481" y="172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20686029" flipV="1">
            <a:off x="3295428" y="4435102"/>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4281772" y="2270217"/>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295400" cy="954107"/>
          </a:xfrm>
          <a:prstGeom prst="rect">
            <a:avLst/>
          </a:prstGeom>
          <a:noFill/>
        </p:spPr>
        <p:txBody>
          <a:bodyPr wrap="square" rtlCol="0">
            <a:spAutoFit/>
          </a:bodyPr>
          <a:lstStyle/>
          <a:p>
            <a:endParaRPr lang="en-US" dirty="0" smtClean="0"/>
          </a:p>
          <a:p>
            <a:r>
              <a:rPr lang="en-US" dirty="0" smtClean="0"/>
              <a:t>Delete</a:t>
            </a:r>
            <a:endParaRPr lang="en-US" dirty="0"/>
          </a:p>
        </p:txBody>
      </p:sp>
      <p:sp>
        <p:nvSpPr>
          <p:cNvPr id="38" name="TextBox 37"/>
          <p:cNvSpPr txBox="1"/>
          <p:nvPr/>
        </p:nvSpPr>
        <p:spPr>
          <a:xfrm>
            <a:off x="4214810" y="400050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60</a:t>
            </a:r>
            <a:endParaRPr lang="en-US" sz="1400" dirty="0"/>
          </a:p>
        </p:txBody>
      </p:sp>
      <p:sp>
        <p:nvSpPr>
          <p:cNvPr id="39" name="TextBox 38"/>
          <p:cNvSpPr txBox="1"/>
          <p:nvPr/>
        </p:nvSpPr>
        <p:spPr>
          <a:xfrm>
            <a:off x="4214810" y="3357562"/>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4643438" y="2928934"/>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357158" y="6072206"/>
            <a:ext cx="4000528"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 =60</a:t>
            </a:r>
          </a:p>
        </p:txBody>
      </p:sp>
      <p:sp>
        <p:nvSpPr>
          <p:cNvPr id="37" name="Slide Number Placeholder 36"/>
          <p:cNvSpPr>
            <a:spLocks noGrp="1"/>
          </p:cNvSpPr>
          <p:nvPr>
            <p:ph type="sldNum" sz="quarter" idx="12"/>
          </p:nvPr>
        </p:nvSpPr>
        <p:spPr/>
        <p:txBody>
          <a:bodyPr/>
          <a:lstStyle/>
          <a:p>
            <a:fld id="{CA8B4530-02B6-4BE1-914D-F37489CFEB04}" type="slidenum">
              <a:rPr lang="en-US" smtClean="0"/>
              <a:pPr/>
              <a:t>55</a:t>
            </a:fld>
            <a:endParaRPr lang="en-US"/>
          </a:p>
        </p:txBody>
      </p:sp>
      <p:sp>
        <p:nvSpPr>
          <p:cNvPr id="36" name="Title 35"/>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2214546" y="2357430"/>
            <a:ext cx="4343248" cy="3547439"/>
            <a:chOff x="2940051" y="2811463"/>
            <a:chExt cx="4451349" cy="3132138"/>
          </a:xfrm>
        </p:grpSpPr>
        <p:grpSp>
          <p:nvGrpSpPr>
            <p:cNvPr id="3" name="Group 23"/>
            <p:cNvGrpSpPr>
              <a:grpSpLocks/>
            </p:cNvGrpSpPr>
            <p:nvPr/>
          </p:nvGrpSpPr>
          <p:grpSpPr bwMode="auto">
            <a:xfrm>
              <a:off x="2940051" y="2811463"/>
              <a:ext cx="3968751" cy="3132138"/>
              <a:chOff x="2842" y="1723"/>
              <a:chExt cx="2500" cy="1973"/>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2842" y="2316"/>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6</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481" y="1723"/>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1197438" flipV="1">
            <a:off x="3079506" y="3957087"/>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4067458" y="2770282"/>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295400" cy="954107"/>
          </a:xfrm>
          <a:prstGeom prst="rect">
            <a:avLst/>
          </a:prstGeom>
          <a:noFill/>
        </p:spPr>
        <p:txBody>
          <a:bodyPr wrap="square" rtlCol="0">
            <a:spAutoFit/>
          </a:bodyPr>
          <a:lstStyle/>
          <a:p>
            <a:endParaRPr lang="en-US" dirty="0" smtClean="0"/>
          </a:p>
          <a:p>
            <a:r>
              <a:rPr lang="en-US" dirty="0" smtClean="0"/>
              <a:t>Delete</a:t>
            </a:r>
            <a:endParaRPr lang="en-US" dirty="0"/>
          </a:p>
        </p:txBody>
      </p:sp>
      <p:sp>
        <p:nvSpPr>
          <p:cNvPr id="39" name="TextBox 38"/>
          <p:cNvSpPr txBox="1"/>
          <p:nvPr/>
        </p:nvSpPr>
        <p:spPr>
          <a:xfrm>
            <a:off x="3929058" y="3929066"/>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70</a:t>
            </a:r>
            <a:endParaRPr lang="en-US" sz="1400" dirty="0"/>
          </a:p>
        </p:txBody>
      </p:sp>
      <p:sp>
        <p:nvSpPr>
          <p:cNvPr id="40" name="TextBox 39"/>
          <p:cNvSpPr txBox="1"/>
          <p:nvPr/>
        </p:nvSpPr>
        <p:spPr>
          <a:xfrm>
            <a:off x="4429124" y="350043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285720" y="6143644"/>
            <a:ext cx="3857652"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 =70</a:t>
            </a:r>
          </a:p>
        </p:txBody>
      </p:sp>
      <p:sp>
        <p:nvSpPr>
          <p:cNvPr id="36" name="Slide Number Placeholder 35"/>
          <p:cNvSpPr>
            <a:spLocks noGrp="1"/>
          </p:cNvSpPr>
          <p:nvPr>
            <p:ph type="sldNum" sz="quarter" idx="12"/>
          </p:nvPr>
        </p:nvSpPr>
        <p:spPr/>
        <p:txBody>
          <a:bodyPr/>
          <a:lstStyle/>
          <a:p>
            <a:fld id="{CA8B4530-02B6-4BE1-914D-F37489CFEB04}" type="slidenum">
              <a:rPr lang="en-US" smtClean="0"/>
              <a:pPr/>
              <a:t>56</a:t>
            </a:fld>
            <a:endParaRPr lang="en-US"/>
          </a:p>
        </p:txBody>
      </p:sp>
      <p:sp>
        <p:nvSpPr>
          <p:cNvPr id="35" name="Title 34"/>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213933" y="1858199"/>
            <a:ext cx="3525404" cy="3689481"/>
            <a:chOff x="3778251" y="2686051"/>
            <a:chExt cx="3613149" cy="3257551"/>
          </a:xfrm>
        </p:grpSpPr>
        <p:grpSp>
          <p:nvGrpSpPr>
            <p:cNvPr id="3" name="Group 23"/>
            <p:cNvGrpSpPr>
              <a:grpSpLocks/>
            </p:cNvGrpSpPr>
            <p:nvPr/>
          </p:nvGrpSpPr>
          <p:grpSpPr bwMode="auto">
            <a:xfrm>
              <a:off x="3778251" y="2686051"/>
              <a:ext cx="3130551" cy="3257551"/>
              <a:chOff x="3370" y="1644"/>
              <a:chExt cx="1972" cy="2052"/>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3370" y="1882"/>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7</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3924" y="1644"/>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a:t>
                </a:r>
                <a:r>
                  <a:rPr lang="en-US" sz="1200" b="1" dirty="0" smtClean="0"/>
                  <a:t>7</a:t>
                </a:r>
                <a:endParaRPr lang="en-US" sz="1200" b="1" dirty="0"/>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2700453" flipV="1">
            <a:off x="3750768" y="2836411"/>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4287527" flipV="1">
            <a:off x="4281771" y="2484531"/>
            <a:ext cx="716864" cy="20483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838200" y="1600200"/>
            <a:ext cx="1295400" cy="954107"/>
          </a:xfrm>
          <a:prstGeom prst="rect">
            <a:avLst/>
          </a:prstGeom>
          <a:noFill/>
        </p:spPr>
        <p:txBody>
          <a:bodyPr wrap="square" rtlCol="0">
            <a:spAutoFit/>
          </a:bodyPr>
          <a:lstStyle/>
          <a:p>
            <a:endParaRPr lang="en-US" dirty="0" smtClean="0"/>
          </a:p>
          <a:p>
            <a:r>
              <a:rPr lang="en-US" dirty="0" smtClean="0"/>
              <a:t>Delete</a:t>
            </a:r>
            <a:endParaRPr lang="en-US" dirty="0"/>
          </a:p>
        </p:txBody>
      </p:sp>
      <p:sp>
        <p:nvSpPr>
          <p:cNvPr id="40" name="TextBox 39"/>
          <p:cNvSpPr txBox="1"/>
          <p:nvPr/>
        </p:nvSpPr>
        <p:spPr>
          <a:xfrm>
            <a:off x="4643438" y="3143248"/>
            <a:ext cx="381000" cy="30777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sz="1400" dirty="0" smtClean="0"/>
              <a:t>80</a:t>
            </a:r>
            <a:endParaRPr lang="en-US" sz="1400" dirty="0"/>
          </a:p>
        </p:txBody>
      </p:sp>
      <p:sp>
        <p:nvSpPr>
          <p:cNvPr id="41" name="TextBox 40"/>
          <p:cNvSpPr txBox="1"/>
          <p:nvPr/>
        </p:nvSpPr>
        <p:spPr>
          <a:xfrm>
            <a:off x="357158" y="6072206"/>
            <a:ext cx="4071966" cy="52322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dirty="0" smtClean="0"/>
              <a:t>Deleted Element =80</a:t>
            </a:r>
          </a:p>
        </p:txBody>
      </p:sp>
      <p:sp>
        <p:nvSpPr>
          <p:cNvPr id="36" name="Slide Number Placeholder 35"/>
          <p:cNvSpPr>
            <a:spLocks noGrp="1"/>
          </p:cNvSpPr>
          <p:nvPr>
            <p:ph type="sldNum" sz="quarter" idx="12"/>
          </p:nvPr>
        </p:nvSpPr>
        <p:spPr/>
        <p:txBody>
          <a:bodyPr/>
          <a:lstStyle/>
          <a:p>
            <a:fld id="{CA8B4530-02B6-4BE1-914D-F37489CFEB04}" type="slidenum">
              <a:rPr lang="en-US" smtClean="0"/>
              <a:pPr/>
              <a:t>57</a:t>
            </a:fld>
            <a:endParaRPr lang="en-US"/>
          </a:p>
        </p:txBody>
      </p:sp>
      <p:sp>
        <p:nvSpPr>
          <p:cNvPr id="33" name="Title 32"/>
          <p:cNvSpPr>
            <a:spLocks noGrp="1"/>
          </p:cNvSpPr>
          <p:nvPr>
            <p:ph type="title"/>
          </p:nvPr>
        </p:nvSpPr>
        <p:spPr>
          <a:xfrm>
            <a:off x="1150938" y="214313"/>
            <a:ext cx="7793037" cy="1357299"/>
          </a:xfrm>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286116" y="2714620"/>
            <a:ext cx="5072098" cy="2937919"/>
            <a:chOff x="4191000" y="3349625"/>
            <a:chExt cx="4370388" cy="2593975"/>
          </a:xfrm>
        </p:grpSpPr>
        <p:grpSp>
          <p:nvGrpSpPr>
            <p:cNvPr id="3" name="Group 23"/>
            <p:cNvGrpSpPr>
              <a:grpSpLocks/>
            </p:cNvGrpSpPr>
            <p:nvPr/>
          </p:nvGrpSpPr>
          <p:grpSpPr bwMode="auto">
            <a:xfrm>
              <a:off x="4495800" y="3349625"/>
              <a:ext cx="4065588" cy="2593975"/>
              <a:chOff x="3822" y="2062"/>
              <a:chExt cx="2561" cy="1634"/>
            </a:xfrm>
          </p:grpSpPr>
          <p:grpSp>
            <p:nvGrpSpPr>
              <p:cNvPr id="4" name="Group 5"/>
              <p:cNvGrpSpPr>
                <a:grpSpLocks/>
              </p:cNvGrpSpPr>
              <p:nvPr/>
            </p:nvGrpSpPr>
            <p:grpSpPr bwMode="auto">
              <a:xfrm>
                <a:off x="3822" y="2234"/>
                <a:ext cx="1520" cy="1258"/>
                <a:chOff x="1920" y="1584"/>
                <a:chExt cx="1920" cy="1776"/>
              </a:xfrm>
            </p:grpSpPr>
            <p:sp>
              <p:nvSpPr>
                <p:cNvPr id="76825" name="Oval 6"/>
                <p:cNvSpPr>
                  <a:spLocks noChangeArrowheads="1"/>
                </p:cNvSpPr>
                <p:nvPr/>
              </p:nvSpPr>
              <p:spPr bwMode="auto">
                <a:xfrm>
                  <a:off x="1920" y="1584"/>
                  <a:ext cx="1920" cy="1776"/>
                </a:xfrm>
                <a:prstGeom prst="ellipse">
                  <a:avLst/>
                </a:prstGeom>
                <a:solidFill>
                  <a:srgbClr val="7030A0"/>
                </a:solidFill>
                <a:ln w="38100">
                  <a:solidFill>
                    <a:srgbClr val="FFFFFF"/>
                  </a:solidFill>
                  <a:round/>
                  <a:headEnd/>
                  <a:tailEnd/>
                </a:ln>
              </p:spPr>
              <p:txBody>
                <a:bodyPr wrap="none" anchor="ctr"/>
                <a:lstStyle/>
                <a:p>
                  <a:endParaRPr lang="en-US">
                    <a:solidFill>
                      <a:srgbClr val="000000"/>
                    </a:solidFill>
                  </a:endParaRPr>
                </a:p>
              </p:txBody>
            </p:sp>
            <p:sp>
              <p:nvSpPr>
                <p:cNvPr id="76826" name="Line 7"/>
                <p:cNvSpPr>
                  <a:spLocks noChangeShapeType="1"/>
                </p:cNvSpPr>
                <p:nvPr/>
              </p:nvSpPr>
              <p:spPr bwMode="auto">
                <a:xfrm flipH="1">
                  <a:off x="2880" y="1584"/>
                  <a:ext cx="0" cy="1776"/>
                </a:xfrm>
                <a:prstGeom prst="line">
                  <a:avLst/>
                </a:prstGeom>
                <a:noFill/>
                <a:ln w="38100">
                  <a:solidFill>
                    <a:srgbClr val="FFFFFF"/>
                  </a:solidFill>
                  <a:round/>
                  <a:headEnd/>
                  <a:tailEnd/>
                </a:ln>
              </p:spPr>
              <p:txBody>
                <a:bodyPr/>
                <a:lstStyle/>
                <a:p>
                  <a:endParaRPr lang="en-US"/>
                </a:p>
              </p:txBody>
            </p:sp>
            <p:sp>
              <p:nvSpPr>
                <p:cNvPr id="76827" name="Oval 8"/>
                <p:cNvSpPr>
                  <a:spLocks noChangeArrowheads="1"/>
                </p:cNvSpPr>
                <p:nvPr/>
              </p:nvSpPr>
              <p:spPr bwMode="auto">
                <a:xfrm>
                  <a:off x="2736" y="2304"/>
                  <a:ext cx="336" cy="288"/>
                </a:xfrm>
                <a:prstGeom prst="ellipse">
                  <a:avLst/>
                </a:prstGeom>
                <a:solidFill>
                  <a:srgbClr val="FFFFFF"/>
                </a:solidFill>
                <a:ln w="38100">
                  <a:solidFill>
                    <a:srgbClr val="FFFFFF"/>
                  </a:solidFill>
                  <a:round/>
                  <a:headEnd/>
                  <a:tailEnd/>
                </a:ln>
              </p:spPr>
              <p:txBody>
                <a:bodyPr wrap="none" anchor="ctr"/>
                <a:lstStyle/>
                <a:p>
                  <a:endParaRPr lang="en-US">
                    <a:solidFill>
                      <a:srgbClr val="000000"/>
                    </a:solidFill>
                  </a:endParaRPr>
                </a:p>
              </p:txBody>
            </p:sp>
            <p:sp>
              <p:nvSpPr>
                <p:cNvPr id="76828" name="Line 9"/>
                <p:cNvSpPr>
                  <a:spLocks noChangeShapeType="1"/>
                </p:cNvSpPr>
                <p:nvPr/>
              </p:nvSpPr>
              <p:spPr bwMode="auto">
                <a:xfrm flipV="1">
                  <a:off x="1920" y="2448"/>
                  <a:ext cx="1920" cy="0"/>
                </a:xfrm>
                <a:prstGeom prst="line">
                  <a:avLst/>
                </a:prstGeom>
                <a:noFill/>
                <a:ln w="38100">
                  <a:solidFill>
                    <a:srgbClr val="FFFFFF"/>
                  </a:solidFill>
                  <a:round/>
                  <a:headEnd/>
                  <a:tailEnd/>
                </a:ln>
              </p:spPr>
              <p:txBody>
                <a:bodyPr/>
                <a:lstStyle/>
                <a:p>
                  <a:endParaRPr lang="en-US"/>
                </a:p>
              </p:txBody>
            </p:sp>
            <p:sp>
              <p:nvSpPr>
                <p:cNvPr id="76829" name="Line 10"/>
                <p:cNvSpPr>
                  <a:spLocks noChangeShapeType="1"/>
                </p:cNvSpPr>
                <p:nvPr/>
              </p:nvSpPr>
              <p:spPr bwMode="auto">
                <a:xfrm flipH="1">
                  <a:off x="2208" y="1824"/>
                  <a:ext cx="1344" cy="1296"/>
                </a:xfrm>
                <a:prstGeom prst="line">
                  <a:avLst/>
                </a:prstGeom>
                <a:noFill/>
                <a:ln w="38100">
                  <a:solidFill>
                    <a:srgbClr val="FFFFFF"/>
                  </a:solidFill>
                  <a:round/>
                  <a:headEnd/>
                  <a:tailEnd/>
                </a:ln>
              </p:spPr>
              <p:txBody>
                <a:bodyPr/>
                <a:lstStyle/>
                <a:p>
                  <a:endParaRPr lang="en-US"/>
                </a:p>
              </p:txBody>
            </p:sp>
            <p:sp>
              <p:nvSpPr>
                <p:cNvPr id="76830" name="Line 11"/>
                <p:cNvSpPr>
                  <a:spLocks noChangeShapeType="1"/>
                </p:cNvSpPr>
                <p:nvPr/>
              </p:nvSpPr>
              <p:spPr bwMode="auto">
                <a:xfrm>
                  <a:off x="2208" y="1872"/>
                  <a:ext cx="1392" cy="1200"/>
                </a:xfrm>
                <a:prstGeom prst="line">
                  <a:avLst/>
                </a:prstGeom>
                <a:noFill/>
                <a:ln w="38100">
                  <a:solidFill>
                    <a:srgbClr val="FFFFFF"/>
                  </a:solidFill>
                  <a:round/>
                  <a:headEnd/>
                  <a:tailEnd/>
                </a:ln>
              </p:spPr>
              <p:txBody>
                <a:bodyPr/>
                <a:lstStyle/>
                <a:p>
                  <a:endParaRPr lang="en-US"/>
                </a:p>
              </p:txBody>
            </p:sp>
          </p:grpSp>
          <p:sp>
            <p:nvSpPr>
              <p:cNvPr id="76819" name="Text Box 13"/>
              <p:cNvSpPr txBox="1">
                <a:spLocks noChangeArrowheads="1"/>
              </p:cNvSpPr>
              <p:nvPr/>
            </p:nvSpPr>
            <p:spPr bwMode="auto">
              <a:xfrm>
                <a:off x="5793" y="2062"/>
                <a:ext cx="590" cy="154"/>
              </a:xfrm>
              <a:prstGeom prst="rect">
                <a:avLst/>
              </a:prstGeom>
              <a:noFill/>
              <a:ln w="38100">
                <a:noFill/>
                <a:miter lim="800000"/>
                <a:headEnd/>
                <a:tailEnd/>
              </a:ln>
            </p:spPr>
            <p:txBody>
              <a:bodyPr wrap="square">
                <a:spAutoFit/>
              </a:bodyPr>
              <a:lstStyle/>
              <a:p>
                <a:pPr algn="ctr">
                  <a:spcBef>
                    <a:spcPct val="50000"/>
                  </a:spcBef>
                </a:pPr>
                <a:r>
                  <a:rPr lang="en-US" sz="1200" b="1" dirty="0"/>
                  <a:t>front = </a:t>
                </a:r>
                <a:r>
                  <a:rPr lang="en-US" sz="1200" b="1" dirty="0" smtClean="0"/>
                  <a:t>-1</a:t>
                </a:r>
                <a:endParaRPr lang="en-US" sz="1200" b="1" dirty="0"/>
              </a:p>
            </p:txBody>
          </p:sp>
          <p:sp>
            <p:nvSpPr>
              <p:cNvPr id="76820" name="Line 14"/>
              <p:cNvSpPr>
                <a:spLocks noChangeShapeType="1"/>
              </p:cNvSpPr>
              <p:nvPr/>
            </p:nvSpPr>
            <p:spPr bwMode="auto">
              <a:xfrm flipH="1" flipV="1">
                <a:off x="4886" y="3458"/>
                <a:ext cx="266" cy="238"/>
              </a:xfrm>
              <a:prstGeom prst="line">
                <a:avLst/>
              </a:prstGeom>
              <a:noFill/>
              <a:ln w="38100">
                <a:solidFill>
                  <a:srgbClr val="FFFFFF"/>
                </a:solidFill>
                <a:round/>
                <a:headEnd/>
                <a:tailEnd type="triangle" w="med" len="med"/>
              </a:ln>
            </p:spPr>
            <p:txBody>
              <a:bodyPr/>
              <a:lstStyle/>
              <a:p>
                <a:endParaRPr lang="en-US"/>
              </a:p>
            </p:txBody>
          </p:sp>
          <p:sp>
            <p:nvSpPr>
              <p:cNvPr id="76821" name="Line 15"/>
              <p:cNvSpPr>
                <a:spLocks noChangeShapeType="1"/>
              </p:cNvSpPr>
              <p:nvPr/>
            </p:nvSpPr>
            <p:spPr bwMode="auto">
              <a:xfrm flipH="1">
                <a:off x="4962" y="2098"/>
                <a:ext cx="228" cy="204"/>
              </a:xfrm>
              <a:prstGeom prst="line">
                <a:avLst/>
              </a:prstGeom>
              <a:noFill/>
              <a:ln w="38100">
                <a:solidFill>
                  <a:srgbClr val="FFFFFF"/>
                </a:solidFill>
                <a:round/>
                <a:headEnd/>
                <a:tailEnd type="triangle" w="med" len="med"/>
              </a:ln>
            </p:spPr>
            <p:txBody>
              <a:bodyPr/>
              <a:lstStyle/>
              <a:p>
                <a:endParaRPr lang="en-US"/>
              </a:p>
            </p:txBody>
          </p:sp>
          <p:sp>
            <p:nvSpPr>
              <p:cNvPr id="76822" name="Text Box 16"/>
              <p:cNvSpPr txBox="1">
                <a:spLocks noChangeArrowheads="1"/>
              </p:cNvSpPr>
              <p:nvPr/>
            </p:nvSpPr>
            <p:spPr bwMode="auto">
              <a:xfrm>
                <a:off x="4696" y="2438"/>
                <a:ext cx="152" cy="231"/>
              </a:xfrm>
              <a:prstGeom prst="rect">
                <a:avLst/>
              </a:prstGeom>
              <a:noFill/>
              <a:ln w="38100">
                <a:noFill/>
                <a:miter lim="800000"/>
                <a:headEnd/>
                <a:tailEnd/>
              </a:ln>
            </p:spPr>
            <p:txBody>
              <a:bodyPr>
                <a:spAutoFit/>
              </a:bodyPr>
              <a:lstStyle/>
              <a:p>
                <a:pPr>
                  <a:spcBef>
                    <a:spcPct val="50000"/>
                  </a:spcBef>
                </a:pPr>
                <a:endParaRPr lang="en-US">
                  <a:solidFill>
                    <a:srgbClr val="000000"/>
                  </a:solidFill>
                </a:endParaRPr>
              </a:p>
            </p:txBody>
          </p:sp>
          <p:sp>
            <p:nvSpPr>
              <p:cNvPr id="76823" name="Text Box 21"/>
              <p:cNvSpPr txBox="1">
                <a:spLocks noChangeArrowheads="1"/>
              </p:cNvSpPr>
              <p:nvPr/>
            </p:nvSpPr>
            <p:spPr bwMode="auto">
              <a:xfrm>
                <a:off x="5252" y="2062"/>
                <a:ext cx="590" cy="154"/>
              </a:xfrm>
              <a:prstGeom prst="rect">
                <a:avLst/>
              </a:prstGeom>
              <a:noFill/>
              <a:ln w="38100">
                <a:noFill/>
                <a:miter lim="800000"/>
                <a:headEnd/>
                <a:tailEnd/>
              </a:ln>
            </p:spPr>
            <p:txBody>
              <a:bodyPr wrap="square">
                <a:spAutoFit/>
              </a:bodyPr>
              <a:lstStyle/>
              <a:p>
                <a:pPr algn="ctr">
                  <a:spcBef>
                    <a:spcPct val="50000"/>
                  </a:spcBef>
                </a:pPr>
                <a:r>
                  <a:rPr lang="en-US" sz="1200" b="1" dirty="0" smtClean="0"/>
                  <a:t>rear </a:t>
                </a:r>
                <a:r>
                  <a:rPr lang="en-US" sz="1200" b="1" dirty="0"/>
                  <a:t>=  -1</a:t>
                </a:r>
              </a:p>
            </p:txBody>
          </p:sp>
          <p:sp>
            <p:nvSpPr>
              <p:cNvPr id="76824" name="Line 22"/>
              <p:cNvSpPr>
                <a:spLocks noChangeShapeType="1"/>
              </p:cNvSpPr>
              <p:nvPr/>
            </p:nvSpPr>
            <p:spPr bwMode="auto">
              <a:xfrm>
                <a:off x="4050" y="2064"/>
                <a:ext cx="228" cy="238"/>
              </a:xfrm>
              <a:prstGeom prst="line">
                <a:avLst/>
              </a:prstGeom>
              <a:noFill/>
              <a:ln w="38100">
                <a:solidFill>
                  <a:srgbClr val="FFFFFF"/>
                </a:solidFill>
                <a:round/>
                <a:headEnd/>
                <a:tailEnd type="triangle" w="med" len="med"/>
              </a:ln>
            </p:spPr>
            <p:txBody>
              <a:bodyPr/>
              <a:lstStyle/>
              <a:p>
                <a:endParaRPr lang="en-US"/>
              </a:p>
            </p:txBody>
          </p:sp>
        </p:grpSp>
        <p:sp>
          <p:nvSpPr>
            <p:cNvPr id="76809" name="TextBox 36"/>
            <p:cNvSpPr txBox="1">
              <a:spLocks noChangeArrowheads="1"/>
            </p:cNvSpPr>
            <p:nvPr/>
          </p:nvSpPr>
          <p:spPr bwMode="auto">
            <a:xfrm>
              <a:off x="6019800" y="3349823"/>
              <a:ext cx="457200" cy="307777"/>
            </a:xfrm>
            <a:prstGeom prst="rect">
              <a:avLst/>
            </a:prstGeom>
            <a:noFill/>
            <a:ln w="9525">
              <a:noFill/>
              <a:miter lim="800000"/>
              <a:headEnd/>
              <a:tailEnd/>
            </a:ln>
          </p:spPr>
          <p:txBody>
            <a:bodyPr>
              <a:spAutoFit/>
            </a:bodyPr>
            <a:lstStyle/>
            <a:p>
              <a:pPr algn="ctr"/>
              <a:r>
                <a:rPr lang="en-US" sz="1400">
                  <a:solidFill>
                    <a:srgbClr val="000000"/>
                  </a:solidFill>
                </a:rPr>
                <a:t>0</a:t>
              </a:r>
            </a:p>
          </p:txBody>
        </p:sp>
        <p:sp>
          <p:nvSpPr>
            <p:cNvPr id="76810" name="TextBox 37"/>
            <p:cNvSpPr txBox="1">
              <a:spLocks noChangeArrowheads="1"/>
            </p:cNvSpPr>
            <p:nvPr/>
          </p:nvSpPr>
          <p:spPr bwMode="auto">
            <a:xfrm>
              <a:off x="6858000" y="3959423"/>
              <a:ext cx="457200" cy="307777"/>
            </a:xfrm>
            <a:prstGeom prst="rect">
              <a:avLst/>
            </a:prstGeom>
            <a:noFill/>
            <a:ln w="9525">
              <a:noFill/>
              <a:miter lim="800000"/>
              <a:headEnd/>
              <a:tailEnd/>
            </a:ln>
          </p:spPr>
          <p:txBody>
            <a:bodyPr>
              <a:spAutoFit/>
            </a:bodyPr>
            <a:lstStyle/>
            <a:p>
              <a:pPr algn="ctr"/>
              <a:r>
                <a:rPr lang="en-US" sz="1400">
                  <a:solidFill>
                    <a:srgbClr val="000000"/>
                  </a:solidFill>
                </a:rPr>
                <a:t>1</a:t>
              </a:r>
            </a:p>
          </p:txBody>
        </p:sp>
        <p:sp>
          <p:nvSpPr>
            <p:cNvPr id="76811" name="TextBox 38"/>
            <p:cNvSpPr txBox="1">
              <a:spLocks noChangeArrowheads="1"/>
            </p:cNvSpPr>
            <p:nvPr/>
          </p:nvSpPr>
          <p:spPr bwMode="auto">
            <a:xfrm>
              <a:off x="6934200" y="4873823"/>
              <a:ext cx="457200" cy="307777"/>
            </a:xfrm>
            <a:prstGeom prst="rect">
              <a:avLst/>
            </a:prstGeom>
            <a:noFill/>
            <a:ln w="9525">
              <a:noFill/>
              <a:miter lim="800000"/>
              <a:headEnd/>
              <a:tailEnd/>
            </a:ln>
          </p:spPr>
          <p:txBody>
            <a:bodyPr>
              <a:spAutoFit/>
            </a:bodyPr>
            <a:lstStyle/>
            <a:p>
              <a:pPr algn="ctr"/>
              <a:r>
                <a:rPr lang="en-US" sz="1400">
                  <a:solidFill>
                    <a:srgbClr val="000000"/>
                  </a:solidFill>
                </a:rPr>
                <a:t>2</a:t>
              </a:r>
            </a:p>
          </p:txBody>
        </p:sp>
        <p:sp>
          <p:nvSpPr>
            <p:cNvPr id="76812" name="TextBox 39"/>
            <p:cNvSpPr txBox="1">
              <a:spLocks noChangeArrowheads="1"/>
            </p:cNvSpPr>
            <p:nvPr/>
          </p:nvSpPr>
          <p:spPr bwMode="auto">
            <a:xfrm>
              <a:off x="60198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3</a:t>
              </a:r>
            </a:p>
          </p:txBody>
        </p:sp>
        <p:sp>
          <p:nvSpPr>
            <p:cNvPr id="76813" name="TextBox 40"/>
            <p:cNvSpPr txBox="1">
              <a:spLocks noChangeArrowheads="1"/>
            </p:cNvSpPr>
            <p:nvPr/>
          </p:nvSpPr>
          <p:spPr bwMode="auto">
            <a:xfrm>
              <a:off x="5105400" y="5562600"/>
              <a:ext cx="457200" cy="307777"/>
            </a:xfrm>
            <a:prstGeom prst="rect">
              <a:avLst/>
            </a:prstGeom>
            <a:noFill/>
            <a:ln w="9525">
              <a:noFill/>
              <a:miter lim="800000"/>
              <a:headEnd/>
              <a:tailEnd/>
            </a:ln>
          </p:spPr>
          <p:txBody>
            <a:bodyPr>
              <a:spAutoFit/>
            </a:bodyPr>
            <a:lstStyle/>
            <a:p>
              <a:pPr algn="ctr"/>
              <a:r>
                <a:rPr lang="en-US" sz="1400">
                  <a:solidFill>
                    <a:srgbClr val="000000"/>
                  </a:solidFill>
                </a:rPr>
                <a:t>4</a:t>
              </a:r>
            </a:p>
          </p:txBody>
        </p:sp>
        <p:sp>
          <p:nvSpPr>
            <p:cNvPr id="76814" name="TextBox 41"/>
            <p:cNvSpPr txBox="1">
              <a:spLocks noChangeArrowheads="1"/>
            </p:cNvSpPr>
            <p:nvPr/>
          </p:nvSpPr>
          <p:spPr bwMode="auto">
            <a:xfrm>
              <a:off x="4267200" y="4876800"/>
              <a:ext cx="457200" cy="307777"/>
            </a:xfrm>
            <a:prstGeom prst="rect">
              <a:avLst/>
            </a:prstGeom>
            <a:noFill/>
            <a:ln w="9525">
              <a:noFill/>
              <a:miter lim="800000"/>
              <a:headEnd/>
              <a:tailEnd/>
            </a:ln>
          </p:spPr>
          <p:txBody>
            <a:bodyPr>
              <a:spAutoFit/>
            </a:bodyPr>
            <a:lstStyle/>
            <a:p>
              <a:pPr algn="ctr"/>
              <a:r>
                <a:rPr lang="en-US" sz="1400">
                  <a:solidFill>
                    <a:srgbClr val="000000"/>
                  </a:solidFill>
                </a:rPr>
                <a:t>5</a:t>
              </a:r>
            </a:p>
          </p:txBody>
        </p:sp>
        <p:sp>
          <p:nvSpPr>
            <p:cNvPr id="76815" name="TextBox 42"/>
            <p:cNvSpPr txBox="1">
              <a:spLocks noChangeArrowheads="1"/>
            </p:cNvSpPr>
            <p:nvPr/>
          </p:nvSpPr>
          <p:spPr bwMode="auto">
            <a:xfrm>
              <a:off x="4191000" y="3962400"/>
              <a:ext cx="457200" cy="307777"/>
            </a:xfrm>
            <a:prstGeom prst="rect">
              <a:avLst/>
            </a:prstGeom>
            <a:noFill/>
            <a:ln w="9525">
              <a:noFill/>
              <a:miter lim="800000"/>
              <a:headEnd/>
              <a:tailEnd/>
            </a:ln>
          </p:spPr>
          <p:txBody>
            <a:bodyPr>
              <a:spAutoFit/>
            </a:bodyPr>
            <a:lstStyle/>
            <a:p>
              <a:pPr algn="ctr"/>
              <a:r>
                <a:rPr lang="en-US" sz="1400">
                  <a:solidFill>
                    <a:srgbClr val="000000"/>
                  </a:solidFill>
                </a:rPr>
                <a:t>6</a:t>
              </a:r>
            </a:p>
          </p:txBody>
        </p:sp>
        <p:sp>
          <p:nvSpPr>
            <p:cNvPr id="76816" name="TextBox 43"/>
            <p:cNvSpPr txBox="1">
              <a:spLocks noChangeArrowheads="1"/>
            </p:cNvSpPr>
            <p:nvPr/>
          </p:nvSpPr>
          <p:spPr bwMode="auto">
            <a:xfrm>
              <a:off x="4800600" y="3352800"/>
              <a:ext cx="457200" cy="307777"/>
            </a:xfrm>
            <a:prstGeom prst="rect">
              <a:avLst/>
            </a:prstGeom>
            <a:noFill/>
            <a:ln w="9525">
              <a:noFill/>
              <a:miter lim="800000"/>
              <a:headEnd/>
              <a:tailEnd/>
            </a:ln>
          </p:spPr>
          <p:txBody>
            <a:bodyPr>
              <a:spAutoFit/>
            </a:bodyPr>
            <a:lstStyle/>
            <a:p>
              <a:pPr algn="ctr"/>
              <a:r>
                <a:rPr lang="en-US" sz="1400">
                  <a:solidFill>
                    <a:srgbClr val="000000"/>
                  </a:solidFill>
                </a:rPr>
                <a:t>7</a:t>
              </a:r>
            </a:p>
          </p:txBody>
        </p:sp>
      </p:grpSp>
      <p:sp>
        <p:nvSpPr>
          <p:cNvPr id="31" name="Right Arrow 30"/>
          <p:cNvSpPr/>
          <p:nvPr/>
        </p:nvSpPr>
        <p:spPr>
          <a:xfrm rot="16200000" flipV="1">
            <a:off x="7843862" y="3228972"/>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Right Arrow 31"/>
          <p:cNvSpPr/>
          <p:nvPr/>
        </p:nvSpPr>
        <p:spPr>
          <a:xfrm rot="16200000" flipV="1">
            <a:off x="6843730" y="3228972"/>
            <a:ext cx="609600" cy="1524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0" name="TextBox 29"/>
          <p:cNvSpPr txBox="1"/>
          <p:nvPr/>
        </p:nvSpPr>
        <p:spPr>
          <a:xfrm>
            <a:off x="500034" y="5929330"/>
            <a:ext cx="3538566" cy="5232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US" dirty="0" smtClean="0"/>
              <a:t>Queue  Underflow</a:t>
            </a:r>
          </a:p>
        </p:txBody>
      </p:sp>
      <p:sp>
        <p:nvSpPr>
          <p:cNvPr id="33" name="TextBox 32"/>
          <p:cNvSpPr txBox="1"/>
          <p:nvPr/>
        </p:nvSpPr>
        <p:spPr>
          <a:xfrm>
            <a:off x="142844" y="2362200"/>
            <a:ext cx="3286156" cy="954107"/>
          </a:xfrm>
          <a:prstGeom prst="rect">
            <a:avLst/>
          </a:prstGeom>
          <a:solidFill>
            <a:schemeClr val="accent1"/>
          </a:solidFill>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smtClean="0"/>
              <a:t>Front=-1 and rear=-1</a:t>
            </a:r>
          </a:p>
        </p:txBody>
      </p:sp>
      <p:sp>
        <p:nvSpPr>
          <p:cNvPr id="37" name="Slide Number Placeholder 36"/>
          <p:cNvSpPr>
            <a:spLocks noGrp="1"/>
          </p:cNvSpPr>
          <p:nvPr>
            <p:ph type="sldNum" sz="quarter" idx="12"/>
          </p:nvPr>
        </p:nvSpPr>
        <p:spPr/>
        <p:txBody>
          <a:bodyPr/>
          <a:lstStyle/>
          <a:p>
            <a:fld id="{CA8B4530-02B6-4BE1-914D-F37489CFEB04}" type="slidenum">
              <a:rPr lang="en-US" smtClean="0"/>
              <a:pPr/>
              <a:t>58</a:t>
            </a:fld>
            <a:endParaRPr lang="en-US"/>
          </a:p>
        </p:txBody>
      </p:sp>
      <p:sp>
        <p:nvSpPr>
          <p:cNvPr id="34" name="Title 33"/>
          <p:cNvSpPr>
            <a:spLocks noGrp="1"/>
          </p:cNvSpPr>
          <p:nvPr>
            <p:ph type="title"/>
          </p:nvPr>
        </p:nvSpPr>
        <p:spPr/>
        <p:txBody>
          <a:bodyPr/>
          <a:lstStyle/>
          <a:p>
            <a:r>
              <a:rPr lang="en-US" dirty="0" smtClean="0"/>
              <a:t>Delete</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p:cNvSpPr>
          <p:nvPr>
            <p:ph type="title"/>
          </p:nvPr>
        </p:nvSpPr>
        <p:spPr>
          <a:xfrm>
            <a:off x="1212215" y="859790"/>
            <a:ext cx="7703820" cy="914400"/>
          </a:xfrm>
        </p:spPr>
        <p:txBody>
          <a:bodyPr wrap="square" lIns="92075" tIns="46038" rIns="92075" bIns="46038" anchor="ctr"/>
          <a:lstStyle/>
          <a:p>
            <a:r>
              <a:rPr lang="en-US" altLang="en-US" sz="3600" dirty="0">
                <a:solidFill>
                  <a:srgbClr val="1552D1"/>
                </a:solidFill>
              </a:rPr>
              <a:t>Implementation of a Circular Queue</a:t>
            </a:r>
          </a:p>
        </p:txBody>
      </p:sp>
      <p:sp>
        <p:nvSpPr>
          <p:cNvPr id="36866" name="Oval 3"/>
          <p:cNvSpPr/>
          <p:nvPr/>
        </p:nvSpPr>
        <p:spPr>
          <a:xfrm>
            <a:off x="3572510" y="2479040"/>
            <a:ext cx="4419600" cy="4114800"/>
          </a:xfrm>
          <a:prstGeom prst="ellipse">
            <a:avLst/>
          </a:prstGeom>
          <a:solidFill>
            <a:srgbClr val="FFFFFF"/>
          </a:solidFill>
          <a:ln w="38100" cap="flat" cmpd="sng">
            <a:solidFill>
              <a:schemeClr val="tx1"/>
            </a:solidFill>
            <a:prstDash val="solid"/>
            <a:round/>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867" name="Oval 4"/>
          <p:cNvSpPr/>
          <p:nvPr/>
        </p:nvSpPr>
        <p:spPr>
          <a:xfrm>
            <a:off x="4334510" y="3088640"/>
            <a:ext cx="2971800" cy="2819400"/>
          </a:xfrm>
          <a:prstGeom prst="ellipse">
            <a:avLst/>
          </a:prstGeom>
          <a:solidFill>
            <a:srgbClr val="FFFFFF"/>
          </a:solidFill>
          <a:ln w="38100" cap="flat" cmpd="sng">
            <a:solidFill>
              <a:schemeClr val="tx1"/>
            </a:solidFill>
            <a:prstDash val="solid"/>
            <a:round/>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868" name="Line 6"/>
          <p:cNvSpPr/>
          <p:nvPr/>
        </p:nvSpPr>
        <p:spPr>
          <a:xfrm flipH="1">
            <a:off x="3572510" y="4460240"/>
            <a:ext cx="762000" cy="0"/>
          </a:xfrm>
          <a:prstGeom prst="line">
            <a:avLst/>
          </a:prstGeom>
          <a:ln w="38100" cap="flat" cmpd="sng">
            <a:solidFill>
              <a:schemeClr val="tx1"/>
            </a:solidFill>
            <a:prstDash val="solid"/>
            <a:round/>
            <a:headEnd type="none" w="med" len="med"/>
            <a:tailEnd type="none" w="med" len="med"/>
          </a:ln>
        </p:spPr>
      </p:sp>
      <p:sp>
        <p:nvSpPr>
          <p:cNvPr id="36869" name="Line 8"/>
          <p:cNvSpPr/>
          <p:nvPr/>
        </p:nvSpPr>
        <p:spPr>
          <a:xfrm>
            <a:off x="7306310" y="4460240"/>
            <a:ext cx="685800" cy="0"/>
          </a:xfrm>
          <a:prstGeom prst="line">
            <a:avLst/>
          </a:prstGeom>
          <a:ln w="38100" cap="flat" cmpd="sng">
            <a:solidFill>
              <a:schemeClr val="tx1"/>
            </a:solidFill>
            <a:prstDash val="solid"/>
            <a:round/>
            <a:headEnd type="none" w="med" len="med"/>
            <a:tailEnd type="none" w="med" len="med"/>
          </a:ln>
        </p:spPr>
      </p:sp>
      <p:sp>
        <p:nvSpPr>
          <p:cNvPr id="36870" name="Line 9"/>
          <p:cNvSpPr/>
          <p:nvPr/>
        </p:nvSpPr>
        <p:spPr>
          <a:xfrm>
            <a:off x="5782310" y="2479040"/>
            <a:ext cx="0" cy="609600"/>
          </a:xfrm>
          <a:prstGeom prst="line">
            <a:avLst/>
          </a:prstGeom>
          <a:ln w="38100" cap="flat" cmpd="sng">
            <a:solidFill>
              <a:schemeClr val="tx1"/>
            </a:solidFill>
            <a:prstDash val="solid"/>
            <a:round/>
            <a:headEnd type="none" w="med" len="med"/>
            <a:tailEnd type="none" w="med" len="med"/>
          </a:ln>
        </p:spPr>
      </p:sp>
      <p:sp>
        <p:nvSpPr>
          <p:cNvPr id="36871" name="Line 10"/>
          <p:cNvSpPr/>
          <p:nvPr/>
        </p:nvSpPr>
        <p:spPr>
          <a:xfrm>
            <a:off x="5782310" y="5908040"/>
            <a:ext cx="0" cy="685800"/>
          </a:xfrm>
          <a:prstGeom prst="line">
            <a:avLst/>
          </a:prstGeom>
          <a:ln w="38100" cap="flat" cmpd="sng">
            <a:solidFill>
              <a:schemeClr val="tx1"/>
            </a:solidFill>
            <a:prstDash val="solid"/>
            <a:round/>
            <a:headEnd type="none" w="med" len="med"/>
            <a:tailEnd type="none" w="med" len="med"/>
          </a:ln>
        </p:spPr>
      </p:sp>
      <p:sp>
        <p:nvSpPr>
          <p:cNvPr id="36872" name="Line 13"/>
          <p:cNvSpPr/>
          <p:nvPr/>
        </p:nvSpPr>
        <p:spPr>
          <a:xfrm>
            <a:off x="4334510" y="3012440"/>
            <a:ext cx="457200" cy="457200"/>
          </a:xfrm>
          <a:prstGeom prst="line">
            <a:avLst/>
          </a:prstGeom>
          <a:ln w="38100" cap="flat" cmpd="sng">
            <a:solidFill>
              <a:schemeClr val="tx1"/>
            </a:solidFill>
            <a:prstDash val="solid"/>
            <a:round/>
            <a:headEnd type="none" w="med" len="med"/>
            <a:tailEnd type="none" w="med" len="med"/>
          </a:ln>
        </p:spPr>
      </p:sp>
      <p:sp>
        <p:nvSpPr>
          <p:cNvPr id="36873" name="Line 14"/>
          <p:cNvSpPr/>
          <p:nvPr/>
        </p:nvSpPr>
        <p:spPr>
          <a:xfrm>
            <a:off x="6925310" y="5450840"/>
            <a:ext cx="533400" cy="457200"/>
          </a:xfrm>
          <a:prstGeom prst="line">
            <a:avLst/>
          </a:prstGeom>
          <a:ln w="38100" cap="flat" cmpd="sng">
            <a:solidFill>
              <a:schemeClr val="tx1"/>
            </a:solidFill>
            <a:prstDash val="solid"/>
            <a:round/>
            <a:headEnd type="none" w="med" len="med"/>
            <a:tailEnd type="none" w="med" len="med"/>
          </a:ln>
        </p:spPr>
      </p:sp>
      <p:sp>
        <p:nvSpPr>
          <p:cNvPr id="36874" name="Line 17"/>
          <p:cNvSpPr/>
          <p:nvPr/>
        </p:nvSpPr>
        <p:spPr>
          <a:xfrm flipH="1">
            <a:off x="4182110" y="5450840"/>
            <a:ext cx="533400" cy="533400"/>
          </a:xfrm>
          <a:prstGeom prst="line">
            <a:avLst/>
          </a:prstGeom>
          <a:ln w="38100" cap="flat" cmpd="sng">
            <a:solidFill>
              <a:schemeClr val="tx1"/>
            </a:solidFill>
            <a:prstDash val="solid"/>
            <a:round/>
            <a:headEnd type="none" w="med" len="med"/>
            <a:tailEnd type="none" w="med" len="med"/>
          </a:ln>
        </p:spPr>
      </p:sp>
      <p:sp>
        <p:nvSpPr>
          <p:cNvPr id="36875" name="Line 18"/>
          <p:cNvSpPr/>
          <p:nvPr/>
        </p:nvSpPr>
        <p:spPr>
          <a:xfrm flipH="1">
            <a:off x="6772910" y="2936240"/>
            <a:ext cx="457200" cy="457200"/>
          </a:xfrm>
          <a:prstGeom prst="line">
            <a:avLst/>
          </a:prstGeom>
          <a:ln w="38100" cap="flat" cmpd="sng">
            <a:solidFill>
              <a:schemeClr val="tx1"/>
            </a:solidFill>
            <a:prstDash val="solid"/>
            <a:round/>
            <a:headEnd type="none" w="med" len="med"/>
            <a:tailEnd type="none" w="med" len="med"/>
          </a:ln>
        </p:spPr>
      </p:sp>
      <p:sp>
        <p:nvSpPr>
          <p:cNvPr id="36876" name="Line 20"/>
          <p:cNvSpPr/>
          <p:nvPr/>
        </p:nvSpPr>
        <p:spPr>
          <a:xfrm>
            <a:off x="5020310" y="2631440"/>
            <a:ext cx="228600" cy="609600"/>
          </a:xfrm>
          <a:prstGeom prst="line">
            <a:avLst/>
          </a:prstGeom>
          <a:ln w="38100" cap="flat" cmpd="sng">
            <a:solidFill>
              <a:schemeClr val="tx1"/>
            </a:solidFill>
            <a:prstDash val="solid"/>
            <a:round/>
            <a:headEnd type="none" w="med" len="med"/>
            <a:tailEnd type="none" w="med" len="med"/>
          </a:ln>
        </p:spPr>
      </p:sp>
      <p:sp>
        <p:nvSpPr>
          <p:cNvPr id="36877" name="Line 21"/>
          <p:cNvSpPr/>
          <p:nvPr/>
        </p:nvSpPr>
        <p:spPr>
          <a:xfrm>
            <a:off x="6391910" y="5831840"/>
            <a:ext cx="228600" cy="609600"/>
          </a:xfrm>
          <a:prstGeom prst="line">
            <a:avLst/>
          </a:prstGeom>
          <a:ln w="38100" cap="flat" cmpd="sng">
            <a:solidFill>
              <a:schemeClr val="tx1"/>
            </a:solidFill>
            <a:prstDash val="solid"/>
            <a:round/>
            <a:headEnd type="none" w="med" len="med"/>
            <a:tailEnd type="none" w="med" len="med"/>
          </a:ln>
        </p:spPr>
      </p:sp>
      <p:sp>
        <p:nvSpPr>
          <p:cNvPr id="36878" name="Line 23"/>
          <p:cNvSpPr/>
          <p:nvPr/>
        </p:nvSpPr>
        <p:spPr>
          <a:xfrm>
            <a:off x="3729355" y="3698240"/>
            <a:ext cx="685800" cy="304800"/>
          </a:xfrm>
          <a:prstGeom prst="line">
            <a:avLst/>
          </a:prstGeom>
          <a:ln w="38100" cap="flat" cmpd="sng">
            <a:solidFill>
              <a:schemeClr val="tx1"/>
            </a:solidFill>
            <a:prstDash val="solid"/>
            <a:round/>
            <a:headEnd type="none" w="med" len="med"/>
            <a:tailEnd type="none" w="med" len="med"/>
          </a:ln>
        </p:spPr>
      </p:sp>
      <p:sp>
        <p:nvSpPr>
          <p:cNvPr id="36879" name="Line 24"/>
          <p:cNvSpPr/>
          <p:nvPr/>
        </p:nvSpPr>
        <p:spPr>
          <a:xfrm>
            <a:off x="7230110" y="4993640"/>
            <a:ext cx="685800" cy="228600"/>
          </a:xfrm>
          <a:prstGeom prst="line">
            <a:avLst/>
          </a:prstGeom>
          <a:ln w="38100" cap="flat" cmpd="sng">
            <a:solidFill>
              <a:schemeClr val="tx1"/>
            </a:solidFill>
            <a:prstDash val="solid"/>
            <a:round/>
            <a:headEnd type="none" w="med" len="med"/>
            <a:tailEnd type="none" w="med" len="med"/>
          </a:ln>
        </p:spPr>
      </p:sp>
      <p:sp>
        <p:nvSpPr>
          <p:cNvPr id="36880" name="Line 26"/>
          <p:cNvSpPr/>
          <p:nvPr/>
        </p:nvSpPr>
        <p:spPr>
          <a:xfrm flipH="1">
            <a:off x="6315710" y="2631440"/>
            <a:ext cx="228600" cy="533400"/>
          </a:xfrm>
          <a:prstGeom prst="line">
            <a:avLst/>
          </a:prstGeom>
          <a:ln w="38100" cap="flat" cmpd="sng">
            <a:solidFill>
              <a:schemeClr val="tx1"/>
            </a:solidFill>
            <a:prstDash val="solid"/>
            <a:round/>
            <a:headEnd type="none" w="med" len="med"/>
            <a:tailEnd type="none" w="med" len="med"/>
          </a:ln>
        </p:spPr>
      </p:sp>
      <p:sp>
        <p:nvSpPr>
          <p:cNvPr id="36881" name="Line 29"/>
          <p:cNvSpPr/>
          <p:nvPr/>
        </p:nvSpPr>
        <p:spPr>
          <a:xfrm flipH="1">
            <a:off x="7153910" y="3622040"/>
            <a:ext cx="609600" cy="304800"/>
          </a:xfrm>
          <a:prstGeom prst="line">
            <a:avLst/>
          </a:prstGeom>
          <a:ln w="38100" cap="flat" cmpd="sng">
            <a:solidFill>
              <a:schemeClr val="tx1"/>
            </a:solidFill>
            <a:prstDash val="solid"/>
            <a:round/>
            <a:headEnd type="none" w="med" len="med"/>
            <a:tailEnd type="none" w="med" len="med"/>
          </a:ln>
        </p:spPr>
      </p:sp>
      <p:sp>
        <p:nvSpPr>
          <p:cNvPr id="36882" name="Line 30"/>
          <p:cNvSpPr/>
          <p:nvPr/>
        </p:nvSpPr>
        <p:spPr>
          <a:xfrm flipV="1">
            <a:off x="3724910" y="4993640"/>
            <a:ext cx="685800" cy="228600"/>
          </a:xfrm>
          <a:prstGeom prst="line">
            <a:avLst/>
          </a:prstGeom>
          <a:ln w="38100" cap="flat" cmpd="sng">
            <a:solidFill>
              <a:schemeClr val="tx1"/>
            </a:solidFill>
            <a:prstDash val="solid"/>
            <a:round/>
            <a:headEnd type="none" w="med" len="med"/>
            <a:tailEnd type="none" w="med" len="med"/>
          </a:ln>
        </p:spPr>
      </p:sp>
      <p:sp>
        <p:nvSpPr>
          <p:cNvPr id="36883" name="Rectangle 31"/>
          <p:cNvSpPr/>
          <p:nvPr/>
        </p:nvSpPr>
        <p:spPr>
          <a:xfrm>
            <a:off x="1686560" y="3904615"/>
            <a:ext cx="457200" cy="457200"/>
          </a:xfrm>
          <a:prstGeom prst="rect">
            <a:avLst/>
          </a:prstGeom>
          <a:no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884" name="Text Box 32"/>
          <p:cNvSpPr txBox="1"/>
          <p:nvPr/>
        </p:nvSpPr>
        <p:spPr>
          <a:xfrm>
            <a:off x="1534160" y="4361815"/>
            <a:ext cx="8382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rear</a:t>
            </a:r>
          </a:p>
        </p:txBody>
      </p:sp>
      <p:sp>
        <p:nvSpPr>
          <p:cNvPr id="36885" name="Text Box 33"/>
          <p:cNvSpPr txBox="1"/>
          <p:nvPr/>
        </p:nvSpPr>
        <p:spPr>
          <a:xfrm>
            <a:off x="1610360" y="3447415"/>
            <a:ext cx="7620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front</a:t>
            </a:r>
          </a:p>
        </p:txBody>
      </p:sp>
      <p:sp>
        <p:nvSpPr>
          <p:cNvPr id="36886" name="Rectangle 34"/>
          <p:cNvSpPr/>
          <p:nvPr/>
        </p:nvSpPr>
        <p:spPr>
          <a:xfrm>
            <a:off x="1691323" y="2994978"/>
            <a:ext cx="4572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887" name="Rectangle 35"/>
          <p:cNvSpPr/>
          <p:nvPr/>
        </p:nvSpPr>
        <p:spPr>
          <a:xfrm>
            <a:off x="1402398" y="2860040"/>
            <a:ext cx="1865312" cy="1905000"/>
          </a:xfrm>
          <a:prstGeom prst="rect">
            <a:avLst/>
          </a:prstGeom>
          <a:noFill/>
          <a:ln w="38100" cap="flat" cmpd="sng">
            <a:solidFill>
              <a:schemeClr val="accent2"/>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888" name="Rectangle 37"/>
          <p:cNvSpPr/>
          <p:nvPr/>
        </p:nvSpPr>
        <p:spPr>
          <a:xfrm>
            <a:off x="2505710" y="3926840"/>
            <a:ext cx="457200" cy="457200"/>
          </a:xfrm>
          <a:prstGeom prst="rect">
            <a:avLst/>
          </a:prstGeom>
          <a:no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889" name="Text Box 38"/>
          <p:cNvSpPr txBox="1"/>
          <p:nvPr/>
        </p:nvSpPr>
        <p:spPr>
          <a:xfrm>
            <a:off x="2581910" y="40030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chemeClr val="tx1"/>
                </a:solidFill>
                <a:latin typeface="+mn-lt"/>
                <a:cs typeface="+mn-lt"/>
              </a:rPr>
              <a:t>5</a:t>
            </a:r>
          </a:p>
        </p:txBody>
      </p:sp>
      <p:sp>
        <p:nvSpPr>
          <p:cNvPr id="36890" name="Text Box 39"/>
          <p:cNvSpPr txBox="1"/>
          <p:nvPr/>
        </p:nvSpPr>
        <p:spPr>
          <a:xfrm>
            <a:off x="2353310" y="3469640"/>
            <a:ext cx="9144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queue</a:t>
            </a:r>
          </a:p>
        </p:txBody>
      </p:sp>
      <p:sp>
        <p:nvSpPr>
          <p:cNvPr id="36891" name="Rectangle 40"/>
          <p:cNvSpPr/>
          <p:nvPr/>
        </p:nvSpPr>
        <p:spPr>
          <a:xfrm>
            <a:off x="2505710" y="3012440"/>
            <a:ext cx="457200" cy="457200"/>
          </a:xfrm>
          <a:prstGeom prst="rect">
            <a:avLst/>
          </a:prstGeom>
          <a:no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892" name="Text Box 41"/>
          <p:cNvSpPr txBox="1"/>
          <p:nvPr/>
        </p:nvSpPr>
        <p:spPr>
          <a:xfrm>
            <a:off x="2353310" y="4384040"/>
            <a:ext cx="9144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count</a:t>
            </a:r>
          </a:p>
        </p:txBody>
      </p:sp>
      <p:sp>
        <p:nvSpPr>
          <p:cNvPr id="36893" name="Text Box 42"/>
          <p:cNvSpPr txBox="1"/>
          <p:nvPr/>
        </p:nvSpPr>
        <p:spPr>
          <a:xfrm>
            <a:off x="1762760" y="3980815"/>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chemeClr val="tx1"/>
                </a:solidFill>
                <a:latin typeface="+mn-lt"/>
                <a:cs typeface="+mn-lt"/>
              </a:rPr>
              <a:t>7</a:t>
            </a:r>
          </a:p>
        </p:txBody>
      </p:sp>
      <p:sp>
        <p:nvSpPr>
          <p:cNvPr id="36894" name="Line 43"/>
          <p:cNvSpPr/>
          <p:nvPr/>
        </p:nvSpPr>
        <p:spPr>
          <a:xfrm>
            <a:off x="2734310" y="3241040"/>
            <a:ext cx="1219200" cy="0"/>
          </a:xfrm>
          <a:prstGeom prst="line">
            <a:avLst/>
          </a:prstGeom>
          <a:ln w="38100" cap="flat" cmpd="sng">
            <a:solidFill>
              <a:schemeClr val="hlink"/>
            </a:solidFill>
            <a:prstDash val="solid"/>
            <a:round/>
            <a:headEnd type="none" w="med" len="med"/>
            <a:tailEnd type="triangle" w="med" len="med"/>
          </a:ln>
        </p:spPr>
      </p:sp>
      <p:sp>
        <p:nvSpPr>
          <p:cNvPr id="36895" name="Text Box 44"/>
          <p:cNvSpPr txBox="1"/>
          <p:nvPr/>
        </p:nvSpPr>
        <p:spPr>
          <a:xfrm>
            <a:off x="1762760" y="3066415"/>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chemeClr val="tx1"/>
                </a:solidFill>
                <a:latin typeface="+mn-lt"/>
                <a:cs typeface="+mn-lt"/>
              </a:rPr>
              <a:t>3</a:t>
            </a:r>
          </a:p>
        </p:txBody>
      </p:sp>
      <p:sp>
        <p:nvSpPr>
          <p:cNvPr id="36896" name="Text Box 59"/>
          <p:cNvSpPr txBox="1"/>
          <p:nvPr/>
        </p:nvSpPr>
        <p:spPr>
          <a:xfrm>
            <a:off x="4639310" y="36220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0</a:t>
            </a:r>
          </a:p>
        </p:txBody>
      </p:sp>
      <p:sp>
        <p:nvSpPr>
          <p:cNvPr id="36897" name="Text Box 60"/>
          <p:cNvSpPr txBox="1"/>
          <p:nvPr/>
        </p:nvSpPr>
        <p:spPr>
          <a:xfrm>
            <a:off x="4944110" y="33172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1</a:t>
            </a:r>
          </a:p>
        </p:txBody>
      </p:sp>
      <p:sp>
        <p:nvSpPr>
          <p:cNvPr id="36898" name="Text Box 61"/>
          <p:cNvSpPr txBox="1"/>
          <p:nvPr/>
        </p:nvSpPr>
        <p:spPr>
          <a:xfrm>
            <a:off x="5325110" y="31648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2</a:t>
            </a:r>
          </a:p>
        </p:txBody>
      </p:sp>
      <p:sp>
        <p:nvSpPr>
          <p:cNvPr id="36899" name="Text Box 62"/>
          <p:cNvSpPr txBox="1"/>
          <p:nvPr/>
        </p:nvSpPr>
        <p:spPr>
          <a:xfrm>
            <a:off x="5782310" y="31648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3</a:t>
            </a:r>
          </a:p>
        </p:txBody>
      </p:sp>
      <p:sp>
        <p:nvSpPr>
          <p:cNvPr id="36900" name="Text Box 63"/>
          <p:cNvSpPr txBox="1"/>
          <p:nvPr/>
        </p:nvSpPr>
        <p:spPr>
          <a:xfrm>
            <a:off x="6239510" y="32410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4</a:t>
            </a:r>
          </a:p>
        </p:txBody>
      </p:sp>
      <p:sp>
        <p:nvSpPr>
          <p:cNvPr id="36901" name="Text Box 64"/>
          <p:cNvSpPr txBox="1"/>
          <p:nvPr/>
        </p:nvSpPr>
        <p:spPr>
          <a:xfrm>
            <a:off x="6620510" y="35458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5</a:t>
            </a:r>
          </a:p>
        </p:txBody>
      </p:sp>
      <p:sp>
        <p:nvSpPr>
          <p:cNvPr id="36902" name="Text Box 65"/>
          <p:cNvSpPr txBox="1"/>
          <p:nvPr/>
        </p:nvSpPr>
        <p:spPr>
          <a:xfrm>
            <a:off x="6925310" y="40030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6</a:t>
            </a:r>
          </a:p>
        </p:txBody>
      </p:sp>
      <p:sp>
        <p:nvSpPr>
          <p:cNvPr id="36903" name="Text Box 66"/>
          <p:cNvSpPr txBox="1"/>
          <p:nvPr/>
        </p:nvSpPr>
        <p:spPr>
          <a:xfrm>
            <a:off x="6925310" y="44602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7</a:t>
            </a:r>
          </a:p>
        </p:txBody>
      </p:sp>
      <p:sp>
        <p:nvSpPr>
          <p:cNvPr id="36904" name="Text Box 67"/>
          <p:cNvSpPr txBox="1"/>
          <p:nvPr/>
        </p:nvSpPr>
        <p:spPr>
          <a:xfrm>
            <a:off x="6696710" y="49174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8</a:t>
            </a:r>
          </a:p>
        </p:txBody>
      </p:sp>
      <p:sp>
        <p:nvSpPr>
          <p:cNvPr id="36905" name="Text Box 68"/>
          <p:cNvSpPr txBox="1"/>
          <p:nvPr/>
        </p:nvSpPr>
        <p:spPr>
          <a:xfrm>
            <a:off x="6391910" y="52222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9</a:t>
            </a:r>
          </a:p>
        </p:txBody>
      </p:sp>
      <p:sp>
        <p:nvSpPr>
          <p:cNvPr id="36906" name="Text Box 69"/>
          <p:cNvSpPr txBox="1"/>
          <p:nvPr/>
        </p:nvSpPr>
        <p:spPr>
          <a:xfrm>
            <a:off x="5858510" y="5374640"/>
            <a:ext cx="5334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10</a:t>
            </a:r>
          </a:p>
        </p:txBody>
      </p:sp>
      <p:sp>
        <p:nvSpPr>
          <p:cNvPr id="36907" name="Text Box 70"/>
          <p:cNvSpPr txBox="1"/>
          <p:nvPr/>
        </p:nvSpPr>
        <p:spPr>
          <a:xfrm>
            <a:off x="4410710" y="4079240"/>
            <a:ext cx="685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n-1</a:t>
            </a:r>
          </a:p>
        </p:txBody>
      </p:sp>
      <p:sp>
        <p:nvSpPr>
          <p:cNvPr id="36908" name="Text Box 71"/>
          <p:cNvSpPr txBox="1"/>
          <p:nvPr/>
        </p:nvSpPr>
        <p:spPr>
          <a:xfrm>
            <a:off x="4410710" y="4460240"/>
            <a:ext cx="685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n-2</a:t>
            </a:r>
          </a:p>
        </p:txBody>
      </p:sp>
      <p:sp>
        <p:nvSpPr>
          <p:cNvPr id="36909" name="Text Box 72"/>
          <p:cNvSpPr txBox="1"/>
          <p:nvPr/>
        </p:nvSpPr>
        <p:spPr>
          <a:xfrm>
            <a:off x="4639310" y="4917440"/>
            <a:ext cx="685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n-3</a:t>
            </a:r>
          </a:p>
        </p:txBody>
      </p:sp>
      <p:sp>
        <p:nvSpPr>
          <p:cNvPr id="36910" name="Text Box 73"/>
          <p:cNvSpPr txBox="1"/>
          <p:nvPr/>
        </p:nvSpPr>
        <p:spPr>
          <a:xfrm>
            <a:off x="4639310" y="5222240"/>
            <a:ext cx="304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a:t>
            </a:r>
          </a:p>
        </p:txBody>
      </p:sp>
      <p:sp>
        <p:nvSpPr>
          <p:cNvPr id="36911" name="Text Box 74"/>
          <p:cNvSpPr txBox="1"/>
          <p:nvPr/>
        </p:nvSpPr>
        <p:spPr>
          <a:xfrm>
            <a:off x="5248910" y="5450840"/>
            <a:ext cx="304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a:t>
            </a:r>
          </a:p>
        </p:txBody>
      </p:sp>
      <p:sp>
        <p:nvSpPr>
          <p:cNvPr id="36912" name="Text Box 75"/>
          <p:cNvSpPr txBox="1"/>
          <p:nvPr/>
        </p:nvSpPr>
        <p:spPr>
          <a:xfrm>
            <a:off x="4944110" y="5374640"/>
            <a:ext cx="304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a:t>
            </a:r>
          </a:p>
        </p:txBody>
      </p:sp>
      <p:sp>
        <p:nvSpPr>
          <p:cNvPr id="36913" name="Rectangle 76"/>
          <p:cNvSpPr/>
          <p:nvPr/>
        </p:nvSpPr>
        <p:spPr>
          <a:xfrm>
            <a:off x="6010910" y="1869440"/>
            <a:ext cx="457200" cy="457200"/>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914" name="Rectangle 77"/>
          <p:cNvSpPr/>
          <p:nvPr/>
        </p:nvSpPr>
        <p:spPr>
          <a:xfrm>
            <a:off x="7001510" y="2098040"/>
            <a:ext cx="457200" cy="4572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915" name="Rectangle 78"/>
          <p:cNvSpPr/>
          <p:nvPr/>
        </p:nvSpPr>
        <p:spPr>
          <a:xfrm>
            <a:off x="7839710" y="2707640"/>
            <a:ext cx="457200" cy="457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916" name="Rectangle 79"/>
          <p:cNvSpPr/>
          <p:nvPr/>
        </p:nvSpPr>
        <p:spPr>
          <a:xfrm>
            <a:off x="8296910" y="3774440"/>
            <a:ext cx="457200" cy="4572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917" name="Line 80"/>
          <p:cNvSpPr/>
          <p:nvPr/>
        </p:nvSpPr>
        <p:spPr>
          <a:xfrm flipV="1">
            <a:off x="6087110" y="2326640"/>
            <a:ext cx="152400" cy="457200"/>
          </a:xfrm>
          <a:prstGeom prst="line">
            <a:avLst/>
          </a:prstGeom>
          <a:ln w="38100" cap="flat" cmpd="sng">
            <a:solidFill>
              <a:schemeClr val="hlink"/>
            </a:solidFill>
            <a:prstDash val="solid"/>
            <a:round/>
            <a:headEnd type="none" w="med" len="med"/>
            <a:tailEnd type="triangle" w="med" len="med"/>
          </a:ln>
        </p:spPr>
      </p:sp>
      <p:sp>
        <p:nvSpPr>
          <p:cNvPr id="36918" name="Line 81"/>
          <p:cNvSpPr/>
          <p:nvPr/>
        </p:nvSpPr>
        <p:spPr>
          <a:xfrm flipV="1">
            <a:off x="6772910" y="2555240"/>
            <a:ext cx="381000" cy="457200"/>
          </a:xfrm>
          <a:prstGeom prst="line">
            <a:avLst/>
          </a:prstGeom>
          <a:ln w="38100" cap="flat" cmpd="sng">
            <a:solidFill>
              <a:schemeClr val="hlink"/>
            </a:solidFill>
            <a:prstDash val="solid"/>
            <a:round/>
            <a:headEnd type="none" w="med" len="med"/>
            <a:tailEnd type="triangle" w="med" len="med"/>
          </a:ln>
        </p:spPr>
      </p:sp>
      <p:sp>
        <p:nvSpPr>
          <p:cNvPr id="36919" name="Line 82"/>
          <p:cNvSpPr/>
          <p:nvPr/>
        </p:nvSpPr>
        <p:spPr>
          <a:xfrm flipV="1">
            <a:off x="7230110" y="3012440"/>
            <a:ext cx="609600" cy="457200"/>
          </a:xfrm>
          <a:prstGeom prst="line">
            <a:avLst/>
          </a:prstGeom>
          <a:ln w="38100" cap="flat" cmpd="sng">
            <a:solidFill>
              <a:schemeClr val="hlink"/>
            </a:solidFill>
            <a:prstDash val="solid"/>
            <a:round/>
            <a:headEnd type="none" w="med" len="med"/>
            <a:tailEnd type="triangle" w="med" len="med"/>
          </a:ln>
        </p:spPr>
      </p:sp>
      <p:sp>
        <p:nvSpPr>
          <p:cNvPr id="36920" name="Line 83"/>
          <p:cNvSpPr/>
          <p:nvPr/>
        </p:nvSpPr>
        <p:spPr>
          <a:xfrm flipV="1">
            <a:off x="7687310" y="4003040"/>
            <a:ext cx="609600" cy="76200"/>
          </a:xfrm>
          <a:prstGeom prst="line">
            <a:avLst/>
          </a:prstGeom>
          <a:ln w="38100" cap="flat" cmpd="sng">
            <a:solidFill>
              <a:schemeClr val="hlink"/>
            </a:solidFill>
            <a:prstDash val="solid"/>
            <a:round/>
            <a:headEnd type="none" w="med" len="med"/>
            <a:tailEnd type="triangle" w="med" len="med"/>
          </a:ln>
        </p:spPr>
      </p:sp>
      <p:sp>
        <p:nvSpPr>
          <p:cNvPr id="36921" name="Rectangle 85"/>
          <p:cNvSpPr/>
          <p:nvPr/>
        </p:nvSpPr>
        <p:spPr>
          <a:xfrm>
            <a:off x="8220710" y="4688840"/>
            <a:ext cx="4572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922" name="Line 86"/>
          <p:cNvSpPr/>
          <p:nvPr/>
        </p:nvSpPr>
        <p:spPr>
          <a:xfrm>
            <a:off x="7611110" y="4765040"/>
            <a:ext cx="609600" cy="76200"/>
          </a:xfrm>
          <a:prstGeom prst="line">
            <a:avLst/>
          </a:prstGeom>
          <a:ln w="38100" cap="flat" cmpd="sng">
            <a:solidFill>
              <a:schemeClr val="hlink"/>
            </a:solidFill>
            <a:prstDash val="solid"/>
            <a:round/>
            <a:headEnd type="none" w="med" len="med"/>
            <a:tailEnd type="triangle" w="med" len="med"/>
          </a:ln>
        </p:spPr>
      </p:sp>
      <p:sp>
        <p:nvSpPr>
          <p:cNvPr id="36923" name="Text Box 87"/>
          <p:cNvSpPr txBox="1"/>
          <p:nvPr/>
        </p:nvSpPr>
        <p:spPr>
          <a:xfrm>
            <a:off x="322898" y="3642678"/>
            <a:ext cx="674687"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cq</a:t>
            </a:r>
          </a:p>
        </p:txBody>
      </p:sp>
      <p:sp>
        <p:nvSpPr>
          <p:cNvPr id="36924" name="Rectangle 88"/>
          <p:cNvSpPr/>
          <p:nvPr/>
        </p:nvSpPr>
        <p:spPr>
          <a:xfrm>
            <a:off x="754698" y="3642678"/>
            <a:ext cx="457200" cy="457200"/>
          </a:xfrm>
          <a:prstGeom prst="rect">
            <a:avLst/>
          </a:prstGeom>
          <a:no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6925" name="Line 89"/>
          <p:cNvSpPr/>
          <p:nvPr/>
        </p:nvSpPr>
        <p:spPr>
          <a:xfrm>
            <a:off x="953135" y="3858578"/>
            <a:ext cx="457200" cy="0"/>
          </a:xfrm>
          <a:prstGeom prst="line">
            <a:avLst/>
          </a:prstGeom>
          <a:ln w="38100" cap="flat" cmpd="sng">
            <a:solidFill>
              <a:srgbClr val="339966"/>
            </a:solidFill>
            <a:prstDash val="solid"/>
            <a:round/>
            <a:headEnd type="none" w="med" len="med"/>
            <a:tailEnd type="triangle" w="med" len="med"/>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p:nvPr>
        </p:nvSpPr>
        <p:spPr>
          <a:xfrm>
            <a:off x="1079500" y="964565"/>
            <a:ext cx="7792720" cy="783590"/>
          </a:xfrm>
        </p:spPr>
        <p:txBody>
          <a:bodyPr wrap="square" lIns="92075" tIns="46038" rIns="92075" bIns="46038" anchor="ctr"/>
          <a:lstStyle/>
          <a:p>
            <a:r>
              <a:rPr lang="en-US" altLang="en-US" sz="3600" dirty="0"/>
              <a:t>Insertion at End of a Circular Queue</a:t>
            </a:r>
          </a:p>
        </p:txBody>
      </p:sp>
      <p:sp>
        <p:nvSpPr>
          <p:cNvPr id="37890" name="Oval 3"/>
          <p:cNvSpPr/>
          <p:nvPr/>
        </p:nvSpPr>
        <p:spPr>
          <a:xfrm>
            <a:off x="4222115" y="2453640"/>
            <a:ext cx="4419600" cy="4114800"/>
          </a:xfrm>
          <a:prstGeom prst="ellipse">
            <a:avLst/>
          </a:prstGeom>
          <a:solidFill>
            <a:srgbClr val="FFFFFF"/>
          </a:solidFill>
          <a:ln w="38100" cap="flat" cmpd="sng">
            <a:solidFill>
              <a:schemeClr val="tx1"/>
            </a:solidFill>
            <a:prstDash val="solid"/>
            <a:round/>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891" name="Oval 4"/>
          <p:cNvSpPr/>
          <p:nvPr/>
        </p:nvSpPr>
        <p:spPr>
          <a:xfrm>
            <a:off x="4984115" y="3063240"/>
            <a:ext cx="2971800" cy="2819400"/>
          </a:xfrm>
          <a:prstGeom prst="ellipse">
            <a:avLst/>
          </a:prstGeom>
          <a:solidFill>
            <a:srgbClr val="FFFFFF"/>
          </a:solidFill>
          <a:ln w="38100" cap="flat" cmpd="sng">
            <a:solidFill>
              <a:schemeClr val="tx1"/>
            </a:solidFill>
            <a:prstDash val="solid"/>
            <a:round/>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892" name="Line 5"/>
          <p:cNvSpPr/>
          <p:nvPr/>
        </p:nvSpPr>
        <p:spPr>
          <a:xfrm flipH="1">
            <a:off x="4222115" y="4434840"/>
            <a:ext cx="762000" cy="0"/>
          </a:xfrm>
          <a:prstGeom prst="line">
            <a:avLst/>
          </a:prstGeom>
          <a:ln w="38100" cap="flat" cmpd="sng">
            <a:solidFill>
              <a:schemeClr val="tx1"/>
            </a:solidFill>
            <a:prstDash val="solid"/>
            <a:round/>
            <a:headEnd type="none" w="med" len="med"/>
            <a:tailEnd type="none" w="med" len="med"/>
          </a:ln>
        </p:spPr>
      </p:sp>
      <p:sp>
        <p:nvSpPr>
          <p:cNvPr id="37893" name="Line 6"/>
          <p:cNvSpPr/>
          <p:nvPr/>
        </p:nvSpPr>
        <p:spPr>
          <a:xfrm>
            <a:off x="7955915" y="4434840"/>
            <a:ext cx="685800" cy="0"/>
          </a:xfrm>
          <a:prstGeom prst="line">
            <a:avLst/>
          </a:prstGeom>
          <a:ln w="38100" cap="flat" cmpd="sng">
            <a:solidFill>
              <a:schemeClr val="tx1"/>
            </a:solidFill>
            <a:prstDash val="solid"/>
            <a:round/>
            <a:headEnd type="none" w="med" len="med"/>
            <a:tailEnd type="none" w="med" len="med"/>
          </a:ln>
        </p:spPr>
      </p:sp>
      <p:sp>
        <p:nvSpPr>
          <p:cNvPr id="37894" name="Line 7"/>
          <p:cNvSpPr/>
          <p:nvPr/>
        </p:nvSpPr>
        <p:spPr>
          <a:xfrm>
            <a:off x="6431915" y="2453640"/>
            <a:ext cx="0" cy="609600"/>
          </a:xfrm>
          <a:prstGeom prst="line">
            <a:avLst/>
          </a:prstGeom>
          <a:ln w="38100" cap="flat" cmpd="sng">
            <a:solidFill>
              <a:schemeClr val="tx1"/>
            </a:solidFill>
            <a:prstDash val="solid"/>
            <a:round/>
            <a:headEnd type="none" w="med" len="med"/>
            <a:tailEnd type="none" w="med" len="med"/>
          </a:ln>
        </p:spPr>
      </p:sp>
      <p:sp>
        <p:nvSpPr>
          <p:cNvPr id="37895" name="Line 8"/>
          <p:cNvSpPr/>
          <p:nvPr/>
        </p:nvSpPr>
        <p:spPr>
          <a:xfrm>
            <a:off x="6431915" y="5882640"/>
            <a:ext cx="0" cy="685800"/>
          </a:xfrm>
          <a:prstGeom prst="line">
            <a:avLst/>
          </a:prstGeom>
          <a:ln w="38100" cap="flat" cmpd="sng">
            <a:solidFill>
              <a:schemeClr val="tx1"/>
            </a:solidFill>
            <a:prstDash val="solid"/>
            <a:round/>
            <a:headEnd type="none" w="med" len="med"/>
            <a:tailEnd type="none" w="med" len="med"/>
          </a:ln>
        </p:spPr>
      </p:sp>
      <p:sp>
        <p:nvSpPr>
          <p:cNvPr id="37896" name="Line 9"/>
          <p:cNvSpPr/>
          <p:nvPr/>
        </p:nvSpPr>
        <p:spPr>
          <a:xfrm>
            <a:off x="4984115" y="2987040"/>
            <a:ext cx="457200" cy="457200"/>
          </a:xfrm>
          <a:prstGeom prst="line">
            <a:avLst/>
          </a:prstGeom>
          <a:ln w="38100" cap="flat" cmpd="sng">
            <a:solidFill>
              <a:schemeClr val="tx1"/>
            </a:solidFill>
            <a:prstDash val="solid"/>
            <a:round/>
            <a:headEnd type="none" w="med" len="med"/>
            <a:tailEnd type="none" w="med" len="med"/>
          </a:ln>
        </p:spPr>
      </p:sp>
      <p:sp>
        <p:nvSpPr>
          <p:cNvPr id="37897" name="Line 10"/>
          <p:cNvSpPr/>
          <p:nvPr/>
        </p:nvSpPr>
        <p:spPr>
          <a:xfrm>
            <a:off x="7574915" y="5425440"/>
            <a:ext cx="533400" cy="457200"/>
          </a:xfrm>
          <a:prstGeom prst="line">
            <a:avLst/>
          </a:prstGeom>
          <a:ln w="38100" cap="flat" cmpd="sng">
            <a:solidFill>
              <a:schemeClr val="tx1"/>
            </a:solidFill>
            <a:prstDash val="solid"/>
            <a:round/>
            <a:headEnd type="none" w="med" len="med"/>
            <a:tailEnd type="none" w="med" len="med"/>
          </a:ln>
        </p:spPr>
      </p:sp>
      <p:sp>
        <p:nvSpPr>
          <p:cNvPr id="37898" name="Line 11"/>
          <p:cNvSpPr/>
          <p:nvPr/>
        </p:nvSpPr>
        <p:spPr>
          <a:xfrm flipH="1">
            <a:off x="4831715" y="5425440"/>
            <a:ext cx="533400" cy="533400"/>
          </a:xfrm>
          <a:prstGeom prst="line">
            <a:avLst/>
          </a:prstGeom>
          <a:ln w="38100" cap="flat" cmpd="sng">
            <a:solidFill>
              <a:schemeClr val="tx1"/>
            </a:solidFill>
            <a:prstDash val="solid"/>
            <a:round/>
            <a:headEnd type="none" w="med" len="med"/>
            <a:tailEnd type="none" w="med" len="med"/>
          </a:ln>
        </p:spPr>
      </p:sp>
      <p:sp>
        <p:nvSpPr>
          <p:cNvPr id="37899" name="Line 12"/>
          <p:cNvSpPr/>
          <p:nvPr/>
        </p:nvSpPr>
        <p:spPr>
          <a:xfrm flipH="1">
            <a:off x="7422515" y="2910840"/>
            <a:ext cx="457200" cy="457200"/>
          </a:xfrm>
          <a:prstGeom prst="line">
            <a:avLst/>
          </a:prstGeom>
          <a:ln w="38100" cap="flat" cmpd="sng">
            <a:solidFill>
              <a:schemeClr val="tx1"/>
            </a:solidFill>
            <a:prstDash val="solid"/>
            <a:round/>
            <a:headEnd type="none" w="med" len="med"/>
            <a:tailEnd type="none" w="med" len="med"/>
          </a:ln>
        </p:spPr>
      </p:sp>
      <p:sp>
        <p:nvSpPr>
          <p:cNvPr id="37900" name="Line 13"/>
          <p:cNvSpPr/>
          <p:nvPr/>
        </p:nvSpPr>
        <p:spPr>
          <a:xfrm>
            <a:off x="5669915" y="2606040"/>
            <a:ext cx="228600" cy="609600"/>
          </a:xfrm>
          <a:prstGeom prst="line">
            <a:avLst/>
          </a:prstGeom>
          <a:ln w="38100" cap="flat" cmpd="sng">
            <a:solidFill>
              <a:schemeClr val="tx1"/>
            </a:solidFill>
            <a:prstDash val="solid"/>
            <a:round/>
            <a:headEnd type="none" w="med" len="med"/>
            <a:tailEnd type="none" w="med" len="med"/>
          </a:ln>
        </p:spPr>
      </p:sp>
      <p:sp>
        <p:nvSpPr>
          <p:cNvPr id="37901" name="Line 14"/>
          <p:cNvSpPr/>
          <p:nvPr/>
        </p:nvSpPr>
        <p:spPr>
          <a:xfrm>
            <a:off x="7041515" y="5806440"/>
            <a:ext cx="228600" cy="609600"/>
          </a:xfrm>
          <a:prstGeom prst="line">
            <a:avLst/>
          </a:prstGeom>
          <a:ln w="38100" cap="flat" cmpd="sng">
            <a:solidFill>
              <a:schemeClr val="tx1"/>
            </a:solidFill>
            <a:prstDash val="solid"/>
            <a:round/>
            <a:headEnd type="none" w="med" len="med"/>
            <a:tailEnd type="none" w="med" len="med"/>
          </a:ln>
        </p:spPr>
      </p:sp>
      <p:sp>
        <p:nvSpPr>
          <p:cNvPr id="37902" name="Line 15"/>
          <p:cNvSpPr/>
          <p:nvPr/>
        </p:nvSpPr>
        <p:spPr>
          <a:xfrm>
            <a:off x="4450715" y="3672840"/>
            <a:ext cx="685800" cy="304800"/>
          </a:xfrm>
          <a:prstGeom prst="line">
            <a:avLst/>
          </a:prstGeom>
          <a:ln w="38100" cap="flat" cmpd="sng">
            <a:solidFill>
              <a:schemeClr val="tx1"/>
            </a:solidFill>
            <a:prstDash val="solid"/>
            <a:round/>
            <a:headEnd type="none" w="med" len="med"/>
            <a:tailEnd type="none" w="med" len="med"/>
          </a:ln>
        </p:spPr>
      </p:sp>
      <p:sp>
        <p:nvSpPr>
          <p:cNvPr id="37903" name="Line 16"/>
          <p:cNvSpPr/>
          <p:nvPr/>
        </p:nvSpPr>
        <p:spPr>
          <a:xfrm>
            <a:off x="7879715" y="4968240"/>
            <a:ext cx="685800" cy="228600"/>
          </a:xfrm>
          <a:prstGeom prst="line">
            <a:avLst/>
          </a:prstGeom>
          <a:ln w="38100" cap="flat" cmpd="sng">
            <a:solidFill>
              <a:schemeClr val="tx1"/>
            </a:solidFill>
            <a:prstDash val="solid"/>
            <a:round/>
            <a:headEnd type="none" w="med" len="med"/>
            <a:tailEnd type="none" w="med" len="med"/>
          </a:ln>
        </p:spPr>
      </p:sp>
      <p:sp>
        <p:nvSpPr>
          <p:cNvPr id="37904" name="Line 17"/>
          <p:cNvSpPr/>
          <p:nvPr/>
        </p:nvSpPr>
        <p:spPr>
          <a:xfrm flipH="1">
            <a:off x="6965315" y="2606040"/>
            <a:ext cx="228600" cy="533400"/>
          </a:xfrm>
          <a:prstGeom prst="line">
            <a:avLst/>
          </a:prstGeom>
          <a:ln w="38100" cap="flat" cmpd="sng">
            <a:solidFill>
              <a:schemeClr val="tx1"/>
            </a:solidFill>
            <a:prstDash val="solid"/>
            <a:round/>
            <a:headEnd type="none" w="med" len="med"/>
            <a:tailEnd type="none" w="med" len="med"/>
          </a:ln>
        </p:spPr>
      </p:sp>
      <p:sp>
        <p:nvSpPr>
          <p:cNvPr id="37905" name="Line 18"/>
          <p:cNvSpPr/>
          <p:nvPr/>
        </p:nvSpPr>
        <p:spPr>
          <a:xfrm flipH="1">
            <a:off x="7803515" y="3596640"/>
            <a:ext cx="609600" cy="304800"/>
          </a:xfrm>
          <a:prstGeom prst="line">
            <a:avLst/>
          </a:prstGeom>
          <a:ln w="38100" cap="flat" cmpd="sng">
            <a:solidFill>
              <a:schemeClr val="tx1"/>
            </a:solidFill>
            <a:prstDash val="solid"/>
            <a:round/>
            <a:headEnd type="none" w="med" len="med"/>
            <a:tailEnd type="none" w="med" len="med"/>
          </a:ln>
        </p:spPr>
      </p:sp>
      <p:sp>
        <p:nvSpPr>
          <p:cNvPr id="37906" name="Line 19"/>
          <p:cNvSpPr/>
          <p:nvPr/>
        </p:nvSpPr>
        <p:spPr>
          <a:xfrm flipV="1">
            <a:off x="4374515" y="4968240"/>
            <a:ext cx="685800" cy="228600"/>
          </a:xfrm>
          <a:prstGeom prst="line">
            <a:avLst/>
          </a:prstGeom>
          <a:ln w="38100" cap="flat" cmpd="sng">
            <a:solidFill>
              <a:schemeClr val="tx1"/>
            </a:solidFill>
            <a:prstDash val="solid"/>
            <a:round/>
            <a:headEnd type="none" w="med" len="med"/>
            <a:tailEnd type="none" w="med" len="med"/>
          </a:ln>
        </p:spPr>
      </p:sp>
      <p:sp>
        <p:nvSpPr>
          <p:cNvPr id="37907" name="Rectangle 20"/>
          <p:cNvSpPr/>
          <p:nvPr/>
        </p:nvSpPr>
        <p:spPr>
          <a:xfrm>
            <a:off x="1909128" y="3906203"/>
            <a:ext cx="457200" cy="457200"/>
          </a:xfrm>
          <a:prstGeom prst="rect">
            <a:avLst/>
          </a:prstGeom>
          <a:no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08" name="Text Box 21"/>
          <p:cNvSpPr txBox="1"/>
          <p:nvPr/>
        </p:nvSpPr>
        <p:spPr>
          <a:xfrm>
            <a:off x="1764665" y="4338003"/>
            <a:ext cx="8382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rear</a:t>
            </a:r>
          </a:p>
        </p:txBody>
      </p:sp>
      <p:sp>
        <p:nvSpPr>
          <p:cNvPr id="37909" name="Text Box 22"/>
          <p:cNvSpPr txBox="1"/>
          <p:nvPr/>
        </p:nvSpPr>
        <p:spPr>
          <a:xfrm>
            <a:off x="1764665" y="3472815"/>
            <a:ext cx="7620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front</a:t>
            </a:r>
          </a:p>
        </p:txBody>
      </p:sp>
      <p:sp>
        <p:nvSpPr>
          <p:cNvPr id="37910" name="Rectangle 23"/>
          <p:cNvSpPr/>
          <p:nvPr/>
        </p:nvSpPr>
        <p:spPr>
          <a:xfrm>
            <a:off x="1909128" y="2969578"/>
            <a:ext cx="4572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11" name="Rectangle 24"/>
          <p:cNvSpPr/>
          <p:nvPr/>
        </p:nvSpPr>
        <p:spPr>
          <a:xfrm>
            <a:off x="1620203" y="2834640"/>
            <a:ext cx="1839912" cy="1905000"/>
          </a:xfrm>
          <a:prstGeom prst="rect">
            <a:avLst/>
          </a:prstGeom>
          <a:noFill/>
          <a:ln w="38100" cap="flat" cmpd="sng">
            <a:solidFill>
              <a:schemeClr val="accent2"/>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12" name="Rectangle 26"/>
          <p:cNvSpPr/>
          <p:nvPr/>
        </p:nvSpPr>
        <p:spPr>
          <a:xfrm>
            <a:off x="2698115" y="3901440"/>
            <a:ext cx="457200" cy="457200"/>
          </a:xfrm>
          <a:prstGeom prst="rect">
            <a:avLst/>
          </a:prstGeom>
          <a:no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13" name="Text Box 27"/>
          <p:cNvSpPr txBox="1"/>
          <p:nvPr/>
        </p:nvSpPr>
        <p:spPr>
          <a:xfrm>
            <a:off x="2774315" y="39776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chemeClr val="tx1"/>
                </a:solidFill>
                <a:latin typeface="+mn-lt"/>
                <a:cs typeface="+mn-lt"/>
              </a:rPr>
              <a:t>4</a:t>
            </a:r>
          </a:p>
        </p:txBody>
      </p:sp>
      <p:sp>
        <p:nvSpPr>
          <p:cNvPr id="37914" name="Text Box 28"/>
          <p:cNvSpPr txBox="1"/>
          <p:nvPr/>
        </p:nvSpPr>
        <p:spPr>
          <a:xfrm>
            <a:off x="2545715" y="3444240"/>
            <a:ext cx="9144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queue</a:t>
            </a:r>
          </a:p>
        </p:txBody>
      </p:sp>
      <p:sp>
        <p:nvSpPr>
          <p:cNvPr id="37915" name="Rectangle 29"/>
          <p:cNvSpPr/>
          <p:nvPr/>
        </p:nvSpPr>
        <p:spPr>
          <a:xfrm>
            <a:off x="2698115" y="2987040"/>
            <a:ext cx="457200" cy="457200"/>
          </a:xfrm>
          <a:prstGeom prst="rect">
            <a:avLst/>
          </a:prstGeom>
          <a:no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16" name="Text Box 30"/>
          <p:cNvSpPr txBox="1"/>
          <p:nvPr/>
        </p:nvSpPr>
        <p:spPr>
          <a:xfrm>
            <a:off x="2545715" y="4358640"/>
            <a:ext cx="9144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count</a:t>
            </a:r>
          </a:p>
        </p:txBody>
      </p:sp>
      <p:sp>
        <p:nvSpPr>
          <p:cNvPr id="37917" name="Text Box 31"/>
          <p:cNvSpPr txBox="1"/>
          <p:nvPr/>
        </p:nvSpPr>
        <p:spPr>
          <a:xfrm>
            <a:off x="1980565" y="39776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chemeClr val="tx1"/>
                </a:solidFill>
                <a:latin typeface="+mn-lt"/>
                <a:cs typeface="+mn-lt"/>
              </a:rPr>
              <a:t>1</a:t>
            </a:r>
          </a:p>
        </p:txBody>
      </p:sp>
      <p:sp>
        <p:nvSpPr>
          <p:cNvPr id="37918" name="Line 32"/>
          <p:cNvSpPr/>
          <p:nvPr/>
        </p:nvSpPr>
        <p:spPr>
          <a:xfrm>
            <a:off x="2926715" y="3215640"/>
            <a:ext cx="1600200" cy="304800"/>
          </a:xfrm>
          <a:prstGeom prst="line">
            <a:avLst/>
          </a:prstGeom>
          <a:ln w="38100" cap="flat" cmpd="sng">
            <a:solidFill>
              <a:schemeClr val="hlink"/>
            </a:solidFill>
            <a:prstDash val="solid"/>
            <a:round/>
            <a:headEnd type="none" w="med" len="med"/>
            <a:tailEnd type="triangle" w="med" len="med"/>
          </a:ln>
        </p:spPr>
      </p:sp>
      <p:sp>
        <p:nvSpPr>
          <p:cNvPr id="37919" name="Text Box 33"/>
          <p:cNvSpPr txBox="1"/>
          <p:nvPr/>
        </p:nvSpPr>
        <p:spPr>
          <a:xfrm>
            <a:off x="1909128" y="3041015"/>
            <a:ext cx="533400" cy="368300"/>
          </a:xfrm>
          <a:prstGeom prst="rect">
            <a:avLst/>
          </a:prstGeom>
          <a:noFill/>
          <a:ln w="9525">
            <a:noFill/>
          </a:ln>
        </p:spPr>
        <p:txBody>
          <a:bodyPr anchor="t">
            <a:spAutoFit/>
          </a:bodyPr>
          <a:lstStyle/>
          <a:p>
            <a:pPr eaLnBrk="0" hangingPunct="0">
              <a:spcBef>
                <a:spcPct val="50000"/>
              </a:spcBef>
            </a:pPr>
            <a:r>
              <a:rPr lang="en-US" altLang="en-US" sz="1800" dirty="0">
                <a:solidFill>
                  <a:schemeClr val="tx1"/>
                </a:solidFill>
                <a:latin typeface="+mn-lt"/>
                <a:cs typeface="+mn-lt"/>
              </a:rPr>
              <a:t>98</a:t>
            </a:r>
          </a:p>
        </p:txBody>
      </p:sp>
      <p:sp>
        <p:nvSpPr>
          <p:cNvPr id="37920" name="Text Box 34"/>
          <p:cNvSpPr txBox="1"/>
          <p:nvPr/>
        </p:nvSpPr>
        <p:spPr>
          <a:xfrm>
            <a:off x="5288915" y="35966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0</a:t>
            </a:r>
          </a:p>
        </p:txBody>
      </p:sp>
      <p:sp>
        <p:nvSpPr>
          <p:cNvPr id="37921" name="Text Box 35"/>
          <p:cNvSpPr txBox="1"/>
          <p:nvPr/>
        </p:nvSpPr>
        <p:spPr>
          <a:xfrm>
            <a:off x="5593715" y="32918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1</a:t>
            </a:r>
          </a:p>
        </p:txBody>
      </p:sp>
      <p:sp>
        <p:nvSpPr>
          <p:cNvPr id="37922" name="Text Box 36"/>
          <p:cNvSpPr txBox="1"/>
          <p:nvPr/>
        </p:nvSpPr>
        <p:spPr>
          <a:xfrm>
            <a:off x="5974715" y="31394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2</a:t>
            </a:r>
          </a:p>
        </p:txBody>
      </p:sp>
      <p:sp>
        <p:nvSpPr>
          <p:cNvPr id="37923" name="Text Box 37"/>
          <p:cNvSpPr txBox="1"/>
          <p:nvPr/>
        </p:nvSpPr>
        <p:spPr>
          <a:xfrm>
            <a:off x="6431915" y="31394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3</a:t>
            </a:r>
          </a:p>
        </p:txBody>
      </p:sp>
      <p:sp>
        <p:nvSpPr>
          <p:cNvPr id="37924" name="Text Box 38"/>
          <p:cNvSpPr txBox="1"/>
          <p:nvPr/>
        </p:nvSpPr>
        <p:spPr>
          <a:xfrm>
            <a:off x="6889115" y="32156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4</a:t>
            </a:r>
          </a:p>
        </p:txBody>
      </p:sp>
      <p:sp>
        <p:nvSpPr>
          <p:cNvPr id="37925" name="Text Box 39"/>
          <p:cNvSpPr txBox="1"/>
          <p:nvPr/>
        </p:nvSpPr>
        <p:spPr>
          <a:xfrm>
            <a:off x="7270115" y="35204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5</a:t>
            </a:r>
          </a:p>
        </p:txBody>
      </p:sp>
      <p:sp>
        <p:nvSpPr>
          <p:cNvPr id="37926" name="Text Box 40"/>
          <p:cNvSpPr txBox="1"/>
          <p:nvPr/>
        </p:nvSpPr>
        <p:spPr>
          <a:xfrm>
            <a:off x="7574915" y="39776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6</a:t>
            </a:r>
          </a:p>
        </p:txBody>
      </p:sp>
      <p:sp>
        <p:nvSpPr>
          <p:cNvPr id="37927" name="Text Box 41"/>
          <p:cNvSpPr txBox="1"/>
          <p:nvPr/>
        </p:nvSpPr>
        <p:spPr>
          <a:xfrm>
            <a:off x="7574915" y="44348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7</a:t>
            </a:r>
          </a:p>
        </p:txBody>
      </p:sp>
      <p:sp>
        <p:nvSpPr>
          <p:cNvPr id="37928" name="Text Box 42"/>
          <p:cNvSpPr txBox="1"/>
          <p:nvPr/>
        </p:nvSpPr>
        <p:spPr>
          <a:xfrm>
            <a:off x="7346315" y="48920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8</a:t>
            </a:r>
          </a:p>
        </p:txBody>
      </p:sp>
      <p:sp>
        <p:nvSpPr>
          <p:cNvPr id="37929" name="Text Box 43"/>
          <p:cNvSpPr txBox="1"/>
          <p:nvPr/>
        </p:nvSpPr>
        <p:spPr>
          <a:xfrm>
            <a:off x="7041515" y="5196840"/>
            <a:ext cx="360363"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9</a:t>
            </a:r>
          </a:p>
        </p:txBody>
      </p:sp>
      <p:sp>
        <p:nvSpPr>
          <p:cNvPr id="37930" name="Text Box 44"/>
          <p:cNvSpPr txBox="1"/>
          <p:nvPr/>
        </p:nvSpPr>
        <p:spPr>
          <a:xfrm>
            <a:off x="6508115" y="5349240"/>
            <a:ext cx="5334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10</a:t>
            </a:r>
          </a:p>
        </p:txBody>
      </p:sp>
      <p:sp>
        <p:nvSpPr>
          <p:cNvPr id="37931" name="Text Box 45"/>
          <p:cNvSpPr txBox="1"/>
          <p:nvPr/>
        </p:nvSpPr>
        <p:spPr>
          <a:xfrm>
            <a:off x="5060315" y="4053840"/>
            <a:ext cx="685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99</a:t>
            </a:r>
          </a:p>
        </p:txBody>
      </p:sp>
      <p:sp>
        <p:nvSpPr>
          <p:cNvPr id="37932" name="Text Box 46"/>
          <p:cNvSpPr txBox="1"/>
          <p:nvPr/>
        </p:nvSpPr>
        <p:spPr>
          <a:xfrm>
            <a:off x="5060315" y="4434840"/>
            <a:ext cx="685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98</a:t>
            </a:r>
          </a:p>
        </p:txBody>
      </p:sp>
      <p:sp>
        <p:nvSpPr>
          <p:cNvPr id="37933" name="Text Box 47"/>
          <p:cNvSpPr txBox="1"/>
          <p:nvPr/>
        </p:nvSpPr>
        <p:spPr>
          <a:xfrm>
            <a:off x="5288915" y="4892040"/>
            <a:ext cx="685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97</a:t>
            </a:r>
          </a:p>
        </p:txBody>
      </p:sp>
      <p:sp>
        <p:nvSpPr>
          <p:cNvPr id="37934" name="Text Box 48"/>
          <p:cNvSpPr txBox="1"/>
          <p:nvPr/>
        </p:nvSpPr>
        <p:spPr>
          <a:xfrm>
            <a:off x="5288915" y="5196840"/>
            <a:ext cx="304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a:t>
            </a:r>
          </a:p>
        </p:txBody>
      </p:sp>
      <p:sp>
        <p:nvSpPr>
          <p:cNvPr id="37935" name="Text Box 49"/>
          <p:cNvSpPr txBox="1"/>
          <p:nvPr/>
        </p:nvSpPr>
        <p:spPr>
          <a:xfrm>
            <a:off x="5898515" y="5425440"/>
            <a:ext cx="304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a:t>
            </a:r>
          </a:p>
        </p:txBody>
      </p:sp>
      <p:sp>
        <p:nvSpPr>
          <p:cNvPr id="37936" name="Text Box 50"/>
          <p:cNvSpPr txBox="1"/>
          <p:nvPr/>
        </p:nvSpPr>
        <p:spPr>
          <a:xfrm>
            <a:off x="5593715" y="5395278"/>
            <a:ext cx="3048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a:t>
            </a:r>
          </a:p>
        </p:txBody>
      </p:sp>
      <p:sp>
        <p:nvSpPr>
          <p:cNvPr id="37937" name="Rectangle 51"/>
          <p:cNvSpPr/>
          <p:nvPr/>
        </p:nvSpPr>
        <p:spPr>
          <a:xfrm>
            <a:off x="3612515" y="3672840"/>
            <a:ext cx="457200" cy="457200"/>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38" name="Rectangle 52"/>
          <p:cNvSpPr/>
          <p:nvPr/>
        </p:nvSpPr>
        <p:spPr>
          <a:xfrm>
            <a:off x="3536315" y="4815840"/>
            <a:ext cx="457200" cy="4572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39" name="Rectangle 53"/>
          <p:cNvSpPr/>
          <p:nvPr/>
        </p:nvSpPr>
        <p:spPr>
          <a:xfrm>
            <a:off x="4907915" y="1996440"/>
            <a:ext cx="4572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40" name="Rectangle 54"/>
          <p:cNvSpPr/>
          <p:nvPr/>
        </p:nvSpPr>
        <p:spPr>
          <a:xfrm>
            <a:off x="3993515" y="2606040"/>
            <a:ext cx="457200" cy="4572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41" name="Line 59"/>
          <p:cNvSpPr/>
          <p:nvPr/>
        </p:nvSpPr>
        <p:spPr>
          <a:xfrm flipH="1">
            <a:off x="3993515" y="4739640"/>
            <a:ext cx="685800" cy="304800"/>
          </a:xfrm>
          <a:prstGeom prst="line">
            <a:avLst/>
          </a:prstGeom>
          <a:ln w="38100" cap="flat" cmpd="sng">
            <a:solidFill>
              <a:schemeClr val="hlink"/>
            </a:solidFill>
            <a:prstDash val="solid"/>
            <a:round/>
            <a:headEnd type="none" w="med" len="med"/>
            <a:tailEnd type="triangle" w="med" len="med"/>
          </a:ln>
        </p:spPr>
      </p:sp>
      <p:sp>
        <p:nvSpPr>
          <p:cNvPr id="37942" name="Line 60"/>
          <p:cNvSpPr/>
          <p:nvPr/>
        </p:nvSpPr>
        <p:spPr>
          <a:xfrm flipH="1" flipV="1">
            <a:off x="4069715" y="3901440"/>
            <a:ext cx="533400" cy="152400"/>
          </a:xfrm>
          <a:prstGeom prst="line">
            <a:avLst/>
          </a:prstGeom>
          <a:ln w="38100" cap="flat" cmpd="sng">
            <a:solidFill>
              <a:schemeClr val="hlink"/>
            </a:solidFill>
            <a:prstDash val="solid"/>
            <a:round/>
            <a:headEnd type="none" w="med" len="med"/>
            <a:tailEnd type="triangle" w="med" len="med"/>
          </a:ln>
        </p:spPr>
      </p:sp>
      <p:sp>
        <p:nvSpPr>
          <p:cNvPr id="37943" name="Line 61"/>
          <p:cNvSpPr/>
          <p:nvPr/>
        </p:nvSpPr>
        <p:spPr>
          <a:xfrm flipH="1" flipV="1">
            <a:off x="4450715" y="2910840"/>
            <a:ext cx="533400" cy="533400"/>
          </a:xfrm>
          <a:prstGeom prst="line">
            <a:avLst/>
          </a:prstGeom>
          <a:ln w="38100" cap="flat" cmpd="sng">
            <a:solidFill>
              <a:schemeClr val="hlink"/>
            </a:solidFill>
            <a:prstDash val="solid"/>
            <a:round/>
            <a:headEnd type="none" w="med" len="med"/>
            <a:tailEnd type="triangle" w="med" len="med"/>
          </a:ln>
        </p:spPr>
      </p:sp>
      <p:sp>
        <p:nvSpPr>
          <p:cNvPr id="37944" name="Line 62"/>
          <p:cNvSpPr/>
          <p:nvPr/>
        </p:nvSpPr>
        <p:spPr>
          <a:xfrm flipH="1" flipV="1">
            <a:off x="5136515" y="2453640"/>
            <a:ext cx="304800" cy="533400"/>
          </a:xfrm>
          <a:prstGeom prst="line">
            <a:avLst/>
          </a:prstGeom>
          <a:ln w="38100" cap="flat" cmpd="sng">
            <a:solidFill>
              <a:schemeClr val="hlink"/>
            </a:solidFill>
            <a:prstDash val="solid"/>
            <a:round/>
            <a:headEnd type="none" w="med" len="med"/>
            <a:tailEnd type="triangle" w="med" len="med"/>
          </a:ln>
        </p:spPr>
      </p:sp>
      <p:sp>
        <p:nvSpPr>
          <p:cNvPr id="37945" name="Text Box 63"/>
          <p:cNvSpPr txBox="1"/>
          <p:nvPr/>
        </p:nvSpPr>
        <p:spPr>
          <a:xfrm>
            <a:off x="466090" y="3642678"/>
            <a:ext cx="863600" cy="368300"/>
          </a:xfrm>
          <a:prstGeom prst="rect">
            <a:avLst/>
          </a:prstGeom>
          <a:noFill/>
          <a:ln w="9525">
            <a:noFill/>
          </a:ln>
        </p:spPr>
        <p:txBody>
          <a:bodyPr anchor="t">
            <a:spAutoFit/>
          </a:bodyPr>
          <a:lstStyle/>
          <a:p>
            <a:pPr eaLnBrk="0" hangingPunct="0">
              <a:spcBef>
                <a:spcPct val="50000"/>
              </a:spcBef>
            </a:pPr>
            <a:r>
              <a:rPr lang="en-US" altLang="en-US" sz="1800" dirty="0">
                <a:solidFill>
                  <a:srgbClr val="C00000"/>
                </a:solidFill>
                <a:latin typeface="+mn-lt"/>
                <a:cs typeface="+mn-lt"/>
              </a:rPr>
              <a:t>cq</a:t>
            </a:r>
          </a:p>
        </p:txBody>
      </p:sp>
      <p:sp>
        <p:nvSpPr>
          <p:cNvPr id="37946" name="Rectangle 64"/>
          <p:cNvSpPr/>
          <p:nvPr/>
        </p:nvSpPr>
        <p:spPr>
          <a:xfrm>
            <a:off x="970915" y="3642678"/>
            <a:ext cx="457200" cy="457200"/>
          </a:xfrm>
          <a:prstGeom prst="rect">
            <a:avLst/>
          </a:prstGeom>
          <a:noFill/>
          <a:ln w="9525" cap="flat" cmpd="sng">
            <a:solidFill>
              <a:schemeClr val="tx1"/>
            </a:solidFill>
            <a:prstDash val="solid"/>
            <a:miter/>
            <a:headEnd type="none" w="med" len="med"/>
            <a:tailEnd type="none" w="med" len="med"/>
          </a:ln>
        </p:spPr>
        <p:txBody>
          <a:bodyPr wrap="none" anchor="ctr"/>
          <a:lstStyle/>
          <a:p>
            <a:pPr eaLnBrk="0" hangingPunct="0"/>
            <a:endParaRPr lang="en-US" altLang="en-US" sz="1800" dirty="0">
              <a:latin typeface="+mn-lt"/>
              <a:cs typeface="+mn-lt"/>
            </a:endParaRPr>
          </a:p>
        </p:txBody>
      </p:sp>
      <p:sp>
        <p:nvSpPr>
          <p:cNvPr id="37947" name="Line 65"/>
          <p:cNvSpPr/>
          <p:nvPr/>
        </p:nvSpPr>
        <p:spPr>
          <a:xfrm>
            <a:off x="1186815" y="3858578"/>
            <a:ext cx="431800" cy="0"/>
          </a:xfrm>
          <a:prstGeom prst="line">
            <a:avLst/>
          </a:prstGeom>
          <a:ln w="38100" cap="flat" cmpd="sng">
            <a:solidFill>
              <a:srgbClr val="339966"/>
            </a:solidFill>
            <a:prstDash val="solid"/>
            <a:round/>
            <a:headEnd type="none" w="med" len="med"/>
            <a:tailEnd type="triangle" w="med" len="med"/>
          </a:ln>
        </p:spPr>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ext Box 4"/>
          <p:cNvSpPr txBox="1"/>
          <p:nvPr/>
        </p:nvSpPr>
        <p:spPr>
          <a:xfrm>
            <a:off x="1059815" y="610870"/>
            <a:ext cx="7529195" cy="1200150"/>
          </a:xfrm>
          <a:prstGeom prst="rect">
            <a:avLst/>
          </a:prstGeom>
          <a:noFill/>
          <a:ln w="9525">
            <a:noFill/>
          </a:ln>
        </p:spPr>
        <p:txBody>
          <a:bodyPr wrap="square" lIns="90000" tIns="46800" rIns="90000" bIns="46800" anchor="t">
            <a:spAutoFit/>
          </a:bodyPr>
          <a:lstStyle/>
          <a:p>
            <a:pPr algn="l" defTabSz="9144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solidFill>
                  <a:srgbClr val="1552D1"/>
                </a:solidFill>
                <a:latin typeface="+mj-lt"/>
                <a:cs typeface="+mj-lt"/>
              </a:rPr>
              <a:t>Algorithm for Insert Operation in Circular Queue</a:t>
            </a:r>
            <a:endParaRPr lang="en-GB" altLang="en-US" sz="3600" dirty="0">
              <a:solidFill>
                <a:srgbClr val="1552D1"/>
              </a:solidFill>
              <a:latin typeface="+mj-lt"/>
              <a:ea typeface="Arial" panose="020B0604020202020204" pitchFamily="34" charset="0"/>
              <a:cs typeface="+mj-lt"/>
            </a:endParaRPr>
          </a:p>
        </p:txBody>
      </p:sp>
      <p:sp>
        <p:nvSpPr>
          <p:cNvPr id="13318" name="Text Box 5"/>
          <p:cNvSpPr txBox="1">
            <a:spLocks noChangeArrowheads="1"/>
          </p:cNvSpPr>
          <p:nvPr/>
        </p:nvSpPr>
        <p:spPr bwMode="auto">
          <a:xfrm>
            <a:off x="834390" y="1811020"/>
            <a:ext cx="8157210" cy="4932680"/>
          </a:xfrm>
          <a:prstGeom prst="rect">
            <a:avLst/>
          </a:prstGeom>
          <a:noFill/>
          <a:ln>
            <a:noFill/>
          </a:ln>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9pPr>
          </a:lstStyle>
          <a:p>
            <a:pPr marL="0" marR="0" lvl="0" indent="0" algn="just" defTabSz="914400" rtl="0" eaLnBrk="0" fontAlgn="base" latinLnBrk="0" hangingPunct="0">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en-US" b="0" i="0"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Arial" panose="020B0604020202020204" pitchFamily="34" charset="0"/>
                <a:sym typeface="+mn-ea"/>
              </a:rPr>
              <a:t>Insert-Circular-Q(</a:t>
            </a:r>
            <a:r>
              <a:rPr kumimoji="0" lang="en-GB" altLang="en-US" b="0" i="0" strike="noStrike" kern="1200" cap="none" spc="0" normalizeH="0" baseline="0" noProof="0" dirty="0" err="1" smtClean="0">
                <a:ln>
                  <a:noFill/>
                </a:ln>
                <a:solidFill>
                  <a:srgbClr val="C00000"/>
                </a:solidFill>
                <a:effectLst/>
                <a:uLnTx/>
                <a:uFillTx/>
                <a:latin typeface="Times New Roman" panose="02020603050405020304" pitchFamily="18" charset="0"/>
                <a:ea typeface="+mn-ea"/>
                <a:cs typeface="Arial" panose="020B0604020202020204" pitchFamily="34" charset="0"/>
                <a:sym typeface="+mn-ea"/>
              </a:rPr>
              <a:t>CQueue</a:t>
            </a:r>
            <a:r>
              <a:rPr kumimoji="0" lang="en-GB" altLang="en-US" b="0" i="0"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Arial" panose="020B0604020202020204" pitchFamily="34" charset="0"/>
                <a:sym typeface="+mn-ea"/>
              </a:rPr>
              <a:t>, Rear, Front, N, Item)</a:t>
            </a:r>
          </a:p>
          <a:p>
            <a:pPr marL="342900" marR="0" lvl="0" indent="-342900" algn="just" defTabSz="914400" rtl="0" eaLnBrk="0" fontAlgn="base" latinLnBrk="0" hangingPunct="0">
              <a:lnSpc>
                <a:spcPct val="110000"/>
              </a:lnSpc>
              <a:spcBef>
                <a:spcPct val="0"/>
              </a:spcBef>
              <a:spcAft>
                <a:spcPct val="0"/>
              </a:spcAft>
              <a:buClrTx/>
              <a:buSzTx/>
              <a:buFont typeface="Wingdings" panose="05000000000000000000"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en-US" b="0" i="0" u="none" strike="noStrike" kern="1200" cap="none" spc="0" normalizeH="0" baseline="0" noProof="0" dirty="0" err="1"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rPr>
              <a:t>CQueue</a:t>
            </a:r>
            <a:r>
              <a:rPr kumimoji="0" lang="en-GB" altLang="en-US"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rPr>
              <a:t> is a circular queue where to store data. </a:t>
            </a:r>
          </a:p>
          <a:p>
            <a:pPr marL="342900" marR="0" lvl="0" indent="-342900" algn="just" defTabSz="914400" rtl="0" eaLnBrk="0" fontAlgn="base" latinLnBrk="0" hangingPunct="0">
              <a:lnSpc>
                <a:spcPct val="110000"/>
              </a:lnSpc>
              <a:spcBef>
                <a:spcPct val="0"/>
              </a:spcBef>
              <a:spcAft>
                <a:spcPct val="0"/>
              </a:spcAft>
              <a:buClrTx/>
              <a:buSzTx/>
              <a:buFont typeface="Wingdings" panose="05000000000000000000"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en-US"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rPr>
              <a:t>Rear represents the location in which the data element is to be inserted and Front represents the location from which the data element is to be removed.  </a:t>
            </a:r>
          </a:p>
          <a:p>
            <a:pPr marL="342900" marR="0" lvl="0" indent="-342900" algn="just" defTabSz="914400" rtl="0" eaLnBrk="0" fontAlgn="base" latinLnBrk="0" hangingPunct="0">
              <a:lnSpc>
                <a:spcPct val="110000"/>
              </a:lnSpc>
              <a:spcBef>
                <a:spcPct val="0"/>
              </a:spcBef>
              <a:spcAft>
                <a:spcPct val="0"/>
              </a:spcAft>
              <a:buClrTx/>
              <a:buSzTx/>
              <a:buFont typeface="Wingdings" panose="05000000000000000000"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en-US"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rPr>
              <a:t>N is the size of </a:t>
            </a:r>
            <a:r>
              <a:rPr kumimoji="0" lang="en-GB" altLang="en-US" b="0" i="0" u="none" strike="noStrike" kern="1200" cap="none" spc="0" normalizeH="0" baseline="0" noProof="0" dirty="0" err="1"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rPr>
              <a:t>CQueue</a:t>
            </a:r>
            <a:r>
              <a:rPr kumimoji="0" lang="en-GB" altLang="en-US"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rPr>
              <a:t> and finally, Item is the new item to be added. </a:t>
            </a:r>
            <a:r>
              <a:rPr kumimoji="0" lang="en-GB" altLang="en-US" b="0" i="0" u="none" strike="noStrike" kern="1200" cap="none" spc="0" normalizeH="0" baseline="0" noProof="0" dirty="0" err="1"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rPr>
              <a:t>Initailly</a:t>
            </a:r>
            <a:r>
              <a:rPr kumimoji="0" lang="en-GB" altLang="en-US"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rPr>
              <a:t> Rear = -1 and Front = -1.</a:t>
            </a:r>
          </a:p>
          <a:p>
            <a:pPr marL="342900" marR="0" lvl="0" indent="-342900" algn="just" defTabSz="914400" rtl="0" eaLnBrk="0" fontAlgn="base" latinLnBrk="0" hangingPunct="0">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n-GB" altLang="en-US"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Arial" panose="020B0604020202020204" pitchFamily="34" charset="0"/>
              <a:sym typeface="+mn-ea"/>
            </a:endParaRPr>
          </a:p>
          <a:p>
            <a:pPr marL="916305" marR="0" lvl="0" indent="-456565" algn="l" defTabSz="914400" rtl="0" eaLnBrk="0" fontAlgn="base" latinLnBrk="0" hangingPunct="0">
              <a:lnSpc>
                <a:spcPct val="110000"/>
              </a:lnSpc>
              <a:spcBef>
                <a:spcPct val="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sym typeface="+mn-ea"/>
              </a:rPr>
              <a:t>If (Front == (Rear+1)%MAX)</a:t>
            </a:r>
          </a:p>
          <a:p>
            <a:pPr marL="916305" marR="0" lvl="0" indent="-456565" algn="l" defTabSz="914400" rtl="0" eaLnBrk="0" fontAlgn="base" latinLnBrk="0" hangingPunct="0">
              <a:lnSpc>
                <a:spcPct val="110000"/>
              </a:lnSpc>
              <a:spcBef>
                <a:spcPct val="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sym typeface="+mn-ea"/>
              </a:rPr>
              <a:t>        Print “circular queue overflow”</a:t>
            </a:r>
          </a:p>
          <a:p>
            <a:pPr marL="916305" marR="0" lvl="0" indent="-456565" algn="l" defTabSz="914400" rtl="0" eaLnBrk="0" fontAlgn="base" latinLnBrk="0" hangingPunct="0">
              <a:lnSpc>
                <a:spcPct val="110000"/>
              </a:lnSpc>
              <a:spcBef>
                <a:spcPct val="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sym typeface="+mn-ea"/>
              </a:rPr>
              <a:t>        Return</a:t>
            </a:r>
          </a:p>
          <a:p>
            <a:pPr marL="916305" marR="0" lvl="0" indent="-456565" algn="l" defTabSz="914400" rtl="0" eaLnBrk="0" fontAlgn="base" latinLnBrk="0" hangingPunct="0">
              <a:lnSpc>
                <a:spcPct val="110000"/>
              </a:lnSpc>
              <a:spcBef>
                <a:spcPct val="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sym typeface="+mn-ea"/>
              </a:rPr>
              <a:t>Rear = (Rear+1)%MAX</a:t>
            </a:r>
          </a:p>
          <a:p>
            <a:pPr marL="916305" marR="0" lvl="0" indent="-456565" algn="l" defTabSz="914400" rtl="0" eaLnBrk="0" fontAlgn="base" latinLnBrk="0" hangingPunct="0">
              <a:lnSpc>
                <a:spcPct val="110000"/>
              </a:lnSpc>
              <a:spcBef>
                <a:spcPct val="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err="1" smtClean="0">
                <a:ln>
                  <a:noFill/>
                </a:ln>
                <a:solidFill>
                  <a:schemeClr val="tx1"/>
                </a:solidFill>
                <a:effectLst/>
                <a:uLnTx/>
                <a:uFillTx/>
                <a:latin typeface="Times New Roman" panose="02020603050405020304" pitchFamily="18" charset="0"/>
                <a:ea typeface="+mn-ea"/>
                <a:cs typeface="+mn-cs"/>
                <a:sym typeface="+mn-ea"/>
              </a:rPr>
              <a:t>CQueue</a:t>
            </a: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sym typeface="+mn-ea"/>
              </a:rPr>
              <a:t>[Rear] = Item;</a:t>
            </a:r>
          </a:p>
          <a:p>
            <a:pPr marL="916305" marR="0" lvl="0" indent="-456565" algn="l" defTabSz="914400" rtl="0" eaLnBrk="0" fontAlgn="base" latinLnBrk="0" hangingPunct="0">
              <a:lnSpc>
                <a:spcPct val="110000"/>
              </a:lnSpc>
              <a:spcBef>
                <a:spcPct val="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sym typeface="+mn-ea"/>
              </a:rPr>
              <a:t>If (Front == -1 ) </a:t>
            </a:r>
          </a:p>
          <a:p>
            <a:pPr marL="916305" marR="0" lvl="0" indent="-456565" algn="l" defTabSz="914400" rtl="0" eaLnBrk="0" fontAlgn="base" latinLnBrk="0" hangingPunct="0">
              <a:lnSpc>
                <a:spcPct val="110000"/>
              </a:lnSpc>
              <a:spcBef>
                <a:spcPct val="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sym typeface="+mn-ea"/>
              </a:rPr>
              <a:t>       Front = 0;</a:t>
            </a:r>
            <a:endParaRPr kumimoji="0" lang="en-GB" alt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Arial" panose="020B0604020202020204" pitchFamily="34" charset="0"/>
              <a:sym typeface="+mn-ea"/>
            </a:endParaRP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Text Box 4"/>
          <p:cNvSpPr txBox="1">
            <a:spLocks noChangeArrowheads="1"/>
          </p:cNvSpPr>
          <p:nvPr/>
        </p:nvSpPr>
        <p:spPr bwMode="auto">
          <a:xfrm>
            <a:off x="774700" y="1716405"/>
            <a:ext cx="8284210" cy="4960620"/>
          </a:xfrm>
          <a:prstGeom prst="rect">
            <a:avLst/>
          </a:prstGeom>
          <a:noFill/>
          <a:ln>
            <a:noFill/>
          </a:ln>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accent2"/>
                </a:solidFill>
                <a:latin typeface="Times New Roman" panose="02020603050405020304" pitchFamily="18" charset="0"/>
              </a:defRPr>
            </a:lvl9pPr>
          </a:lstStyle>
          <a:p>
            <a:pPr marL="0" marR="0" lvl="0" indent="0" algn="l" defTabSz="914400" rtl="0" eaLnBrk="0" fontAlgn="base" latinLnBrk="0" hangingPunct="0">
              <a:lnSpc>
                <a:spcPct val="110000"/>
              </a:lnSpc>
              <a:spcBef>
                <a:spcPts val="60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en-US" b="0" i="0" strike="noStrike" kern="1200" cap="none" spc="0" normalizeH="0" baseline="0" noProof="0" dirty="0" smtClean="0">
                <a:ln>
                  <a:noFill/>
                </a:ln>
                <a:solidFill>
                  <a:srgbClr val="C00000"/>
                </a:solidFill>
                <a:effectLst/>
                <a:uLnTx/>
                <a:uFillTx/>
                <a:latin typeface="+mn-lt"/>
                <a:ea typeface="+mn-ea"/>
                <a:cs typeface="+mn-lt"/>
                <a:sym typeface="+mn-ea"/>
              </a:rPr>
              <a:t>Delete-Circular-Q(</a:t>
            </a:r>
            <a:r>
              <a:rPr kumimoji="0" lang="en-GB" altLang="en-US" b="0" i="0" strike="noStrike" kern="1200" cap="none" spc="0" normalizeH="0" baseline="0" noProof="0" dirty="0" err="1" smtClean="0">
                <a:ln>
                  <a:noFill/>
                </a:ln>
                <a:solidFill>
                  <a:srgbClr val="C00000"/>
                </a:solidFill>
                <a:effectLst/>
                <a:uLnTx/>
                <a:uFillTx/>
                <a:latin typeface="+mn-lt"/>
                <a:ea typeface="+mn-ea"/>
                <a:cs typeface="+mn-lt"/>
                <a:sym typeface="+mn-ea"/>
              </a:rPr>
              <a:t>CQueue</a:t>
            </a:r>
            <a:r>
              <a:rPr kumimoji="0" lang="en-GB" altLang="en-US" b="0" i="0" strike="noStrike" kern="1200" cap="none" spc="0" normalizeH="0" baseline="0" noProof="0" dirty="0" smtClean="0">
                <a:ln>
                  <a:noFill/>
                </a:ln>
                <a:solidFill>
                  <a:srgbClr val="C00000"/>
                </a:solidFill>
                <a:effectLst/>
                <a:uLnTx/>
                <a:uFillTx/>
                <a:latin typeface="+mn-lt"/>
                <a:ea typeface="+mn-ea"/>
                <a:cs typeface="+mn-lt"/>
                <a:sym typeface="+mn-ea"/>
              </a:rPr>
              <a:t>, Front, Rear, Item)</a:t>
            </a:r>
          </a:p>
          <a:p>
            <a:pPr marL="342900" marR="0" lvl="0" indent="-342900" algn="just" defTabSz="914400" rtl="0" eaLnBrk="0" fontAlgn="base" latinLnBrk="0" hangingPunct="0">
              <a:lnSpc>
                <a:spcPct val="110000"/>
              </a:lnSpc>
              <a:spcBef>
                <a:spcPts val="600"/>
              </a:spcBef>
              <a:spcAft>
                <a:spcPct val="0"/>
              </a:spcAft>
              <a:buClrTx/>
              <a:buSzTx/>
              <a:buFont typeface="Wingdings" panose="05000000000000000000"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en-US" b="0" i="0" u="none" strike="noStrike" kern="1200" cap="none" spc="0" normalizeH="0" baseline="0" noProof="0" dirty="0" err="1" smtClean="0">
                <a:ln>
                  <a:noFill/>
                </a:ln>
                <a:solidFill>
                  <a:srgbClr val="000000"/>
                </a:solidFill>
                <a:effectLst/>
                <a:uLnTx/>
                <a:uFillTx/>
                <a:latin typeface="+mn-lt"/>
                <a:ea typeface="+mn-ea"/>
                <a:cs typeface="+mn-lt"/>
                <a:sym typeface="+mn-ea"/>
              </a:rPr>
              <a:t>CQueue</a:t>
            </a:r>
            <a:r>
              <a:rPr kumimoji="0" lang="en-GB" altLang="en-US" b="0" i="0" u="none" strike="noStrike" kern="1200" cap="none" spc="0" normalizeH="0" baseline="0" noProof="0" dirty="0" smtClean="0">
                <a:ln>
                  <a:noFill/>
                </a:ln>
                <a:solidFill>
                  <a:srgbClr val="000000"/>
                </a:solidFill>
                <a:effectLst/>
                <a:uLnTx/>
                <a:uFillTx/>
                <a:latin typeface="+mn-lt"/>
                <a:ea typeface="+mn-ea"/>
                <a:cs typeface="+mn-lt"/>
                <a:sym typeface="+mn-ea"/>
              </a:rPr>
              <a:t> is the place where data are stored. </a:t>
            </a:r>
          </a:p>
          <a:p>
            <a:pPr marL="342900" marR="0" lvl="0" indent="-342900" algn="just" defTabSz="914400" rtl="0" eaLnBrk="0" fontAlgn="base" latinLnBrk="0" hangingPunct="0">
              <a:lnSpc>
                <a:spcPct val="110000"/>
              </a:lnSpc>
              <a:spcBef>
                <a:spcPts val="600"/>
              </a:spcBef>
              <a:spcAft>
                <a:spcPct val="0"/>
              </a:spcAft>
              <a:buClrTx/>
              <a:buSzTx/>
              <a:buFont typeface="Wingdings" panose="05000000000000000000"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altLang="en-US" b="0" i="0" u="none" strike="noStrike" kern="1200" cap="none" spc="0" normalizeH="0" baseline="0" noProof="0" dirty="0" smtClean="0">
                <a:ln>
                  <a:noFill/>
                </a:ln>
                <a:solidFill>
                  <a:srgbClr val="000000"/>
                </a:solidFill>
                <a:effectLst/>
                <a:uLnTx/>
                <a:uFillTx/>
                <a:latin typeface="+mn-lt"/>
                <a:ea typeface="+mn-ea"/>
                <a:cs typeface="+mn-lt"/>
                <a:sym typeface="+mn-ea"/>
              </a:rPr>
              <a:t>Rear represents the location in which the data element is to be inserted and Front represents the location from which the data element is to be removed. </a:t>
            </a:r>
          </a:p>
          <a:p>
            <a:pPr marL="0" marR="0" lvl="0" indent="0" algn="just" defTabSz="914400" rtl="0" eaLnBrk="0" fontAlgn="base" latinLnBrk="0" hangingPunct="0">
              <a:lnSpc>
                <a:spcPct val="110000"/>
              </a:lnSpc>
              <a:spcBef>
                <a:spcPts val="60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n-GB" altLang="en-US" b="0" i="0" u="none" strike="noStrike" kern="1200" cap="none" spc="0" normalizeH="0" baseline="0" noProof="0" dirty="0" smtClean="0">
              <a:ln>
                <a:noFill/>
              </a:ln>
              <a:solidFill>
                <a:srgbClr val="000000"/>
              </a:solidFill>
              <a:effectLst/>
              <a:uLnTx/>
              <a:uFillTx/>
              <a:latin typeface="+mn-lt"/>
              <a:ea typeface="+mn-ea"/>
              <a:cs typeface="+mn-lt"/>
              <a:sym typeface="+mn-ea"/>
            </a:endParaRPr>
          </a:p>
          <a:p>
            <a:pPr marL="906145" marR="0" lvl="0" indent="-456565" algn="l" rtl="0" eaLnBrk="0" fontAlgn="base" hangingPunct="0">
              <a:lnSpc>
                <a:spcPct val="90000"/>
              </a:lnSpc>
              <a:spcBef>
                <a:spcPts val="60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if ((Front == Rear) &amp;&amp; (Rear == -1))</a:t>
            </a:r>
          </a:p>
          <a:p>
            <a:pPr marL="906145" marR="0" lvl="0" indent="-456565" algn="l" rtl="0" eaLnBrk="0" fontAlgn="base" hangingPunct="0">
              <a:lnSpc>
                <a:spcPct val="90000"/>
              </a:lnSpc>
              <a:spcBef>
                <a:spcPts val="60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        Print “Circular Queue underflow”</a:t>
            </a:r>
          </a:p>
          <a:p>
            <a:pPr marL="906145" marR="0" lvl="0" indent="-456565" algn="l" rtl="0" eaLnBrk="0" fontAlgn="base" hangingPunct="0">
              <a:lnSpc>
                <a:spcPct val="90000"/>
              </a:lnSpc>
              <a:spcBef>
                <a:spcPts val="60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        Return</a:t>
            </a:r>
          </a:p>
          <a:p>
            <a:pPr marL="906145" marR="0" lvl="0" indent="-456565" algn="l" rtl="0" eaLnBrk="0" fontAlgn="base" hangingPunct="0">
              <a:lnSpc>
                <a:spcPct val="90000"/>
              </a:lnSpc>
              <a:spcBef>
                <a:spcPts val="60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Item = </a:t>
            </a:r>
            <a:r>
              <a:rPr kumimoji="0" lang="en-US" sz="1800" b="0" i="0" u="none" strike="noStrike" kern="1200" cap="none" spc="0" normalizeH="0" baseline="0" noProof="0" dirty="0" err="1" smtClean="0">
                <a:ln>
                  <a:noFill/>
                </a:ln>
                <a:solidFill>
                  <a:schemeClr val="tx1"/>
                </a:solidFill>
                <a:effectLst/>
                <a:uLnTx/>
                <a:uFillTx/>
                <a:latin typeface="+mn-lt"/>
                <a:ea typeface="+mn-ea"/>
                <a:cs typeface="+mn-lt"/>
                <a:sym typeface="+mn-ea"/>
              </a:rPr>
              <a:t>CQueue</a:t>
            </a: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[Front]</a:t>
            </a:r>
          </a:p>
          <a:p>
            <a:pPr marL="906145" marR="0" lvl="0" indent="-456565" algn="l" rtl="0" eaLnBrk="0" fontAlgn="base" hangingPunct="0">
              <a:lnSpc>
                <a:spcPct val="90000"/>
              </a:lnSpc>
              <a:spcBef>
                <a:spcPts val="60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If (Front == Rear) </a:t>
            </a:r>
          </a:p>
          <a:p>
            <a:pPr marL="906145" marR="0" lvl="0" indent="-456565" algn="l" rtl="0" eaLnBrk="0" fontAlgn="base" hangingPunct="0">
              <a:lnSpc>
                <a:spcPct val="90000"/>
              </a:lnSpc>
              <a:spcBef>
                <a:spcPts val="60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      Front=Rear = -1</a:t>
            </a:r>
          </a:p>
          <a:p>
            <a:pPr marL="906145" marR="0" lvl="0" indent="-456565" algn="l" rtl="0" eaLnBrk="0" fontAlgn="base" hangingPunct="0">
              <a:lnSpc>
                <a:spcPct val="90000"/>
              </a:lnSpc>
              <a:spcBef>
                <a:spcPts val="60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Else   </a:t>
            </a:r>
          </a:p>
          <a:p>
            <a:pPr marL="906145" marR="0" lvl="0" indent="-456565" algn="l" rtl="0" eaLnBrk="0" fontAlgn="base" hangingPunct="0">
              <a:lnSpc>
                <a:spcPct val="90000"/>
              </a:lnSpc>
              <a:spcBef>
                <a:spcPts val="600"/>
              </a:spcBef>
              <a:spcAft>
                <a:spcPct val="0"/>
              </a:spcAft>
              <a:buClrTx/>
              <a:buSzTx/>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lt"/>
                <a:sym typeface="+mn-ea"/>
              </a:rPr>
              <a:t>      Front = (Front + 1) % MAX</a:t>
            </a:r>
            <a:endParaRPr kumimoji="0" lang="en-GB" altLang="en-US" sz="1800" b="0" i="0" u="none" strike="noStrike" kern="1200" cap="none" spc="0" normalizeH="0" baseline="0" noProof="0" dirty="0" smtClean="0">
              <a:ln>
                <a:noFill/>
              </a:ln>
              <a:solidFill>
                <a:schemeClr val="tx1"/>
              </a:solidFill>
              <a:effectLst/>
              <a:uLnTx/>
              <a:uFillTx/>
              <a:latin typeface="+mn-lt"/>
              <a:ea typeface="+mn-ea"/>
              <a:cs typeface="+mn-lt"/>
              <a:sym typeface="+mn-ea"/>
            </a:endParaRPr>
          </a:p>
        </p:txBody>
      </p:sp>
      <p:sp>
        <p:nvSpPr>
          <p:cNvPr id="40962" name="Text Box 4"/>
          <p:cNvSpPr txBox="1"/>
          <p:nvPr/>
        </p:nvSpPr>
        <p:spPr>
          <a:xfrm>
            <a:off x="1094105" y="516255"/>
            <a:ext cx="7645400" cy="1200150"/>
          </a:xfrm>
          <a:prstGeom prst="rect">
            <a:avLst/>
          </a:prstGeom>
          <a:noFill/>
          <a:ln w="9525">
            <a:noFill/>
          </a:ln>
        </p:spPr>
        <p:txBody>
          <a:bodyPr wrap="square" lIns="90000" tIns="46800" rIns="90000" bIns="46800" anchor="t">
            <a:spAutoFit/>
          </a:bodyPr>
          <a:lstStyle/>
          <a:p>
            <a:pPr algn="l" defTabSz="9144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dirty="0">
                <a:solidFill>
                  <a:srgbClr val="1552D1"/>
                </a:solidFill>
                <a:latin typeface="+mj-lt"/>
                <a:cs typeface="+mj-lt"/>
              </a:rPr>
              <a:t>Algorithm for Delete Operation in Circular Queue</a:t>
            </a:r>
            <a:endParaRPr lang="en-GB" altLang="en-US" sz="3600" dirty="0">
              <a:solidFill>
                <a:srgbClr val="1552D1"/>
              </a:solidFill>
              <a:latin typeface="+mj-lt"/>
              <a:ea typeface="Arial" panose="020B0604020202020204" pitchFamily="34" charset="0"/>
              <a:cs typeface="+mj-lt"/>
            </a:endParaRP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a:xfrm>
            <a:off x="1217930" y="874395"/>
            <a:ext cx="7240270" cy="824865"/>
          </a:xfrm>
        </p:spPr>
        <p:txBody>
          <a:bodyPr wrap="square" lIns="92075" tIns="46038" rIns="92075" bIns="46038" anchor="ctr"/>
          <a:lstStyle/>
          <a:p>
            <a:r>
              <a:rPr lang="en-US" altLang="en-US" sz="3600" dirty="0">
                <a:ea typeface="MS Mincho" panose="02020609040205080304" pitchFamily="49" charset="-128"/>
              </a:rPr>
              <a:t>Implementing cqueue using arrays</a:t>
            </a:r>
            <a:endParaRPr lang="en-US" altLang="en-US" sz="3600" dirty="0"/>
          </a:p>
        </p:txBody>
      </p:sp>
      <p:sp>
        <p:nvSpPr>
          <p:cNvPr id="43010" name="Rectangle 3"/>
          <p:cNvSpPr>
            <a:spLocks noGrp="1"/>
          </p:cNvSpPr>
          <p:nvPr>
            <p:ph idx="1"/>
          </p:nvPr>
        </p:nvSpPr>
        <p:spPr>
          <a:xfrm>
            <a:off x="889000" y="1938655"/>
            <a:ext cx="7569200" cy="2938145"/>
          </a:xfrm>
        </p:spPr>
        <p:txBody>
          <a:bodyPr wrap="square" lIns="92075" tIns="46038" rIns="92075" bIns="46038" anchor="t"/>
          <a:lstStyle/>
          <a:p>
            <a:pPr>
              <a:spcBef>
                <a:spcPts val="1200"/>
              </a:spcBef>
            </a:pPr>
            <a:r>
              <a:rPr lang="en-US" altLang="en-US" sz="2000" dirty="0"/>
              <a:t>Simple implementation</a:t>
            </a:r>
          </a:p>
          <a:p>
            <a:pPr>
              <a:spcBef>
                <a:spcPts val="1200"/>
              </a:spcBef>
            </a:pPr>
            <a:r>
              <a:rPr lang="en-US" altLang="en-US" sz="2000" dirty="0"/>
              <a:t>The size of the queue must be determined when it is declared</a:t>
            </a:r>
          </a:p>
          <a:p>
            <a:pPr>
              <a:spcBef>
                <a:spcPts val="1200"/>
              </a:spcBef>
            </a:pPr>
            <a:r>
              <a:rPr lang="en-US" altLang="en-US" sz="2000" dirty="0"/>
              <a:t>Space is wasted if less elements are used</a:t>
            </a:r>
          </a:p>
          <a:p>
            <a:pPr>
              <a:spcBef>
                <a:spcPts val="1200"/>
              </a:spcBef>
            </a:pPr>
            <a:r>
              <a:rPr lang="en-US" altLang="en-US" sz="2000" dirty="0">
                <a:ea typeface="MS Mincho" panose="02020609040205080304" pitchFamily="49" charset="-128"/>
              </a:rPr>
              <a:t>“insert" cannot be performed for more elements than the array can hold</a:t>
            </a:r>
            <a:r>
              <a:rPr lang="en-US" altLang="en-US" sz="2000" dirty="0"/>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a:xfrm>
            <a:off x="1217930" y="874395"/>
            <a:ext cx="7240270" cy="824865"/>
          </a:xfrm>
        </p:spPr>
        <p:txBody>
          <a:bodyPr wrap="square" lIns="92075" tIns="46038" rIns="92075" bIns="46038" anchor="ctr"/>
          <a:lstStyle/>
          <a:p>
            <a:r>
              <a:rPr lang="en-US" altLang="en-US" sz="3600" dirty="0">
                <a:ea typeface="MS Mincho" panose="02020609040205080304" pitchFamily="49" charset="-128"/>
              </a:rPr>
              <a:t>Implementing cqueue using arrays</a:t>
            </a:r>
            <a:endParaRPr lang="en-US" altLang="en-US" sz="3600" dirty="0"/>
          </a:p>
        </p:txBody>
      </p:sp>
      <p:sp>
        <p:nvSpPr>
          <p:cNvPr id="43010" name="Rectangle 3"/>
          <p:cNvSpPr>
            <a:spLocks noGrp="1"/>
          </p:cNvSpPr>
          <p:nvPr>
            <p:ph idx="1"/>
          </p:nvPr>
        </p:nvSpPr>
        <p:spPr>
          <a:xfrm>
            <a:off x="123825" y="1938655"/>
            <a:ext cx="4532630" cy="4778375"/>
          </a:xfrm>
        </p:spPr>
        <p:txBody>
          <a:bodyPr wrap="square" lIns="92075" tIns="46038" rIns="92075" bIns="46038" anchor="t"/>
          <a:lstStyle/>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#include&lt;stdio.h&gt;</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#define SIZE 5</a:t>
            </a:r>
          </a:p>
          <a:p>
            <a:pPr marL="0" indent="0" defTabSz="914400">
              <a:spcBef>
                <a:spcPts val="0"/>
              </a:spcBef>
              <a:buNone/>
              <a:tabLst>
                <a:tab pos="457200" algn="l"/>
                <a:tab pos="914400" algn="l"/>
                <a:tab pos="1371600" algn="l"/>
                <a:tab pos="1828800" algn="l"/>
              </a:tabLst>
            </a:pP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typedef struct queue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int cque[SIZE];</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int rear;</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int front;</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}CQueue;</a:t>
            </a:r>
          </a:p>
          <a:p>
            <a:pPr marL="0" indent="0" defTabSz="914400">
              <a:spcBef>
                <a:spcPts val="0"/>
              </a:spcBef>
              <a:buNone/>
              <a:tabLst>
                <a:tab pos="457200" algn="l"/>
                <a:tab pos="914400" algn="l"/>
                <a:tab pos="1371600" algn="l"/>
                <a:tab pos="1828800" algn="l"/>
              </a:tabLst>
            </a:pP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void insert(CQueue *cq)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int item;</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if(cq-&gt;front == (cq-&gt;rear+1) % MAX)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printf("CQueue Overflow...\n");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return;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printf("Enter the item :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scanf("%d", &amp;item);</a:t>
            </a:r>
          </a:p>
        </p:txBody>
      </p:sp>
      <p:sp>
        <p:nvSpPr>
          <p:cNvPr id="2" name="Rectangle 3"/>
          <p:cNvSpPr>
            <a:spLocks noGrp="1"/>
          </p:cNvSpPr>
          <p:nvPr/>
        </p:nvSpPr>
        <p:spPr>
          <a:xfrm>
            <a:off x="4765040" y="1938655"/>
            <a:ext cx="4230370" cy="4778375"/>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if(cq-&gt;front == -1) {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cq-&gt;front = 0;</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cq-&gt;rear = 0;</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else</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cq-&gt;rear = (cq-&gt;rear+1) % SIZE;</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cq-&gt;cque[cq-&gt;rear] = item;</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a:xfrm>
            <a:off x="1217930" y="874395"/>
            <a:ext cx="7240270" cy="824865"/>
          </a:xfrm>
        </p:spPr>
        <p:txBody>
          <a:bodyPr wrap="square" lIns="92075" tIns="46038" rIns="92075" bIns="46038" anchor="ctr"/>
          <a:lstStyle/>
          <a:p>
            <a:r>
              <a:rPr lang="en-US" altLang="en-US" sz="3600" dirty="0">
                <a:ea typeface="MS Mincho" panose="02020609040205080304" pitchFamily="49" charset="-128"/>
              </a:rPr>
              <a:t>Implementing cqueue using arrays</a:t>
            </a:r>
            <a:endParaRPr lang="en-US" altLang="en-US" sz="3600" dirty="0"/>
          </a:p>
        </p:txBody>
      </p:sp>
      <p:sp>
        <p:nvSpPr>
          <p:cNvPr id="43010" name="Rectangle 3"/>
          <p:cNvSpPr>
            <a:spLocks noGrp="1"/>
          </p:cNvSpPr>
          <p:nvPr>
            <p:ph idx="1"/>
          </p:nvPr>
        </p:nvSpPr>
        <p:spPr>
          <a:xfrm>
            <a:off x="43815" y="1938655"/>
            <a:ext cx="4622800" cy="4778375"/>
          </a:xfrm>
        </p:spPr>
        <p:txBody>
          <a:bodyPr wrap="square" lIns="92075" tIns="46038" rIns="92075" bIns="46038" anchor="t"/>
          <a:lstStyle/>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void del(CQueue *cq)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if(cq-&gt;front == -1)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printf("CQueue Underflow...\n");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return;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printf("Item : %d\n", cq-&gt;cque[cq-&gt;front]);</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if(cq-&gt;front == cq-&gt;rear)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cq-&gt;front = -1;</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cq-&gt;rear = -1;</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else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cq-&gt;front = (cq-&gt;front+1) % SIZE;</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a:t>
            </a:r>
          </a:p>
        </p:txBody>
      </p:sp>
      <p:sp>
        <p:nvSpPr>
          <p:cNvPr id="2" name="Rectangle 3"/>
          <p:cNvSpPr>
            <a:spLocks noGrp="1"/>
          </p:cNvSpPr>
          <p:nvPr/>
        </p:nvSpPr>
        <p:spPr>
          <a:xfrm>
            <a:off x="4765040" y="1938655"/>
            <a:ext cx="4230370" cy="4778375"/>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void display(CQueue cq)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int i;</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if(cq.front == -1)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printf("CQueue is Empty...\n");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return;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printf("Front -&gt; %d\n", cq.front);</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printf("Elements -&gt;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for(i = cq.front; i != cq.rear; i= (i+1) %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SIZE)</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printf("%d  ", cq.cque[i]);</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printf("%d\n", cq.cque[i]);</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printf("Rear -&gt; %d\n", cq.rear);</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a:xfrm>
            <a:off x="1217930" y="874395"/>
            <a:ext cx="7240270" cy="824865"/>
          </a:xfrm>
        </p:spPr>
        <p:txBody>
          <a:bodyPr wrap="square" lIns="92075" tIns="46038" rIns="92075" bIns="46038" anchor="ctr"/>
          <a:lstStyle/>
          <a:p>
            <a:r>
              <a:rPr lang="en-US" altLang="en-US" sz="3600" dirty="0">
                <a:ea typeface="MS Mincho" panose="02020609040205080304" pitchFamily="49" charset="-128"/>
              </a:rPr>
              <a:t>Implementing cqueue using arrays</a:t>
            </a:r>
            <a:endParaRPr lang="en-US" altLang="en-US" sz="3600" dirty="0"/>
          </a:p>
        </p:txBody>
      </p:sp>
      <p:sp>
        <p:nvSpPr>
          <p:cNvPr id="43010" name="Rectangle 3"/>
          <p:cNvSpPr>
            <a:spLocks noGrp="1"/>
          </p:cNvSpPr>
          <p:nvPr>
            <p:ph idx="1"/>
          </p:nvPr>
        </p:nvSpPr>
        <p:spPr>
          <a:xfrm>
            <a:off x="43815" y="1938655"/>
            <a:ext cx="4622800" cy="4778375"/>
          </a:xfrm>
        </p:spPr>
        <p:txBody>
          <a:bodyPr wrap="square" lIns="92075" tIns="46038" rIns="92075" bIns="46038" anchor="t"/>
          <a:lstStyle/>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int main()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CQueue cq;</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int choice;</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cq.rear = cq.front = -1;</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do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printf("1.Insert\n");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printf("2.Delete\n");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printf("3.Display\n");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printf("4.Quit\n");</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printf("Enter your choice : ");</a:t>
            </a: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rPr>
              <a:t>		scanf("%d", &amp;choice);</a:t>
            </a:r>
          </a:p>
          <a:p>
            <a:pPr marL="0" indent="0" defTabSz="914400">
              <a:spcBef>
                <a:spcPts val="0"/>
              </a:spcBef>
              <a:buNone/>
              <a:tabLst>
                <a:tab pos="457200" algn="l"/>
                <a:tab pos="914400" algn="l"/>
                <a:tab pos="1371600" algn="l"/>
                <a:tab pos="1828800" algn="l"/>
              </a:tabLst>
            </a:pPr>
            <a:endParaRPr lang="en-US" altLang="en-US" sz="1800" dirty="0">
              <a:latin typeface="Times New Roman" panose="02020603050405020304" pitchFamily="18" charset="0"/>
              <a:cs typeface="Times New Roman" panose="02020603050405020304" pitchFamily="18" charset="0"/>
            </a:endParaRPr>
          </a:p>
        </p:txBody>
      </p:sp>
      <p:sp>
        <p:nvSpPr>
          <p:cNvPr id="2" name="Rectangle 3"/>
          <p:cNvSpPr>
            <a:spLocks noGrp="1"/>
          </p:cNvSpPr>
          <p:nvPr/>
        </p:nvSpPr>
        <p:spPr>
          <a:xfrm>
            <a:off x="4312920" y="1699260"/>
            <a:ext cx="4681855" cy="5079365"/>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switch(choice) {</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case 1 :</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insert(&amp;cq);</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break;</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case 2 :</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del(&amp;cq);</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break;</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case 3:</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display(cq);</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break;</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case 4:</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break;</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default:</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printf("Wrong choice\n");</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}while(choice!=4);</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	return 0;</a:t>
            </a:r>
            <a:endParaRPr lang="en-US" altLang="en-US" sz="1800" dirty="0">
              <a:latin typeface="Times New Roman" panose="02020603050405020304" pitchFamily="18" charset="0"/>
              <a:cs typeface="Times New Roman" panose="02020603050405020304" pitchFamily="18" charset="0"/>
            </a:endParaRPr>
          </a:p>
          <a:p>
            <a:pPr marL="0" indent="0" defTabSz="914400">
              <a:spcBef>
                <a:spcPts val="0"/>
              </a:spcBef>
              <a:buNone/>
              <a:tabLst>
                <a:tab pos="457200" algn="l"/>
                <a:tab pos="914400" algn="l"/>
                <a:tab pos="1371600" algn="l"/>
                <a:tab pos="1828800" algn="l"/>
              </a:tabLst>
            </a:pPr>
            <a:r>
              <a:rPr lang="en-US" altLang="en-US" sz="1800" dirty="0">
                <a:latin typeface="Times New Roman" panose="02020603050405020304" pitchFamily="18" charset="0"/>
                <a:cs typeface="Times New Roman" panose="02020603050405020304" pitchFamily="18" charset="0"/>
                <a:sym typeface="+mn-ea"/>
              </a:rPr>
              <a:t>}</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type="title"/>
          </p:nvPr>
        </p:nvSpPr>
        <p:spPr>
          <a:xfrm>
            <a:off x="1102360" y="774065"/>
            <a:ext cx="7898130" cy="914400"/>
          </a:xfrm>
        </p:spPr>
        <p:txBody>
          <a:bodyPr wrap="square" lIns="92075" tIns="46038" rIns="92075" bIns="46038" anchor="ctr"/>
          <a:lstStyle/>
          <a:p>
            <a:r>
              <a:rPr lang="en-US" altLang="en-US" sz="3600" dirty="0">
                <a:ea typeface="MS Mincho" panose="02020609040205080304" pitchFamily="49" charset="-128"/>
              </a:rPr>
              <a:t>Implementing queues using linked lists</a:t>
            </a:r>
            <a:endParaRPr lang="en-US" altLang="en-US" sz="3600" dirty="0"/>
          </a:p>
        </p:txBody>
      </p:sp>
      <p:sp>
        <p:nvSpPr>
          <p:cNvPr id="44034" name="Rectangle 3"/>
          <p:cNvSpPr>
            <a:spLocks noGrp="1"/>
          </p:cNvSpPr>
          <p:nvPr>
            <p:ph idx="1"/>
          </p:nvPr>
        </p:nvSpPr>
        <p:spPr>
          <a:xfrm>
            <a:off x="959485" y="1877060"/>
            <a:ext cx="7529830" cy="1676400"/>
          </a:xfrm>
        </p:spPr>
        <p:txBody>
          <a:bodyPr wrap="square" lIns="92075" tIns="46038" rIns="92075" bIns="46038" anchor="t"/>
          <a:lstStyle/>
          <a:p>
            <a:pPr>
              <a:spcBef>
                <a:spcPts val="600"/>
              </a:spcBef>
            </a:pPr>
            <a:r>
              <a:rPr lang="en-US" altLang="en-US" sz="2000" dirty="0"/>
              <a:t>Allocate memory for each new element dynamically</a:t>
            </a:r>
          </a:p>
          <a:p>
            <a:pPr>
              <a:spcBef>
                <a:spcPts val="600"/>
              </a:spcBef>
            </a:pPr>
            <a:r>
              <a:rPr lang="en-US" altLang="en-US" sz="2000" dirty="0"/>
              <a:t>Link the queue elements together </a:t>
            </a:r>
          </a:p>
          <a:p>
            <a:pPr>
              <a:spcBef>
                <a:spcPts val="600"/>
              </a:spcBef>
            </a:pPr>
            <a:r>
              <a:rPr lang="en-US" altLang="en-US" sz="2000" dirty="0">
                <a:ea typeface="MS Mincho" panose="02020609040205080304" pitchFamily="49" charset="-128"/>
              </a:rPr>
              <a:t>Use two pointers, </a:t>
            </a:r>
            <a:r>
              <a:rPr lang="en-US" altLang="en-US" sz="2000" i="1" dirty="0">
                <a:ea typeface="MS Mincho" panose="02020609040205080304" pitchFamily="49" charset="-128"/>
              </a:rPr>
              <a:t>qFront</a:t>
            </a:r>
            <a:r>
              <a:rPr lang="en-US" altLang="en-US" sz="2000" dirty="0">
                <a:ea typeface="MS Mincho" panose="02020609040205080304" pitchFamily="49" charset="-128"/>
              </a:rPr>
              <a:t> and </a:t>
            </a:r>
            <a:r>
              <a:rPr lang="en-US" altLang="en-US" sz="2000" i="1" dirty="0">
                <a:ea typeface="MS Mincho" panose="02020609040205080304" pitchFamily="49" charset="-128"/>
              </a:rPr>
              <a:t>qRear</a:t>
            </a:r>
            <a:r>
              <a:rPr lang="en-US" altLang="en-US" sz="2000" dirty="0">
                <a:ea typeface="MS Mincho" panose="02020609040205080304" pitchFamily="49" charset="-128"/>
              </a:rPr>
              <a:t>, to mark the front and rear of the queue</a:t>
            </a:r>
            <a:endParaRPr lang="en-US" altLang="en-US" sz="2000" dirty="0"/>
          </a:p>
        </p:txBody>
      </p:sp>
      <p:grpSp>
        <p:nvGrpSpPr>
          <p:cNvPr id="44035" name="Group 4"/>
          <p:cNvGrpSpPr/>
          <p:nvPr/>
        </p:nvGrpSpPr>
        <p:grpSpPr>
          <a:xfrm>
            <a:off x="1905000" y="3962400"/>
            <a:ext cx="5334000" cy="1143000"/>
            <a:chOff x="1752600" y="1295400"/>
            <a:chExt cx="5334000" cy="1143000"/>
          </a:xfrm>
        </p:grpSpPr>
        <p:sp>
          <p:nvSpPr>
            <p:cNvPr id="6" name="Rectangle 5"/>
            <p:cNvSpPr/>
            <p:nvPr/>
          </p:nvSpPr>
          <p:spPr bwMode="auto">
            <a:xfrm>
              <a:off x="1752600" y="1295400"/>
              <a:ext cx="5334000" cy="11430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ls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1" i="0" u="none" strike="noStrike" kern="1200" cap="none" spc="0" normalizeH="0" baseline="0" noProof="0">
                <a:ln>
                  <a:noFill/>
                </a:ln>
                <a:solidFill>
                  <a:schemeClr val="tx1"/>
                </a:solidFill>
                <a:effectLst/>
                <a:uLnTx/>
                <a:uFillTx/>
                <a:latin typeface="Times New Roman" panose="02020603050405020304" pitchFamily="18" charset="0"/>
                <a:ea typeface="+mn-ea"/>
                <a:cs typeface="+mn-cs"/>
                <a:sym typeface="+mn-ea"/>
              </a:endParaRPr>
            </a:p>
          </p:txBody>
        </p:sp>
        <p:grpSp>
          <p:nvGrpSpPr>
            <p:cNvPr id="44037" name="Group 6"/>
            <p:cNvGrpSpPr/>
            <p:nvPr/>
          </p:nvGrpSpPr>
          <p:grpSpPr>
            <a:xfrm>
              <a:off x="1905000" y="1371600"/>
              <a:ext cx="4800600" cy="977900"/>
              <a:chOff x="1200" y="1190"/>
              <a:chExt cx="3024" cy="616"/>
            </a:xfrm>
          </p:grpSpPr>
          <p:sp>
            <p:nvSpPr>
              <p:cNvPr id="44038" name="Rectangle 7"/>
              <p:cNvSpPr/>
              <p:nvPr/>
            </p:nvSpPr>
            <p:spPr>
              <a:xfrm>
                <a:off x="1344"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algn="ctr" defTabSz="457200"/>
                <a:r>
                  <a:rPr lang="en-US" altLang="en-US" sz="1800" dirty="0">
                    <a:solidFill>
                      <a:schemeClr val="tx1"/>
                    </a:solidFill>
                    <a:latin typeface="Calibri" panose="020F0502020204030204" charset="0"/>
                    <a:ea typeface="MS PGothic" panose="020B0600070205080204" pitchFamily="34" charset="-128"/>
                  </a:rPr>
                  <a:t>b</a:t>
                </a:r>
              </a:p>
            </p:txBody>
          </p:sp>
          <p:sp>
            <p:nvSpPr>
              <p:cNvPr id="44039" name="Rectangle 8"/>
              <p:cNvSpPr/>
              <p:nvPr/>
            </p:nvSpPr>
            <p:spPr>
              <a:xfrm>
                <a:off x="1536"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sp>
            <p:nvSpPr>
              <p:cNvPr id="44040" name="Rectangle 9"/>
              <p:cNvSpPr/>
              <p:nvPr/>
            </p:nvSpPr>
            <p:spPr>
              <a:xfrm>
                <a:off x="1440" y="1190"/>
                <a:ext cx="192" cy="192"/>
              </a:xfrm>
              <a:prstGeom prst="rect">
                <a:avLst/>
              </a:prstGeom>
              <a:noFill/>
              <a:ln w="9525">
                <a:noFill/>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sp>
            <p:nvSpPr>
              <p:cNvPr id="44041" name="Rectangle 10"/>
              <p:cNvSpPr/>
              <p:nvPr/>
            </p:nvSpPr>
            <p:spPr>
              <a:xfrm>
                <a:off x="1968"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algn="ctr" defTabSz="457200"/>
                <a:r>
                  <a:rPr lang="en-US" altLang="en-US" sz="1800" dirty="0">
                    <a:solidFill>
                      <a:schemeClr val="tx1"/>
                    </a:solidFill>
                    <a:latin typeface="Calibri" panose="020F0502020204030204" charset="0"/>
                    <a:ea typeface="MS PGothic" panose="020B0600070205080204" pitchFamily="34" charset="-128"/>
                  </a:rPr>
                  <a:t>c</a:t>
                </a:r>
              </a:p>
            </p:txBody>
          </p:sp>
          <p:sp>
            <p:nvSpPr>
              <p:cNvPr id="44042" name="Rectangle 11"/>
              <p:cNvSpPr/>
              <p:nvPr/>
            </p:nvSpPr>
            <p:spPr>
              <a:xfrm>
                <a:off x="2160"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sp>
            <p:nvSpPr>
              <p:cNvPr id="44043" name="Rectangle 12"/>
              <p:cNvSpPr/>
              <p:nvPr/>
            </p:nvSpPr>
            <p:spPr>
              <a:xfrm>
                <a:off x="2064" y="1190"/>
                <a:ext cx="192" cy="192"/>
              </a:xfrm>
              <a:prstGeom prst="rect">
                <a:avLst/>
              </a:prstGeom>
              <a:noFill/>
              <a:ln w="9525">
                <a:noFill/>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cxnSp>
            <p:nvCxnSpPr>
              <p:cNvPr id="44044" name="AutoShape 9"/>
              <p:cNvCxnSpPr>
                <a:stCxn id="44040" idx="3"/>
                <a:endCxn id="44041" idx="1"/>
              </p:cNvCxnSpPr>
              <p:nvPr/>
            </p:nvCxnSpPr>
            <p:spPr>
              <a:xfrm>
                <a:off x="1632" y="1286"/>
                <a:ext cx="336" cy="0"/>
              </a:xfrm>
              <a:prstGeom prst="straightConnector1">
                <a:avLst/>
              </a:prstGeom>
              <a:ln w="9525" cap="flat" cmpd="sng">
                <a:solidFill>
                  <a:schemeClr val="tx1"/>
                </a:solidFill>
                <a:prstDash val="solid"/>
                <a:round/>
                <a:headEnd type="none" w="med" len="med"/>
                <a:tailEnd type="triangle" w="med" len="med"/>
              </a:ln>
            </p:spPr>
          </p:cxnSp>
          <p:sp>
            <p:nvSpPr>
              <p:cNvPr id="44045" name="Rectangle 14"/>
              <p:cNvSpPr/>
              <p:nvPr/>
            </p:nvSpPr>
            <p:spPr>
              <a:xfrm>
                <a:off x="2592"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algn="ctr" defTabSz="457200"/>
                <a:r>
                  <a:rPr lang="en-US" altLang="en-US" sz="1800" dirty="0">
                    <a:solidFill>
                      <a:schemeClr val="tx1"/>
                    </a:solidFill>
                    <a:latin typeface="Calibri" panose="020F0502020204030204" charset="0"/>
                    <a:ea typeface="MS PGothic" panose="020B0600070205080204" pitchFamily="34" charset="-128"/>
                  </a:rPr>
                  <a:t>d</a:t>
                </a:r>
              </a:p>
            </p:txBody>
          </p:sp>
          <p:sp>
            <p:nvSpPr>
              <p:cNvPr id="44046" name="Rectangle 15"/>
              <p:cNvSpPr/>
              <p:nvPr/>
            </p:nvSpPr>
            <p:spPr>
              <a:xfrm>
                <a:off x="2784"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sp>
            <p:nvSpPr>
              <p:cNvPr id="44047" name="Rectangle 16"/>
              <p:cNvSpPr/>
              <p:nvPr/>
            </p:nvSpPr>
            <p:spPr>
              <a:xfrm>
                <a:off x="2688" y="1190"/>
                <a:ext cx="192" cy="192"/>
              </a:xfrm>
              <a:prstGeom prst="rect">
                <a:avLst/>
              </a:prstGeom>
              <a:noFill/>
              <a:ln w="9525">
                <a:noFill/>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cxnSp>
            <p:nvCxnSpPr>
              <p:cNvPr id="44048" name="AutoShape 13"/>
              <p:cNvCxnSpPr>
                <a:stCxn id="44043" idx="3"/>
                <a:endCxn id="44045" idx="1"/>
              </p:cNvCxnSpPr>
              <p:nvPr/>
            </p:nvCxnSpPr>
            <p:spPr>
              <a:xfrm>
                <a:off x="2256" y="1286"/>
                <a:ext cx="336" cy="0"/>
              </a:xfrm>
              <a:prstGeom prst="straightConnector1">
                <a:avLst/>
              </a:prstGeom>
              <a:ln w="9525" cap="flat" cmpd="sng">
                <a:solidFill>
                  <a:schemeClr val="tx1"/>
                </a:solidFill>
                <a:prstDash val="solid"/>
                <a:round/>
                <a:headEnd type="none" w="med" len="med"/>
                <a:tailEnd type="triangle" w="med" len="med"/>
              </a:ln>
            </p:spPr>
          </p:cxnSp>
          <p:sp>
            <p:nvSpPr>
              <p:cNvPr id="44049" name="Rectangle 18"/>
              <p:cNvSpPr/>
              <p:nvPr/>
            </p:nvSpPr>
            <p:spPr>
              <a:xfrm>
                <a:off x="3216"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algn="ctr" defTabSz="457200"/>
                <a:r>
                  <a:rPr lang="en-US" altLang="en-US" sz="1800" dirty="0">
                    <a:solidFill>
                      <a:schemeClr val="tx1"/>
                    </a:solidFill>
                    <a:latin typeface="Calibri" panose="020F0502020204030204" charset="0"/>
                    <a:ea typeface="MS PGothic" panose="020B0600070205080204" pitchFamily="34" charset="-128"/>
                  </a:rPr>
                  <a:t>e</a:t>
                </a:r>
              </a:p>
            </p:txBody>
          </p:sp>
          <p:sp>
            <p:nvSpPr>
              <p:cNvPr id="44050" name="Rectangle 19"/>
              <p:cNvSpPr/>
              <p:nvPr/>
            </p:nvSpPr>
            <p:spPr>
              <a:xfrm>
                <a:off x="3408"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sp>
            <p:nvSpPr>
              <p:cNvPr id="44051" name="Rectangle 20"/>
              <p:cNvSpPr/>
              <p:nvPr/>
            </p:nvSpPr>
            <p:spPr>
              <a:xfrm>
                <a:off x="3312" y="1190"/>
                <a:ext cx="192" cy="192"/>
              </a:xfrm>
              <a:prstGeom prst="rect">
                <a:avLst/>
              </a:prstGeom>
              <a:noFill/>
              <a:ln w="9525">
                <a:noFill/>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cxnSp>
            <p:nvCxnSpPr>
              <p:cNvPr id="44052" name="AutoShape 17"/>
              <p:cNvCxnSpPr>
                <a:stCxn id="44047" idx="3"/>
                <a:endCxn id="44049" idx="1"/>
              </p:cNvCxnSpPr>
              <p:nvPr/>
            </p:nvCxnSpPr>
            <p:spPr>
              <a:xfrm>
                <a:off x="2880" y="1286"/>
                <a:ext cx="336" cy="0"/>
              </a:xfrm>
              <a:prstGeom prst="straightConnector1">
                <a:avLst/>
              </a:prstGeom>
              <a:ln w="9525" cap="flat" cmpd="sng">
                <a:solidFill>
                  <a:schemeClr val="tx1"/>
                </a:solidFill>
                <a:prstDash val="solid"/>
                <a:round/>
                <a:headEnd type="none" w="med" len="med"/>
                <a:tailEnd type="triangle" w="med" len="med"/>
              </a:ln>
            </p:spPr>
          </p:cxnSp>
          <p:sp>
            <p:nvSpPr>
              <p:cNvPr id="44053" name="Rectangle 22"/>
              <p:cNvSpPr/>
              <p:nvPr/>
            </p:nvSpPr>
            <p:spPr>
              <a:xfrm>
                <a:off x="3840"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algn="ctr" defTabSz="457200"/>
                <a:r>
                  <a:rPr lang="en-US" altLang="en-US" sz="1800" dirty="0">
                    <a:solidFill>
                      <a:schemeClr val="tx1"/>
                    </a:solidFill>
                    <a:latin typeface="Calibri" panose="020F0502020204030204" charset="0"/>
                    <a:ea typeface="MS PGothic" panose="020B0600070205080204" pitchFamily="34" charset="-128"/>
                  </a:rPr>
                  <a:t>f</a:t>
                </a:r>
              </a:p>
            </p:txBody>
          </p:sp>
          <p:sp>
            <p:nvSpPr>
              <p:cNvPr id="44054" name="Rectangle 23"/>
              <p:cNvSpPr/>
              <p:nvPr/>
            </p:nvSpPr>
            <p:spPr>
              <a:xfrm>
                <a:off x="4032" y="1190"/>
                <a:ext cx="192" cy="192"/>
              </a:xfrm>
              <a:prstGeom prst="rect">
                <a:avLst/>
              </a:prstGeom>
              <a:noFill/>
              <a:ln w="9525" cap="flat" cmpd="sng">
                <a:solidFill>
                  <a:schemeClr val="tx1"/>
                </a:solidFill>
                <a:prstDash val="solid"/>
                <a:miter/>
                <a:headEnd type="none" w="med" len="med"/>
                <a:tailEnd type="none" w="med" len="med"/>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sp>
            <p:nvSpPr>
              <p:cNvPr id="44055" name="Rectangle 24"/>
              <p:cNvSpPr/>
              <p:nvPr/>
            </p:nvSpPr>
            <p:spPr>
              <a:xfrm>
                <a:off x="3936" y="1190"/>
                <a:ext cx="192" cy="192"/>
              </a:xfrm>
              <a:prstGeom prst="rect">
                <a:avLst/>
              </a:prstGeom>
              <a:noFill/>
              <a:ln w="9525">
                <a:noFill/>
              </a:ln>
            </p:spPr>
            <p:txBody>
              <a:bodyPr wrap="none" anchor="ctr"/>
              <a:lstStyle/>
              <a:p>
                <a:pPr defTabSz="457200"/>
                <a:endParaRPr lang="en-US" altLang="en-US" sz="1800" dirty="0">
                  <a:solidFill>
                    <a:schemeClr val="tx1"/>
                  </a:solidFill>
                  <a:latin typeface="Calibri" panose="020F0502020204030204" charset="0"/>
                  <a:ea typeface="MS PGothic" panose="020B0600070205080204" pitchFamily="34" charset="-128"/>
                </a:endParaRPr>
              </a:p>
            </p:txBody>
          </p:sp>
          <p:cxnSp>
            <p:nvCxnSpPr>
              <p:cNvPr id="44056" name="AutoShape 21"/>
              <p:cNvCxnSpPr>
                <a:stCxn id="44051" idx="3"/>
                <a:endCxn id="44053" idx="1"/>
              </p:cNvCxnSpPr>
              <p:nvPr/>
            </p:nvCxnSpPr>
            <p:spPr>
              <a:xfrm>
                <a:off x="3504" y="1286"/>
                <a:ext cx="336" cy="0"/>
              </a:xfrm>
              <a:prstGeom prst="straightConnector1">
                <a:avLst/>
              </a:prstGeom>
              <a:ln w="9525" cap="flat" cmpd="sng">
                <a:solidFill>
                  <a:schemeClr val="tx1"/>
                </a:solidFill>
                <a:prstDash val="solid"/>
                <a:round/>
                <a:headEnd type="none" w="med" len="med"/>
                <a:tailEnd type="triangle" w="med" len="med"/>
              </a:ln>
            </p:spPr>
          </p:cxnSp>
          <p:sp>
            <p:nvSpPr>
              <p:cNvPr id="44057" name="Line 22"/>
              <p:cNvSpPr/>
              <p:nvPr/>
            </p:nvSpPr>
            <p:spPr>
              <a:xfrm>
                <a:off x="4032" y="1190"/>
                <a:ext cx="192" cy="192"/>
              </a:xfrm>
              <a:prstGeom prst="line">
                <a:avLst/>
              </a:prstGeom>
              <a:ln w="9525" cap="flat" cmpd="sng">
                <a:solidFill>
                  <a:schemeClr val="tx1"/>
                </a:solidFill>
                <a:prstDash val="solid"/>
                <a:round/>
                <a:headEnd type="none" w="med" len="med"/>
                <a:tailEnd type="none" w="med" len="med"/>
              </a:ln>
            </p:spPr>
          </p:sp>
          <p:sp>
            <p:nvSpPr>
              <p:cNvPr id="44058" name="Text Box 23"/>
              <p:cNvSpPr txBox="1"/>
              <p:nvPr/>
            </p:nvSpPr>
            <p:spPr>
              <a:xfrm>
                <a:off x="1200" y="1554"/>
                <a:ext cx="553" cy="252"/>
              </a:xfrm>
              <a:prstGeom prst="rect">
                <a:avLst/>
              </a:prstGeom>
              <a:noFill/>
              <a:ln w="9525">
                <a:noFill/>
              </a:ln>
            </p:spPr>
            <p:txBody>
              <a:bodyPr wrap="none" anchor="t">
                <a:spAutoFit/>
              </a:bodyPr>
              <a:lstStyle/>
              <a:p>
                <a:pPr defTabSz="457200"/>
                <a:r>
                  <a:rPr lang="en-US" altLang="en-US" dirty="0">
                    <a:solidFill>
                      <a:schemeClr val="tx1"/>
                    </a:solidFill>
                    <a:latin typeface="Calibri" panose="020F0502020204030204" charset="0"/>
                    <a:ea typeface="MS PGothic" panose="020B0600070205080204" pitchFamily="34" charset="-128"/>
                  </a:rPr>
                  <a:t>qFront</a:t>
                </a:r>
              </a:p>
            </p:txBody>
          </p:sp>
          <p:sp>
            <p:nvSpPr>
              <p:cNvPr id="44059" name="Text Box 24"/>
              <p:cNvSpPr txBox="1"/>
              <p:nvPr/>
            </p:nvSpPr>
            <p:spPr>
              <a:xfrm>
                <a:off x="3696" y="1554"/>
                <a:ext cx="501" cy="252"/>
              </a:xfrm>
              <a:prstGeom prst="rect">
                <a:avLst/>
              </a:prstGeom>
              <a:noFill/>
              <a:ln w="9525">
                <a:noFill/>
              </a:ln>
            </p:spPr>
            <p:txBody>
              <a:bodyPr wrap="none" anchor="t">
                <a:spAutoFit/>
              </a:bodyPr>
              <a:lstStyle/>
              <a:p>
                <a:pPr defTabSz="457200"/>
                <a:r>
                  <a:rPr lang="en-US" altLang="en-US" dirty="0">
                    <a:solidFill>
                      <a:schemeClr val="tx1"/>
                    </a:solidFill>
                    <a:latin typeface="Calibri" panose="020F0502020204030204" charset="0"/>
                    <a:ea typeface="MS PGothic" panose="020B0600070205080204" pitchFamily="34" charset="-128"/>
                  </a:rPr>
                  <a:t>qRear</a:t>
                </a:r>
              </a:p>
            </p:txBody>
          </p:sp>
          <p:cxnSp>
            <p:nvCxnSpPr>
              <p:cNvPr id="44060" name="AutoShape 25"/>
              <p:cNvCxnSpPr>
                <a:stCxn id="44058" idx="0"/>
                <a:endCxn id="44053" idx="1"/>
              </p:cNvCxnSpPr>
              <p:nvPr/>
            </p:nvCxnSpPr>
            <p:spPr>
              <a:xfrm flipH="1" flipV="1">
                <a:off x="1440" y="1382"/>
                <a:ext cx="37" cy="172"/>
              </a:xfrm>
              <a:prstGeom prst="straightConnector1">
                <a:avLst/>
              </a:prstGeom>
              <a:ln w="9525" cap="flat" cmpd="sng">
                <a:solidFill>
                  <a:schemeClr val="tx1"/>
                </a:solidFill>
                <a:prstDash val="solid"/>
                <a:round/>
                <a:headEnd type="none" w="med" len="med"/>
                <a:tailEnd type="triangle" w="med" len="med"/>
              </a:ln>
            </p:spPr>
          </p:cxnSp>
          <p:cxnSp>
            <p:nvCxnSpPr>
              <p:cNvPr id="44061" name="AutoShape 26"/>
              <p:cNvCxnSpPr>
                <a:stCxn id="44059" idx="0"/>
                <a:endCxn id="44053" idx="2"/>
              </p:cNvCxnSpPr>
              <p:nvPr/>
            </p:nvCxnSpPr>
            <p:spPr>
              <a:xfrm flipH="1" flipV="1">
                <a:off x="3936" y="1382"/>
                <a:ext cx="11" cy="172"/>
              </a:xfrm>
              <a:prstGeom prst="straightConnector1">
                <a:avLst/>
              </a:prstGeom>
              <a:ln w="9525" cap="flat" cmpd="sng">
                <a:solidFill>
                  <a:schemeClr val="tx1"/>
                </a:solidFill>
                <a:prstDash val="solid"/>
                <a:round/>
                <a:headEnd type="none" w="med" len="med"/>
                <a:tailEnd type="triangle" w="med" len="med"/>
              </a:ln>
            </p:spPr>
          </p:cxnSp>
        </p:gr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p:nvPr>
        </p:nvSpPr>
        <p:spPr>
          <a:xfrm>
            <a:off x="1179830" y="824865"/>
            <a:ext cx="7278370" cy="914400"/>
          </a:xfrm>
        </p:spPr>
        <p:txBody>
          <a:bodyPr wrap="square" lIns="92075" tIns="46038" rIns="92075" bIns="46038" anchor="ctr"/>
          <a:lstStyle/>
          <a:p>
            <a:r>
              <a:rPr lang="en-US" altLang="en-US" sz="3600" dirty="0">
                <a:ea typeface="MS Mincho" panose="02020609040205080304" pitchFamily="49" charset="-128"/>
              </a:rPr>
              <a:t>Implementing queues using linked lists: Declaration and Initialization</a:t>
            </a:r>
            <a:endParaRPr lang="en-US" altLang="en-US" sz="3600" dirty="0"/>
          </a:p>
        </p:txBody>
      </p:sp>
      <p:sp>
        <p:nvSpPr>
          <p:cNvPr id="4099" name="Rectangle 3"/>
          <p:cNvSpPr>
            <a:spLocks noGrp="1" noChangeArrowheads="1"/>
          </p:cNvSpPr>
          <p:nvPr>
            <p:ph idx="1"/>
          </p:nvPr>
        </p:nvSpPr>
        <p:spPr>
          <a:xfrm>
            <a:off x="947420" y="1828800"/>
            <a:ext cx="7510780" cy="4800600"/>
          </a:xfrm>
        </p:spPr>
        <p:txBody>
          <a:bodyPr vert="horz" wrap="square" lIns="92075" tIns="46038" rIns="92075" bIns="46038" numCol="1" anchor="t" anchorCtr="0" compatLnSpc="1"/>
          <a:lstStyle/>
          <a:p>
            <a:pPr marL="0" marR="0" lvl="0" indent="0" algn="l" defTabSz="914400" rtl="0" eaLnBrk="0" hangingPunct="0">
              <a:lnSpc>
                <a:spcPct val="100000"/>
              </a:lnSpc>
              <a:spcBef>
                <a:spcPts val="600"/>
              </a:spcBef>
              <a:spcAft>
                <a:spcPct val="0"/>
              </a:spcAft>
              <a:buClrTx/>
              <a:buSzTx/>
              <a:buFontTx/>
              <a:buNone/>
              <a:defRPr/>
            </a:pPr>
            <a:r>
              <a:rPr kumimoji="0" lang="en-US" altLang="en-US" sz="2000" b="0" i="0" u="none" strike="noStrike" kern="0" cap="none" spc="0" normalizeH="0" baseline="0" noProof="0" dirty="0" smtClean="0">
                <a:ln>
                  <a:noFill/>
                </a:ln>
                <a:solidFill>
                  <a:srgbClr val="C00000"/>
                </a:solidFill>
                <a:effectLst/>
                <a:uLnTx/>
                <a:uFillTx/>
                <a:latin typeface="+mn-lt"/>
                <a:ea typeface="+mn-ea"/>
                <a:cs typeface="Times New Roman" panose="02020603050405020304" pitchFamily="18" charset="0"/>
              </a:rPr>
              <a:t>Structure of the Node</a:t>
            </a:r>
            <a:endParaRPr kumimoji="0" lang="en-US" altLang="en-US" sz="2000" b="0" i="0" u="none" strike="noStrike" kern="0" cap="none" spc="0" normalizeH="0" baseline="0" noProof="0" dirty="0" smtClean="0">
              <a:ln>
                <a:noFill/>
              </a:ln>
              <a:solidFill>
                <a:schemeClr val="tx1"/>
              </a:solidFill>
              <a:effectLst/>
              <a:uLnTx/>
              <a:uFillTx/>
              <a:latin typeface="+mn-lt"/>
              <a:ea typeface="+mn-ea"/>
              <a:cs typeface="Times New Roman" panose="02020603050405020304" pitchFamily="18" charset="0"/>
            </a:endParaRPr>
          </a:p>
          <a:p>
            <a:pPr marL="0" marR="0" lvl="0" indent="0" algn="l" defTabSz="914400" rtl="0" eaLnBrk="0" hangingPunct="0">
              <a:lnSpc>
                <a:spcPct val="100000"/>
              </a:lnSpc>
              <a:spcBef>
                <a:spcPts val="600"/>
              </a:spcBef>
              <a:spcAft>
                <a:spcPct val="0"/>
              </a:spcAft>
              <a:buClrTx/>
              <a:buSzTx/>
              <a:buFontTx/>
              <a:buNone/>
              <a:defRPr/>
            </a:pPr>
            <a:endParaRPr kumimoji="0" lang="en-US" sz="20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hangingPunct="0">
              <a:lnSpc>
                <a:spcPct val="100000"/>
              </a:lnSpc>
              <a:spcBef>
                <a:spcPts val="600"/>
              </a:spcBef>
              <a:spcAft>
                <a:spcPct val="0"/>
              </a:spcAft>
              <a:buClrTx/>
              <a:buSzTx/>
              <a:buFontTx/>
              <a:buNone/>
              <a:defRPr/>
            </a:pPr>
            <a:r>
              <a:rPr kumimoji="0" lang="en-US" sz="2000" b="1" i="0" u="none" strike="noStrike" kern="0" cap="none" spc="0" normalizeH="0" baseline="0" noProof="0" dirty="0" err="1" smtClean="0">
                <a:ln>
                  <a:noFill/>
                </a:ln>
                <a:solidFill>
                  <a:schemeClr val="tx1"/>
                </a:solidFill>
                <a:effectLst/>
                <a:uLnTx/>
                <a:uFillTx/>
                <a:latin typeface="+mn-lt"/>
                <a:ea typeface="+mn-ea"/>
                <a:cs typeface="+mn-cs"/>
              </a:rPr>
              <a:t>struct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Node { </a:t>
            </a:r>
          </a:p>
          <a:p>
            <a:pPr marL="0" marR="0" lvl="0" indent="0" algn="l" defTabSz="914400" rtl="0" eaLnBrk="0" hangingPunct="0">
              <a:lnSpc>
                <a:spcPct val="100000"/>
              </a:lnSpc>
              <a:spcBef>
                <a:spcPts val="6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mn-lt"/>
                <a:ea typeface="+mn-ea"/>
                <a:cs typeface="+mn-cs"/>
              </a:rPr>
              <a:t>	</a:t>
            </a:r>
            <a:r>
              <a:rPr kumimoji="0" lang="en-US" sz="2000" b="1" i="0" u="none" strike="noStrike" kern="0" cap="none" spc="0" normalizeH="0" baseline="0" noProof="0" dirty="0" err="1" smtClean="0">
                <a:ln>
                  <a:noFill/>
                </a:ln>
                <a:solidFill>
                  <a:schemeClr val="tx1"/>
                </a:solidFill>
                <a:effectLst/>
                <a:uLnTx/>
                <a:uFillTx/>
                <a:latin typeface="+mn-lt"/>
                <a:ea typeface="+mn-ea"/>
                <a:cs typeface="+mn-cs"/>
              </a:rPr>
              <a:t>int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data; </a:t>
            </a:r>
          </a:p>
          <a:p>
            <a:pPr marL="0" marR="0" lvl="0" indent="0" algn="l" defTabSz="914400" rtl="0" eaLnBrk="0" hangingPunct="0">
              <a:lnSpc>
                <a:spcPct val="100000"/>
              </a:lnSpc>
              <a:spcBef>
                <a:spcPts val="6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mn-lt"/>
                <a:ea typeface="+mn-ea"/>
                <a:cs typeface="+mn-cs"/>
              </a:rPr>
              <a:t>	</a:t>
            </a:r>
            <a:r>
              <a:rPr kumimoji="0" lang="en-US" sz="2000" b="1" i="0" u="none" strike="noStrike" kern="0" cap="none" spc="0" normalizeH="0" baseline="0" noProof="0" dirty="0" err="1" smtClean="0">
                <a:ln>
                  <a:noFill/>
                </a:ln>
                <a:solidFill>
                  <a:schemeClr val="tx1"/>
                </a:solidFill>
                <a:effectLst/>
                <a:uLnTx/>
                <a:uFillTx/>
                <a:latin typeface="+mn-lt"/>
                <a:ea typeface="+mn-ea"/>
                <a:cs typeface="+mn-cs"/>
              </a:rPr>
              <a:t>struct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Node* next; </a:t>
            </a:r>
          </a:p>
          <a:p>
            <a:pPr marL="0" marR="0" lvl="0" indent="0" algn="l" defTabSz="914400" rtl="0" eaLnBrk="0" hangingPunct="0">
              <a:lnSpc>
                <a:spcPct val="100000"/>
              </a:lnSpc>
              <a:spcBef>
                <a:spcPts val="600"/>
              </a:spcBef>
              <a:spcAft>
                <a:spcPct val="0"/>
              </a:spcAft>
              <a:buClrTx/>
              <a:buSzTx/>
              <a:buFontTx/>
              <a:buNone/>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}*rear, *front;</a:t>
            </a:r>
          </a:p>
          <a:p>
            <a:pPr marL="0" marR="0" lvl="0" indent="0" algn="l" defTabSz="914400" rtl="0" eaLnBrk="0" hangingPunct="0">
              <a:lnSpc>
                <a:spcPct val="100000"/>
              </a:lnSpc>
              <a:spcBef>
                <a:spcPts val="600"/>
              </a:spcBef>
              <a:spcAft>
                <a:spcPct val="0"/>
              </a:spcAft>
              <a:buClrTx/>
              <a:buSzTx/>
              <a:buFontTx/>
              <a:buNone/>
              <a:defRPr/>
            </a:pPr>
            <a:endParaRPr kumimoji="0" lang="en-US" altLang="en-US"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hangingPunct="0">
              <a:lnSpc>
                <a:spcPct val="100000"/>
              </a:lnSpc>
              <a:spcBef>
                <a:spcPts val="600"/>
              </a:spcBef>
              <a:spcAft>
                <a:spcPct val="0"/>
              </a:spcAft>
              <a:buClrTx/>
              <a:buSzTx/>
              <a:buFontTx/>
              <a:buNone/>
              <a:defRPr/>
            </a:pPr>
            <a:r>
              <a:rPr kumimoji="0" lang="en-US" sz="2000" b="0" i="0" u="none" strike="noStrike" kern="0" cap="none" spc="0" normalizeH="0" baseline="0" noProof="0" dirty="0">
                <a:ln>
                  <a:noFill/>
                </a:ln>
                <a:solidFill>
                  <a:schemeClr val="tx1"/>
                </a:solidFill>
                <a:effectLst/>
                <a:uLnTx/>
                <a:uFillTx/>
                <a:latin typeface="+mn-lt"/>
                <a:ea typeface="+mn-ea"/>
                <a:cs typeface="+mn-cs"/>
              </a:rPr>
              <a:t>void</a:t>
            </a:r>
            <a:r>
              <a:rPr kumimoji="0" lang="en-US" sz="2000" b="0" i="0" u="none" strike="noStrike" kern="0" cap="none" spc="0" normalizeH="0" baseline="0" noProof="0" dirty="0" smtClean="0">
                <a:ln>
                  <a:noFill/>
                </a:ln>
                <a:solidFill>
                  <a:schemeClr val="tx1"/>
                </a:solidFill>
                <a:effectLst/>
                <a:uLnTx/>
                <a:uFillTx/>
                <a:latin typeface="+mn-lt"/>
                <a:ea typeface="+mn-ea"/>
                <a:cs typeface="+mn-cs"/>
              </a:rPr>
              <a:t> create</a:t>
            </a:r>
            <a:r>
              <a:rPr kumimoji="0" lang="en-US" sz="2000" b="0" i="0" u="none" strike="noStrike" kern="0" cap="none" spc="0" normalizeH="0" baseline="0" noProof="0" dirty="0">
                <a:ln>
                  <a:noFill/>
                </a:ln>
                <a:solidFill>
                  <a:schemeClr val="tx1"/>
                </a:solidFill>
                <a:effectLst/>
                <a:uLnTx/>
                <a:uFillTx/>
                <a:latin typeface="+mn-lt"/>
                <a:ea typeface="+mn-ea"/>
                <a:cs typeface="+mn-cs"/>
              </a:rPr>
              <a: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 </a:t>
            </a:r>
          </a:p>
          <a:p>
            <a:pPr marL="0" marR="0" lvl="0" indent="0" algn="l" defTabSz="914400" rtl="0" eaLnBrk="0" hangingPunct="0">
              <a:lnSpc>
                <a:spcPct val="100000"/>
              </a:lnSpc>
              <a:spcBef>
                <a:spcPts val="600"/>
              </a:spcBef>
              <a:spcAft>
                <a:spcPct val="0"/>
              </a:spcAft>
              <a:buClrTx/>
              <a:buSzTx/>
              <a:buFontTx/>
              <a:buNone/>
              <a:defRPr/>
            </a:pPr>
            <a:r>
              <a:rPr kumimoji="0" lang="en-US" sz="2000" b="0" i="0" u="none" strike="noStrike" kern="0" cap="none" spc="0" normalizeH="0" baseline="0" noProof="0" dirty="0">
                <a:ln>
                  <a:noFill/>
                </a:ln>
                <a:solidFill>
                  <a:schemeClr val="tx1"/>
                </a:solidFill>
                <a:effectLst/>
                <a:uLnTx/>
                <a:uFillTx/>
                <a:latin typeface="+mn-lt"/>
                <a:ea typeface="+mn-ea"/>
                <a:cs typeface="+mn-cs"/>
              </a:rPr>
              <a:t>	</a:t>
            </a:r>
            <a:r>
              <a:rPr kumimoji="0" lang="en-US" sz="2000" b="0" i="0" u="none" strike="noStrike" kern="0" cap="none" spc="0" normalizeH="0" baseline="0" noProof="0" dirty="0" smtClean="0">
                <a:ln>
                  <a:noFill/>
                </a:ln>
                <a:solidFill>
                  <a:schemeClr val="tx1"/>
                </a:solidFill>
                <a:effectLst/>
                <a:uLnTx/>
                <a:uFillTx/>
                <a:latin typeface="+mn-lt"/>
                <a:ea typeface="+mn-ea"/>
                <a:cs typeface="+mn-cs"/>
              </a:rPr>
              <a:t>front </a:t>
            </a:r>
            <a:r>
              <a:rPr kumimoji="0" lang="en-US" sz="2000" b="0" i="0" u="none" strike="noStrike" kern="0" cap="none" spc="0" normalizeH="0" baseline="0" noProof="0" dirty="0">
                <a:ln>
                  <a:noFill/>
                </a:ln>
                <a:solidFill>
                  <a:schemeClr val="tx1"/>
                </a:solidFill>
                <a:effectLst/>
                <a:uLnTx/>
                <a:uFillTx/>
                <a:latin typeface="+mn-lt"/>
                <a:ea typeface="+mn-ea"/>
                <a:cs typeface="+mn-cs"/>
              </a:rPr>
              <a: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rear </a:t>
            </a:r>
            <a:r>
              <a:rPr kumimoji="0" lang="en-US" sz="2000" b="0" i="0" u="none" strike="noStrike" kern="0" cap="none" spc="0" normalizeH="0" baseline="0" noProof="0" dirty="0">
                <a:ln>
                  <a:noFill/>
                </a:ln>
                <a:solidFill>
                  <a:schemeClr val="tx1"/>
                </a:solidFill>
                <a:effectLst/>
                <a:uLnTx/>
                <a:uFillTx/>
                <a:latin typeface="+mn-lt"/>
                <a:ea typeface="+mn-ea"/>
                <a:cs typeface="+mn-cs"/>
              </a:rPr>
              <a: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NULL</a:t>
            </a:r>
            <a:r>
              <a:rPr kumimoji="0" lang="en-US" sz="2000" b="0" i="0" u="none" strike="noStrike" kern="0" cap="none" spc="0" normalizeH="0" baseline="0" noProof="0" dirty="0">
                <a:ln>
                  <a:noFill/>
                </a:ln>
                <a:solidFill>
                  <a:schemeClr val="tx1"/>
                </a:solidFill>
                <a:effectLst/>
                <a:uLnTx/>
                <a:uFillTx/>
                <a:latin typeface="+mn-lt"/>
                <a:ea typeface="+mn-ea"/>
                <a:cs typeface="+mn-cs"/>
              </a:rPr>
              <a: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a:t>
            </a:r>
          </a:p>
          <a:p>
            <a:pPr marL="0" marR="0" lvl="0" indent="0" algn="l" defTabSz="914400" rtl="0" eaLnBrk="0" hangingPunct="0">
              <a:lnSpc>
                <a:spcPct val="100000"/>
              </a:lnSpc>
              <a:spcBef>
                <a:spcPts val="600"/>
              </a:spcBef>
              <a:spcAft>
                <a:spcPct val="0"/>
              </a:spcAft>
              <a:buClrTx/>
              <a:buSzTx/>
              <a:buFontTx/>
              <a:buNone/>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en-US" sz="20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p:cNvSpPr>
          <p:nvPr>
            <p:ph type="title"/>
          </p:nvPr>
        </p:nvSpPr>
        <p:spPr>
          <a:xfrm>
            <a:off x="1024255" y="818515"/>
            <a:ext cx="7549515" cy="914400"/>
          </a:xfrm>
        </p:spPr>
        <p:txBody>
          <a:bodyPr wrap="square" lIns="92075" tIns="46038" rIns="92075" bIns="46038" anchor="ctr"/>
          <a:lstStyle/>
          <a:p>
            <a:r>
              <a:rPr lang="en-US" altLang="en-US" sz="3600" dirty="0">
                <a:ea typeface="MS Mincho" panose="02020609040205080304" pitchFamily="49" charset="-128"/>
              </a:rPr>
              <a:t>Implementing queues using linked lists: Insert Function</a:t>
            </a:r>
            <a:endParaRPr lang="en-US" altLang="en-US" sz="3600" dirty="0"/>
          </a:p>
        </p:txBody>
      </p:sp>
      <p:sp>
        <p:nvSpPr>
          <p:cNvPr id="46082" name="Rectangle 3"/>
          <p:cNvSpPr>
            <a:spLocks noGrp="1"/>
          </p:cNvSpPr>
          <p:nvPr>
            <p:ph idx="1"/>
          </p:nvPr>
        </p:nvSpPr>
        <p:spPr>
          <a:xfrm>
            <a:off x="850265" y="2017395"/>
            <a:ext cx="7607935" cy="4612005"/>
          </a:xfrm>
        </p:spPr>
        <p:txBody>
          <a:bodyPr wrap="square" lIns="92075" tIns="46038" rIns="92075" bIns="46038" anchor="t"/>
          <a:lstStyle/>
          <a:p>
            <a:pPr marL="0" indent="0" defTabSz="914400">
              <a:lnSpc>
                <a:spcPct val="120000"/>
              </a:lnSpc>
              <a:spcBef>
                <a:spcPct val="0"/>
              </a:spcBef>
              <a:buNone/>
              <a:tabLst>
                <a:tab pos="457200" algn="l"/>
                <a:tab pos="914400" algn="l"/>
              </a:tabLst>
            </a:pPr>
            <a:r>
              <a:rPr lang="en-US" altLang="en-US" sz="2000" b="1" dirty="0"/>
              <a:t>void</a:t>
            </a:r>
            <a:r>
              <a:rPr lang="en-US" altLang="en-US" sz="2000" dirty="0"/>
              <a:t> Insert(</a:t>
            </a:r>
            <a:r>
              <a:rPr lang="en-US" altLang="en-US" sz="2000" b="1" dirty="0"/>
              <a:t>int</a:t>
            </a:r>
            <a:r>
              <a:rPr lang="en-US" altLang="en-US" sz="2000" dirty="0"/>
              <a:t> val) { </a:t>
            </a:r>
          </a:p>
          <a:p>
            <a:pPr marL="0" indent="0" defTabSz="914400">
              <a:lnSpc>
                <a:spcPct val="120000"/>
              </a:lnSpc>
              <a:spcBef>
                <a:spcPct val="0"/>
              </a:spcBef>
              <a:buNone/>
              <a:tabLst>
                <a:tab pos="457200" algn="l"/>
                <a:tab pos="914400" algn="l"/>
              </a:tabLst>
            </a:pPr>
            <a:r>
              <a:rPr lang="en-US" altLang="en-US" sz="2000" b="1" dirty="0"/>
              <a:t>	struct</a:t>
            </a:r>
            <a:r>
              <a:rPr lang="en-US" altLang="en-US" sz="2000" dirty="0"/>
              <a:t> Node *newNode; </a:t>
            </a:r>
          </a:p>
          <a:p>
            <a:pPr marL="0" indent="0" defTabSz="914400">
              <a:lnSpc>
                <a:spcPct val="120000"/>
              </a:lnSpc>
              <a:spcBef>
                <a:spcPct val="0"/>
              </a:spcBef>
              <a:buNone/>
              <a:tabLst>
                <a:tab pos="457200" algn="l"/>
                <a:tab pos="914400" algn="l"/>
              </a:tabLst>
            </a:pPr>
            <a:r>
              <a:rPr lang="en-US" altLang="en-US" sz="2000" dirty="0"/>
              <a:t>	</a:t>
            </a:r>
            <a:r>
              <a:rPr lang="en-US" altLang="en-US" sz="2000" dirty="0">
                <a:sym typeface="+mn-ea"/>
              </a:rPr>
              <a:t>newNode</a:t>
            </a:r>
            <a:r>
              <a:rPr lang="en-US" altLang="en-US" sz="2000" dirty="0"/>
              <a:t>=(</a:t>
            </a:r>
            <a:r>
              <a:rPr lang="en-US" altLang="en-US" sz="2000" b="1" dirty="0"/>
              <a:t>struct</a:t>
            </a:r>
            <a:r>
              <a:rPr lang="en-US" altLang="en-US" sz="2000" dirty="0"/>
              <a:t> Node *)malloc(</a:t>
            </a:r>
            <a:r>
              <a:rPr lang="en-US" altLang="en-US" sz="2000" b="1" dirty="0"/>
              <a:t>sizeof</a:t>
            </a:r>
            <a:r>
              <a:rPr lang="en-US" altLang="en-US" sz="2000" dirty="0"/>
              <a:t>(</a:t>
            </a:r>
            <a:r>
              <a:rPr lang="en-US" altLang="en-US" sz="2000" b="1" dirty="0"/>
              <a:t>struct</a:t>
            </a:r>
            <a:r>
              <a:rPr lang="en-US" altLang="en-US" sz="2000" dirty="0"/>
              <a:t> Node)); </a:t>
            </a:r>
          </a:p>
          <a:p>
            <a:pPr marL="0" indent="0" defTabSz="914400">
              <a:lnSpc>
                <a:spcPct val="120000"/>
              </a:lnSpc>
              <a:spcBef>
                <a:spcPct val="0"/>
              </a:spcBef>
              <a:buNone/>
              <a:tabLst>
                <a:tab pos="457200" algn="l"/>
                <a:tab pos="914400" algn="l"/>
              </a:tabLst>
            </a:pPr>
            <a:r>
              <a:rPr lang="en-US" altLang="en-US" sz="2000" dirty="0"/>
              <a:t>	</a:t>
            </a:r>
            <a:r>
              <a:rPr lang="en-US" altLang="en-US" sz="2000" dirty="0">
                <a:sym typeface="+mn-ea"/>
              </a:rPr>
              <a:t>newNode</a:t>
            </a:r>
            <a:r>
              <a:rPr lang="en-US" altLang="en-US" sz="2000" dirty="0"/>
              <a:t>-&gt;data=val; </a:t>
            </a:r>
          </a:p>
          <a:p>
            <a:pPr marL="0" indent="0" defTabSz="914400">
              <a:lnSpc>
                <a:spcPct val="120000"/>
              </a:lnSpc>
              <a:spcBef>
                <a:spcPct val="0"/>
              </a:spcBef>
              <a:buNone/>
              <a:tabLst>
                <a:tab pos="457200" algn="l"/>
                <a:tab pos="914400" algn="l"/>
              </a:tabLst>
            </a:pPr>
            <a:r>
              <a:rPr lang="en-US" altLang="en-US" sz="2000" dirty="0"/>
              <a:t>	</a:t>
            </a:r>
            <a:r>
              <a:rPr lang="en-US" altLang="en-US" sz="2000" dirty="0">
                <a:sym typeface="+mn-ea"/>
              </a:rPr>
              <a:t>newNode</a:t>
            </a:r>
            <a:r>
              <a:rPr lang="en-US" altLang="en-US" sz="2000" dirty="0"/>
              <a:t>-&gt;next = NULL;</a:t>
            </a:r>
          </a:p>
          <a:p>
            <a:pPr marL="0" indent="0" defTabSz="914400">
              <a:lnSpc>
                <a:spcPct val="120000"/>
              </a:lnSpc>
              <a:spcBef>
                <a:spcPct val="0"/>
              </a:spcBef>
              <a:buNone/>
              <a:tabLst>
                <a:tab pos="457200" algn="l"/>
                <a:tab pos="914400" algn="l"/>
              </a:tabLst>
            </a:pPr>
            <a:r>
              <a:rPr lang="en-US" altLang="en-US" sz="2000" b="1" dirty="0"/>
              <a:t>	</a:t>
            </a:r>
            <a:r>
              <a:rPr lang="en-US" altLang="en-US" sz="2000" dirty="0"/>
              <a:t>if(front == NULL &amp;&amp; rear == NULL) {</a:t>
            </a:r>
          </a:p>
          <a:p>
            <a:pPr marL="0" indent="0" defTabSz="914400">
              <a:lnSpc>
                <a:spcPct val="120000"/>
              </a:lnSpc>
              <a:spcBef>
                <a:spcPct val="0"/>
              </a:spcBef>
              <a:buNone/>
              <a:tabLst>
                <a:tab pos="457200" algn="l"/>
                <a:tab pos="914400" algn="l"/>
              </a:tabLst>
            </a:pPr>
            <a:r>
              <a:rPr lang="en-US" altLang="en-US" sz="2000" dirty="0"/>
              <a:t>		front = rear = </a:t>
            </a:r>
            <a:r>
              <a:rPr lang="en-US" altLang="en-US" sz="2000" dirty="0">
                <a:sym typeface="+mn-ea"/>
              </a:rPr>
              <a:t>newNode</a:t>
            </a:r>
            <a:r>
              <a:rPr lang="en-US" altLang="en-US" sz="2000" dirty="0"/>
              <a:t>;</a:t>
            </a:r>
          </a:p>
          <a:p>
            <a:pPr marL="0" indent="0" defTabSz="914400">
              <a:lnSpc>
                <a:spcPct val="120000"/>
              </a:lnSpc>
              <a:spcBef>
                <a:spcPct val="0"/>
              </a:spcBef>
              <a:buNone/>
              <a:tabLst>
                <a:tab pos="457200" algn="l"/>
                <a:tab pos="914400" algn="l"/>
              </a:tabLst>
            </a:pPr>
            <a:r>
              <a:rPr lang="en-US" altLang="en-US" sz="2000" dirty="0"/>
              <a:t>		return;</a:t>
            </a:r>
          </a:p>
          <a:p>
            <a:pPr marL="0" indent="0" defTabSz="914400">
              <a:lnSpc>
                <a:spcPct val="120000"/>
              </a:lnSpc>
              <a:spcBef>
                <a:spcPct val="0"/>
              </a:spcBef>
              <a:buNone/>
              <a:tabLst>
                <a:tab pos="457200" algn="l"/>
                <a:tab pos="914400" algn="l"/>
              </a:tabLst>
            </a:pPr>
            <a:r>
              <a:rPr lang="en-US" altLang="en-US" sz="2000" dirty="0"/>
              <a:t>	}</a:t>
            </a:r>
          </a:p>
          <a:p>
            <a:pPr marL="0" indent="0" defTabSz="914400">
              <a:lnSpc>
                <a:spcPct val="120000"/>
              </a:lnSpc>
              <a:spcBef>
                <a:spcPct val="0"/>
              </a:spcBef>
              <a:buNone/>
              <a:tabLst>
                <a:tab pos="457200" algn="l"/>
                <a:tab pos="914400" algn="l"/>
              </a:tabLst>
            </a:pPr>
            <a:r>
              <a:rPr lang="en-US" altLang="en-US" sz="2000" dirty="0"/>
              <a:t>	rear-&gt;next = </a:t>
            </a:r>
            <a:r>
              <a:rPr lang="en-US" altLang="en-US" sz="2000" dirty="0">
                <a:sym typeface="+mn-ea"/>
              </a:rPr>
              <a:t>newNode</a:t>
            </a:r>
            <a:r>
              <a:rPr lang="en-US" altLang="en-US" sz="2000" dirty="0"/>
              <a:t>;</a:t>
            </a:r>
          </a:p>
          <a:p>
            <a:pPr marL="0" indent="0" defTabSz="914400">
              <a:lnSpc>
                <a:spcPct val="120000"/>
              </a:lnSpc>
              <a:spcBef>
                <a:spcPct val="0"/>
              </a:spcBef>
              <a:buNone/>
              <a:tabLst>
                <a:tab pos="457200" algn="l"/>
                <a:tab pos="914400" algn="l"/>
              </a:tabLst>
            </a:pPr>
            <a:r>
              <a:rPr lang="en-US" altLang="en-US" sz="2000" dirty="0"/>
              <a:t>	rear = </a:t>
            </a:r>
            <a:r>
              <a:rPr lang="en-US" altLang="en-US" sz="2000" dirty="0">
                <a:sym typeface="+mn-ea"/>
              </a:rPr>
              <a:t>newNode</a:t>
            </a:r>
            <a:r>
              <a:rPr lang="en-US" altLang="en-US" sz="2000" dirty="0"/>
              <a:t>; </a:t>
            </a:r>
          </a:p>
          <a:p>
            <a:pPr marL="0" indent="0" defTabSz="914400">
              <a:lnSpc>
                <a:spcPct val="120000"/>
              </a:lnSpc>
              <a:spcBef>
                <a:spcPct val="0"/>
              </a:spcBef>
              <a:buNone/>
              <a:tabLst>
                <a:tab pos="457200" algn="l"/>
                <a:tab pos="914400" algn="l"/>
              </a:tabLst>
            </a:pPr>
            <a:r>
              <a:rPr lang="en-US" altLang="en-US" sz="2000" dirty="0"/>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1121410" y="838200"/>
            <a:ext cx="7336790" cy="914400"/>
          </a:xfrm>
        </p:spPr>
        <p:txBody>
          <a:bodyPr wrap="square" lIns="92075" tIns="46038" rIns="92075" bIns="46038" anchor="ctr"/>
          <a:lstStyle/>
          <a:p>
            <a:r>
              <a:rPr lang="en-US" altLang="en-US" sz="3600" dirty="0">
                <a:ea typeface="MS Mincho" panose="02020609040205080304" pitchFamily="49" charset="-128"/>
              </a:rPr>
              <a:t>Implementing queues using linked lists: Delete Function</a:t>
            </a:r>
            <a:endParaRPr lang="en-US" altLang="en-US" sz="3600" dirty="0"/>
          </a:p>
        </p:txBody>
      </p:sp>
      <p:sp>
        <p:nvSpPr>
          <p:cNvPr id="47106" name="Rectangle 3"/>
          <p:cNvSpPr>
            <a:spLocks noGrp="1"/>
          </p:cNvSpPr>
          <p:nvPr>
            <p:ph idx="1"/>
          </p:nvPr>
        </p:nvSpPr>
        <p:spPr>
          <a:xfrm>
            <a:off x="880110" y="1824355"/>
            <a:ext cx="7578090" cy="4805045"/>
          </a:xfrm>
        </p:spPr>
        <p:txBody>
          <a:bodyPr wrap="square" lIns="92075" tIns="46038" rIns="92075" bIns="46038" anchor="t"/>
          <a:lstStyle/>
          <a:p>
            <a:pPr marL="0" indent="0" defTabSz="914400">
              <a:lnSpc>
                <a:spcPct val="100000"/>
              </a:lnSpc>
              <a:spcBef>
                <a:spcPts val="300"/>
              </a:spcBef>
              <a:buNone/>
              <a:tabLst>
                <a:tab pos="457200" algn="l"/>
                <a:tab pos="914400" algn="l"/>
              </a:tabLst>
            </a:pPr>
            <a:r>
              <a:rPr lang="en-US" altLang="en-US" sz="2000" dirty="0"/>
              <a:t>void Delete() {</a:t>
            </a:r>
          </a:p>
          <a:p>
            <a:pPr marL="0" indent="0" defTabSz="914400">
              <a:lnSpc>
                <a:spcPct val="100000"/>
              </a:lnSpc>
              <a:spcBef>
                <a:spcPts val="300"/>
              </a:spcBef>
              <a:buNone/>
              <a:tabLst>
                <a:tab pos="457200" algn="l"/>
                <a:tab pos="914400" algn="l"/>
              </a:tabLst>
            </a:pPr>
            <a:r>
              <a:rPr lang="en-US" altLang="en-US" sz="2000" dirty="0"/>
              <a:t>	struct Node* temp = front;</a:t>
            </a:r>
          </a:p>
          <a:p>
            <a:pPr marL="0" indent="0" defTabSz="914400">
              <a:lnSpc>
                <a:spcPct val="100000"/>
              </a:lnSpc>
              <a:spcBef>
                <a:spcPts val="300"/>
              </a:spcBef>
              <a:buNone/>
              <a:tabLst>
                <a:tab pos="457200" algn="l"/>
                <a:tab pos="914400" algn="l"/>
              </a:tabLst>
            </a:pPr>
            <a:r>
              <a:rPr lang="en-US" altLang="en-US" sz="2000" dirty="0"/>
              <a:t>	if(front == NULL) {</a:t>
            </a:r>
          </a:p>
          <a:p>
            <a:pPr marL="0" indent="0" defTabSz="914400">
              <a:lnSpc>
                <a:spcPct val="100000"/>
              </a:lnSpc>
              <a:spcBef>
                <a:spcPts val="300"/>
              </a:spcBef>
              <a:buNone/>
              <a:tabLst>
                <a:tab pos="457200" algn="l"/>
                <a:tab pos="914400" algn="l"/>
              </a:tabLst>
            </a:pPr>
            <a:r>
              <a:rPr lang="en-US" altLang="en-US" sz="2000" dirty="0"/>
              <a:t>		printf("Queue is Empty");</a:t>
            </a:r>
          </a:p>
          <a:p>
            <a:pPr marL="0" indent="0" defTabSz="914400">
              <a:lnSpc>
                <a:spcPct val="100000"/>
              </a:lnSpc>
              <a:spcBef>
                <a:spcPts val="300"/>
              </a:spcBef>
              <a:buNone/>
              <a:tabLst>
                <a:tab pos="457200" algn="l"/>
                <a:tab pos="914400" algn="l"/>
              </a:tabLst>
            </a:pPr>
            <a:r>
              <a:rPr lang="en-US" altLang="en-US" sz="2000" dirty="0"/>
              <a:t>		return;</a:t>
            </a:r>
          </a:p>
          <a:p>
            <a:pPr marL="0" indent="0" defTabSz="914400">
              <a:lnSpc>
                <a:spcPct val="100000"/>
              </a:lnSpc>
              <a:spcBef>
                <a:spcPts val="300"/>
              </a:spcBef>
              <a:buNone/>
              <a:tabLst>
                <a:tab pos="457200" algn="l"/>
                <a:tab pos="914400" algn="l"/>
              </a:tabLst>
            </a:pPr>
            <a:r>
              <a:rPr lang="en-US" altLang="en-US" sz="2000" dirty="0"/>
              <a:t>	}</a:t>
            </a:r>
          </a:p>
          <a:p>
            <a:pPr marL="0" indent="0" defTabSz="914400">
              <a:lnSpc>
                <a:spcPct val="100000"/>
              </a:lnSpc>
              <a:spcBef>
                <a:spcPts val="300"/>
              </a:spcBef>
              <a:buNone/>
              <a:tabLst>
                <a:tab pos="457200" algn="l"/>
                <a:tab pos="914400" algn="l"/>
              </a:tabLst>
            </a:pPr>
            <a:r>
              <a:rPr lang="en-US" altLang="en-US" sz="2000" dirty="0"/>
              <a:t>	if(front == rear) {</a:t>
            </a:r>
          </a:p>
          <a:p>
            <a:pPr marL="0" indent="0" defTabSz="914400">
              <a:lnSpc>
                <a:spcPct val="100000"/>
              </a:lnSpc>
              <a:spcBef>
                <a:spcPts val="300"/>
              </a:spcBef>
              <a:buNone/>
              <a:tabLst>
                <a:tab pos="457200" algn="l"/>
                <a:tab pos="914400" algn="l"/>
              </a:tabLst>
            </a:pPr>
            <a:r>
              <a:rPr lang="en-US" altLang="en-US" sz="2000" dirty="0"/>
              <a:t>		front = rear = NULL;</a:t>
            </a:r>
          </a:p>
          <a:p>
            <a:pPr marL="0" indent="0" defTabSz="914400">
              <a:lnSpc>
                <a:spcPct val="100000"/>
              </a:lnSpc>
              <a:spcBef>
                <a:spcPts val="300"/>
              </a:spcBef>
              <a:buNone/>
              <a:tabLst>
                <a:tab pos="457200" algn="l"/>
                <a:tab pos="914400" algn="l"/>
              </a:tabLst>
            </a:pPr>
            <a:r>
              <a:rPr lang="en-US" altLang="en-US" sz="2000" dirty="0"/>
              <a:t>	}</a:t>
            </a:r>
          </a:p>
          <a:p>
            <a:pPr marL="0" indent="0" defTabSz="914400">
              <a:lnSpc>
                <a:spcPct val="100000"/>
              </a:lnSpc>
              <a:spcBef>
                <a:spcPts val="300"/>
              </a:spcBef>
              <a:buNone/>
              <a:tabLst>
                <a:tab pos="457200" algn="l"/>
                <a:tab pos="914400" algn="l"/>
              </a:tabLst>
            </a:pPr>
            <a:r>
              <a:rPr lang="en-US" altLang="en-US" sz="2000" dirty="0"/>
              <a:t>	else {</a:t>
            </a:r>
          </a:p>
          <a:p>
            <a:pPr marL="0" indent="0" defTabSz="914400">
              <a:lnSpc>
                <a:spcPct val="100000"/>
              </a:lnSpc>
              <a:spcBef>
                <a:spcPts val="300"/>
              </a:spcBef>
              <a:buNone/>
              <a:tabLst>
                <a:tab pos="457200" algn="l"/>
                <a:tab pos="914400" algn="l"/>
              </a:tabLst>
            </a:pPr>
            <a:r>
              <a:rPr lang="en-US" altLang="en-US" sz="2000" dirty="0"/>
              <a:t>		front = front-&gt;next;</a:t>
            </a:r>
          </a:p>
          <a:p>
            <a:pPr marL="0" indent="0" defTabSz="914400">
              <a:lnSpc>
                <a:spcPct val="100000"/>
              </a:lnSpc>
              <a:spcBef>
                <a:spcPts val="300"/>
              </a:spcBef>
              <a:buNone/>
              <a:tabLst>
                <a:tab pos="457200" algn="l"/>
                <a:tab pos="914400" algn="l"/>
              </a:tabLst>
            </a:pPr>
            <a:r>
              <a:rPr lang="en-US" altLang="en-US" sz="2000" dirty="0"/>
              <a:t>	}</a:t>
            </a:r>
          </a:p>
          <a:p>
            <a:pPr marL="0" indent="0" defTabSz="914400">
              <a:lnSpc>
                <a:spcPct val="100000"/>
              </a:lnSpc>
              <a:spcBef>
                <a:spcPts val="300"/>
              </a:spcBef>
              <a:buNone/>
              <a:tabLst>
                <a:tab pos="457200" algn="l"/>
                <a:tab pos="914400" algn="l"/>
              </a:tabLst>
            </a:pPr>
            <a:r>
              <a:rPr lang="en-US" altLang="en-US" sz="2000" dirty="0"/>
              <a:t>	free(temp);</a:t>
            </a:r>
          </a:p>
          <a:p>
            <a:pPr marL="0" indent="0" defTabSz="914400">
              <a:lnSpc>
                <a:spcPct val="100000"/>
              </a:lnSpc>
              <a:spcBef>
                <a:spcPts val="300"/>
              </a:spcBef>
              <a:buNone/>
              <a:tabLst>
                <a:tab pos="457200" algn="l"/>
                <a:tab pos="914400" algn="l"/>
              </a:tabLst>
            </a:pPr>
            <a:r>
              <a:rPr lang="en-US" altLang="en-US" sz="2000" dirty="0"/>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1121410" y="838200"/>
            <a:ext cx="7336790" cy="914400"/>
          </a:xfrm>
        </p:spPr>
        <p:txBody>
          <a:bodyPr wrap="square" lIns="92075" tIns="46038" rIns="92075" bIns="46038" anchor="ctr"/>
          <a:lstStyle/>
          <a:p>
            <a:r>
              <a:rPr lang="en-US" altLang="en-US" sz="3600" dirty="0">
                <a:ea typeface="MS Mincho" panose="02020609040205080304" pitchFamily="49" charset="-128"/>
              </a:rPr>
              <a:t>Implementing Queue using Stacks</a:t>
            </a:r>
          </a:p>
        </p:txBody>
      </p:sp>
      <p:sp>
        <p:nvSpPr>
          <p:cNvPr id="47106" name="Rectangle 3"/>
          <p:cNvSpPr>
            <a:spLocks noGrp="1"/>
          </p:cNvSpPr>
          <p:nvPr>
            <p:ph idx="1"/>
          </p:nvPr>
        </p:nvSpPr>
        <p:spPr>
          <a:xfrm>
            <a:off x="880110" y="1824355"/>
            <a:ext cx="7578090" cy="4805045"/>
          </a:xfrm>
        </p:spPr>
        <p:txBody>
          <a:bodyPr wrap="square" lIns="92075" tIns="46038" rIns="92075" bIns="46038" anchor="t"/>
          <a:lstStyle/>
          <a:p>
            <a:pPr marL="0" indent="0" defTabSz="914400">
              <a:lnSpc>
                <a:spcPct val="100000"/>
              </a:lnSpc>
              <a:spcBef>
                <a:spcPts val="300"/>
              </a:spcBef>
              <a:buNone/>
              <a:tabLst>
                <a:tab pos="457200" algn="l"/>
                <a:tab pos="914400" algn="l"/>
              </a:tabLst>
            </a:pPr>
            <a:r>
              <a:rPr lang="en-US" altLang="en-US" sz="2000" dirty="0">
                <a:solidFill>
                  <a:srgbClr val="FF0000"/>
                </a:solidFill>
              </a:rPr>
              <a:t>Method 1</a:t>
            </a:r>
            <a:r>
              <a:rPr lang="en-US" altLang="en-US" sz="2000" dirty="0"/>
              <a:t>: (</a:t>
            </a:r>
            <a:r>
              <a:rPr lang="en-US" altLang="en-US" sz="2000" dirty="0">
                <a:solidFill>
                  <a:srgbClr val="1552D1"/>
                </a:solidFill>
              </a:rPr>
              <a:t>By making insert() operation costly</a:t>
            </a:r>
            <a:r>
              <a:rPr lang="en-US" altLang="en-US" sz="2000" dirty="0"/>
              <a:t>)</a:t>
            </a:r>
          </a:p>
          <a:p>
            <a:pPr defTabSz="914400">
              <a:lnSpc>
                <a:spcPct val="100000"/>
              </a:lnSpc>
              <a:spcBef>
                <a:spcPts val="900"/>
              </a:spcBef>
              <a:buFont typeface="Wingdings" panose="05000000000000000000" charset="0"/>
              <a:buChar char="§"/>
              <a:tabLst>
                <a:tab pos="457200" algn="l"/>
                <a:tab pos="914400" algn="l"/>
              </a:tabLst>
            </a:pPr>
            <a:r>
              <a:rPr lang="en-US" altLang="en-US" sz="2000" dirty="0"/>
              <a:t>This method makes sure that first element inserted is always at the top of stack 1</a:t>
            </a:r>
          </a:p>
          <a:p>
            <a:pPr defTabSz="914400">
              <a:lnSpc>
                <a:spcPct val="100000"/>
              </a:lnSpc>
              <a:spcBef>
                <a:spcPts val="900"/>
              </a:spcBef>
              <a:buFont typeface="Wingdings" panose="05000000000000000000" charset="0"/>
              <a:buChar char="§"/>
              <a:tabLst>
                <a:tab pos="457200" algn="l"/>
                <a:tab pos="914400" algn="l"/>
              </a:tabLst>
            </a:pPr>
            <a:r>
              <a:rPr lang="en-US" altLang="en-US" sz="2000" dirty="0"/>
              <a:t>So that delete() operation just pops from stack1</a:t>
            </a:r>
          </a:p>
          <a:p>
            <a:pPr defTabSz="914400">
              <a:lnSpc>
                <a:spcPct val="100000"/>
              </a:lnSpc>
              <a:spcBef>
                <a:spcPts val="900"/>
              </a:spcBef>
              <a:buFont typeface="Wingdings" panose="05000000000000000000" charset="0"/>
              <a:buChar char="§"/>
              <a:tabLst>
                <a:tab pos="457200" algn="l"/>
                <a:tab pos="914400" algn="l"/>
              </a:tabLst>
            </a:pPr>
            <a:r>
              <a:rPr lang="en-US" altLang="en-US" sz="2000" dirty="0"/>
              <a:t>To put the element at top of stack1, stack2 is used.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1121410" y="838200"/>
            <a:ext cx="7336790" cy="914400"/>
          </a:xfrm>
        </p:spPr>
        <p:txBody>
          <a:bodyPr wrap="square" lIns="92075" tIns="46038" rIns="92075" bIns="46038" anchor="ctr"/>
          <a:lstStyle/>
          <a:p>
            <a:r>
              <a:rPr lang="en-US" altLang="en-US" sz="3600" dirty="0">
                <a:ea typeface="MS Mincho" panose="02020609040205080304" pitchFamily="49" charset="-128"/>
              </a:rPr>
              <a:t>Implementing Queue using Stacks</a:t>
            </a:r>
          </a:p>
        </p:txBody>
      </p:sp>
      <p:sp>
        <p:nvSpPr>
          <p:cNvPr id="47106" name="Rectangle 3"/>
          <p:cNvSpPr>
            <a:spLocks noGrp="1"/>
          </p:cNvSpPr>
          <p:nvPr>
            <p:ph idx="1"/>
          </p:nvPr>
        </p:nvSpPr>
        <p:spPr>
          <a:xfrm>
            <a:off x="880110" y="1824355"/>
            <a:ext cx="7578090" cy="4805045"/>
          </a:xfrm>
        </p:spPr>
        <p:txBody>
          <a:bodyPr wrap="square" lIns="92075" tIns="46038" rIns="92075" bIns="46038" anchor="t"/>
          <a:lstStyle/>
          <a:p>
            <a:pPr marL="0" indent="0" defTabSz="914400">
              <a:lnSpc>
                <a:spcPct val="100000"/>
              </a:lnSpc>
              <a:spcBef>
                <a:spcPts val="900"/>
              </a:spcBef>
              <a:buFont typeface="Wingdings" panose="05000000000000000000" charset="0"/>
              <a:buNone/>
              <a:tabLst>
                <a:tab pos="457200" algn="l"/>
                <a:tab pos="914400" algn="l"/>
              </a:tabLst>
            </a:pPr>
            <a:r>
              <a:rPr lang="en-US" altLang="en-US" sz="2000" dirty="0">
                <a:solidFill>
                  <a:srgbClr val="FF0000"/>
                </a:solidFill>
              </a:rPr>
              <a:t>insert(q, x)</a:t>
            </a:r>
            <a:r>
              <a:rPr lang="en-US" altLang="en-US" sz="2000" dirty="0"/>
              <a:t>:</a:t>
            </a:r>
          </a:p>
          <a:p>
            <a:pPr defTabSz="914400">
              <a:lnSpc>
                <a:spcPct val="100000"/>
              </a:lnSpc>
              <a:spcBef>
                <a:spcPts val="900"/>
              </a:spcBef>
              <a:buFont typeface="Wingdings" panose="05000000000000000000" charset="0"/>
              <a:buChar char="§"/>
              <a:tabLst>
                <a:tab pos="457200" algn="l"/>
                <a:tab pos="914400" algn="l"/>
              </a:tabLst>
            </a:pPr>
            <a:r>
              <a:rPr lang="en-US" altLang="en-US" sz="2000" dirty="0"/>
              <a:t>While stack1 is not empty, push everything from stack1 to stack2.</a:t>
            </a:r>
          </a:p>
          <a:p>
            <a:pPr defTabSz="914400">
              <a:lnSpc>
                <a:spcPct val="100000"/>
              </a:lnSpc>
              <a:spcBef>
                <a:spcPts val="900"/>
              </a:spcBef>
              <a:buFont typeface="Wingdings" panose="05000000000000000000" charset="0"/>
              <a:buChar char="§"/>
              <a:tabLst>
                <a:tab pos="457200" algn="l"/>
                <a:tab pos="914400" algn="l"/>
              </a:tabLst>
            </a:pPr>
            <a:r>
              <a:rPr lang="en-US" altLang="en-US" sz="2000" dirty="0"/>
              <a:t>Push x to stack1 (assuming size of stacks is unlimited).</a:t>
            </a:r>
          </a:p>
          <a:p>
            <a:pPr defTabSz="914400">
              <a:lnSpc>
                <a:spcPct val="100000"/>
              </a:lnSpc>
              <a:spcBef>
                <a:spcPts val="900"/>
              </a:spcBef>
              <a:buFont typeface="Wingdings" panose="05000000000000000000" charset="0"/>
              <a:buChar char="§"/>
              <a:tabLst>
                <a:tab pos="457200" algn="l"/>
                <a:tab pos="914400" algn="l"/>
              </a:tabLst>
            </a:pPr>
            <a:r>
              <a:rPr lang="en-US" altLang="en-US" sz="2000" dirty="0"/>
              <a:t>Push everything back to stack1.</a:t>
            </a:r>
          </a:p>
          <a:p>
            <a:pPr defTabSz="914400">
              <a:lnSpc>
                <a:spcPct val="100000"/>
              </a:lnSpc>
              <a:spcBef>
                <a:spcPts val="900"/>
              </a:spcBef>
              <a:buFont typeface="Wingdings" panose="05000000000000000000" charset="0"/>
              <a:buChar char="§"/>
              <a:tabLst>
                <a:tab pos="457200" algn="l"/>
                <a:tab pos="914400" algn="l"/>
              </a:tabLst>
            </a:pPr>
            <a:r>
              <a:rPr lang="en-US" altLang="en-US" sz="2000" dirty="0"/>
              <a:t>Here time complexity will be O(n)</a:t>
            </a:r>
          </a:p>
          <a:p>
            <a:pPr defTabSz="914400">
              <a:lnSpc>
                <a:spcPct val="100000"/>
              </a:lnSpc>
              <a:spcBef>
                <a:spcPts val="900"/>
              </a:spcBef>
              <a:buFont typeface="Wingdings" panose="05000000000000000000" charset="0"/>
              <a:buChar char="§"/>
              <a:tabLst>
                <a:tab pos="457200" algn="l"/>
                <a:tab pos="914400" algn="l"/>
              </a:tabLst>
            </a:pPr>
            <a:endParaRPr lang="en-US" altLang="en-US" sz="2000" dirty="0"/>
          </a:p>
          <a:p>
            <a:pPr marL="0" indent="0" defTabSz="914400">
              <a:lnSpc>
                <a:spcPct val="100000"/>
              </a:lnSpc>
              <a:spcBef>
                <a:spcPts val="900"/>
              </a:spcBef>
              <a:buFont typeface="Wingdings" panose="05000000000000000000" charset="0"/>
              <a:buNone/>
              <a:tabLst>
                <a:tab pos="457200" algn="l"/>
                <a:tab pos="914400" algn="l"/>
              </a:tabLst>
            </a:pPr>
            <a:r>
              <a:rPr lang="en-US" altLang="en-US" sz="2000" dirty="0">
                <a:solidFill>
                  <a:srgbClr val="FF0000"/>
                </a:solidFill>
              </a:rPr>
              <a:t>delete(q)</a:t>
            </a:r>
            <a:r>
              <a:rPr lang="en-US" altLang="en-US" sz="2000" dirty="0"/>
              <a:t>:</a:t>
            </a:r>
          </a:p>
          <a:p>
            <a:pPr defTabSz="914400">
              <a:lnSpc>
                <a:spcPct val="100000"/>
              </a:lnSpc>
              <a:spcBef>
                <a:spcPts val="900"/>
              </a:spcBef>
              <a:buFont typeface="Wingdings" panose="05000000000000000000" charset="0"/>
              <a:buChar char="§"/>
              <a:tabLst>
                <a:tab pos="457200" algn="l"/>
                <a:tab pos="914400" algn="l"/>
              </a:tabLst>
            </a:pPr>
            <a:r>
              <a:rPr lang="en-US" altLang="en-US" sz="2000" dirty="0"/>
              <a:t>If stack1 is empty then error</a:t>
            </a:r>
          </a:p>
          <a:p>
            <a:pPr defTabSz="914400">
              <a:lnSpc>
                <a:spcPct val="100000"/>
              </a:lnSpc>
              <a:spcBef>
                <a:spcPts val="900"/>
              </a:spcBef>
              <a:buFont typeface="Wingdings" panose="05000000000000000000" charset="0"/>
              <a:buChar char="§"/>
              <a:tabLst>
                <a:tab pos="457200" algn="l"/>
                <a:tab pos="914400" algn="l"/>
              </a:tabLst>
            </a:pPr>
            <a:r>
              <a:rPr lang="en-US" altLang="en-US" sz="2000" dirty="0"/>
              <a:t>Pop an item from stack1 and return it</a:t>
            </a:r>
          </a:p>
          <a:p>
            <a:pPr defTabSz="914400">
              <a:lnSpc>
                <a:spcPct val="100000"/>
              </a:lnSpc>
              <a:spcBef>
                <a:spcPts val="900"/>
              </a:spcBef>
              <a:buFont typeface="Wingdings" panose="05000000000000000000" charset="0"/>
              <a:buChar char="§"/>
              <a:tabLst>
                <a:tab pos="457200" algn="l"/>
                <a:tab pos="914400" algn="l"/>
              </a:tabLst>
            </a:pPr>
            <a:r>
              <a:rPr lang="en-US" altLang="en-US" sz="2000" dirty="0"/>
              <a:t>Here time complexity will be O(1)</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1121410" y="838200"/>
            <a:ext cx="7336790" cy="914400"/>
          </a:xfrm>
        </p:spPr>
        <p:txBody>
          <a:bodyPr wrap="square" lIns="92075" tIns="46038" rIns="92075" bIns="46038" anchor="ctr"/>
          <a:lstStyle/>
          <a:p>
            <a:r>
              <a:rPr lang="en-US" altLang="en-US" sz="3600" dirty="0">
                <a:ea typeface="MS Mincho" panose="02020609040205080304" pitchFamily="49" charset="-128"/>
              </a:rPr>
              <a:t>Implementing Queue using Stacks</a:t>
            </a:r>
          </a:p>
        </p:txBody>
      </p:sp>
      <p:sp>
        <p:nvSpPr>
          <p:cNvPr id="47106" name="Rectangle 3"/>
          <p:cNvSpPr>
            <a:spLocks noGrp="1"/>
          </p:cNvSpPr>
          <p:nvPr>
            <p:ph idx="1"/>
          </p:nvPr>
        </p:nvSpPr>
        <p:spPr>
          <a:xfrm>
            <a:off x="81915" y="2034540"/>
            <a:ext cx="4556125" cy="4669790"/>
          </a:xfrm>
        </p:spPr>
        <p:txBody>
          <a:bodyPr wrap="square" lIns="92075" tIns="46038" rIns="92075" bIns="46038" anchor="t"/>
          <a:lstStyle/>
          <a:p>
            <a:pPr marL="0" indent="0" defTabSz="914400">
              <a:lnSpc>
                <a:spcPct val="100000"/>
              </a:lnSpc>
              <a:spcBef>
                <a:spcPts val="300"/>
              </a:spcBef>
              <a:buNone/>
              <a:tabLst>
                <a:tab pos="457200" algn="l"/>
                <a:tab pos="914400" algn="l"/>
                <a:tab pos="1371600" algn="l"/>
              </a:tabLst>
            </a:pPr>
            <a:r>
              <a:rPr lang="en-US" altLang="en-US" sz="2000" dirty="0"/>
              <a:t>void insert(int x) { </a:t>
            </a:r>
          </a:p>
          <a:p>
            <a:pPr marL="0" indent="0" defTabSz="914400">
              <a:lnSpc>
                <a:spcPct val="100000"/>
              </a:lnSpc>
              <a:spcBef>
                <a:spcPts val="300"/>
              </a:spcBef>
              <a:buNone/>
              <a:tabLst>
                <a:tab pos="457200" algn="l"/>
                <a:tab pos="914400" algn="l"/>
                <a:tab pos="1371600" algn="l"/>
              </a:tabLst>
            </a:pPr>
            <a:r>
              <a:rPr lang="en-US" altLang="en-US" sz="2000" dirty="0"/>
              <a:t>	// Move all elements from s1 to s2 </a:t>
            </a:r>
          </a:p>
          <a:p>
            <a:pPr marL="0" indent="0" defTabSz="914400">
              <a:lnSpc>
                <a:spcPct val="100000"/>
              </a:lnSpc>
              <a:spcBef>
                <a:spcPts val="300"/>
              </a:spcBef>
              <a:buNone/>
              <a:tabLst>
                <a:tab pos="457200" algn="l"/>
                <a:tab pos="914400" algn="l"/>
                <a:tab pos="1371600" algn="l"/>
              </a:tabLst>
            </a:pPr>
            <a:r>
              <a:rPr lang="en-US" altLang="en-US" sz="2000" dirty="0"/>
              <a:t>	while (!empty(s1)) { </a:t>
            </a:r>
          </a:p>
          <a:p>
            <a:pPr marL="0" indent="0" defTabSz="914400">
              <a:lnSpc>
                <a:spcPct val="100000"/>
              </a:lnSpc>
              <a:spcBef>
                <a:spcPts val="300"/>
              </a:spcBef>
              <a:buNone/>
              <a:tabLst>
                <a:tab pos="457200" algn="l"/>
                <a:tab pos="914400" algn="l"/>
                <a:tab pos="1371600" algn="l"/>
              </a:tabLst>
            </a:pPr>
            <a:r>
              <a:rPr lang="en-US" altLang="en-US" sz="2000" dirty="0"/>
              <a:t>            push(s2, top(s1)); </a:t>
            </a:r>
          </a:p>
          <a:p>
            <a:pPr marL="0" indent="0" defTabSz="914400">
              <a:lnSpc>
                <a:spcPct val="100000"/>
              </a:lnSpc>
              <a:spcBef>
                <a:spcPts val="300"/>
              </a:spcBef>
              <a:buNone/>
              <a:tabLst>
                <a:tab pos="457200" algn="l"/>
                <a:tab pos="914400" algn="l"/>
                <a:tab pos="1371600" algn="l"/>
              </a:tabLst>
            </a:pPr>
            <a:r>
              <a:rPr lang="en-US" altLang="en-US" sz="2000" dirty="0"/>
              <a:t>            pop(s1); </a:t>
            </a:r>
          </a:p>
          <a:p>
            <a:pPr marL="0" indent="0" defTabSz="914400">
              <a:lnSpc>
                <a:spcPct val="100000"/>
              </a:lnSpc>
              <a:spcBef>
                <a:spcPts val="300"/>
              </a:spcBef>
              <a:buNone/>
              <a:tabLst>
                <a:tab pos="457200" algn="l"/>
                <a:tab pos="914400" algn="l"/>
                <a:tab pos="1371600" algn="l"/>
              </a:tabLst>
            </a:pPr>
            <a:r>
              <a:rPr lang="en-US" altLang="en-US" sz="2000" dirty="0"/>
              <a:t>        } </a:t>
            </a:r>
          </a:p>
          <a:p>
            <a:pPr marL="0" indent="0" defTabSz="914400">
              <a:lnSpc>
                <a:spcPct val="100000"/>
              </a:lnSpc>
              <a:spcBef>
                <a:spcPts val="300"/>
              </a:spcBef>
              <a:buNone/>
              <a:tabLst>
                <a:tab pos="457200" algn="l"/>
                <a:tab pos="914400" algn="l"/>
                <a:tab pos="1371600" algn="l"/>
              </a:tabLst>
            </a:pPr>
            <a:r>
              <a:rPr lang="en-US" altLang="en-US" sz="2000" dirty="0"/>
              <a:t>        // Push item into s1 </a:t>
            </a:r>
          </a:p>
          <a:p>
            <a:pPr marL="0" indent="0" defTabSz="914400">
              <a:lnSpc>
                <a:spcPct val="100000"/>
              </a:lnSpc>
              <a:spcBef>
                <a:spcPts val="300"/>
              </a:spcBef>
              <a:buNone/>
              <a:tabLst>
                <a:tab pos="457200" algn="l"/>
                <a:tab pos="914400" algn="l"/>
                <a:tab pos="1371600" algn="l"/>
              </a:tabLst>
            </a:pPr>
            <a:r>
              <a:rPr lang="en-US" altLang="en-US" sz="2000" dirty="0"/>
              <a:t>        push(s1, x); </a:t>
            </a:r>
          </a:p>
          <a:p>
            <a:pPr marL="0" indent="0" defTabSz="914400">
              <a:lnSpc>
                <a:spcPct val="100000"/>
              </a:lnSpc>
              <a:spcBef>
                <a:spcPts val="300"/>
              </a:spcBef>
              <a:buNone/>
              <a:tabLst>
                <a:tab pos="457200" algn="l"/>
                <a:tab pos="914400" algn="l"/>
                <a:tab pos="1371600" algn="l"/>
              </a:tabLst>
            </a:pPr>
            <a:r>
              <a:rPr lang="en-US" altLang="en-US" sz="2000" dirty="0"/>
              <a:t>        // Push everything back to s1 </a:t>
            </a:r>
          </a:p>
          <a:p>
            <a:pPr marL="0" indent="0" defTabSz="914400">
              <a:lnSpc>
                <a:spcPct val="100000"/>
              </a:lnSpc>
              <a:spcBef>
                <a:spcPts val="300"/>
              </a:spcBef>
              <a:buNone/>
              <a:tabLst>
                <a:tab pos="457200" algn="l"/>
                <a:tab pos="914400" algn="l"/>
                <a:tab pos="1371600" algn="l"/>
              </a:tabLst>
            </a:pPr>
            <a:r>
              <a:rPr lang="en-US" altLang="en-US" sz="2000" dirty="0"/>
              <a:t>        while (!empty(s2)) { </a:t>
            </a:r>
          </a:p>
          <a:p>
            <a:pPr marL="0" indent="0" defTabSz="914400">
              <a:lnSpc>
                <a:spcPct val="100000"/>
              </a:lnSpc>
              <a:spcBef>
                <a:spcPts val="300"/>
              </a:spcBef>
              <a:buNone/>
              <a:tabLst>
                <a:tab pos="457200" algn="l"/>
                <a:tab pos="914400" algn="l"/>
                <a:tab pos="1371600" algn="l"/>
              </a:tabLst>
            </a:pPr>
            <a:r>
              <a:rPr lang="en-US" altLang="en-US" sz="2000" dirty="0"/>
              <a:t>            push(s1, top(s2)); </a:t>
            </a:r>
          </a:p>
          <a:p>
            <a:pPr marL="0" indent="0" defTabSz="914400">
              <a:lnSpc>
                <a:spcPct val="100000"/>
              </a:lnSpc>
              <a:spcBef>
                <a:spcPts val="300"/>
              </a:spcBef>
              <a:buNone/>
              <a:tabLst>
                <a:tab pos="457200" algn="l"/>
                <a:tab pos="914400" algn="l"/>
                <a:tab pos="1371600" algn="l"/>
              </a:tabLst>
            </a:pPr>
            <a:r>
              <a:rPr lang="en-US" altLang="en-US" sz="2000" dirty="0"/>
              <a:t>            pop(s2); </a:t>
            </a:r>
          </a:p>
          <a:p>
            <a:pPr marL="0" indent="0" defTabSz="914400">
              <a:lnSpc>
                <a:spcPct val="100000"/>
              </a:lnSpc>
              <a:spcBef>
                <a:spcPts val="300"/>
              </a:spcBef>
              <a:buNone/>
              <a:tabLst>
                <a:tab pos="457200" algn="l"/>
                <a:tab pos="914400" algn="l"/>
                <a:tab pos="1371600" algn="l"/>
              </a:tabLst>
            </a:pPr>
            <a:r>
              <a:rPr lang="en-US" altLang="en-US" sz="2000" dirty="0"/>
              <a:t>        } </a:t>
            </a:r>
          </a:p>
          <a:p>
            <a:pPr marL="0" indent="0" defTabSz="914400">
              <a:lnSpc>
                <a:spcPct val="100000"/>
              </a:lnSpc>
              <a:spcBef>
                <a:spcPts val="300"/>
              </a:spcBef>
              <a:buNone/>
              <a:tabLst>
                <a:tab pos="457200" algn="l"/>
                <a:tab pos="914400" algn="l"/>
                <a:tab pos="1371600" algn="l"/>
              </a:tabLst>
            </a:pPr>
            <a:r>
              <a:rPr lang="en-US" altLang="en-US" sz="2000" dirty="0"/>
              <a:t>} </a:t>
            </a:r>
          </a:p>
        </p:txBody>
      </p:sp>
      <p:sp>
        <p:nvSpPr>
          <p:cNvPr id="2" name="Rectangle 3"/>
          <p:cNvSpPr>
            <a:spLocks noGrp="1"/>
          </p:cNvSpPr>
          <p:nvPr/>
        </p:nvSpPr>
        <p:spPr>
          <a:xfrm>
            <a:off x="4585970" y="2018030"/>
            <a:ext cx="4420235" cy="4669790"/>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lnSpc>
                <a:spcPct val="100000"/>
              </a:lnSpc>
              <a:spcBef>
                <a:spcPts val="300"/>
              </a:spcBef>
              <a:buNone/>
              <a:tabLst>
                <a:tab pos="457200" algn="l"/>
                <a:tab pos="914400" algn="l"/>
                <a:tab pos="1371600" algn="l"/>
              </a:tabLst>
            </a:pPr>
            <a:r>
              <a:rPr lang="en-US" altLang="en-US" sz="2000" dirty="0"/>
              <a:t>int delete() { </a:t>
            </a:r>
          </a:p>
          <a:p>
            <a:pPr marL="457200" lvl="1" indent="0" defTabSz="914400">
              <a:lnSpc>
                <a:spcPct val="100000"/>
              </a:lnSpc>
              <a:spcBef>
                <a:spcPts val="300"/>
              </a:spcBef>
              <a:buNone/>
              <a:tabLst>
                <a:tab pos="457200" algn="l"/>
                <a:tab pos="914400" algn="l"/>
                <a:tab pos="1371600" algn="l"/>
              </a:tabLst>
            </a:pPr>
            <a:r>
              <a:rPr lang="en-US" altLang="en-US" sz="2000" dirty="0"/>
              <a:t>// if first stack is empty </a:t>
            </a:r>
          </a:p>
          <a:p>
            <a:pPr marL="0" indent="0" defTabSz="914400">
              <a:lnSpc>
                <a:spcPct val="100000"/>
              </a:lnSpc>
              <a:spcBef>
                <a:spcPts val="300"/>
              </a:spcBef>
              <a:buNone/>
              <a:tabLst>
                <a:tab pos="457200" algn="l"/>
                <a:tab pos="914400" algn="l"/>
                <a:tab pos="1371600" algn="l"/>
              </a:tabLst>
            </a:pPr>
            <a:r>
              <a:rPr lang="en-US" altLang="en-US" sz="2000" dirty="0"/>
              <a:t>      if (empty(s1)) { </a:t>
            </a:r>
          </a:p>
          <a:p>
            <a:pPr marL="0" indent="0" defTabSz="914400">
              <a:lnSpc>
                <a:spcPct val="100000"/>
              </a:lnSpc>
              <a:spcBef>
                <a:spcPts val="300"/>
              </a:spcBef>
              <a:buNone/>
              <a:tabLst>
                <a:tab pos="457200" algn="l"/>
                <a:tab pos="914400" algn="l"/>
                <a:tab pos="1371600" algn="l"/>
              </a:tabLst>
            </a:pPr>
            <a:r>
              <a:rPr lang="en-US" altLang="en-US" sz="2000" dirty="0"/>
              <a:t>      	printf("Queue is Empty"); </a:t>
            </a:r>
          </a:p>
          <a:p>
            <a:pPr marL="0" indent="0" defTabSz="914400">
              <a:lnSpc>
                <a:spcPct val="100000"/>
              </a:lnSpc>
              <a:spcBef>
                <a:spcPts val="300"/>
              </a:spcBef>
              <a:buNone/>
              <a:tabLst>
                <a:tab pos="457200" algn="l"/>
                <a:tab pos="914400" algn="l"/>
                <a:tab pos="1371600" algn="l"/>
              </a:tabLst>
            </a:pPr>
            <a:r>
              <a:rPr lang="en-US" altLang="en-US" sz="2000" dirty="0"/>
              <a:t>            return; </a:t>
            </a:r>
          </a:p>
          <a:p>
            <a:pPr marL="0" indent="0" defTabSz="914400">
              <a:lnSpc>
                <a:spcPct val="100000"/>
              </a:lnSpc>
              <a:spcBef>
                <a:spcPts val="300"/>
              </a:spcBef>
              <a:buNone/>
              <a:tabLst>
                <a:tab pos="457200" algn="l"/>
                <a:tab pos="914400" algn="l"/>
                <a:tab pos="1371600" algn="l"/>
              </a:tabLst>
            </a:pPr>
            <a:r>
              <a:rPr lang="en-US" altLang="en-US" sz="2000" dirty="0"/>
              <a:t>        } </a:t>
            </a:r>
          </a:p>
          <a:p>
            <a:pPr marL="0" indent="0" defTabSz="914400">
              <a:lnSpc>
                <a:spcPct val="100000"/>
              </a:lnSpc>
              <a:spcBef>
                <a:spcPts val="300"/>
              </a:spcBef>
              <a:buNone/>
              <a:tabLst>
                <a:tab pos="457200" algn="l"/>
                <a:tab pos="914400" algn="l"/>
                <a:tab pos="1371600" algn="l"/>
              </a:tabLst>
            </a:pPr>
            <a:r>
              <a:rPr lang="en-US" altLang="en-US" sz="2000" dirty="0"/>
              <a:t>  </a:t>
            </a:r>
          </a:p>
          <a:p>
            <a:pPr marL="0" indent="0" defTabSz="914400">
              <a:lnSpc>
                <a:spcPct val="100000"/>
              </a:lnSpc>
              <a:spcBef>
                <a:spcPts val="300"/>
              </a:spcBef>
              <a:buNone/>
              <a:tabLst>
                <a:tab pos="457200" algn="l"/>
                <a:tab pos="914400" algn="l"/>
                <a:tab pos="1371600" algn="l"/>
              </a:tabLst>
            </a:pPr>
            <a:r>
              <a:rPr lang="en-US" altLang="en-US" sz="2000" dirty="0"/>
              <a:t>        // Return top of s1 </a:t>
            </a:r>
          </a:p>
          <a:p>
            <a:pPr marL="0" indent="0" defTabSz="914400">
              <a:lnSpc>
                <a:spcPct val="100000"/>
              </a:lnSpc>
              <a:spcBef>
                <a:spcPts val="300"/>
              </a:spcBef>
              <a:buNone/>
              <a:tabLst>
                <a:tab pos="457200" algn="l"/>
                <a:tab pos="914400" algn="l"/>
                <a:tab pos="1371600" algn="l"/>
              </a:tabLst>
            </a:pPr>
            <a:r>
              <a:rPr lang="en-US" altLang="en-US" sz="2000" dirty="0"/>
              <a:t>        int x = top(s1); </a:t>
            </a:r>
          </a:p>
          <a:p>
            <a:pPr marL="0" indent="0" defTabSz="914400">
              <a:lnSpc>
                <a:spcPct val="100000"/>
              </a:lnSpc>
              <a:spcBef>
                <a:spcPts val="300"/>
              </a:spcBef>
              <a:buNone/>
              <a:tabLst>
                <a:tab pos="457200" algn="l"/>
                <a:tab pos="914400" algn="l"/>
                <a:tab pos="1371600" algn="l"/>
              </a:tabLst>
            </a:pPr>
            <a:r>
              <a:rPr lang="en-US" altLang="en-US" sz="2000" dirty="0"/>
              <a:t>        pop(s1); </a:t>
            </a:r>
          </a:p>
          <a:p>
            <a:pPr marL="0" indent="0" defTabSz="914400">
              <a:lnSpc>
                <a:spcPct val="100000"/>
              </a:lnSpc>
              <a:spcBef>
                <a:spcPts val="300"/>
              </a:spcBef>
              <a:buNone/>
              <a:tabLst>
                <a:tab pos="457200" algn="l"/>
                <a:tab pos="914400" algn="l"/>
                <a:tab pos="1371600" algn="l"/>
              </a:tabLst>
            </a:pPr>
            <a:r>
              <a:rPr lang="en-US" altLang="en-US" sz="2000" dirty="0"/>
              <a:t>        return x; </a:t>
            </a:r>
          </a:p>
          <a:p>
            <a:pPr marL="0" indent="0" defTabSz="914400">
              <a:lnSpc>
                <a:spcPct val="100000"/>
              </a:lnSpc>
              <a:spcBef>
                <a:spcPts val="300"/>
              </a:spcBef>
              <a:buNone/>
              <a:tabLst>
                <a:tab pos="457200" algn="l"/>
                <a:tab pos="914400" algn="l"/>
                <a:tab pos="1371600" algn="l"/>
              </a:tabLst>
            </a:pPr>
            <a:r>
              <a:rPr lang="en-US" altLang="en-US" sz="2000" dirty="0"/>
              <a:t>} </a:t>
            </a:r>
          </a:p>
          <a:p>
            <a:pPr marL="0" indent="0" defTabSz="914400">
              <a:lnSpc>
                <a:spcPct val="100000"/>
              </a:lnSpc>
              <a:spcBef>
                <a:spcPts val="300"/>
              </a:spcBef>
              <a:buNone/>
              <a:tabLst>
                <a:tab pos="457200" algn="l"/>
                <a:tab pos="914400" algn="l"/>
                <a:tab pos="1371600" algn="l"/>
              </a:tabLst>
            </a:pPr>
            <a:r>
              <a:rPr lang="en-US" altLang="en-US" sz="2000" dirty="0"/>
              <a: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1121410" y="838200"/>
            <a:ext cx="7336790" cy="914400"/>
          </a:xfrm>
        </p:spPr>
        <p:txBody>
          <a:bodyPr wrap="square" lIns="92075" tIns="46038" rIns="92075" bIns="46038" anchor="ctr"/>
          <a:lstStyle/>
          <a:p>
            <a:r>
              <a:rPr lang="en-US" altLang="en-US" sz="3600" dirty="0">
                <a:ea typeface="MS Mincho" panose="02020609040205080304" pitchFamily="49" charset="-128"/>
              </a:rPr>
              <a:t>Implementing Stack using Queues</a:t>
            </a:r>
          </a:p>
        </p:txBody>
      </p:sp>
      <p:sp>
        <p:nvSpPr>
          <p:cNvPr id="47106" name="Rectangle 3"/>
          <p:cNvSpPr>
            <a:spLocks noGrp="1"/>
          </p:cNvSpPr>
          <p:nvPr>
            <p:ph idx="1"/>
          </p:nvPr>
        </p:nvSpPr>
        <p:spPr>
          <a:xfrm>
            <a:off x="81915" y="1853565"/>
            <a:ext cx="4525010" cy="4850765"/>
          </a:xfrm>
        </p:spPr>
        <p:txBody>
          <a:bodyPr wrap="square" lIns="92075" tIns="46038" rIns="92075" bIns="46038" anchor="t"/>
          <a:lstStyle/>
          <a:p>
            <a:pPr marL="0" indent="0" defTabSz="914400">
              <a:lnSpc>
                <a:spcPct val="100000"/>
              </a:lnSpc>
              <a:spcBef>
                <a:spcPts val="300"/>
              </a:spcBef>
              <a:buNone/>
              <a:tabLst>
                <a:tab pos="457200" algn="l"/>
                <a:tab pos="914400" algn="l"/>
                <a:tab pos="1371600" algn="l"/>
              </a:tabLst>
            </a:pPr>
            <a:r>
              <a:rPr lang="en-US" altLang="en-US" sz="1800" dirty="0"/>
              <a:t>void push(int x) {</a:t>
            </a:r>
          </a:p>
          <a:p>
            <a:pPr marL="0" indent="0" defTabSz="914400">
              <a:lnSpc>
                <a:spcPct val="100000"/>
              </a:lnSpc>
              <a:spcBef>
                <a:spcPts val="300"/>
              </a:spcBef>
              <a:buNone/>
              <a:tabLst>
                <a:tab pos="457200" algn="l"/>
                <a:tab pos="914400" algn="l"/>
                <a:tab pos="1371600" algn="l"/>
              </a:tabLst>
            </a:pPr>
            <a:r>
              <a:rPr lang="en-US" altLang="en-US" sz="1800" dirty="0"/>
              <a:t>	int item;</a:t>
            </a:r>
          </a:p>
          <a:p>
            <a:pPr marL="0" indent="0" defTabSz="914400">
              <a:lnSpc>
                <a:spcPct val="100000"/>
              </a:lnSpc>
              <a:spcBef>
                <a:spcPts val="300"/>
              </a:spcBef>
              <a:buNone/>
              <a:tabLst>
                <a:tab pos="457200" algn="l"/>
                <a:tab pos="914400" algn="l"/>
                <a:tab pos="1371600" algn="l"/>
              </a:tabLst>
            </a:pPr>
            <a:r>
              <a:rPr lang="en-US" altLang="en-US" sz="1800" dirty="0"/>
              <a:t>	// move all elements in q1 to q2</a:t>
            </a:r>
          </a:p>
          <a:p>
            <a:pPr marL="0" indent="0" defTabSz="914400">
              <a:lnSpc>
                <a:spcPct val="100000"/>
              </a:lnSpc>
              <a:spcBef>
                <a:spcPts val="300"/>
              </a:spcBef>
              <a:buNone/>
              <a:tabLst>
                <a:tab pos="457200" algn="l"/>
                <a:tab pos="914400" algn="l"/>
                <a:tab pos="1371600" algn="l"/>
              </a:tabLst>
            </a:pPr>
            <a:r>
              <a:rPr lang="en-US" altLang="en-US" sz="1800" dirty="0"/>
              <a:t>	while(!isEmpty(q1)) {</a:t>
            </a:r>
          </a:p>
          <a:p>
            <a:pPr marL="0" indent="0" defTabSz="914400">
              <a:lnSpc>
                <a:spcPct val="100000"/>
              </a:lnSpc>
              <a:spcBef>
                <a:spcPts val="300"/>
              </a:spcBef>
              <a:buNone/>
              <a:tabLst>
                <a:tab pos="457200" algn="l"/>
                <a:tab pos="914400" algn="l"/>
                <a:tab pos="1371600" algn="l"/>
              </a:tabLst>
            </a:pPr>
            <a:r>
              <a:rPr lang="en-US" altLang="en-US" sz="1800" dirty="0"/>
              <a:t>		item = Delete(q1);</a:t>
            </a:r>
          </a:p>
          <a:p>
            <a:pPr marL="0" indent="0" defTabSz="914400">
              <a:lnSpc>
                <a:spcPct val="100000"/>
              </a:lnSpc>
              <a:spcBef>
                <a:spcPts val="300"/>
              </a:spcBef>
              <a:buNone/>
              <a:tabLst>
                <a:tab pos="457200" algn="l"/>
                <a:tab pos="914400" algn="l"/>
                <a:tab pos="1371600" algn="l"/>
              </a:tabLst>
            </a:pPr>
            <a:r>
              <a:rPr lang="en-US" altLang="en-US" sz="1800" dirty="0"/>
              <a:t>		insert(q2, temp);</a:t>
            </a:r>
          </a:p>
          <a:p>
            <a:pPr marL="0" indent="0" defTabSz="914400">
              <a:lnSpc>
                <a:spcPct val="100000"/>
              </a:lnSpc>
              <a:spcBef>
                <a:spcPts val="300"/>
              </a:spcBef>
              <a:buNone/>
              <a:tabLst>
                <a:tab pos="457200" algn="l"/>
                <a:tab pos="914400" algn="l"/>
                <a:tab pos="1371600" algn="l"/>
              </a:tabLst>
            </a:pPr>
            <a:r>
              <a:rPr lang="en-US" altLang="en-US" sz="1800" dirty="0"/>
              <a:t>	}</a:t>
            </a:r>
          </a:p>
          <a:p>
            <a:pPr marL="0" indent="0" defTabSz="914400">
              <a:lnSpc>
                <a:spcPct val="100000"/>
              </a:lnSpc>
              <a:spcBef>
                <a:spcPts val="300"/>
              </a:spcBef>
              <a:buNone/>
              <a:tabLst>
                <a:tab pos="457200" algn="l"/>
                <a:tab pos="914400" algn="l"/>
                <a:tab pos="1371600" algn="l"/>
              </a:tabLst>
            </a:pPr>
            <a:r>
              <a:rPr lang="en-US" altLang="en-US" sz="1800" dirty="0"/>
              <a:t>	// push the element into Stack</a:t>
            </a:r>
          </a:p>
          <a:p>
            <a:pPr marL="0" indent="0" defTabSz="914400">
              <a:lnSpc>
                <a:spcPct val="100000"/>
              </a:lnSpc>
              <a:spcBef>
                <a:spcPts val="300"/>
              </a:spcBef>
              <a:buNone/>
              <a:tabLst>
                <a:tab pos="457200" algn="l"/>
                <a:tab pos="914400" algn="l"/>
                <a:tab pos="1371600" algn="l"/>
              </a:tabLst>
            </a:pPr>
            <a:r>
              <a:rPr lang="en-US" altLang="en-US" sz="1800" dirty="0"/>
              <a:t>	insert(q1, x);	</a:t>
            </a:r>
          </a:p>
          <a:p>
            <a:pPr marL="0" indent="0" defTabSz="914400">
              <a:lnSpc>
                <a:spcPct val="100000"/>
              </a:lnSpc>
              <a:spcBef>
                <a:spcPts val="300"/>
              </a:spcBef>
              <a:buNone/>
              <a:tabLst>
                <a:tab pos="457200" algn="l"/>
                <a:tab pos="914400" algn="l"/>
                <a:tab pos="1371600" algn="l"/>
              </a:tabLst>
            </a:pPr>
            <a:r>
              <a:rPr lang="en-US" altLang="en-US" sz="1800" dirty="0"/>
              <a:t>	// move back all elements back to Q1 </a:t>
            </a:r>
          </a:p>
          <a:p>
            <a:pPr marL="0" indent="0" defTabSz="914400">
              <a:lnSpc>
                <a:spcPct val="100000"/>
              </a:lnSpc>
              <a:spcBef>
                <a:spcPts val="300"/>
              </a:spcBef>
              <a:buNone/>
              <a:tabLst>
                <a:tab pos="457200" algn="l"/>
                <a:tab pos="914400" algn="l"/>
                <a:tab pos="1371600" algn="l"/>
              </a:tabLst>
            </a:pPr>
            <a:r>
              <a:rPr lang="en-US" altLang="en-US" sz="1800" dirty="0"/>
              <a:t>					from Q2</a:t>
            </a:r>
          </a:p>
          <a:p>
            <a:pPr marL="0" indent="0" defTabSz="914400">
              <a:lnSpc>
                <a:spcPct val="100000"/>
              </a:lnSpc>
              <a:spcBef>
                <a:spcPts val="300"/>
              </a:spcBef>
              <a:buNone/>
              <a:tabLst>
                <a:tab pos="457200" algn="l"/>
                <a:tab pos="914400" algn="l"/>
                <a:tab pos="1371600" algn="l"/>
              </a:tabLst>
            </a:pPr>
            <a:r>
              <a:rPr lang="en-US" altLang="en-US" sz="1800" dirty="0"/>
              <a:t>	while(!isEmpty(q2)) {</a:t>
            </a:r>
          </a:p>
          <a:p>
            <a:pPr marL="0" indent="0" defTabSz="914400">
              <a:lnSpc>
                <a:spcPct val="100000"/>
              </a:lnSpc>
              <a:spcBef>
                <a:spcPts val="300"/>
              </a:spcBef>
              <a:buNone/>
              <a:tabLst>
                <a:tab pos="457200" algn="l"/>
                <a:tab pos="914400" algn="l"/>
                <a:tab pos="1371600" algn="l"/>
              </a:tabLst>
            </a:pPr>
            <a:r>
              <a:rPr lang="en-US" altLang="en-US" sz="1800" dirty="0"/>
              <a:t>		item = Delete(q2);</a:t>
            </a:r>
          </a:p>
          <a:p>
            <a:pPr marL="0" indent="0" defTabSz="914400">
              <a:lnSpc>
                <a:spcPct val="100000"/>
              </a:lnSpc>
              <a:spcBef>
                <a:spcPts val="300"/>
              </a:spcBef>
              <a:buNone/>
              <a:tabLst>
                <a:tab pos="457200" algn="l"/>
                <a:tab pos="914400" algn="l"/>
                <a:tab pos="1371600" algn="l"/>
              </a:tabLst>
            </a:pPr>
            <a:r>
              <a:rPr lang="en-US" altLang="en-US" sz="1800" dirty="0"/>
              <a:t>		insert(q1, item);</a:t>
            </a:r>
          </a:p>
          <a:p>
            <a:pPr marL="0" indent="0" defTabSz="914400">
              <a:lnSpc>
                <a:spcPct val="100000"/>
              </a:lnSpc>
              <a:spcBef>
                <a:spcPts val="300"/>
              </a:spcBef>
              <a:buNone/>
              <a:tabLst>
                <a:tab pos="457200" algn="l"/>
                <a:tab pos="914400" algn="l"/>
                <a:tab pos="1371600" algn="l"/>
              </a:tabLst>
            </a:pPr>
            <a:r>
              <a:rPr lang="en-US" altLang="en-US" sz="1800" dirty="0"/>
              <a:t>	}</a:t>
            </a:r>
          </a:p>
          <a:p>
            <a:pPr marL="0" indent="0" defTabSz="914400">
              <a:lnSpc>
                <a:spcPct val="100000"/>
              </a:lnSpc>
              <a:spcBef>
                <a:spcPts val="300"/>
              </a:spcBef>
              <a:buNone/>
              <a:tabLst>
                <a:tab pos="457200" algn="l"/>
                <a:tab pos="914400" algn="l"/>
                <a:tab pos="1371600" algn="l"/>
              </a:tabLst>
            </a:pPr>
            <a:r>
              <a:rPr lang="en-US" altLang="en-US" sz="1800" dirty="0"/>
              <a:t>}</a:t>
            </a:r>
          </a:p>
        </p:txBody>
      </p:sp>
      <p:sp>
        <p:nvSpPr>
          <p:cNvPr id="2" name="Rectangle 3"/>
          <p:cNvSpPr>
            <a:spLocks noGrp="1"/>
          </p:cNvSpPr>
          <p:nvPr/>
        </p:nvSpPr>
        <p:spPr>
          <a:xfrm>
            <a:off x="5128895" y="1944370"/>
            <a:ext cx="4128770" cy="4669790"/>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lnSpc>
                <a:spcPct val="100000"/>
              </a:lnSpc>
              <a:spcBef>
                <a:spcPts val="300"/>
              </a:spcBef>
              <a:buNone/>
              <a:tabLst>
                <a:tab pos="457200" algn="l"/>
                <a:tab pos="914400" algn="l"/>
                <a:tab pos="1371600" algn="l"/>
              </a:tabLst>
            </a:pPr>
            <a:r>
              <a:rPr lang="en-US" altLang="en-US" sz="1800" dirty="0">
                <a:cs typeface="+mn-lt"/>
              </a:rPr>
              <a:t>int pop() { </a:t>
            </a:r>
          </a:p>
          <a:p>
            <a:pPr marL="457200" lvl="1" indent="0" defTabSz="914400">
              <a:lnSpc>
                <a:spcPct val="100000"/>
              </a:lnSpc>
              <a:spcBef>
                <a:spcPts val="300"/>
              </a:spcBef>
              <a:buNone/>
              <a:tabLst>
                <a:tab pos="457200" algn="l"/>
                <a:tab pos="914400" algn="l"/>
                <a:tab pos="1371600" algn="l"/>
              </a:tabLst>
            </a:pPr>
            <a:r>
              <a:rPr lang="en-US" altLang="en-US" sz="1800" dirty="0">
                <a:cs typeface="+mn-lt"/>
              </a:rPr>
              <a:t>// if first stack is empty </a:t>
            </a:r>
          </a:p>
          <a:p>
            <a:pPr marL="0" indent="0" defTabSz="914400">
              <a:lnSpc>
                <a:spcPct val="100000"/>
              </a:lnSpc>
              <a:spcBef>
                <a:spcPts val="300"/>
              </a:spcBef>
              <a:buNone/>
              <a:tabLst>
                <a:tab pos="457200" algn="l"/>
                <a:tab pos="914400" algn="l"/>
                <a:tab pos="1371600" algn="l"/>
              </a:tabLst>
            </a:pPr>
            <a:r>
              <a:rPr lang="en-US" altLang="en-US" sz="1800" dirty="0">
                <a:cs typeface="+mn-lt"/>
              </a:rPr>
              <a:t>      if (empty(q1)) { </a:t>
            </a:r>
          </a:p>
          <a:p>
            <a:pPr marL="0" indent="0" defTabSz="914400">
              <a:lnSpc>
                <a:spcPct val="100000"/>
              </a:lnSpc>
              <a:spcBef>
                <a:spcPts val="300"/>
              </a:spcBef>
              <a:buNone/>
              <a:tabLst>
                <a:tab pos="457200" algn="l"/>
                <a:tab pos="914400" algn="l"/>
                <a:tab pos="1371600" algn="l"/>
              </a:tabLst>
            </a:pPr>
            <a:r>
              <a:rPr lang="en-US" altLang="en-US" sz="1800" dirty="0">
                <a:cs typeface="+mn-lt"/>
              </a:rPr>
              <a:t>      		printf("Empty Stack"); </a:t>
            </a:r>
          </a:p>
          <a:p>
            <a:pPr marL="0" indent="0" defTabSz="914400">
              <a:lnSpc>
                <a:spcPct val="100000"/>
              </a:lnSpc>
              <a:spcBef>
                <a:spcPts val="300"/>
              </a:spcBef>
              <a:buNone/>
              <a:tabLst>
                <a:tab pos="457200" algn="l"/>
                <a:tab pos="914400" algn="l"/>
                <a:tab pos="1371600" algn="l"/>
              </a:tabLst>
            </a:pPr>
            <a:r>
              <a:rPr lang="en-US" altLang="en-US" sz="1800" dirty="0">
                <a:cs typeface="+mn-lt"/>
              </a:rPr>
              <a:t>            return; </a:t>
            </a:r>
          </a:p>
          <a:p>
            <a:pPr marL="0" indent="0" defTabSz="914400">
              <a:lnSpc>
                <a:spcPct val="100000"/>
              </a:lnSpc>
              <a:spcBef>
                <a:spcPts val="300"/>
              </a:spcBef>
              <a:buNone/>
              <a:tabLst>
                <a:tab pos="457200" algn="l"/>
                <a:tab pos="914400" algn="l"/>
                <a:tab pos="1371600" algn="l"/>
              </a:tabLst>
            </a:pPr>
            <a:r>
              <a:rPr lang="en-US" altLang="en-US" sz="1800" dirty="0">
                <a:cs typeface="+mn-lt"/>
              </a:rPr>
              <a:t>        } </a:t>
            </a:r>
          </a:p>
          <a:p>
            <a:pPr marL="0" indent="0" defTabSz="914400">
              <a:lnSpc>
                <a:spcPct val="100000"/>
              </a:lnSpc>
              <a:spcBef>
                <a:spcPts val="300"/>
              </a:spcBef>
              <a:buNone/>
              <a:tabLst>
                <a:tab pos="457200" algn="l"/>
                <a:tab pos="914400" algn="l"/>
                <a:tab pos="1371600" algn="l"/>
              </a:tabLst>
            </a:pPr>
            <a:r>
              <a:rPr lang="en-US" altLang="en-US" sz="1800" dirty="0">
                <a:cs typeface="+mn-lt"/>
              </a:rPr>
              <a:t> 	return Delete(q1);</a:t>
            </a:r>
          </a:p>
          <a:p>
            <a:pPr marL="0" indent="0" defTabSz="914400">
              <a:lnSpc>
                <a:spcPct val="100000"/>
              </a:lnSpc>
              <a:spcBef>
                <a:spcPts val="300"/>
              </a:spcBef>
              <a:buNone/>
              <a:tabLst>
                <a:tab pos="457200" algn="l"/>
                <a:tab pos="914400" algn="l"/>
                <a:tab pos="1371600" algn="l"/>
              </a:tabLst>
            </a:pPr>
            <a:r>
              <a:rPr lang="en-US" altLang="en-US" sz="1800" dirty="0">
                <a:cs typeface="+mn-lt"/>
              </a:rPr>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1121410" y="838200"/>
            <a:ext cx="7336790" cy="914400"/>
          </a:xfrm>
        </p:spPr>
        <p:txBody>
          <a:bodyPr wrap="square" lIns="92075" tIns="46038" rIns="92075" bIns="46038" anchor="ctr"/>
          <a:lstStyle/>
          <a:p>
            <a:r>
              <a:rPr lang="en-US" altLang="en-US" sz="3600" dirty="0">
                <a:ea typeface="MS Mincho" panose="02020609040205080304" pitchFamily="49" charset="-128"/>
              </a:rPr>
              <a:t>Implementing Stack using Deque</a:t>
            </a:r>
          </a:p>
        </p:txBody>
      </p:sp>
      <p:sp>
        <p:nvSpPr>
          <p:cNvPr id="47106" name="Rectangle 3"/>
          <p:cNvSpPr>
            <a:spLocks noGrp="1"/>
          </p:cNvSpPr>
          <p:nvPr>
            <p:ph idx="1"/>
          </p:nvPr>
        </p:nvSpPr>
        <p:spPr>
          <a:xfrm>
            <a:off x="225425" y="2125345"/>
            <a:ext cx="4525010" cy="4578985"/>
          </a:xfrm>
        </p:spPr>
        <p:txBody>
          <a:bodyPr wrap="square" lIns="92075" tIns="46038" rIns="92075" bIns="46038" anchor="t"/>
          <a:lstStyle/>
          <a:p>
            <a:pPr marL="0" indent="0" defTabSz="914400">
              <a:lnSpc>
                <a:spcPct val="100000"/>
              </a:lnSpc>
              <a:spcBef>
                <a:spcPts val="300"/>
              </a:spcBef>
              <a:buNone/>
              <a:tabLst>
                <a:tab pos="457200" algn="l"/>
                <a:tab pos="914400" algn="l"/>
                <a:tab pos="1371600" algn="l"/>
              </a:tabLst>
            </a:pPr>
            <a:r>
              <a:rPr lang="en-US" altLang="en-US" sz="1800" dirty="0"/>
              <a:t>void push(int x) {</a:t>
            </a:r>
          </a:p>
          <a:p>
            <a:pPr marL="0" indent="0" defTabSz="914400">
              <a:lnSpc>
                <a:spcPct val="100000"/>
              </a:lnSpc>
              <a:spcBef>
                <a:spcPts val="300"/>
              </a:spcBef>
              <a:buNone/>
              <a:tabLst>
                <a:tab pos="457200" algn="l"/>
                <a:tab pos="914400" algn="l"/>
                <a:tab pos="1371600" algn="l"/>
              </a:tabLst>
            </a:pPr>
            <a:r>
              <a:rPr lang="en-US" altLang="en-US" sz="1800" dirty="0"/>
              <a:t>	int item;</a:t>
            </a:r>
          </a:p>
          <a:p>
            <a:pPr marL="0" indent="0" defTabSz="914400">
              <a:lnSpc>
                <a:spcPct val="100000"/>
              </a:lnSpc>
              <a:spcBef>
                <a:spcPts val="300"/>
              </a:spcBef>
              <a:buNone/>
              <a:tabLst>
                <a:tab pos="457200" algn="l"/>
                <a:tab pos="914400" algn="l"/>
                <a:tab pos="1371600" algn="l"/>
              </a:tabLst>
            </a:pPr>
            <a:r>
              <a:rPr lang="en-US" altLang="en-US" sz="1800" dirty="0"/>
              <a:t>	// push the element into Stack</a:t>
            </a:r>
          </a:p>
          <a:p>
            <a:pPr marL="0" indent="0" defTabSz="914400">
              <a:lnSpc>
                <a:spcPct val="100000"/>
              </a:lnSpc>
              <a:spcBef>
                <a:spcPts val="300"/>
              </a:spcBef>
              <a:buNone/>
              <a:tabLst>
                <a:tab pos="457200" algn="l"/>
                <a:tab pos="914400" algn="l"/>
                <a:tab pos="1371600" algn="l"/>
              </a:tabLst>
            </a:pPr>
            <a:r>
              <a:rPr lang="en-US" altLang="en-US" sz="1800" dirty="0"/>
              <a:t>	insertAtFront(q, x);	</a:t>
            </a:r>
          </a:p>
          <a:p>
            <a:pPr marL="0" indent="0" defTabSz="914400">
              <a:lnSpc>
                <a:spcPct val="100000"/>
              </a:lnSpc>
              <a:spcBef>
                <a:spcPts val="300"/>
              </a:spcBef>
              <a:buNone/>
              <a:tabLst>
                <a:tab pos="457200" algn="l"/>
                <a:tab pos="914400" algn="l"/>
                <a:tab pos="1371600" algn="l"/>
              </a:tabLst>
            </a:pPr>
            <a:r>
              <a:rPr lang="en-US" altLang="en-US" sz="1800" dirty="0"/>
              <a:t>}</a:t>
            </a:r>
          </a:p>
        </p:txBody>
      </p:sp>
      <p:sp>
        <p:nvSpPr>
          <p:cNvPr id="2" name="Rectangle 3"/>
          <p:cNvSpPr>
            <a:spLocks noGrp="1"/>
          </p:cNvSpPr>
          <p:nvPr/>
        </p:nvSpPr>
        <p:spPr>
          <a:xfrm>
            <a:off x="5128895" y="1944370"/>
            <a:ext cx="4128770" cy="4669790"/>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lnSpc>
                <a:spcPct val="100000"/>
              </a:lnSpc>
              <a:spcBef>
                <a:spcPts val="300"/>
              </a:spcBef>
              <a:buNone/>
              <a:tabLst>
                <a:tab pos="457200" algn="l"/>
                <a:tab pos="914400" algn="l"/>
                <a:tab pos="1371600" algn="l"/>
              </a:tabLst>
            </a:pPr>
            <a:r>
              <a:rPr lang="en-US" altLang="en-US" sz="1800" dirty="0">
                <a:cs typeface="+mn-lt"/>
              </a:rPr>
              <a:t>int pop() { </a:t>
            </a:r>
          </a:p>
          <a:p>
            <a:pPr marL="457200" lvl="1" indent="0" defTabSz="914400">
              <a:lnSpc>
                <a:spcPct val="100000"/>
              </a:lnSpc>
              <a:spcBef>
                <a:spcPts val="300"/>
              </a:spcBef>
              <a:buNone/>
              <a:tabLst>
                <a:tab pos="457200" algn="l"/>
                <a:tab pos="914400" algn="l"/>
                <a:tab pos="1371600" algn="l"/>
              </a:tabLst>
            </a:pPr>
            <a:r>
              <a:rPr lang="en-US" altLang="en-US" sz="1800" dirty="0">
                <a:cs typeface="+mn-lt"/>
              </a:rPr>
              <a:t>// if first stack is empty </a:t>
            </a:r>
          </a:p>
          <a:p>
            <a:pPr marL="0" indent="0" defTabSz="914400">
              <a:lnSpc>
                <a:spcPct val="100000"/>
              </a:lnSpc>
              <a:spcBef>
                <a:spcPts val="300"/>
              </a:spcBef>
              <a:buNone/>
              <a:tabLst>
                <a:tab pos="457200" algn="l"/>
                <a:tab pos="914400" algn="l"/>
                <a:tab pos="1371600" algn="l"/>
              </a:tabLst>
            </a:pPr>
            <a:r>
              <a:rPr lang="en-US" altLang="en-US" sz="1800" dirty="0">
                <a:cs typeface="+mn-lt"/>
              </a:rPr>
              <a:t>      if (empty(q1)) { </a:t>
            </a:r>
          </a:p>
          <a:p>
            <a:pPr marL="0" indent="0" defTabSz="914400">
              <a:lnSpc>
                <a:spcPct val="100000"/>
              </a:lnSpc>
              <a:spcBef>
                <a:spcPts val="300"/>
              </a:spcBef>
              <a:buNone/>
              <a:tabLst>
                <a:tab pos="457200" algn="l"/>
                <a:tab pos="914400" algn="l"/>
                <a:tab pos="1371600" algn="l"/>
              </a:tabLst>
            </a:pPr>
            <a:r>
              <a:rPr lang="en-US" altLang="en-US" sz="1800" dirty="0">
                <a:cs typeface="+mn-lt"/>
              </a:rPr>
              <a:t>      		printf("Empty Stack"); </a:t>
            </a:r>
          </a:p>
          <a:p>
            <a:pPr marL="0" indent="0" defTabSz="914400">
              <a:lnSpc>
                <a:spcPct val="100000"/>
              </a:lnSpc>
              <a:spcBef>
                <a:spcPts val="300"/>
              </a:spcBef>
              <a:buNone/>
              <a:tabLst>
                <a:tab pos="457200" algn="l"/>
                <a:tab pos="914400" algn="l"/>
                <a:tab pos="1371600" algn="l"/>
              </a:tabLst>
            </a:pPr>
            <a:r>
              <a:rPr lang="en-US" altLang="en-US" sz="1800" dirty="0">
                <a:cs typeface="+mn-lt"/>
              </a:rPr>
              <a:t>            return; </a:t>
            </a:r>
          </a:p>
          <a:p>
            <a:pPr marL="0" indent="0" defTabSz="914400">
              <a:lnSpc>
                <a:spcPct val="100000"/>
              </a:lnSpc>
              <a:spcBef>
                <a:spcPts val="300"/>
              </a:spcBef>
              <a:buNone/>
              <a:tabLst>
                <a:tab pos="457200" algn="l"/>
                <a:tab pos="914400" algn="l"/>
                <a:tab pos="1371600" algn="l"/>
              </a:tabLst>
            </a:pPr>
            <a:r>
              <a:rPr lang="en-US" altLang="en-US" sz="1800" dirty="0">
                <a:cs typeface="+mn-lt"/>
              </a:rPr>
              <a:t>        } </a:t>
            </a:r>
          </a:p>
          <a:p>
            <a:pPr marL="0" indent="0" defTabSz="914400">
              <a:lnSpc>
                <a:spcPct val="100000"/>
              </a:lnSpc>
              <a:spcBef>
                <a:spcPts val="300"/>
              </a:spcBef>
              <a:buNone/>
              <a:tabLst>
                <a:tab pos="457200" algn="l"/>
                <a:tab pos="914400" algn="l"/>
                <a:tab pos="1371600" algn="l"/>
              </a:tabLst>
            </a:pPr>
            <a:r>
              <a:rPr lang="en-US" altLang="en-US" sz="1800" dirty="0">
                <a:cs typeface="+mn-lt"/>
              </a:rPr>
              <a:t> 	return deleteAtFront(q);</a:t>
            </a:r>
          </a:p>
          <a:p>
            <a:pPr marL="0" indent="0" defTabSz="914400">
              <a:lnSpc>
                <a:spcPct val="100000"/>
              </a:lnSpc>
              <a:spcBef>
                <a:spcPts val="300"/>
              </a:spcBef>
              <a:buNone/>
              <a:tabLst>
                <a:tab pos="457200" algn="l"/>
                <a:tab pos="914400" algn="l"/>
                <a:tab pos="1371600" algn="l"/>
              </a:tabLst>
            </a:pPr>
            <a:r>
              <a:rPr lang="en-US" altLang="en-US" sz="1800" dirty="0">
                <a:cs typeface="+mn-lt"/>
              </a:rPr>
              <a:t>}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a:xfrm>
            <a:off x="1184910" y="975360"/>
            <a:ext cx="7269480" cy="762000"/>
          </a:xfrm>
        </p:spPr>
        <p:txBody>
          <a:bodyPr wrap="square" lIns="92075" tIns="46038" rIns="92075" bIns="46038" anchor="ctr"/>
          <a:lstStyle/>
          <a:p>
            <a:r>
              <a:rPr lang="en-US" altLang="en-US" sz="3600" dirty="0"/>
              <a:t>Deques</a:t>
            </a:r>
          </a:p>
        </p:txBody>
      </p:sp>
      <p:sp>
        <p:nvSpPr>
          <p:cNvPr id="48130" name="Rectangle 3"/>
          <p:cNvSpPr>
            <a:spLocks noGrp="1"/>
          </p:cNvSpPr>
          <p:nvPr>
            <p:ph idx="1"/>
          </p:nvPr>
        </p:nvSpPr>
        <p:spPr>
          <a:xfrm>
            <a:off x="845820" y="2090420"/>
            <a:ext cx="7947660" cy="2514600"/>
          </a:xfrm>
        </p:spPr>
        <p:txBody>
          <a:bodyPr wrap="square" lIns="92075" tIns="46038" rIns="92075" bIns="46038" anchor="t"/>
          <a:lstStyle/>
          <a:p>
            <a:pPr>
              <a:spcBef>
                <a:spcPts val="1200"/>
              </a:spcBef>
            </a:pPr>
            <a:r>
              <a:rPr lang="en-US" altLang="en-US" sz="2000" dirty="0"/>
              <a:t>A </a:t>
            </a:r>
            <a:r>
              <a:rPr lang="en-US" altLang="en-US" sz="2000" dirty="0">
                <a:solidFill>
                  <a:schemeClr val="tx2"/>
                </a:solidFill>
              </a:rPr>
              <a:t>deque</a:t>
            </a:r>
            <a:r>
              <a:rPr lang="en-US" altLang="en-US" sz="2000" dirty="0"/>
              <a:t> is a </a:t>
            </a:r>
            <a:r>
              <a:rPr lang="en-US" altLang="en-US" sz="2000" u="sng" dirty="0"/>
              <a:t>d</a:t>
            </a:r>
            <a:r>
              <a:rPr lang="en-US" altLang="en-US" sz="2000" dirty="0"/>
              <a:t>ouble-</a:t>
            </a:r>
            <a:r>
              <a:rPr lang="en-US" altLang="en-US" sz="2000" u="sng" dirty="0"/>
              <a:t>e</a:t>
            </a:r>
            <a:r>
              <a:rPr lang="en-US" altLang="en-US" sz="2000" dirty="0"/>
              <a:t>nded </a:t>
            </a:r>
            <a:r>
              <a:rPr lang="en-US" altLang="en-US" sz="2000" u="sng" dirty="0"/>
              <a:t>que</a:t>
            </a:r>
            <a:r>
              <a:rPr lang="en-US" altLang="en-US" sz="2000" dirty="0"/>
              <a:t>ue</a:t>
            </a:r>
          </a:p>
          <a:p>
            <a:pPr>
              <a:spcBef>
                <a:spcPts val="1200"/>
              </a:spcBef>
            </a:pPr>
            <a:r>
              <a:rPr lang="en-US" altLang="en-US" sz="2000" dirty="0"/>
              <a:t>Insertions </a:t>
            </a:r>
            <a:r>
              <a:rPr lang="en-US" altLang="en-US" sz="2000" i="1" dirty="0"/>
              <a:t>and</a:t>
            </a:r>
            <a:r>
              <a:rPr lang="en-US" altLang="en-US" sz="2000" dirty="0"/>
              <a:t> deletions can occur at </a:t>
            </a:r>
            <a:r>
              <a:rPr lang="en-US" altLang="en-US" sz="2000" i="1" dirty="0"/>
              <a:t>either</a:t>
            </a:r>
            <a:r>
              <a:rPr lang="en-US" altLang="en-US" sz="2000" dirty="0"/>
              <a:t> end</a:t>
            </a:r>
          </a:p>
          <a:p>
            <a:pPr>
              <a:spcBef>
                <a:spcPts val="1200"/>
              </a:spcBef>
            </a:pPr>
            <a:r>
              <a:rPr lang="en-US" altLang="en-US" sz="2000" dirty="0"/>
              <a:t>Implementation is similar to that for queues</a:t>
            </a:r>
          </a:p>
          <a:p>
            <a:pPr>
              <a:spcBef>
                <a:spcPts val="1200"/>
              </a:spcBef>
            </a:pPr>
            <a:r>
              <a:rPr lang="en-US" altLang="en-US" sz="2000" dirty="0"/>
              <a:t>Deques are not heavily used</a:t>
            </a:r>
          </a:p>
          <a:p>
            <a:pPr>
              <a:spcBef>
                <a:spcPts val="1200"/>
              </a:spcBef>
            </a:pPr>
            <a:endParaRPr lang="en-US" alt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a:xfrm>
            <a:off x="1184910" y="975360"/>
            <a:ext cx="7269480" cy="762000"/>
          </a:xfrm>
        </p:spPr>
        <p:txBody>
          <a:bodyPr wrap="square" lIns="92075" tIns="46038" rIns="92075" bIns="46038" anchor="ctr"/>
          <a:lstStyle/>
          <a:p>
            <a:r>
              <a:rPr lang="en-US" altLang="en-US" sz="3600" dirty="0"/>
              <a:t>Deques</a:t>
            </a:r>
          </a:p>
        </p:txBody>
      </p:sp>
      <p:sp>
        <p:nvSpPr>
          <p:cNvPr id="48130" name="Rectangle 3"/>
          <p:cNvSpPr>
            <a:spLocks noGrp="1"/>
          </p:cNvSpPr>
          <p:nvPr>
            <p:ph idx="1"/>
          </p:nvPr>
        </p:nvSpPr>
        <p:spPr>
          <a:xfrm>
            <a:off x="845820" y="2090420"/>
            <a:ext cx="7947660" cy="2514600"/>
          </a:xfrm>
        </p:spPr>
        <p:txBody>
          <a:bodyPr wrap="square" lIns="92075" tIns="46038" rIns="92075" bIns="46038" anchor="t"/>
          <a:lstStyle/>
          <a:p>
            <a:pPr marL="0" indent="0">
              <a:spcBef>
                <a:spcPts val="1200"/>
              </a:spcBef>
              <a:buNone/>
            </a:pPr>
            <a:r>
              <a:rPr lang="en-US" altLang="en-US" sz="2000" dirty="0"/>
              <a:t>There are </a:t>
            </a:r>
            <a:r>
              <a:rPr lang="en-US" altLang="en-US" sz="2000" dirty="0">
                <a:solidFill>
                  <a:srgbClr val="FF0000"/>
                </a:solidFill>
              </a:rPr>
              <a:t>four</a:t>
            </a:r>
            <a:r>
              <a:rPr lang="en-US" altLang="en-US" sz="2000" dirty="0"/>
              <a:t> basic operations in Deque:</a:t>
            </a:r>
          </a:p>
          <a:p>
            <a:pPr>
              <a:spcBef>
                <a:spcPts val="1200"/>
              </a:spcBef>
            </a:pPr>
            <a:r>
              <a:rPr lang="en-US" altLang="en-US" sz="2000" dirty="0"/>
              <a:t>Insertion at rear end</a:t>
            </a:r>
          </a:p>
          <a:p>
            <a:pPr>
              <a:spcBef>
                <a:spcPts val="1200"/>
              </a:spcBef>
            </a:pPr>
            <a:r>
              <a:rPr lang="en-US" altLang="en-US" sz="2000" dirty="0"/>
              <a:t>Insertion at front end</a:t>
            </a:r>
          </a:p>
          <a:p>
            <a:pPr>
              <a:spcBef>
                <a:spcPts val="1200"/>
              </a:spcBef>
            </a:pPr>
            <a:r>
              <a:rPr lang="en-US" altLang="en-US" sz="2000" dirty="0"/>
              <a:t>Deletion at front end</a:t>
            </a:r>
          </a:p>
          <a:p>
            <a:pPr>
              <a:spcBef>
                <a:spcPts val="1200"/>
              </a:spcBef>
            </a:pPr>
            <a:r>
              <a:rPr lang="en-US" altLang="en-US" sz="2000" dirty="0"/>
              <a:t>Deletion at rear end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p:nvPr>
        </p:nvSpPr>
        <p:spPr>
          <a:xfrm>
            <a:off x="1063625" y="789940"/>
            <a:ext cx="7298055" cy="914400"/>
          </a:xfrm>
        </p:spPr>
        <p:txBody>
          <a:bodyPr wrap="square" lIns="92075" tIns="46038" rIns="92075" bIns="46038" anchor="ctr"/>
          <a:lstStyle/>
          <a:p>
            <a:r>
              <a:rPr lang="en-US" altLang="en-US" sz="3600" dirty="0">
                <a:ea typeface="MS Mincho" panose="02020609040205080304" pitchFamily="49" charset="-128"/>
              </a:rPr>
              <a:t>Algorithm for Insertion at rear end</a:t>
            </a:r>
          </a:p>
        </p:txBody>
      </p:sp>
      <p:sp>
        <p:nvSpPr>
          <p:cNvPr id="4099" name="Rectangle 3"/>
          <p:cNvSpPr>
            <a:spLocks noGrp="1" noChangeArrowheads="1"/>
          </p:cNvSpPr>
          <p:nvPr>
            <p:ph idx="1"/>
          </p:nvPr>
        </p:nvSpPr>
        <p:spPr>
          <a:xfrm>
            <a:off x="897255" y="1974215"/>
            <a:ext cx="7560945" cy="4655185"/>
          </a:xfrm>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Step-1: [Check for overflow]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if(rear==MAX-1)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Print("Queue is Overflow”);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return;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Step-2:  [Insert Element]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else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rear=rear+1;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q[rear]=item;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[Set rear and front pointer]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if front=-1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front=0;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Step-3: return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p:nvPr>
        </p:nvSpPr>
        <p:spPr>
          <a:xfrm>
            <a:off x="1063625" y="789940"/>
            <a:ext cx="7298055" cy="914400"/>
          </a:xfrm>
        </p:spPr>
        <p:txBody>
          <a:bodyPr wrap="square" lIns="92075" tIns="46038" rIns="92075" bIns="46038" anchor="ctr"/>
          <a:lstStyle/>
          <a:p>
            <a:r>
              <a:rPr lang="en-US" altLang="en-US" sz="3600" dirty="0">
                <a:ea typeface="MS Mincho" panose="02020609040205080304" pitchFamily="49" charset="-128"/>
              </a:rPr>
              <a:t>Algorithm for Insertion at front end</a:t>
            </a:r>
          </a:p>
        </p:txBody>
      </p:sp>
      <p:sp>
        <p:nvSpPr>
          <p:cNvPr id="4099" name="Rectangle 3"/>
          <p:cNvSpPr>
            <a:spLocks noGrp="1" noChangeArrowheads="1"/>
          </p:cNvSpPr>
          <p:nvPr>
            <p:ph idx="1"/>
          </p:nvPr>
        </p:nvSpPr>
        <p:spPr>
          <a:xfrm>
            <a:off x="897255" y="1974215"/>
            <a:ext cx="7560945" cy="4655185"/>
          </a:xfrm>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Step-1 :  [Check for the front position]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if(front&lt;=0)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Print("Cannot add item at the front”);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return;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Step-2 :  [Insert at front]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else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front=front-1;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q[front]=item;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Step-3  : Return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p:nvPr>
        </p:nvSpPr>
        <p:spPr>
          <a:xfrm>
            <a:off x="1063625" y="789940"/>
            <a:ext cx="7298055" cy="914400"/>
          </a:xfrm>
        </p:spPr>
        <p:txBody>
          <a:bodyPr wrap="square" lIns="92075" tIns="46038" rIns="92075" bIns="46038" anchor="ctr"/>
          <a:lstStyle/>
          <a:p>
            <a:r>
              <a:rPr lang="en-US" altLang="en-US" sz="3600" dirty="0">
                <a:ea typeface="MS Mincho" panose="02020609040205080304" pitchFamily="49" charset="-128"/>
              </a:rPr>
              <a:t>Algorithm for Deletion from front end</a:t>
            </a:r>
          </a:p>
        </p:txBody>
      </p:sp>
      <p:sp>
        <p:nvSpPr>
          <p:cNvPr id="4099" name="Rectangle 3"/>
          <p:cNvSpPr>
            <a:spLocks noGrp="1" noChangeArrowheads="1"/>
          </p:cNvSpPr>
          <p:nvPr>
            <p:ph idx="1"/>
          </p:nvPr>
        </p:nvSpPr>
        <p:spPr>
          <a:xfrm>
            <a:off x="887730" y="1751330"/>
            <a:ext cx="7570470" cy="4806315"/>
          </a:xfrm>
        </p:spPr>
        <p:txBody>
          <a:bodyPr vert="horz" wrap="square" lIns="92075" tIns="46038" rIns="92075" bIns="46038" numCol="1" anchor="t" anchorCtr="0" compatLnSpc="1"/>
          <a:lstStyle/>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Step-1 [ Check for front pointer]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if front==-1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print(" Queue is Underflow”);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return;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Step-2 [Perform deletion]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else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item=q[front];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print(“Deleted element is”, item);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[Set front and rear pointer]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if front = = rear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front=-1;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rear=-1;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else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front=front+1;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Step-3 : Return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p:nvPr>
        </p:nvSpPr>
        <p:spPr>
          <a:xfrm>
            <a:off x="1063625" y="789940"/>
            <a:ext cx="7298055" cy="914400"/>
          </a:xfrm>
        </p:spPr>
        <p:txBody>
          <a:bodyPr wrap="square" lIns="92075" tIns="46038" rIns="92075" bIns="46038" anchor="ctr"/>
          <a:lstStyle/>
          <a:p>
            <a:r>
              <a:rPr lang="en-US" altLang="en-US" sz="3600" dirty="0">
                <a:ea typeface="MS Mincho" panose="02020609040205080304" pitchFamily="49" charset="-128"/>
              </a:rPr>
              <a:t>Algorithm for Deletion from rear end</a:t>
            </a:r>
          </a:p>
        </p:txBody>
      </p:sp>
      <p:sp>
        <p:nvSpPr>
          <p:cNvPr id="4099" name="Rectangle 3"/>
          <p:cNvSpPr>
            <a:spLocks noGrp="1" noChangeArrowheads="1"/>
          </p:cNvSpPr>
          <p:nvPr>
            <p:ph idx="1"/>
          </p:nvPr>
        </p:nvSpPr>
        <p:spPr>
          <a:xfrm>
            <a:off x="887730" y="1751330"/>
            <a:ext cx="7570470" cy="4806315"/>
          </a:xfrm>
        </p:spPr>
        <p:txBody>
          <a:bodyPr vert="horz" wrap="square" lIns="92075" tIns="46038" rIns="92075" bIns="46038" numCol="1" anchor="t" anchorCtr="0" compatLnSpc="1"/>
          <a:lstStyle/>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Step-1 : [Check for the rear pointer]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if rear==-1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print(“Cannot delete value at rear end”);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return;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Step-2:  [ perform deletion]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else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item=q[rear];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[Check for the front and rear pointer]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if front==rear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front=-1;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rear=-1;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else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rear=rear-1;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print(“Deleted element is”, item);  </a:t>
            </a:r>
          </a:p>
          <a:p>
            <a:pPr marL="0" marR="0" lvl="0" indent="0" algn="l" defTabSz="914400" rtl="0" eaLnBrk="0" hangingPunct="0">
              <a:lnSpc>
                <a:spcPct val="100000"/>
              </a:lnSpc>
              <a:spcBef>
                <a:spcPts val="200"/>
              </a:spcBef>
              <a:spcAft>
                <a:spcPct val="0"/>
              </a:spcAft>
              <a:buClrTx/>
              <a:buSzTx/>
              <a:buFontTx/>
              <a:buNone/>
              <a:tabLst>
                <a:tab pos="457200" algn="l"/>
                <a:tab pos="914400" algn="l"/>
                <a:tab pos="13716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Step-3 : Return</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a:xfrm>
            <a:off x="1184910" y="975360"/>
            <a:ext cx="7269480" cy="762000"/>
          </a:xfrm>
        </p:spPr>
        <p:txBody>
          <a:bodyPr wrap="square" lIns="92075" tIns="46038" rIns="92075" bIns="46038" anchor="ctr"/>
          <a:lstStyle/>
          <a:p>
            <a:r>
              <a:rPr lang="en-US" altLang="en-US" sz="3600" dirty="0"/>
              <a:t>Deques</a:t>
            </a:r>
          </a:p>
        </p:txBody>
      </p:sp>
      <p:sp>
        <p:nvSpPr>
          <p:cNvPr id="48130" name="Rectangle 3"/>
          <p:cNvSpPr>
            <a:spLocks noGrp="1"/>
          </p:cNvSpPr>
          <p:nvPr>
            <p:ph idx="1"/>
          </p:nvPr>
        </p:nvSpPr>
        <p:spPr>
          <a:xfrm>
            <a:off x="845820" y="1980565"/>
            <a:ext cx="7947660" cy="4684395"/>
          </a:xfrm>
        </p:spPr>
        <p:txBody>
          <a:bodyPr wrap="square" lIns="92075" tIns="46038" rIns="92075" bIns="46038" anchor="t"/>
          <a:lstStyle/>
          <a:p>
            <a:pPr marL="0" indent="0">
              <a:spcBef>
                <a:spcPts val="1200"/>
              </a:spcBef>
              <a:buNone/>
            </a:pPr>
            <a:r>
              <a:rPr lang="en-US" altLang="en-US" sz="2000" dirty="0"/>
              <a:t>Types of Deque:</a:t>
            </a:r>
          </a:p>
          <a:p>
            <a:pPr marL="596900" indent="-355600" defTabSz="914400">
              <a:spcBef>
                <a:spcPts val="1200"/>
              </a:spcBef>
              <a:buFont typeface="+mj-lt"/>
              <a:buAutoNum type="arabicPeriod"/>
              <a:tabLst>
                <a:tab pos="457200" algn="l"/>
              </a:tabLst>
            </a:pPr>
            <a:r>
              <a:rPr lang="en-US" altLang="en-US" sz="2000" dirty="0"/>
              <a:t>Input restricted deque</a:t>
            </a:r>
          </a:p>
          <a:p>
            <a:pPr marL="596900" indent="-355600" defTabSz="914400">
              <a:spcBef>
                <a:spcPts val="1200"/>
              </a:spcBef>
              <a:buFont typeface="+mj-lt"/>
              <a:buAutoNum type="arabicPeriod"/>
              <a:tabLst>
                <a:tab pos="457200" algn="l"/>
              </a:tabLst>
            </a:pPr>
            <a:r>
              <a:rPr lang="en-US" altLang="en-US" sz="2000" dirty="0"/>
              <a:t>Output restricted deque</a:t>
            </a:r>
          </a:p>
          <a:p>
            <a:pPr marL="457200" indent="-457200">
              <a:spcBef>
                <a:spcPts val="1200"/>
              </a:spcBef>
              <a:buNone/>
            </a:pPr>
            <a:endParaRPr lang="en-US" altLang="en-US" sz="2000" dirty="0"/>
          </a:p>
          <a:p>
            <a:pPr>
              <a:spcBef>
                <a:spcPts val="600"/>
              </a:spcBef>
              <a:buFont typeface="Wingdings" panose="05000000000000000000" charset="0"/>
              <a:buChar char="§"/>
            </a:pPr>
            <a:r>
              <a:rPr lang="en-US" altLang="en-US" sz="2000" dirty="0"/>
              <a:t>An </a:t>
            </a:r>
            <a:r>
              <a:rPr lang="en-US" altLang="en-US" sz="2000" dirty="0">
                <a:solidFill>
                  <a:srgbClr val="FF0000"/>
                </a:solidFill>
              </a:rPr>
              <a:t>input restricted deque</a:t>
            </a:r>
            <a:r>
              <a:rPr lang="en-US" altLang="en-US" sz="2000" dirty="0"/>
              <a:t> is a deque, which allows </a:t>
            </a:r>
          </a:p>
          <a:p>
            <a:pPr marL="676910" indent="-342265">
              <a:spcBef>
                <a:spcPts val="600"/>
              </a:spcBef>
              <a:buFont typeface="Wingdings" panose="05000000000000000000" charset="0"/>
              <a:buChar char="§"/>
            </a:pPr>
            <a:r>
              <a:rPr lang="en-US" altLang="en-US" sz="2000" dirty="0"/>
              <a:t>insertion at only one end, i.e. rear end,</a:t>
            </a:r>
          </a:p>
          <a:p>
            <a:pPr marL="676910" indent="-342265">
              <a:spcBef>
                <a:spcPts val="600"/>
              </a:spcBef>
              <a:buFont typeface="Wingdings" panose="05000000000000000000" charset="0"/>
              <a:buChar char="§"/>
            </a:pPr>
            <a:r>
              <a:rPr lang="en-US" altLang="en-US" sz="2000" dirty="0"/>
              <a:t>but deletion at both ends, rear and front end of the lists.</a:t>
            </a:r>
          </a:p>
          <a:p>
            <a:pPr>
              <a:spcBef>
                <a:spcPts val="600"/>
              </a:spcBef>
              <a:buFont typeface="Wingdings" panose="05000000000000000000" charset="0"/>
              <a:buChar char="§"/>
            </a:pPr>
            <a:endParaRPr lang="en-US" altLang="en-US" sz="2000" dirty="0"/>
          </a:p>
          <a:p>
            <a:pPr>
              <a:spcBef>
                <a:spcPts val="600"/>
              </a:spcBef>
              <a:buFont typeface="Wingdings" panose="05000000000000000000" charset="0"/>
              <a:buChar char="§"/>
            </a:pPr>
            <a:r>
              <a:rPr lang="en-US" altLang="en-US" sz="2000" dirty="0"/>
              <a:t>An </a:t>
            </a:r>
            <a:r>
              <a:rPr lang="en-US" altLang="en-US" sz="2000" dirty="0">
                <a:solidFill>
                  <a:srgbClr val="FF0000"/>
                </a:solidFill>
              </a:rPr>
              <a:t>output-restricted deque</a:t>
            </a:r>
            <a:r>
              <a:rPr lang="en-US" altLang="en-US" sz="2000" dirty="0"/>
              <a:t> is a deque, which allows </a:t>
            </a:r>
          </a:p>
          <a:p>
            <a:pPr marL="687070" indent="-342265">
              <a:spcBef>
                <a:spcPts val="600"/>
              </a:spcBef>
              <a:buFont typeface="Wingdings" panose="05000000000000000000" charset="0"/>
              <a:buChar char="§"/>
            </a:pPr>
            <a:r>
              <a:rPr lang="en-US" altLang="en-US" sz="2000" dirty="0"/>
              <a:t>deletion at only one end, i.e. front end,</a:t>
            </a:r>
          </a:p>
          <a:p>
            <a:pPr marL="687070" indent="-342265">
              <a:spcBef>
                <a:spcPts val="600"/>
              </a:spcBef>
              <a:buFont typeface="Wingdings" panose="05000000000000000000" charset="0"/>
              <a:buChar char="§"/>
            </a:pPr>
            <a:r>
              <a:rPr lang="en-US" altLang="en-US" sz="2000" dirty="0"/>
              <a:t>but insertion at both ends, rear and front ends, of the lists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1169670" y="760095"/>
            <a:ext cx="7307580" cy="914400"/>
          </a:xfrm>
        </p:spPr>
        <p:txBody>
          <a:bodyPr wrap="square" lIns="92075" tIns="46038" rIns="92075" bIns="46038" anchor="ctr"/>
          <a:lstStyle/>
          <a:p>
            <a:r>
              <a:rPr lang="en-US" altLang="en-US" sz="3600" dirty="0">
                <a:ea typeface="MS Mincho" panose="02020609040205080304" pitchFamily="49" charset="-128"/>
              </a:rPr>
              <a:t>Implementing Deque using Array</a:t>
            </a:r>
            <a:endParaRPr lang="en-US" altLang="en-US" sz="3600" dirty="0"/>
          </a:p>
        </p:txBody>
      </p:sp>
      <p:sp>
        <p:nvSpPr>
          <p:cNvPr id="51202" name="Rectangle 3"/>
          <p:cNvSpPr>
            <a:spLocks noGrp="1"/>
          </p:cNvSpPr>
          <p:nvPr>
            <p:ph idx="1"/>
          </p:nvPr>
        </p:nvSpPr>
        <p:spPr>
          <a:xfrm>
            <a:off x="182880" y="1816735"/>
            <a:ext cx="4267200" cy="4849495"/>
          </a:xfrm>
        </p:spPr>
        <p:txBody>
          <a:bodyPr wrap="square" lIns="92075" tIns="46038" rIns="92075" bIns="46038" anchor="t"/>
          <a:lstStyle/>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#include &lt;stdio.h&gt;</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#define MAX 5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int deque[MAX];</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int rear =-1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int front = -1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void insertAtFront();</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void insertAtRear();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void deleteAtFront();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void deleteAtRear();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void display();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int main()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	int option;</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	do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		printf("\n\n DEQUE");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rPr>
              <a:t>		printf("\n 1. Insert at front");</a:t>
            </a:r>
          </a:p>
        </p:txBody>
      </p:sp>
      <p:sp>
        <p:nvSpPr>
          <p:cNvPr id="4" name="Rectangle 3"/>
          <p:cNvSpPr txBox="1">
            <a:spLocks noChangeArrowheads="1"/>
          </p:cNvSpPr>
          <p:nvPr/>
        </p:nvSpPr>
        <p:spPr bwMode="auto">
          <a:xfrm>
            <a:off x="4679950" y="1674495"/>
            <a:ext cx="4267200" cy="4991735"/>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2. Insert at rear");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3. Delete from front");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4. Delete from rear");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5. Display");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6. Quit");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Enter your option : ");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scanf("%d", &amp;option);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switch (option) {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case 1: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insertAtFront();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break;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case 2:</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insertAtRear();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break;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case 3:</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deleteAtFront();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break;   </a:t>
            </a:r>
            <a:endParaRPr kumimoji="0" lang="en-US" altLang="en-US"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1169670" y="760095"/>
            <a:ext cx="7307580" cy="914400"/>
          </a:xfrm>
        </p:spPr>
        <p:txBody>
          <a:bodyPr wrap="square" lIns="92075" tIns="46038" rIns="92075" bIns="46038" anchor="ctr"/>
          <a:lstStyle/>
          <a:p>
            <a:r>
              <a:rPr lang="en-US" altLang="en-US" sz="3600" dirty="0">
                <a:ea typeface="MS Mincho" panose="02020609040205080304" pitchFamily="49" charset="-128"/>
              </a:rPr>
              <a:t>Implementing Deque using Array</a:t>
            </a:r>
            <a:endParaRPr lang="en-US" altLang="en-US" sz="3600" dirty="0"/>
          </a:p>
        </p:txBody>
      </p:sp>
      <p:sp>
        <p:nvSpPr>
          <p:cNvPr id="51202" name="Rectangle 3"/>
          <p:cNvSpPr>
            <a:spLocks noGrp="1"/>
          </p:cNvSpPr>
          <p:nvPr>
            <p:ph idx="1"/>
          </p:nvPr>
        </p:nvSpPr>
        <p:spPr>
          <a:xfrm>
            <a:off x="182880" y="1906905"/>
            <a:ext cx="4345940" cy="4759325"/>
          </a:xfrm>
        </p:spPr>
        <p:txBody>
          <a:bodyPr wrap="square" lIns="92075" tIns="46038" rIns="92075" bIns="46038" anchor="t"/>
          <a:lstStyle/>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case 4:</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deleteAtRear();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break;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case 5:</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display();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break;</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case 6:</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break;</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default:</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printf("Wrong Choice ...\n");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while (option!=6);</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return 0;</a:t>
            </a:r>
            <a:endParaRPr lang="en-US" altLang="en-US" sz="1800" dirty="0">
              <a:latin typeface="Times New Roman" panose="02020603050405020304" pitchFamily="18" charset="0"/>
              <a:cs typeface="Times New Roman" panose="02020603050405020304" pitchFamily="18" charset="0"/>
            </a:endParaRP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a:t>
            </a:r>
            <a:endParaRPr lang="en-US" altLang="en-US" sz="1800" dirty="0">
              <a:latin typeface="Times New Roman" panose="02020603050405020304" pitchFamily="18" charset="0"/>
              <a:cs typeface="Times New Roman" panose="02020603050405020304" pitchFamily="18" charset="0"/>
            </a:endParaRPr>
          </a:p>
        </p:txBody>
      </p:sp>
      <p:sp>
        <p:nvSpPr>
          <p:cNvPr id="4" name="Rectangle 3"/>
          <p:cNvSpPr txBox="1">
            <a:spLocks noChangeArrowheads="1"/>
          </p:cNvSpPr>
          <p:nvPr/>
        </p:nvSpPr>
        <p:spPr bwMode="auto">
          <a:xfrm>
            <a:off x="4529455" y="1533525"/>
            <a:ext cx="4528185" cy="5132705"/>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void insertAtFront()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int item;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if(front == (rear+1) % MAX)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printf("Deque Overflow...\n");</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return;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Enter the value: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scanf("%d", &amp;item);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if(front == -1)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front = 0;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rear = 0;</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else if(front == 0)</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front=MAX-1;</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else</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front = front-1;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deque[front] = item;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1169670" y="760095"/>
            <a:ext cx="7307580" cy="914400"/>
          </a:xfrm>
        </p:spPr>
        <p:txBody>
          <a:bodyPr wrap="square" lIns="92075" tIns="46038" rIns="92075" bIns="46038" anchor="ctr"/>
          <a:lstStyle/>
          <a:p>
            <a:r>
              <a:rPr lang="en-US" altLang="en-US" sz="3600" dirty="0">
                <a:ea typeface="MS Mincho" panose="02020609040205080304" pitchFamily="49" charset="-128"/>
              </a:rPr>
              <a:t>Implementing Deque using Array</a:t>
            </a:r>
            <a:endParaRPr lang="en-US" altLang="en-US" sz="3600" dirty="0"/>
          </a:p>
        </p:txBody>
      </p:sp>
      <p:sp>
        <p:nvSpPr>
          <p:cNvPr id="51202" name="Rectangle 3"/>
          <p:cNvSpPr>
            <a:spLocks noGrp="1"/>
          </p:cNvSpPr>
          <p:nvPr>
            <p:ph idx="1"/>
          </p:nvPr>
        </p:nvSpPr>
        <p:spPr>
          <a:xfrm>
            <a:off x="182880" y="1906905"/>
            <a:ext cx="4345940" cy="4759325"/>
          </a:xfrm>
        </p:spPr>
        <p:txBody>
          <a:bodyPr wrap="square" lIns="92075" tIns="46038" rIns="92075" bIns="46038" anchor="t"/>
          <a:lstStyle/>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void insertAtRear()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int item;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if(front == (rear+1) % MAX)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printf("Deque Overflow...\n");</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return;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Enter the value: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scanf("%d", &amp;item);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if(front == -1)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front = 0;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rear = 0;</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else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rear = (rear+1) % MAX;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deque[rear] = item;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a:t>
            </a:r>
          </a:p>
        </p:txBody>
      </p:sp>
      <p:sp>
        <p:nvSpPr>
          <p:cNvPr id="4" name="Rectangle 3"/>
          <p:cNvSpPr txBox="1">
            <a:spLocks noChangeArrowheads="1"/>
          </p:cNvSpPr>
          <p:nvPr/>
        </p:nvSpPr>
        <p:spPr bwMode="auto">
          <a:xfrm>
            <a:off x="4529455" y="1906905"/>
            <a:ext cx="4528185" cy="4759325"/>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void deleteAtFront()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 (front == -1)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printf("\nDeque Underflow...\n");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return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printf("\nElement is : %d", deque[front]);</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if(front == rear)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front = -1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rear = -1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else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front = (front+1) % MAX;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1169670" y="760095"/>
            <a:ext cx="7307580" cy="914400"/>
          </a:xfrm>
        </p:spPr>
        <p:txBody>
          <a:bodyPr wrap="square" lIns="92075" tIns="46038" rIns="92075" bIns="46038" anchor="ctr"/>
          <a:lstStyle/>
          <a:p>
            <a:r>
              <a:rPr lang="en-US" altLang="en-US" sz="3600" dirty="0">
                <a:ea typeface="MS Mincho" panose="02020609040205080304" pitchFamily="49" charset="-128"/>
              </a:rPr>
              <a:t>Implementing Deque using Array</a:t>
            </a:r>
            <a:endParaRPr lang="en-US" altLang="en-US" sz="3600" dirty="0"/>
          </a:p>
        </p:txBody>
      </p:sp>
      <p:sp>
        <p:nvSpPr>
          <p:cNvPr id="51202" name="Rectangle 3"/>
          <p:cNvSpPr>
            <a:spLocks noGrp="1"/>
          </p:cNvSpPr>
          <p:nvPr>
            <p:ph idx="1"/>
          </p:nvPr>
        </p:nvSpPr>
        <p:spPr>
          <a:xfrm>
            <a:off x="182880" y="1906905"/>
            <a:ext cx="4345940" cy="4759325"/>
          </a:xfrm>
        </p:spPr>
        <p:txBody>
          <a:bodyPr wrap="square" lIns="92075" tIns="46038" rIns="92075" bIns="46038" anchor="t"/>
          <a:lstStyle/>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void deleteAtRear()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 (front == -1)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printf("\nDeque Underflow...\n");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return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printf("\nElement is : %d", deque[rear]);</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if(front == rear)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front = -1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rear = -1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else if(rear == 0)</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rear = MAX-1;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else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rear = rear-1; </a:t>
            </a:r>
          </a:p>
          <a:p>
            <a:pPr marL="0" indent="0" defTabSz="914400">
              <a:lnSpc>
                <a:spcPct val="100000"/>
              </a:lnSpc>
              <a:spcBef>
                <a:spcPts val="2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a:t>
            </a:r>
          </a:p>
        </p:txBody>
      </p:sp>
      <p:sp>
        <p:nvSpPr>
          <p:cNvPr id="4" name="Rectangle 3"/>
          <p:cNvSpPr txBox="1">
            <a:spLocks noChangeArrowheads="1"/>
          </p:cNvSpPr>
          <p:nvPr/>
        </p:nvSpPr>
        <p:spPr bwMode="auto">
          <a:xfrm>
            <a:off x="4385945" y="1619885"/>
            <a:ext cx="4528185" cy="4759325"/>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void display()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int f = front, r = rear;</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 (front == -1 )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Empty Deque...\n");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return;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printf("\nThe elements of the Deque are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if(f &lt;= r)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while(f &lt;= r)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printf("%d  ", deque[f]);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else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while(f &lt;= MAX-1)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printf("%d  ", deque[f]);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 = 0;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while (f &lt;= r)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printf("%d  ", deque[f]);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f++;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  	} </a:t>
            </a:r>
          </a:p>
          <a:p>
            <a:pPr marL="0" indent="0" defTabSz="914400">
              <a:lnSpc>
                <a:spcPct val="80000"/>
              </a:lnSpc>
              <a:spcBef>
                <a:spcPts val="100"/>
              </a:spcBef>
              <a:buNone/>
              <a:tabLst>
                <a:tab pos="228600" algn="l"/>
                <a:tab pos="457200" algn="l"/>
                <a:tab pos="685800" algn="l"/>
                <a:tab pos="914400" algn="l"/>
                <a:tab pos="1143000" algn="l"/>
                <a:tab pos="1371600" algn="l"/>
                <a:tab pos="1600200" algn="l"/>
                <a:tab pos="1828800" algn="l"/>
              </a:tabLst>
            </a:pPr>
            <a:r>
              <a:rPr lang="en-US" altLang="en-US" sz="1800" dirty="0">
                <a:latin typeface="Times New Roman" panose="02020603050405020304" pitchFamily="18" charset="0"/>
                <a:cs typeface="Times New Roman" panose="02020603050405020304" pitchFamily="18" charset="0"/>
                <a:sym typeface="+mn-ea"/>
              </a:rPr>
              <a:t>	printf("\n");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p:nvPr>
        </p:nvSpPr>
        <p:spPr>
          <a:xfrm>
            <a:off x="1063625" y="789940"/>
            <a:ext cx="7298055" cy="914400"/>
          </a:xfrm>
        </p:spPr>
        <p:txBody>
          <a:bodyPr wrap="square" lIns="92075" tIns="46038" rIns="92075" bIns="46038" anchor="ctr"/>
          <a:lstStyle/>
          <a:p>
            <a:r>
              <a:rPr lang="en-US" altLang="en-US" sz="3600" dirty="0">
                <a:ea typeface="MS Mincho" panose="02020609040205080304" pitchFamily="49" charset="-128"/>
              </a:rPr>
              <a:t>Implementing deque using linked lists: Declaration and Initialization</a:t>
            </a:r>
            <a:endParaRPr lang="en-US" altLang="en-US" sz="3600" dirty="0"/>
          </a:p>
        </p:txBody>
      </p:sp>
      <p:sp>
        <p:nvSpPr>
          <p:cNvPr id="4099" name="Rectangle 3"/>
          <p:cNvSpPr>
            <a:spLocks noGrp="1" noChangeArrowheads="1"/>
          </p:cNvSpPr>
          <p:nvPr>
            <p:ph idx="1"/>
          </p:nvPr>
        </p:nvSpPr>
        <p:spPr>
          <a:xfrm>
            <a:off x="966470" y="1974215"/>
            <a:ext cx="7491730" cy="4655185"/>
          </a:xfrm>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r>
              <a:rPr kumimoji="0" lang="en-US" altLang="en-US" sz="2000" b="0" i="0" u="none" strike="noStrike" kern="0" cap="none" spc="0" normalizeH="0" baseline="0" noProof="0" dirty="0" smtClean="0">
                <a:ln>
                  <a:noFill/>
                </a:ln>
                <a:solidFill>
                  <a:srgbClr val="C00000"/>
                </a:solidFill>
                <a:effectLst/>
                <a:uLnTx/>
                <a:uFillTx/>
                <a:latin typeface="+mn-lt"/>
                <a:ea typeface="+mn-ea"/>
                <a:cs typeface="Times New Roman" panose="02020603050405020304" pitchFamily="18" charset="0"/>
              </a:rPr>
              <a:t>Structure of the Node</a:t>
            </a:r>
            <a:endParaRPr kumimoji="0" lang="en-US" altLang="en-US" sz="2000" b="0" i="0" u="none" strike="noStrike" kern="0" cap="none" spc="0" normalizeH="0" baseline="0" noProof="0" dirty="0" smtClean="0">
              <a:ln>
                <a:noFill/>
              </a:ln>
              <a:solidFill>
                <a:schemeClr val="tx1"/>
              </a:solidFill>
              <a:effectLst/>
              <a:uLnTx/>
              <a:uFillTx/>
              <a:latin typeface="+mn-lt"/>
              <a:ea typeface="+mn-ea"/>
              <a:cs typeface="Times New Roman" panose="02020603050405020304" pitchFamily="18" charset="0"/>
            </a:endParaRP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endParaRPr kumimoji="0" lang="en-US" altLang="en-US" sz="2000" b="0" i="0" u="none" strike="noStrike" kern="0" cap="none" spc="0" normalizeH="0" baseline="0" noProof="0" dirty="0" smtClean="0">
              <a:ln>
                <a:noFill/>
              </a:ln>
              <a:solidFill>
                <a:schemeClr val="tx1"/>
              </a:solidFill>
              <a:effectLst/>
              <a:uLnTx/>
              <a:uFillTx/>
              <a:latin typeface="+mn-lt"/>
              <a:ea typeface="+mn-ea"/>
              <a:cs typeface="Times New Roman" panose="02020603050405020304" pitchFamily="18" charset="0"/>
            </a:endParaRP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r>
              <a:rPr kumimoji="0" lang="en-US" sz="2000" b="1" i="0" u="none" strike="noStrike" kern="0" cap="none" spc="0" normalizeH="0" baseline="0" noProof="0" dirty="0" err="1" smtClean="0">
                <a:ln>
                  <a:noFill/>
                </a:ln>
                <a:solidFill>
                  <a:schemeClr val="tx1"/>
                </a:solidFill>
                <a:effectLst/>
                <a:uLnTx/>
                <a:uFillTx/>
                <a:latin typeface="+mn-lt"/>
                <a:ea typeface="+mn-ea"/>
                <a:cs typeface="+mn-cs"/>
              </a:rPr>
              <a:t>struct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Node {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r>
              <a:rPr kumimoji="0" lang="en-US" sz="2000" b="1" i="0" u="none" strike="noStrike" kern="0" cap="none" spc="0" normalizeH="0" baseline="0" noProof="0" dirty="0">
                <a:ln>
                  <a:noFill/>
                </a:ln>
                <a:solidFill>
                  <a:schemeClr val="tx1"/>
                </a:solidFill>
                <a:effectLst/>
                <a:uLnTx/>
                <a:uFillTx/>
                <a:latin typeface="+mn-lt"/>
                <a:ea typeface="+mn-ea"/>
                <a:cs typeface="+mn-cs"/>
              </a:rPr>
              <a:t>	</a:t>
            </a:r>
            <a:r>
              <a:rPr kumimoji="0" lang="en-US" sz="2000" b="1" i="0" u="none" strike="noStrike" kern="0" cap="none" spc="0" normalizeH="0" baseline="0" noProof="0" dirty="0" err="1" smtClean="0">
                <a:ln>
                  <a:noFill/>
                </a:ln>
                <a:solidFill>
                  <a:schemeClr val="tx1"/>
                </a:solidFill>
                <a:effectLst/>
                <a:uLnTx/>
                <a:uFillTx/>
                <a:latin typeface="+mn-lt"/>
                <a:ea typeface="+mn-ea"/>
                <a:cs typeface="+mn-cs"/>
              </a:rPr>
              <a:t>int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data;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r>
              <a:rPr kumimoji="0" lang="en-US" sz="2000" b="1" i="0" u="none" strike="noStrike" kern="0" cap="none" spc="0" normalizeH="0" baseline="0" noProof="0" dirty="0">
                <a:ln>
                  <a:noFill/>
                </a:ln>
                <a:solidFill>
                  <a:schemeClr val="tx1"/>
                </a:solidFill>
                <a:effectLst/>
                <a:uLnTx/>
                <a:uFillTx/>
                <a:latin typeface="+mn-lt"/>
                <a:ea typeface="+mn-ea"/>
                <a:cs typeface="+mn-cs"/>
              </a:rPr>
              <a:t>	</a:t>
            </a:r>
            <a:r>
              <a:rPr kumimoji="0" lang="en-US" sz="2000" b="1" i="0" u="none" strike="noStrike" kern="0" cap="none" spc="0" normalizeH="0" baseline="0" noProof="0" dirty="0" err="1" smtClean="0">
                <a:ln>
                  <a:noFill/>
                </a:ln>
                <a:solidFill>
                  <a:schemeClr val="tx1"/>
                </a:solidFill>
                <a:effectLst/>
                <a:uLnTx/>
                <a:uFillTx/>
                <a:latin typeface="+mn-lt"/>
                <a:ea typeface="+mn-ea"/>
                <a:cs typeface="+mn-cs"/>
              </a:rPr>
              <a:t>struct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Node* next;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}*rear, *front;</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endParaRPr kumimoji="0" lang="en-US" altLang="en-US"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void</a:t>
            </a:r>
            <a:r>
              <a:rPr kumimoji="0" lang="en-US" sz="2000" b="0" i="0" u="none" strike="noStrike" kern="0" cap="none" spc="0" normalizeH="0" baseline="0" noProof="0" dirty="0" smtClean="0">
                <a:ln>
                  <a:noFill/>
                </a:ln>
                <a:solidFill>
                  <a:schemeClr val="tx1"/>
                </a:solidFill>
                <a:effectLst/>
                <a:uLnTx/>
                <a:uFillTx/>
                <a:latin typeface="+mn-lt"/>
                <a:ea typeface="+mn-ea"/>
                <a:cs typeface="+mn-cs"/>
              </a:rPr>
              <a:t> create</a:t>
            </a:r>
            <a:r>
              <a:rPr kumimoji="0" lang="en-US" sz="2000" b="0" i="0" u="none" strike="noStrike" kern="0" cap="none" spc="0" normalizeH="0" baseline="0" noProof="0" dirty="0">
                <a:ln>
                  <a:noFill/>
                </a:ln>
                <a:solidFill>
                  <a:schemeClr val="tx1"/>
                </a:solidFill>
                <a:effectLst/>
                <a:uLnTx/>
                <a:uFillTx/>
                <a:latin typeface="+mn-lt"/>
                <a:ea typeface="+mn-ea"/>
                <a:cs typeface="+mn-cs"/>
              </a:rPr>
              <a: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r>
              <a:rPr kumimoji="0" lang="en-US" sz="2000" b="0" i="0" u="none" strike="noStrike" kern="0" cap="none" spc="0" normalizeH="0" baseline="0" noProof="0" dirty="0">
                <a:ln>
                  <a:noFill/>
                </a:ln>
                <a:solidFill>
                  <a:schemeClr val="tx1"/>
                </a:solidFill>
                <a:effectLst/>
                <a:uLnTx/>
                <a:uFillTx/>
                <a:latin typeface="+mn-lt"/>
                <a:ea typeface="+mn-ea"/>
                <a:cs typeface="+mn-cs"/>
              </a:rPr>
              <a:t>	</a:t>
            </a:r>
            <a:r>
              <a:rPr kumimoji="0" lang="en-US" sz="2000" b="0" i="0" u="none" strike="noStrike" kern="0" cap="none" spc="0" normalizeH="0" baseline="0" noProof="0" dirty="0" smtClean="0">
                <a:ln>
                  <a:noFill/>
                </a:ln>
                <a:solidFill>
                  <a:schemeClr val="tx1"/>
                </a:solidFill>
                <a:effectLst/>
                <a:uLnTx/>
                <a:uFillTx/>
                <a:latin typeface="+mn-lt"/>
                <a:ea typeface="+mn-ea"/>
                <a:cs typeface="+mn-cs"/>
              </a:rPr>
              <a:t>front </a:t>
            </a:r>
            <a:r>
              <a:rPr kumimoji="0" lang="en-US" sz="2000" b="0" i="0" u="none" strike="noStrike" kern="0" cap="none" spc="0" normalizeH="0" baseline="0" noProof="0" dirty="0">
                <a:ln>
                  <a:noFill/>
                </a:ln>
                <a:solidFill>
                  <a:schemeClr val="tx1"/>
                </a:solidFill>
                <a:effectLst/>
                <a:uLnTx/>
                <a:uFillTx/>
                <a:latin typeface="+mn-lt"/>
                <a:ea typeface="+mn-ea"/>
                <a:cs typeface="+mn-cs"/>
              </a:rPr>
              <a: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rear </a:t>
            </a:r>
            <a:r>
              <a:rPr kumimoji="0" lang="en-US" sz="2000" b="0" i="0" u="none" strike="noStrike" kern="0" cap="none" spc="0" normalizeH="0" baseline="0" noProof="0" dirty="0">
                <a:ln>
                  <a:noFill/>
                </a:ln>
                <a:solidFill>
                  <a:schemeClr val="tx1"/>
                </a:solidFill>
                <a:effectLst/>
                <a:uLnTx/>
                <a:uFillTx/>
                <a:latin typeface="+mn-lt"/>
                <a:ea typeface="+mn-ea"/>
                <a:cs typeface="+mn-cs"/>
              </a:rPr>
              <a: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NULL</a:t>
            </a:r>
            <a:r>
              <a:rPr kumimoji="0" lang="en-US" sz="2000" b="0" i="0" u="none" strike="noStrike" kern="0" cap="none" spc="0" normalizeH="0" baseline="0" noProof="0" dirty="0">
                <a:ln>
                  <a:noFill/>
                </a:ln>
                <a:solidFill>
                  <a:schemeClr val="tx1"/>
                </a:solidFill>
                <a:effectLst/>
                <a:uLnTx/>
                <a:uFillTx/>
                <a:latin typeface="+mn-lt"/>
                <a:ea typeface="+mn-ea"/>
                <a:cs typeface="+mn-cs"/>
              </a:rPr>
              <a:t>;</a:t>
            </a:r>
            <a:r>
              <a:rPr kumimoji="0" lang="en-US" sz="2000" b="0" i="0" u="none" strike="noStrike" kern="0" cap="none" spc="0" normalizeH="0" baseline="0" noProof="0" dirty="0" smtClean="0">
                <a:ln>
                  <a:noFill/>
                </a:ln>
                <a:solidFill>
                  <a:schemeClr val="tx1"/>
                </a:solidFill>
                <a:effectLst/>
                <a:uLnTx/>
                <a:uFillTx/>
                <a:latin typeface="+mn-lt"/>
                <a:ea typeface="+mn-ea"/>
                <a:cs typeface="+mn-cs"/>
              </a:rPr>
              <a:t> </a:t>
            </a:r>
          </a:p>
          <a:p>
            <a:pPr marL="0" marR="0" lvl="0" indent="0" algn="l" defTabSz="914400" rtl="0" eaLnBrk="0" fontAlgn="base" latinLnBrk="0" hangingPunct="0">
              <a:lnSpc>
                <a:spcPct val="100000"/>
              </a:lnSpc>
              <a:spcBef>
                <a:spcPts val="600"/>
              </a:spcBef>
              <a:spcAft>
                <a:spcPct val="0"/>
              </a:spcAft>
              <a:buClrTx/>
              <a:buSzTx/>
              <a:buFontTx/>
              <a:buNone/>
              <a:tabLst>
                <a:tab pos="457200" algn="l"/>
                <a:tab pos="914400" algn="l"/>
              </a:tabLst>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en-US" sz="20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1169670" y="760095"/>
            <a:ext cx="7307580" cy="914400"/>
          </a:xfrm>
        </p:spPr>
        <p:txBody>
          <a:bodyPr wrap="square" lIns="92075" tIns="46038" rIns="92075" bIns="46038" anchor="ctr"/>
          <a:lstStyle/>
          <a:p>
            <a:r>
              <a:rPr lang="en-US" altLang="en-US" sz="3600" dirty="0">
                <a:ea typeface="MS Mincho" panose="02020609040205080304" pitchFamily="49" charset="-128"/>
              </a:rPr>
              <a:t>Implementing deque using linked lists: Insert Functions</a:t>
            </a:r>
            <a:endParaRPr lang="en-US" altLang="en-US" sz="3600" dirty="0"/>
          </a:p>
        </p:txBody>
      </p:sp>
      <p:sp>
        <p:nvSpPr>
          <p:cNvPr id="51202" name="Rectangle 3"/>
          <p:cNvSpPr>
            <a:spLocks noGrp="1"/>
          </p:cNvSpPr>
          <p:nvPr>
            <p:ph idx="1"/>
          </p:nvPr>
        </p:nvSpPr>
        <p:spPr>
          <a:xfrm>
            <a:off x="152400" y="1917065"/>
            <a:ext cx="4267200" cy="4407535"/>
          </a:xfrm>
        </p:spPr>
        <p:txBody>
          <a:bodyPr wrap="square" lIns="92075" tIns="46038" rIns="92075" bIns="46038" anchor="t"/>
          <a:lstStyle/>
          <a:p>
            <a:pPr marL="0" indent="0" defTabSz="914400">
              <a:lnSpc>
                <a:spcPct val="120000"/>
              </a:lnSpc>
              <a:spcBef>
                <a:spcPct val="0"/>
              </a:spcBef>
              <a:buNone/>
              <a:tabLst>
                <a:tab pos="228600" algn="l"/>
                <a:tab pos="457200" algn="l"/>
              </a:tabLst>
            </a:pPr>
            <a:r>
              <a:rPr lang="en-US" altLang="en-US" sz="2000" b="1" dirty="0"/>
              <a:t>void</a:t>
            </a:r>
            <a:r>
              <a:rPr lang="en-US" altLang="en-US" sz="2000" dirty="0"/>
              <a:t> InsertAtRear(</a:t>
            </a:r>
            <a:r>
              <a:rPr lang="en-US" altLang="en-US" sz="2000" b="1" dirty="0"/>
              <a:t>int</a:t>
            </a:r>
            <a:r>
              <a:rPr lang="en-US" altLang="en-US" sz="2000" dirty="0"/>
              <a:t> val) { </a:t>
            </a:r>
          </a:p>
          <a:p>
            <a:pPr marL="0" indent="0" defTabSz="914400">
              <a:lnSpc>
                <a:spcPct val="120000"/>
              </a:lnSpc>
              <a:spcBef>
                <a:spcPct val="0"/>
              </a:spcBef>
              <a:buNone/>
              <a:tabLst>
                <a:tab pos="228600" algn="l"/>
                <a:tab pos="457200" algn="l"/>
              </a:tabLst>
            </a:pPr>
            <a:r>
              <a:rPr lang="en-US" altLang="en-US" sz="2000" b="1" dirty="0"/>
              <a:t>     struct</a:t>
            </a:r>
            <a:r>
              <a:rPr lang="en-US" altLang="en-US" sz="2000" dirty="0"/>
              <a:t> Node *</a:t>
            </a:r>
            <a:r>
              <a:rPr lang="en-US" altLang="en-US" sz="2000" dirty="0">
                <a:sym typeface="+mn-ea"/>
              </a:rPr>
              <a:t>newNode</a:t>
            </a:r>
            <a:r>
              <a:rPr lang="en-US" altLang="en-US" sz="2000" dirty="0"/>
              <a:t>; </a:t>
            </a:r>
          </a:p>
          <a:p>
            <a:pPr marL="0" indent="0" defTabSz="914400">
              <a:lnSpc>
                <a:spcPct val="120000"/>
              </a:lnSpc>
              <a:spcBef>
                <a:spcPct val="0"/>
              </a:spcBef>
              <a:buNone/>
              <a:tabLst>
                <a:tab pos="228600" algn="l"/>
                <a:tab pos="457200" algn="l"/>
              </a:tabLst>
            </a:pPr>
            <a:r>
              <a:rPr lang="en-US" altLang="en-US" sz="2000" dirty="0"/>
              <a:t>     </a:t>
            </a:r>
            <a:r>
              <a:rPr lang="en-US" altLang="en-US" sz="2000" dirty="0">
                <a:sym typeface="+mn-ea"/>
              </a:rPr>
              <a:t>newNode</a:t>
            </a:r>
            <a:r>
              <a:rPr lang="en-US" altLang="en-US" sz="2000" dirty="0"/>
              <a:t>=(</a:t>
            </a:r>
            <a:r>
              <a:rPr lang="en-US" altLang="en-US" sz="2000" b="1" dirty="0"/>
              <a:t>struct</a:t>
            </a:r>
            <a:r>
              <a:rPr lang="en-US" altLang="en-US" sz="2000" dirty="0"/>
              <a:t> Node *) 	  </a:t>
            </a:r>
          </a:p>
          <a:p>
            <a:pPr marL="0" indent="0" defTabSz="914400">
              <a:lnSpc>
                <a:spcPct val="120000"/>
              </a:lnSpc>
              <a:spcBef>
                <a:spcPct val="0"/>
              </a:spcBef>
              <a:buNone/>
              <a:tabLst>
                <a:tab pos="228600" algn="l"/>
                <a:tab pos="457200" algn="l"/>
              </a:tabLst>
            </a:pPr>
            <a:r>
              <a:rPr lang="en-US" altLang="en-US" sz="2000" dirty="0"/>
              <a:t>         malloc(</a:t>
            </a:r>
            <a:r>
              <a:rPr lang="en-US" altLang="en-US" sz="2000" b="1" dirty="0"/>
              <a:t>sizeof</a:t>
            </a:r>
            <a:r>
              <a:rPr lang="en-US" altLang="en-US" sz="2000" dirty="0"/>
              <a:t>(</a:t>
            </a:r>
            <a:r>
              <a:rPr lang="en-US" altLang="en-US" sz="2000" b="1" dirty="0"/>
              <a:t>struct</a:t>
            </a:r>
            <a:r>
              <a:rPr lang="en-US" altLang="en-US" sz="2000" dirty="0"/>
              <a:t> Node)); </a:t>
            </a:r>
          </a:p>
          <a:p>
            <a:pPr marL="0" indent="0" defTabSz="914400">
              <a:lnSpc>
                <a:spcPct val="120000"/>
              </a:lnSpc>
              <a:spcBef>
                <a:spcPct val="0"/>
              </a:spcBef>
              <a:buNone/>
              <a:tabLst>
                <a:tab pos="228600" algn="l"/>
                <a:tab pos="457200" algn="l"/>
              </a:tabLst>
            </a:pPr>
            <a:r>
              <a:rPr lang="en-US" altLang="en-US" sz="2000" dirty="0"/>
              <a:t>     </a:t>
            </a:r>
            <a:r>
              <a:rPr lang="en-US" altLang="en-US" sz="2000" dirty="0">
                <a:sym typeface="+mn-ea"/>
              </a:rPr>
              <a:t>newNode</a:t>
            </a:r>
            <a:r>
              <a:rPr lang="en-US" altLang="en-US" sz="2000" dirty="0"/>
              <a:t>-&gt;data=val; </a:t>
            </a:r>
          </a:p>
          <a:p>
            <a:pPr marL="0" indent="0" defTabSz="914400">
              <a:lnSpc>
                <a:spcPct val="120000"/>
              </a:lnSpc>
              <a:spcBef>
                <a:spcPct val="0"/>
              </a:spcBef>
              <a:buNone/>
              <a:tabLst>
                <a:tab pos="228600" algn="l"/>
                <a:tab pos="457200" algn="l"/>
              </a:tabLst>
            </a:pPr>
            <a:r>
              <a:rPr lang="en-US" altLang="en-US" sz="2000" dirty="0"/>
              <a:t>     </a:t>
            </a:r>
            <a:r>
              <a:rPr lang="en-US" altLang="en-US" sz="2000" dirty="0">
                <a:sym typeface="+mn-ea"/>
              </a:rPr>
              <a:t>newNode</a:t>
            </a:r>
            <a:r>
              <a:rPr lang="en-US" altLang="en-US" sz="2000" dirty="0"/>
              <a:t>-&gt;next = NULL;</a:t>
            </a:r>
          </a:p>
          <a:p>
            <a:pPr marL="0" indent="0" defTabSz="914400">
              <a:lnSpc>
                <a:spcPct val="120000"/>
              </a:lnSpc>
              <a:spcBef>
                <a:spcPct val="0"/>
              </a:spcBef>
              <a:buNone/>
              <a:tabLst>
                <a:tab pos="228600" algn="l"/>
                <a:tab pos="457200" algn="l"/>
              </a:tabLst>
            </a:pPr>
            <a:r>
              <a:rPr lang="en-US" altLang="en-US" sz="2000" dirty="0"/>
              <a:t>     if(front == NULL) </a:t>
            </a:r>
          </a:p>
          <a:p>
            <a:pPr marL="0" indent="0" defTabSz="914400">
              <a:lnSpc>
                <a:spcPct val="120000"/>
              </a:lnSpc>
              <a:spcBef>
                <a:spcPct val="0"/>
              </a:spcBef>
              <a:buNone/>
              <a:tabLst>
                <a:tab pos="228600" algn="l"/>
                <a:tab pos="457200" algn="l"/>
              </a:tabLst>
            </a:pPr>
            <a:r>
              <a:rPr lang="en-US" altLang="en-US" sz="2000" dirty="0"/>
              <a:t>			front = </a:t>
            </a:r>
            <a:r>
              <a:rPr lang="en-US" altLang="en-US" sz="2000" dirty="0">
                <a:sym typeface="+mn-ea"/>
              </a:rPr>
              <a:t>newNode</a:t>
            </a:r>
            <a:r>
              <a:rPr lang="en-US" altLang="en-US" sz="2000" dirty="0"/>
              <a:t>;</a:t>
            </a:r>
          </a:p>
          <a:p>
            <a:pPr marL="0" indent="0" defTabSz="914400">
              <a:lnSpc>
                <a:spcPct val="120000"/>
              </a:lnSpc>
              <a:spcBef>
                <a:spcPct val="0"/>
              </a:spcBef>
              <a:buNone/>
              <a:tabLst>
                <a:tab pos="228600" algn="l"/>
                <a:tab pos="457200" algn="l"/>
              </a:tabLst>
            </a:pPr>
            <a:r>
              <a:rPr lang="en-US" altLang="en-US" sz="2000" dirty="0"/>
              <a:t>     else	</a:t>
            </a:r>
          </a:p>
          <a:p>
            <a:pPr marL="457200" lvl="1" indent="0" defTabSz="914400">
              <a:lnSpc>
                <a:spcPct val="120000"/>
              </a:lnSpc>
              <a:spcBef>
                <a:spcPct val="0"/>
              </a:spcBef>
              <a:buNone/>
              <a:tabLst>
                <a:tab pos="228600" algn="l"/>
                <a:tab pos="457200" algn="l"/>
              </a:tabLst>
            </a:pPr>
            <a:r>
              <a:rPr lang="en-US" altLang="en-US" sz="2000" dirty="0"/>
              <a:t>	rear-&gt;next = </a:t>
            </a:r>
            <a:r>
              <a:rPr lang="en-US" altLang="en-US" sz="2000" dirty="0">
                <a:sym typeface="+mn-ea"/>
              </a:rPr>
              <a:t>newNode</a:t>
            </a:r>
            <a:r>
              <a:rPr lang="en-US" altLang="en-US" sz="2000" dirty="0"/>
              <a:t>;</a:t>
            </a:r>
          </a:p>
          <a:p>
            <a:pPr marL="0" indent="0" defTabSz="914400">
              <a:lnSpc>
                <a:spcPct val="120000"/>
              </a:lnSpc>
              <a:spcBef>
                <a:spcPct val="0"/>
              </a:spcBef>
              <a:buNone/>
              <a:tabLst>
                <a:tab pos="228600" algn="l"/>
                <a:tab pos="457200" algn="l"/>
              </a:tabLst>
            </a:pPr>
            <a:r>
              <a:rPr lang="en-US" altLang="en-US" sz="2000" dirty="0"/>
              <a:t>     rear = </a:t>
            </a:r>
            <a:r>
              <a:rPr lang="en-US" altLang="en-US" sz="2000" dirty="0">
                <a:sym typeface="+mn-ea"/>
              </a:rPr>
              <a:t>newNode</a:t>
            </a:r>
            <a:r>
              <a:rPr lang="en-US" altLang="en-US" sz="2000" dirty="0"/>
              <a:t>; </a:t>
            </a:r>
          </a:p>
          <a:p>
            <a:pPr marL="0" indent="0" defTabSz="914400">
              <a:lnSpc>
                <a:spcPct val="120000"/>
              </a:lnSpc>
              <a:spcBef>
                <a:spcPct val="0"/>
              </a:spcBef>
              <a:buNone/>
              <a:tabLst>
                <a:tab pos="228600" algn="l"/>
                <a:tab pos="457200" algn="l"/>
              </a:tabLst>
            </a:pPr>
            <a:r>
              <a:rPr lang="en-US" altLang="en-US" sz="2000" dirty="0"/>
              <a:t>}</a:t>
            </a:r>
          </a:p>
        </p:txBody>
      </p:sp>
      <p:sp>
        <p:nvSpPr>
          <p:cNvPr id="4" name="Rectangle 3"/>
          <p:cNvSpPr txBox="1">
            <a:spLocks noChangeArrowheads="1"/>
          </p:cNvSpPr>
          <p:nvPr/>
        </p:nvSpPr>
        <p:spPr bwMode="auto">
          <a:xfrm>
            <a:off x="4800600" y="1951990"/>
            <a:ext cx="4267200" cy="4782185"/>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1" i="0" u="none" strike="noStrike" kern="0" cap="none" spc="0" normalizeH="0" baseline="0" noProof="0" dirty="0" smtClean="0">
                <a:ln>
                  <a:noFill/>
                </a:ln>
                <a:solidFill>
                  <a:schemeClr val="tx1"/>
                </a:solidFill>
                <a:effectLst/>
                <a:uLnTx/>
                <a:uFillTx/>
                <a:latin typeface="+mn-lt"/>
                <a:ea typeface="+mn-ea"/>
                <a:cs typeface="+mn-cs"/>
                <a:sym typeface="+mn-ea"/>
              </a:rPr>
              <a:t>void</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r>
              <a:rPr kumimoji="0" lang="en-US" altLang="en-US" sz="2000" b="0" i="0" u="none" strike="noStrike" kern="0" cap="none" spc="0" normalizeH="0" baseline="0" noProof="0" dirty="0" err="1" smtClean="0">
                <a:ln>
                  <a:noFill/>
                </a:ln>
                <a:solidFill>
                  <a:schemeClr val="tx1"/>
                </a:solidFill>
                <a:effectLst/>
                <a:uLnTx/>
                <a:uFillTx/>
                <a:latin typeface="+mn-lt"/>
                <a:ea typeface="+mn-ea"/>
                <a:cs typeface="+mn-cs"/>
                <a:sym typeface="+mn-ea"/>
              </a:rPr>
              <a:t>InsertAtFront</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a:t>
            </a:r>
            <a:r>
              <a:rPr kumimoji="0" lang="en-US" altLang="en-US" sz="2000" b="1" i="0" u="none" strike="noStrike" kern="0" cap="none" spc="0" normalizeH="0" baseline="0" noProof="0" dirty="0" err="1" smtClean="0">
                <a:ln>
                  <a:noFill/>
                </a:ln>
                <a:solidFill>
                  <a:schemeClr val="tx1"/>
                </a:solidFill>
                <a:effectLst/>
                <a:uLnTx/>
                <a:uFillTx/>
                <a:latin typeface="+mn-lt"/>
                <a:ea typeface="+mn-ea"/>
                <a:cs typeface="+mn-cs"/>
                <a:sym typeface="+mn-ea"/>
              </a:rPr>
              <a:t>int</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r>
              <a:rPr kumimoji="0" lang="en-US" altLang="en-US" sz="2000" b="0" i="0" u="none" strike="noStrike" kern="0" cap="none" spc="0" normalizeH="0" baseline="0" noProof="0" dirty="0" err="1" smtClean="0">
                <a:ln>
                  <a:noFill/>
                </a:ln>
                <a:solidFill>
                  <a:schemeClr val="tx1"/>
                </a:solidFill>
                <a:effectLst/>
                <a:uLnTx/>
                <a:uFillTx/>
                <a:latin typeface="+mn-lt"/>
                <a:ea typeface="+mn-ea"/>
                <a:cs typeface="+mn-cs"/>
                <a:sym typeface="+mn-ea"/>
              </a:rPr>
              <a:t>val</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 </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1" i="0" u="none" strike="noStrike" kern="0" cap="none" spc="0" normalizeH="0" baseline="0" noProof="0" dirty="0" smtClean="0">
                <a:ln>
                  <a:noFill/>
                </a:ln>
                <a:solidFill>
                  <a:schemeClr val="tx1"/>
                </a:solidFill>
                <a:effectLst/>
                <a:uLnTx/>
                <a:uFillTx/>
                <a:latin typeface="+mn-lt"/>
                <a:ea typeface="+mn-ea"/>
                <a:cs typeface="+mn-cs"/>
                <a:sym typeface="+mn-ea"/>
              </a:rPr>
              <a:t>     </a:t>
            </a:r>
            <a:r>
              <a:rPr kumimoji="0" lang="en-US" altLang="en-US" sz="2000" b="1" i="0" u="none" strike="noStrike" kern="0" cap="none" spc="0" normalizeH="0" baseline="0" noProof="0" dirty="0" err="1" smtClean="0">
                <a:ln>
                  <a:noFill/>
                </a:ln>
                <a:solidFill>
                  <a:schemeClr val="tx1"/>
                </a:solidFill>
                <a:effectLst/>
                <a:uLnTx/>
                <a:uFillTx/>
                <a:latin typeface="+mn-lt"/>
                <a:ea typeface="+mn-ea"/>
                <a:cs typeface="+mn-cs"/>
                <a:sym typeface="+mn-ea"/>
              </a:rPr>
              <a:t>struct</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Node *</a:t>
            </a:r>
            <a:r>
              <a:rPr lang="en-US" altLang="en-US" sz="2000" dirty="0">
                <a:sym typeface="+mn-ea"/>
              </a:rPr>
              <a:t>newNode</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r>
              <a:rPr lang="en-US" altLang="en-US" sz="2000" dirty="0">
                <a:sym typeface="+mn-ea"/>
              </a:rPr>
              <a:t>newNode</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a:t>
            </a:r>
            <a:r>
              <a:rPr kumimoji="0" lang="en-US" altLang="en-US" sz="2000" b="1" i="0" u="none" strike="noStrike" kern="0" cap="none" spc="0" normalizeH="0" baseline="0" noProof="0" dirty="0" err="1" smtClean="0">
                <a:ln>
                  <a:noFill/>
                </a:ln>
                <a:solidFill>
                  <a:schemeClr val="tx1"/>
                </a:solidFill>
                <a:effectLst/>
                <a:uLnTx/>
                <a:uFillTx/>
                <a:latin typeface="+mn-lt"/>
                <a:ea typeface="+mn-ea"/>
                <a:cs typeface="+mn-cs"/>
                <a:sym typeface="+mn-ea"/>
              </a:rPr>
              <a:t>struct</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Node *) 	</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r>
              <a:rPr kumimoji="0" lang="en-US" altLang="en-US" sz="2000" b="0" i="0" u="none" strike="noStrike" kern="0" cap="none" spc="0" normalizeH="0" baseline="0" noProof="0" dirty="0" err="1" smtClean="0">
                <a:ln>
                  <a:noFill/>
                </a:ln>
                <a:solidFill>
                  <a:schemeClr val="tx1"/>
                </a:solidFill>
                <a:effectLst/>
                <a:uLnTx/>
                <a:uFillTx/>
                <a:latin typeface="+mn-lt"/>
                <a:ea typeface="+mn-ea"/>
                <a:cs typeface="+mn-cs"/>
                <a:sym typeface="+mn-ea"/>
              </a:rPr>
              <a:t>malloc</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a:t>
            </a:r>
            <a:r>
              <a:rPr kumimoji="0" lang="en-US" altLang="en-US" sz="2000" b="1" i="0" u="none" strike="noStrike" kern="0" cap="none" spc="0" normalizeH="0" baseline="0" noProof="0" dirty="0" err="1" smtClean="0">
                <a:ln>
                  <a:noFill/>
                </a:ln>
                <a:solidFill>
                  <a:schemeClr val="tx1"/>
                </a:solidFill>
                <a:effectLst/>
                <a:uLnTx/>
                <a:uFillTx/>
                <a:latin typeface="+mn-lt"/>
                <a:ea typeface="+mn-ea"/>
                <a:cs typeface="+mn-cs"/>
                <a:sym typeface="+mn-ea"/>
              </a:rPr>
              <a:t>sizeof</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a:t>
            </a:r>
            <a:r>
              <a:rPr kumimoji="0" lang="en-US" altLang="en-US" sz="2000" b="1" i="0" u="none" strike="noStrike" kern="0" cap="none" spc="0" normalizeH="0" baseline="0" noProof="0" dirty="0" err="1" smtClean="0">
                <a:ln>
                  <a:noFill/>
                </a:ln>
                <a:solidFill>
                  <a:schemeClr val="tx1"/>
                </a:solidFill>
                <a:effectLst/>
                <a:uLnTx/>
                <a:uFillTx/>
                <a:latin typeface="+mn-lt"/>
                <a:ea typeface="+mn-ea"/>
                <a:cs typeface="+mn-cs"/>
                <a:sym typeface="+mn-ea"/>
              </a:rPr>
              <a:t>struct</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Node)); </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r>
              <a:rPr lang="en-US" altLang="en-US" sz="2000" dirty="0">
                <a:sym typeface="+mn-ea"/>
              </a:rPr>
              <a:t>newNode</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-&gt;data=</a:t>
            </a:r>
            <a:r>
              <a:rPr kumimoji="0" lang="en-US" altLang="en-US" sz="2000" b="0" i="0" u="none" strike="noStrike" kern="0" cap="none" spc="0" normalizeH="0" baseline="0" noProof="0" dirty="0" err="1" smtClean="0">
                <a:ln>
                  <a:noFill/>
                </a:ln>
                <a:solidFill>
                  <a:schemeClr val="tx1"/>
                </a:solidFill>
                <a:effectLst/>
                <a:uLnTx/>
                <a:uFillTx/>
                <a:latin typeface="+mn-lt"/>
                <a:ea typeface="+mn-ea"/>
                <a:cs typeface="+mn-cs"/>
                <a:sym typeface="+mn-ea"/>
              </a:rPr>
              <a:t>val</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r>
              <a:rPr lang="en-US" altLang="en-US" sz="2000" dirty="0">
                <a:sym typeface="+mn-ea"/>
              </a:rPr>
              <a:t>newNode</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-&gt;next = NULL;</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if(front == NULL)</a:t>
            </a:r>
          </a:p>
          <a:p>
            <a:pPr marL="457200" marR="0" lvl="1"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front = rear = </a:t>
            </a:r>
            <a:r>
              <a:rPr lang="en-US" altLang="en-US" sz="2000" dirty="0">
                <a:sym typeface="+mn-ea"/>
              </a:rPr>
              <a:t>newNode</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else {	</a:t>
            </a:r>
          </a:p>
          <a:p>
            <a:pPr marL="457200" marR="0" lvl="1"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r>
              <a:rPr lang="en-US" altLang="en-US" sz="2000" dirty="0">
                <a:sym typeface="+mn-ea"/>
              </a:rPr>
              <a:t>newNode</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-&gt;next = front;</a:t>
            </a:r>
          </a:p>
          <a:p>
            <a:pPr marL="457200" marR="0" lvl="1"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front = </a:t>
            </a:r>
            <a:r>
              <a:rPr lang="en-US" altLang="en-US" sz="2000" dirty="0">
                <a:sym typeface="+mn-ea"/>
              </a:rPr>
              <a:t>newNode</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a:ln>
                  <a:noFill/>
                </a:ln>
                <a:solidFill>
                  <a:schemeClr val="tx1"/>
                </a:solidFill>
                <a:effectLst/>
                <a:uLnTx/>
                <a:uFillTx/>
                <a:latin typeface="+mn-lt"/>
                <a:ea typeface="+mn-ea"/>
                <a:cs typeface="+mn-cs"/>
                <a:sym typeface="+mn-ea"/>
              </a:rPr>
              <a:t> </a:t>
            </a: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    }</a:t>
            </a:r>
          </a:p>
          <a:p>
            <a:pPr marL="0" marR="0" lvl="0" indent="0" algn="l" defTabSz="914400" rtl="0" eaLnBrk="0" fontAlgn="base" latinLnBrk="0" hangingPunct="0">
              <a:lnSpc>
                <a:spcPct val="120000"/>
              </a:lnSpc>
              <a:spcBef>
                <a:spcPct val="0"/>
              </a:spcBef>
              <a:spcAft>
                <a:spcPct val="0"/>
              </a:spcAft>
              <a:buClrTx/>
              <a:buSzTx/>
              <a:buFontTx/>
              <a:buNone/>
              <a:tabLst>
                <a:tab pos="228600" algn="l"/>
                <a:tab pos="457200" algn="l"/>
              </a:tabLst>
              <a:defRPr/>
            </a:pPr>
            <a:r>
              <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type="title"/>
          </p:nvPr>
        </p:nvSpPr>
        <p:spPr>
          <a:xfrm>
            <a:off x="685800" y="304800"/>
            <a:ext cx="7772400" cy="914400"/>
          </a:xfrm>
        </p:spPr>
        <p:txBody>
          <a:bodyPr wrap="square" lIns="92075" tIns="46038" rIns="92075" bIns="46038" anchor="ctr"/>
          <a:lstStyle/>
          <a:p>
            <a:r>
              <a:rPr lang="en-US" altLang="en-US" sz="3600" dirty="0">
                <a:ea typeface="MS Mincho" panose="02020609040205080304" pitchFamily="49" charset="-128"/>
              </a:rPr>
              <a:t>Implementing deque using linked lists: Delete Functions</a:t>
            </a:r>
            <a:endParaRPr lang="en-US" altLang="en-US" sz="3600" dirty="0"/>
          </a:p>
        </p:txBody>
      </p:sp>
      <p:sp>
        <p:nvSpPr>
          <p:cNvPr id="52226" name="Rectangle 3"/>
          <p:cNvSpPr>
            <a:spLocks noGrp="1"/>
          </p:cNvSpPr>
          <p:nvPr>
            <p:ph idx="1"/>
          </p:nvPr>
        </p:nvSpPr>
        <p:spPr>
          <a:xfrm>
            <a:off x="76200" y="1945640"/>
            <a:ext cx="3656965" cy="4840605"/>
          </a:xfrm>
        </p:spPr>
        <p:txBody>
          <a:bodyPr wrap="square" lIns="92075" tIns="46038" rIns="92075" bIns="46038" anchor="t"/>
          <a:lstStyle/>
          <a:p>
            <a:pPr marL="0" indent="0" defTabSz="914400">
              <a:spcBef>
                <a:spcPct val="0"/>
              </a:spcBef>
              <a:buNone/>
              <a:tabLst>
                <a:tab pos="228600" algn="l"/>
                <a:tab pos="457200" algn="l"/>
              </a:tabLst>
            </a:pPr>
            <a:r>
              <a:rPr lang="en-US" altLang="en-US" sz="2000" dirty="0"/>
              <a:t>int delqAtFront(){ </a:t>
            </a:r>
          </a:p>
          <a:p>
            <a:pPr marL="0" indent="0" defTabSz="914400">
              <a:spcBef>
                <a:spcPct val="0"/>
              </a:spcBef>
              <a:buNone/>
              <a:tabLst>
                <a:tab pos="228600" algn="l"/>
                <a:tab pos="457200" algn="l"/>
              </a:tabLst>
            </a:pPr>
            <a:r>
              <a:rPr lang="en-US" altLang="en-US" sz="2000" dirty="0"/>
              <a:t>     struct Node *temp = front; </a:t>
            </a:r>
          </a:p>
          <a:p>
            <a:pPr marL="0" indent="0" defTabSz="914400">
              <a:spcBef>
                <a:spcPct val="0"/>
              </a:spcBef>
              <a:buNone/>
              <a:tabLst>
                <a:tab pos="228600" algn="l"/>
                <a:tab pos="457200" algn="l"/>
              </a:tabLst>
            </a:pPr>
            <a:r>
              <a:rPr lang="en-US" altLang="en-US" sz="2000" dirty="0"/>
              <a:t>     int item ; </a:t>
            </a:r>
          </a:p>
          <a:p>
            <a:pPr marL="0" indent="0" defTabSz="914400">
              <a:spcBef>
                <a:spcPct val="0"/>
              </a:spcBef>
              <a:buNone/>
              <a:tabLst>
                <a:tab pos="228600" algn="l"/>
                <a:tab pos="457200" algn="l"/>
              </a:tabLst>
            </a:pPr>
            <a:r>
              <a:rPr lang="en-US" altLang="en-US" sz="2000" dirty="0"/>
              <a:t>     if ( temp == NULL ){ </a:t>
            </a:r>
          </a:p>
          <a:p>
            <a:pPr marL="0" indent="0" defTabSz="914400">
              <a:spcBef>
                <a:spcPct val="0"/>
              </a:spcBef>
              <a:buNone/>
              <a:tabLst>
                <a:tab pos="228600" algn="l"/>
                <a:tab pos="457200" algn="l"/>
              </a:tabLst>
            </a:pPr>
            <a:r>
              <a:rPr lang="en-US" altLang="en-US" sz="2000" dirty="0"/>
              <a:t>	printf ( “Empty Queue "); </a:t>
            </a:r>
          </a:p>
          <a:p>
            <a:pPr marL="0" indent="0" defTabSz="914400">
              <a:spcBef>
                <a:spcPct val="0"/>
              </a:spcBef>
              <a:buNone/>
              <a:tabLst>
                <a:tab pos="228600" algn="l"/>
                <a:tab pos="457200" algn="l"/>
              </a:tabLst>
            </a:pPr>
            <a:r>
              <a:rPr lang="en-US" altLang="en-US" sz="2000" dirty="0"/>
              <a:t>	return 0 ; } </a:t>
            </a:r>
          </a:p>
          <a:p>
            <a:pPr marL="0" indent="0" defTabSz="914400">
              <a:spcBef>
                <a:spcPct val="0"/>
              </a:spcBef>
              <a:buNone/>
              <a:tabLst>
                <a:tab pos="228600" algn="l"/>
                <a:tab pos="457200" algn="l"/>
              </a:tabLst>
            </a:pPr>
            <a:r>
              <a:rPr lang="en-US" altLang="en-US" sz="2000" dirty="0"/>
              <a:t>     else { </a:t>
            </a:r>
          </a:p>
          <a:p>
            <a:pPr marL="0" indent="0" defTabSz="914400">
              <a:spcBef>
                <a:spcPct val="0"/>
              </a:spcBef>
              <a:buNone/>
              <a:tabLst>
                <a:tab pos="228600" algn="l"/>
                <a:tab pos="457200" algn="l"/>
              </a:tabLst>
            </a:pPr>
            <a:r>
              <a:rPr lang="en-US" altLang="en-US" sz="2000" dirty="0"/>
              <a:t>	item = temp -&gt; data;</a:t>
            </a:r>
          </a:p>
          <a:p>
            <a:pPr marL="0" indent="0" defTabSz="914400">
              <a:spcBef>
                <a:spcPct val="0"/>
              </a:spcBef>
              <a:buNone/>
              <a:tabLst>
                <a:tab pos="228600" algn="l"/>
                <a:tab pos="457200" algn="l"/>
              </a:tabLst>
            </a:pPr>
            <a:r>
              <a:rPr lang="en-US" altLang="en-US" sz="2000" dirty="0"/>
              <a:t>	front = temp -&gt; next; </a:t>
            </a:r>
          </a:p>
          <a:p>
            <a:pPr marL="0" indent="0" defTabSz="914400">
              <a:spcBef>
                <a:spcPct val="0"/>
              </a:spcBef>
              <a:buNone/>
              <a:tabLst>
                <a:tab pos="228600" algn="l"/>
                <a:tab pos="457200" algn="l"/>
              </a:tabLst>
            </a:pPr>
            <a:r>
              <a:rPr lang="en-US" altLang="en-US" sz="2000" dirty="0"/>
              <a:t>	free ( temp ); </a:t>
            </a:r>
          </a:p>
          <a:p>
            <a:pPr marL="0" indent="0" defTabSz="914400">
              <a:spcBef>
                <a:spcPct val="0"/>
              </a:spcBef>
              <a:buNone/>
              <a:tabLst>
                <a:tab pos="228600" algn="l"/>
                <a:tab pos="457200" algn="l"/>
              </a:tabLst>
            </a:pPr>
            <a:r>
              <a:rPr lang="en-US" altLang="en-US" sz="2000" dirty="0"/>
              <a:t>	if(front == NULL )</a:t>
            </a:r>
          </a:p>
          <a:p>
            <a:pPr marL="0" indent="0" defTabSz="914400">
              <a:spcBef>
                <a:spcPct val="0"/>
              </a:spcBef>
              <a:buNone/>
              <a:tabLst>
                <a:tab pos="228600" algn="l"/>
                <a:tab pos="457200" algn="l"/>
              </a:tabLst>
            </a:pPr>
            <a:r>
              <a:rPr lang="en-US" altLang="en-US" sz="2000" dirty="0"/>
              <a:t>	     rear = NULL; </a:t>
            </a:r>
          </a:p>
          <a:p>
            <a:pPr marL="0" indent="0" defTabSz="914400">
              <a:spcBef>
                <a:spcPct val="0"/>
              </a:spcBef>
              <a:buNone/>
              <a:tabLst>
                <a:tab pos="228600" algn="l"/>
                <a:tab pos="457200" algn="l"/>
              </a:tabLst>
            </a:pPr>
            <a:r>
              <a:rPr lang="en-US" altLang="en-US" sz="2000" dirty="0"/>
              <a:t>	return ( item );  } </a:t>
            </a:r>
          </a:p>
          <a:p>
            <a:pPr marL="0" indent="0" defTabSz="914400">
              <a:spcBef>
                <a:spcPct val="0"/>
              </a:spcBef>
              <a:buNone/>
              <a:tabLst>
                <a:tab pos="228600" algn="l"/>
                <a:tab pos="457200" algn="l"/>
              </a:tabLst>
            </a:pPr>
            <a:r>
              <a:rPr lang="en-US" altLang="en-US" sz="2000" dirty="0"/>
              <a:t>}</a:t>
            </a:r>
          </a:p>
        </p:txBody>
      </p:sp>
      <p:sp>
        <p:nvSpPr>
          <p:cNvPr id="4" name="Rectangle 3"/>
          <p:cNvSpPr txBox="1">
            <a:spLocks noChangeArrowheads="1"/>
          </p:cNvSpPr>
          <p:nvPr/>
        </p:nvSpPr>
        <p:spPr bwMode="auto">
          <a:xfrm>
            <a:off x="3733800" y="1419860"/>
            <a:ext cx="5410200" cy="5361940"/>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err="1">
                <a:ln>
                  <a:noFill/>
                </a:ln>
                <a:solidFill>
                  <a:schemeClr val="tx1"/>
                </a:solidFill>
                <a:effectLst/>
                <a:uLnTx/>
                <a:uFillTx/>
                <a:latin typeface="+mn-lt"/>
                <a:ea typeface="+mn-ea"/>
                <a:cs typeface="+mn-cs"/>
                <a:sym typeface="+mn-ea"/>
              </a:rPr>
              <a:t>int</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sym typeface="+mn-ea"/>
              </a:rPr>
              <a:t>delqAtRear</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sym typeface="+mn-ea"/>
              </a:rPr>
              <a:t>struct</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Node *temp ,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sym typeface="+mn-ea"/>
              </a:rPr>
              <a:t>rleft</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=NULL, *q ;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err="1">
                <a:ln>
                  <a:noFill/>
                </a:ln>
                <a:solidFill>
                  <a:schemeClr val="tx1"/>
                </a:solidFill>
                <a:effectLst/>
                <a:uLnTx/>
                <a:uFillTx/>
                <a:latin typeface="+mn-lt"/>
                <a:ea typeface="+mn-ea"/>
                <a:cs typeface="+mn-cs"/>
                <a:sym typeface="+mn-ea"/>
              </a:rPr>
              <a:t>int</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item;</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temp = front ;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if(rear == NULL ){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sym typeface="+mn-ea"/>
              </a:rPr>
              <a:t>printf</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 “Empty Queue" ) ;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return 0 ; }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else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while(temp != rear ){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sym typeface="+mn-ea"/>
              </a:rPr>
              <a:t>rleft</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 temp;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temp = temp-&gt;next;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q = rear; item = q-&gt;data; free ( q ); 	   rear =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sym typeface="+mn-ea"/>
              </a:rPr>
              <a:t>rleft</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if(rear != NULL)  rear -&gt; next = NULL;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if ( rear == NULL ) front = NULL;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sym typeface="+mn-ea"/>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return ( item ) ; } </a:t>
            </a:r>
          </a:p>
          <a:p>
            <a:pPr marL="0" marR="0" lvl="0" indent="0" algn="l" defTabSz="914400" rtl="0" eaLnBrk="0" fontAlgn="base" latinLnBrk="0" hangingPunct="0">
              <a:lnSpc>
                <a:spcPct val="100000"/>
              </a:lnSpc>
              <a:spcBef>
                <a:spcPct val="0"/>
              </a:spcBef>
              <a:spcAft>
                <a:spcPct val="0"/>
              </a:spcAft>
              <a:buClrTx/>
              <a:buSzTx/>
              <a:buFontTx/>
              <a:buNone/>
              <a:tabLst>
                <a:tab pos="228600" algn="l"/>
                <a:tab pos="457200"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sym typeface="+mn-ea"/>
              </a:rPr>
              <a:t>}</a:t>
            </a:r>
            <a:endParaRPr kumimoji="0" lang="en-US" altLang="en-US" sz="2000" b="0" i="0" u="none" strike="noStrike" kern="0" cap="none" spc="0" normalizeH="0" baseline="0" noProof="0" dirty="0" smtClean="0">
              <a:ln>
                <a:noFill/>
              </a:ln>
              <a:solidFill>
                <a:schemeClr val="tx1"/>
              </a:solidFill>
              <a:effectLst/>
              <a:uLnTx/>
              <a:uFillTx/>
              <a:latin typeface="+mn-lt"/>
              <a:ea typeface="+mn-ea"/>
              <a:cs typeface="+mn-cs"/>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a:xfrm>
            <a:off x="1151255" y="755650"/>
            <a:ext cx="7792720" cy="920750"/>
          </a:xfrm>
        </p:spPr>
        <p:txBody>
          <a:bodyPr wrap="square" lIns="92075" tIns="46038" rIns="92075" bIns="46038" anchor="ctr"/>
          <a:lstStyle/>
          <a:p>
            <a:r>
              <a:rPr lang="en-US" altLang="en-US" sz="3600" dirty="0"/>
              <a:t>Priority Queues</a:t>
            </a:r>
          </a:p>
        </p:txBody>
      </p:sp>
      <p:sp>
        <p:nvSpPr>
          <p:cNvPr id="53250" name="Rectangle 3"/>
          <p:cNvSpPr>
            <a:spLocks noGrp="1"/>
          </p:cNvSpPr>
          <p:nvPr>
            <p:ph idx="1"/>
          </p:nvPr>
        </p:nvSpPr>
        <p:spPr>
          <a:xfrm>
            <a:off x="889635" y="1903730"/>
            <a:ext cx="7568565" cy="4761230"/>
          </a:xfrm>
        </p:spPr>
        <p:txBody>
          <a:bodyPr wrap="square" lIns="92075" tIns="46038" rIns="92075" bIns="46038" anchor="t"/>
          <a:lstStyle/>
          <a:p>
            <a:pPr>
              <a:spcBef>
                <a:spcPts val="600"/>
              </a:spcBef>
            </a:pPr>
            <a:r>
              <a:rPr lang="en-US" altLang="en-US" sz="2000" u="sng" dirty="0">
                <a:solidFill>
                  <a:srgbClr val="1552D1"/>
                </a:solidFill>
              </a:rPr>
              <a:t>More specialized</a:t>
            </a:r>
            <a:r>
              <a:rPr lang="en-US" altLang="en-US" sz="2000" dirty="0"/>
              <a:t> data structure than Queue</a:t>
            </a:r>
          </a:p>
          <a:p>
            <a:pPr>
              <a:spcBef>
                <a:spcPts val="600"/>
              </a:spcBef>
            </a:pPr>
            <a:r>
              <a:rPr lang="en-US" altLang="en-US" sz="2000" dirty="0"/>
              <a:t>Priority queue has same method but with a major difference.</a:t>
            </a:r>
          </a:p>
          <a:p>
            <a:pPr lvl="1">
              <a:spcBef>
                <a:spcPts val="600"/>
              </a:spcBef>
            </a:pPr>
            <a:r>
              <a:rPr lang="en-US" altLang="en-US" sz="1800" dirty="0"/>
              <a:t>In Priority queue items are </a:t>
            </a:r>
            <a:r>
              <a:rPr lang="en-US" altLang="en-US" sz="1800" dirty="0">
                <a:solidFill>
                  <a:srgbClr val="1552D1"/>
                </a:solidFill>
              </a:rPr>
              <a:t>ordered</a:t>
            </a:r>
            <a:r>
              <a:rPr lang="en-US" altLang="en-US" sz="1800" dirty="0"/>
              <a:t> by key value so that item with the lowest value of key is at front and item with the highest value of key is at rear or vice versa.</a:t>
            </a:r>
          </a:p>
          <a:p>
            <a:pPr lvl="1">
              <a:spcBef>
                <a:spcPts val="600"/>
              </a:spcBef>
            </a:pPr>
            <a:r>
              <a:rPr lang="en-US" altLang="en-US" sz="1800" dirty="0"/>
              <a:t>priority is assigned to items based on their key value</a:t>
            </a:r>
          </a:p>
          <a:p>
            <a:pPr lvl="1">
              <a:spcBef>
                <a:spcPts val="600"/>
              </a:spcBef>
            </a:pPr>
            <a:r>
              <a:rPr lang="en-US" altLang="en-US" sz="1800" dirty="0"/>
              <a:t>Lower the value, higher the priority</a:t>
            </a:r>
          </a:p>
          <a:p>
            <a:pPr>
              <a:spcBef>
                <a:spcPts val="600"/>
              </a:spcBef>
            </a:pPr>
            <a:endParaRPr lang="en-US" altLang="en-US" sz="2000" dirty="0"/>
          </a:p>
          <a:p>
            <a:pPr>
              <a:spcBef>
                <a:spcPts val="600"/>
              </a:spcBef>
            </a:pPr>
            <a:r>
              <a:rPr lang="en-US" altLang="en-US" sz="2000" dirty="0"/>
              <a:t>Following are the principal methods of a Priority Queue:</a:t>
            </a:r>
          </a:p>
          <a:p>
            <a:pPr lvl="1">
              <a:spcBef>
                <a:spcPts val="600"/>
              </a:spcBef>
            </a:pPr>
            <a:r>
              <a:rPr lang="en-US" altLang="en-US" sz="1800" u="sng" dirty="0">
                <a:solidFill>
                  <a:srgbClr val="FF0000"/>
                </a:solidFill>
              </a:rPr>
              <a:t>insert / enqueue</a:t>
            </a:r>
            <a:r>
              <a:rPr lang="en-US" altLang="en-US" sz="1800" dirty="0"/>
              <a:t>: add an item to the rear of the queue.</a:t>
            </a:r>
          </a:p>
          <a:p>
            <a:pPr lvl="1">
              <a:spcBef>
                <a:spcPts val="600"/>
              </a:spcBef>
            </a:pPr>
            <a:r>
              <a:rPr lang="en-US" altLang="en-US" sz="1800" u="sng" dirty="0">
                <a:solidFill>
                  <a:srgbClr val="FF0000"/>
                </a:solidFill>
              </a:rPr>
              <a:t>remove / dequeue</a:t>
            </a:r>
            <a:r>
              <a:rPr lang="en-US" altLang="en-US" sz="1800" dirty="0"/>
              <a:t>: remove an item from the front of the queue.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p:cNvSpPr>
          <p:nvPr>
            <p:ph type="title"/>
          </p:nvPr>
        </p:nvSpPr>
        <p:spPr>
          <a:xfrm>
            <a:off x="1141095" y="791845"/>
            <a:ext cx="7317105" cy="990600"/>
          </a:xfrm>
        </p:spPr>
        <p:txBody>
          <a:bodyPr wrap="square" lIns="92075" tIns="46038" rIns="92075" bIns="46038" anchor="ctr"/>
          <a:lstStyle/>
          <a:p>
            <a:r>
              <a:rPr lang="en-US" altLang="en-US" sz="3600" dirty="0"/>
              <a:t>Priority Queues</a:t>
            </a:r>
          </a:p>
        </p:txBody>
      </p:sp>
      <p:sp>
        <p:nvSpPr>
          <p:cNvPr id="54274" name="Rectangle 3"/>
          <p:cNvSpPr>
            <a:spLocks noGrp="1"/>
          </p:cNvSpPr>
          <p:nvPr>
            <p:ph idx="1"/>
          </p:nvPr>
        </p:nvSpPr>
        <p:spPr>
          <a:xfrm>
            <a:off x="23495" y="1778635"/>
            <a:ext cx="5597525" cy="4971415"/>
          </a:xfrm>
        </p:spPr>
        <p:txBody>
          <a:bodyPr wrap="square" lIns="92075" tIns="46038" rIns="92075" bIns="46038" anchor="t"/>
          <a:lstStyle/>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void insert()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int i = 0;</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int item;</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if(!isFull()){</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printf("Enter the item: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scanf("%d", &amp;item);</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if(count == 0)</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pQue[count++] = item;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else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for(i=count-1; i &gt;= 0; i--)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 if data is larger, shift existing item to right end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if(item &gt; pQue[i])</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pQue[i+1] = pQue[i];</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else</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break;</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              </a:t>
            </a:r>
          </a:p>
        </p:txBody>
      </p:sp>
      <p:sp>
        <p:nvSpPr>
          <p:cNvPr id="2" name="Rectangle 3"/>
          <p:cNvSpPr>
            <a:spLocks noGrp="1"/>
          </p:cNvSpPr>
          <p:nvPr/>
        </p:nvSpPr>
        <p:spPr>
          <a:xfrm>
            <a:off x="4597400" y="271780"/>
            <a:ext cx="4471035" cy="4500880"/>
          </a:xfrm>
          <a:prstGeom prst="rect">
            <a:avLst/>
          </a:prstGeom>
          <a:noFill/>
          <a:ln w="9525">
            <a:noFill/>
          </a:ln>
        </p:spPr>
        <p:txBody>
          <a:bodyPr wrap="square" lIns="92075" tIns="46038" rIns="92075" bIns="46038" anchor="t"/>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pQue[i+1] = item;</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count++;</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else</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printf("Priority Queue Overflow...\n");</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a:t>
            </a:r>
          </a:p>
          <a:p>
            <a:pPr marL="0" indent="0" defTabSz="914400">
              <a:spcBef>
                <a:spcPts val="300"/>
              </a:spcBef>
              <a:buNone/>
              <a:tabLst>
                <a:tab pos="228600" algn="l"/>
                <a:tab pos="457200" algn="l"/>
                <a:tab pos="685800" algn="l"/>
                <a:tab pos="914400" algn="l"/>
                <a:tab pos="1143000" algn="l"/>
              </a:tabLst>
            </a:pPr>
            <a:endParaRPr lang="en-US" altLang="en-US" sz="1800" dirty="0">
              <a:latin typeface="Times New Roman" panose="02020603050405020304" pitchFamily="18" charset="0"/>
              <a:cs typeface="Times New Roman" panose="02020603050405020304" pitchFamily="18" charset="0"/>
            </a:endParaRP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int del(){</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if(count != 0)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return pQue[--count]; </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else</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		printf("Priority Queue Underflow...\n");</a:t>
            </a:r>
          </a:p>
          <a:p>
            <a:pPr marL="0" indent="0" defTabSz="914400">
              <a:spcBef>
                <a:spcPts val="300"/>
              </a:spcBef>
              <a:buNone/>
              <a:tabLst>
                <a:tab pos="228600" algn="l"/>
                <a:tab pos="457200" algn="l"/>
                <a:tab pos="685800" algn="l"/>
                <a:tab pos="914400" algn="l"/>
                <a:tab pos="1143000" algn="l"/>
              </a:tabLst>
            </a:pPr>
            <a:r>
              <a:rPr lang="en-US" altLang="en-US" sz="1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p:cNvSpPr>
          <p:nvPr>
            <p:ph type="title"/>
          </p:nvPr>
        </p:nvSpPr>
        <p:spPr>
          <a:xfrm>
            <a:off x="1209040" y="723900"/>
            <a:ext cx="7772400" cy="990600"/>
          </a:xfrm>
        </p:spPr>
        <p:txBody>
          <a:bodyPr wrap="square" lIns="92075" tIns="46038" rIns="92075" bIns="46038" anchor="ctr"/>
          <a:lstStyle/>
          <a:p>
            <a:r>
              <a:rPr lang="en-US" altLang="en-US" sz="3600" dirty="0"/>
              <a:t>Application of Queues</a:t>
            </a:r>
          </a:p>
        </p:txBody>
      </p:sp>
      <p:sp>
        <p:nvSpPr>
          <p:cNvPr id="34819" name="Rectangle 3"/>
          <p:cNvSpPr>
            <a:spLocks noGrp="1" noChangeArrowheads="1"/>
          </p:cNvSpPr>
          <p:nvPr>
            <p:ph idx="1"/>
          </p:nvPr>
        </p:nvSpPr>
        <p:spPr>
          <a:xfrm>
            <a:off x="908685" y="1931035"/>
            <a:ext cx="7549515" cy="3606165"/>
          </a:xfrm>
        </p:spPr>
        <p:txBody>
          <a:bodyPr vert="horz" wrap="square" lIns="92075" tIns="46038" rIns="92075" bIns="46038" numCol="1" anchor="t" anchorCtr="0" compatLnSpc="1"/>
          <a:lstStyle/>
          <a:p>
            <a:pPr marL="0" marR="0" lvl="0" indent="0" algn="l" defTabSz="914400" rtl="0" eaLnBrk="0" fontAlgn="base" latinLnBrk="0" hangingPunct="0">
              <a:lnSpc>
                <a:spcPct val="110000"/>
              </a:lnSpc>
              <a:spcBef>
                <a:spcPts val="600"/>
              </a:spcBef>
              <a:spcAft>
                <a:spcPct val="0"/>
              </a:spcAft>
              <a:buClrTx/>
              <a:buSzTx/>
              <a:buFontTx/>
              <a:buNone/>
              <a:defRPr/>
            </a:pPr>
            <a:r>
              <a:rPr kumimoji="0" lang="en-US" sz="2000" b="0" i="0" u="none" strike="noStrike" kern="0" cap="none" spc="0" normalizeH="0" baseline="0" noProof="0" dirty="0">
                <a:ln>
                  <a:noFill/>
                </a:ln>
                <a:solidFill>
                  <a:schemeClr val="tx1"/>
                </a:solidFill>
                <a:effectLst/>
                <a:uLnTx/>
                <a:uFillTx/>
                <a:latin typeface="+mn-lt"/>
                <a:ea typeface="+mn-ea"/>
                <a:cs typeface="+mn-cs"/>
                <a:hlinkClick r:id="rId2"/>
              </a:rPr>
              <a:t>Queue </a:t>
            </a:r>
            <a:r>
              <a:rPr kumimoji="0" lang="en-US" sz="2000" b="0" i="0" u="none" strike="noStrike" kern="0" cap="none" spc="0" normalizeH="0" baseline="0" noProof="0" dirty="0">
                <a:ln>
                  <a:noFill/>
                </a:ln>
                <a:solidFill>
                  <a:schemeClr val="tx1"/>
                </a:solidFill>
                <a:effectLst/>
                <a:uLnTx/>
                <a:uFillTx/>
                <a:latin typeface="+mn-lt"/>
                <a:ea typeface="+mn-ea"/>
                <a:cs typeface="+mn-cs"/>
              </a:rPr>
              <a:t>is used when things don’t have to be processed </a:t>
            </a:r>
            <a:r>
              <a:rPr kumimoji="0" lang="en-US" sz="2000" b="0" i="0" u="none" strike="noStrike" kern="0" cap="none" spc="0" normalizeH="0" baseline="0" noProof="0" dirty="0" err="1">
                <a:ln>
                  <a:noFill/>
                </a:ln>
                <a:solidFill>
                  <a:schemeClr val="tx1"/>
                </a:solidFill>
                <a:effectLst/>
                <a:uLnTx/>
                <a:uFillTx/>
                <a:latin typeface="+mn-lt"/>
                <a:ea typeface="+mn-ea"/>
                <a:cs typeface="+mn-cs"/>
              </a:rPr>
              <a:t>immediatly</a:t>
            </a:r>
            <a:r>
              <a:rPr kumimoji="0" lang="en-US" sz="2000" b="0" i="0" u="none" strike="noStrike" kern="0" cap="none" spc="0" normalizeH="0" baseline="0" noProof="0" dirty="0">
                <a:ln>
                  <a:noFill/>
                </a:ln>
                <a:solidFill>
                  <a:schemeClr val="tx1"/>
                </a:solidFill>
                <a:effectLst/>
                <a:uLnTx/>
                <a:uFillTx/>
                <a:latin typeface="+mn-lt"/>
                <a:ea typeface="+mn-ea"/>
                <a:cs typeface="+mn-cs"/>
              </a:rPr>
              <a:t>, but have to be processed in </a:t>
            </a:r>
            <a:r>
              <a:rPr kumimoji="0" lang="en-US" sz="2000" b="1" i="0" u="sng" strike="noStrike" kern="0" cap="none" spc="0" normalizeH="0" baseline="0" noProof="0" dirty="0">
                <a:ln>
                  <a:noFill/>
                </a:ln>
                <a:solidFill>
                  <a:schemeClr val="tx1"/>
                </a:solidFill>
                <a:effectLst/>
                <a:uLnTx/>
                <a:uFillTx/>
                <a:latin typeface="+mn-lt"/>
                <a:ea typeface="+mn-ea"/>
                <a:cs typeface="+mn-cs"/>
              </a:rPr>
              <a:t>F</a:t>
            </a:r>
            <a:r>
              <a:rPr kumimoji="0" lang="en-US" sz="2000" b="0" i="0" u="sng" strike="noStrike" kern="0" cap="none" spc="0" normalizeH="0" baseline="0" noProof="0" dirty="0">
                <a:ln>
                  <a:noFill/>
                </a:ln>
                <a:solidFill>
                  <a:schemeClr val="tx1"/>
                </a:solidFill>
                <a:effectLst/>
                <a:uLnTx/>
                <a:uFillTx/>
                <a:latin typeface="+mn-lt"/>
                <a:ea typeface="+mn-ea"/>
                <a:cs typeface="+mn-cs"/>
              </a:rPr>
              <a:t>irst </a:t>
            </a:r>
            <a:r>
              <a:rPr kumimoji="0" lang="en-US" sz="2000" b="1" i="0" u="sng" strike="noStrike" kern="0" cap="none" spc="0" normalizeH="0" baseline="0" noProof="0" dirty="0">
                <a:ln>
                  <a:noFill/>
                </a:ln>
                <a:solidFill>
                  <a:schemeClr val="tx1"/>
                </a:solidFill>
                <a:effectLst/>
                <a:uLnTx/>
                <a:uFillTx/>
                <a:latin typeface="+mn-lt"/>
                <a:ea typeface="+mn-ea"/>
                <a:cs typeface="+mn-cs"/>
              </a:rPr>
              <a:t>I</a:t>
            </a:r>
            <a:r>
              <a:rPr kumimoji="0" lang="en-US" sz="2000" b="0" i="0" u="sng" strike="noStrike" kern="0" cap="none" spc="0" normalizeH="0" baseline="0" noProof="0" dirty="0">
                <a:ln>
                  <a:noFill/>
                </a:ln>
                <a:solidFill>
                  <a:schemeClr val="tx1"/>
                </a:solidFill>
                <a:effectLst/>
                <a:uLnTx/>
                <a:uFillTx/>
                <a:latin typeface="+mn-lt"/>
                <a:ea typeface="+mn-ea"/>
                <a:cs typeface="+mn-cs"/>
              </a:rPr>
              <a:t>n </a:t>
            </a:r>
            <a:r>
              <a:rPr kumimoji="0" lang="en-US" sz="2000" b="1" i="0" u="sng" strike="noStrike" kern="0" cap="none" spc="0" normalizeH="0" baseline="0" noProof="0" dirty="0">
                <a:ln>
                  <a:noFill/>
                </a:ln>
                <a:solidFill>
                  <a:schemeClr val="tx1"/>
                </a:solidFill>
                <a:effectLst/>
                <a:uLnTx/>
                <a:uFillTx/>
                <a:latin typeface="+mn-lt"/>
                <a:ea typeface="+mn-ea"/>
                <a:cs typeface="+mn-cs"/>
              </a:rPr>
              <a:t>F</a:t>
            </a:r>
            <a:r>
              <a:rPr kumimoji="0" lang="en-US" sz="2000" b="0" i="0" u="sng" strike="noStrike" kern="0" cap="none" spc="0" normalizeH="0" baseline="0" noProof="0" dirty="0">
                <a:ln>
                  <a:noFill/>
                </a:ln>
                <a:solidFill>
                  <a:schemeClr val="tx1"/>
                </a:solidFill>
                <a:effectLst/>
                <a:uLnTx/>
                <a:uFillTx/>
                <a:latin typeface="+mn-lt"/>
                <a:ea typeface="+mn-ea"/>
                <a:cs typeface="+mn-cs"/>
              </a:rPr>
              <a:t>irst </a:t>
            </a:r>
            <a:r>
              <a:rPr kumimoji="0" lang="en-US" sz="2000" b="1" i="0" u="sng" strike="noStrike" kern="0" cap="none" spc="0" normalizeH="0" baseline="0" noProof="0" dirty="0">
                <a:ln>
                  <a:noFill/>
                </a:ln>
                <a:solidFill>
                  <a:schemeClr val="tx1"/>
                </a:solidFill>
                <a:effectLst/>
                <a:uLnTx/>
                <a:uFillTx/>
                <a:latin typeface="+mn-lt"/>
                <a:ea typeface="+mn-ea"/>
                <a:cs typeface="+mn-cs"/>
              </a:rPr>
              <a:t>O</a:t>
            </a:r>
            <a:r>
              <a:rPr kumimoji="0" lang="en-US" sz="2000" b="0" i="0" u="sng" strike="noStrike" kern="0" cap="none" spc="0" normalizeH="0" baseline="0" noProof="0" dirty="0">
                <a:ln>
                  <a:noFill/>
                </a:ln>
                <a:solidFill>
                  <a:schemeClr val="tx1"/>
                </a:solidFill>
                <a:effectLst/>
                <a:uLnTx/>
                <a:uFillTx/>
                <a:latin typeface="+mn-lt"/>
                <a:ea typeface="+mn-ea"/>
                <a:cs typeface="+mn-cs"/>
              </a:rPr>
              <a:t>ut</a:t>
            </a:r>
            <a:r>
              <a:rPr kumimoji="0" lang="en-US" sz="2000" b="0" i="0" u="none" strike="noStrike" kern="0" cap="none" spc="0" normalizeH="0" baseline="0" noProof="0" dirty="0">
                <a:ln>
                  <a:noFill/>
                </a:ln>
                <a:solidFill>
                  <a:schemeClr val="tx1"/>
                </a:solidFill>
                <a:effectLst/>
                <a:uLnTx/>
                <a:uFillTx/>
                <a:latin typeface="+mn-lt"/>
                <a:ea typeface="+mn-ea"/>
                <a:cs typeface="+mn-cs"/>
              </a:rPr>
              <a:t> </a:t>
            </a:r>
            <a:r>
              <a:rPr kumimoji="0" lang="en-US" sz="2000" b="0" i="0" u="none" strike="noStrike" kern="0" cap="none" spc="0" normalizeH="0" baseline="0" noProof="0" dirty="0" smtClean="0">
                <a:ln>
                  <a:noFill/>
                </a:ln>
                <a:solidFill>
                  <a:schemeClr val="tx1"/>
                </a:solidFill>
                <a:effectLst/>
                <a:uLnTx/>
                <a:uFillTx/>
                <a:latin typeface="+mn-lt"/>
                <a:ea typeface="+mn-ea"/>
                <a:cs typeface="+mn-cs"/>
              </a:rPr>
              <a:t>order. </a:t>
            </a:r>
            <a:r>
              <a:rPr kumimoji="0" lang="en-US" sz="2000" b="0" i="0" u="none" strike="noStrike" kern="0" cap="none" spc="0" normalizeH="0" baseline="0" noProof="0" dirty="0">
                <a:ln>
                  <a:noFill/>
                </a:ln>
                <a:solidFill>
                  <a:schemeClr val="tx1"/>
                </a:solidFill>
                <a:effectLst/>
                <a:uLnTx/>
                <a:uFillTx/>
                <a:latin typeface="+mn-lt"/>
                <a:ea typeface="+mn-ea"/>
                <a:cs typeface="+mn-cs"/>
              </a:rPr>
              <a:t>This property of Queue makes it </a:t>
            </a:r>
            <a:r>
              <a:rPr kumimoji="0" lang="en-US" sz="2000" b="0" i="0" u="none" strike="noStrike" kern="0" cap="none" spc="0" normalizeH="0" baseline="0" noProof="0" dirty="0" smtClean="0">
                <a:ln>
                  <a:noFill/>
                </a:ln>
                <a:solidFill>
                  <a:schemeClr val="tx1"/>
                </a:solidFill>
                <a:effectLst/>
                <a:uLnTx/>
                <a:uFillTx/>
                <a:latin typeface="+mn-lt"/>
                <a:ea typeface="+mn-ea"/>
                <a:cs typeface="+mn-cs"/>
              </a:rPr>
              <a:t>useful </a:t>
            </a:r>
            <a:r>
              <a:rPr kumimoji="0" lang="en-US" sz="2000" b="0" i="0" u="none" strike="noStrike" kern="0" cap="none" spc="0" normalizeH="0" baseline="0" noProof="0" dirty="0">
                <a:ln>
                  <a:noFill/>
                </a:ln>
                <a:solidFill>
                  <a:schemeClr val="tx1"/>
                </a:solidFill>
                <a:effectLst/>
                <a:uLnTx/>
                <a:uFillTx/>
                <a:latin typeface="+mn-lt"/>
                <a:ea typeface="+mn-ea"/>
                <a:cs typeface="+mn-cs"/>
              </a:rPr>
              <a:t>in following kind of scenarios.</a:t>
            </a: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
              <a:defRPr/>
            </a:pPr>
            <a:r>
              <a:rPr kumimoji="0" lang="en-US" sz="1800" b="0" i="0" u="none" strike="noStrike" kern="0" cap="none" spc="0" normalizeH="0" baseline="0" noProof="0" dirty="0" smtClean="0">
                <a:ln>
                  <a:noFill/>
                </a:ln>
                <a:solidFill>
                  <a:schemeClr val="tx1"/>
                </a:solidFill>
                <a:effectLst/>
                <a:uLnTx/>
                <a:uFillTx/>
                <a:latin typeface="+mn-lt"/>
                <a:ea typeface="+mn-ea"/>
                <a:cs typeface="+mn-cs"/>
              </a:rPr>
              <a:t>When </a:t>
            </a:r>
            <a:r>
              <a:rPr kumimoji="0" lang="en-US" sz="1800" b="0" i="0" u="none" strike="noStrike" kern="0" cap="none" spc="0" normalizeH="0" baseline="0" noProof="0" dirty="0">
                <a:ln>
                  <a:noFill/>
                </a:ln>
                <a:solidFill>
                  <a:schemeClr val="tx1"/>
                </a:solidFill>
                <a:effectLst/>
                <a:uLnTx/>
                <a:uFillTx/>
                <a:latin typeface="+mn-lt"/>
                <a:ea typeface="+mn-ea"/>
                <a:cs typeface="+mn-cs"/>
              </a:rPr>
              <a:t>a resource is shared among multiple consumers.</a:t>
            </a:r>
          </a:p>
          <a:p>
            <a:pPr marL="800100" marR="0" lvl="1" indent="-342900" algn="l" defTabSz="914400" rtl="0" eaLnBrk="0" hangingPunct="0">
              <a:lnSpc>
                <a:spcPct val="110000"/>
              </a:lnSpc>
              <a:spcBef>
                <a:spcPts val="200"/>
              </a:spcBef>
              <a:spcAft>
                <a:spcPct val="0"/>
              </a:spcAft>
              <a:buClrTx/>
              <a:buSzTx/>
              <a:buFont typeface="Wingdings" panose="05000000000000000000" pitchFamily="2" charset="2"/>
              <a:buChar char="§"/>
              <a:defRPr/>
            </a:pPr>
            <a:r>
              <a:rPr kumimoji="0" lang="en-US" sz="1700" b="0" i="0" u="none" strike="noStrike" kern="0" cap="none" spc="0" normalizeH="0" baseline="0" noProof="0" dirty="0">
                <a:ln>
                  <a:noFill/>
                </a:ln>
                <a:solidFill>
                  <a:schemeClr val="tx1"/>
                </a:solidFill>
                <a:effectLst/>
                <a:uLnTx/>
                <a:uFillTx/>
                <a:latin typeface="+mn-lt"/>
                <a:ea typeface="+mn-ea"/>
                <a:cs typeface="+mn-cs"/>
              </a:rPr>
              <a:t>Examples include </a:t>
            </a:r>
            <a:r>
              <a:rPr kumimoji="0" lang="en-US" sz="1700" b="0" i="0" u="sng" strike="noStrike" kern="0" cap="none" spc="0" normalizeH="0" baseline="0" noProof="0" dirty="0">
                <a:ln>
                  <a:noFill/>
                </a:ln>
                <a:solidFill>
                  <a:srgbClr val="1552D1"/>
                </a:solidFill>
                <a:effectLst/>
                <a:uLnTx/>
                <a:uFillTx/>
                <a:latin typeface="+mn-lt"/>
                <a:ea typeface="+mn-ea"/>
                <a:cs typeface="+mn-cs"/>
              </a:rPr>
              <a:t>CPU scheduling</a:t>
            </a:r>
            <a:r>
              <a:rPr kumimoji="0" lang="en-US" sz="1700" b="0" i="0" u="none" strike="noStrike" kern="0" cap="none" spc="0" normalizeH="0" baseline="0" noProof="0" dirty="0">
                <a:ln>
                  <a:noFill/>
                </a:ln>
                <a:solidFill>
                  <a:schemeClr val="tx1"/>
                </a:solidFill>
                <a:effectLst/>
                <a:uLnTx/>
                <a:uFillTx/>
                <a:latin typeface="+mn-lt"/>
                <a:ea typeface="+mn-ea"/>
                <a:cs typeface="+mn-cs"/>
              </a:rPr>
              <a:t>, </a:t>
            </a:r>
            <a:r>
              <a:rPr kumimoji="0" lang="en-US" sz="1700" b="0" i="0" u="sng" strike="noStrike" kern="0" cap="none" spc="0" normalizeH="0" baseline="0" noProof="0" dirty="0">
                <a:ln>
                  <a:noFill/>
                </a:ln>
                <a:solidFill>
                  <a:srgbClr val="3399FF"/>
                </a:solidFill>
                <a:effectLst/>
                <a:uLnTx/>
                <a:uFillTx/>
                <a:latin typeface="+mn-lt"/>
                <a:ea typeface="+mn-ea"/>
                <a:cs typeface="+mn-cs"/>
              </a:rPr>
              <a:t>Disk Scheduling</a:t>
            </a:r>
            <a:r>
              <a:rPr kumimoji="0" lang="en-US" sz="1700" b="0" i="0" u="none" strike="noStrike" kern="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
              <a:defRPr/>
            </a:pPr>
            <a:r>
              <a:rPr kumimoji="0" lang="en-US" sz="1800" b="0" i="0" u="none" strike="noStrike" kern="0" cap="none" spc="0" normalizeH="0" baseline="0" noProof="0" dirty="0" smtClean="0">
                <a:ln>
                  <a:noFill/>
                </a:ln>
                <a:solidFill>
                  <a:schemeClr val="tx1"/>
                </a:solidFill>
                <a:effectLst/>
                <a:uLnTx/>
                <a:uFillTx/>
                <a:latin typeface="+mn-lt"/>
                <a:ea typeface="+mn-ea"/>
                <a:cs typeface="+mn-cs"/>
              </a:rPr>
              <a:t>When </a:t>
            </a:r>
            <a:r>
              <a:rPr kumimoji="0" lang="en-US" sz="1800" b="0" i="0" u="sng" strike="noStrike" kern="0" cap="none" spc="0" normalizeH="0" baseline="0" noProof="0" dirty="0">
                <a:ln>
                  <a:noFill/>
                </a:ln>
                <a:solidFill>
                  <a:schemeClr val="tx1"/>
                </a:solidFill>
                <a:effectLst/>
                <a:uLnTx/>
                <a:uFillTx/>
                <a:latin typeface="+mn-lt"/>
                <a:ea typeface="+mn-ea"/>
                <a:cs typeface="+mn-cs"/>
              </a:rPr>
              <a:t>data is transferred asynchronously</a:t>
            </a:r>
            <a:r>
              <a:rPr kumimoji="0" lang="en-US" sz="1800" b="0" i="0" u="none" strike="noStrike" kern="0" cap="none" spc="0" normalizeH="0" baseline="0" noProof="0" dirty="0">
                <a:ln>
                  <a:noFill/>
                </a:ln>
                <a:solidFill>
                  <a:schemeClr val="tx1"/>
                </a:solidFill>
                <a:effectLst/>
                <a:uLnTx/>
                <a:uFillTx/>
                <a:latin typeface="+mn-lt"/>
                <a:ea typeface="+mn-ea"/>
                <a:cs typeface="+mn-cs"/>
              </a:rPr>
              <a:t> (</a:t>
            </a:r>
            <a:r>
              <a:rPr kumimoji="0" lang="en-US" sz="1800" b="0" i="0" u="sng" strike="noStrike" kern="0" cap="none" spc="0" normalizeH="0" baseline="0" noProof="0" dirty="0">
                <a:ln>
                  <a:noFill/>
                </a:ln>
                <a:solidFill>
                  <a:schemeClr val="tx1"/>
                </a:solidFill>
                <a:effectLst/>
                <a:uLnTx/>
                <a:uFillTx/>
                <a:latin typeface="+mn-lt"/>
                <a:ea typeface="+mn-ea"/>
                <a:cs typeface="+mn-cs"/>
              </a:rPr>
              <a:t>data not necessarily received at same rate as sent</a:t>
            </a:r>
            <a:r>
              <a:rPr kumimoji="0" lang="en-US" sz="1800" b="0" i="0" u="none" strike="noStrike" kern="0" cap="none" spc="0" normalizeH="0" baseline="0" noProof="0" dirty="0">
                <a:ln>
                  <a:noFill/>
                </a:ln>
                <a:solidFill>
                  <a:schemeClr val="tx1"/>
                </a:solidFill>
                <a:effectLst/>
                <a:uLnTx/>
                <a:uFillTx/>
                <a:latin typeface="+mn-lt"/>
                <a:ea typeface="+mn-ea"/>
                <a:cs typeface="+mn-cs"/>
              </a:rPr>
              <a:t>) between two processes. </a:t>
            </a:r>
          </a:p>
          <a:p>
            <a:pPr marL="800100" marR="0" lvl="1" indent="-342900" algn="l" defTabSz="914400" rtl="0" eaLnBrk="0" hangingPunct="0">
              <a:lnSpc>
                <a:spcPct val="110000"/>
              </a:lnSpc>
              <a:spcBef>
                <a:spcPts val="200"/>
              </a:spcBef>
              <a:spcAft>
                <a:spcPct val="0"/>
              </a:spcAft>
              <a:buClrTx/>
              <a:buSzTx/>
              <a:buFont typeface="Wingdings" panose="05000000000000000000" pitchFamily="2" charset="2"/>
              <a:buChar char="§"/>
              <a:defRPr/>
            </a:pPr>
            <a:r>
              <a:rPr kumimoji="0" lang="en-US" sz="1700" b="0" i="0" u="none" strike="noStrike" kern="0" cap="none" spc="0" normalizeH="0" baseline="0" noProof="0" dirty="0">
                <a:ln>
                  <a:noFill/>
                </a:ln>
                <a:solidFill>
                  <a:schemeClr val="tx1"/>
                </a:solidFill>
                <a:effectLst/>
                <a:uLnTx/>
                <a:uFillTx/>
                <a:latin typeface="+mn-lt"/>
                <a:ea typeface="+mn-ea"/>
                <a:cs typeface="+mn-cs"/>
              </a:rPr>
              <a:t>Examples include </a:t>
            </a:r>
            <a:r>
              <a:rPr kumimoji="0" lang="en-US" sz="1700" b="0" i="0" u="none" strike="noStrike" kern="0" cap="none" spc="0" normalizeH="0" baseline="0" noProof="0" dirty="0">
                <a:ln>
                  <a:noFill/>
                </a:ln>
                <a:solidFill>
                  <a:srgbClr val="3399FF"/>
                </a:solidFill>
                <a:effectLst/>
                <a:uLnTx/>
                <a:uFillTx/>
                <a:latin typeface="+mn-lt"/>
                <a:ea typeface="+mn-ea"/>
                <a:cs typeface="+mn-cs"/>
              </a:rPr>
              <a:t>I</a:t>
            </a:r>
            <a:r>
              <a:rPr kumimoji="0" lang="en-US" sz="1700" b="0" i="0" u="sng" strike="noStrike" kern="0" cap="none" spc="0" normalizeH="0" baseline="0" noProof="0" dirty="0">
                <a:ln>
                  <a:noFill/>
                </a:ln>
                <a:solidFill>
                  <a:srgbClr val="3399FF"/>
                </a:solidFill>
                <a:effectLst/>
                <a:uLnTx/>
                <a:uFillTx/>
                <a:latin typeface="+mn-lt"/>
                <a:ea typeface="+mn-ea"/>
                <a:cs typeface="+mn-cs"/>
              </a:rPr>
              <a:t>/O Buffers</a:t>
            </a:r>
            <a:r>
              <a:rPr kumimoji="0" lang="en-US" sz="1700" b="0" i="0" u="none" strike="noStrike" kern="0" cap="none" spc="0" normalizeH="0" baseline="0" noProof="0" dirty="0">
                <a:ln>
                  <a:noFill/>
                </a:ln>
                <a:solidFill>
                  <a:schemeClr val="tx1"/>
                </a:solidFill>
                <a:effectLst/>
                <a:uLnTx/>
                <a:uFillTx/>
                <a:latin typeface="+mn-lt"/>
                <a:ea typeface="+mn-ea"/>
                <a:cs typeface="+mn-cs"/>
              </a:rPr>
              <a:t>, </a:t>
            </a:r>
            <a:r>
              <a:rPr kumimoji="0" lang="en-US" sz="1700" b="0" i="0" u="sng" strike="noStrike" kern="0" cap="none" spc="0" normalizeH="0" baseline="0" noProof="0" dirty="0">
                <a:ln>
                  <a:noFill/>
                </a:ln>
                <a:solidFill>
                  <a:srgbClr val="1552D1"/>
                </a:solidFill>
                <a:effectLst/>
                <a:uLnTx/>
                <a:uFillTx/>
                <a:latin typeface="+mn-lt"/>
                <a:ea typeface="+mn-ea"/>
                <a:cs typeface="+mn-cs"/>
              </a:rPr>
              <a:t>pipes</a:t>
            </a:r>
            <a:r>
              <a:rPr kumimoji="0" lang="en-US" sz="1700" b="0" i="0" u="none" strike="noStrike" kern="0" cap="none" spc="0" normalizeH="0" baseline="0" noProof="0" dirty="0">
                <a:ln>
                  <a:noFill/>
                </a:ln>
                <a:solidFill>
                  <a:schemeClr val="tx1"/>
                </a:solidFill>
                <a:effectLst/>
                <a:uLnTx/>
                <a:uFillTx/>
                <a:latin typeface="+mn-lt"/>
                <a:ea typeface="+mn-ea"/>
                <a:cs typeface="+mn-cs"/>
              </a:rPr>
              <a:t>, </a:t>
            </a:r>
            <a:r>
              <a:rPr kumimoji="0" lang="en-US" sz="1700" b="0" i="0" u="sng" strike="noStrike" kern="0" cap="none" spc="0" normalizeH="0" baseline="0" noProof="0" dirty="0">
                <a:ln>
                  <a:noFill/>
                </a:ln>
                <a:solidFill>
                  <a:srgbClr val="7030A0"/>
                </a:solidFill>
                <a:effectLst/>
                <a:uLnTx/>
                <a:uFillTx/>
                <a:latin typeface="+mn-lt"/>
                <a:ea typeface="+mn-ea"/>
                <a:cs typeface="+mn-cs"/>
              </a:rPr>
              <a:t>file IO</a:t>
            </a:r>
            <a:r>
              <a:rPr kumimoji="0" lang="en-US" sz="1700" b="0" i="0" u="none" strike="noStrike" kern="0" cap="none" spc="0" normalizeH="0" baseline="0" noProof="0" dirty="0">
                <a:ln>
                  <a:noFill/>
                </a:ln>
                <a:solidFill>
                  <a:schemeClr val="tx1"/>
                </a:solidFill>
                <a:effectLst/>
                <a:uLnTx/>
                <a:uFillTx/>
                <a:latin typeface="+mn-lt"/>
                <a:ea typeface="+mn-ea"/>
                <a:cs typeface="+mn-cs"/>
              </a:rPr>
              <a:t>, etc.</a:t>
            </a: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
              <a:defRPr/>
            </a:pPr>
            <a:endParaRPr kumimoji="0" lang="en-US" sz="17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Arial"/>
        <a:cs typeface=""/>
      </a:majorFont>
      <a:minorFont>
        <a:latin typeface="Tahoma"/>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166</TotalTime>
  <Words>3339</Words>
  <Application>WPS Presentation</Application>
  <PresentationFormat>On-screen Show (4:3)</PresentationFormat>
  <Paragraphs>1569</Paragraphs>
  <Slides>92</Slides>
  <Notes>31</Notes>
  <HiddenSlides>0</HiddenSlides>
  <MMClips>0</MMClips>
  <ScaleCrop>false</ScaleCrop>
  <HeadingPairs>
    <vt:vector size="4" baseType="variant">
      <vt:variant>
        <vt:lpstr>Theme</vt:lpstr>
      </vt:variant>
      <vt:variant>
        <vt:i4>1</vt:i4>
      </vt:variant>
      <vt:variant>
        <vt:lpstr>Slide Titles</vt:lpstr>
      </vt:variant>
      <vt:variant>
        <vt:i4>92</vt:i4>
      </vt:variant>
    </vt:vector>
  </HeadingPairs>
  <TitlesOfParts>
    <vt:vector size="93" baseType="lpstr">
      <vt:lpstr>Blends</vt:lpstr>
      <vt:lpstr>Queue</vt:lpstr>
      <vt:lpstr>Definitions</vt:lpstr>
      <vt:lpstr>Applications</vt:lpstr>
      <vt:lpstr>Types</vt:lpstr>
      <vt:lpstr>The Queue Operations</vt:lpstr>
      <vt:lpstr>The Queue Operations</vt:lpstr>
      <vt:lpstr>The Queue Operations</vt:lpstr>
      <vt:lpstr>Slide 8</vt:lpstr>
      <vt:lpstr>Insertion(ENQUEUE) Operation</vt:lpstr>
      <vt:lpstr>Insertion(enqueue) Operation</vt:lpstr>
      <vt:lpstr>Insertion(enqueue) Operation</vt:lpstr>
      <vt:lpstr>Insertion(enqueue) Operation</vt:lpstr>
      <vt:lpstr>Insertion(enqueue) Operation</vt:lpstr>
      <vt:lpstr>Insertion(enqueue) Operation</vt:lpstr>
      <vt:lpstr>Insertion(enqueue) Operation</vt:lpstr>
      <vt:lpstr>Insertion(enqueue) Operation</vt:lpstr>
      <vt:lpstr>Insertion(enqueue) Operation</vt:lpstr>
      <vt:lpstr>  DELETION(DEQUEUE) Operation</vt:lpstr>
      <vt:lpstr>DELETION(DEQUEUE) Operation</vt:lpstr>
      <vt:lpstr>DELETION(DEQUEUE) Operation</vt:lpstr>
      <vt:lpstr>DELETION(DEQUEUE) Operation</vt:lpstr>
      <vt:lpstr>DELETION(DEQUEUE) Operation</vt:lpstr>
      <vt:lpstr>DELETION(DEQUEUE) Operation</vt:lpstr>
      <vt:lpstr>DELETION(DEQUEUE) Operation</vt:lpstr>
      <vt:lpstr>DELETION(DEQUEUE) Operation</vt:lpstr>
      <vt:lpstr>Slide 26</vt:lpstr>
      <vt:lpstr>Queue Operations</vt:lpstr>
      <vt:lpstr>Queue Operations</vt:lpstr>
      <vt:lpstr>Implemetation of Queue</vt:lpstr>
      <vt:lpstr>Implemetation of Queue</vt:lpstr>
      <vt:lpstr>Drawbacks of Linear Queue</vt:lpstr>
      <vt:lpstr>Drawbacks of Linear Queue</vt:lpstr>
      <vt:lpstr>Circular Queue</vt:lpstr>
      <vt:lpstr>Slide 34</vt:lpstr>
      <vt:lpstr>INSERTION</vt:lpstr>
      <vt:lpstr>INSERTION</vt:lpstr>
      <vt:lpstr>INSERTION</vt:lpstr>
      <vt:lpstr>INSERTION</vt:lpstr>
      <vt:lpstr> INSERTION</vt:lpstr>
      <vt:lpstr>INSERTION</vt:lpstr>
      <vt:lpstr>INSERTION</vt:lpstr>
      <vt:lpstr>INSERTION</vt:lpstr>
      <vt:lpstr>INSERTION</vt:lpstr>
      <vt:lpstr>INSERTION</vt:lpstr>
      <vt:lpstr>INSERTION</vt:lpstr>
      <vt:lpstr>INSERTION</vt:lpstr>
      <vt:lpstr>Delete</vt:lpstr>
      <vt:lpstr>Delete</vt:lpstr>
      <vt:lpstr>Delete</vt:lpstr>
      <vt:lpstr>Delete</vt:lpstr>
      <vt:lpstr>Delete</vt:lpstr>
      <vt:lpstr>Delete</vt:lpstr>
      <vt:lpstr>Delete</vt:lpstr>
      <vt:lpstr>Delete</vt:lpstr>
      <vt:lpstr>Delete</vt:lpstr>
      <vt:lpstr>Delete</vt:lpstr>
      <vt:lpstr>Delete</vt:lpstr>
      <vt:lpstr>Delete</vt:lpstr>
      <vt:lpstr>Implementation of a Circular Queue</vt:lpstr>
      <vt:lpstr>Insertion at End of a Circular Queue</vt:lpstr>
      <vt:lpstr>Slide 61</vt:lpstr>
      <vt:lpstr>Slide 62</vt:lpstr>
      <vt:lpstr>Implementing cqueue using arrays</vt:lpstr>
      <vt:lpstr>Implementing cqueue using arrays</vt:lpstr>
      <vt:lpstr>Implementing cqueue using arrays</vt:lpstr>
      <vt:lpstr>Implementing cqueue using arrays</vt:lpstr>
      <vt:lpstr>Implementing queues using linked lists</vt:lpstr>
      <vt:lpstr>Implementing queues using linked lists: Declaration and Initialization</vt:lpstr>
      <vt:lpstr>Implementing queues using linked lists: Insert Function</vt:lpstr>
      <vt:lpstr>Implementing queues using linked lists: Delete Function</vt:lpstr>
      <vt:lpstr>Implementing Queue using Stacks</vt:lpstr>
      <vt:lpstr>Implementing Queue using Stacks</vt:lpstr>
      <vt:lpstr>Implementing Queue using Stacks</vt:lpstr>
      <vt:lpstr>Implementing Stack using Queues</vt:lpstr>
      <vt:lpstr>Implementing Stack using Deque</vt:lpstr>
      <vt:lpstr>Deques</vt:lpstr>
      <vt:lpstr>Deques</vt:lpstr>
      <vt:lpstr>Algorithm for Insertion at rear end</vt:lpstr>
      <vt:lpstr>Algorithm for Insertion at front end</vt:lpstr>
      <vt:lpstr>Algorithm for Deletion from front end</vt:lpstr>
      <vt:lpstr>Algorithm for Deletion from rear end</vt:lpstr>
      <vt:lpstr>Deques</vt:lpstr>
      <vt:lpstr>Implementing Deque using Array</vt:lpstr>
      <vt:lpstr>Implementing Deque using Array</vt:lpstr>
      <vt:lpstr>Implementing Deque using Array</vt:lpstr>
      <vt:lpstr>Implementing Deque using Array</vt:lpstr>
      <vt:lpstr>Implementing deque using linked lists: Declaration and Initialization</vt:lpstr>
      <vt:lpstr>Implementing deque using linked lists: Insert Functions</vt:lpstr>
      <vt:lpstr>Implementing deque using linked lists: Delete Functions</vt:lpstr>
      <vt:lpstr>Priority Queues</vt:lpstr>
      <vt:lpstr>Priority Queues</vt:lpstr>
      <vt:lpstr>Application of Queues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Structures</dc:title>
  <dc:creator>swetu</dc:creator>
  <cp:lastModifiedBy>KIIT0001</cp:lastModifiedBy>
  <cp:revision>340</cp:revision>
  <dcterms:created xsi:type="dcterms:W3CDTF">2010-02-01T11:02:00Z</dcterms:created>
  <dcterms:modified xsi:type="dcterms:W3CDTF">2023-09-27T11:45:58Z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1033-11.2.0.11341</vt:lpwstr>
  </property>
  <property fmtid="{D5CDD505-2E9C-101B-9397-08002B2CF9AE}" pid="3" name="ICV">
    <vt:lpwstr>898EEA87C2214EB89ECA91EA4DC19126</vt:lpwstr>
  </property>
</Properties>
</file>