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1" d="100"/>
          <a:sy n="121" d="100"/>
        </p:scale>
        <p:origin x="1424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72870" y="933841"/>
            <a:ext cx="246435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spc="125" dirty="0"/>
              <a:t> </a:t>
            </a:r>
            <a:r>
              <a:rPr dirty="0"/>
              <a:t>Josif</a:t>
            </a:r>
            <a:r>
              <a:rPr spc="50" dirty="0"/>
              <a:t> </a:t>
            </a:r>
            <a:r>
              <a:rPr dirty="0"/>
              <a:t>Grabocka,</a:t>
            </a:r>
            <a:r>
              <a:rPr spc="50" dirty="0"/>
              <a:t> </a:t>
            </a:r>
            <a:r>
              <a:rPr dirty="0"/>
              <a:t>ISMLL,</a:t>
            </a:r>
            <a:r>
              <a:rPr spc="45" dirty="0"/>
              <a:t> </a:t>
            </a:r>
            <a:r>
              <a:rPr dirty="0"/>
              <a:t>University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Hildesheim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Deep</a:t>
            </a:r>
            <a:r>
              <a:rPr spc="-10" dirty="0"/>
              <a:t> Learning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spc="125" dirty="0"/>
              <a:t> </a:t>
            </a:r>
            <a:r>
              <a:rPr dirty="0"/>
              <a:t>Josif</a:t>
            </a:r>
            <a:r>
              <a:rPr spc="50" dirty="0"/>
              <a:t> </a:t>
            </a:r>
            <a:r>
              <a:rPr dirty="0"/>
              <a:t>Grabocka,</a:t>
            </a:r>
            <a:r>
              <a:rPr spc="50" dirty="0"/>
              <a:t> </a:t>
            </a:r>
            <a:r>
              <a:rPr dirty="0"/>
              <a:t>ISMLL,</a:t>
            </a:r>
            <a:r>
              <a:rPr spc="45" dirty="0"/>
              <a:t> </a:t>
            </a:r>
            <a:r>
              <a:rPr dirty="0"/>
              <a:t>University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Hildesheim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Deep</a:t>
            </a:r>
            <a:r>
              <a:rPr spc="-10" dirty="0"/>
              <a:t> Learning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spc="125" dirty="0"/>
              <a:t> </a:t>
            </a:r>
            <a:r>
              <a:rPr dirty="0"/>
              <a:t>Josif</a:t>
            </a:r>
            <a:r>
              <a:rPr spc="50" dirty="0"/>
              <a:t> </a:t>
            </a:r>
            <a:r>
              <a:rPr dirty="0"/>
              <a:t>Grabocka,</a:t>
            </a:r>
            <a:r>
              <a:rPr spc="50" dirty="0"/>
              <a:t> </a:t>
            </a:r>
            <a:r>
              <a:rPr dirty="0"/>
              <a:t>ISMLL,</a:t>
            </a:r>
            <a:r>
              <a:rPr spc="45" dirty="0"/>
              <a:t> </a:t>
            </a:r>
            <a:r>
              <a:rPr dirty="0"/>
              <a:t>University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Hildesheim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Deep</a:t>
            </a:r>
            <a:r>
              <a:rPr spc="-10" dirty="0"/>
              <a:t> Learning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spc="125" dirty="0"/>
              <a:t> </a:t>
            </a:r>
            <a:r>
              <a:rPr dirty="0"/>
              <a:t>Josif</a:t>
            </a:r>
            <a:r>
              <a:rPr spc="50" dirty="0"/>
              <a:t> </a:t>
            </a:r>
            <a:r>
              <a:rPr dirty="0"/>
              <a:t>Grabocka,</a:t>
            </a:r>
            <a:r>
              <a:rPr spc="50" dirty="0"/>
              <a:t> </a:t>
            </a:r>
            <a:r>
              <a:rPr dirty="0"/>
              <a:t>ISMLL,</a:t>
            </a:r>
            <a:r>
              <a:rPr spc="45" dirty="0"/>
              <a:t> </a:t>
            </a:r>
            <a:r>
              <a:rPr dirty="0"/>
              <a:t>University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Hildesheim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Deep</a:t>
            </a:r>
            <a:r>
              <a:rPr spc="-10" dirty="0"/>
              <a:t> Learning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spc="125" dirty="0"/>
              <a:t> </a:t>
            </a:r>
            <a:r>
              <a:rPr dirty="0"/>
              <a:t>Josif</a:t>
            </a:r>
            <a:r>
              <a:rPr spc="50" dirty="0"/>
              <a:t> </a:t>
            </a:r>
            <a:r>
              <a:rPr dirty="0"/>
              <a:t>Grabocka,</a:t>
            </a:r>
            <a:r>
              <a:rPr spc="50" dirty="0"/>
              <a:t> </a:t>
            </a:r>
            <a:r>
              <a:rPr dirty="0"/>
              <a:t>ISMLL,</a:t>
            </a:r>
            <a:r>
              <a:rPr spc="45" dirty="0"/>
              <a:t> </a:t>
            </a:r>
            <a:r>
              <a:rPr dirty="0"/>
              <a:t>University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Hildesheim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Deep</a:t>
            </a:r>
            <a:r>
              <a:rPr spc="-10" dirty="0"/>
              <a:t> Learning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6680" y="315192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67063" y="314796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44865" y="314796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05694" y="314161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42526" y="314796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06877" y="315431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17976" y="314796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94177" y="314161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69640" y="314161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793439" y="314796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69640" y="317971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5090" y="314161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17209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14559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14161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0"/>
            <a:ext cx="4147185" cy="109855"/>
          </a:xfrm>
          <a:custGeom>
            <a:avLst/>
            <a:gdLst/>
            <a:ahLst/>
            <a:cxnLst/>
            <a:rect l="l" t="t" r="r" b="b"/>
            <a:pathLst>
              <a:path w="4147185" h="109855">
                <a:moveTo>
                  <a:pt x="4147172" y="0"/>
                </a:moveTo>
                <a:lnTo>
                  <a:pt x="0" y="0"/>
                </a:lnTo>
                <a:lnTo>
                  <a:pt x="0" y="109651"/>
                </a:lnTo>
                <a:lnTo>
                  <a:pt x="4147172" y="109651"/>
                </a:lnTo>
                <a:lnTo>
                  <a:pt x="414717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900" y="182179"/>
            <a:ext cx="415353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439" y="628355"/>
            <a:ext cx="4303395" cy="2258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1660" y="3242132"/>
            <a:ext cx="1807210" cy="212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F7F7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spc="125" dirty="0"/>
              <a:t> </a:t>
            </a:r>
            <a:r>
              <a:rPr dirty="0"/>
              <a:t>Josif</a:t>
            </a:r>
            <a:r>
              <a:rPr spc="50" dirty="0"/>
              <a:t> </a:t>
            </a:r>
            <a:r>
              <a:rPr dirty="0"/>
              <a:t>Grabocka,</a:t>
            </a:r>
            <a:r>
              <a:rPr spc="50" dirty="0"/>
              <a:t> </a:t>
            </a:r>
            <a:r>
              <a:rPr dirty="0"/>
              <a:t>ISMLL,</a:t>
            </a:r>
            <a:r>
              <a:rPr spc="45" dirty="0"/>
              <a:t> </a:t>
            </a:r>
            <a:r>
              <a:rPr dirty="0"/>
              <a:t>University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Hildesheim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Deep</a:t>
            </a:r>
            <a:r>
              <a:rPr spc="-10" dirty="0"/>
              <a:t> Learning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280" y="3351784"/>
            <a:ext cx="2813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F7F7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://www.analyticsvidhya.com/" TargetMode="External"/><Relationship Id="rId2" Type="http://schemas.openxmlformats.org/officeDocument/2006/relationships/image" Target="../media/image1.png"/><Relationship Id="rId1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g2pi.tsc.uc3m.es" TargetMode="External"/><Relationship Id="rId2" Type="http://schemas.openxmlformats.org/officeDocument/2006/relationships/image" Target="../media/image2.jpeg"/><Relationship Id="rId1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9.xml"/><Relationship Id="rId1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.jpeg"/><Relationship Id="rId1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jpeg"/><Relationship Id="rId1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Regularization</a:t>
            </a:r>
            <a:endParaRPr spc="-35" dirty="0"/>
          </a:p>
        </p:txBody>
      </p:sp>
      <p:sp>
        <p:nvSpPr>
          <p:cNvPr id="5" name="object 5"/>
          <p:cNvSpPr txBox="1"/>
          <p:nvPr/>
        </p:nvSpPr>
        <p:spPr>
          <a:xfrm>
            <a:off x="191439" y="796441"/>
            <a:ext cx="3503929" cy="1876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2250" indent="-146050">
              <a:lnSpc>
                <a:spcPct val="100000"/>
              </a:lnSpc>
              <a:spcBef>
                <a:spcPts val="90"/>
              </a:spcBef>
              <a:buSzPct val="73000"/>
              <a:buFont typeface="Lucida Sans Unicode" panose="020B0602030504020204"/>
              <a:buChar char="►"/>
              <a:tabLst>
                <a:tab pos="22225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Limit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capacity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model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avoid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over-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fitting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Lucida Sans Unicode" panose="020B0602030504020204"/>
              <a:buChar char="►"/>
            </a:pPr>
            <a:endParaRPr sz="1100">
              <a:latin typeface="Tahoma" panose="020B0604030504040204"/>
              <a:cs typeface="Tahoma" panose="020B0604030504040204"/>
            </a:endParaRPr>
          </a:p>
          <a:p>
            <a:pPr marL="222250" indent="-146050">
              <a:lnSpc>
                <a:spcPct val="100000"/>
              </a:lnSpc>
              <a:buSzPct val="73000"/>
              <a:buFont typeface="Lucida Sans Unicode" panose="020B0602030504020204"/>
              <a:buChar char="►"/>
              <a:tabLst>
                <a:tab pos="222250" algn="l"/>
              </a:tabLst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Extend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cost-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function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by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adding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penalization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term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198245">
              <a:lnSpc>
                <a:spcPct val="100000"/>
              </a:lnSpc>
              <a:spcBef>
                <a:spcPts val="1130"/>
              </a:spcBef>
            </a:pPr>
            <a:r>
              <a:rPr sz="1100" i="1" spc="-155" dirty="0">
                <a:latin typeface="Arial" panose="020B0604020202020204"/>
                <a:cs typeface="Arial" panose="020B0604020202020204"/>
              </a:rPr>
              <a:t>J</a:t>
            </a:r>
            <a:r>
              <a:rPr sz="1650" spc="-232" baseline="13000" dirty="0">
                <a:latin typeface="Tahoma" panose="020B0604030504040204"/>
                <a:cs typeface="Tahoma" panose="020B0604030504040204"/>
              </a:rPr>
              <a:t>˜</a:t>
            </a:r>
            <a:r>
              <a:rPr sz="1100" spc="-15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55" dirty="0">
                <a:latin typeface="Calibri" panose="020F0502020204030204"/>
                <a:cs typeface="Calibri" panose="020F0502020204030204"/>
              </a:rPr>
              <a:t>θ</a:t>
            </a:r>
            <a:r>
              <a:rPr sz="1100" spc="-15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40" dirty="0">
                <a:latin typeface="Arial" panose="020B0604020202020204"/>
                <a:cs typeface="Arial" panose="020B0604020202020204"/>
              </a:rPr>
              <a:t>J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40" dirty="0">
                <a:latin typeface="Calibri" panose="020F0502020204030204"/>
                <a:cs typeface="Calibri" panose="020F0502020204030204"/>
              </a:rPr>
              <a:t>θ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0" dirty="0">
                <a:latin typeface="Calibri" panose="020F0502020204030204"/>
                <a:cs typeface="Calibri" panose="020F0502020204030204"/>
              </a:rPr>
              <a:t>α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Ω(</a:t>
            </a:r>
            <a:r>
              <a:rPr sz="1100" i="1" spc="-20" dirty="0">
                <a:latin typeface="Calibri" panose="020F0502020204030204"/>
                <a:cs typeface="Calibri" panose="020F0502020204030204"/>
              </a:rPr>
              <a:t>θ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)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222250" indent="-146050">
              <a:lnSpc>
                <a:spcPct val="100000"/>
              </a:lnSpc>
              <a:spcBef>
                <a:spcPts val="1130"/>
              </a:spcBef>
              <a:buSzPct val="73000"/>
              <a:buFont typeface="Lucida Sans Unicode" panose="020B0602030504020204"/>
              <a:buChar char="►"/>
              <a:tabLst>
                <a:tab pos="222250" algn="l"/>
              </a:tabLst>
            </a:pPr>
            <a:r>
              <a:rPr sz="1100" i="1" spc="65" dirty="0">
                <a:latin typeface="Calibri" panose="020F0502020204030204"/>
                <a:cs typeface="Calibri" panose="020F0502020204030204"/>
              </a:rPr>
              <a:t>α</a:t>
            </a:r>
            <a:r>
              <a:rPr sz="1100" i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155" dirty="0">
                <a:latin typeface="Lucida Sans Unicode" panose="020B0602030504020204"/>
                <a:cs typeface="Lucida Sans Unicode" panose="020B0602030504020204"/>
              </a:rPr>
              <a:t>∈</a:t>
            </a:r>
            <a:r>
              <a:rPr sz="110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[0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∞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also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known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as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regularization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penalty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Lucida Sans Unicode" panose="020B0602030504020204"/>
              <a:buChar char="►"/>
            </a:pPr>
            <a:endParaRPr sz="1100">
              <a:latin typeface="Tahoma" panose="020B0604030504040204"/>
              <a:cs typeface="Tahoma" panose="020B0604030504040204"/>
            </a:endParaRPr>
          </a:p>
          <a:p>
            <a:pPr marL="222250" indent="-146050">
              <a:lnSpc>
                <a:spcPct val="100000"/>
              </a:lnSpc>
              <a:buSzPct val="73000"/>
              <a:buFont typeface="Lucida Sans Unicode" panose="020B0602030504020204"/>
              <a:buChar char="►"/>
              <a:tabLst>
                <a:tab pos="222250" algn="l"/>
              </a:tabLst>
            </a:pPr>
            <a:r>
              <a:rPr sz="1100" spc="-40" dirty="0">
                <a:latin typeface="Tahoma" panose="020B0604030504040204"/>
                <a:cs typeface="Tahoma" panose="020B0604030504040204"/>
              </a:rPr>
              <a:t>Regularize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neuron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weights,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but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not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bias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terms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Lucida Sans Unicode" panose="020B0602030504020204"/>
              <a:buChar char="►"/>
            </a:pPr>
            <a:endParaRPr sz="1100">
              <a:latin typeface="Tahoma" panose="020B0604030504040204"/>
              <a:cs typeface="Tahoma" panose="020B0604030504040204"/>
            </a:endParaRPr>
          </a:p>
          <a:p>
            <a:pPr marL="222250" indent="-146050">
              <a:lnSpc>
                <a:spcPct val="100000"/>
              </a:lnSpc>
              <a:buSzPct val="73000"/>
              <a:buFont typeface="Lucida Sans Unicode" panose="020B0602030504020204"/>
              <a:buChar char="►"/>
              <a:tabLst>
                <a:tab pos="22225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For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simplicity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use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same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65" dirty="0">
                <a:latin typeface="Calibri" panose="020F0502020204030204"/>
                <a:cs typeface="Calibri" panose="020F0502020204030204"/>
              </a:rPr>
              <a:t>α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all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layers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Motivating</a:t>
            </a:r>
            <a:r>
              <a:rPr spc="-100" dirty="0"/>
              <a:t> </a:t>
            </a:r>
            <a:r>
              <a:rPr spc="-35" dirty="0"/>
              <a:t>Regularization</a:t>
            </a:r>
            <a:endParaRPr spc="-3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467" y="487631"/>
            <a:ext cx="2815014" cy="23055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2917233"/>
            <a:ext cx="336296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Figure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1: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Regularizing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polynomial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regression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(order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15),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 Source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1200"/>
              </a:lnSpc>
            </a:pPr>
            <a:r>
              <a:rPr sz="1000" spc="-10" dirty="0">
                <a:latin typeface="Courier New" panose="02070309020205020404"/>
                <a:cs typeface="Courier New" panose="02070309020205020404"/>
                <a:hlinkClick r:id="rId3"/>
              </a:rPr>
              <a:t>www.analyticsvidhya.com</a:t>
            </a:r>
            <a:endParaRPr sz="1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dirty="0">
                <a:latin typeface="Cambria" panose="02040503050406030204"/>
                <a:cs typeface="Cambria" panose="02040503050406030204"/>
              </a:rPr>
              <a:t>L</a:t>
            </a:r>
            <a:r>
              <a:rPr sz="1500" baseline="28000" dirty="0"/>
              <a:t>2</a:t>
            </a:r>
            <a:r>
              <a:rPr sz="1500" spc="232" baseline="28000" dirty="0"/>
              <a:t> </a:t>
            </a:r>
            <a:r>
              <a:rPr sz="1400" spc="-20" dirty="0"/>
              <a:t>Regularization</a:t>
            </a:r>
            <a:endParaRPr sz="14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539" y="656690"/>
            <a:ext cx="2861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46050">
              <a:lnSpc>
                <a:spcPct val="100000"/>
              </a:lnSpc>
              <a:spcBef>
                <a:spcPts val="90"/>
              </a:spcBef>
              <a:buSzPct val="73000"/>
              <a:buFont typeface="Lucida Sans Unicode" panose="020B0602030504020204"/>
              <a:buChar char="►"/>
              <a:tabLst>
                <a:tab pos="18415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L</a:t>
            </a:r>
            <a:r>
              <a:rPr sz="1200" baseline="28000" dirty="0">
                <a:latin typeface="Tahoma" panose="020B0604030504040204"/>
                <a:cs typeface="Tahoma" panose="020B0604030504040204"/>
              </a:rPr>
              <a:t>2</a:t>
            </a:r>
            <a:r>
              <a:rPr sz="1200" spc="165" baseline="280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regularization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penalizes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high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11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values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9194" y="1105446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14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77823" y="988833"/>
            <a:ext cx="20618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65" dirty="0">
                <a:latin typeface="Arial" panose="020B0604020202020204"/>
                <a:cs typeface="Arial" panose="020B0604020202020204"/>
              </a:rPr>
              <a:t>J</a:t>
            </a:r>
            <a:r>
              <a:rPr sz="1650" spc="-247" baseline="13000" dirty="0">
                <a:latin typeface="Tahoma" panose="020B0604030504040204"/>
                <a:cs typeface="Tahoma" panose="020B0604030504040204"/>
              </a:rPr>
              <a:t>˜</a:t>
            </a:r>
            <a:r>
              <a:rPr sz="1100" spc="-16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65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J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40" dirty="0">
                <a:latin typeface="Tahoma" panose="020B0604030504040204"/>
                <a:cs typeface="Tahoma" panose="020B0604030504040204"/>
              </a:rPr>
              <a:t> </a:t>
            </a:r>
            <a:r>
              <a:rPr sz="1650" i="1" spc="97" baseline="38000" dirty="0">
                <a:latin typeface="Calibri" panose="020F0502020204030204"/>
                <a:cs typeface="Calibri" panose="020F0502020204030204"/>
              </a:rPr>
              <a:t>α</a:t>
            </a:r>
            <a:r>
              <a:rPr sz="1100" i="1" spc="65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200" i="1" spc="127" baseline="31000" dirty="0">
                <a:latin typeface="Arial" panose="020B0604020202020204"/>
                <a:cs typeface="Arial" panose="020B0604020202020204"/>
              </a:rPr>
              <a:t>T</a:t>
            </a:r>
            <a:r>
              <a:rPr sz="1200" i="1" spc="-89" baseline="3100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50" dirty="0">
                <a:latin typeface="Arial" panose="020B0604020202020204"/>
                <a:cs typeface="Arial" panose="020B0604020202020204"/>
              </a:rPr>
              <a:t>w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235" y="1002030"/>
            <a:ext cx="2759075" cy="51244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735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2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46050" marR="86360" indent="-146050" algn="r">
              <a:lnSpc>
                <a:spcPct val="100000"/>
              </a:lnSpc>
              <a:spcBef>
                <a:spcPts val="630"/>
              </a:spcBef>
              <a:buSzPct val="73000"/>
              <a:buFont typeface="Lucida Sans Unicode" panose="020B0602030504020204"/>
              <a:buChar char="►"/>
              <a:tabLst>
                <a:tab pos="14605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Gradients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cost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w.r.t.</a:t>
            </a:r>
            <a:r>
              <a:rPr sz="1100" spc="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weights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are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139" y="1643162"/>
            <a:ext cx="4037965" cy="1168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 algn="ctr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Lucida Sans Unicode" panose="020B0602030504020204"/>
                <a:cs typeface="Lucida Sans Unicode" panose="020B0602030504020204"/>
              </a:rPr>
              <a:t>∇</a:t>
            </a:r>
            <a:r>
              <a:rPr sz="1200" i="1" spc="-60" baseline="-10000" dirty="0">
                <a:latin typeface="Arial" panose="020B0604020202020204"/>
                <a:cs typeface="Arial" panose="020B0604020202020204"/>
              </a:rPr>
              <a:t>w</a:t>
            </a:r>
            <a:r>
              <a:rPr sz="1200" i="1" spc="-112" baseline="-1000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65" dirty="0">
                <a:latin typeface="Arial" panose="020B0604020202020204"/>
                <a:cs typeface="Arial" panose="020B0604020202020204"/>
              </a:rPr>
              <a:t>J</a:t>
            </a:r>
            <a:r>
              <a:rPr sz="1650" spc="-247" baseline="13000" dirty="0">
                <a:latin typeface="Tahoma" panose="020B0604030504040204"/>
                <a:cs typeface="Tahoma" panose="020B0604030504040204"/>
              </a:rPr>
              <a:t>˜</a:t>
            </a:r>
            <a:r>
              <a:rPr sz="1100" spc="-16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65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Lucida Sans Unicode" panose="020B0602030504020204"/>
                <a:cs typeface="Lucida Sans Unicode" panose="020B0602030504020204"/>
              </a:rPr>
              <a:t>∇</a:t>
            </a:r>
            <a:r>
              <a:rPr sz="1200" i="1" spc="-60" baseline="-10000" dirty="0">
                <a:latin typeface="Arial" panose="020B0604020202020204"/>
                <a:cs typeface="Arial" panose="020B0604020202020204"/>
              </a:rPr>
              <a:t>w</a:t>
            </a:r>
            <a:r>
              <a:rPr sz="1200" i="1" spc="-104" baseline="-1000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J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5" dirty="0">
                <a:latin typeface="Calibri" panose="020F0502020204030204"/>
                <a:cs typeface="Calibri" panose="020F0502020204030204"/>
              </a:rPr>
              <a:t>α</a:t>
            </a:r>
            <a:r>
              <a:rPr sz="1100" i="1" spc="-25" dirty="0">
                <a:latin typeface="Arial" panose="020B0604020202020204"/>
                <a:cs typeface="Arial" panose="020B0604020202020204"/>
              </a:rPr>
              <a:t>w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209550" indent="-146050">
              <a:lnSpc>
                <a:spcPct val="100000"/>
              </a:lnSpc>
              <a:spcBef>
                <a:spcPts val="1130"/>
              </a:spcBef>
              <a:buSzPct val="73000"/>
              <a:buFont typeface="Lucida Sans Unicode" panose="020B0602030504020204"/>
              <a:buChar char="►"/>
              <a:tabLst>
                <a:tab pos="209550" algn="l"/>
              </a:tabLst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Remember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Lucida Sans Unicode" panose="020B0602030504020204"/>
                <a:cs typeface="Lucida Sans Unicode" panose="020B0602030504020204"/>
              </a:rPr>
              <a:t>∇</a:t>
            </a:r>
            <a:r>
              <a:rPr sz="1200" i="1" spc="-60" baseline="-10000" dirty="0">
                <a:latin typeface="Arial" panose="020B0604020202020204"/>
                <a:cs typeface="Arial" panose="020B0604020202020204"/>
              </a:rPr>
              <a:t>w</a:t>
            </a:r>
            <a:r>
              <a:rPr sz="1200" i="1" spc="-127" baseline="-1000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J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computed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through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back-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propagation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Lucida Sans Unicode" panose="020B0602030504020204"/>
              <a:buChar char="►"/>
            </a:pPr>
            <a:endParaRPr sz="1100">
              <a:latin typeface="Tahoma" panose="020B0604030504040204"/>
              <a:cs typeface="Tahoma" panose="020B0604030504040204"/>
            </a:endParaRPr>
          </a:p>
          <a:p>
            <a:pPr marL="209550" indent="-146050">
              <a:lnSpc>
                <a:spcPct val="100000"/>
              </a:lnSpc>
              <a:buSzPct val="73000"/>
              <a:buFont typeface="Lucida Sans Unicode" panose="020B0602030504020204"/>
              <a:buChar char="►"/>
              <a:tabLst>
                <a:tab pos="209550" algn="l"/>
              </a:tabLst>
            </a:pPr>
            <a:r>
              <a:rPr sz="1100" spc="55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simple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gradient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descent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step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with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learning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rate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ϵ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is: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86055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114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50" dirty="0">
                <a:latin typeface="Lucida Sans Unicode" panose="020B0602030504020204"/>
                <a:cs typeface="Lucida Sans Unicode" panose="020B0602030504020204"/>
              </a:rPr>
              <a:t>←</a:t>
            </a:r>
            <a:r>
              <a:rPr sz="110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5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35" dirty="0">
                <a:latin typeface="Lucida Sans Unicode" panose="020B0602030504020204"/>
                <a:cs typeface="Lucida Sans Unicode" panose="020B0602030504020204"/>
              </a:rPr>
              <a:t>−</a:t>
            </a:r>
            <a:r>
              <a:rPr sz="11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i="1" spc="-40" dirty="0">
                <a:latin typeface="Calibri" panose="020F0502020204030204"/>
                <a:cs typeface="Calibri" panose="020F0502020204030204"/>
              </a:rPr>
              <a:t>ϵ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(</a:t>
            </a:r>
            <a:r>
              <a:rPr sz="1100" spc="-30" dirty="0">
                <a:latin typeface="Lucida Sans Unicode" panose="020B0602030504020204"/>
                <a:cs typeface="Lucida Sans Unicode" panose="020B0602030504020204"/>
              </a:rPr>
              <a:t>∇</a:t>
            </a:r>
            <a:r>
              <a:rPr sz="1200" i="1" spc="-44" baseline="-10000" dirty="0">
                <a:latin typeface="Arial" panose="020B0604020202020204"/>
                <a:cs typeface="Arial" panose="020B0604020202020204"/>
              </a:rPr>
              <a:t>w</a:t>
            </a:r>
            <a:r>
              <a:rPr sz="1200" i="1" spc="-127" baseline="-1000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J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α</a:t>
            </a:r>
            <a:r>
              <a:rPr sz="1100" i="1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)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dirty="0">
                <a:latin typeface="Cambria" panose="02040503050406030204"/>
                <a:cs typeface="Cambria" panose="02040503050406030204"/>
              </a:rPr>
              <a:t>L</a:t>
            </a:r>
            <a:r>
              <a:rPr sz="1500" baseline="28000" dirty="0"/>
              <a:t>1</a:t>
            </a:r>
            <a:r>
              <a:rPr sz="1500" spc="232" baseline="28000" dirty="0"/>
              <a:t> </a:t>
            </a:r>
            <a:r>
              <a:rPr sz="1400" spc="-30" dirty="0"/>
              <a:t>Regularization</a:t>
            </a:r>
            <a:endParaRPr sz="14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239" y="473708"/>
            <a:ext cx="1673860" cy="4654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0" indent="-146050">
              <a:lnSpc>
                <a:spcPct val="100000"/>
              </a:lnSpc>
              <a:spcBef>
                <a:spcPts val="90"/>
              </a:spcBef>
              <a:buSzPct val="73000"/>
              <a:buFont typeface="Lucida Sans Unicode" panose="020B0602030504020204"/>
              <a:buChar char="►"/>
              <a:tabLst>
                <a:tab pos="17145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L</a:t>
            </a:r>
            <a:r>
              <a:rPr sz="1200" baseline="28000" dirty="0">
                <a:latin typeface="Tahoma" panose="020B0604030504040204"/>
                <a:cs typeface="Tahoma" panose="020B0604030504040204"/>
              </a:rPr>
              <a:t>1</a:t>
            </a:r>
            <a:r>
              <a:rPr sz="1200" spc="179" baseline="280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regularization: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040765">
              <a:lnSpc>
                <a:spcPct val="100000"/>
              </a:lnSpc>
              <a:spcBef>
                <a:spcPts val="830"/>
              </a:spcBef>
            </a:pPr>
            <a:r>
              <a:rPr sz="1100" i="1" spc="-165" dirty="0">
                <a:latin typeface="Arial" panose="020B0604020202020204"/>
                <a:cs typeface="Arial" panose="020B0604020202020204"/>
              </a:rPr>
              <a:t>J</a:t>
            </a:r>
            <a:r>
              <a:rPr sz="1650" spc="-247" baseline="13000" dirty="0">
                <a:latin typeface="Tahoma" panose="020B0604030504040204"/>
                <a:cs typeface="Tahoma" panose="020B0604030504040204"/>
              </a:rPr>
              <a:t>˜</a:t>
            </a:r>
            <a:r>
              <a:rPr sz="1100" spc="-16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65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)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8705" y="747088"/>
            <a:ext cx="1493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190" dirty="0">
                <a:latin typeface="Tahoma" panose="020B0604030504040204"/>
                <a:cs typeface="Tahoma" panose="020B0604030504040204"/>
              </a:rPr>
              <a:t> 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J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60" dirty="0">
                <a:latin typeface="Calibri" panose="020F0502020204030204"/>
                <a:cs typeface="Calibri" panose="020F0502020204030204"/>
              </a:rPr>
              <a:t>α</a:t>
            </a:r>
            <a:r>
              <a:rPr sz="1100" spc="-60" dirty="0">
                <a:latin typeface="Lucida Sans Unicode" panose="020B0602030504020204"/>
                <a:cs typeface="Lucida Sans Unicode" panose="020B0602030504020204"/>
              </a:rPr>
              <a:t>||</a:t>
            </a:r>
            <a:r>
              <a:rPr sz="1100" i="1" spc="-60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25" dirty="0">
                <a:latin typeface="Lucida Sans Unicode" panose="020B0602030504020204"/>
                <a:cs typeface="Lucida Sans Unicode" panose="020B0602030504020204"/>
              </a:rPr>
              <a:t>||</a:t>
            </a:r>
            <a:r>
              <a:rPr sz="1200" spc="-37" baseline="-10000" dirty="0">
                <a:latin typeface="Tahoma" panose="020B0604030504040204"/>
                <a:cs typeface="Tahoma" panose="020B0604030504040204"/>
              </a:rPr>
              <a:t>1</a:t>
            </a:r>
            <a:endParaRPr sz="1200" baseline="-10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7006" y="846187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 panose="020B0602030504020204"/>
                <a:cs typeface="Lucida Sans Unicode" panose="020B0602030504020204"/>
              </a:rPr>
              <a:t>Σ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83381" y="1037703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04136" y="977809"/>
            <a:ext cx="1610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58265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185" dirty="0">
                <a:latin typeface="Tahoma" panose="020B0604030504040204"/>
                <a:cs typeface="Tahoma" panose="020B0604030504040204"/>
              </a:rPr>
              <a:t> 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J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15" dirty="0">
                <a:latin typeface="Calibri" panose="020F0502020204030204"/>
                <a:cs typeface="Calibri" panose="020F0502020204030204"/>
              </a:rPr>
              <a:t>α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	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|</a:t>
            </a:r>
            <a:r>
              <a:rPr sz="1100" i="1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4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0" dirty="0">
                <a:latin typeface="Lucida Sans Unicode" panose="020B0602030504020204"/>
                <a:cs typeface="Lucida Sans Unicode" panose="020B0602030504020204"/>
              </a:rPr>
              <a:t>|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239" y="1137064"/>
            <a:ext cx="3045460" cy="42608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470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171450" indent="-146050">
              <a:lnSpc>
                <a:spcPct val="100000"/>
              </a:lnSpc>
              <a:spcBef>
                <a:spcPts val="505"/>
              </a:spcBef>
              <a:buSzPct val="73000"/>
              <a:buFont typeface="Lucida Sans Unicode" panose="020B0602030504020204"/>
              <a:buChar char="►"/>
              <a:tabLst>
                <a:tab pos="17145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Gradients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cost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w.r.t.</a:t>
            </a:r>
            <a:r>
              <a:rPr sz="1100" spc="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weights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are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137" y="1754770"/>
            <a:ext cx="21710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Lucida Sans Unicode" panose="020B0602030504020204"/>
                <a:cs typeface="Lucida Sans Unicode" panose="020B0602030504020204"/>
              </a:rPr>
              <a:t>∇</a:t>
            </a:r>
            <a:r>
              <a:rPr sz="1200" i="1" spc="-60" baseline="-10000" dirty="0">
                <a:latin typeface="Arial" panose="020B0604020202020204"/>
                <a:cs typeface="Arial" panose="020B0604020202020204"/>
              </a:rPr>
              <a:t>w</a:t>
            </a:r>
            <a:r>
              <a:rPr sz="1200" i="1" spc="-112" baseline="-1000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65" dirty="0">
                <a:latin typeface="Arial" panose="020B0604020202020204"/>
                <a:cs typeface="Arial" panose="020B0604020202020204"/>
              </a:rPr>
              <a:t>J</a:t>
            </a:r>
            <a:r>
              <a:rPr sz="1650" spc="-247" baseline="13000" dirty="0">
                <a:latin typeface="Tahoma" panose="020B0604030504040204"/>
                <a:cs typeface="Tahoma" panose="020B0604030504040204"/>
              </a:rPr>
              <a:t>˜</a:t>
            </a:r>
            <a:r>
              <a:rPr sz="1100" spc="-16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65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Lucida Sans Unicode" panose="020B0602030504020204"/>
                <a:cs typeface="Lucida Sans Unicode" panose="020B0602030504020204"/>
              </a:rPr>
              <a:t>∇</a:t>
            </a:r>
            <a:r>
              <a:rPr sz="1200" i="1" spc="-60" baseline="-10000" dirty="0">
                <a:latin typeface="Arial" panose="020B0604020202020204"/>
                <a:cs typeface="Arial" panose="020B0604020202020204"/>
              </a:rPr>
              <a:t>w</a:t>
            </a:r>
            <a:r>
              <a:rPr sz="1200" i="1" spc="-104" baseline="-1000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J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15" dirty="0">
                <a:latin typeface="Calibri" panose="020F0502020204030204"/>
                <a:cs typeface="Calibri" panose="020F0502020204030204"/>
              </a:rPr>
              <a:t>α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0146" y="1517851"/>
            <a:ext cx="247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5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100" spc="470" dirty="0">
                <a:latin typeface="Lucida Sans Unicode" panose="020B0602030504020204"/>
                <a:cs typeface="Lucida Sans Unicode" panose="020B0602030504020204"/>
              </a:rPr>
              <a:t>(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03307" y="1718080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71444" y="1658186"/>
            <a:ext cx="878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7660" algn="l"/>
              </a:tabLst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1</a:t>
            </a:r>
            <a:r>
              <a:rPr sz="1100" dirty="0">
                <a:latin typeface="Tahoma" panose="020B0604030504040204"/>
                <a:cs typeface="Tahoma" panose="020B0604030504040204"/>
              </a:rPr>
              <a:t>	if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48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295" dirty="0">
                <a:latin typeface="Calibri" panose="020F0502020204030204"/>
                <a:cs typeface="Calibri" panose="020F0502020204030204"/>
              </a:rPr>
              <a:t>&gt;</a:t>
            </a:r>
            <a:r>
              <a:rPr sz="1100" i="1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0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46044" y="1864676"/>
            <a:ext cx="9296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53060" algn="l"/>
              </a:tabLst>
            </a:pPr>
            <a:r>
              <a:rPr sz="1100" spc="-25" dirty="0">
                <a:latin typeface="Lucida Sans Unicode" panose="020B0602030504020204"/>
                <a:cs typeface="Lucida Sans Unicode" panose="020B0602030504020204"/>
              </a:rPr>
              <a:t>−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1</a:t>
            </a:r>
            <a:r>
              <a:rPr sz="1100" dirty="0">
                <a:latin typeface="Tahoma" panose="020B0604030504040204"/>
                <a:cs typeface="Tahoma" panose="020B0604030504040204"/>
              </a:rPr>
              <a:t>	if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w</a:t>
            </a:r>
            <a:r>
              <a:rPr sz="1200" i="1" baseline="-14000" dirty="0">
                <a:latin typeface="Arial" panose="020B0604020202020204"/>
                <a:cs typeface="Arial" panose="020B0604020202020204"/>
              </a:rPr>
              <a:t>k</a:t>
            </a:r>
            <a:r>
              <a:rPr sz="1200" i="1" spc="240" baseline="-1400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≤</a:t>
            </a:r>
            <a:r>
              <a:rPr sz="1100" spc="-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0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39717" y="1517851"/>
            <a:ext cx="1352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59" dirty="0">
                <a:latin typeface="Lucida Sans Unicode" panose="020B0602030504020204"/>
                <a:cs typeface="Lucida Sans Unicode" panose="020B0602030504020204"/>
              </a:rPr>
              <a:t>!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939" y="2376994"/>
            <a:ext cx="3401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90"/>
              </a:spcBef>
              <a:buSzPct val="73000"/>
              <a:buFont typeface="Lucida Sans Unicode" panose="020B0602030504020204"/>
              <a:buChar char="►"/>
              <a:tabLst>
                <a:tab pos="158750" algn="l"/>
              </a:tabLst>
            </a:pPr>
            <a:r>
              <a:rPr sz="1100" spc="55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simple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gradient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descent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step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with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learning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rate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ϵ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is: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3484" y="2818458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9399" y="2760343"/>
            <a:ext cx="1941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5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50" dirty="0">
                <a:latin typeface="Lucida Sans Unicode" panose="020B0602030504020204"/>
                <a:cs typeface="Lucida Sans Unicode" panose="020B0602030504020204"/>
              </a:rPr>
              <a:t>←</a:t>
            </a:r>
            <a:r>
              <a:rPr sz="110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4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35" dirty="0">
                <a:latin typeface="Lucida Sans Unicode" panose="020B0602030504020204"/>
                <a:cs typeface="Lucida Sans Unicode" panose="020B0602030504020204"/>
              </a:rPr>
              <a:t>−</a:t>
            </a:r>
            <a:r>
              <a:rPr sz="11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ϵ</a:t>
            </a:r>
            <a:r>
              <a:rPr sz="1650" spc="232" baseline="93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∇</a:t>
            </a:r>
            <a:r>
              <a:rPr sz="1100" spc="3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J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15" dirty="0">
                <a:latin typeface="Calibri" panose="020F0502020204030204"/>
                <a:cs typeface="Calibri" panose="020F0502020204030204"/>
              </a:rPr>
              <a:t>α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92908" y="2523438"/>
            <a:ext cx="247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5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100" spc="470" dirty="0">
                <a:latin typeface="Lucida Sans Unicode" panose="020B0602030504020204"/>
                <a:cs typeface="Lucida Sans Unicode" panose="020B0602030504020204"/>
              </a:rPr>
              <a:t>(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14192" y="2663760"/>
            <a:ext cx="878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7660" algn="l"/>
              </a:tabLst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1</a:t>
            </a:r>
            <a:r>
              <a:rPr sz="1100" dirty="0">
                <a:latin typeface="Tahoma" panose="020B0604030504040204"/>
                <a:cs typeface="Tahoma" panose="020B0604030504040204"/>
              </a:rPr>
              <a:t>	if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48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295" dirty="0">
                <a:latin typeface="Calibri" panose="020F0502020204030204"/>
                <a:cs typeface="Calibri" panose="020F0502020204030204"/>
              </a:rPr>
              <a:t>&gt;</a:t>
            </a:r>
            <a:r>
              <a:rPr sz="1100" i="1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0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88792" y="2705314"/>
            <a:ext cx="942340" cy="35687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50190" algn="ctr">
              <a:lnSpc>
                <a:spcPct val="100000"/>
              </a:lnSpc>
              <a:spcBef>
                <a:spcPts val="240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38100">
              <a:lnSpc>
                <a:spcPct val="100000"/>
              </a:lnSpc>
              <a:spcBef>
                <a:spcPts val="190"/>
              </a:spcBef>
              <a:tabLst>
                <a:tab pos="353060" algn="l"/>
              </a:tabLst>
            </a:pPr>
            <a:r>
              <a:rPr sz="1100" spc="-25" dirty="0">
                <a:latin typeface="Lucida Sans Unicode" panose="020B0602030504020204"/>
                <a:cs typeface="Lucida Sans Unicode" panose="020B0602030504020204"/>
              </a:rPr>
              <a:t>−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1</a:t>
            </a:r>
            <a:r>
              <a:rPr sz="1100" dirty="0">
                <a:latin typeface="Tahoma" panose="020B0604030504040204"/>
                <a:cs typeface="Tahoma" panose="020B0604030504040204"/>
              </a:rPr>
              <a:t>	if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w</a:t>
            </a:r>
            <a:r>
              <a:rPr sz="1200" i="1" baseline="-14000" dirty="0">
                <a:latin typeface="Arial" panose="020B0604020202020204"/>
                <a:cs typeface="Arial" panose="020B0604020202020204"/>
              </a:rPr>
              <a:t>k</a:t>
            </a:r>
            <a:r>
              <a:rPr sz="1200" i="1" spc="240" baseline="-1400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≤</a:t>
            </a:r>
            <a:r>
              <a:rPr sz="1100" spc="-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0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82479" y="2523438"/>
            <a:ext cx="245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84" dirty="0">
                <a:latin typeface="Lucida Sans Unicode" panose="020B0602030504020204"/>
                <a:cs typeface="Lucida Sans Unicode" panose="020B0602030504020204"/>
              </a:rPr>
              <a:t>!!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L1</a:t>
            </a:r>
            <a:r>
              <a:rPr spc="-25" dirty="0"/>
              <a:t> </a:t>
            </a:r>
            <a:r>
              <a:rPr spc="-30" dirty="0"/>
              <a:t>and</a:t>
            </a:r>
            <a:r>
              <a:rPr spc="-20" dirty="0"/>
              <a:t> </a:t>
            </a:r>
            <a:r>
              <a:rPr dirty="0"/>
              <a:t>L2</a:t>
            </a:r>
            <a:r>
              <a:rPr spc="-25" dirty="0"/>
              <a:t> </a:t>
            </a:r>
            <a:r>
              <a:rPr spc="-40" dirty="0"/>
              <a:t>Regularizations</a:t>
            </a:r>
            <a:r>
              <a:rPr spc="-2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30" dirty="0"/>
              <a:t>Illustration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Principle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187" y="636148"/>
            <a:ext cx="3020705" cy="171366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2450990"/>
            <a:ext cx="4345305" cy="473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Figure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2: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Competing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objective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terms.</a:t>
            </a:r>
            <a:r>
              <a:rPr sz="100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i)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blue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line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represents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L</a:t>
            </a:r>
            <a:r>
              <a:rPr lang="en-US" altLang="" sz="1000" spc="-25" dirty="0">
                <a:latin typeface="Tahoma" panose="020B0604030504040204"/>
                <a:cs typeface="Tahoma" panose="020B0604030504040204"/>
              </a:rPr>
              <a:t>2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regularization,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ii)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red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line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represents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L1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regularization,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while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iii)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solid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 lines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represent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0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cost</a:t>
            </a:r>
            <a:r>
              <a:rPr sz="10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function.</a:t>
            </a:r>
            <a:r>
              <a:rPr sz="1000" spc="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Source:</a:t>
            </a:r>
            <a:r>
              <a:rPr sz="1000" spc="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Courier New" panose="02070309020205020404"/>
                <a:cs typeface="Courier New" panose="02070309020205020404"/>
                <a:hlinkClick r:id="rId3"/>
              </a:rPr>
              <a:t>g2pi.tsc.uc3m.es</a:t>
            </a:r>
            <a:endParaRPr sz="1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Constraint</a:t>
            </a:r>
            <a:r>
              <a:rPr spc="-25" dirty="0"/>
              <a:t> </a:t>
            </a:r>
            <a:r>
              <a:rPr spc="-10" dirty="0"/>
              <a:t>Optimization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204139" y="582738"/>
            <a:ext cx="3581400" cy="1929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9550" indent="-146050">
              <a:lnSpc>
                <a:spcPct val="100000"/>
              </a:lnSpc>
              <a:spcBef>
                <a:spcPts val="90"/>
              </a:spcBef>
              <a:buSzPct val="73000"/>
              <a:buFont typeface="Lucida Sans Unicode" panose="020B0602030504020204"/>
              <a:buChar char="►"/>
              <a:tabLst>
                <a:tab pos="20955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standard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regularized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objective: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895350" algn="ctr">
              <a:lnSpc>
                <a:spcPct val="100000"/>
              </a:lnSpc>
              <a:spcBef>
                <a:spcPts val="1130"/>
              </a:spcBef>
            </a:pPr>
            <a:r>
              <a:rPr sz="1100" i="1" spc="-155" dirty="0">
                <a:latin typeface="Arial" panose="020B0604020202020204"/>
                <a:cs typeface="Arial" panose="020B0604020202020204"/>
              </a:rPr>
              <a:t>J</a:t>
            </a:r>
            <a:r>
              <a:rPr sz="1650" spc="-232" baseline="13000" dirty="0">
                <a:latin typeface="Tahoma" panose="020B0604030504040204"/>
                <a:cs typeface="Tahoma" panose="020B0604030504040204"/>
              </a:rPr>
              <a:t>˜</a:t>
            </a:r>
            <a:r>
              <a:rPr sz="1100" spc="-15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55" dirty="0">
                <a:latin typeface="Calibri" panose="020F0502020204030204"/>
                <a:cs typeface="Calibri" panose="020F0502020204030204"/>
              </a:rPr>
              <a:t>θ</a:t>
            </a:r>
            <a:r>
              <a:rPr sz="1100" spc="-15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180" dirty="0">
                <a:latin typeface="Tahoma" panose="020B0604030504040204"/>
                <a:cs typeface="Tahoma" panose="020B0604030504040204"/>
              </a:rPr>
              <a:t> 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185" dirty="0">
                <a:latin typeface="Tahoma" panose="020B0604030504040204"/>
                <a:cs typeface="Tahoma" panose="020B0604030504040204"/>
              </a:rPr>
              <a:t>  </a:t>
            </a:r>
            <a:r>
              <a:rPr sz="1100" i="1" spc="-40" dirty="0">
                <a:latin typeface="Arial" panose="020B0604020202020204"/>
                <a:cs typeface="Arial" panose="020B0604020202020204"/>
              </a:rPr>
              <a:t>J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40" dirty="0">
                <a:latin typeface="Calibri" panose="020F0502020204030204"/>
                <a:cs typeface="Calibri" panose="020F0502020204030204"/>
              </a:rPr>
              <a:t>θ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0" dirty="0">
                <a:latin typeface="Calibri" panose="020F0502020204030204"/>
                <a:cs typeface="Calibri" panose="020F0502020204030204"/>
              </a:rPr>
              <a:t>α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Ω(</a:t>
            </a:r>
            <a:r>
              <a:rPr sz="1100" i="1" spc="-20" dirty="0">
                <a:latin typeface="Calibri" panose="020F0502020204030204"/>
                <a:cs typeface="Calibri" panose="020F0502020204030204"/>
              </a:rPr>
              <a:t>θ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)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</a:pP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410"/>
              </a:spcBef>
            </a:pPr>
            <a:endParaRPr sz="1100">
              <a:latin typeface="Tahoma" panose="020B0604030504040204"/>
              <a:cs typeface="Tahoma" panose="020B0604030504040204"/>
            </a:endParaRPr>
          </a:p>
          <a:p>
            <a:pPr marL="208915" indent="-146050">
              <a:lnSpc>
                <a:spcPct val="100000"/>
              </a:lnSpc>
              <a:spcBef>
                <a:spcPts val="5"/>
              </a:spcBef>
              <a:buSzPct val="73000"/>
              <a:buFont typeface="Lucida Sans Unicode" panose="020B0602030504020204"/>
              <a:buChar char="►"/>
              <a:tabLst>
                <a:tab pos="208915" algn="l"/>
              </a:tabLst>
            </a:pPr>
            <a:r>
              <a:rPr sz="1100" spc="55" dirty="0">
                <a:latin typeface="Tahoma" panose="020B0604030504040204"/>
                <a:cs typeface="Tahoma" panose="020B0604030504040204"/>
              </a:rPr>
              <a:t>A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constrained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problem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forces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Ω(</a:t>
            </a:r>
            <a:r>
              <a:rPr sz="1100" i="1" spc="-30" dirty="0">
                <a:latin typeface="Arial" panose="020B0604020202020204"/>
                <a:cs typeface="Arial" panose="020B0604020202020204"/>
              </a:rPr>
              <a:t>w</a:t>
            </a:r>
            <a:r>
              <a:rPr sz="11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295" dirty="0">
                <a:latin typeface="Calibri" panose="020F0502020204030204"/>
                <a:cs typeface="Calibri" panose="020F0502020204030204"/>
              </a:rPr>
              <a:t>&lt;</a:t>
            </a:r>
            <a:r>
              <a:rPr sz="1100" i="1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k</a:t>
            </a:r>
            <a:r>
              <a:rPr sz="1100" i="1" spc="13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as: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895350" algn="ctr">
              <a:lnSpc>
                <a:spcPct val="100000"/>
              </a:lnSpc>
              <a:spcBef>
                <a:spcPts val="1130"/>
              </a:spcBef>
            </a:pPr>
            <a:r>
              <a:rPr sz="1100" i="1" spc="-130" dirty="0">
                <a:latin typeface="Arial" panose="020B0604020202020204"/>
                <a:cs typeface="Arial" panose="020B0604020202020204"/>
              </a:rPr>
              <a:t>J</a:t>
            </a:r>
            <a:r>
              <a:rPr sz="1650" spc="-195" baseline="13000" dirty="0">
                <a:latin typeface="Tahoma" panose="020B0604030504040204"/>
                <a:cs typeface="Tahoma" panose="020B0604030504040204"/>
              </a:rPr>
              <a:t>˜</a:t>
            </a:r>
            <a:r>
              <a:rPr sz="1100" spc="-13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30" dirty="0">
                <a:latin typeface="Calibri" panose="020F0502020204030204"/>
                <a:cs typeface="Calibri" panose="020F0502020204030204"/>
              </a:rPr>
              <a:t>θ,</a:t>
            </a:r>
            <a:r>
              <a:rPr sz="1100" i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10" dirty="0">
                <a:latin typeface="Calibri" panose="020F0502020204030204"/>
                <a:cs typeface="Calibri" panose="020F0502020204030204"/>
              </a:rPr>
              <a:t>α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185" dirty="0">
                <a:latin typeface="Tahoma" panose="020B0604030504040204"/>
                <a:cs typeface="Tahoma" panose="020B0604030504040204"/>
              </a:rPr>
              <a:t> 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185" dirty="0">
                <a:latin typeface="Tahoma" panose="020B0604030504040204"/>
                <a:cs typeface="Tahoma" panose="020B0604030504040204"/>
              </a:rPr>
              <a:t>  </a:t>
            </a:r>
            <a:r>
              <a:rPr sz="1100" i="1" spc="-40" dirty="0">
                <a:latin typeface="Arial" panose="020B0604020202020204"/>
                <a:cs typeface="Arial" panose="020B0604020202020204"/>
              </a:rPr>
              <a:t>J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40" dirty="0">
                <a:latin typeface="Calibri" panose="020F0502020204030204"/>
                <a:cs typeface="Calibri" panose="020F0502020204030204"/>
              </a:rPr>
              <a:t>θ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65" dirty="0">
                <a:latin typeface="Calibri" panose="020F0502020204030204"/>
                <a:cs typeface="Calibri" panose="020F0502020204030204"/>
              </a:rPr>
              <a:t>α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(Ω(</a:t>
            </a:r>
            <a:r>
              <a:rPr sz="1100" i="1" spc="-25" dirty="0">
                <a:latin typeface="Calibri" panose="020F0502020204030204"/>
                <a:cs typeface="Calibri" panose="020F0502020204030204"/>
              </a:rPr>
              <a:t>θ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Lucida Sans Unicode" panose="020B0602030504020204"/>
                <a:cs typeface="Lucida Sans Unicode" panose="020B0602030504020204"/>
              </a:rPr>
              <a:t>−</a:t>
            </a:r>
            <a:r>
              <a:rPr sz="1100" spc="-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i="1" spc="-25" dirty="0">
                <a:latin typeface="Arial" panose="020B0604020202020204"/>
                <a:cs typeface="Arial" panose="020B0604020202020204"/>
              </a:rPr>
              <a:t>k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)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</a:pP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410"/>
              </a:spcBef>
            </a:pPr>
            <a:endParaRPr sz="1100">
              <a:latin typeface="Tahoma" panose="020B0604030504040204"/>
              <a:cs typeface="Tahoma" panose="020B0604030504040204"/>
            </a:endParaRPr>
          </a:p>
          <a:p>
            <a:pPr marL="208915" indent="-146050">
              <a:lnSpc>
                <a:spcPct val="100000"/>
              </a:lnSpc>
              <a:buSzPct val="73000"/>
              <a:buFont typeface="Lucida Sans Unicode" panose="020B0602030504020204"/>
              <a:buChar char="►"/>
              <a:tabLst>
                <a:tab pos="208915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solution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by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deriving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new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objective: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6233" y="2573869"/>
            <a:ext cx="1993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37" baseline="-23000" dirty="0">
                <a:latin typeface="Calibri" panose="020F0502020204030204"/>
                <a:cs typeface="Calibri" panose="020F0502020204030204"/>
              </a:rPr>
              <a:t>θ</a:t>
            </a:r>
            <a:r>
              <a:rPr sz="800" spc="-25" dirty="0">
                <a:latin typeface="Cambria" panose="02040503050406030204"/>
                <a:cs typeface="Cambria" panose="02040503050406030204"/>
              </a:rPr>
              <a:t>∗</a:t>
            </a:r>
            <a:endParaRPr sz="8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1894" y="2788728"/>
            <a:ext cx="755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Sitka Text"/>
                <a:cs typeface="Sitka Text"/>
              </a:rPr>
              <a:t>θ</a:t>
            </a:r>
            <a:endParaRPr sz="800">
              <a:latin typeface="Sitka Text"/>
              <a:cs typeface="Sitka Tex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8604" y="2759162"/>
            <a:ext cx="3308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0" dirty="0">
                <a:latin typeface="Sitka Text"/>
                <a:cs typeface="Sitka Text"/>
              </a:rPr>
              <a:t>α,α</a:t>
            </a:r>
            <a:r>
              <a:rPr sz="800" spc="50" dirty="0">
                <a:latin typeface="Cambria" panose="02040503050406030204"/>
                <a:cs typeface="Cambria" panose="02040503050406030204"/>
              </a:rPr>
              <a:t>≥</a:t>
            </a:r>
            <a:r>
              <a:rPr sz="800" spc="50" dirty="0">
                <a:latin typeface="Tahoma" panose="020B0604030504040204"/>
                <a:cs typeface="Tahoma" panose="020B0604030504040204"/>
              </a:rPr>
              <a:t>0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7144" y="2631070"/>
            <a:ext cx="25666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140" dirty="0">
                <a:latin typeface="Tahoma" panose="020B0604030504040204"/>
                <a:cs typeface="Tahoma" panose="020B0604030504040204"/>
              </a:rPr>
              <a:t> 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argmin</a:t>
            </a:r>
            <a:r>
              <a:rPr sz="1100" spc="8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max</a:t>
            </a:r>
            <a:r>
              <a:rPr sz="1100" spc="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[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J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θ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;</a:t>
            </a:r>
            <a:r>
              <a:rPr sz="11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7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7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65" dirty="0">
                <a:latin typeface="Calibri" panose="020F0502020204030204"/>
                <a:cs typeface="Calibri" panose="020F0502020204030204"/>
              </a:rPr>
              <a:t>α</a:t>
            </a:r>
            <a:r>
              <a:rPr sz="1100" i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(Ω(</a:t>
            </a:r>
            <a:r>
              <a:rPr sz="1100" i="1" spc="-25" dirty="0">
                <a:latin typeface="Calibri" panose="020F0502020204030204"/>
                <a:cs typeface="Calibri" panose="020F0502020204030204"/>
              </a:rPr>
              <a:t>θ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Lucida Sans Unicode" panose="020B0602030504020204"/>
                <a:cs typeface="Lucida Sans Unicode" panose="020B0602030504020204"/>
              </a:rPr>
              <a:t>−</a:t>
            </a:r>
            <a:r>
              <a:rPr sz="11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i="1" spc="-25" dirty="0">
                <a:latin typeface="Arial" panose="020B0604020202020204"/>
                <a:cs typeface="Arial" panose="020B0604020202020204"/>
              </a:rPr>
              <a:t>k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)]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29705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Dataset</a:t>
            </a:r>
            <a:r>
              <a:rPr spc="-45" dirty="0"/>
              <a:t> </a:t>
            </a:r>
            <a:r>
              <a:rPr spc="-30" dirty="0"/>
              <a:t>Augmentation</a:t>
            </a:r>
            <a:r>
              <a:rPr spc="-45" dirty="0"/>
              <a:t> </a:t>
            </a:r>
            <a:r>
              <a:rPr spc="-25" dirty="0"/>
              <a:t>(Noise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spc="-20" dirty="0"/>
              <a:t>Input)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242239" y="373707"/>
            <a:ext cx="3966210" cy="9232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71450" indent="-146050">
              <a:lnSpc>
                <a:spcPct val="100000"/>
              </a:lnSpc>
              <a:spcBef>
                <a:spcPts val="700"/>
              </a:spcBef>
              <a:buSzPct val="73000"/>
              <a:buFont typeface="Lucida Sans Unicode" panose="020B0602030504020204"/>
              <a:buChar char="►"/>
              <a:tabLst>
                <a:tab pos="17145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Train</a:t>
            </a:r>
            <a:r>
              <a:rPr sz="11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network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with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more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data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improve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generalization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71450" indent="-146050">
              <a:lnSpc>
                <a:spcPct val="100000"/>
              </a:lnSpc>
              <a:spcBef>
                <a:spcPts val="605"/>
              </a:spcBef>
              <a:buSzPct val="73000"/>
              <a:buFont typeface="Lucida Sans Unicode" panose="020B0602030504020204"/>
              <a:buChar char="►"/>
              <a:tabLst>
                <a:tab pos="171450" algn="l"/>
              </a:tabLst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Create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”fake”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data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by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perturbing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existing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training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set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instances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71450" indent="-146050">
              <a:lnSpc>
                <a:spcPct val="100000"/>
              </a:lnSpc>
              <a:spcBef>
                <a:spcPts val="440"/>
              </a:spcBef>
              <a:buSzPct val="73000"/>
              <a:buFont typeface="Lucida Sans Unicode" panose="020B0602030504020204"/>
              <a:buChar char="►"/>
              <a:tabLst>
                <a:tab pos="171450" algn="l"/>
              </a:tabLst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Effective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object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recognition: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13055">
              <a:lnSpc>
                <a:spcPct val="100000"/>
              </a:lnSpc>
              <a:spcBef>
                <a:spcPts val="260"/>
              </a:spcBef>
            </a:pPr>
            <a:r>
              <a:rPr sz="900" spc="494" baseline="14000" dirty="0">
                <a:latin typeface="Arial MT"/>
                <a:cs typeface="Arial MT"/>
              </a:rPr>
              <a:t>)</a:t>
            </a:r>
            <a:r>
              <a:rPr sz="900" spc="480" baseline="140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Translation,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rotation,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scaling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of</a:t>
            </a:r>
            <a:r>
              <a:rPr sz="10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images;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 or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deformation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 strategies: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0394" y="1321059"/>
            <a:ext cx="3021168" cy="15371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0034" y="2959346"/>
            <a:ext cx="340169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Figure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3: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An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illustrative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strategy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for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digit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images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augmentation,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Source:</a:t>
            </a:r>
            <a:r>
              <a:rPr sz="1000" spc="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compute.dtu.dk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27882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Noise</a:t>
            </a:r>
            <a:r>
              <a:rPr spc="-45" dirty="0"/>
              <a:t> </a:t>
            </a:r>
            <a:r>
              <a:rPr spc="-50" dirty="0"/>
              <a:t>Robustness</a:t>
            </a:r>
            <a:r>
              <a:rPr spc="-40" dirty="0"/>
              <a:t> </a:t>
            </a:r>
            <a:r>
              <a:rPr spc="-25" dirty="0"/>
              <a:t>(Noise</a:t>
            </a:r>
            <a:r>
              <a:rPr spc="-4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spc="-10" dirty="0"/>
              <a:t>Weights)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216839" y="489025"/>
            <a:ext cx="4204335" cy="15449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96215" marR="352425" indent="-146050">
              <a:lnSpc>
                <a:spcPct val="103000"/>
              </a:lnSpc>
              <a:spcBef>
                <a:spcPts val="55"/>
              </a:spcBef>
              <a:buSzPct val="73000"/>
              <a:buFont typeface="Lucida Sans Unicode" panose="020B0602030504020204"/>
              <a:buChar char="►"/>
              <a:tabLst>
                <a:tab pos="198755" algn="l"/>
              </a:tabLst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Noise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weights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reduces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over-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fitting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used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primarily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with 	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recurrent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neural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networks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Lucida Sans Unicode" panose="020B0602030504020204"/>
              <a:buChar char="►"/>
            </a:pPr>
            <a:endParaRPr sz="1100">
              <a:latin typeface="Tahoma" panose="020B0604030504040204"/>
              <a:cs typeface="Tahoma" panose="020B0604030504040204"/>
            </a:endParaRPr>
          </a:p>
          <a:p>
            <a:pPr marL="196850" indent="-146050">
              <a:lnSpc>
                <a:spcPct val="100000"/>
              </a:lnSpc>
              <a:buSzPct val="73000"/>
              <a:buFont typeface="Lucida Sans Unicode" panose="020B0602030504020204"/>
              <a:buChar char="►"/>
              <a:tabLst>
                <a:tab pos="196850" algn="l"/>
              </a:tabLst>
            </a:pPr>
            <a:r>
              <a:rPr sz="1100" spc="-35" dirty="0">
                <a:latin typeface="Tahoma" panose="020B0604030504040204"/>
                <a:cs typeface="Tahoma" panose="020B0604030504040204"/>
              </a:rPr>
              <a:t>Consider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regression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problem: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247015" algn="ctr">
              <a:lnSpc>
                <a:spcPct val="100000"/>
              </a:lnSpc>
              <a:spcBef>
                <a:spcPts val="1250"/>
              </a:spcBef>
              <a:tabLst>
                <a:tab pos="450215" algn="l"/>
              </a:tabLst>
            </a:pPr>
            <a:r>
              <a:rPr sz="1100" i="1" spc="-50" dirty="0">
                <a:latin typeface="Arial" panose="020B0604020202020204"/>
                <a:cs typeface="Arial" panose="020B0604020202020204"/>
              </a:rPr>
              <a:t>J</a:t>
            </a:r>
            <a:r>
              <a:rPr sz="1100" i="1" dirty="0">
                <a:latin typeface="Arial" panose="020B0604020202020204"/>
                <a:cs typeface="Arial" panose="020B0604020202020204"/>
              </a:rPr>
              <a:t>	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200" dirty="0">
                <a:latin typeface="Tahoma" panose="020B0604030504040204"/>
                <a:cs typeface="Tahoma" panose="020B0604030504040204"/>
              </a:rPr>
              <a:t>  </a:t>
            </a:r>
            <a:r>
              <a:rPr sz="1100" dirty="0">
                <a:latin typeface="Arial MT"/>
                <a:cs typeface="Arial MT"/>
              </a:rPr>
              <a:t>E</a:t>
            </a:r>
            <a:r>
              <a:rPr sz="1200" i="1" baseline="-14000" dirty="0">
                <a:latin typeface="Arial" panose="020B0604020202020204"/>
                <a:cs typeface="Arial" panose="020B0604020202020204"/>
              </a:rPr>
              <a:t>p</a:t>
            </a:r>
            <a:r>
              <a:rPr sz="1200" baseline="-14000" dirty="0">
                <a:latin typeface="Tahoma" panose="020B0604030504040204"/>
                <a:cs typeface="Tahoma" panose="020B0604030504040204"/>
              </a:rPr>
              <a:t>(</a:t>
            </a:r>
            <a:r>
              <a:rPr sz="1200" i="1" baseline="-14000" dirty="0">
                <a:latin typeface="Arial" panose="020B0604020202020204"/>
                <a:cs typeface="Arial" panose="020B0604020202020204"/>
              </a:rPr>
              <a:t>x</a:t>
            </a:r>
            <a:r>
              <a:rPr sz="1200" i="1" baseline="-14000" dirty="0">
                <a:latin typeface="Sitka Text"/>
                <a:cs typeface="Sitka Text"/>
              </a:rPr>
              <a:t>,</a:t>
            </a:r>
            <a:r>
              <a:rPr sz="1200" i="1" baseline="-14000" dirty="0">
                <a:latin typeface="Arial" panose="020B0604020202020204"/>
                <a:cs typeface="Arial" panose="020B0604020202020204"/>
              </a:rPr>
              <a:t>y</a:t>
            </a:r>
            <a:r>
              <a:rPr sz="1200" i="1" spc="-179" baseline="-14000" dirty="0">
                <a:latin typeface="Arial" panose="020B0604020202020204"/>
                <a:cs typeface="Arial" panose="020B0604020202020204"/>
              </a:rPr>
              <a:t> </a:t>
            </a:r>
            <a:r>
              <a:rPr sz="1200" baseline="-14000" dirty="0">
                <a:latin typeface="Tahoma" panose="020B0604030504040204"/>
                <a:cs typeface="Tahoma" panose="020B0604030504040204"/>
              </a:rPr>
              <a:t>) </a:t>
            </a:r>
            <a:r>
              <a:rPr sz="1650" spc="-209" baseline="61000" dirty="0">
                <a:latin typeface="Lucida Sans Unicode" panose="020B0602030504020204"/>
                <a:cs typeface="Lucida Sans Unicode" panose="020B0602030504020204"/>
              </a:rPr>
              <a:t>h</a:t>
            </a:r>
            <a:r>
              <a:rPr sz="1100" spc="-14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140" dirty="0">
                <a:latin typeface="Arial" panose="020B0604020202020204"/>
                <a:cs typeface="Arial" panose="020B0604020202020204"/>
              </a:rPr>
              <a:t>y</a:t>
            </a:r>
            <a:r>
              <a:rPr sz="1100" spc="-140" dirty="0">
                <a:latin typeface="Tahoma" panose="020B0604030504040204"/>
                <a:cs typeface="Tahoma" panose="020B0604030504040204"/>
              </a:rPr>
              <a:t>ˆ(</a:t>
            </a:r>
            <a:r>
              <a:rPr sz="1100" i="1" spc="-140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Lucida Sans Unicode" panose="020B0602030504020204"/>
                <a:cs typeface="Lucida Sans Unicode" panose="020B0602030504020204"/>
              </a:rPr>
              <a:t>−</a:t>
            </a:r>
            <a:r>
              <a:rPr sz="1100" spc="-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50" dirty="0">
                <a:latin typeface="Tahoma" panose="020B0604030504040204"/>
                <a:cs typeface="Tahoma" panose="020B0604030504040204"/>
              </a:rPr>
              <a:t>)</a:t>
            </a:r>
            <a:r>
              <a:rPr sz="1200" spc="75" baseline="35000" dirty="0">
                <a:latin typeface="Tahoma" panose="020B0604030504040204"/>
                <a:cs typeface="Tahoma" panose="020B0604030504040204"/>
              </a:rPr>
              <a:t>2</a:t>
            </a:r>
            <a:r>
              <a:rPr sz="1650" spc="75" baseline="61000" dirty="0">
                <a:latin typeface="Lucida Sans Unicode" panose="020B0602030504020204"/>
                <a:cs typeface="Lucida Sans Unicode" panose="020B0602030504020204"/>
              </a:rPr>
              <a:t>i</a:t>
            </a:r>
            <a:endParaRPr sz="1650" baseline="61000">
              <a:latin typeface="Lucida Sans Unicode" panose="020B0602030504020204"/>
              <a:cs typeface="Lucida Sans Unicode" panose="020B0602030504020204"/>
            </a:endParaRPr>
          </a:p>
          <a:p>
            <a:pPr marL="196215" marR="43180" indent="-146050">
              <a:lnSpc>
                <a:spcPct val="103000"/>
              </a:lnSpc>
              <a:spcBef>
                <a:spcPts val="1275"/>
              </a:spcBef>
              <a:buSzPct val="73000"/>
              <a:buFont typeface="Lucida Sans Unicode" panose="020B0602030504020204"/>
              <a:buChar char="►"/>
              <a:tabLst>
                <a:tab pos="198755" algn="l"/>
              </a:tabLst>
            </a:pPr>
            <a:r>
              <a:rPr sz="1100" spc="-20" dirty="0">
                <a:latin typeface="Tahoma" panose="020B0604030504040204"/>
                <a:cs typeface="Tahoma" panose="020B0604030504040204"/>
              </a:rPr>
              <a:t>Adding</a:t>
            </a:r>
            <a:r>
              <a:rPr sz="11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perturbation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ϵ</a:t>
            </a:r>
            <a:r>
              <a:rPr sz="1200" i="1" baseline="-10000" dirty="0">
                <a:latin typeface="Arial" panose="020B0604020202020204"/>
                <a:cs typeface="Arial" panose="020B0604020202020204"/>
              </a:rPr>
              <a:t>w</a:t>
            </a:r>
            <a:r>
              <a:rPr sz="1200" i="1" spc="254" baseline="-1000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∼</a:t>
            </a:r>
            <a:r>
              <a:rPr sz="1100" spc="-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spc="80" dirty="0">
                <a:latin typeface="Lucida Sans Unicode" panose="020B0602030504020204"/>
                <a:cs typeface="Lucida Sans Unicode" panose="020B0602030504020204"/>
              </a:rPr>
              <a:t>N</a:t>
            </a:r>
            <a:r>
              <a:rPr sz="1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(0</a:t>
            </a:r>
            <a:r>
              <a:rPr sz="1100" i="1" spc="-20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η</a:t>
            </a:r>
            <a:r>
              <a:rPr sz="1100" i="1" dirty="0">
                <a:latin typeface="Arial" panose="020B0604020202020204"/>
                <a:cs typeface="Arial" panose="020B0604020202020204"/>
              </a:rPr>
              <a:t>I</a:t>
            </a:r>
            <a:r>
              <a:rPr sz="1100" i="1" spc="-16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network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weights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yield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a 	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perturbed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prediction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195" dirty="0">
                <a:latin typeface="Arial" panose="020B0604020202020204"/>
                <a:cs typeface="Arial" panose="020B0604020202020204"/>
              </a:rPr>
              <a:t>y</a:t>
            </a:r>
            <a:r>
              <a:rPr sz="1100" spc="-195" dirty="0">
                <a:latin typeface="Tahoma" panose="020B0604030504040204"/>
                <a:cs typeface="Tahoma" panose="020B0604030504040204"/>
              </a:rPr>
              <a:t>ˆ</a:t>
            </a:r>
            <a:r>
              <a:rPr sz="1200" i="1" spc="-292" baseline="-10000" dirty="0">
                <a:latin typeface="Arial" panose="020B0604020202020204"/>
                <a:cs typeface="Arial" panose="020B0604020202020204"/>
              </a:rPr>
              <a:t>e</a:t>
            </a:r>
            <a:r>
              <a:rPr sz="900" i="1" spc="-292" baseline="-23000" dirty="0">
                <a:latin typeface="Arial" panose="020B0604020202020204"/>
                <a:cs typeface="Arial" panose="020B0604020202020204"/>
              </a:rPr>
              <a:t>w</a:t>
            </a:r>
            <a:r>
              <a:rPr sz="900" i="1" spc="-7" baseline="-2300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3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),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such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that: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7890" y="2279680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 panose="020B0604020202020204"/>
                <a:cs typeface="Arial" panose="020B0604020202020204"/>
              </a:rPr>
              <a:t>w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3786" y="2241726"/>
            <a:ext cx="4616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 panose="020B0604020202020204"/>
                <a:cs typeface="Arial" panose="020B0604020202020204"/>
              </a:rPr>
              <a:t>p</a:t>
            </a:r>
            <a:r>
              <a:rPr sz="80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dirty="0">
                <a:latin typeface="Arial" panose="020B0604020202020204"/>
                <a:cs typeface="Arial" panose="020B0604020202020204"/>
              </a:rPr>
              <a:t>x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i="1" dirty="0">
                <a:latin typeface="Arial" panose="020B0604020202020204"/>
                <a:cs typeface="Arial" panose="020B0604020202020204"/>
              </a:rPr>
              <a:t>y</a:t>
            </a:r>
            <a:r>
              <a:rPr sz="800" i="1" dirty="0">
                <a:latin typeface="Sitka Text"/>
                <a:cs typeface="Sitka Text"/>
              </a:rPr>
              <a:t>,є</a:t>
            </a:r>
            <a:r>
              <a:rPr sz="800" i="1" spc="434" dirty="0">
                <a:latin typeface="Sitka Text"/>
                <a:cs typeface="Sitka Text"/>
              </a:rPr>
              <a:t> </a:t>
            </a:r>
            <a:r>
              <a:rPr sz="800" spc="-50" dirty="0">
                <a:latin typeface="Tahoma" panose="020B0604030504040204"/>
                <a:cs typeface="Tahoma" panose="020B0604030504040204"/>
              </a:rPr>
              <a:t>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2032" y="2234309"/>
            <a:ext cx="692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Sitka Text"/>
                <a:cs typeface="Sitka Text"/>
              </a:rPr>
              <a:t>є</a:t>
            </a:r>
            <a:endParaRPr sz="800">
              <a:latin typeface="Sitka Text"/>
              <a:cs typeface="Sitka Tex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85504" y="2272263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 panose="020B0604020202020204"/>
                <a:cs typeface="Arial" panose="020B0604020202020204"/>
              </a:rPr>
              <a:t>w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24265" y="2176207"/>
            <a:ext cx="749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0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90" dirty="0">
                <a:latin typeface="Arial" panose="020B0604020202020204"/>
                <a:cs typeface="Arial" panose="020B0604020202020204"/>
              </a:rPr>
              <a:t>y</a:t>
            </a:r>
            <a:r>
              <a:rPr sz="1100" spc="-90" dirty="0">
                <a:latin typeface="Tahoma" panose="020B0604030504040204"/>
                <a:cs typeface="Tahoma" panose="020B0604030504040204"/>
              </a:rPr>
              <a:t>ˆ</a:t>
            </a:r>
            <a:r>
              <a:rPr sz="1100" spc="229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3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Lucida Sans Unicode" panose="020B0602030504020204"/>
                <a:cs typeface="Lucida Sans Unicode" panose="020B0602030504020204"/>
              </a:rPr>
              <a:t>−</a:t>
            </a:r>
            <a:r>
              <a:rPr sz="11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i="1" spc="-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)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48000" y="214968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 panose="020B0604030504040204"/>
                <a:cs typeface="Tahoma" panose="020B0604030504040204"/>
              </a:rPr>
              <a:t>2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8847" y="2022410"/>
            <a:ext cx="940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61060" algn="l"/>
              </a:tabLst>
            </a:pPr>
            <a:r>
              <a:rPr sz="1100" spc="-50" dirty="0">
                <a:latin typeface="Lucida Sans Unicode" panose="020B0602030504020204"/>
                <a:cs typeface="Lucida Sans Unicode" panose="020B0602030504020204"/>
              </a:rPr>
              <a:t>h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100" spc="150" dirty="0">
                <a:latin typeface="Lucida Sans Unicode" panose="020B0602030504020204"/>
                <a:cs typeface="Lucida Sans Unicode" panose="020B0602030504020204"/>
              </a:rPr>
              <a:t>i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3967" y="2078175"/>
            <a:ext cx="555625" cy="55435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  <a:tabLst>
                <a:tab pos="215265" algn="l"/>
              </a:tabLst>
            </a:pPr>
            <a:r>
              <a:rPr sz="1100" i="1" spc="-50" dirty="0">
                <a:latin typeface="Arial" panose="020B0604020202020204"/>
                <a:cs typeface="Arial" panose="020B0604020202020204"/>
              </a:rPr>
              <a:t>J</a:t>
            </a:r>
            <a:r>
              <a:rPr sz="1100" i="1" dirty="0">
                <a:latin typeface="Arial" panose="020B0604020202020204"/>
                <a:cs typeface="Arial" panose="020B0604020202020204"/>
              </a:rPr>
              <a:t>	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175" dirty="0">
                <a:latin typeface="Tahoma" panose="020B0604030504040204"/>
                <a:cs typeface="Tahoma" panose="020B0604030504040204"/>
              </a:rPr>
              <a:t>  </a:t>
            </a:r>
            <a:r>
              <a:rPr sz="1100" spc="-50" dirty="0">
                <a:latin typeface="Arial MT"/>
                <a:cs typeface="Arial MT"/>
              </a:rPr>
              <a:t>E</a:t>
            </a:r>
            <a:endParaRPr sz="1100">
              <a:latin typeface="Arial MT"/>
              <a:cs typeface="Arial MT"/>
            </a:endParaRPr>
          </a:p>
          <a:p>
            <a:pPr marL="215265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175" dirty="0">
                <a:latin typeface="Tahoma" panose="020B0604030504040204"/>
                <a:cs typeface="Tahoma" panose="020B0604030504040204"/>
              </a:rPr>
              <a:t>  </a:t>
            </a:r>
            <a:r>
              <a:rPr sz="1100" spc="-60" dirty="0">
                <a:latin typeface="Arial MT"/>
                <a:cs typeface="Arial MT"/>
              </a:rPr>
              <a:t>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93786" y="2506013"/>
            <a:ext cx="4616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 panose="020B0604020202020204"/>
                <a:cs typeface="Arial" panose="020B0604020202020204"/>
              </a:rPr>
              <a:t>p</a:t>
            </a:r>
            <a:r>
              <a:rPr sz="80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dirty="0">
                <a:latin typeface="Arial" panose="020B0604020202020204"/>
                <a:cs typeface="Arial" panose="020B0604020202020204"/>
              </a:rPr>
              <a:t>x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i="1" dirty="0">
                <a:latin typeface="Arial" panose="020B0604020202020204"/>
                <a:cs typeface="Arial" panose="020B0604020202020204"/>
              </a:rPr>
              <a:t>y</a:t>
            </a:r>
            <a:r>
              <a:rPr sz="800" i="1" dirty="0">
                <a:latin typeface="Sitka Text"/>
                <a:cs typeface="Sitka Text"/>
              </a:rPr>
              <a:t>,є</a:t>
            </a:r>
            <a:r>
              <a:rPr sz="800" i="1" spc="434" dirty="0">
                <a:latin typeface="Sitka Text"/>
                <a:cs typeface="Sitka Text"/>
              </a:rPr>
              <a:t> </a:t>
            </a:r>
            <a:r>
              <a:rPr sz="800" spc="-50" dirty="0">
                <a:latin typeface="Tahoma" panose="020B0604030504040204"/>
                <a:cs typeface="Tahoma" panose="020B0604030504040204"/>
              </a:rPr>
              <a:t>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80450" y="2498609"/>
            <a:ext cx="7353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8815" algn="l"/>
              </a:tabLst>
            </a:pPr>
            <a:r>
              <a:rPr sz="800" i="1" spc="-50" dirty="0">
                <a:latin typeface="Sitka Text"/>
                <a:cs typeface="Sitka Text"/>
              </a:rPr>
              <a:t>є</a:t>
            </a:r>
            <a:r>
              <a:rPr sz="800" i="1" dirty="0">
                <a:latin typeface="Sitka Text"/>
                <a:cs typeface="Sitka Text"/>
              </a:rPr>
              <a:t>	</a:t>
            </a:r>
            <a:r>
              <a:rPr sz="800" i="1" spc="-50" dirty="0">
                <a:latin typeface="Sitka Text"/>
                <a:cs typeface="Sitka Text"/>
              </a:rPr>
              <a:t>є</a:t>
            </a:r>
            <a:endParaRPr sz="800">
              <a:latin typeface="Sitka Text"/>
              <a:cs typeface="Sitka Tex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7890" y="2543980"/>
            <a:ext cx="10534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8135" algn="l"/>
                <a:tab pos="984885" algn="l"/>
              </a:tabLst>
            </a:pPr>
            <a:r>
              <a:rPr sz="600" i="1" spc="-50" dirty="0">
                <a:latin typeface="Arial" panose="020B0604020202020204"/>
                <a:cs typeface="Arial" panose="020B0604020202020204"/>
              </a:rPr>
              <a:t>w</a:t>
            </a:r>
            <a:r>
              <a:rPr sz="600" i="1" dirty="0">
                <a:latin typeface="Arial" panose="020B0604020202020204"/>
                <a:cs typeface="Arial" panose="020B0604020202020204"/>
              </a:rPr>
              <a:t>	</a:t>
            </a:r>
            <a:r>
              <a:rPr sz="900" i="1" spc="-75" baseline="5000" dirty="0">
                <a:latin typeface="Arial" panose="020B0604020202020204"/>
                <a:cs typeface="Arial" panose="020B0604020202020204"/>
              </a:rPr>
              <a:t>w</a:t>
            </a:r>
            <a:r>
              <a:rPr sz="900" i="1" baseline="5000" dirty="0">
                <a:latin typeface="Arial" panose="020B0604020202020204"/>
                <a:cs typeface="Arial" panose="020B0604020202020204"/>
              </a:rPr>
              <a:t>	</a:t>
            </a:r>
            <a:r>
              <a:rPr sz="900" i="1" spc="-75" baseline="5000" dirty="0">
                <a:latin typeface="Arial" panose="020B0604020202020204"/>
                <a:cs typeface="Arial" panose="020B0604020202020204"/>
              </a:rPr>
              <a:t>w</a:t>
            </a:r>
            <a:endParaRPr sz="900" baseline="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16569" y="2440494"/>
            <a:ext cx="13722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70" dirty="0">
                <a:latin typeface="Arial" panose="020B0604020202020204"/>
                <a:cs typeface="Arial" panose="020B0604020202020204"/>
              </a:rPr>
              <a:t>y</a:t>
            </a:r>
            <a:r>
              <a:rPr sz="1100" spc="-270" dirty="0">
                <a:latin typeface="Tahoma" panose="020B0604030504040204"/>
                <a:cs typeface="Tahoma" panose="020B0604030504040204"/>
              </a:rPr>
              <a:t>ˆ</a:t>
            </a:r>
            <a:r>
              <a:rPr sz="1100" spc="4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3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3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Lucida Sans Unicode" panose="020B0602030504020204"/>
                <a:cs typeface="Lucida Sans Unicode" panose="020B0602030504020204"/>
              </a:rPr>
              <a:t>−</a:t>
            </a:r>
            <a:r>
              <a:rPr sz="11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2</a:t>
            </a:r>
            <a:r>
              <a:rPr sz="1100" i="1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145" dirty="0">
                <a:latin typeface="Arial" panose="020B0604020202020204"/>
                <a:cs typeface="Arial" panose="020B0604020202020204"/>
              </a:rPr>
              <a:t> 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3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i="1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4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50" dirty="0">
                <a:latin typeface="Arial" panose="020B0604020202020204"/>
                <a:cs typeface="Arial" panose="020B0604020202020204"/>
              </a:rPr>
              <a:t>y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84310" y="2420618"/>
            <a:ext cx="10731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05840" algn="l"/>
              </a:tabLst>
            </a:pPr>
            <a:r>
              <a:rPr sz="800" spc="-50" dirty="0">
                <a:latin typeface="Tahoma" panose="020B0604030504040204"/>
                <a:cs typeface="Tahoma" panose="020B0604030504040204"/>
              </a:rPr>
              <a:t>2</a:t>
            </a:r>
            <a:r>
              <a:rPr sz="800" dirty="0">
                <a:latin typeface="Tahoma" panose="020B0604030504040204"/>
                <a:cs typeface="Tahoma" panose="020B0604030504040204"/>
              </a:rPr>
              <a:t>	</a:t>
            </a:r>
            <a:r>
              <a:rPr sz="800" spc="-50" dirty="0">
                <a:latin typeface="Tahoma" panose="020B0604030504040204"/>
                <a:cs typeface="Tahoma" panose="020B0604030504040204"/>
              </a:rPr>
              <a:t>2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58847" y="2328277"/>
            <a:ext cx="156273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1491615" algn="l"/>
              </a:tabLst>
            </a:pPr>
            <a:r>
              <a:rPr sz="1100" dirty="0">
                <a:latin typeface="Lucida Sans Unicode" panose="020B0602030504020204"/>
                <a:cs typeface="Lucida Sans Unicode" panose="020B0602030504020204"/>
              </a:rPr>
              <a:t>	 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4939" y="2740125"/>
            <a:ext cx="41535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90"/>
              </a:spcBef>
              <a:buSzPct val="73000"/>
              <a:buFont typeface="Lucida Sans Unicode" panose="020B0602030504020204"/>
              <a:buChar char="►"/>
              <a:tabLst>
                <a:tab pos="15875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optimization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this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objective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small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η</a:t>
            </a:r>
            <a:r>
              <a:rPr sz="1100" i="1" spc="10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equivalent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adding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2932" y="2912197"/>
            <a:ext cx="18116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 panose="020B0604030504040204"/>
                <a:cs typeface="Tahoma" panose="020B0604030504040204"/>
              </a:rPr>
              <a:t>an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additional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regularization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25" dirty="0">
                <a:latin typeface="Calibri" panose="020F0502020204030204"/>
                <a:cs typeface="Calibri" panose="020F0502020204030204"/>
              </a:rPr>
              <a:t>η</a:t>
            </a:r>
            <a:r>
              <a:rPr sz="1100" spc="-25" dirty="0">
                <a:latin typeface="Arial MT"/>
                <a:cs typeface="Arial MT"/>
              </a:rPr>
              <a:t>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13190" y="3015683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 panose="020B0604020202020204"/>
                <a:cs typeface="Arial" panose="020B0604020202020204"/>
              </a:rPr>
              <a:t>w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89086" y="2977717"/>
            <a:ext cx="4616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 panose="020B0604020202020204"/>
                <a:cs typeface="Arial" panose="020B0604020202020204"/>
              </a:rPr>
              <a:t>p</a:t>
            </a:r>
            <a:r>
              <a:rPr sz="80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dirty="0">
                <a:latin typeface="Arial" panose="020B0604020202020204"/>
                <a:cs typeface="Arial" panose="020B0604020202020204"/>
              </a:rPr>
              <a:t>x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i="1" dirty="0">
                <a:latin typeface="Arial" panose="020B0604020202020204"/>
                <a:cs typeface="Arial" panose="020B0604020202020204"/>
              </a:rPr>
              <a:t>y</a:t>
            </a:r>
            <a:r>
              <a:rPr sz="800" i="1" dirty="0">
                <a:latin typeface="Sitka Text"/>
                <a:cs typeface="Sitka Text"/>
              </a:rPr>
              <a:t>,є</a:t>
            </a:r>
            <a:r>
              <a:rPr sz="800" i="1" spc="434" dirty="0">
                <a:latin typeface="Sitka Text"/>
                <a:cs typeface="Sitka Text"/>
              </a:rPr>
              <a:t> </a:t>
            </a:r>
            <a:r>
              <a:rPr sz="800" spc="-50" dirty="0">
                <a:latin typeface="Tahoma" panose="020B0604030504040204"/>
                <a:cs typeface="Tahoma" panose="020B0604030504040204"/>
              </a:rPr>
              <a:t>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54147" y="2799980"/>
            <a:ext cx="83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 panose="020B0602030504020204"/>
                <a:cs typeface="Lucida Sans Unicode" panose="020B0602030504020204"/>
              </a:rPr>
              <a:t> 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04299" y="2970312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11869" y="2912197"/>
            <a:ext cx="648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Lucida Sans Unicode" panose="020B0602030504020204"/>
                <a:cs typeface="Lucida Sans Unicode" panose="020B0602030504020204"/>
              </a:rPr>
              <a:t>||∇</a:t>
            </a:r>
            <a:r>
              <a:rPr sz="1100" spc="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i="1" spc="-155" dirty="0">
                <a:latin typeface="Arial" panose="020B0604020202020204"/>
                <a:cs typeface="Arial" panose="020B0604020202020204"/>
              </a:rPr>
              <a:t>y</a:t>
            </a:r>
            <a:r>
              <a:rPr sz="1100" spc="-155" dirty="0">
                <a:latin typeface="Tahoma" panose="020B0604030504040204"/>
                <a:cs typeface="Tahoma" panose="020B0604030504040204"/>
              </a:rPr>
              <a:t>ˆ(</a:t>
            </a:r>
            <a:r>
              <a:rPr sz="1100" i="1" spc="-155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55" dirty="0">
                <a:latin typeface="Lucida Sans Unicode" panose="020B0602030504020204"/>
                <a:cs typeface="Lucida Sans Unicode" panose="020B0602030504020204"/>
              </a:rPr>
              <a:t>||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35350" y="289924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 panose="020B0604030504040204"/>
                <a:cs typeface="Tahoma" panose="020B0604030504040204"/>
              </a:rPr>
              <a:t>2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95446" y="2799980"/>
            <a:ext cx="83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 panose="020B0602030504020204"/>
                <a:cs typeface="Lucida Sans Unicode" panose="020B0602030504020204"/>
                <a:hlinkClick r:id="rId2" action="ppaction://hlinksldjump"/>
              </a:rPr>
              <a:t> 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Early</a:t>
            </a:r>
            <a:r>
              <a:rPr spc="-50" dirty="0"/>
              <a:t> </a:t>
            </a:r>
            <a:r>
              <a:rPr spc="-25" dirty="0"/>
              <a:t>Stopping</a:t>
            </a:r>
            <a:r>
              <a:rPr spc="-45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Motivation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795" y="732140"/>
            <a:ext cx="3408895" cy="16062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2460769"/>
            <a:ext cx="36601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Figure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4: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There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is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better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generalization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in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earlier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epochs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of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the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optimization,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Source:</a:t>
            </a:r>
            <a:r>
              <a:rPr sz="1000" spc="7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Goodfellow </a:t>
            </a:r>
            <a:r>
              <a:rPr sz="1000" dirty="0">
                <a:latin typeface="Tahoma" panose="020B0604030504040204"/>
                <a:cs typeface="Tahoma" panose="020B0604030504040204"/>
              </a:rPr>
              <a:t>et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al.,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2016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2179"/>
            <a:ext cx="36696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latin typeface="Tahoma" panose="020B0604030504040204"/>
                <a:cs typeface="Tahoma" panose="020B0604030504040204"/>
              </a:rPr>
              <a:t>Early</a:t>
            </a:r>
            <a:r>
              <a:rPr sz="14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25" dirty="0">
                <a:latin typeface="Tahoma" panose="020B0604030504040204"/>
                <a:cs typeface="Tahoma" panose="020B0604030504040204"/>
              </a:rPr>
              <a:t>Stopping</a:t>
            </a:r>
            <a:r>
              <a:rPr sz="14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30" dirty="0">
                <a:latin typeface="Tahoma" panose="020B0604030504040204"/>
                <a:cs typeface="Tahoma" panose="020B0604030504040204"/>
              </a:rPr>
              <a:t>(Source:</a:t>
            </a:r>
            <a:r>
              <a:rPr sz="1400" spc="60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40" dirty="0">
                <a:latin typeface="Tahoma" panose="020B0604030504040204"/>
                <a:cs typeface="Tahoma" panose="020B0604030504040204"/>
              </a:rPr>
              <a:t>Goodfellow</a:t>
            </a:r>
            <a:r>
              <a:rPr sz="14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400" dirty="0">
                <a:latin typeface="Tahoma" panose="020B0604030504040204"/>
                <a:cs typeface="Tahoma" panose="020B0604030504040204"/>
              </a:rPr>
              <a:t>et</a:t>
            </a:r>
            <a:r>
              <a:rPr sz="14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latin typeface="Tahoma" panose="020B0604030504040204"/>
                <a:cs typeface="Tahoma" panose="020B0604030504040204"/>
              </a:rPr>
              <a:t>al.,</a:t>
            </a:r>
            <a:r>
              <a:rPr sz="14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latin typeface="Tahoma" panose="020B0604030504040204"/>
                <a:cs typeface="Tahoma" panose="020B0604030504040204"/>
              </a:rPr>
              <a:t>2016)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417" y="509139"/>
            <a:ext cx="2967761" cy="255557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Early</a:t>
            </a:r>
            <a:r>
              <a:rPr spc="-60" dirty="0"/>
              <a:t> </a:t>
            </a:r>
            <a:r>
              <a:rPr spc="-25" dirty="0"/>
              <a:t>Stopping</a:t>
            </a:r>
            <a:r>
              <a:rPr spc="-60" dirty="0"/>
              <a:t> </a:t>
            </a:r>
            <a:r>
              <a:rPr spc="-30" dirty="0"/>
              <a:t>as</a:t>
            </a:r>
            <a:r>
              <a:rPr spc="-5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40" dirty="0"/>
              <a:t>Regularizer</a:t>
            </a:r>
            <a:endParaRPr spc="-4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632" y="858393"/>
            <a:ext cx="3135306" cy="15039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2544310"/>
            <a:ext cx="435673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Figure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5: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Effect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of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early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stopping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(left)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on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the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parameter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weights,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compared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to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L2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regularization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(right).</a:t>
            </a:r>
            <a:r>
              <a:rPr sz="1000" spc="5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Source:</a:t>
            </a:r>
            <a:r>
              <a:rPr sz="100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Goodfellow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et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al.,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2016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Bagging</a:t>
            </a:r>
            <a:r>
              <a:rPr spc="-55" dirty="0"/>
              <a:t> </a:t>
            </a:r>
            <a:r>
              <a:rPr spc="-10" dirty="0"/>
              <a:t>(Boostrap</a:t>
            </a:r>
            <a:r>
              <a:rPr spc="-55" dirty="0"/>
              <a:t> </a:t>
            </a:r>
            <a:r>
              <a:rPr spc="-30" dirty="0"/>
              <a:t>Aggregating)</a:t>
            </a:r>
            <a:endParaRPr spc="-30" dirty="0"/>
          </a:p>
        </p:txBody>
      </p:sp>
      <p:sp>
        <p:nvSpPr>
          <p:cNvPr id="5" name="object 5"/>
          <p:cNvSpPr txBox="1"/>
          <p:nvPr/>
        </p:nvSpPr>
        <p:spPr>
          <a:xfrm>
            <a:off x="242239" y="454023"/>
            <a:ext cx="4137660" cy="886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0" indent="-146050">
              <a:lnSpc>
                <a:spcPct val="100000"/>
              </a:lnSpc>
              <a:spcBef>
                <a:spcPts val="90"/>
              </a:spcBef>
              <a:buSzPct val="73000"/>
              <a:buFont typeface="Lucida Sans Unicode" panose="020B0602030504020204"/>
              <a:buChar char="►"/>
              <a:tabLst>
                <a:tab pos="17145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Sample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training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dataset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with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replacement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create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subsets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70815" marR="17780" indent="-146050">
              <a:lnSpc>
                <a:spcPct val="103000"/>
              </a:lnSpc>
              <a:spcBef>
                <a:spcPts val="15"/>
              </a:spcBef>
              <a:buSzPct val="73000"/>
              <a:buFont typeface="Lucida Sans Unicode" panose="020B0602030504020204"/>
              <a:buChar char="►"/>
              <a:tabLst>
                <a:tab pos="173355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Learn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one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model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each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subset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then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aggregate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predictions 	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each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model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71450" indent="-146050">
              <a:lnSpc>
                <a:spcPct val="100000"/>
              </a:lnSpc>
              <a:spcBef>
                <a:spcPts val="50"/>
              </a:spcBef>
              <a:buSzPct val="73000"/>
              <a:buFont typeface="Lucida Sans Unicode" panose="020B0602030504020204"/>
              <a:buChar char="►"/>
              <a:tabLst>
                <a:tab pos="17145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Also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known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as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ensemble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methods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with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model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averaging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71450" indent="-146050">
              <a:lnSpc>
                <a:spcPct val="100000"/>
              </a:lnSpc>
              <a:spcBef>
                <a:spcPts val="55"/>
              </a:spcBef>
              <a:buSzPct val="73000"/>
              <a:buFont typeface="Lucida Sans Unicode" panose="020B0602030504020204"/>
              <a:buChar char="►"/>
              <a:tabLst>
                <a:tab pos="171450" algn="l"/>
              </a:tabLst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Bagging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helps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reducing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generalization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error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172" y="1483039"/>
            <a:ext cx="2490107" cy="1230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2105" y="2853479"/>
            <a:ext cx="4344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Figure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6: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Classify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55" dirty="0">
                <a:latin typeface="Tahoma" panose="020B0604030504040204"/>
                <a:cs typeface="Tahoma" panose="020B0604030504040204"/>
              </a:rPr>
              <a:t>8-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vs-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others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in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digit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recognition,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Source:</a:t>
            </a:r>
            <a:r>
              <a:rPr sz="100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Goodfellow </a:t>
            </a:r>
            <a:r>
              <a:rPr sz="1000" dirty="0">
                <a:latin typeface="Tahoma" panose="020B0604030504040204"/>
                <a:cs typeface="Tahoma" panose="020B0604030504040204"/>
              </a:rPr>
              <a:t>et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al.,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2016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Understanding</a:t>
            </a:r>
            <a:r>
              <a:rPr spc="-15" dirty="0"/>
              <a:t> </a:t>
            </a:r>
            <a:r>
              <a:rPr spc="-20" dirty="0"/>
              <a:t>Bagging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229539" y="542758"/>
            <a:ext cx="4028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46050">
              <a:lnSpc>
                <a:spcPct val="100000"/>
              </a:lnSpc>
              <a:spcBef>
                <a:spcPts val="90"/>
              </a:spcBef>
              <a:buSzPct val="73000"/>
              <a:buFont typeface="Lucida Sans Unicode" panose="020B0602030504020204"/>
              <a:buChar char="►"/>
              <a:tabLst>
                <a:tab pos="184150" algn="l"/>
              </a:tabLst>
            </a:pPr>
            <a:r>
              <a:rPr sz="1100" spc="-40" dirty="0">
                <a:latin typeface="Tahoma" panose="020B0604030504040204"/>
                <a:cs typeface="Tahoma" panose="020B0604030504040204"/>
              </a:rPr>
              <a:t>Ensemble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models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make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errors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10" dirty="0">
                <a:latin typeface="Calibri" panose="020F0502020204030204"/>
                <a:cs typeface="Calibri" panose="020F0502020204030204"/>
              </a:rPr>
              <a:t>ϵ</a:t>
            </a:r>
            <a:r>
              <a:rPr sz="1200" i="1" spc="-15" baseline="-10000" dirty="0">
                <a:latin typeface="Arial" panose="020B0604020202020204"/>
                <a:cs typeface="Arial" panose="020B0604020202020204"/>
              </a:rPr>
              <a:t>i</a:t>
            </a:r>
            <a:r>
              <a:rPr sz="1200" i="1" spc="-142" baseline="-1000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i</a:t>
            </a:r>
            <a:r>
              <a:rPr sz="1100" i="1" spc="9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1</a:t>
            </a:r>
            <a:r>
              <a:rPr sz="1100" i="1" spc="-30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.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.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.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k</a:t>
            </a:r>
            <a:r>
              <a:rPr sz="1100" i="1" spc="14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in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regression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task: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575" y="731906"/>
            <a:ext cx="3919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494" baseline="14000" dirty="0">
                <a:latin typeface="Arial MT"/>
                <a:cs typeface="Arial MT"/>
              </a:rPr>
              <a:t>)</a:t>
            </a:r>
            <a:r>
              <a:rPr sz="900" spc="465" baseline="14000" dirty="0">
                <a:latin typeface="Arial MT"/>
                <a:cs typeface="Arial MT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Each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dirty="0">
                <a:latin typeface="Calibri" panose="020F0502020204030204"/>
                <a:cs typeface="Calibri" panose="020F0502020204030204"/>
              </a:rPr>
              <a:t>ϵ</a:t>
            </a:r>
            <a:r>
              <a:rPr sz="1050" i="1" baseline="-12000" dirty="0">
                <a:latin typeface="Arial" panose="020B0604020202020204"/>
                <a:cs typeface="Arial" panose="020B0604020202020204"/>
              </a:rPr>
              <a:t>i</a:t>
            </a:r>
            <a:r>
              <a:rPr sz="1050" i="1" spc="315" baseline="-12000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is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drawn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from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multivariate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normal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distribution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with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55" dirty="0">
                <a:latin typeface="Tahoma" panose="020B0604030504040204"/>
                <a:cs typeface="Tahoma" panose="020B0604030504040204"/>
              </a:rPr>
              <a:t>mean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0,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9446" y="875782"/>
            <a:ext cx="73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Tahoma" panose="020B0604030504040204"/>
                <a:cs typeface="Tahoma" panose="020B0604030504040204"/>
              </a:rPr>
              <a:t>2</a:t>
            </a:r>
            <a:endParaRPr sz="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446" y="956718"/>
            <a:ext cx="48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Arial" panose="020B0604020202020204"/>
                <a:cs typeface="Arial" panose="020B0604020202020204"/>
              </a:rPr>
              <a:t>i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5369" y="781258"/>
            <a:ext cx="235585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000" dirty="0">
                <a:latin typeface="Lucida Sans Unicode" panose="020B0602030504020204"/>
                <a:cs typeface="Lucida Sans Unicode" panose="020B0602030504020204"/>
              </a:rPr>
              <a:t> </a:t>
            </a:r>
            <a:endParaRPr sz="10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3443" y="940679"/>
            <a:ext cx="1397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 panose="020B0604020202020204"/>
                <a:cs typeface="Arial" panose="020B0604020202020204"/>
              </a:rPr>
              <a:t>i</a:t>
            </a:r>
            <a:r>
              <a:rPr sz="700" i="1" spc="360" dirty="0">
                <a:latin typeface="Arial" panose="020B0604020202020204"/>
                <a:cs typeface="Arial" panose="020B0604020202020204"/>
              </a:rPr>
              <a:t> </a:t>
            </a:r>
            <a:r>
              <a:rPr sz="700" i="1" spc="-50" dirty="0">
                <a:latin typeface="Arial" panose="020B0604020202020204"/>
                <a:cs typeface="Arial" panose="020B0604020202020204"/>
              </a:rPr>
              <a:t>j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0034" y="883747"/>
            <a:ext cx="2548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32485" algn="l"/>
              </a:tabLst>
            </a:pPr>
            <a:r>
              <a:rPr sz="1000" spc="-35" dirty="0">
                <a:latin typeface="Tahoma" panose="020B0604030504040204"/>
                <a:cs typeface="Tahoma" panose="020B0604030504040204"/>
              </a:rPr>
              <a:t>variance</a:t>
            </a:r>
            <a:r>
              <a:rPr sz="10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Arial MT"/>
                <a:cs typeface="Arial MT"/>
              </a:rPr>
              <a:t>E</a:t>
            </a:r>
            <a:r>
              <a:rPr sz="1000" spc="265" dirty="0">
                <a:latin typeface="Arial MT"/>
                <a:cs typeface="Arial MT"/>
              </a:rPr>
              <a:t> </a:t>
            </a:r>
            <a:r>
              <a:rPr sz="1000" i="1" spc="-50" dirty="0">
                <a:latin typeface="Calibri" panose="020F0502020204030204"/>
                <a:cs typeface="Calibri" panose="020F0502020204030204"/>
              </a:rPr>
              <a:t>ϵ</a:t>
            </a:r>
            <a:r>
              <a:rPr sz="1000" i="1" dirty="0">
                <a:latin typeface="Calibri" panose="020F0502020204030204"/>
                <a:cs typeface="Calibri" panose="020F0502020204030204"/>
              </a:rPr>
              <a:t>	</a:t>
            </a:r>
            <a:r>
              <a:rPr sz="1000" dirty="0">
                <a:latin typeface="Tahoma" panose="020B0604030504040204"/>
                <a:cs typeface="Tahoma" panose="020B0604030504040204"/>
              </a:rPr>
              <a:t>=</a:t>
            </a:r>
            <a:r>
              <a:rPr sz="10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dirty="0">
                <a:latin typeface="Arial" panose="020B0604020202020204"/>
                <a:cs typeface="Arial" panose="020B0604020202020204"/>
              </a:rPr>
              <a:t>v</a:t>
            </a:r>
            <a:r>
              <a:rPr sz="1000" i="1" spc="12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and</a:t>
            </a:r>
            <a:r>
              <a:rPr sz="10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covariances</a:t>
            </a:r>
            <a:r>
              <a:rPr sz="100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Arial MT"/>
                <a:cs typeface="Arial MT"/>
              </a:rPr>
              <a:t>E</a:t>
            </a:r>
            <a:r>
              <a:rPr sz="1000" spc="-114" dirty="0">
                <a:latin typeface="Arial MT"/>
                <a:cs typeface="Arial MT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[</a:t>
            </a:r>
            <a:r>
              <a:rPr sz="1000" i="1" spc="-25" dirty="0">
                <a:latin typeface="Calibri" panose="020F0502020204030204"/>
                <a:cs typeface="Calibri" panose="020F0502020204030204"/>
              </a:rPr>
              <a:t>ϵ</a:t>
            </a:r>
            <a:r>
              <a:rPr sz="1000" i="1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i="1" dirty="0">
                <a:latin typeface="Calibri" panose="020F0502020204030204"/>
                <a:cs typeface="Calibri" panose="020F0502020204030204"/>
              </a:rPr>
              <a:t>ϵ</a:t>
            </a:r>
            <a:r>
              <a:rPr sz="1000" i="1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10" dirty="0">
                <a:latin typeface="Tahoma" panose="020B0604030504040204"/>
                <a:cs typeface="Tahoma" panose="020B0604030504040204"/>
              </a:rPr>
              <a:t>]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=</a:t>
            </a:r>
            <a:r>
              <a:rPr sz="10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000" i="1" spc="-50" dirty="0">
                <a:latin typeface="Arial" panose="020B0604020202020204"/>
                <a:cs typeface="Arial" panose="020B0604020202020204"/>
              </a:rPr>
              <a:t>c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4939" y="1182381"/>
            <a:ext cx="2181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90"/>
              </a:spcBef>
              <a:buSzPct val="73000"/>
              <a:buFont typeface="Lucida Sans Unicode" panose="020B0602030504020204"/>
              <a:buChar char="►"/>
              <a:tabLst>
                <a:tab pos="15875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overall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error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ensemble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is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72829" y="1165160"/>
            <a:ext cx="8318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>
              <a:lnSpc>
                <a:spcPts val="885"/>
              </a:lnSpc>
              <a:spcBef>
                <a:spcPts val="95"/>
              </a:spcBef>
            </a:pPr>
            <a:r>
              <a:rPr sz="800" u="sng" spc="-5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</a:rPr>
              <a:t>1</a:t>
            </a:r>
            <a:endParaRPr sz="8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885"/>
              </a:lnSpc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8099" y="1088084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85427" y="1078470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50" dirty="0">
                <a:latin typeface="Lucida Sans Unicode" panose="020B0602030504020204"/>
                <a:cs typeface="Lucida Sans Unicode" panose="020B0602030504020204"/>
              </a:rPr>
              <a:t>Σ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72016" y="1346795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 panose="020B0604020202020204"/>
                <a:cs typeface="Arial" panose="020B0604020202020204"/>
              </a:rPr>
              <a:t>i</a:t>
            </a:r>
            <a:r>
              <a:rPr sz="800" i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25" dirty="0">
                <a:latin typeface="Tahoma" panose="020B0604030504040204"/>
                <a:cs typeface="Tahoma" panose="020B0604030504040204"/>
              </a:rPr>
              <a:t>=1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68180" y="1182381"/>
            <a:ext cx="819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Calibri" panose="020F0502020204030204"/>
                <a:cs typeface="Calibri" panose="020F0502020204030204"/>
              </a:rPr>
              <a:t>ϵ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24416" y="1241347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i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4939" y="1470150"/>
            <a:ext cx="2845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90"/>
              </a:spcBef>
              <a:buSzPct val="73000"/>
              <a:buFont typeface="Lucida Sans Unicode" panose="020B0602030504020204"/>
              <a:buChar char="►"/>
              <a:tabLst>
                <a:tab pos="15875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expected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squared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error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ensemble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is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532" y="1903843"/>
            <a:ext cx="284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-30" baseline="-13000" dirty="0">
                <a:latin typeface="Arial MT"/>
                <a:cs typeface="Arial MT"/>
              </a:rPr>
              <a:t>E</a:t>
            </a:r>
            <a:r>
              <a:rPr sz="1650" spc="-179" baseline="-13000" dirty="0">
                <a:latin typeface="Arial MT"/>
                <a:cs typeface="Arial MT"/>
              </a:rPr>
              <a:t> </a:t>
            </a:r>
            <a:r>
              <a:rPr sz="1100" spc="-425" dirty="0">
                <a:latin typeface="Lucida Sans Unicode" panose="020B0602030504020204"/>
                <a:cs typeface="Lucida Sans Unicode" panose="020B0602030504020204"/>
              </a:rPr>
              <a:t>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0755" y="1696020"/>
            <a:ext cx="1352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 panose="020B0602030504020204"/>
                <a:cs typeface="Lucida Sans Unicode" panose="020B0602030504020204"/>
              </a:rPr>
              <a:t> 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48322" y="2049551"/>
            <a:ext cx="79375" cy="0"/>
          </a:xfrm>
          <a:custGeom>
            <a:avLst/>
            <a:gdLst/>
            <a:ahLst/>
            <a:cxnLst/>
            <a:rect l="l" t="t" r="r" b="b"/>
            <a:pathLst>
              <a:path w="79375">
                <a:moveTo>
                  <a:pt x="0" y="0"/>
                </a:moveTo>
                <a:lnTo>
                  <a:pt x="7928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922782" y="1797087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3173" y="1801316"/>
            <a:ext cx="213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Lucida Sans Unicode" panose="020B0602030504020204"/>
                <a:cs typeface="Lucida Sans Unicode" panose="020B0602030504020204"/>
              </a:rPr>
              <a:t>Σ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2988" y="1654465"/>
            <a:ext cx="10077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94055" algn="l"/>
              </a:tabLst>
            </a:pPr>
            <a:r>
              <a:rPr sz="1100" spc="-425" dirty="0">
                <a:latin typeface="Lucida Sans Unicode" panose="020B0602030504020204"/>
                <a:cs typeface="Lucida Sans Unicode" panose="020B0602030504020204"/>
              </a:rPr>
              <a:t>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650" spc="44" baseline="-18000" dirty="0">
                <a:latin typeface="Lucida Sans Unicode" panose="020B0602030504020204"/>
                <a:cs typeface="Lucida Sans Unicode" panose="020B0602030504020204"/>
              </a:rPr>
              <a:t>!</a:t>
            </a:r>
            <a:r>
              <a:rPr sz="1200" spc="44" baseline="-35000" dirty="0">
                <a:latin typeface="Tahoma" panose="020B0604030504040204"/>
                <a:cs typeface="Tahoma" panose="020B0604030504040204"/>
              </a:rPr>
              <a:t>2</a:t>
            </a:r>
            <a:r>
              <a:rPr sz="1100" spc="30" dirty="0">
                <a:latin typeface="Lucida Sans Unicode" panose="020B0602030504020204"/>
                <a:cs typeface="Lucida Sans Unicode" panose="020B0602030504020204"/>
              </a:rPr>
              <a:t>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44383" y="1903843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25" dirty="0">
                <a:latin typeface="Lucida Sans Unicode" panose="020B0602030504020204"/>
                <a:cs typeface="Lucida Sans Unicode" panose="020B0602030504020204"/>
              </a:rPr>
              <a:t>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71713" y="1839212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1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49361" y="2049551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0" y="0"/>
                </a:moveTo>
                <a:lnTo>
                  <a:pt x="1393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35622" y="1816707"/>
            <a:ext cx="99441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265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1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913130" algn="l"/>
              </a:tabLst>
            </a:pPr>
            <a:r>
              <a:rPr sz="1100" i="1" spc="-50" dirty="0">
                <a:latin typeface="Arial" panose="020B0604020202020204"/>
                <a:cs typeface="Arial" panose="020B0604020202020204"/>
              </a:rPr>
              <a:t>k</a:t>
            </a:r>
            <a:r>
              <a:rPr sz="1100" i="1" dirty="0">
                <a:latin typeface="Arial" panose="020B0604020202020204"/>
                <a:cs typeface="Arial" panose="020B0604020202020204"/>
              </a:rPr>
              <a:t>	</a:t>
            </a:r>
            <a:r>
              <a:rPr sz="1100" i="1" spc="-50" dirty="0">
                <a:latin typeface="Arial" panose="020B0604020202020204"/>
                <a:cs typeface="Arial" panose="020B0604020202020204"/>
              </a:rPr>
              <a:t>k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15947" y="202528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 panose="020B0604030504040204"/>
                <a:cs typeface="Tahoma" panose="020B0604030504040204"/>
              </a:rPr>
              <a:t>2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0988" y="1932938"/>
            <a:ext cx="88391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36880" algn="l"/>
                <a:tab pos="752475" algn="l"/>
              </a:tabLst>
            </a:pPr>
            <a:r>
              <a:rPr sz="1100" i="1" spc="-25" dirty="0">
                <a:latin typeface="Calibri" panose="020F0502020204030204"/>
                <a:cs typeface="Calibri" panose="020F0502020204030204"/>
              </a:rPr>
              <a:t>ϵ</a:t>
            </a:r>
            <a:r>
              <a:rPr sz="1200" i="1" spc="-37" baseline="-10000" dirty="0">
                <a:latin typeface="Arial" panose="020B0604020202020204"/>
                <a:cs typeface="Arial" panose="020B0604020202020204"/>
              </a:rPr>
              <a:t>i</a:t>
            </a:r>
            <a:r>
              <a:rPr sz="1200" i="1" baseline="-10000" dirty="0">
                <a:latin typeface="Arial" panose="020B0604020202020204"/>
                <a:cs typeface="Arial" panose="020B0604020202020204"/>
              </a:rPr>
              <a:t>	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=</a:t>
            </a:r>
            <a:r>
              <a:rPr sz="1100" dirty="0">
                <a:latin typeface="Tahoma" panose="020B0604030504040204"/>
                <a:cs typeface="Tahoma" panose="020B0604030504040204"/>
              </a:rPr>
              <a:t>	</a:t>
            </a:r>
            <a:r>
              <a:rPr sz="1100" spc="-50" dirty="0">
                <a:latin typeface="Arial MT"/>
                <a:cs typeface="Arial MT"/>
              </a:rPr>
              <a:t>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68652" y="1797087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99043" y="1801316"/>
            <a:ext cx="213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Lucida Sans Unicode" panose="020B0602030504020204"/>
                <a:cs typeface="Lucida Sans Unicode" panose="020B0602030504020204"/>
              </a:rPr>
              <a:t>Σ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06676" y="1903843"/>
            <a:ext cx="4622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7660" algn="l"/>
              </a:tabLst>
            </a:pPr>
            <a:r>
              <a:rPr sz="1100" spc="-425" dirty="0">
                <a:latin typeface="Lucida Sans Unicode" panose="020B0602030504020204"/>
                <a:cs typeface="Lucida Sans Unicode" panose="020B0602030504020204"/>
              </a:rPr>
              <a:t>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100" spc="-90" dirty="0">
                <a:latin typeface="Lucida Sans Unicode" panose="020B0602030504020204"/>
                <a:cs typeface="Lucida Sans Unicode" panose="020B0602030504020204"/>
              </a:rPr>
              <a:t>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99715" y="191306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 panose="020B0604030504040204"/>
                <a:cs typeface="Tahoma" panose="020B0604030504040204"/>
              </a:rPr>
              <a:t>2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99715" y="2004592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i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6698" y="2139847"/>
            <a:ext cx="19570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8240" algn="l"/>
                <a:tab pos="1795780" algn="l"/>
              </a:tabLst>
            </a:pPr>
            <a:r>
              <a:rPr sz="800" i="1" dirty="0">
                <a:latin typeface="Arial" panose="020B0604020202020204"/>
                <a:cs typeface="Arial" panose="020B0604020202020204"/>
              </a:rPr>
              <a:t>i</a:t>
            </a:r>
            <a:r>
              <a:rPr sz="800" i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25" dirty="0">
                <a:latin typeface="Tahoma" panose="020B0604030504040204"/>
                <a:cs typeface="Tahoma" panose="020B0604030504040204"/>
              </a:rPr>
              <a:t>=1</a:t>
            </a:r>
            <a:r>
              <a:rPr sz="800" dirty="0">
                <a:latin typeface="Tahoma" panose="020B0604030504040204"/>
                <a:cs typeface="Tahoma" panose="020B0604030504040204"/>
              </a:rPr>
              <a:t>	</a:t>
            </a:r>
            <a:r>
              <a:rPr sz="800" i="1" dirty="0">
                <a:latin typeface="Arial" panose="020B0604020202020204"/>
                <a:cs typeface="Arial" panose="020B0604020202020204"/>
              </a:rPr>
              <a:t>i</a:t>
            </a:r>
            <a:r>
              <a:rPr sz="800" i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25" dirty="0">
                <a:latin typeface="Tahoma" panose="020B0604030504040204"/>
                <a:cs typeface="Tahoma" panose="020B0604030504040204"/>
              </a:rPr>
              <a:t>=1</a:t>
            </a:r>
            <a:r>
              <a:rPr sz="800" dirty="0">
                <a:latin typeface="Tahoma" panose="020B0604030504040204"/>
                <a:cs typeface="Tahoma" panose="020B0604030504040204"/>
              </a:rPr>
              <a:t>	</a:t>
            </a:r>
            <a:r>
              <a:rPr sz="800" i="1" spc="-35" dirty="0">
                <a:latin typeface="Arial" panose="020B0604020202020204"/>
                <a:cs typeface="Arial" panose="020B0604020202020204"/>
              </a:rPr>
              <a:t>j</a:t>
            </a:r>
            <a:r>
              <a:rPr sz="800" spc="-35" dirty="0">
                <a:latin typeface="Cambria" panose="02040503050406030204"/>
                <a:cs typeface="Cambria" panose="02040503050406030204"/>
              </a:rPr>
              <a:t>/</a:t>
            </a:r>
            <a:r>
              <a:rPr sz="800" spc="-35" dirty="0">
                <a:latin typeface="Tahoma" panose="020B0604030504040204"/>
                <a:cs typeface="Tahoma" panose="020B0604030504040204"/>
              </a:rPr>
              <a:t>=</a:t>
            </a:r>
            <a:r>
              <a:rPr sz="800" i="1" spc="-35" dirty="0">
                <a:latin typeface="Arial" panose="020B0604020202020204"/>
                <a:cs typeface="Arial" panose="020B0604020202020204"/>
              </a:rPr>
              <a:t>i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81276" y="1654465"/>
            <a:ext cx="143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53060" algn="l"/>
                <a:tab pos="760095" algn="l"/>
                <a:tab pos="1182370" algn="l"/>
              </a:tabLst>
            </a:pPr>
            <a:r>
              <a:rPr sz="1100" spc="-425" dirty="0">
                <a:latin typeface="Lucida Sans Unicode" panose="020B0602030504020204"/>
                <a:cs typeface="Lucida Sans Unicode" panose="020B0602030504020204"/>
              </a:rPr>
              <a:t>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100" spc="550" dirty="0">
                <a:latin typeface="Lucida Sans Unicode" panose="020B0602030504020204"/>
                <a:cs typeface="Lucida Sans Unicode" panose="020B0602030504020204"/>
              </a:rPr>
              <a:t>,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650" spc="1305" baseline="-58000" dirty="0">
                <a:latin typeface="Lucida Sans Unicode" panose="020B0602030504020204"/>
                <a:cs typeface="Lucida Sans Unicode" panose="020B0602030504020204"/>
              </a:rPr>
              <a:t>Σ</a:t>
            </a:r>
            <a:r>
              <a:rPr sz="1650" baseline="-5800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1100" spc="-290" dirty="0">
                <a:latin typeface="Lucida Sans Unicode" panose="020B0602030504020204"/>
                <a:cs typeface="Lucida Sans Unicode" panose="020B0602030504020204"/>
              </a:rPr>
              <a:t>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69589" y="1839212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1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477285" y="2049551"/>
            <a:ext cx="79375" cy="0"/>
          </a:xfrm>
          <a:custGeom>
            <a:avLst/>
            <a:gdLst/>
            <a:ahLst/>
            <a:cxnLst/>
            <a:rect l="l" t="t" r="r" b="b"/>
            <a:pathLst>
              <a:path w="79375">
                <a:moveTo>
                  <a:pt x="0" y="0"/>
                </a:moveTo>
                <a:lnTo>
                  <a:pt x="7928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318080" y="1932938"/>
            <a:ext cx="1509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546735" algn="l"/>
              </a:tabLst>
            </a:pPr>
            <a:r>
              <a:rPr sz="1100" i="1" dirty="0">
                <a:latin typeface="Calibri" panose="020F0502020204030204"/>
                <a:cs typeface="Calibri" panose="020F0502020204030204"/>
              </a:rPr>
              <a:t>ϵ</a:t>
            </a:r>
            <a:r>
              <a:rPr sz="1100" i="1" spc="434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+</a:t>
            </a:r>
            <a:r>
              <a:rPr sz="1100" dirty="0">
                <a:latin typeface="Tahoma" panose="020B0604030504040204"/>
                <a:cs typeface="Tahoma" panose="020B0604030504040204"/>
              </a:rPr>
              <a:t>	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ϵ</a:t>
            </a:r>
            <a:r>
              <a:rPr sz="1200" i="1" baseline="-10000" dirty="0">
                <a:latin typeface="Arial" panose="020B0604020202020204"/>
                <a:cs typeface="Arial" panose="020B0604020202020204"/>
              </a:rPr>
              <a:t>i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ϵ</a:t>
            </a:r>
            <a:r>
              <a:rPr sz="1200" i="1" baseline="-10000" dirty="0">
                <a:latin typeface="Arial" panose="020B0604020202020204"/>
                <a:cs typeface="Arial" panose="020B0604020202020204"/>
              </a:rPr>
              <a:t>j</a:t>
            </a:r>
            <a:r>
              <a:rPr sz="1200" i="1" spc="-135" baseline="-10000" dirty="0">
                <a:latin typeface="Arial" panose="020B0604020202020204"/>
                <a:cs typeface="Arial" panose="020B0604020202020204"/>
              </a:rPr>
              <a:t> </a:t>
            </a:r>
            <a:r>
              <a:rPr sz="1650" spc="-397" baseline="13000" dirty="0">
                <a:latin typeface="Lucida Sans Unicode" panose="020B0602030504020204"/>
                <a:cs typeface="Lucida Sans Unicode" panose="020B0602030504020204"/>
              </a:rPr>
              <a:t></a:t>
            </a:r>
            <a:r>
              <a:rPr sz="1650" spc="-22" baseline="130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114" dirty="0">
                <a:latin typeface="Tahoma" panose="020B0604030504040204"/>
                <a:cs typeface="Tahoma" panose="020B0604030504040204"/>
              </a:rPr>
              <a:t> </a:t>
            </a:r>
            <a:r>
              <a:rPr sz="1650" i="1" spc="-44" baseline="-38000" dirty="0">
                <a:latin typeface="Arial" panose="020B0604020202020204"/>
                <a:cs typeface="Arial" panose="020B0604020202020204"/>
              </a:rPr>
              <a:t>k</a:t>
            </a:r>
            <a:r>
              <a:rPr sz="1650" i="1" spc="-112" baseline="-3800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v</a:t>
            </a:r>
            <a:r>
              <a:rPr sz="1100" i="1" spc="8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+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822471" y="1839212"/>
            <a:ext cx="3435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 panose="020B0604020202020204"/>
                <a:cs typeface="Arial" panose="020B0604020202020204"/>
              </a:rPr>
              <a:t>k </a:t>
            </a:r>
            <a:r>
              <a:rPr sz="1100" spc="-35" dirty="0">
                <a:latin typeface="Lucida Sans Unicode" panose="020B0602030504020204"/>
                <a:cs typeface="Lucida Sans Unicode" panose="020B0602030504020204"/>
              </a:rPr>
              <a:t>−</a:t>
            </a:r>
            <a:r>
              <a:rPr sz="11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1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835171" y="2049551"/>
            <a:ext cx="318135" cy="0"/>
          </a:xfrm>
          <a:custGeom>
            <a:avLst/>
            <a:gdLst/>
            <a:ahLst/>
            <a:cxnLst/>
            <a:rect l="l" t="t" r="r" b="b"/>
            <a:pathLst>
              <a:path w="318135">
                <a:moveTo>
                  <a:pt x="0" y="0"/>
                </a:moveTo>
                <a:lnTo>
                  <a:pt x="31789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941762" y="2027972"/>
            <a:ext cx="93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 panose="020B0604020202020204"/>
                <a:cs typeface="Arial" panose="020B0604020202020204"/>
              </a:rPr>
              <a:t>k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155541" y="1932938"/>
            <a:ext cx="86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 panose="020B0604020202020204"/>
                <a:cs typeface="Arial" panose="020B0604020202020204"/>
              </a:rPr>
              <a:t>c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54939" y="2403423"/>
            <a:ext cx="4008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90"/>
              </a:spcBef>
              <a:buSzPct val="73000"/>
              <a:buFont typeface="Lucida Sans Unicode" panose="020B0602030504020204"/>
              <a:buChar char="►"/>
              <a:tabLst>
                <a:tab pos="15875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(A)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If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errors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perfectly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correlated,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c</a:t>
            </a:r>
            <a:r>
              <a:rPr sz="1100" i="1" spc="50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v</a:t>
            </a:r>
            <a:r>
              <a:rPr sz="1100" i="1" spc="13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then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squared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error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-50" dirty="0">
                <a:latin typeface="Arial" panose="020B0604020202020204"/>
                <a:cs typeface="Arial" panose="020B0604020202020204"/>
              </a:rPr>
              <a:t>v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29539" y="2613455"/>
            <a:ext cx="41935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46050">
              <a:lnSpc>
                <a:spcPct val="100000"/>
              </a:lnSpc>
              <a:spcBef>
                <a:spcPts val="90"/>
              </a:spcBef>
              <a:buSzPct val="73000"/>
              <a:buFont typeface="Lucida Sans Unicode" panose="020B0602030504020204"/>
              <a:buChar char="►"/>
              <a:tabLst>
                <a:tab pos="18415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(B)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If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errors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perfectly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uncorrelated,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c</a:t>
            </a:r>
            <a:r>
              <a:rPr sz="1100" i="1" spc="5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0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then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squared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error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100" dirty="0">
                <a:latin typeface="Tahoma" panose="020B0604030504040204"/>
                <a:cs typeface="Tahoma" panose="020B0604030504040204"/>
              </a:rPr>
              <a:t> </a:t>
            </a:r>
            <a:r>
              <a:rPr sz="1200" i="1" u="sng" spc="-75" baseline="31000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v</a:t>
            </a:r>
            <a:endParaRPr sz="1200" baseline="3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29539" y="2698558"/>
            <a:ext cx="4196080" cy="31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k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184150" indent="-146050">
              <a:lnSpc>
                <a:spcPct val="100000"/>
              </a:lnSpc>
              <a:spcBef>
                <a:spcPts val="20"/>
              </a:spcBef>
              <a:buSzPct val="73000"/>
              <a:buFont typeface="Lucida Sans Unicode" panose="020B0602030504020204"/>
              <a:buChar char="►"/>
              <a:tabLst>
                <a:tab pos="184150" algn="l"/>
              </a:tabLst>
            </a:pPr>
            <a:r>
              <a:rPr sz="1100" spc="-60" dirty="0">
                <a:latin typeface="Tahoma" panose="020B0604030504040204"/>
                <a:cs typeface="Tahoma" panose="020B0604030504040204"/>
              </a:rPr>
              <a:t>In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(A)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ensemble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doesn’t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help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in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(B)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error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reduced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linearly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2179"/>
            <a:ext cx="37179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Tahoma" panose="020B0604030504040204"/>
                <a:cs typeface="Tahoma" panose="020B0604030504040204"/>
              </a:rPr>
              <a:t>Dropout</a:t>
            </a:r>
            <a:r>
              <a:rPr sz="1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400" dirty="0">
                <a:latin typeface="Tahoma" panose="020B0604030504040204"/>
                <a:cs typeface="Tahoma" panose="020B0604030504040204"/>
              </a:rPr>
              <a:t>-</a:t>
            </a:r>
            <a:r>
              <a:rPr sz="1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25" dirty="0">
                <a:latin typeface="Tahoma" panose="020B0604030504040204"/>
                <a:cs typeface="Tahoma" panose="020B0604030504040204"/>
              </a:rPr>
              <a:t>Bagging</a:t>
            </a:r>
            <a:r>
              <a:rPr sz="1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400" dirty="0">
                <a:latin typeface="Tahoma" panose="020B0604030504040204"/>
                <a:cs typeface="Tahoma" panose="020B0604030504040204"/>
              </a:rPr>
              <a:t>of</a:t>
            </a:r>
            <a:r>
              <a:rPr sz="1400" spc="-50" dirty="0">
                <a:latin typeface="Tahoma" panose="020B0604030504040204"/>
                <a:cs typeface="Tahoma" panose="020B0604030504040204"/>
              </a:rPr>
              <a:t> random </a:t>
            </a:r>
            <a:r>
              <a:rPr sz="1400" spc="-35" dirty="0">
                <a:latin typeface="Tahoma" panose="020B0604030504040204"/>
                <a:cs typeface="Tahoma" panose="020B0604030504040204"/>
              </a:rPr>
              <a:t>neural</a:t>
            </a:r>
            <a:r>
              <a:rPr sz="1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60" dirty="0">
                <a:latin typeface="Tahoma" panose="020B0604030504040204"/>
                <a:cs typeface="Tahoma" panose="020B0604030504040204"/>
              </a:rPr>
              <a:t>subnetworks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519" y="569822"/>
            <a:ext cx="2546557" cy="251014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Dropout</a:t>
            </a:r>
            <a:r>
              <a:rPr spc="-105" dirty="0"/>
              <a:t> </a:t>
            </a:r>
            <a:r>
              <a:rPr spc="-35" dirty="0"/>
              <a:t>Mechanism</a:t>
            </a:r>
            <a:endParaRPr spc="-35"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22250" indent="-146050">
              <a:lnSpc>
                <a:spcPct val="100000"/>
              </a:lnSpc>
              <a:spcBef>
                <a:spcPts val="435"/>
              </a:spcBef>
              <a:buSzPct val="73000"/>
              <a:buFont typeface="Lucida Sans Unicode" panose="020B0602030504020204"/>
              <a:buChar char="►"/>
              <a:tabLst>
                <a:tab pos="222250" algn="l"/>
              </a:tabLst>
            </a:pPr>
            <a:r>
              <a:rPr sz="1100" spc="-10" dirty="0"/>
              <a:t>Dropout</a:t>
            </a:r>
            <a:r>
              <a:rPr sz="1100" spc="-40" dirty="0"/>
              <a:t> </a:t>
            </a:r>
            <a:r>
              <a:rPr sz="1100" dirty="0"/>
              <a:t>a</a:t>
            </a:r>
            <a:r>
              <a:rPr sz="1100" spc="-30" dirty="0"/>
              <a:t> </a:t>
            </a:r>
            <a:r>
              <a:rPr sz="1100" spc="-45" dirty="0"/>
              <a:t>node</a:t>
            </a:r>
            <a:r>
              <a:rPr sz="1100" spc="-30" dirty="0"/>
              <a:t> </a:t>
            </a:r>
            <a:r>
              <a:rPr sz="1100" spc="-35" dirty="0"/>
              <a:t>by</a:t>
            </a:r>
            <a:r>
              <a:rPr sz="1100" spc="-40" dirty="0"/>
              <a:t> </a:t>
            </a:r>
            <a:r>
              <a:rPr sz="1100" spc="-20" dirty="0"/>
              <a:t>multiplying</a:t>
            </a:r>
            <a:r>
              <a:rPr sz="1100" spc="-35" dirty="0"/>
              <a:t> </a:t>
            </a:r>
            <a:r>
              <a:rPr sz="1100" dirty="0"/>
              <a:t>its</a:t>
            </a:r>
            <a:r>
              <a:rPr sz="1100" spc="-30" dirty="0"/>
              <a:t> </a:t>
            </a:r>
            <a:r>
              <a:rPr sz="1100" spc="-20" dirty="0"/>
              <a:t>output</a:t>
            </a:r>
            <a:r>
              <a:rPr sz="1100" spc="-40" dirty="0"/>
              <a:t> </a:t>
            </a:r>
            <a:r>
              <a:rPr sz="1100" spc="-35" dirty="0"/>
              <a:t>by </a:t>
            </a:r>
            <a:r>
              <a:rPr sz="1100" spc="-20" dirty="0"/>
              <a:t>zero</a:t>
            </a:r>
            <a:endParaRPr sz="1100"/>
          </a:p>
          <a:p>
            <a:pPr marL="222250" indent="-146050">
              <a:lnSpc>
                <a:spcPct val="100000"/>
              </a:lnSpc>
              <a:spcBef>
                <a:spcPts val="335"/>
              </a:spcBef>
              <a:buSzPct val="73000"/>
              <a:buFont typeface="Lucida Sans Unicode" panose="020B0602030504020204"/>
              <a:buChar char="►"/>
              <a:tabLst>
                <a:tab pos="222250" algn="l"/>
              </a:tabLst>
            </a:pPr>
            <a:r>
              <a:rPr sz="1100" dirty="0"/>
              <a:t>Only</a:t>
            </a:r>
            <a:r>
              <a:rPr sz="1100" spc="-45" dirty="0"/>
              <a:t> </a:t>
            </a:r>
            <a:r>
              <a:rPr sz="1100" spc="-10" dirty="0"/>
              <a:t>input</a:t>
            </a:r>
            <a:r>
              <a:rPr sz="1100" spc="-30" dirty="0"/>
              <a:t> </a:t>
            </a:r>
            <a:r>
              <a:rPr sz="1100" spc="-35" dirty="0"/>
              <a:t>and</a:t>
            </a:r>
            <a:r>
              <a:rPr sz="1100" spc="-30" dirty="0"/>
              <a:t> </a:t>
            </a:r>
            <a:r>
              <a:rPr sz="1100" spc="-40" dirty="0"/>
              <a:t>hidden</a:t>
            </a:r>
            <a:r>
              <a:rPr sz="1100" spc="-30" dirty="0"/>
              <a:t> </a:t>
            </a:r>
            <a:r>
              <a:rPr sz="1100" spc="-55" dirty="0"/>
              <a:t>nodes</a:t>
            </a:r>
            <a:r>
              <a:rPr sz="1100" spc="-30" dirty="0"/>
              <a:t> </a:t>
            </a:r>
            <a:r>
              <a:rPr sz="1100" spc="-60" dirty="0"/>
              <a:t>are</a:t>
            </a:r>
            <a:r>
              <a:rPr sz="1100" spc="-30" dirty="0"/>
              <a:t> </a:t>
            </a:r>
            <a:r>
              <a:rPr sz="1100" spc="-45" dirty="0"/>
              <a:t>dropped</a:t>
            </a:r>
            <a:r>
              <a:rPr sz="1100" spc="-30" dirty="0"/>
              <a:t> </a:t>
            </a:r>
            <a:r>
              <a:rPr sz="1100" spc="-25" dirty="0"/>
              <a:t>out</a:t>
            </a:r>
            <a:endParaRPr sz="1100"/>
          </a:p>
          <a:p>
            <a:pPr>
              <a:lnSpc>
                <a:spcPct val="100000"/>
              </a:lnSpc>
              <a:spcBef>
                <a:spcPts val="260"/>
              </a:spcBef>
              <a:buFont typeface="Lucida Sans Unicode" panose="020B0602030504020204"/>
              <a:buChar char="►"/>
            </a:pPr>
            <a:endParaRPr sz="1100"/>
          </a:p>
          <a:p>
            <a:pPr marL="222250" indent="-146050">
              <a:lnSpc>
                <a:spcPct val="100000"/>
              </a:lnSpc>
              <a:buSzPct val="73000"/>
              <a:buFont typeface="Lucida Sans Unicode" panose="020B0602030504020204"/>
              <a:buChar char="►"/>
              <a:tabLst>
                <a:tab pos="222250" algn="l"/>
              </a:tabLst>
            </a:pPr>
            <a:r>
              <a:rPr sz="1100" spc="-40" dirty="0"/>
              <a:t>Minibatch-</a:t>
            </a:r>
            <a:r>
              <a:rPr sz="1100" spc="-20" dirty="0"/>
              <a:t>based</a:t>
            </a:r>
            <a:r>
              <a:rPr sz="1100" spc="45" dirty="0"/>
              <a:t> </a:t>
            </a:r>
            <a:r>
              <a:rPr sz="1100" spc="-10" dirty="0"/>
              <a:t>learning</a:t>
            </a:r>
            <a:endParaRPr sz="1100"/>
          </a:p>
          <a:p>
            <a:pPr marL="501015" marR="139700" indent="-137160">
              <a:lnSpc>
                <a:spcPct val="100000"/>
              </a:lnSpc>
              <a:spcBef>
                <a:spcPts val="175"/>
              </a:spcBef>
            </a:pPr>
            <a:r>
              <a:rPr sz="900" spc="494" baseline="14000" dirty="0">
                <a:latin typeface="Arial MT"/>
                <a:cs typeface="Arial MT"/>
              </a:rPr>
              <a:t>)</a:t>
            </a:r>
            <a:r>
              <a:rPr sz="900" spc="450" baseline="14000" dirty="0">
                <a:latin typeface="Arial MT"/>
                <a:cs typeface="Arial MT"/>
              </a:rPr>
              <a:t> </a:t>
            </a:r>
            <a:r>
              <a:rPr sz="1000" spc="-10" dirty="0"/>
              <a:t>for </a:t>
            </a:r>
            <a:r>
              <a:rPr sz="1000" spc="-45" dirty="0"/>
              <a:t>each</a:t>
            </a:r>
            <a:r>
              <a:rPr sz="1000" spc="-15" dirty="0"/>
              <a:t> </a:t>
            </a:r>
            <a:r>
              <a:rPr sz="1000" spc="-20" dirty="0"/>
              <a:t>batch</a:t>
            </a:r>
            <a:r>
              <a:rPr sz="1000" spc="-15" dirty="0"/>
              <a:t> </a:t>
            </a:r>
            <a:r>
              <a:rPr sz="1000" dirty="0"/>
              <a:t>of</a:t>
            </a:r>
            <a:r>
              <a:rPr sz="1000" spc="-15" dirty="0"/>
              <a:t> </a:t>
            </a:r>
            <a:r>
              <a:rPr sz="1000" spc="-20" dirty="0"/>
              <a:t>training</a:t>
            </a:r>
            <a:r>
              <a:rPr sz="1000" spc="-15" dirty="0"/>
              <a:t> </a:t>
            </a:r>
            <a:r>
              <a:rPr sz="1000" spc="-40" dirty="0"/>
              <a:t>instances</a:t>
            </a:r>
            <a:r>
              <a:rPr sz="1000" spc="-15" dirty="0"/>
              <a:t> </a:t>
            </a:r>
            <a:r>
              <a:rPr sz="1000" spc="-80" dirty="0"/>
              <a:t>we</a:t>
            </a:r>
            <a:r>
              <a:rPr sz="1000" dirty="0"/>
              <a:t> </a:t>
            </a:r>
            <a:r>
              <a:rPr sz="1000" spc="-40" dirty="0"/>
              <a:t>sample</a:t>
            </a:r>
            <a:r>
              <a:rPr sz="1000" spc="-15" dirty="0"/>
              <a:t> </a:t>
            </a:r>
            <a:r>
              <a:rPr sz="1000" spc="-30" dirty="0"/>
              <a:t>different</a:t>
            </a:r>
            <a:r>
              <a:rPr sz="1000" spc="-20" dirty="0"/>
              <a:t> </a:t>
            </a:r>
            <a:r>
              <a:rPr sz="1000" spc="-30" dirty="0"/>
              <a:t>binary</a:t>
            </a:r>
            <a:r>
              <a:rPr sz="1000" spc="-10" dirty="0"/>
              <a:t> </a:t>
            </a:r>
            <a:r>
              <a:rPr sz="1000" spc="-25" dirty="0"/>
              <a:t>masks </a:t>
            </a:r>
            <a:r>
              <a:rPr sz="1000" spc="-10" dirty="0"/>
              <a:t>for </a:t>
            </a:r>
            <a:r>
              <a:rPr sz="1000" spc="-25" dirty="0"/>
              <a:t>input/hidden</a:t>
            </a:r>
            <a:r>
              <a:rPr sz="1000" spc="-10" dirty="0"/>
              <a:t> units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000"/>
          </a:p>
          <a:p>
            <a:pPr marL="221615" marR="413385" indent="-146050">
              <a:lnSpc>
                <a:spcPct val="103000"/>
              </a:lnSpc>
              <a:buSzPct val="73000"/>
              <a:buFont typeface="Lucida Sans Unicode" panose="020B0602030504020204"/>
              <a:buChar char="►"/>
              <a:tabLst>
                <a:tab pos="223520" algn="l"/>
              </a:tabLst>
            </a:pPr>
            <a:r>
              <a:rPr sz="1100" spc="-20" dirty="0"/>
              <a:t>Typically</a:t>
            </a:r>
            <a:r>
              <a:rPr sz="1100" spc="-50" dirty="0"/>
              <a:t> </a:t>
            </a:r>
            <a:r>
              <a:rPr sz="1100" dirty="0"/>
              <a:t>an</a:t>
            </a:r>
            <a:r>
              <a:rPr sz="1100" spc="-40" dirty="0"/>
              <a:t> </a:t>
            </a:r>
            <a:r>
              <a:rPr sz="1100" spc="-10" dirty="0"/>
              <a:t>input</a:t>
            </a:r>
            <a:r>
              <a:rPr sz="1100" spc="-45" dirty="0"/>
              <a:t> </a:t>
            </a:r>
            <a:r>
              <a:rPr sz="1100" dirty="0"/>
              <a:t>unit</a:t>
            </a:r>
            <a:r>
              <a:rPr sz="1100" spc="-45" dirty="0"/>
              <a:t> </a:t>
            </a:r>
            <a:r>
              <a:rPr sz="1100" dirty="0"/>
              <a:t>is</a:t>
            </a:r>
            <a:r>
              <a:rPr sz="1100" spc="-45" dirty="0"/>
              <a:t> </a:t>
            </a:r>
            <a:r>
              <a:rPr sz="1100" spc="-35" dirty="0"/>
              <a:t>included</a:t>
            </a:r>
            <a:r>
              <a:rPr sz="1100" spc="-40" dirty="0"/>
              <a:t> </a:t>
            </a:r>
            <a:r>
              <a:rPr sz="1100" dirty="0"/>
              <a:t>with</a:t>
            </a:r>
            <a:r>
              <a:rPr sz="1100" spc="-45" dirty="0"/>
              <a:t> </a:t>
            </a:r>
            <a:r>
              <a:rPr sz="1100" dirty="0"/>
              <a:t>a</a:t>
            </a:r>
            <a:r>
              <a:rPr sz="1100" spc="-40" dirty="0"/>
              <a:t> </a:t>
            </a:r>
            <a:r>
              <a:rPr sz="1100" spc="-30" dirty="0"/>
              <a:t>probability</a:t>
            </a:r>
            <a:r>
              <a:rPr sz="1100" spc="-40" dirty="0"/>
              <a:t> </a:t>
            </a:r>
            <a:r>
              <a:rPr sz="1100" dirty="0"/>
              <a:t>of</a:t>
            </a:r>
            <a:r>
              <a:rPr sz="1100" spc="-45" dirty="0"/>
              <a:t> </a:t>
            </a:r>
            <a:r>
              <a:rPr sz="1100" spc="-35" dirty="0"/>
              <a:t>0.8</a:t>
            </a:r>
            <a:r>
              <a:rPr sz="1100" spc="-45" dirty="0"/>
              <a:t> </a:t>
            </a:r>
            <a:r>
              <a:rPr sz="1100" spc="-25" dirty="0"/>
              <a:t>and 	</a:t>
            </a:r>
            <a:r>
              <a:rPr sz="1100" spc="-40" dirty="0"/>
              <a:t>hidden</a:t>
            </a:r>
            <a:r>
              <a:rPr sz="1100" spc="-45" dirty="0"/>
              <a:t> </a:t>
            </a:r>
            <a:r>
              <a:rPr sz="1100" dirty="0"/>
              <a:t>unit</a:t>
            </a:r>
            <a:r>
              <a:rPr sz="1100" spc="-40" dirty="0"/>
              <a:t> </a:t>
            </a:r>
            <a:r>
              <a:rPr sz="1100" dirty="0"/>
              <a:t>with</a:t>
            </a:r>
            <a:r>
              <a:rPr sz="1100" spc="-45" dirty="0"/>
              <a:t> </a:t>
            </a:r>
            <a:r>
              <a:rPr sz="1100" dirty="0"/>
              <a:t>a</a:t>
            </a:r>
            <a:r>
              <a:rPr sz="1100" spc="-40" dirty="0"/>
              <a:t> </a:t>
            </a:r>
            <a:r>
              <a:rPr sz="1100" spc="-30" dirty="0"/>
              <a:t>probability</a:t>
            </a:r>
            <a:r>
              <a:rPr sz="1100" spc="-45" dirty="0"/>
              <a:t> </a:t>
            </a:r>
            <a:r>
              <a:rPr sz="1100" dirty="0"/>
              <a:t>of</a:t>
            </a:r>
            <a:r>
              <a:rPr sz="1100" spc="-40" dirty="0"/>
              <a:t> </a:t>
            </a:r>
            <a:r>
              <a:rPr sz="1100" spc="-25" dirty="0"/>
              <a:t>0.5</a:t>
            </a:r>
            <a:endParaRPr sz="1100"/>
          </a:p>
          <a:p>
            <a:pPr>
              <a:lnSpc>
                <a:spcPct val="100000"/>
              </a:lnSpc>
              <a:spcBef>
                <a:spcPts val="105"/>
              </a:spcBef>
              <a:buFont typeface="Lucida Sans Unicode" panose="020B0602030504020204"/>
              <a:buChar char="►"/>
            </a:pPr>
            <a:endParaRPr sz="1100"/>
          </a:p>
          <a:p>
            <a:pPr marL="221615" marR="17780" indent="-146050">
              <a:lnSpc>
                <a:spcPct val="103000"/>
              </a:lnSpc>
              <a:buSzPct val="73000"/>
              <a:buFont typeface="Lucida Sans Unicode" panose="020B0602030504020204"/>
              <a:buChar char="►"/>
              <a:tabLst>
                <a:tab pos="223520" algn="l"/>
              </a:tabLst>
            </a:pPr>
            <a:r>
              <a:rPr sz="1100" spc="-30" dirty="0"/>
              <a:t>Compute</a:t>
            </a:r>
            <a:r>
              <a:rPr sz="1100" spc="-25" dirty="0"/>
              <a:t> </a:t>
            </a:r>
            <a:r>
              <a:rPr sz="1100" spc="-50" dirty="0"/>
              <a:t>back-</a:t>
            </a:r>
            <a:r>
              <a:rPr sz="1100" spc="-45" dirty="0"/>
              <a:t>propagation</a:t>
            </a:r>
            <a:r>
              <a:rPr sz="1100" spc="-25" dirty="0"/>
              <a:t> </a:t>
            </a:r>
            <a:r>
              <a:rPr sz="1100" spc="-40" dirty="0"/>
              <a:t>as</a:t>
            </a:r>
            <a:r>
              <a:rPr sz="1100" spc="-20" dirty="0"/>
              <a:t> </a:t>
            </a:r>
            <a:r>
              <a:rPr sz="1100" spc="-45" dirty="0"/>
              <a:t>usual</a:t>
            </a:r>
            <a:r>
              <a:rPr sz="1100" spc="-25" dirty="0"/>
              <a:t> </a:t>
            </a:r>
            <a:r>
              <a:rPr sz="1100" dirty="0"/>
              <a:t>but</a:t>
            </a:r>
            <a:r>
              <a:rPr sz="1100" spc="-20" dirty="0"/>
              <a:t> </a:t>
            </a:r>
            <a:r>
              <a:rPr sz="1100" spc="-25" dirty="0"/>
              <a:t>multiplying </a:t>
            </a:r>
            <a:r>
              <a:rPr sz="1100" spc="-20" dirty="0"/>
              <a:t>the </a:t>
            </a:r>
            <a:r>
              <a:rPr sz="1100" spc="-30" dirty="0"/>
              <a:t>activations</a:t>
            </a:r>
            <a:r>
              <a:rPr sz="1100" spc="-25" dirty="0"/>
              <a:t> by 	</a:t>
            </a:r>
            <a:r>
              <a:rPr sz="1100" spc="-10" dirty="0"/>
              <a:t>the</a:t>
            </a:r>
            <a:r>
              <a:rPr sz="1100" spc="-75" dirty="0"/>
              <a:t> </a:t>
            </a:r>
            <a:r>
              <a:rPr sz="1100" spc="-20" dirty="0"/>
              <a:t>mask</a:t>
            </a:r>
            <a:endParaRPr sz="1100"/>
          </a:p>
        </p:txBody>
      </p:sp>
      <p:sp>
        <p:nvSpPr>
          <p:cNvPr id="6" name="object 6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Dropout</a:t>
            </a:r>
            <a:r>
              <a:rPr spc="-45" dirty="0"/>
              <a:t> </a:t>
            </a:r>
            <a:r>
              <a:rPr dirty="0"/>
              <a:t>-</a:t>
            </a:r>
            <a:r>
              <a:rPr spc="-40" dirty="0"/>
              <a:t> </a:t>
            </a:r>
            <a:r>
              <a:rPr spc="-55" dirty="0"/>
              <a:t>Forward</a:t>
            </a:r>
            <a:r>
              <a:rPr spc="-40" dirty="0"/>
              <a:t> </a:t>
            </a:r>
            <a:r>
              <a:rPr spc="-35" dirty="0"/>
              <a:t>computations</a:t>
            </a:r>
            <a:r>
              <a:rPr spc="-40" dirty="0"/>
              <a:t> </a:t>
            </a:r>
            <a:r>
              <a:rPr spc="-25" dirty="0"/>
              <a:t>(i)</a:t>
            </a:r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29539" y="550098"/>
            <a:ext cx="3912870" cy="6838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0" indent="-146050">
              <a:lnSpc>
                <a:spcPct val="100000"/>
              </a:lnSpc>
              <a:spcBef>
                <a:spcPts val="435"/>
              </a:spcBef>
              <a:buSzPct val="73000"/>
              <a:buFont typeface="Lucida Sans Unicode" panose="020B0602030504020204"/>
              <a:buChar char="►"/>
              <a:tabLst>
                <a:tab pos="18415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For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 every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mini-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batch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training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set,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84150" indent="-146050">
              <a:lnSpc>
                <a:spcPct val="100000"/>
              </a:lnSpc>
              <a:spcBef>
                <a:spcPts val="335"/>
              </a:spcBef>
              <a:buSzPct val="73000"/>
              <a:buFont typeface="Lucida Sans Unicode" panose="020B0602030504020204"/>
              <a:buChar char="►"/>
              <a:tabLst>
                <a:tab pos="18415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For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input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layer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sample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drop-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out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masks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µ</a:t>
            </a:r>
            <a:r>
              <a:rPr sz="1200" baseline="28000" dirty="0">
                <a:latin typeface="Tahoma" panose="020B0604030504040204"/>
                <a:cs typeface="Tahoma" panose="020B0604030504040204"/>
              </a:rPr>
              <a:t>(0)</a:t>
            </a:r>
            <a:r>
              <a:rPr sz="1200" spc="89" baseline="280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∼</a:t>
            </a:r>
            <a:r>
              <a:rPr sz="1100" spc="-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Bernoulli(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p</a:t>
            </a:r>
            <a:r>
              <a:rPr sz="1200" spc="-15" baseline="-10000" dirty="0">
                <a:latin typeface="Tahoma" panose="020B0604030504040204"/>
                <a:cs typeface="Tahoma" panose="020B0604030504040204"/>
              </a:rPr>
              <a:t>input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200" i="1" spc="-15" baseline="-14000" dirty="0">
                <a:latin typeface="Arial" panose="020B0604020202020204"/>
                <a:cs typeface="Arial" panose="020B0604020202020204"/>
              </a:rPr>
              <a:t>N</a:t>
            </a:r>
            <a:endParaRPr sz="1200" baseline="-14000">
              <a:latin typeface="Arial" panose="020B0604020202020204"/>
              <a:cs typeface="Arial" panose="020B0604020202020204"/>
            </a:endParaRPr>
          </a:p>
          <a:p>
            <a:pPr marL="184150" indent="-146050">
              <a:lnSpc>
                <a:spcPts val="1070"/>
              </a:lnSpc>
              <a:spcBef>
                <a:spcPts val="330"/>
              </a:spcBef>
              <a:buSzPct val="73000"/>
              <a:buFont typeface="Lucida Sans Unicode" panose="020B0602030504020204"/>
              <a:buChar char="►"/>
              <a:tabLst>
                <a:tab pos="18415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For</a:t>
            </a:r>
            <a:r>
              <a:rPr sz="11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hidden</a:t>
            </a:r>
            <a:r>
              <a:rPr sz="1100" spc="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layer</a:t>
            </a:r>
            <a:r>
              <a:rPr sz="1100" spc="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l</a:t>
            </a:r>
            <a:r>
              <a:rPr sz="1100" i="1" spc="105" dirty="0">
                <a:latin typeface="Arial" panose="020B0604020202020204"/>
                <a:cs typeface="Arial" panose="020B0604020202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1</a:t>
            </a:r>
            <a:r>
              <a:rPr sz="1100" i="1" spc="-30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.</a:t>
            </a:r>
            <a:r>
              <a:rPr sz="1100" i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.</a:t>
            </a:r>
            <a:r>
              <a:rPr sz="11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.</a:t>
            </a:r>
            <a:r>
              <a:rPr sz="1100" i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L</a:t>
            </a:r>
            <a:r>
              <a:rPr sz="1100" i="1" spc="6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sample</a:t>
            </a:r>
            <a:r>
              <a:rPr sz="11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µ</a:t>
            </a:r>
            <a:r>
              <a:rPr sz="1200" baseline="28000" dirty="0">
                <a:latin typeface="Tahoma" panose="020B0604030504040204"/>
                <a:cs typeface="Tahoma" panose="020B0604030504040204"/>
              </a:rPr>
              <a:t>(</a:t>
            </a:r>
            <a:r>
              <a:rPr sz="1200" i="1" baseline="28000" dirty="0">
                <a:latin typeface="Arial" panose="020B0604020202020204"/>
                <a:cs typeface="Arial" panose="020B0604020202020204"/>
              </a:rPr>
              <a:t>l</a:t>
            </a:r>
            <a:r>
              <a:rPr sz="1200" baseline="28000" dirty="0">
                <a:latin typeface="Tahoma" panose="020B0604030504040204"/>
                <a:cs typeface="Tahoma" panose="020B0604030504040204"/>
              </a:rPr>
              <a:t>)</a:t>
            </a:r>
            <a:r>
              <a:rPr sz="1200" spc="165" baseline="280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Lucida Sans Unicode" panose="020B0602030504020204"/>
                <a:cs typeface="Lucida Sans Unicode" panose="020B0602030504020204"/>
              </a:rPr>
              <a:t>∼</a:t>
            </a:r>
            <a:r>
              <a:rPr sz="110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Bernoulli(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p</a:t>
            </a:r>
            <a:r>
              <a:rPr sz="1200" spc="-15" baseline="-14000" dirty="0">
                <a:latin typeface="Tahoma" panose="020B0604030504040204"/>
                <a:cs typeface="Tahoma" panose="020B0604030504040204"/>
              </a:rPr>
              <a:t>hidden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200" i="1" spc="-15" baseline="-14000" dirty="0">
                <a:latin typeface="Arial" panose="020B0604020202020204"/>
                <a:cs typeface="Arial" panose="020B0604020202020204"/>
              </a:rPr>
              <a:t>N</a:t>
            </a:r>
            <a:endParaRPr sz="1200" baseline="-14000">
              <a:latin typeface="Arial" panose="020B0604020202020204"/>
              <a:cs typeface="Arial" panose="020B0604020202020204"/>
            </a:endParaRPr>
          </a:p>
          <a:p>
            <a:pPr marR="92710" algn="r">
              <a:lnSpc>
                <a:spcPts val="470"/>
              </a:lnSpc>
            </a:pPr>
            <a:r>
              <a:rPr sz="600" i="1" spc="-50" dirty="0">
                <a:latin typeface="Arial" panose="020B0604020202020204"/>
                <a:cs typeface="Arial" panose="020B0604020202020204"/>
              </a:rPr>
              <a:t>l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0323" y="1515984"/>
            <a:ext cx="287655" cy="4959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30" baseline="-23000" dirty="0">
                <a:latin typeface="Arial" panose="020B0604020202020204"/>
                <a:cs typeface="Arial" panose="020B0604020202020204"/>
              </a:rPr>
              <a:t>h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(1)</a:t>
            </a:r>
            <a:endParaRPr sz="8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800">
              <a:latin typeface="Tahoma" panose="020B0604030504040204"/>
              <a:cs typeface="Tahoma" panose="020B0604030504040204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650" i="1" spc="-30" baseline="-23000" dirty="0">
                <a:latin typeface="Arial" panose="020B0604020202020204"/>
                <a:cs typeface="Arial" panose="020B0604020202020204"/>
              </a:rPr>
              <a:t>h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(2)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6982" y="157318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=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2808" y="1515984"/>
            <a:ext cx="2019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12" baseline="-23000" dirty="0">
                <a:latin typeface="Arial" panose="020B0604020202020204"/>
                <a:cs typeface="Arial" panose="020B0604020202020204"/>
              </a:rPr>
              <a:t>g</a:t>
            </a:r>
            <a:r>
              <a:rPr sz="1650" i="1" spc="-277" baseline="-23000" dirty="0">
                <a:latin typeface="Arial" panose="020B0604020202020204"/>
                <a:cs typeface="Arial" panose="020B060402020202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(1)</a:t>
            </a:r>
            <a:r>
              <a:rPr sz="1650" spc="187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i="1" spc="-30" baseline="-23000" dirty="0">
                <a:latin typeface="Arial" panose="020B0604020202020204"/>
                <a:cs typeface="Arial" panose="020B0604020202020204"/>
              </a:rPr>
              <a:t>W</a:t>
            </a:r>
            <a:r>
              <a:rPr sz="1650" i="1" spc="-172" baseline="-23000" dirty="0">
                <a:latin typeface="Arial" panose="020B0604020202020204"/>
                <a:cs typeface="Arial" panose="020B060402020202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(1)</a:t>
            </a:r>
            <a:r>
              <a:rPr sz="1200" i="1" baseline="21000" dirty="0">
                <a:latin typeface="Arial" panose="020B0604020202020204"/>
                <a:cs typeface="Arial" panose="020B0604020202020204"/>
              </a:rPr>
              <a:t>T</a:t>
            </a:r>
            <a:r>
              <a:rPr sz="1650" spc="270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i="1" baseline="-23000" dirty="0">
                <a:latin typeface="Arial" panose="020B0604020202020204"/>
                <a:cs typeface="Arial" panose="020B0604020202020204"/>
              </a:rPr>
              <a:t>x</a:t>
            </a:r>
            <a:r>
              <a:rPr sz="1650" i="1" spc="7" baseline="-23000" dirty="0">
                <a:latin typeface="Arial" panose="020B0604020202020204"/>
                <a:cs typeface="Arial" panose="020B0604020202020204"/>
              </a:rPr>
              <a:t> </a:t>
            </a:r>
            <a:r>
              <a:rPr sz="1650" spc="1185" baseline="30000" dirty="0">
                <a:latin typeface="Lucida Sans Unicode" panose="020B0602030504020204"/>
                <a:cs typeface="Lucida Sans Unicode" panose="020B0602030504020204"/>
              </a:rPr>
              <a:t>O</a:t>
            </a:r>
            <a:r>
              <a:rPr sz="1650" spc="-232" baseline="300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650" i="1" baseline="-23000" dirty="0">
                <a:latin typeface="Calibri" panose="020F0502020204030204"/>
                <a:cs typeface="Calibri" panose="020F0502020204030204"/>
              </a:rPr>
              <a:t>µ</a:t>
            </a:r>
            <a:r>
              <a:rPr sz="800" dirty="0">
                <a:latin typeface="Tahoma" panose="020B0604030504040204"/>
                <a:cs typeface="Tahoma" panose="020B0604030504040204"/>
              </a:rPr>
              <a:t>(0)</a:t>
            </a:r>
            <a:r>
              <a:rPr sz="1650" spc="195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baseline="-23000" dirty="0">
                <a:latin typeface="Tahoma" panose="020B0604030504040204"/>
                <a:cs typeface="Tahoma" panose="020B0604030504040204"/>
              </a:rPr>
              <a:t>+</a:t>
            </a:r>
            <a:r>
              <a:rPr sz="1650" spc="-135" baseline="-23000" dirty="0">
                <a:latin typeface="Tahoma" panose="020B0604030504040204"/>
                <a:cs typeface="Tahoma" panose="020B0604030504040204"/>
              </a:rPr>
              <a:t> </a:t>
            </a:r>
            <a:r>
              <a:rPr sz="1650" i="1" spc="-30" baseline="-23000" dirty="0">
                <a:latin typeface="Arial" panose="020B0604020202020204"/>
                <a:cs typeface="Arial" panose="020B0604020202020204"/>
              </a:rPr>
              <a:t>b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(1)</a:t>
            </a:r>
            <a:r>
              <a:rPr sz="1650" spc="-30" baseline="38000" dirty="0">
                <a:latin typeface="Lucida Sans Unicode" panose="020B0602030504020204"/>
                <a:cs typeface="Lucida Sans Unicode" panose="020B0602030504020204"/>
              </a:rPr>
              <a:t> </a:t>
            </a:r>
            <a:endParaRPr sz="1650" baseline="380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6982" y="187719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=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2808" y="1819997"/>
            <a:ext cx="21615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12" baseline="-23000" dirty="0">
                <a:latin typeface="Arial" panose="020B0604020202020204"/>
                <a:cs typeface="Arial" panose="020B0604020202020204"/>
              </a:rPr>
              <a:t>g</a:t>
            </a:r>
            <a:r>
              <a:rPr sz="1650" i="1" spc="-277" baseline="-23000" dirty="0">
                <a:latin typeface="Arial" panose="020B0604020202020204"/>
                <a:cs typeface="Arial" panose="020B060402020202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(2)</a:t>
            </a:r>
            <a:r>
              <a:rPr sz="1650" spc="195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i="1" spc="-30" baseline="-23000" dirty="0">
                <a:latin typeface="Arial" panose="020B0604020202020204"/>
                <a:cs typeface="Arial" panose="020B0604020202020204"/>
              </a:rPr>
              <a:t>W</a:t>
            </a:r>
            <a:r>
              <a:rPr sz="1650" i="1" spc="-172" baseline="-23000" dirty="0">
                <a:latin typeface="Arial" panose="020B0604020202020204"/>
                <a:cs typeface="Arial" panose="020B060402020202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(2)</a:t>
            </a:r>
            <a:r>
              <a:rPr sz="1200" i="1" baseline="21000" dirty="0">
                <a:latin typeface="Arial" panose="020B0604020202020204"/>
                <a:cs typeface="Arial" panose="020B0604020202020204"/>
              </a:rPr>
              <a:t>T</a:t>
            </a:r>
            <a:r>
              <a:rPr sz="1650" spc="277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i="1" baseline="-23000" dirty="0">
                <a:latin typeface="Arial" panose="020B0604020202020204"/>
                <a:cs typeface="Arial" panose="020B0604020202020204"/>
              </a:rPr>
              <a:t>h</a:t>
            </a:r>
            <a:r>
              <a:rPr sz="800" dirty="0">
                <a:latin typeface="Tahoma" panose="020B0604030504040204"/>
                <a:cs typeface="Tahoma" panose="020B0604030504040204"/>
              </a:rPr>
              <a:t>(1)</a:t>
            </a:r>
            <a:r>
              <a:rPr sz="8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650" spc="1185" baseline="30000" dirty="0">
                <a:latin typeface="Lucida Sans Unicode" panose="020B0602030504020204"/>
                <a:cs typeface="Lucida Sans Unicode" panose="020B0602030504020204"/>
              </a:rPr>
              <a:t>O</a:t>
            </a:r>
            <a:r>
              <a:rPr sz="1650" spc="-232" baseline="300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650" i="1" baseline="-23000" dirty="0">
                <a:latin typeface="Calibri" panose="020F0502020204030204"/>
                <a:cs typeface="Calibri" panose="020F0502020204030204"/>
              </a:rPr>
              <a:t>µ</a:t>
            </a:r>
            <a:r>
              <a:rPr sz="800" dirty="0">
                <a:latin typeface="Tahoma" panose="020B0604030504040204"/>
                <a:cs typeface="Tahoma" panose="020B0604030504040204"/>
              </a:rPr>
              <a:t>(1)</a:t>
            </a:r>
            <a:r>
              <a:rPr sz="1650" spc="195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baseline="-23000" dirty="0">
                <a:latin typeface="Tahoma" panose="020B0604030504040204"/>
                <a:cs typeface="Tahoma" panose="020B0604030504040204"/>
              </a:rPr>
              <a:t>+</a:t>
            </a:r>
            <a:r>
              <a:rPr sz="1650" spc="-120" baseline="-23000" dirty="0">
                <a:latin typeface="Tahoma" panose="020B0604030504040204"/>
                <a:cs typeface="Tahoma" panose="020B0604030504040204"/>
              </a:rPr>
              <a:t> </a:t>
            </a:r>
            <a:r>
              <a:rPr sz="1650" i="1" spc="-30" baseline="-23000" dirty="0">
                <a:latin typeface="Arial" panose="020B0604020202020204"/>
                <a:cs typeface="Arial" panose="020B0604020202020204"/>
              </a:rPr>
              <a:t>b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(2)</a:t>
            </a:r>
            <a:r>
              <a:rPr sz="1650" spc="-30" baseline="38000" dirty="0">
                <a:latin typeface="Lucida Sans Unicode" panose="020B0602030504020204"/>
                <a:cs typeface="Lucida Sans Unicode" panose="020B0602030504020204"/>
              </a:rPr>
              <a:t> </a:t>
            </a:r>
            <a:endParaRPr sz="1650" baseline="380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0046" y="2253485"/>
            <a:ext cx="18732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i="1" dirty="0">
                <a:latin typeface="Calibri" panose="020F0502020204030204"/>
                <a:cs typeface="Calibri" panose="020F0502020204030204"/>
              </a:rPr>
              <a:t>.</a:t>
            </a:r>
            <a:r>
              <a:rPr sz="1100" i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.</a:t>
            </a:r>
            <a:r>
              <a:rPr sz="1100" i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0" dirty="0">
                <a:latin typeface="Calibri" panose="020F0502020204030204"/>
                <a:cs typeface="Calibri" panose="020F0502020204030204"/>
              </a:rPr>
              <a:t>.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39370">
              <a:lnSpc>
                <a:spcPct val="100000"/>
              </a:lnSpc>
              <a:spcBef>
                <a:spcPts val="335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=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5573" y="2450095"/>
            <a:ext cx="292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30" baseline="-23000" dirty="0">
                <a:latin typeface="Arial" panose="020B0604020202020204"/>
                <a:cs typeface="Arial" panose="020B0604020202020204"/>
              </a:rPr>
              <a:t>h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-20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2808" y="2450095"/>
            <a:ext cx="2459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12" baseline="-23000" dirty="0">
                <a:latin typeface="Arial" panose="020B0604020202020204"/>
                <a:cs typeface="Arial" panose="020B0604020202020204"/>
              </a:rPr>
              <a:t>g</a:t>
            </a:r>
            <a:r>
              <a:rPr sz="1650" i="1" spc="-262" baseline="-23000" dirty="0">
                <a:latin typeface="Arial" panose="020B0604020202020204"/>
                <a:cs typeface="Arial" panose="020B060402020202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dirty="0">
                <a:latin typeface="Arial" panose="020B0604020202020204"/>
                <a:cs typeface="Arial" panose="020B0604020202020204"/>
              </a:rPr>
              <a:t>L</a:t>
            </a:r>
            <a:r>
              <a:rPr sz="800" dirty="0">
                <a:latin typeface="Tahoma" panose="020B0604030504040204"/>
                <a:cs typeface="Tahoma" panose="020B0604030504040204"/>
              </a:rPr>
              <a:t>)</a:t>
            </a:r>
            <a:r>
              <a:rPr sz="1650" spc="225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i="1" spc="-30" baseline="-23000" dirty="0">
                <a:latin typeface="Arial" panose="020B0604020202020204"/>
                <a:cs typeface="Arial" panose="020B0604020202020204"/>
              </a:rPr>
              <a:t>W</a:t>
            </a:r>
            <a:r>
              <a:rPr sz="1650" i="1" spc="-165" baseline="-23000" dirty="0">
                <a:latin typeface="Arial" panose="020B0604020202020204"/>
                <a:cs typeface="Arial" panose="020B060402020202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dirty="0">
                <a:latin typeface="Arial" panose="020B0604020202020204"/>
                <a:cs typeface="Arial" panose="020B0604020202020204"/>
              </a:rPr>
              <a:t>L</a:t>
            </a:r>
            <a:r>
              <a:rPr sz="800" dirty="0">
                <a:latin typeface="Tahoma" panose="020B0604030504040204"/>
                <a:cs typeface="Tahoma" panose="020B0604030504040204"/>
              </a:rPr>
              <a:t>)</a:t>
            </a:r>
            <a:r>
              <a:rPr sz="1200" i="1" baseline="21000" dirty="0">
                <a:latin typeface="Arial" panose="020B0604020202020204"/>
                <a:cs typeface="Arial" panose="020B0604020202020204"/>
              </a:rPr>
              <a:t>T</a:t>
            </a:r>
            <a:r>
              <a:rPr sz="1650" spc="322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i="1" baseline="-23000" dirty="0">
                <a:latin typeface="Arial" panose="020B0604020202020204"/>
                <a:cs typeface="Arial" panose="020B0604020202020204"/>
              </a:rPr>
              <a:t>h</a:t>
            </a:r>
            <a:r>
              <a:rPr sz="80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dirty="0">
                <a:latin typeface="Arial" panose="020B0604020202020204"/>
                <a:cs typeface="Arial" panose="020B0604020202020204"/>
              </a:rPr>
              <a:t>L</a:t>
            </a:r>
            <a:r>
              <a:rPr sz="800" dirty="0">
                <a:latin typeface="Cambria" panose="02040503050406030204"/>
                <a:cs typeface="Cambria" panose="02040503050406030204"/>
              </a:rPr>
              <a:t>−</a:t>
            </a:r>
            <a:r>
              <a:rPr sz="800" dirty="0">
                <a:latin typeface="Tahoma" panose="020B0604030504040204"/>
                <a:cs typeface="Tahoma" panose="020B0604030504040204"/>
              </a:rPr>
              <a:t>1)</a:t>
            </a:r>
            <a:r>
              <a:rPr sz="8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650" spc="1185" baseline="30000" dirty="0">
                <a:latin typeface="Lucida Sans Unicode" panose="020B0602030504020204"/>
                <a:cs typeface="Lucida Sans Unicode" panose="020B0602030504020204"/>
              </a:rPr>
              <a:t>O</a:t>
            </a:r>
            <a:r>
              <a:rPr sz="1650" spc="-217" baseline="300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650" i="1" spc="82" baseline="-23000" dirty="0">
                <a:latin typeface="Calibri" panose="020F0502020204030204"/>
                <a:cs typeface="Calibri" panose="020F0502020204030204"/>
              </a:rPr>
              <a:t>µ</a:t>
            </a:r>
            <a:r>
              <a:rPr sz="800" spc="55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55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55" dirty="0">
                <a:latin typeface="Cambria" panose="02040503050406030204"/>
                <a:cs typeface="Cambria" panose="02040503050406030204"/>
              </a:rPr>
              <a:t>−</a:t>
            </a:r>
            <a:r>
              <a:rPr sz="800" spc="55" dirty="0">
                <a:latin typeface="Tahoma" panose="020B0604030504040204"/>
                <a:cs typeface="Tahoma" panose="020B0604030504040204"/>
              </a:rPr>
              <a:t>1)</a:t>
            </a:r>
            <a:r>
              <a:rPr sz="1650" spc="232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baseline="-23000" dirty="0">
                <a:latin typeface="Tahoma" panose="020B0604030504040204"/>
                <a:cs typeface="Tahoma" panose="020B0604030504040204"/>
              </a:rPr>
              <a:t>+</a:t>
            </a:r>
            <a:r>
              <a:rPr sz="1650" spc="-104" baseline="-23000" dirty="0">
                <a:latin typeface="Tahoma" panose="020B0604030504040204"/>
                <a:cs typeface="Tahoma" panose="020B0604030504040204"/>
              </a:rPr>
              <a:t> </a:t>
            </a:r>
            <a:r>
              <a:rPr sz="1650" i="1" spc="-30" baseline="-23000" dirty="0">
                <a:latin typeface="Arial" panose="020B0604020202020204"/>
                <a:cs typeface="Arial" panose="020B0604020202020204"/>
              </a:rPr>
              <a:t>b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-20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)</a:t>
            </a:r>
            <a:r>
              <a:rPr sz="1650" spc="-30" baseline="38000" dirty="0">
                <a:latin typeface="Lucida Sans Unicode" panose="020B0602030504020204"/>
                <a:cs typeface="Lucida Sans Unicode" panose="020B0602030504020204"/>
              </a:rPr>
              <a:t> </a:t>
            </a:r>
            <a:endParaRPr sz="1650" baseline="380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444" y="2853091"/>
            <a:ext cx="2632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 panose="020B0604030504040204"/>
                <a:cs typeface="Tahoma" panose="020B0604030504040204"/>
              </a:rPr>
              <a:t>where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650" spc="592" baseline="40000" dirty="0">
                <a:latin typeface="Lucida Sans Unicode" panose="020B0602030504020204"/>
                <a:cs typeface="Lucida Sans Unicode" panose="020B0602030504020204"/>
              </a:rPr>
              <a:t>N</a:t>
            </a:r>
            <a:r>
              <a:rPr sz="1650" spc="-37" baseline="400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element-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wise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multiplication.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Dropout</a:t>
            </a:r>
            <a:r>
              <a:rPr spc="-4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55" dirty="0"/>
              <a:t>Forward</a:t>
            </a:r>
            <a:r>
              <a:rPr spc="-35" dirty="0"/>
              <a:t> </a:t>
            </a:r>
            <a:r>
              <a:rPr spc="-30" dirty="0"/>
              <a:t>computation</a:t>
            </a:r>
            <a:r>
              <a:rPr spc="-35" dirty="0"/>
              <a:t> </a:t>
            </a:r>
            <a:r>
              <a:rPr spc="-20" dirty="0"/>
              <a:t>(ii)</a:t>
            </a:r>
            <a:endParaRPr spc="-2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0278" y="686500"/>
            <a:ext cx="1441323" cy="18363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48246" y="2696189"/>
            <a:ext cx="3710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Figure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7: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Illustrating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drop-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out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masks,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Source:</a:t>
            </a:r>
            <a:r>
              <a:rPr sz="1000" spc="6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Goodfellow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et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al.,</a:t>
            </a:r>
            <a:r>
              <a:rPr sz="10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2016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Dropout</a:t>
            </a:r>
            <a:r>
              <a:rPr spc="-4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30" dirty="0"/>
              <a:t>Back-</a:t>
            </a:r>
            <a:r>
              <a:rPr spc="-40" dirty="0"/>
              <a:t>propagation</a:t>
            </a:r>
            <a:endParaRPr spc="-40" dirty="0"/>
          </a:p>
        </p:txBody>
      </p:sp>
      <p:sp>
        <p:nvSpPr>
          <p:cNvPr id="5" name="object 5"/>
          <p:cNvSpPr txBox="1"/>
          <p:nvPr/>
        </p:nvSpPr>
        <p:spPr>
          <a:xfrm>
            <a:off x="125844" y="616279"/>
            <a:ext cx="3835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 panose="020B0604030504040204"/>
                <a:cs typeface="Tahoma" panose="020B0604030504040204"/>
              </a:rPr>
              <a:t>When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running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backpropagation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mulptiply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gradients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by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masks: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983" y="1093240"/>
            <a:ext cx="723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55" dirty="0">
                <a:latin typeface="Calibri" panose="020F0502020204030204"/>
                <a:cs typeface="Calibri" panose="020F0502020204030204"/>
              </a:rPr>
              <a:t>∂</a:t>
            </a:r>
            <a:r>
              <a:rPr sz="1100" spc="55" dirty="0">
                <a:latin typeface="Lucida Sans Unicode" panose="020B0602030504020204"/>
                <a:cs typeface="Lucida Sans Unicode" panose="020B0602030504020204"/>
              </a:rPr>
              <a:t>L</a:t>
            </a:r>
            <a:r>
              <a:rPr sz="1100" spc="5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5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h</a:t>
            </a:r>
            <a:r>
              <a:rPr sz="1200" spc="-15" baseline="28000" dirty="0">
                <a:latin typeface="Tahoma" panose="020B0604030504040204"/>
                <a:cs typeface="Tahoma" panose="020B0604030504040204"/>
              </a:rPr>
              <a:t>(</a:t>
            </a:r>
            <a:r>
              <a:rPr sz="1200" i="1" spc="-15" baseline="28000" dirty="0">
                <a:latin typeface="Arial" panose="020B0604020202020204"/>
                <a:cs typeface="Arial" panose="020B0604020202020204"/>
              </a:rPr>
              <a:t>L</a:t>
            </a:r>
            <a:r>
              <a:rPr sz="1200" spc="-15" baseline="280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5083" y="1303578"/>
            <a:ext cx="647700" cy="0"/>
          </a:xfrm>
          <a:custGeom>
            <a:avLst/>
            <a:gdLst/>
            <a:ahLst/>
            <a:cxnLst/>
            <a:rect l="l" t="t" r="r" b="b"/>
            <a:pathLst>
              <a:path w="647700">
                <a:moveTo>
                  <a:pt x="0" y="0"/>
                </a:moveTo>
                <a:lnTo>
                  <a:pt x="6475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50976" y="1247646"/>
            <a:ext cx="429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baseline="-30000" dirty="0">
                <a:latin typeface="Calibri" panose="020F0502020204030204"/>
                <a:cs typeface="Calibri" panose="020F0502020204030204"/>
              </a:rPr>
              <a:t>∂</a:t>
            </a:r>
            <a:r>
              <a:rPr sz="1650" i="1" baseline="-30000" dirty="0">
                <a:latin typeface="Arial" panose="020B0604020202020204"/>
                <a:cs typeface="Arial" panose="020B0604020202020204"/>
              </a:rPr>
              <a:t>W</a:t>
            </a:r>
            <a:r>
              <a:rPr sz="1650" i="1" spc="-142" baseline="-30000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25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-25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-25" dirty="0">
                <a:latin typeface="Tahoma" panose="020B0604030504040204"/>
                <a:cs typeface="Tahoma" panose="020B0604030504040204"/>
              </a:rPr>
              <a:t>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8479" y="1401799"/>
            <a:ext cx="1193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 panose="020B0604020202020204"/>
                <a:cs typeface="Arial" panose="020B0604020202020204"/>
              </a:rPr>
              <a:t>j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i="1" spc="-25" dirty="0">
                <a:latin typeface="Arial" panose="020B0604020202020204"/>
                <a:cs typeface="Arial" panose="020B0604020202020204"/>
              </a:rPr>
              <a:t>i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21676" y="118696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=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32368" y="1247646"/>
            <a:ext cx="344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5" baseline="-30000" dirty="0">
                <a:latin typeface="Calibri" panose="020F0502020204030204"/>
                <a:cs typeface="Calibri" panose="020F0502020204030204"/>
              </a:rPr>
              <a:t>∂</a:t>
            </a:r>
            <a:r>
              <a:rPr sz="1650" i="1" spc="-15" baseline="-30000" dirty="0">
                <a:latin typeface="Arial" panose="020B0604020202020204"/>
                <a:cs typeface="Arial" panose="020B0604020202020204"/>
              </a:rPr>
              <a:t>a</a:t>
            </a:r>
            <a:r>
              <a:rPr sz="800" spc="-1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-10" dirty="0">
                <a:latin typeface="Tahoma" panose="020B0604030504040204"/>
                <a:cs typeface="Tahoma" panose="020B0604030504040204"/>
              </a:rPr>
              <a:t>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5596" y="1401799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i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45742" y="1093240"/>
            <a:ext cx="1064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55" dirty="0">
                <a:latin typeface="Calibri" panose="020F0502020204030204"/>
                <a:cs typeface="Calibri" panose="020F0502020204030204"/>
              </a:rPr>
              <a:t>∂</a:t>
            </a:r>
            <a:r>
              <a:rPr sz="1100" spc="55" dirty="0">
                <a:latin typeface="Lucida Sans Unicode" panose="020B0602030504020204"/>
                <a:cs typeface="Lucida Sans Unicode" panose="020B0602030504020204"/>
              </a:rPr>
              <a:t>L</a:t>
            </a:r>
            <a:r>
              <a:rPr sz="1100" spc="5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5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h</a:t>
            </a:r>
            <a:r>
              <a:rPr sz="1200" baseline="28000" dirty="0">
                <a:latin typeface="Tahoma" panose="020B0604030504040204"/>
                <a:cs typeface="Tahoma" panose="020B0604030504040204"/>
              </a:rPr>
              <a:t>(</a:t>
            </a:r>
            <a:r>
              <a:rPr sz="1200" i="1" baseline="28000" dirty="0">
                <a:latin typeface="Arial" panose="020B0604020202020204"/>
                <a:cs typeface="Arial" panose="020B0604020202020204"/>
              </a:rPr>
              <a:t>L</a:t>
            </a:r>
            <a:r>
              <a:rPr sz="1200" baseline="280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285" dirty="0">
                <a:latin typeface="Tahoma" panose="020B0604030504040204"/>
                <a:cs typeface="Tahoma" panose="020B0604030504040204"/>
              </a:rPr>
              <a:t> </a:t>
            </a:r>
            <a:r>
              <a:rPr sz="1650" i="1" spc="-30" baseline="3000" dirty="0">
                <a:latin typeface="Calibri" panose="020F0502020204030204"/>
                <a:cs typeface="Calibri" panose="020F0502020204030204"/>
              </a:rPr>
              <a:t>∂</a:t>
            </a:r>
            <a:r>
              <a:rPr sz="1650" i="1" spc="-30" baseline="3000" dirty="0">
                <a:latin typeface="Arial" panose="020B0604020202020204"/>
                <a:cs typeface="Arial" panose="020B0604020202020204"/>
              </a:rPr>
              <a:t>a</a:t>
            </a:r>
            <a:r>
              <a:rPr sz="1200" spc="-30" baseline="42000" dirty="0">
                <a:latin typeface="Tahoma" panose="020B0604030504040204"/>
                <a:cs typeface="Tahoma" panose="020B0604030504040204"/>
              </a:rPr>
              <a:t>(</a:t>
            </a:r>
            <a:r>
              <a:rPr sz="1200" i="1" spc="-30" baseline="42000" dirty="0">
                <a:latin typeface="Arial" panose="020B0604020202020204"/>
                <a:cs typeface="Arial" panose="020B0604020202020204"/>
              </a:rPr>
              <a:t>l</a:t>
            </a:r>
            <a:r>
              <a:rPr sz="1200" spc="-30" baseline="42000" dirty="0">
                <a:latin typeface="Tahoma" panose="020B0604030504040204"/>
                <a:cs typeface="Tahoma" panose="020B0604030504040204"/>
              </a:rPr>
              <a:t>)</a:t>
            </a:r>
            <a:endParaRPr sz="1200" baseline="4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1142" y="1170265"/>
            <a:ext cx="10629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0110" algn="l"/>
                <a:tab pos="1049655" algn="l"/>
              </a:tabLst>
            </a:pPr>
            <a:r>
              <a:rPr sz="80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800" i="1" u="sng" spc="-50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i</a:t>
            </a:r>
            <a:r>
              <a:rPr sz="800" i="1" u="sng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	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23680" y="1247646"/>
            <a:ext cx="429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baseline="-30000" dirty="0">
                <a:latin typeface="Calibri" panose="020F0502020204030204"/>
                <a:cs typeface="Calibri" panose="020F0502020204030204"/>
              </a:rPr>
              <a:t>∂</a:t>
            </a:r>
            <a:r>
              <a:rPr sz="1650" i="1" baseline="-30000" dirty="0">
                <a:latin typeface="Arial" panose="020B0604020202020204"/>
                <a:cs typeface="Arial" panose="020B0604020202020204"/>
              </a:rPr>
              <a:t>W</a:t>
            </a:r>
            <a:r>
              <a:rPr sz="1650" i="1" spc="-142" baseline="-30000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25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-25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-25" dirty="0">
                <a:latin typeface="Tahoma" panose="020B0604030504040204"/>
                <a:cs typeface="Tahoma" panose="020B0604030504040204"/>
              </a:rPr>
              <a:t>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61183" y="1401799"/>
            <a:ext cx="1193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 panose="020B0604020202020204"/>
                <a:cs typeface="Arial" panose="020B0604020202020204"/>
              </a:rPr>
              <a:t>j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i="1" spc="-25" dirty="0">
                <a:latin typeface="Arial" panose="020B0604020202020204"/>
                <a:cs typeface="Arial" panose="020B0604020202020204"/>
              </a:rPr>
              <a:t>i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21676" y="165469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=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45742" y="1560968"/>
            <a:ext cx="723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55" dirty="0">
                <a:latin typeface="Calibri" panose="020F0502020204030204"/>
                <a:cs typeface="Calibri" panose="020F0502020204030204"/>
              </a:rPr>
              <a:t>∂</a:t>
            </a:r>
            <a:r>
              <a:rPr sz="1100" spc="55" dirty="0">
                <a:latin typeface="Lucida Sans Unicode" panose="020B0602030504020204"/>
                <a:cs typeface="Lucida Sans Unicode" panose="020B0602030504020204"/>
              </a:rPr>
              <a:t>L</a:t>
            </a:r>
            <a:r>
              <a:rPr sz="1100" spc="5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5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h</a:t>
            </a:r>
            <a:r>
              <a:rPr sz="1200" spc="-15" baseline="28000" dirty="0">
                <a:latin typeface="Tahoma" panose="020B0604030504040204"/>
                <a:cs typeface="Tahoma" panose="020B0604030504040204"/>
              </a:rPr>
              <a:t>(</a:t>
            </a:r>
            <a:r>
              <a:rPr sz="1200" i="1" spc="-15" baseline="28000" dirty="0">
                <a:latin typeface="Arial" panose="020B0604020202020204"/>
                <a:cs typeface="Arial" panose="020B0604020202020204"/>
              </a:rPr>
              <a:t>L</a:t>
            </a:r>
            <a:r>
              <a:rPr sz="1200" spc="-15" baseline="28000" dirty="0">
                <a:latin typeface="Tahoma" panose="020B0604030504040204"/>
                <a:cs typeface="Tahoma" panose="020B0604030504040204"/>
              </a:rPr>
              <a:t>)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)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83842" y="1771294"/>
            <a:ext cx="647700" cy="0"/>
          </a:xfrm>
          <a:custGeom>
            <a:avLst/>
            <a:gdLst/>
            <a:ahLst/>
            <a:cxnLst/>
            <a:rect l="l" t="t" r="r" b="b"/>
            <a:pathLst>
              <a:path w="647700">
                <a:moveTo>
                  <a:pt x="0" y="0"/>
                </a:moveTo>
                <a:lnTo>
                  <a:pt x="6475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06955" y="1752687"/>
            <a:ext cx="1447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-25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-25" dirty="0">
                <a:latin typeface="Tahoma" panose="020B0604030504040204"/>
                <a:cs typeface="Tahoma" panose="020B0604030504040204"/>
              </a:rPr>
              <a:t>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32368" y="1788387"/>
            <a:ext cx="250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Calibri" panose="020F0502020204030204"/>
                <a:cs typeface="Calibri" panose="020F0502020204030204"/>
              </a:rPr>
              <a:t>∂</a:t>
            </a:r>
            <a:r>
              <a:rPr sz="1100" i="1" spc="-25" dirty="0">
                <a:latin typeface="Arial" panose="020B0604020202020204"/>
                <a:cs typeface="Arial" panose="020B0604020202020204"/>
              </a:rPr>
              <a:t>a</a:t>
            </a:r>
            <a:r>
              <a:rPr sz="1200" i="1" spc="-37" baseline="-24000" dirty="0">
                <a:latin typeface="Arial" panose="020B0604020202020204"/>
                <a:cs typeface="Arial" panose="020B0604020202020204"/>
              </a:rPr>
              <a:t>i</a:t>
            </a:r>
            <a:endParaRPr sz="1200" baseline="-24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07945" y="1618982"/>
            <a:ext cx="6280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65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65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65" dirty="0">
                <a:latin typeface="Cambria" panose="02040503050406030204"/>
                <a:cs typeface="Cambria" panose="02040503050406030204"/>
              </a:rPr>
              <a:t>−</a:t>
            </a:r>
            <a:r>
              <a:rPr sz="800" spc="65" dirty="0">
                <a:latin typeface="Tahoma" panose="020B0604030504040204"/>
                <a:cs typeface="Tahoma" panose="020B0604030504040204"/>
              </a:rPr>
              <a:t>1)</a:t>
            </a:r>
            <a:r>
              <a:rPr sz="800" spc="465" dirty="0">
                <a:latin typeface="Tahoma" panose="020B0604030504040204"/>
                <a:cs typeface="Tahoma" panose="020B0604030504040204"/>
              </a:rPr>
              <a:t> </a:t>
            </a:r>
            <a:r>
              <a:rPr sz="800" spc="45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45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45" dirty="0">
                <a:latin typeface="Cambria" panose="02040503050406030204"/>
                <a:cs typeface="Cambria" panose="02040503050406030204"/>
              </a:rPr>
              <a:t>−</a:t>
            </a:r>
            <a:r>
              <a:rPr sz="800" spc="45" dirty="0">
                <a:latin typeface="Tahoma" panose="020B0604030504040204"/>
                <a:cs typeface="Tahoma" panose="020B0604030504040204"/>
              </a:rPr>
              <a:t>1)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8504" y="1654694"/>
            <a:ext cx="5251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74015" algn="l"/>
              </a:tabLst>
            </a:pPr>
            <a:r>
              <a:rPr sz="1100" i="1" spc="-25" dirty="0">
                <a:latin typeface="Arial" panose="020B0604020202020204"/>
                <a:cs typeface="Arial" panose="020B0604020202020204"/>
              </a:rPr>
              <a:t>h</a:t>
            </a:r>
            <a:r>
              <a:rPr sz="1200" i="1" spc="-37" baseline="-24000" dirty="0">
                <a:latin typeface="Arial" panose="020B0604020202020204"/>
                <a:cs typeface="Arial" panose="020B0604020202020204"/>
              </a:rPr>
              <a:t>j</a:t>
            </a:r>
            <a:r>
              <a:rPr sz="1200" i="1" baseline="-24000" dirty="0">
                <a:latin typeface="Arial" panose="020B0604020202020204"/>
                <a:cs typeface="Arial" panose="020B0604020202020204"/>
              </a:rPr>
              <a:t>	</a:t>
            </a:r>
            <a:r>
              <a:rPr sz="1100" i="1" spc="30" dirty="0">
                <a:latin typeface="Calibri" panose="020F0502020204030204"/>
                <a:cs typeface="Calibri" panose="020F0502020204030204"/>
              </a:rPr>
              <a:t>µ</a:t>
            </a:r>
            <a:r>
              <a:rPr sz="1200" i="1" spc="44" baseline="-24000" dirty="0">
                <a:latin typeface="Arial" panose="020B0604020202020204"/>
                <a:cs typeface="Arial" panose="020B0604020202020204"/>
              </a:rPr>
              <a:t>j</a:t>
            </a:r>
            <a:endParaRPr sz="1200" baseline="-24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21676" y="212987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=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16340" y="2023197"/>
            <a:ext cx="1676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-25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-25" dirty="0">
                <a:latin typeface="Tahoma" panose="020B0604030504040204"/>
                <a:cs typeface="Tahoma" panose="020B0604030504040204"/>
              </a:rPr>
              <a:t>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83842" y="2246490"/>
            <a:ext cx="647700" cy="0"/>
          </a:xfrm>
          <a:custGeom>
            <a:avLst/>
            <a:gdLst/>
            <a:ahLst/>
            <a:cxnLst/>
            <a:rect l="l" t="t" r="r" b="b"/>
            <a:pathLst>
              <a:path w="647700">
                <a:moveTo>
                  <a:pt x="0" y="0"/>
                </a:moveTo>
                <a:lnTo>
                  <a:pt x="6475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832368" y="2190558"/>
            <a:ext cx="344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5" baseline="-30000" dirty="0">
                <a:latin typeface="Calibri" panose="020F0502020204030204"/>
                <a:cs typeface="Calibri" panose="020F0502020204030204"/>
              </a:rPr>
              <a:t>∂</a:t>
            </a:r>
            <a:r>
              <a:rPr sz="1650" i="1" spc="-15" baseline="-30000" dirty="0">
                <a:latin typeface="Arial" panose="020B0604020202020204"/>
                <a:cs typeface="Arial" panose="020B0604020202020204"/>
              </a:rPr>
              <a:t>a</a:t>
            </a:r>
            <a:r>
              <a:rPr sz="800" spc="-1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-10" dirty="0">
                <a:latin typeface="Tahoma" panose="020B0604030504040204"/>
                <a:cs typeface="Tahoma" panose="020B0604030504040204"/>
              </a:rPr>
              <a:t>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05596" y="2344710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i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56992" y="1892959"/>
            <a:ext cx="137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59" dirty="0">
                <a:latin typeface="Lucida Sans Unicode" panose="020B0602030504020204"/>
                <a:cs typeface="Lucida Sans Unicode" panose="020B0602030504020204"/>
              </a:rPr>
              <a:t>(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71142" y="2036151"/>
            <a:ext cx="1243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05790" algn="l"/>
                <a:tab pos="809625" algn="l"/>
                <a:tab pos="1146175" algn="l"/>
              </a:tabLst>
            </a:pPr>
            <a:r>
              <a:rPr sz="1100" i="1" spc="55" dirty="0">
                <a:latin typeface="Calibri" panose="020F0502020204030204"/>
                <a:cs typeface="Calibri" panose="020F0502020204030204"/>
              </a:rPr>
              <a:t>∂</a:t>
            </a:r>
            <a:r>
              <a:rPr sz="1100" spc="55" dirty="0">
                <a:latin typeface="Lucida Sans Unicode" panose="020B0602030504020204"/>
                <a:cs typeface="Lucida Sans Unicode" panose="020B0602030504020204"/>
              </a:rPr>
              <a:t>L</a:t>
            </a:r>
            <a:r>
              <a:rPr sz="1100" spc="5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55" dirty="0">
                <a:latin typeface="Arial" panose="020B0604020202020204"/>
                <a:cs typeface="Arial" panose="020B0604020202020204"/>
              </a:rPr>
              <a:t>y</a:t>
            </a:r>
            <a:r>
              <a:rPr sz="1100" i="1" spc="55" dirty="0"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0" dirty="0">
                <a:latin typeface="Arial" panose="020B0604020202020204"/>
                <a:cs typeface="Arial" panose="020B0604020202020204"/>
              </a:rPr>
              <a:t>h</a:t>
            </a:r>
            <a:r>
              <a:rPr sz="1100" i="1" dirty="0">
                <a:latin typeface="Arial" panose="020B0604020202020204"/>
                <a:cs typeface="Arial" panose="020B0604020202020204"/>
              </a:rPr>
              <a:t>	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)</a:t>
            </a:r>
            <a:r>
              <a:rPr sz="1100" dirty="0">
                <a:latin typeface="Tahoma" panose="020B0604030504040204"/>
                <a:cs typeface="Tahoma" panose="020B0604030504040204"/>
              </a:rPr>
              <a:t>	</a:t>
            </a:r>
            <a:r>
              <a:rPr sz="1650" i="1" spc="-75" baseline="3000" dirty="0">
                <a:latin typeface="Arial" panose="020B0604020202020204"/>
                <a:cs typeface="Arial" panose="020B0604020202020204"/>
              </a:rPr>
              <a:t>h</a:t>
            </a:r>
            <a:r>
              <a:rPr sz="1650" i="1" baseline="3000" dirty="0">
                <a:latin typeface="Arial" panose="020B0604020202020204"/>
                <a:cs typeface="Arial" panose="020B0604020202020204"/>
              </a:rPr>
              <a:t>	</a:t>
            </a:r>
            <a:r>
              <a:rPr sz="1650" i="1" spc="15" baseline="3000" dirty="0">
                <a:latin typeface="Calibri" panose="020F0502020204030204"/>
                <a:cs typeface="Calibri" panose="020F0502020204030204"/>
              </a:rPr>
              <a:t>µ</a:t>
            </a:r>
            <a:endParaRPr sz="1650" baseline="3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42641" y="1996045"/>
            <a:ext cx="6280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65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65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65" dirty="0">
                <a:latin typeface="Cambria" panose="02040503050406030204"/>
                <a:cs typeface="Cambria" panose="02040503050406030204"/>
              </a:rPr>
              <a:t>−</a:t>
            </a:r>
            <a:r>
              <a:rPr sz="800" spc="65" dirty="0">
                <a:latin typeface="Tahoma" panose="020B0604030504040204"/>
                <a:cs typeface="Tahoma" panose="020B0604030504040204"/>
              </a:rPr>
              <a:t>1)</a:t>
            </a:r>
            <a:r>
              <a:rPr sz="800" spc="465" dirty="0">
                <a:latin typeface="Tahoma" panose="020B0604030504040204"/>
                <a:cs typeface="Tahoma" panose="020B0604030504040204"/>
              </a:rPr>
              <a:t> </a:t>
            </a:r>
            <a:r>
              <a:rPr sz="800" spc="45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45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45" dirty="0">
                <a:latin typeface="Cambria" panose="02040503050406030204"/>
                <a:cs typeface="Cambria" panose="02040503050406030204"/>
              </a:rPr>
              <a:t>−</a:t>
            </a:r>
            <a:r>
              <a:rPr sz="800" spc="45" dirty="0">
                <a:latin typeface="Tahoma" panose="020B0604030504040204"/>
                <a:cs typeface="Tahoma" panose="020B0604030504040204"/>
              </a:rPr>
              <a:t>1)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40177" y="2112885"/>
            <a:ext cx="4025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0680" algn="l"/>
              </a:tabLst>
            </a:pPr>
            <a:r>
              <a:rPr sz="800" i="1" spc="-50" dirty="0">
                <a:latin typeface="Arial" panose="020B0604020202020204"/>
                <a:cs typeface="Arial" panose="020B0604020202020204"/>
              </a:rPr>
              <a:t>j</a:t>
            </a:r>
            <a:r>
              <a:rPr sz="800" i="1" dirty="0">
                <a:latin typeface="Arial" panose="020B0604020202020204"/>
                <a:cs typeface="Arial" panose="020B0604020202020204"/>
              </a:rPr>
              <a:t>	</a:t>
            </a:r>
            <a:r>
              <a:rPr sz="800" i="1" spc="-50" dirty="0">
                <a:latin typeface="Arial" panose="020B0604020202020204"/>
                <a:cs typeface="Arial" panose="020B0604020202020204"/>
              </a:rPr>
              <a:t>j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89769" y="1985566"/>
            <a:ext cx="686435" cy="4508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100" dirty="0">
                <a:latin typeface="Tahoma" panose="020B0604030504040204"/>
                <a:cs typeface="Tahoma" panose="020B0604030504040204"/>
              </a:rPr>
              <a:t>if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l</a:t>
            </a:r>
            <a:r>
              <a:rPr sz="1100" i="1" spc="4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35" dirty="0">
                <a:latin typeface="Lucida Sans Unicode" panose="020B0602030504020204"/>
                <a:cs typeface="Lucida Sans Unicode" panose="020B0602030504020204"/>
              </a:rPr>
              <a:t>−</a:t>
            </a:r>
            <a:r>
              <a:rPr sz="11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1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spc="295" dirty="0">
                <a:latin typeface="Calibri" panose="020F0502020204030204"/>
                <a:cs typeface="Calibri" panose="020F0502020204030204"/>
              </a:rPr>
              <a:t>&gt;</a:t>
            </a:r>
            <a:r>
              <a:rPr sz="1100" i="1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0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latin typeface="Tahoma" panose="020B0604030504040204"/>
                <a:cs typeface="Tahoma" panose="020B0604030504040204"/>
              </a:rPr>
              <a:t>if</a:t>
            </a:r>
            <a:r>
              <a:rPr sz="11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latin typeface="Arial" panose="020B0604020202020204"/>
                <a:cs typeface="Arial" panose="020B0604020202020204"/>
              </a:rPr>
              <a:t>l</a:t>
            </a:r>
            <a:r>
              <a:rPr sz="1100" i="1" spc="5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35" dirty="0">
                <a:latin typeface="Lucida Sans Unicode" panose="020B0602030504020204"/>
                <a:cs typeface="Lucida Sans Unicode" panose="020B0602030504020204"/>
              </a:rPr>
              <a:t>−</a:t>
            </a:r>
            <a:r>
              <a:rPr sz="1100" spc="-1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1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0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60230" y="2208477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 panose="020B0604030504040204"/>
                <a:cs typeface="Tahoma" panose="020B0604030504040204"/>
              </a:rPr>
              <a:t>(0)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43200" y="2244177"/>
            <a:ext cx="296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35" dirty="0">
                <a:latin typeface="Arial" panose="020B0604020202020204"/>
                <a:cs typeface="Arial" panose="020B0604020202020204"/>
              </a:rPr>
              <a:t>x</a:t>
            </a:r>
            <a:r>
              <a:rPr sz="1200" i="1" spc="52" baseline="-10000" dirty="0">
                <a:latin typeface="Arial" panose="020B0604020202020204"/>
                <a:cs typeface="Arial" panose="020B0604020202020204"/>
              </a:rPr>
              <a:t>j</a:t>
            </a:r>
            <a:r>
              <a:rPr sz="1100" i="1" spc="35" dirty="0">
                <a:latin typeface="Calibri" panose="020F0502020204030204"/>
                <a:cs typeface="Calibri" panose="020F0502020204030204"/>
              </a:rPr>
              <a:t>µ</a:t>
            </a:r>
            <a:r>
              <a:rPr sz="1200" i="1" spc="52" baseline="-24000" dirty="0">
                <a:latin typeface="Arial" panose="020B0604020202020204"/>
                <a:cs typeface="Arial" panose="020B0604020202020204"/>
              </a:rPr>
              <a:t>j</a:t>
            </a:r>
            <a:endParaRPr sz="1200" baseline="-24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17016" y="2737027"/>
            <a:ext cx="481330" cy="0"/>
          </a:xfrm>
          <a:custGeom>
            <a:avLst/>
            <a:gdLst/>
            <a:ahLst/>
            <a:cxnLst/>
            <a:rect l="l" t="t" r="r" b="b"/>
            <a:pathLst>
              <a:path w="481330">
                <a:moveTo>
                  <a:pt x="0" y="0"/>
                </a:moveTo>
                <a:lnTo>
                  <a:pt x="4808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914069" y="2688360"/>
            <a:ext cx="2806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30" baseline="-28000" dirty="0">
                <a:latin typeface="Sitka Text"/>
                <a:cs typeface="Sitka Text"/>
              </a:rPr>
              <a:t>∂</a:t>
            </a:r>
            <a:r>
              <a:rPr sz="1200" i="1" spc="-30" baseline="-28000" dirty="0">
                <a:latin typeface="Arial" panose="020B0604020202020204"/>
                <a:cs typeface="Arial" panose="020B0604020202020204"/>
              </a:rPr>
              <a:t>a</a:t>
            </a:r>
            <a:r>
              <a:rPr sz="600" spc="-20" dirty="0">
                <a:latin typeface="Tahoma" panose="020B0604030504040204"/>
                <a:cs typeface="Tahoma" panose="020B0604030504040204"/>
              </a:rPr>
              <a:t>(</a:t>
            </a:r>
            <a:r>
              <a:rPr sz="600" i="1" spc="-20" dirty="0">
                <a:latin typeface="Arial" panose="020B0604020202020204"/>
                <a:cs typeface="Arial" panose="020B0604020202020204"/>
              </a:rPr>
              <a:t>l</a:t>
            </a:r>
            <a:r>
              <a:rPr sz="600" spc="-20" dirty="0">
                <a:latin typeface="Tahoma" panose="020B0604030504040204"/>
                <a:cs typeface="Tahoma" panose="020B0604030504040204"/>
              </a:rPr>
              <a:t>)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53757" y="2802882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 panose="020B0604020202020204"/>
                <a:cs typeface="Arial" panose="020B0604020202020204"/>
              </a:rPr>
              <a:t>i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0444" y="2620415"/>
            <a:ext cx="33166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Tahoma" panose="020B0604030504040204"/>
                <a:cs typeface="Tahoma" panose="020B0604030504040204"/>
              </a:rPr>
              <a:t>Remember</a:t>
            </a:r>
            <a:r>
              <a:rPr sz="1100" spc="190" dirty="0">
                <a:latin typeface="Tahoma" panose="020B0604030504040204"/>
                <a:cs typeface="Tahoma" panose="020B0604030504040204"/>
              </a:rPr>
              <a:t> </a:t>
            </a:r>
            <a:r>
              <a:rPr sz="1200" i="1" baseline="38000" dirty="0">
                <a:latin typeface="Sitka Text"/>
                <a:cs typeface="Sitka Text"/>
              </a:rPr>
              <a:t>∂</a:t>
            </a:r>
            <a:r>
              <a:rPr sz="1200" baseline="38000" dirty="0">
                <a:latin typeface="Cambria" panose="02040503050406030204"/>
                <a:cs typeface="Cambria" panose="02040503050406030204"/>
              </a:rPr>
              <a:t>L</a:t>
            </a:r>
            <a:r>
              <a:rPr sz="1200" baseline="38000" dirty="0">
                <a:latin typeface="Tahoma" panose="020B0604030504040204"/>
                <a:cs typeface="Tahoma" panose="020B0604030504040204"/>
              </a:rPr>
              <a:t>(</a:t>
            </a:r>
            <a:r>
              <a:rPr sz="1200" i="1" baseline="38000" dirty="0">
                <a:latin typeface="Arial" panose="020B0604020202020204"/>
                <a:cs typeface="Arial" panose="020B0604020202020204"/>
              </a:rPr>
              <a:t>y</a:t>
            </a:r>
            <a:r>
              <a:rPr sz="1200" i="1" baseline="38000" dirty="0">
                <a:latin typeface="Sitka Text"/>
                <a:cs typeface="Sitka Text"/>
              </a:rPr>
              <a:t>,</a:t>
            </a:r>
            <a:r>
              <a:rPr sz="1200" i="1" baseline="38000" dirty="0">
                <a:latin typeface="Arial" panose="020B0604020202020204"/>
                <a:cs typeface="Arial" panose="020B0604020202020204"/>
              </a:rPr>
              <a:t>h</a:t>
            </a:r>
            <a:r>
              <a:rPr sz="900" baseline="74000" dirty="0">
                <a:latin typeface="Tahoma" panose="020B0604030504040204"/>
                <a:cs typeface="Tahoma" panose="020B0604030504040204"/>
              </a:rPr>
              <a:t>(</a:t>
            </a:r>
            <a:r>
              <a:rPr sz="900" i="1" baseline="74000" dirty="0">
                <a:latin typeface="Arial" panose="020B0604020202020204"/>
                <a:cs typeface="Arial" panose="020B0604020202020204"/>
              </a:rPr>
              <a:t>L</a:t>
            </a:r>
            <a:r>
              <a:rPr sz="900" baseline="74000" dirty="0">
                <a:latin typeface="Tahoma" panose="020B0604030504040204"/>
                <a:cs typeface="Tahoma" panose="020B0604030504040204"/>
              </a:rPr>
              <a:t>)</a:t>
            </a:r>
            <a:r>
              <a:rPr sz="1200" baseline="38000" dirty="0">
                <a:latin typeface="Tahoma" panose="020B0604030504040204"/>
                <a:cs typeface="Tahoma" panose="020B0604030504040204"/>
              </a:rPr>
              <a:t>)</a:t>
            </a:r>
            <a:r>
              <a:rPr sz="1200" spc="427" baseline="380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are</a:t>
            </a:r>
            <a:r>
              <a:rPr sz="1100" spc="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stored</a:t>
            </a:r>
            <a:r>
              <a:rPr sz="110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during</a:t>
            </a:r>
            <a:r>
              <a:rPr sz="110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back-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propagation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 panose="020B0604030504040204"/>
                <a:cs typeface="Tahoma" panose="020B0604030504040204"/>
                <a:hlinkClick r:id="rId1" action="ppaction://hlinksldjump"/>
              </a:rPr>
              <a:t>Regularization</a:t>
            </a:r>
            <a:endParaRPr sz="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Dropout</a:t>
            </a:r>
            <a:r>
              <a:rPr spc="-65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spc="-70" dirty="0"/>
              <a:t>Inference</a:t>
            </a:r>
            <a:endParaRPr spc="-70" dirty="0"/>
          </a:p>
        </p:txBody>
      </p:sp>
      <p:sp>
        <p:nvSpPr>
          <p:cNvPr id="5" name="object 5"/>
          <p:cNvSpPr txBox="1"/>
          <p:nvPr/>
        </p:nvSpPr>
        <p:spPr>
          <a:xfrm>
            <a:off x="125844" y="807198"/>
            <a:ext cx="23787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 panose="020B0604030504040204"/>
                <a:cs typeface="Tahoma" panose="020B0604030504040204"/>
              </a:rPr>
              <a:t>Use</a:t>
            </a:r>
            <a:r>
              <a:rPr sz="11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weight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scaling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rule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inference: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5741" y="1233321"/>
            <a:ext cx="287655" cy="4959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30" baseline="-23000" dirty="0">
                <a:latin typeface="Arial" panose="020B0604020202020204"/>
                <a:cs typeface="Arial" panose="020B0604020202020204"/>
              </a:rPr>
              <a:t>h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(1)</a:t>
            </a:r>
            <a:endParaRPr sz="8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800">
              <a:latin typeface="Tahoma" panose="020B0604030504040204"/>
              <a:cs typeface="Tahoma" panose="020B0604030504040204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650" i="1" spc="-30" baseline="-23000" dirty="0">
                <a:latin typeface="Arial" panose="020B0604020202020204"/>
                <a:cs typeface="Arial" panose="020B0604020202020204"/>
              </a:rPr>
              <a:t>h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(2)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2400" y="1290522"/>
            <a:ext cx="699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73685" algn="l"/>
                <a:tab pos="501650" algn="l"/>
              </a:tabLst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=</a:t>
            </a:r>
            <a:r>
              <a:rPr sz="1100" dirty="0">
                <a:latin typeface="Tahoma" panose="020B0604030504040204"/>
                <a:cs typeface="Tahoma" panose="020B0604030504040204"/>
              </a:rPr>
              <a:t>	</a:t>
            </a:r>
            <a:r>
              <a:rPr sz="1100" i="1" spc="-50" dirty="0">
                <a:latin typeface="Arial" panose="020B0604020202020204"/>
                <a:cs typeface="Arial" panose="020B0604020202020204"/>
              </a:rPr>
              <a:t>g</a:t>
            </a:r>
            <a:r>
              <a:rPr sz="1100" i="1" dirty="0">
                <a:latin typeface="Arial" panose="020B0604020202020204"/>
                <a:cs typeface="Arial" panose="020B0604020202020204"/>
              </a:rPr>
              <a:t>	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(</a:t>
            </a:r>
            <a:r>
              <a:rPr sz="1100" i="1" spc="-25" dirty="0">
                <a:latin typeface="Arial" panose="020B0604020202020204"/>
                <a:cs typeface="Arial" panose="020B0604020202020204"/>
              </a:rPr>
              <a:t>W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7904" y="1270646"/>
            <a:ext cx="5137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3220" algn="l"/>
              </a:tabLst>
            </a:pPr>
            <a:r>
              <a:rPr sz="800" spc="-25" dirty="0">
                <a:latin typeface="Tahoma" panose="020B0604030504040204"/>
                <a:cs typeface="Tahoma" panose="020B0604030504040204"/>
              </a:rPr>
              <a:t>(1)</a:t>
            </a:r>
            <a:r>
              <a:rPr sz="800" dirty="0">
                <a:latin typeface="Tahoma" panose="020B0604030504040204"/>
                <a:cs typeface="Tahoma" panose="020B0604030504040204"/>
              </a:rPr>
              <a:t>	</a:t>
            </a:r>
            <a:r>
              <a:rPr sz="800" spc="-25" dirty="0">
                <a:latin typeface="Tahoma" panose="020B0604030504040204"/>
                <a:cs typeface="Tahoma" panose="020B0604030504040204"/>
              </a:rPr>
              <a:t>(1)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2505" y="1234794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 panose="020B0604020202020204"/>
                <a:cs typeface="Arial" panose="020B0604020202020204"/>
              </a:rPr>
              <a:t>T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8825" y="1136737"/>
            <a:ext cx="108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 panose="020B0602030504020204"/>
                <a:cs typeface="Lucida Sans Unicode" panose="020B0602030504020204"/>
              </a:rPr>
              <a:t> 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11247" y="1158911"/>
            <a:ext cx="234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30" dirty="0">
                <a:latin typeface="Lucida Sans Unicode" panose="020B0602030504020204"/>
                <a:cs typeface="Lucida Sans Unicode" panose="020B0602030504020204"/>
              </a:rPr>
              <a:t>O</a:t>
            </a:r>
            <a:endParaRPr sz="1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11565" y="1290522"/>
            <a:ext cx="581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4170" algn="l"/>
              </a:tabLst>
            </a:pPr>
            <a:r>
              <a:rPr sz="1100" i="1" spc="-50" dirty="0">
                <a:latin typeface="Arial" panose="020B0604020202020204"/>
                <a:cs typeface="Arial" panose="020B0604020202020204"/>
              </a:rPr>
              <a:t>x</a:t>
            </a:r>
            <a:r>
              <a:rPr sz="1100" i="1" dirty="0">
                <a:latin typeface="Arial" panose="020B0604020202020204"/>
                <a:cs typeface="Arial" panose="020B0604020202020204"/>
              </a:rPr>
              <a:t>	p</a:t>
            </a:r>
            <a:r>
              <a:rPr sz="1100" i="1" spc="28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509" dirty="0">
                <a:latin typeface="Calibri" panose="020F0502020204030204"/>
                <a:cs typeface="Calibri" panose="020F0502020204030204"/>
              </a:rPr>
              <a:t>→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89873" y="1349488"/>
            <a:ext cx="3898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Tahoma" panose="020B0604030504040204"/>
                <a:cs typeface="Tahoma" panose="020B0604030504040204"/>
              </a:rPr>
              <a:t>input</a:t>
            </a:r>
            <a:r>
              <a:rPr sz="1200" i="1" spc="-15" baseline="-14000" dirty="0">
                <a:latin typeface="Arial" panose="020B0604020202020204"/>
                <a:cs typeface="Arial" panose="020B0604020202020204"/>
              </a:rPr>
              <a:t>N</a:t>
            </a:r>
            <a:endParaRPr sz="1200" baseline="-14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17622" y="1233321"/>
            <a:ext cx="601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165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baseline="-23000" dirty="0">
                <a:latin typeface="Tahoma" panose="020B0604030504040204"/>
                <a:cs typeface="Tahoma" panose="020B0604030504040204"/>
              </a:rPr>
              <a:t>+</a:t>
            </a:r>
            <a:r>
              <a:rPr sz="1650" spc="-142" baseline="-23000" dirty="0">
                <a:latin typeface="Tahoma" panose="020B0604030504040204"/>
                <a:cs typeface="Tahoma" panose="020B0604030504040204"/>
              </a:rPr>
              <a:t> </a:t>
            </a:r>
            <a:r>
              <a:rPr sz="1650" i="1" spc="-15" baseline="-23000" dirty="0">
                <a:latin typeface="Arial" panose="020B0604020202020204"/>
                <a:cs typeface="Arial" panose="020B0604020202020204"/>
              </a:rPr>
              <a:t>b</a:t>
            </a:r>
            <a:r>
              <a:rPr sz="800" spc="-10" dirty="0">
                <a:latin typeface="Tahoma" panose="020B0604030504040204"/>
                <a:cs typeface="Tahoma" panose="020B0604030504040204"/>
              </a:rPr>
              <a:t>(1)</a:t>
            </a:r>
            <a:r>
              <a:rPr sz="1650" spc="-15" baseline="-23000" dirty="0">
                <a:latin typeface="Tahoma" panose="020B0604030504040204"/>
                <a:cs typeface="Tahoma" panose="020B0604030504040204"/>
              </a:rPr>
              <a:t>)</a:t>
            </a:r>
            <a:endParaRPr sz="1650" baseline="-23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2400" y="159453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=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90799" y="159261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9" dirty="0">
                <a:latin typeface="Calibri" panose="020F0502020204030204"/>
                <a:cs typeface="Calibri" panose="020F0502020204030204"/>
              </a:rPr>
              <a:t>→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214" y="1537333"/>
            <a:ext cx="13995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12" baseline="-23000" dirty="0">
                <a:latin typeface="Arial" panose="020B0604020202020204"/>
                <a:cs typeface="Arial" panose="020B0604020202020204"/>
              </a:rPr>
              <a:t>g</a:t>
            </a:r>
            <a:r>
              <a:rPr sz="1650" i="1" spc="-270" baseline="-23000" dirty="0">
                <a:latin typeface="Arial" panose="020B0604020202020204"/>
                <a:cs typeface="Arial" panose="020B060402020202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(2)</a:t>
            </a:r>
            <a:r>
              <a:rPr sz="1650" baseline="-23000" dirty="0">
                <a:latin typeface="Tahoma" panose="020B0604030504040204"/>
                <a:cs typeface="Tahoma" panose="020B0604030504040204"/>
              </a:rPr>
              <a:t>(</a:t>
            </a:r>
            <a:r>
              <a:rPr sz="1650" i="1" baseline="-23000" dirty="0">
                <a:latin typeface="Arial" panose="020B0604020202020204"/>
                <a:cs typeface="Arial" panose="020B0604020202020204"/>
              </a:rPr>
              <a:t>W</a:t>
            </a:r>
            <a:r>
              <a:rPr sz="1650" i="1" spc="-172" baseline="-23000" dirty="0">
                <a:latin typeface="Arial" panose="020B0604020202020204"/>
                <a:cs typeface="Arial" panose="020B060402020202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(2)</a:t>
            </a:r>
            <a:r>
              <a:rPr sz="1200" i="1" baseline="21000" dirty="0">
                <a:latin typeface="Arial" panose="020B0604020202020204"/>
                <a:cs typeface="Arial" panose="020B0604020202020204"/>
              </a:rPr>
              <a:t>T</a:t>
            </a:r>
            <a:r>
              <a:rPr sz="1650" spc="300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i="1" baseline="-23000" dirty="0">
                <a:latin typeface="Arial" panose="020B0604020202020204"/>
                <a:cs typeface="Arial" panose="020B0604020202020204"/>
              </a:rPr>
              <a:t>h</a:t>
            </a:r>
            <a:r>
              <a:rPr sz="800" dirty="0">
                <a:latin typeface="Tahoma" panose="020B0604030504040204"/>
                <a:cs typeface="Tahoma" panose="020B0604030504040204"/>
              </a:rPr>
              <a:t>(1) </a:t>
            </a:r>
            <a:r>
              <a:rPr sz="1650" spc="1185" baseline="30000" dirty="0">
                <a:latin typeface="Lucida Sans Unicode" panose="020B0602030504020204"/>
                <a:cs typeface="Lucida Sans Unicode" panose="020B0602030504020204"/>
              </a:rPr>
              <a:t>O</a:t>
            </a:r>
            <a:r>
              <a:rPr sz="1650" spc="-225" baseline="300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650" i="1" spc="-75" baseline="-23000" dirty="0">
                <a:latin typeface="Arial" panose="020B0604020202020204"/>
                <a:cs typeface="Arial" panose="020B0604020202020204"/>
              </a:rPr>
              <a:t>p</a:t>
            </a:r>
            <a:endParaRPr sz="1650" baseline="-2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31084" y="1665134"/>
            <a:ext cx="4946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5" baseline="7000" dirty="0">
                <a:latin typeface="Tahoma" panose="020B0604030504040204"/>
                <a:cs typeface="Tahoma" panose="020B0604030504040204"/>
              </a:rPr>
              <a:t>hidden</a:t>
            </a:r>
            <a:r>
              <a:rPr sz="800" i="1" spc="-10" dirty="0">
                <a:latin typeface="Arial" panose="020B0604020202020204"/>
                <a:cs typeface="Arial" panose="020B0604020202020204"/>
              </a:rPr>
              <a:t>N</a:t>
            </a:r>
            <a:r>
              <a:rPr sz="900" spc="-15" baseline="-9000" dirty="0">
                <a:latin typeface="Tahoma" panose="020B0604030504040204"/>
                <a:cs typeface="Tahoma" panose="020B0604030504040204"/>
              </a:rPr>
              <a:t>1</a:t>
            </a:r>
            <a:endParaRPr sz="900" baseline="-9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61893" y="1537333"/>
            <a:ext cx="601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165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baseline="-23000" dirty="0">
                <a:latin typeface="Tahoma" panose="020B0604030504040204"/>
                <a:cs typeface="Tahoma" panose="020B0604030504040204"/>
              </a:rPr>
              <a:t>+</a:t>
            </a:r>
            <a:r>
              <a:rPr sz="1650" spc="-142" baseline="-23000" dirty="0">
                <a:latin typeface="Tahoma" panose="020B0604030504040204"/>
                <a:cs typeface="Tahoma" panose="020B0604030504040204"/>
              </a:rPr>
              <a:t> </a:t>
            </a:r>
            <a:r>
              <a:rPr sz="1650" i="1" spc="-15" baseline="-23000" dirty="0">
                <a:latin typeface="Arial" panose="020B0604020202020204"/>
                <a:cs typeface="Arial" panose="020B0604020202020204"/>
              </a:rPr>
              <a:t>b</a:t>
            </a:r>
            <a:r>
              <a:rPr sz="800" spc="-10" dirty="0">
                <a:latin typeface="Tahoma" panose="020B0604030504040204"/>
                <a:cs typeface="Tahoma" panose="020B0604030504040204"/>
              </a:rPr>
              <a:t>(2)</a:t>
            </a:r>
            <a:r>
              <a:rPr sz="1650" spc="-15" baseline="-23000" dirty="0">
                <a:latin typeface="Tahoma" panose="020B0604030504040204"/>
                <a:cs typeface="Tahoma" panose="020B0604030504040204"/>
              </a:rPr>
              <a:t>)</a:t>
            </a:r>
            <a:endParaRPr sz="1650" baseline="-23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5463" y="1970821"/>
            <a:ext cx="18732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i="1" dirty="0">
                <a:latin typeface="Calibri" panose="020F0502020204030204"/>
                <a:cs typeface="Calibri" panose="020F0502020204030204"/>
              </a:rPr>
              <a:t>.</a:t>
            </a:r>
            <a:r>
              <a:rPr sz="1100" i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dirty="0">
                <a:latin typeface="Calibri" panose="020F0502020204030204"/>
                <a:cs typeface="Calibri" panose="020F0502020204030204"/>
              </a:rPr>
              <a:t>.</a:t>
            </a:r>
            <a:r>
              <a:rPr sz="1100" i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i="1" spc="-50" dirty="0">
                <a:latin typeface="Calibri" panose="020F0502020204030204"/>
                <a:cs typeface="Calibri" panose="020F0502020204030204"/>
              </a:rPr>
              <a:t>.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39370">
              <a:lnSpc>
                <a:spcPct val="100000"/>
              </a:lnSpc>
              <a:spcBef>
                <a:spcPts val="335"/>
              </a:spcBef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=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0991" y="2167431"/>
            <a:ext cx="292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30" baseline="-23000" dirty="0">
                <a:latin typeface="Arial" panose="020B0604020202020204"/>
                <a:cs typeface="Arial" panose="020B0604020202020204"/>
              </a:rPr>
              <a:t>h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-20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)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00959" y="222271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9" dirty="0">
                <a:latin typeface="Calibri" panose="020F0502020204030204"/>
                <a:cs typeface="Calibri" panose="020F0502020204030204"/>
              </a:rPr>
              <a:t>→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214" y="2167431"/>
            <a:ext cx="15506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12" baseline="-23000" dirty="0">
                <a:latin typeface="Arial" panose="020B0604020202020204"/>
                <a:cs typeface="Arial" panose="020B0604020202020204"/>
              </a:rPr>
              <a:t>g</a:t>
            </a:r>
            <a:r>
              <a:rPr sz="1650" i="1" spc="-240" baseline="-23000" dirty="0">
                <a:latin typeface="Arial" panose="020B0604020202020204"/>
                <a:cs typeface="Arial" panose="020B060402020202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dirty="0">
                <a:latin typeface="Arial" panose="020B0604020202020204"/>
                <a:cs typeface="Arial" panose="020B0604020202020204"/>
              </a:rPr>
              <a:t>L</a:t>
            </a:r>
            <a:r>
              <a:rPr sz="800" dirty="0">
                <a:latin typeface="Tahoma" panose="020B0604030504040204"/>
                <a:cs typeface="Tahoma" panose="020B0604030504040204"/>
              </a:rPr>
              <a:t>)</a:t>
            </a:r>
            <a:r>
              <a:rPr sz="1650" baseline="-23000" dirty="0">
                <a:latin typeface="Tahoma" panose="020B0604030504040204"/>
                <a:cs typeface="Tahoma" panose="020B0604030504040204"/>
              </a:rPr>
              <a:t>(</a:t>
            </a:r>
            <a:r>
              <a:rPr sz="1650" i="1" baseline="-23000" dirty="0">
                <a:latin typeface="Arial" panose="020B0604020202020204"/>
                <a:cs typeface="Arial" panose="020B0604020202020204"/>
              </a:rPr>
              <a:t>W</a:t>
            </a:r>
            <a:r>
              <a:rPr sz="1650" i="1" spc="-127" baseline="-23000" dirty="0">
                <a:latin typeface="Arial" panose="020B0604020202020204"/>
                <a:cs typeface="Arial" panose="020B060402020202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dirty="0">
                <a:latin typeface="Arial" panose="020B0604020202020204"/>
                <a:cs typeface="Arial" panose="020B0604020202020204"/>
              </a:rPr>
              <a:t>L</a:t>
            </a:r>
            <a:r>
              <a:rPr sz="800" dirty="0">
                <a:latin typeface="Tahoma" panose="020B0604030504040204"/>
                <a:cs typeface="Tahoma" panose="020B0604030504040204"/>
              </a:rPr>
              <a:t>)</a:t>
            </a:r>
            <a:r>
              <a:rPr sz="1200" i="1" baseline="21000" dirty="0">
                <a:latin typeface="Arial" panose="020B0604020202020204"/>
                <a:cs typeface="Arial" panose="020B0604020202020204"/>
              </a:rPr>
              <a:t>T</a:t>
            </a:r>
            <a:r>
              <a:rPr sz="1650" spc="419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i="1" baseline="-23000" dirty="0">
                <a:latin typeface="Arial" panose="020B0604020202020204"/>
                <a:cs typeface="Arial" panose="020B0604020202020204"/>
              </a:rPr>
              <a:t>h</a:t>
            </a:r>
            <a:r>
              <a:rPr sz="80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dirty="0">
                <a:latin typeface="Arial" panose="020B0604020202020204"/>
                <a:cs typeface="Arial" panose="020B0604020202020204"/>
              </a:rPr>
              <a:t>L</a:t>
            </a:r>
            <a:r>
              <a:rPr sz="800" dirty="0">
                <a:latin typeface="Cambria" panose="02040503050406030204"/>
                <a:cs typeface="Cambria" panose="02040503050406030204"/>
              </a:rPr>
              <a:t>−</a:t>
            </a:r>
            <a:r>
              <a:rPr sz="800" dirty="0">
                <a:latin typeface="Tahoma" panose="020B0604030504040204"/>
                <a:cs typeface="Tahoma" panose="020B0604030504040204"/>
              </a:rPr>
              <a:t>1)</a:t>
            </a:r>
            <a:r>
              <a:rPr sz="80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650" spc="1185" baseline="30000" dirty="0">
                <a:latin typeface="Lucida Sans Unicode" panose="020B0602030504020204"/>
                <a:cs typeface="Lucida Sans Unicode" panose="020B0602030504020204"/>
              </a:rPr>
              <a:t>O</a:t>
            </a:r>
            <a:r>
              <a:rPr sz="1650" spc="-179" baseline="300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650" i="1" spc="-75" baseline="-23000" dirty="0">
                <a:latin typeface="Arial" panose="020B0604020202020204"/>
                <a:cs typeface="Arial" panose="020B0604020202020204"/>
              </a:rPr>
              <a:t>p</a:t>
            </a:r>
            <a:endParaRPr sz="1650" baseline="-2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82735" y="2295219"/>
            <a:ext cx="6115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5" baseline="7000" dirty="0">
                <a:latin typeface="Tahoma" panose="020B0604030504040204"/>
                <a:cs typeface="Tahoma" panose="020B0604030504040204"/>
              </a:rPr>
              <a:t>hidden</a:t>
            </a:r>
            <a:r>
              <a:rPr sz="800" i="1" spc="-10" dirty="0">
                <a:latin typeface="Arial" panose="020B0604020202020204"/>
                <a:cs typeface="Arial" panose="020B0604020202020204"/>
              </a:rPr>
              <a:t>N</a:t>
            </a:r>
            <a:r>
              <a:rPr sz="900" i="1" spc="-15" baseline="-14000" dirty="0">
                <a:latin typeface="Arial" panose="020B0604020202020204"/>
                <a:cs typeface="Arial" panose="020B0604020202020204"/>
              </a:rPr>
              <a:t>L−</a:t>
            </a:r>
            <a:r>
              <a:rPr sz="900" spc="-15" baseline="-14000" dirty="0">
                <a:latin typeface="Tahoma" panose="020B0604030504040204"/>
                <a:cs typeface="Tahoma" panose="020B0604030504040204"/>
              </a:rPr>
              <a:t>1</a:t>
            </a:r>
            <a:endParaRPr sz="900" baseline="-14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30537" y="2167431"/>
            <a:ext cx="606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165" baseline="38000" dirty="0">
                <a:latin typeface="Lucida Sans Unicode" panose="020B0602030504020204"/>
                <a:cs typeface="Lucida Sans Unicode" panose="020B0602030504020204"/>
              </a:rPr>
              <a:t>  </a:t>
            </a:r>
            <a:r>
              <a:rPr sz="1650" baseline="-23000" dirty="0">
                <a:latin typeface="Tahoma" panose="020B0604030504040204"/>
                <a:cs typeface="Tahoma" panose="020B0604030504040204"/>
              </a:rPr>
              <a:t>+</a:t>
            </a:r>
            <a:r>
              <a:rPr sz="1650" spc="-142" baseline="-23000" dirty="0">
                <a:latin typeface="Tahoma" panose="020B0604030504040204"/>
                <a:cs typeface="Tahoma" panose="020B0604030504040204"/>
              </a:rPr>
              <a:t> </a:t>
            </a:r>
            <a:r>
              <a:rPr sz="1650" i="1" spc="-15" baseline="-23000" dirty="0">
                <a:latin typeface="Arial" panose="020B0604020202020204"/>
                <a:cs typeface="Arial" panose="020B0604020202020204"/>
              </a:rPr>
              <a:t>b</a:t>
            </a:r>
            <a:r>
              <a:rPr sz="800" spc="-10" dirty="0">
                <a:latin typeface="Tahoma" panose="020B0604030504040204"/>
                <a:cs typeface="Tahoma" panose="020B0604030504040204"/>
              </a:rPr>
              <a:t>(</a:t>
            </a:r>
            <a:r>
              <a:rPr sz="800" i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800" spc="-10" dirty="0">
                <a:latin typeface="Tahoma" panose="020B0604030504040204"/>
                <a:cs typeface="Tahoma" panose="020B0604030504040204"/>
              </a:rPr>
              <a:t>)</a:t>
            </a:r>
            <a:r>
              <a:rPr sz="1650" spc="-15" baseline="-23000" dirty="0">
                <a:latin typeface="Tahoma" panose="020B0604030504040204"/>
                <a:cs typeface="Tahoma" panose="020B0604030504040204"/>
              </a:rPr>
              <a:t>)</a:t>
            </a:r>
            <a:endParaRPr sz="1650" baseline="-23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</a:fld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20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5617</Words>
  <Application>WPS Presentation</Application>
  <PresentationFormat>Custom</PresentationFormat>
  <Paragraphs>501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SimSun</vt:lpstr>
      <vt:lpstr>Wingdings</vt:lpstr>
      <vt:lpstr>Tahoma</vt:lpstr>
      <vt:lpstr>Lucida Sans Unicode</vt:lpstr>
      <vt:lpstr>Arial</vt:lpstr>
      <vt:lpstr>Calibri</vt:lpstr>
      <vt:lpstr>Courier New</vt:lpstr>
      <vt:lpstr>Cambria</vt:lpstr>
      <vt:lpstr>Sitka Text</vt:lpstr>
      <vt:lpstr>Arial MT</vt:lpstr>
      <vt:lpstr>Times New Roman</vt:lpstr>
      <vt:lpstr>Microsoft YaHei</vt:lpstr>
      <vt:lpstr>Arial Unicode MS</vt:lpstr>
      <vt:lpstr>Office Theme</vt:lpstr>
      <vt:lpstr>Regularization</vt:lpstr>
      <vt:lpstr>Motivating Regularization</vt:lpstr>
      <vt:lpstr>L2 Regularization</vt:lpstr>
      <vt:lpstr>L1 Regularization</vt:lpstr>
      <vt:lpstr>L1 and L2 Regularizations - Illustration of the Principle</vt:lpstr>
      <vt:lpstr>Constraint Optimization</vt:lpstr>
      <vt:lpstr>Dataset Augmentation (Noise to Input)</vt:lpstr>
      <vt:lpstr>Noise Robustness (Noise to Weights)</vt:lpstr>
      <vt:lpstr>Early Stopping - Motivation</vt:lpstr>
      <vt:lpstr>PowerPoint 演示文稿</vt:lpstr>
      <vt:lpstr>Early Stopping as a Regularizer</vt:lpstr>
      <vt:lpstr>Bagging (Boostrap Aggregating)</vt:lpstr>
      <vt:lpstr>Understanding Bagging</vt:lpstr>
      <vt:lpstr>PowerPoint 演示文稿</vt:lpstr>
      <vt:lpstr>Dropout Mechanism</vt:lpstr>
      <vt:lpstr>Dropout - Forward computations (i)</vt:lpstr>
      <vt:lpstr>Dropout - Forward computation (ii)</vt:lpstr>
      <vt:lpstr>Dropout - Back-propagation</vt:lpstr>
      <vt:lpstr>Dropout - Inference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Regularization for Deep Learning</dc:title>
  <dc:creator>Dr. Josif Grabocka</dc:creator>
  <cp:lastModifiedBy>N Biraja Isac</cp:lastModifiedBy>
  <cp:revision>2</cp:revision>
  <dcterms:created xsi:type="dcterms:W3CDTF">2025-07-12T07:03:00Z</dcterms:created>
  <dcterms:modified xsi:type="dcterms:W3CDTF">2025-07-29T12:53:49Z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2017-05-17T05:30:00Z</vt:filetime>
  </property>
  <property fmtid="{D5CDD505-2E9C-101B-9397-08002B2CF9AE}" pid="3" name="Creator">
    <vt:lpwstr>LaTeX with Beamer class version 3.36</vt:lpwstr>
  </property>
  <property fmtid="{D5CDD505-2E9C-101B-9397-08002B2CF9AE}" pid="4" name="LastSaved">
    <vt:filetime>2025-07-12T05:30:00Z</vt:filetime>
  </property>
  <property fmtid="{D5CDD505-2E9C-101B-9397-08002B2CF9AE}" pid="5" name="PTEX.Fullbanner">
    <vt:lpwstr>This is MiKTeX-pdfTeX 2.9.5800 (1.40.16)</vt:lpwstr>
  </property>
  <property fmtid="{D5CDD505-2E9C-101B-9397-08002B2CF9AE}" pid="6" name="Producer">
    <vt:lpwstr>pdfTeX-1.40.16</vt:lpwstr>
  </property>
  <property fmtid="{D5CDD505-2E9C-101B-9397-08002B2CF9AE}" pid="7" name="ICV">
    <vt:lpwstr>DF4F4B66EB764A5DABB2C3C896F101A9_12</vt:lpwstr>
  </property>
  <property fmtid="{D5CDD505-2E9C-101B-9397-08002B2CF9AE}" pid="8" name="KSOProductBuildVer">
    <vt:lpwstr>1033-12.2.0.21931</vt:lpwstr>
  </property>
</Properties>
</file>