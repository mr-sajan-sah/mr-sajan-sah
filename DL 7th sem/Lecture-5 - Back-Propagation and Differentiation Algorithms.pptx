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Back-Propagation and Differentiation Algorithms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 and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110" y="1496060"/>
            <a:ext cx="10515600" cy="4351338"/>
          </a:xfrm>
        </p:spPr>
        <p:txBody>
          <a:bodyPr>
            <a:no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What is Back-Propagation?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Algorithm that allows information from cost function to flow backwards through neural network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Computes gradients efficiently using chain rule of calculus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Common Misconception: Back-propagation ≠ entire learning algorithm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Back-propagation only computes gradients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Other algorithms (like SGD) use these gradients for learning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Key Concepts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Forward Propagation: Information flows from input → hidden layers → output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Back-Propagation: Gradient information flows backwards from cost → input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Can compute derivatives of any function, not just neural networks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Computational Graphs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Graph Components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Nodes: Represent variables (scalars, vectors, matrices, tensors)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Edges: Show dependencies between variables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Operations: Simple functions that transform one/more variables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Graph Language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Each node indicates a variable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Operations return single output (can have multiple entries)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Directed edges show computation flow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Chain Rule Foundation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Mathematical Basis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Scalar Case: dz/dx = (dz/dy) × (dy/dx)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Vector Case: ∇ₓz = (∂y/∂x)</a:t>
            </a:r>
            <a:r>
              <a:rPr lang="" altLang="en-US" sz="2800">
                <a:latin typeface="Arial" panose="020B0604020202020204" pitchFamily="34" charset="0"/>
                <a:cs typeface="Arial" panose="020B0604020202020204" pitchFamily="34" charset="0"/>
              </a:rPr>
              <a:t>ᵀ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∇</a:t>
            </a:r>
            <a:r>
              <a:rPr lang="" altLang="en-US" sz="2800">
                <a:latin typeface="Arial" panose="020B0604020202020204" pitchFamily="34" charset="0"/>
                <a:cs typeface="Arial" panose="020B0604020202020204" pitchFamily="34" charset="0"/>
              </a:rPr>
              <a:t>ᵧ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Tensor Case: Chain rule extends naturally to tensors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Gradient = Jacobian matrix × gradient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Back-propagation performs Jacobian-gradient products efficiently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Back-Propagation Algorithm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Core Process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Start with gradient w.r.t. output: dz/dz = 1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For each parent node, multiply current gradient by Jacobian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Continue backwards until reaching desired variables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Sum gradients from multiple paths at each node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Efficiency Benefits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Problem: Naive chain rule has exponential complexity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Solution: Back-propagation reuses computations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Result: Linear complexity O(n) for typical neural networks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Implementation Details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Forward Pass Algorithm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38555" y="2341880"/>
            <a:ext cx="3779520" cy="2200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for each layer k = 1 to l:</a:t>
            </a:r>
            <a:endParaRPr lang="en-US" altLang="en-US" sz="2800" b="1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    a⁽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⁾ = b⁽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⁾ + W⁽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⁾h⁽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⁻¹⁾</a:t>
            </a:r>
            <a:endParaRPr lang="en-US" altLang="en-US" sz="2800" b="1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    h⁽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⁾ = f(a⁽</a:t>
            </a:r>
            <a:r>
              <a:rPr lang="" altLang="en-US" sz="2800" b="1">
                <a:solidFill>
                  <a:schemeClr val="accent2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⁾)</a:t>
            </a:r>
            <a:endParaRPr lang="en-US" altLang="en-US" sz="2800" b="1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en-US" sz="2800" b="1">
                <a:solidFill>
                  <a:schemeClr val="accent2">
                    <a:lumMod val="75000"/>
                  </a:schemeClr>
                </a:solidFill>
              </a:rPr>
              <a:t>output = h⁽ˡ⁾</a:t>
            </a:r>
            <a:endParaRPr lang="en-US" altLang="en-US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86705" y="1825625"/>
            <a:ext cx="6986905" cy="403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/>
              <a:t>Backward Pass Algorithm</a:t>
            </a:r>
            <a:endParaRPr lang="en-US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Start with: g = ∇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ᵧ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ⱼ (gradient w.r.t. output)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for each layer k = l down to 1: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    g = g ⊙ f'(a⁽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⁾)  // element-wise multiplication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    ∇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ᵦ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⁽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⁾J = g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    ∇w⁽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⁾J = g h⁽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⁻¹⁾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ᵀ</a:t>
            </a:r>
            <a:endParaRPr lang="" altLang="en-US" sz="2800" b="1">
              <a:solidFill>
                <a:schemeClr val="accent5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    g = W⁽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ᵏ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⁾</a:t>
            </a:r>
            <a:r>
              <a:rPr lang="" altLang="en-US" sz="2800" b="1">
                <a:solidFill>
                  <a:schemeClr val="accent5">
                    <a:lumMod val="75000"/>
                  </a:schemeClr>
                </a:solidFill>
              </a:rPr>
              <a:t>ᵀ</a:t>
            </a:r>
            <a:r>
              <a:rPr lang="en-US" altLang="en-US" sz="2800" b="1">
                <a:solidFill>
                  <a:schemeClr val="accent5">
                    <a:lumMod val="75000"/>
                  </a:schemeClr>
                </a:solidFill>
              </a:rPr>
              <a:t> g  // propagate to next layer</a:t>
            </a:r>
            <a:endParaRPr lang="en-US" altLang="en-US" sz="2800" b="1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Computational Complexity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/>
              <a:t>Time Complexity</a:t>
            </a:r>
            <a:endParaRPr lang="en-US" altLang="en-US"/>
          </a:p>
          <a:p>
            <a:pPr lvl="1"/>
            <a:r>
              <a:rPr lang="en-US" altLang="en-US" sz="2800"/>
              <a:t>Forward Pass: O(w) where w = number of weights</a:t>
            </a:r>
            <a:endParaRPr lang="en-US" altLang="en-US" sz="2800"/>
          </a:p>
          <a:p>
            <a:pPr lvl="1"/>
            <a:r>
              <a:rPr lang="en-US" altLang="en-US" sz="2800"/>
              <a:t>Backward Pass: O(w) - same order as forward pass</a:t>
            </a:r>
            <a:endParaRPr lang="en-US" altLang="en-US" sz="2800"/>
          </a:p>
          <a:p>
            <a:pPr lvl="1"/>
            <a:r>
              <a:rPr lang="en-US" altLang="en-US" sz="2800"/>
              <a:t>Total: Linear in graph size, not exponential</a:t>
            </a:r>
            <a:endParaRPr lang="en-US" altLang="en-US" sz="2800"/>
          </a:p>
          <a:p>
            <a:endParaRPr lang="en-US" altLang="en-US"/>
          </a:p>
          <a:p>
            <a:r>
              <a:rPr lang="en-US" altLang="en-US"/>
              <a:t>Memory Requirements</a:t>
            </a:r>
            <a:endParaRPr lang="en-US" altLang="en-US"/>
          </a:p>
          <a:p>
            <a:pPr lvl="1"/>
            <a:r>
              <a:rPr lang="en-US" altLang="en-US" sz="2800"/>
              <a:t>Store intermediate activations during forward pass</a:t>
            </a:r>
            <a:endParaRPr lang="en-US" altLang="en-US" sz="2800"/>
          </a:p>
          <a:p>
            <a:pPr lvl="1"/>
            <a:r>
              <a:rPr lang="en-US" altLang="en-US" sz="2800"/>
              <a:t>Memory cost: O(m×nₕ) where m = batch size, nₕ = hidden units</a:t>
            </a:r>
            <a:endParaRPr lang="en-US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Symbol-to-Symbol vs Symbol-to-Number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Two Approaches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Symbol-to-Number: Compute numerical gradients directly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Examples: Torch, Caffe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Symbol-to-Symbol: Build computational graph for derivatives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Examples: Theano, TensorFlow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Advantage: Can compute higher-order derivatives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Practical Implementation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400"/>
              <a:t>Operation Requirements</a:t>
            </a:r>
            <a:endParaRPr lang="en-US" altLang="en-US" sz="2400"/>
          </a:p>
          <a:p>
            <a:r>
              <a:rPr lang="en-US" altLang="en-US" sz="2400"/>
              <a:t>Each operation needs:</a:t>
            </a:r>
            <a:endParaRPr lang="en-US" altLang="en-US" sz="2400"/>
          </a:p>
          <a:p>
            <a:pPr lvl="1"/>
            <a:r>
              <a:rPr lang="en-US" altLang="en-US" sz="2400"/>
              <a:t>get_operation(V): Returns operation that computes V</a:t>
            </a:r>
            <a:endParaRPr lang="en-US" altLang="en-US" sz="2400"/>
          </a:p>
          <a:p>
            <a:pPr lvl="1"/>
            <a:r>
              <a:rPr lang="en-US" altLang="en-US" sz="2400"/>
              <a:t>get_consumers(V,G): Gets children of V</a:t>
            </a:r>
            <a:endParaRPr lang="en-US" altLang="en-US" sz="2400"/>
          </a:p>
          <a:p>
            <a:pPr lvl="1"/>
            <a:r>
              <a:rPr lang="en-US" altLang="en-US" sz="2400"/>
              <a:t>get_inputs(V,G): Gets parents of V</a:t>
            </a:r>
            <a:endParaRPr lang="en-US" altLang="en-US" sz="2400"/>
          </a:p>
          <a:p>
            <a:pPr lvl="1"/>
            <a:r>
              <a:rPr lang="en-US" altLang="en-US" sz="2400"/>
              <a:t>bprop: Computes Jacobian-vector product</a:t>
            </a:r>
            <a:endParaRPr lang="en-US" altLang="en-US" sz="2400"/>
          </a:p>
          <a:p>
            <a:r>
              <a:rPr lang="en-US" altLang="en-US" sz="2400"/>
              <a:t>Key Principle</a:t>
            </a:r>
            <a:endParaRPr lang="en-US" altLang="en-US" sz="2400"/>
          </a:p>
          <a:p>
            <a:pPr lvl="1"/>
            <a:r>
              <a:rPr lang="en-US" altLang="en-US" sz="2400"/>
              <a:t>Each operation knows how to back-propagate through itself</a:t>
            </a:r>
            <a:endParaRPr lang="en-US" altLang="en-US" sz="2400"/>
          </a:p>
          <a:p>
            <a:pPr lvl="1"/>
            <a:r>
              <a:rPr lang="en-US" altLang="en-US" sz="2400"/>
              <a:t>Algorithm doesn't need to know differentiation rules</a:t>
            </a:r>
            <a:endParaRPr lang="en-US" altLang="en-US" sz="2400"/>
          </a:p>
          <a:p>
            <a:pPr lvl="1"/>
            <a:r>
              <a:rPr lang="en-US" altLang="en-US" sz="2400"/>
              <a:t>Modular and extensible design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Advanced Topics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700"/>
              <a:t>Automatic Differentiation</a:t>
            </a:r>
            <a:endParaRPr lang="en-US" altLang="en-US" sz="2700"/>
          </a:p>
          <a:p>
            <a:pPr lvl="1"/>
            <a:r>
              <a:rPr lang="en-US" altLang="en-US" sz="2700"/>
              <a:t>Back-propagation is "reverse mode accumulation"</a:t>
            </a:r>
            <a:endParaRPr lang="en-US" altLang="en-US" sz="2700"/>
          </a:p>
          <a:p>
            <a:pPr lvl="1"/>
            <a:r>
              <a:rPr lang="en-US" altLang="en-US" sz="2700"/>
              <a:t>Forward Mode: Better when #outputs &gt; #inputs</a:t>
            </a:r>
            <a:endParaRPr lang="en-US" altLang="en-US" sz="2700"/>
          </a:p>
          <a:p>
            <a:pPr lvl="1"/>
            <a:r>
              <a:rPr lang="en-US" altLang="en-US" sz="2700"/>
              <a:t>Reverse Mode: Better when #inputs &gt; #outputs (typical in ML)</a:t>
            </a:r>
            <a:endParaRPr lang="en-US" altLang="en-US" sz="2700"/>
          </a:p>
          <a:p>
            <a:r>
              <a:rPr lang="en-US" altLang="en-US" sz="2700"/>
              <a:t>Optimization Considerations</a:t>
            </a:r>
            <a:endParaRPr lang="en-US" altLang="en-US" sz="2700"/>
          </a:p>
          <a:p>
            <a:pPr lvl="1"/>
            <a:r>
              <a:rPr lang="en-US" altLang="en-US" sz="2700"/>
              <a:t>Finding optimal computation order is NP-complete</a:t>
            </a:r>
            <a:endParaRPr lang="en-US" altLang="en-US" sz="2700"/>
          </a:p>
          <a:p>
            <a:pPr lvl="1"/>
            <a:r>
              <a:rPr lang="en-US" altLang="en-US" sz="2700"/>
              <a:t>Libraries use heuristics for graph simplification</a:t>
            </a:r>
            <a:endParaRPr lang="en-US" altLang="en-US" sz="2700"/>
          </a:p>
          <a:p>
            <a:pPr lvl="1"/>
            <a:r>
              <a:rPr lang="en-US" altLang="en-US" sz="2700"/>
              <a:t>Trade-offs between memory and computation</a:t>
            </a:r>
            <a:endParaRPr lang="en-US" altLang="en-US" sz="2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Real-World Complications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Implementation Challenges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Multiple outputs per operation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Memory management and buffer optimization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Different data types (float32, float64, int)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Undefined gradients handling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Numerical stability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Modern Frameworks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Handle complexity automatically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Provide pre-defined operations with gradients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310">
                <a:latin typeface="Arial" panose="020B0604020202020204" pitchFamily="34" charset="0"/>
                <a:cs typeface="Arial" panose="020B0604020202020204" pitchFamily="34" charset="0"/>
              </a:rPr>
              <a:t>Allow custom operations with manual gradient definition</a:t>
            </a:r>
            <a:endParaRPr lang="en-US" altLang="en-US" sz="231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Takeaways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Why Back-Propagation Matters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Makes training deep networks computationally feasible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Transforms exponential complexity to linear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Foundation of modern deep learning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Limitations and Alternatives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Not the only way to compute gradients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Graph simplification can improve efficiency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Forward mode useful in specific scenarios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Active area of research in automatic differentiation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WPS Presentation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Back-Propagation and Differentiation Algorithms</dc:title>
  <dc:creator/>
  <cp:lastModifiedBy>N Biraja Isac</cp:lastModifiedBy>
  <cp:revision>1</cp:revision>
  <dcterms:created xsi:type="dcterms:W3CDTF">2025-07-23T06:06:24Z</dcterms:created>
  <dcterms:modified xsi:type="dcterms:W3CDTF">2025-07-23T06:06:24Z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1F66D55D401D40BD8EBFB33C7FB1E759_11</vt:lpwstr>
  </property>
  <property fmtid="{D5CDD505-2E9C-101B-9397-08002B2CF9AE}" pid="3" name="KSOProductBuildVer">
    <vt:lpwstr>1033-12.2.0.21931</vt:lpwstr>
  </property>
</Properties>
</file>