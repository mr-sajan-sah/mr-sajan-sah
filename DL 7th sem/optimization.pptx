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42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713" y="933841"/>
            <a:ext cx="294467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15192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67063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4865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5694" y="314161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2526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6877" y="315431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7976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4177" y="314161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9640" y="314161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3439" y="314796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9640" y="317971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090" y="314161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17209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14559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14161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4147185" cy="109855"/>
          </a:xfrm>
          <a:custGeom>
            <a:avLst/>
            <a:gdLst/>
            <a:ahLst/>
            <a:cxnLst/>
            <a:rect l="l" t="t" r="r" b="b"/>
            <a:pathLst>
              <a:path w="4147185" h="109855">
                <a:moveTo>
                  <a:pt x="4147172" y="0"/>
                </a:moveTo>
                <a:lnTo>
                  <a:pt x="0" y="0"/>
                </a:lnTo>
                <a:lnTo>
                  <a:pt x="0" y="109651"/>
                </a:lnTo>
                <a:lnTo>
                  <a:pt x="4147172" y="109651"/>
                </a:lnTo>
                <a:lnTo>
                  <a:pt x="41471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79"/>
            <a:ext cx="36271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1187563"/>
            <a:ext cx="3928110" cy="828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1660" y="3242132"/>
            <a:ext cx="1807210" cy="21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spc="125" dirty="0"/>
              <a:t> </a:t>
            </a:r>
            <a:r>
              <a:rPr dirty="0"/>
              <a:t>Josif</a:t>
            </a:r>
            <a:r>
              <a:rPr spc="50" dirty="0"/>
              <a:t> </a:t>
            </a:r>
            <a:r>
              <a:rPr dirty="0"/>
              <a:t>Grabocka,</a:t>
            </a:r>
            <a:r>
              <a:rPr spc="50" dirty="0"/>
              <a:t> </a:t>
            </a:r>
            <a:r>
              <a:rPr dirty="0"/>
              <a:t>ISMLL,</a:t>
            </a:r>
            <a:r>
              <a:rPr spc="45" dirty="0"/>
              <a:t> </a:t>
            </a:r>
            <a:r>
              <a:rPr dirty="0"/>
              <a:t>University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spc="-10" dirty="0"/>
              <a:t>Hildesheim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Deep</a:t>
            </a:r>
            <a:r>
              <a:rPr spc="-10" dirty="0"/>
              <a:t> Learning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280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mgur.com/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7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7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gmo.jp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022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/>
                <a:cs typeface="Tahoma"/>
                <a:hlinkClick r:id="" action="ppaction://noaction"/>
              </a:rPr>
              <a:t>Regularization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Optimization</a:t>
            </a:r>
            <a:r>
              <a:rPr spc="-75" dirty="0"/>
              <a:t> </a:t>
            </a:r>
            <a:r>
              <a:rPr spc="-10" dirty="0"/>
              <a:t>for</a:t>
            </a:r>
            <a:r>
              <a:rPr spc="-70" dirty="0"/>
              <a:t> </a:t>
            </a:r>
            <a:r>
              <a:rPr spc="-25" dirty="0"/>
              <a:t>Training</a:t>
            </a:r>
            <a:r>
              <a:rPr spc="-70" dirty="0"/>
              <a:t> </a:t>
            </a:r>
            <a:r>
              <a:rPr spc="-30" dirty="0"/>
              <a:t>Deep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009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921561"/>
            <a:ext cx="734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79117"/>
            <a:ext cx="1441450" cy="1106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Parameter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Initializations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272900"/>
              </a:lnSpc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SGD</a:t>
            </a:r>
            <a:r>
              <a:rPr sz="1100" spc="-1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Momentum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Adaptive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Learning</a:t>
            </a:r>
            <a:r>
              <a:rPr sz="1100" spc="-3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Rates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2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009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Non-</a:t>
            </a:r>
            <a:r>
              <a:rPr spc="-35" dirty="0"/>
              <a:t>convex </a:t>
            </a:r>
            <a:r>
              <a:rPr spc="-10" dirty="0"/>
              <a:t>Optimization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462088"/>
            <a:ext cx="3198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20" dirty="0">
                <a:latin typeface="Tahoma"/>
                <a:cs typeface="Tahoma"/>
              </a:rPr>
              <a:t>Finding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yield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minimum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cost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232" y="715542"/>
            <a:ext cx="1173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argmin</a:t>
            </a:r>
            <a:r>
              <a:rPr sz="1100" spc="-140" dirty="0">
                <a:latin typeface="Tahoma"/>
                <a:cs typeface="Tahoma"/>
              </a:rPr>
              <a:t> 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x,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0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239" y="840082"/>
            <a:ext cx="3684904" cy="3917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285750" algn="ctr">
              <a:lnSpc>
                <a:spcPct val="100000"/>
              </a:lnSpc>
              <a:spcBef>
                <a:spcPts val="355"/>
              </a:spcBef>
            </a:pPr>
            <a:r>
              <a:rPr sz="800" i="1" spc="-5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  <a:p>
            <a:pPr marL="171450" indent="-146050">
              <a:lnSpc>
                <a:spcPct val="100000"/>
              </a:lnSpc>
              <a:spcBef>
                <a:spcPts val="350"/>
              </a:spcBef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cost</a:t>
            </a:r>
            <a:r>
              <a:rPr sz="1100" spc="-30" dirty="0">
                <a:latin typeface="Tahoma"/>
                <a:cs typeface="Tahoma"/>
              </a:rPr>
              <a:t> functions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neural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highly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non-</a:t>
            </a:r>
            <a:r>
              <a:rPr sz="1100" spc="-10" dirty="0">
                <a:latin typeface="Tahoma"/>
                <a:cs typeface="Tahoma"/>
              </a:rPr>
              <a:t>convex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66" y="715542"/>
            <a:ext cx="202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(1)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7830" y="1367028"/>
            <a:ext cx="1732311" cy="13512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6342" y="2839648"/>
            <a:ext cx="4315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1: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non-</a:t>
            </a:r>
            <a:r>
              <a:rPr sz="1000" spc="-40" dirty="0">
                <a:latin typeface="Tahoma"/>
                <a:cs typeface="Tahoma"/>
              </a:rPr>
              <a:t>convex</a:t>
            </a:r>
            <a:r>
              <a:rPr sz="1000" spc="-20" dirty="0">
                <a:latin typeface="Tahoma"/>
                <a:cs typeface="Tahoma"/>
              </a:rPr>
              <a:t> function </a:t>
            </a:r>
            <a:r>
              <a:rPr sz="1000" spc="-45" dirty="0">
                <a:latin typeface="Tahoma"/>
                <a:cs typeface="Tahoma"/>
              </a:rPr>
              <a:t>has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multiple </a:t>
            </a:r>
            <a:r>
              <a:rPr sz="1000" dirty="0">
                <a:latin typeface="Tahoma"/>
                <a:cs typeface="Tahoma"/>
              </a:rPr>
              <a:t>local</a:t>
            </a:r>
            <a:r>
              <a:rPr sz="1000" spc="-20" dirty="0">
                <a:latin typeface="Tahoma"/>
                <a:cs typeface="Tahoma"/>
              </a:rPr>
              <a:t> optima, </a:t>
            </a:r>
            <a:r>
              <a:rPr sz="1000" spc="-30" dirty="0">
                <a:latin typeface="Tahoma"/>
                <a:cs typeface="Tahoma"/>
              </a:rPr>
              <a:t>Source: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-10" dirty="0">
                <a:latin typeface="Courier New"/>
                <a:cs typeface="Courier New"/>
                <a:hlinkClick r:id="rId5"/>
              </a:rPr>
              <a:t>imgur.com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2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009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Saddle</a:t>
            </a:r>
            <a:r>
              <a:rPr spc="-80" dirty="0"/>
              <a:t> </a:t>
            </a:r>
            <a:r>
              <a:rPr spc="-10" dirty="0"/>
              <a:t>Points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541031"/>
            <a:ext cx="3887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minima,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cost</a:t>
            </a:r>
            <a:r>
              <a:rPr sz="1100" spc="-30" dirty="0">
                <a:latin typeface="Tahoma"/>
                <a:cs typeface="Tahoma"/>
              </a:rPr>
              <a:t> functions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saddle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384" y="1065467"/>
            <a:ext cx="2540918" cy="13563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2239" y="2636385"/>
            <a:ext cx="3575685" cy="51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2: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Saddle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points,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Source: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Goodfellow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al.,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2016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000">
              <a:latin typeface="Tahoma"/>
              <a:cs typeface="Tahoma"/>
            </a:endParaRPr>
          </a:p>
          <a:p>
            <a:pPr marL="171450" indent="-146050">
              <a:lnSpc>
                <a:spcPct val="100000"/>
              </a:lnSpc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spc="-30" dirty="0">
                <a:latin typeface="Tahoma"/>
                <a:cs typeface="Tahoma"/>
              </a:rPr>
              <a:t>Gradients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20" dirty="0">
                <a:latin typeface="Tahoma"/>
                <a:cs typeface="Tahoma"/>
              </a:rPr>
              <a:t> small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saddle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3</a:t>
            </a:r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009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Gradients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6839" y="488516"/>
            <a:ext cx="3243580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8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96850" algn="l"/>
              </a:tabLst>
            </a:pPr>
            <a:r>
              <a:rPr sz="1100" dirty="0">
                <a:latin typeface="Tahoma"/>
                <a:cs typeface="Tahoma"/>
              </a:rPr>
              <a:t>Cost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surface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unknown</a:t>
            </a:r>
            <a:endParaRPr sz="1100">
              <a:latin typeface="Tahoma"/>
              <a:cs typeface="Tahoma"/>
            </a:endParaRPr>
          </a:p>
          <a:p>
            <a:pPr marL="196850" indent="-146050">
              <a:lnSpc>
                <a:spcPct val="100000"/>
              </a:lnSpc>
              <a:spcBef>
                <a:spcPts val="975"/>
              </a:spcBef>
              <a:buSzPct val="72727"/>
              <a:buFont typeface="Lucida Sans Unicode"/>
              <a:buChar char="►"/>
              <a:tabLst>
                <a:tab pos="19685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back-prop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θ</a:t>
            </a:r>
            <a:r>
              <a:rPr sz="1100" spc="-25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338455">
              <a:lnSpc>
                <a:spcPct val="100000"/>
              </a:lnSpc>
              <a:spcBef>
                <a:spcPts val="71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65" baseline="13888" dirty="0">
                <a:latin typeface="Arial MT"/>
                <a:cs typeface="Arial MT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Online</a:t>
            </a:r>
            <a:r>
              <a:rPr sz="1000" dirty="0">
                <a:latin typeface="Tahoma"/>
                <a:cs typeface="Tahoma"/>
              </a:rPr>
              <a:t> w.r.t.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single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instance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baseline="27777" dirty="0">
                <a:latin typeface="Tahoma"/>
                <a:cs typeface="Tahoma"/>
              </a:rPr>
              <a:t>(</a:t>
            </a:r>
            <a:r>
              <a:rPr sz="1050" i="1" baseline="27777" dirty="0">
                <a:latin typeface="Arial"/>
                <a:cs typeface="Arial"/>
              </a:rPr>
              <a:t>i</a:t>
            </a:r>
            <a:r>
              <a:rPr sz="1050" baseline="27777" dirty="0">
                <a:latin typeface="Tahoma"/>
                <a:cs typeface="Tahoma"/>
              </a:rPr>
              <a:t>)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50" spc="-30" baseline="27777" dirty="0">
                <a:latin typeface="Tahoma"/>
                <a:cs typeface="Tahoma"/>
              </a:rPr>
              <a:t>(</a:t>
            </a:r>
            <a:r>
              <a:rPr sz="1050" i="1" spc="-30" baseline="27777" dirty="0">
                <a:latin typeface="Arial"/>
                <a:cs typeface="Arial"/>
              </a:rPr>
              <a:t>i</a:t>
            </a:r>
            <a:r>
              <a:rPr sz="1050" spc="-30" baseline="27777" dirty="0">
                <a:latin typeface="Tahoma"/>
                <a:cs typeface="Tahoma"/>
              </a:rPr>
              <a:t>)</a:t>
            </a:r>
            <a:r>
              <a:rPr sz="1000" spc="-20" dirty="0">
                <a:latin typeface="Tahoma"/>
                <a:cs typeface="Tahoma"/>
              </a:rPr>
              <a:t>):</a:t>
            </a:r>
            <a:endParaRPr sz="1000">
              <a:latin typeface="Tahoma"/>
              <a:cs typeface="Tahoma"/>
            </a:endParaRPr>
          </a:p>
          <a:p>
            <a:pPr marL="1588770">
              <a:lnSpc>
                <a:spcPct val="100000"/>
              </a:lnSpc>
              <a:spcBef>
                <a:spcPts val="910"/>
              </a:spcBef>
            </a:pPr>
            <a:r>
              <a:rPr sz="1000" i="1" spc="-275" dirty="0">
                <a:latin typeface="Arial"/>
                <a:cs typeface="Arial"/>
              </a:rPr>
              <a:t>g</a:t>
            </a:r>
            <a:r>
              <a:rPr sz="1000" spc="-275" dirty="0">
                <a:latin typeface="Tahoma"/>
                <a:cs typeface="Tahoma"/>
              </a:rPr>
              <a:t>ˆ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100" dirty="0">
                <a:latin typeface="Cambria"/>
                <a:cs typeface="Cambria"/>
              </a:rPr>
              <a:t>∇</a:t>
            </a:r>
            <a:r>
              <a:rPr sz="1050" i="1" spc="150" baseline="-11904" dirty="0">
                <a:latin typeface="Trebuchet MS"/>
                <a:cs typeface="Trebuchet MS"/>
              </a:rPr>
              <a:t>θ</a:t>
            </a:r>
            <a:r>
              <a:rPr sz="1050" i="1" spc="-187" baseline="-11904" dirty="0">
                <a:latin typeface="Trebuchet MS"/>
                <a:cs typeface="Trebuchet MS"/>
              </a:rPr>
              <a:t> </a:t>
            </a:r>
            <a:r>
              <a:rPr sz="1000" spc="55" dirty="0">
                <a:latin typeface="Cambria"/>
                <a:cs typeface="Cambria"/>
              </a:rPr>
              <a:t>L</a:t>
            </a:r>
            <a:r>
              <a:rPr sz="1000" spc="55" dirty="0">
                <a:latin typeface="Tahoma"/>
                <a:cs typeface="Tahoma"/>
              </a:rPr>
              <a:t>(</a:t>
            </a:r>
            <a:r>
              <a:rPr sz="1000" i="1" spc="55" dirty="0">
                <a:latin typeface="Arial"/>
                <a:cs typeface="Arial"/>
              </a:rPr>
              <a:t>f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50" baseline="31746" dirty="0">
                <a:latin typeface="Tahoma"/>
                <a:cs typeface="Tahoma"/>
              </a:rPr>
              <a:t>(</a:t>
            </a:r>
            <a:r>
              <a:rPr sz="1050" i="1" baseline="31746" dirty="0">
                <a:latin typeface="Arial"/>
                <a:cs typeface="Arial"/>
              </a:rPr>
              <a:t>i</a:t>
            </a:r>
            <a:r>
              <a:rPr sz="1050" baseline="31746" dirty="0">
                <a:latin typeface="Tahoma"/>
                <a:cs typeface="Tahoma"/>
              </a:rPr>
              <a:t>)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8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00" i="1" spc="-25" dirty="0">
                <a:latin typeface="Arial"/>
                <a:cs typeface="Arial"/>
              </a:rPr>
              <a:t>,</a:t>
            </a:r>
            <a:r>
              <a:rPr sz="1000" i="1" spc="-80" dirty="0">
                <a:latin typeface="Arial"/>
                <a:cs typeface="Arial"/>
              </a:rPr>
              <a:t> </a:t>
            </a:r>
            <a:r>
              <a:rPr sz="1000" i="1" spc="-45" dirty="0">
                <a:latin typeface="Arial"/>
                <a:cs typeface="Arial"/>
              </a:rPr>
              <a:t>y</a:t>
            </a:r>
            <a:r>
              <a:rPr sz="1000" i="1" spc="-150" dirty="0">
                <a:latin typeface="Arial"/>
                <a:cs typeface="Arial"/>
              </a:rPr>
              <a:t> </a:t>
            </a:r>
            <a:r>
              <a:rPr sz="1050" spc="-30" baseline="31746" dirty="0">
                <a:latin typeface="Tahoma"/>
                <a:cs typeface="Tahoma"/>
              </a:rPr>
              <a:t>(</a:t>
            </a:r>
            <a:r>
              <a:rPr sz="1050" i="1" spc="-30" baseline="31746" dirty="0">
                <a:latin typeface="Arial"/>
                <a:cs typeface="Arial"/>
              </a:rPr>
              <a:t>i</a:t>
            </a:r>
            <a:r>
              <a:rPr sz="1050" spc="-30" baseline="31746" dirty="0">
                <a:latin typeface="Tahoma"/>
                <a:cs typeface="Tahoma"/>
              </a:rPr>
              <a:t>)</a:t>
            </a:r>
            <a:r>
              <a:rPr sz="1000" spc="-2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75" y="1604599"/>
            <a:ext cx="93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8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5484" y="1565010"/>
            <a:ext cx="1862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1665" algn="l"/>
                <a:tab pos="860425" algn="l"/>
                <a:tab pos="1421130" algn="l"/>
                <a:tab pos="1702435" algn="l"/>
              </a:tabLst>
            </a:pPr>
            <a:r>
              <a:rPr sz="700" i="1" spc="-10" dirty="0">
                <a:latin typeface="Arial"/>
                <a:cs typeface="Arial"/>
              </a:rPr>
              <a:t>Train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N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N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1943" y="1470474"/>
            <a:ext cx="15754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87805" algn="l"/>
              </a:tabLst>
            </a:pPr>
            <a:r>
              <a:rPr sz="1000" dirty="0">
                <a:latin typeface="Verdana"/>
                <a:cs typeface="Verdana"/>
              </a:rPr>
              <a:t>	</a:t>
            </a:r>
            <a:r>
              <a:rPr sz="1000" spc="-50" dirty="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1572963"/>
            <a:ext cx="34721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05610" algn="l"/>
                <a:tab pos="3019425" algn="l"/>
                <a:tab pos="3300729" algn="l"/>
              </a:tabLst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Batch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full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training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45" dirty="0">
                <a:latin typeface="Cambria"/>
                <a:cs typeface="Cambria"/>
              </a:rPr>
              <a:t>D</a:t>
            </a:r>
            <a:r>
              <a:rPr sz="1000" dirty="0">
                <a:latin typeface="Cambria"/>
                <a:cs typeface="Cambria"/>
              </a:rPr>
              <a:t>	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4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8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95" dirty="0">
                <a:latin typeface="Arial"/>
                <a:cs typeface="Arial"/>
              </a:rPr>
              <a:t> 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(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,</a:t>
            </a:r>
            <a:r>
              <a:rPr sz="1000" i="1" spc="-125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26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450" y="1892749"/>
            <a:ext cx="1073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1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0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6450" y="2065126"/>
            <a:ext cx="115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6935" y="2035279"/>
            <a:ext cx="736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Trebuchet MS"/>
                <a:cs typeface="Trebuchet MS"/>
              </a:rPr>
              <a:t>θ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29891" y="1858139"/>
            <a:ext cx="920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5268" y="185814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10" dirty="0">
                <a:latin typeface="Verdana"/>
                <a:cs typeface="Verdana"/>
              </a:rPr>
              <a:t>Σ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0927" y="2167664"/>
            <a:ext cx="177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0858" y="1964057"/>
            <a:ext cx="537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9734" algn="l"/>
              </a:tabLst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5605" y="1978335"/>
            <a:ext cx="1678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985" algn="l"/>
                <a:tab pos="775970" algn="l"/>
              </a:tabLst>
            </a:pPr>
            <a:r>
              <a:rPr sz="1000" i="1" dirty="0">
                <a:latin typeface="Arial"/>
                <a:cs typeface="Arial"/>
              </a:rPr>
              <a:t>g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175" dirty="0">
                <a:latin typeface="Cambria"/>
                <a:cs typeface="Cambria"/>
              </a:rPr>
              <a:t>∇</a:t>
            </a:r>
            <a:r>
              <a:rPr sz="1000" dirty="0">
                <a:latin typeface="Cambria"/>
                <a:cs typeface="Cambria"/>
              </a:rPr>
              <a:t>	</a:t>
            </a:r>
            <a:r>
              <a:rPr sz="1000" spc="55" dirty="0">
                <a:latin typeface="Cambria"/>
                <a:cs typeface="Cambria"/>
              </a:rPr>
              <a:t>L</a:t>
            </a:r>
            <a:r>
              <a:rPr sz="1000" spc="55" dirty="0">
                <a:latin typeface="Tahoma"/>
                <a:cs typeface="Tahoma"/>
              </a:rPr>
              <a:t>(</a:t>
            </a:r>
            <a:r>
              <a:rPr sz="1000" i="1" spc="55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80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00" i="1" spc="-25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95" dirty="0">
                <a:latin typeface="Arial"/>
                <a:cs typeface="Arial"/>
              </a:rPr>
              <a:t> 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2975" y="2415113"/>
            <a:ext cx="93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8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4383" y="2280988"/>
            <a:ext cx="1580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3520" algn="l"/>
              </a:tabLst>
            </a:pPr>
            <a:r>
              <a:rPr sz="1000" dirty="0">
                <a:latin typeface="Verdana"/>
                <a:cs typeface="Verdana"/>
              </a:rPr>
              <a:t>	</a:t>
            </a:r>
            <a:r>
              <a:rPr sz="1000" spc="-50" dirty="0">
                <a:latin typeface="Verdana"/>
                <a:cs typeface="Verdana"/>
              </a:rPr>
              <a:t>}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7335" y="2375524"/>
            <a:ext cx="1862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1460" algn="l"/>
                <a:tab pos="811530" algn="l"/>
                <a:tab pos="1095375" algn="l"/>
                <a:tab pos="1644014" algn="l"/>
              </a:tabLst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m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m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i="1" spc="-10" dirty="0">
                <a:latin typeface="Arial"/>
                <a:cs typeface="Arial"/>
              </a:rPr>
              <a:t>Train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0034" y="2383477"/>
            <a:ext cx="3408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74825" algn="l"/>
                <a:tab pos="2058670" algn="l"/>
                <a:tab pos="2706370" algn="l"/>
              </a:tabLst>
            </a:pP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Mini-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batch</a:t>
            </a:r>
            <a:r>
              <a:rPr sz="1000" spc="110" dirty="0">
                <a:latin typeface="Tahoma"/>
                <a:cs typeface="Tahoma"/>
              </a:rPr>
              <a:t> 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85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90" dirty="0">
                <a:latin typeface="Arial"/>
                <a:cs typeface="Arial"/>
              </a:rPr>
              <a:t> 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Arial"/>
                <a:cs typeface="Arial"/>
              </a:rPr>
              <a:t>,</a:t>
            </a:r>
            <a:r>
              <a:rPr sz="1000" i="1" spc="-1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.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(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,</a:t>
            </a:r>
            <a:r>
              <a:rPr sz="1000" i="1" spc="-125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y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120" dirty="0">
                <a:latin typeface="Tahoma"/>
                <a:cs typeface="Tahoma"/>
              </a:rPr>
              <a:t>  </a:t>
            </a:r>
            <a:r>
              <a:rPr sz="1000" dirty="0">
                <a:latin typeface="Cambria"/>
                <a:cs typeface="Cambria"/>
              </a:rPr>
              <a:t>⊂</a:t>
            </a:r>
            <a:r>
              <a:rPr sz="1000" spc="65" dirty="0">
                <a:latin typeface="Cambria"/>
                <a:cs typeface="Cambria"/>
              </a:rPr>
              <a:t> </a:t>
            </a:r>
            <a:r>
              <a:rPr sz="1000" spc="45" dirty="0">
                <a:latin typeface="Cambria"/>
                <a:cs typeface="Cambria"/>
              </a:rPr>
              <a:t>D</a:t>
            </a:r>
            <a:r>
              <a:rPr sz="1000" dirty="0">
                <a:latin typeface="Cambria"/>
                <a:cs typeface="Cambria"/>
              </a:rPr>
              <a:t>	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spc="180" dirty="0">
                <a:latin typeface="Arial"/>
                <a:cs typeface="Arial"/>
              </a:rPr>
              <a:t>&lt;&lt;</a:t>
            </a:r>
            <a:r>
              <a:rPr sz="1000" i="1" spc="-4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N</a:t>
            </a:r>
            <a:r>
              <a:rPr sz="1000" spc="-25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5002" y="2681114"/>
            <a:ext cx="1085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0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5002" y="2853504"/>
            <a:ext cx="1263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0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98395" y="2823644"/>
            <a:ext cx="736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Trebuchet MS"/>
                <a:cs typeface="Trebuchet MS"/>
              </a:rPr>
              <a:t>θ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29992" y="2646517"/>
            <a:ext cx="1003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76716" y="2646507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10" dirty="0">
                <a:latin typeface="Verdana"/>
                <a:cs typeface="Verdana"/>
              </a:rPr>
              <a:t>Σ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92375" y="2956041"/>
            <a:ext cx="177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=1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02305" y="2752422"/>
            <a:ext cx="5372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9734" algn="l"/>
              </a:tabLst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4144" y="2766712"/>
            <a:ext cx="1680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160" algn="l"/>
                <a:tab pos="778510" algn="l"/>
              </a:tabLst>
            </a:pPr>
            <a:r>
              <a:rPr sz="1000" i="1" spc="-275" dirty="0">
                <a:latin typeface="Arial"/>
                <a:cs typeface="Arial"/>
              </a:rPr>
              <a:t>g</a:t>
            </a:r>
            <a:r>
              <a:rPr sz="1000" spc="-275" dirty="0">
                <a:latin typeface="Tahoma"/>
                <a:cs typeface="Tahoma"/>
              </a:rPr>
              <a:t>ˆ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175" dirty="0">
                <a:latin typeface="Cambria"/>
                <a:cs typeface="Cambria"/>
              </a:rPr>
              <a:t>∇</a:t>
            </a:r>
            <a:r>
              <a:rPr sz="1000" dirty="0">
                <a:latin typeface="Cambria"/>
                <a:cs typeface="Cambria"/>
              </a:rPr>
              <a:t>	</a:t>
            </a:r>
            <a:r>
              <a:rPr sz="1000" spc="55" dirty="0">
                <a:latin typeface="Cambria"/>
                <a:cs typeface="Cambria"/>
              </a:rPr>
              <a:t>L</a:t>
            </a:r>
            <a:r>
              <a:rPr sz="1000" spc="55" dirty="0">
                <a:latin typeface="Tahoma"/>
                <a:cs typeface="Tahoma"/>
              </a:rPr>
              <a:t>(</a:t>
            </a:r>
            <a:r>
              <a:rPr sz="1000" i="1" spc="55" dirty="0">
                <a:latin typeface="Arial"/>
                <a:cs typeface="Arial"/>
              </a:rPr>
              <a:t>f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80" dirty="0">
                <a:latin typeface="Arial"/>
                <a:cs typeface="Arial"/>
              </a:rPr>
              <a:t>  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00" i="1" spc="-25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95" dirty="0">
                <a:latin typeface="Arial"/>
                <a:cs typeface="Arial"/>
              </a:rPr>
              <a:t> 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4</a:t>
            </a:r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15192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67063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44865" y="314796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42526" y="3139080"/>
            <a:ext cx="203200" cy="55880"/>
            <a:chOff x="3242526" y="3139080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141611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42526" y="3147961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137815"/>
            <a:ext cx="203200" cy="58419"/>
            <a:chOff x="3517976" y="3137815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6877" y="315431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17976" y="3147961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94177" y="314161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147961"/>
            <a:ext cx="203200" cy="48260"/>
            <a:chOff x="3793439" y="3147961"/>
            <a:chExt cx="203200" cy="48260"/>
          </a:xfrm>
        </p:grpSpPr>
        <p:sp>
          <p:nvSpPr>
            <p:cNvPr id="13" name="object 13"/>
            <p:cNvSpPr/>
            <p:nvPr/>
          </p:nvSpPr>
          <p:spPr>
            <a:xfrm>
              <a:off x="3793439" y="3147961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69640" y="317971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145090" y="314161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326582" y="3139080"/>
            <a:ext cx="238760" cy="57150"/>
            <a:chOff x="4326582" y="3139080"/>
            <a:chExt cx="238760" cy="57150"/>
          </a:xfrm>
        </p:grpSpPr>
        <p:sp>
          <p:nvSpPr>
            <p:cNvPr id="17" name="object 17"/>
            <p:cNvSpPr/>
            <p:nvPr/>
          </p:nvSpPr>
          <p:spPr>
            <a:xfrm>
              <a:off x="4451033" y="3172091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3969" y="31455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29112" y="3141611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0"/>
            <a:ext cx="4147185" cy="109855"/>
          </a:xfrm>
          <a:custGeom>
            <a:avLst/>
            <a:gdLst/>
            <a:ahLst/>
            <a:cxnLst/>
            <a:rect l="l" t="t" r="r" b="b"/>
            <a:pathLst>
              <a:path w="4147185" h="109855">
                <a:moveTo>
                  <a:pt x="4147172" y="0"/>
                </a:moveTo>
                <a:lnTo>
                  <a:pt x="0" y="0"/>
                </a:lnTo>
                <a:lnTo>
                  <a:pt x="0" y="109651"/>
                </a:lnTo>
                <a:lnTo>
                  <a:pt x="4147172" y="109651"/>
                </a:lnTo>
                <a:lnTo>
                  <a:pt x="41471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1660" y="-12707"/>
            <a:ext cx="10096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Introduction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Stochastic</a:t>
            </a:r>
            <a:r>
              <a:rPr spc="-60" dirty="0"/>
              <a:t> </a:t>
            </a:r>
            <a:r>
              <a:rPr spc="-25" dirty="0"/>
              <a:t>Gradient</a:t>
            </a:r>
            <a:r>
              <a:rPr spc="-55" dirty="0"/>
              <a:t> </a:t>
            </a:r>
            <a:r>
              <a:rPr spc="-30" dirty="0"/>
              <a:t>Descent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40" dirty="0"/>
              <a:t>Learning</a:t>
            </a:r>
            <a:r>
              <a:rPr spc="-60" dirty="0"/>
              <a:t> </a:t>
            </a:r>
            <a:r>
              <a:rPr spc="-10" dirty="0"/>
              <a:t>Rates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2239" y="448295"/>
            <a:ext cx="3342640" cy="4006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71450" indent="-146050">
              <a:lnSpc>
                <a:spcPct val="100000"/>
              </a:lnSpc>
              <a:spcBef>
                <a:spcPts val="254"/>
              </a:spcBef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previously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mentioned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i="1" spc="55" dirty="0">
                <a:latin typeface="Arial"/>
                <a:cs typeface="Arial"/>
              </a:rPr>
              <a:t>ϵ</a:t>
            </a:r>
            <a:r>
              <a:rPr sz="1100" i="1" spc="-484" dirty="0">
                <a:latin typeface="Arial"/>
                <a:cs typeface="Arial"/>
              </a:rPr>
              <a:t>g</a:t>
            </a:r>
            <a:r>
              <a:rPr sz="1100" spc="5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  <a:p>
            <a:pPr marL="171450" indent="-146050">
              <a:lnSpc>
                <a:spcPct val="100000"/>
              </a:lnSpc>
              <a:spcBef>
                <a:spcPts val="160"/>
              </a:spcBef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dirty="0">
                <a:latin typeface="Tahoma"/>
                <a:cs typeface="Tahoma"/>
              </a:rPr>
              <a:t>What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rate/step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ϵ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=?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1132" y="1089703"/>
            <a:ext cx="2341068" cy="121608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242239" y="2463220"/>
            <a:ext cx="4020185" cy="687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3: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Cliffs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Exploding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Gradients,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Source: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Goodfellow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al.,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2016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Tahoma"/>
              <a:cs typeface="Tahoma"/>
            </a:endParaRPr>
          </a:p>
          <a:p>
            <a:pPr marL="170815" marR="117475" indent="-146050">
              <a:lnSpc>
                <a:spcPct val="102600"/>
              </a:lnSpc>
              <a:buSzPct val="72727"/>
              <a:buFont typeface="Lucida Sans Unicode"/>
              <a:buChar char="►"/>
              <a:tabLst>
                <a:tab pos="173355" algn="l"/>
              </a:tabLst>
            </a:pPr>
            <a:r>
              <a:rPr sz="1100" b="1" dirty="0">
                <a:latin typeface="Arial"/>
                <a:cs typeface="Arial"/>
              </a:rPr>
              <a:t>This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lecture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95" dirty="0">
                <a:latin typeface="Arial"/>
                <a:cs typeface="Arial"/>
              </a:rPr>
              <a:t>discusses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methods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that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help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converge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at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 	</a:t>
            </a:r>
            <a:r>
              <a:rPr sz="1100" b="1" spc="-30" dirty="0">
                <a:latin typeface="Arial"/>
                <a:cs typeface="Arial"/>
              </a:rPr>
              <a:t>minimum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cost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with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smallest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amount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steps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and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u="heavy" spc="-20" dirty="0">
                <a:uFill>
                  <a:solidFill>
                    <a:srgbClr val="999999"/>
                  </a:solidFill>
                </a:uFill>
                <a:latin typeface="Arial"/>
                <a:cs typeface="Arial"/>
              </a:rPr>
              <a:t>t</a:t>
            </a:r>
            <a:r>
              <a:rPr sz="1100" b="1" spc="-20" dirty="0">
                <a:latin typeface="Arial"/>
                <a:cs typeface="Arial"/>
              </a:rPr>
              <a:t>ime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5</a:t>
            </a:r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1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Parameter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Initializations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921561"/>
            <a:ext cx="734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79117"/>
            <a:ext cx="1426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  <a:hlinkClick r:id="rId3" action="ppaction://hlinksldjump"/>
              </a:rPr>
              <a:t>Parameter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Initializations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836660"/>
            <a:ext cx="144145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SGD</a:t>
            </a:r>
            <a:r>
              <a:rPr sz="1100" spc="-1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Momentum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Adaptive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Learning</a:t>
            </a:r>
            <a:r>
              <a:rPr sz="1100" spc="-3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Rates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6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1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Parameter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Initializations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Parameter</a:t>
            </a:r>
            <a:r>
              <a:rPr spc="-30" dirty="0"/>
              <a:t> Initializations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239" y="514590"/>
            <a:ext cx="3660775" cy="509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dirty="0">
                <a:latin typeface="Tahoma"/>
                <a:cs typeface="Tahoma"/>
              </a:rPr>
              <a:t>Most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approaches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heuristic</a:t>
            </a:r>
            <a:endParaRPr sz="1100">
              <a:latin typeface="Tahoma"/>
              <a:cs typeface="Tahoma"/>
            </a:endParaRPr>
          </a:p>
          <a:p>
            <a:pPr marL="171450" indent="-146050">
              <a:lnSpc>
                <a:spcPct val="100000"/>
              </a:lnSpc>
              <a:spcBef>
                <a:spcPts val="1185"/>
              </a:spcBef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important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break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8583" y="1494363"/>
            <a:ext cx="861060" cy="708660"/>
            <a:chOff x="1908583" y="1494363"/>
            <a:chExt cx="861060" cy="708660"/>
          </a:xfrm>
        </p:grpSpPr>
        <p:sp>
          <p:nvSpPr>
            <p:cNvPr id="7" name="object 7"/>
            <p:cNvSpPr/>
            <p:nvPr/>
          </p:nvSpPr>
          <p:spPr>
            <a:xfrm>
              <a:off x="1913981" y="1499761"/>
              <a:ext cx="276225" cy="250825"/>
            </a:xfrm>
            <a:custGeom>
              <a:avLst/>
              <a:gdLst/>
              <a:ahLst/>
              <a:cxnLst/>
              <a:rect l="l" t="t" r="r" b="b"/>
              <a:pathLst>
                <a:path w="276225" h="250825">
                  <a:moveTo>
                    <a:pt x="138175" y="0"/>
                  </a:moveTo>
                  <a:lnTo>
                    <a:pt x="182410" y="6209"/>
                  </a:lnTo>
                  <a:lnTo>
                    <a:pt x="220302" y="23636"/>
                  </a:lnTo>
                  <a:lnTo>
                    <a:pt x="249847" y="50477"/>
                  </a:lnTo>
                  <a:lnTo>
                    <a:pt x="269043" y="84930"/>
                  </a:lnTo>
                  <a:lnTo>
                    <a:pt x="275887" y="125192"/>
                  </a:lnTo>
                  <a:lnTo>
                    <a:pt x="269043" y="165454"/>
                  </a:lnTo>
                  <a:lnTo>
                    <a:pt x="249847" y="199907"/>
                  </a:lnTo>
                  <a:lnTo>
                    <a:pt x="220302" y="226749"/>
                  </a:lnTo>
                  <a:lnTo>
                    <a:pt x="182410" y="244176"/>
                  </a:lnTo>
                  <a:lnTo>
                    <a:pt x="138175" y="250385"/>
                  </a:lnTo>
                  <a:lnTo>
                    <a:pt x="93714" y="244176"/>
                  </a:lnTo>
                  <a:lnTo>
                    <a:pt x="55685" y="226749"/>
                  </a:lnTo>
                  <a:lnTo>
                    <a:pt x="26069" y="199907"/>
                  </a:lnTo>
                  <a:lnTo>
                    <a:pt x="6847" y="165454"/>
                  </a:lnTo>
                  <a:lnTo>
                    <a:pt x="0" y="125192"/>
                  </a:lnTo>
                  <a:lnTo>
                    <a:pt x="6847" y="84930"/>
                  </a:lnTo>
                  <a:lnTo>
                    <a:pt x="26069" y="50477"/>
                  </a:lnTo>
                  <a:lnTo>
                    <a:pt x="55685" y="23636"/>
                  </a:lnTo>
                  <a:lnTo>
                    <a:pt x="93714" y="6209"/>
                  </a:lnTo>
                  <a:lnTo>
                    <a:pt x="138175" y="0"/>
                  </a:lnTo>
                  <a:close/>
                </a:path>
              </a:pathLst>
            </a:custGeom>
            <a:ln w="10628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8657" y="1494447"/>
              <a:ext cx="287020" cy="261620"/>
            </a:xfrm>
            <a:custGeom>
              <a:avLst/>
              <a:gdLst/>
              <a:ahLst/>
              <a:cxnLst/>
              <a:rect l="l" t="t" r="r" b="b"/>
              <a:pathLst>
                <a:path w="287019" h="261619">
                  <a:moveTo>
                    <a:pt x="10629" y="5321"/>
                  </a:moveTo>
                  <a:lnTo>
                    <a:pt x="9080" y="1562"/>
                  </a:lnTo>
                  <a:lnTo>
                    <a:pt x="5321" y="0"/>
                  </a:lnTo>
                  <a:lnTo>
                    <a:pt x="1562" y="1562"/>
                  </a:lnTo>
                  <a:lnTo>
                    <a:pt x="0" y="5321"/>
                  </a:lnTo>
                  <a:lnTo>
                    <a:pt x="1562" y="9080"/>
                  </a:lnTo>
                  <a:lnTo>
                    <a:pt x="5321" y="10629"/>
                  </a:lnTo>
                  <a:lnTo>
                    <a:pt x="9080" y="9080"/>
                  </a:lnTo>
                  <a:lnTo>
                    <a:pt x="10629" y="5321"/>
                  </a:lnTo>
                  <a:close/>
                </a:path>
                <a:path w="287019" h="261619">
                  <a:moveTo>
                    <a:pt x="286524" y="255701"/>
                  </a:moveTo>
                  <a:lnTo>
                    <a:pt x="284962" y="251942"/>
                  </a:lnTo>
                  <a:lnTo>
                    <a:pt x="281203" y="250393"/>
                  </a:lnTo>
                  <a:lnTo>
                    <a:pt x="277444" y="251942"/>
                  </a:lnTo>
                  <a:lnTo>
                    <a:pt x="275894" y="255701"/>
                  </a:lnTo>
                  <a:lnTo>
                    <a:pt x="277444" y="259461"/>
                  </a:lnTo>
                  <a:lnTo>
                    <a:pt x="281203" y="261023"/>
                  </a:lnTo>
                  <a:lnTo>
                    <a:pt x="284962" y="259461"/>
                  </a:lnTo>
                  <a:lnTo>
                    <a:pt x="286524" y="255701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5836" y="1946746"/>
              <a:ext cx="274955" cy="250825"/>
            </a:xfrm>
            <a:custGeom>
              <a:avLst/>
              <a:gdLst/>
              <a:ahLst/>
              <a:cxnLst/>
              <a:rect l="l" t="t" r="r" b="b"/>
              <a:pathLst>
                <a:path w="274955" h="250825">
                  <a:moveTo>
                    <a:pt x="137712" y="0"/>
                  </a:moveTo>
                  <a:lnTo>
                    <a:pt x="181898" y="6209"/>
                  </a:lnTo>
                  <a:lnTo>
                    <a:pt x="219675" y="23636"/>
                  </a:lnTo>
                  <a:lnTo>
                    <a:pt x="249083" y="50477"/>
                  </a:lnTo>
                  <a:lnTo>
                    <a:pt x="268164" y="84930"/>
                  </a:lnTo>
                  <a:lnTo>
                    <a:pt x="274960" y="125192"/>
                  </a:lnTo>
                  <a:lnTo>
                    <a:pt x="268164" y="165454"/>
                  </a:lnTo>
                  <a:lnTo>
                    <a:pt x="249083" y="199907"/>
                  </a:lnTo>
                  <a:lnTo>
                    <a:pt x="219675" y="226749"/>
                  </a:lnTo>
                  <a:lnTo>
                    <a:pt x="181898" y="244176"/>
                  </a:lnTo>
                  <a:lnTo>
                    <a:pt x="137712" y="250385"/>
                  </a:lnTo>
                  <a:lnTo>
                    <a:pt x="93477" y="244176"/>
                  </a:lnTo>
                  <a:lnTo>
                    <a:pt x="55585" y="226749"/>
                  </a:lnTo>
                  <a:lnTo>
                    <a:pt x="26040" y="199907"/>
                  </a:lnTo>
                  <a:lnTo>
                    <a:pt x="6843" y="165454"/>
                  </a:lnTo>
                  <a:lnTo>
                    <a:pt x="0" y="125192"/>
                  </a:lnTo>
                  <a:lnTo>
                    <a:pt x="6843" y="84930"/>
                  </a:lnTo>
                  <a:lnTo>
                    <a:pt x="26040" y="50477"/>
                  </a:lnTo>
                  <a:lnTo>
                    <a:pt x="55585" y="23636"/>
                  </a:lnTo>
                  <a:lnTo>
                    <a:pt x="93477" y="6209"/>
                  </a:lnTo>
                  <a:lnTo>
                    <a:pt x="137712" y="0"/>
                  </a:lnTo>
                  <a:close/>
                </a:path>
              </a:pathLst>
            </a:custGeom>
            <a:ln w="10628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0511" y="1941436"/>
              <a:ext cx="285750" cy="261620"/>
            </a:xfrm>
            <a:custGeom>
              <a:avLst/>
              <a:gdLst/>
              <a:ahLst/>
              <a:cxnLst/>
              <a:rect l="l" t="t" r="r" b="b"/>
              <a:pathLst>
                <a:path w="285750" h="261619">
                  <a:moveTo>
                    <a:pt x="10629" y="5321"/>
                  </a:moveTo>
                  <a:lnTo>
                    <a:pt x="9080" y="1562"/>
                  </a:lnTo>
                  <a:lnTo>
                    <a:pt x="5321" y="0"/>
                  </a:lnTo>
                  <a:lnTo>
                    <a:pt x="1562" y="1562"/>
                  </a:lnTo>
                  <a:lnTo>
                    <a:pt x="0" y="5321"/>
                  </a:lnTo>
                  <a:lnTo>
                    <a:pt x="1562" y="9067"/>
                  </a:lnTo>
                  <a:lnTo>
                    <a:pt x="5321" y="10629"/>
                  </a:lnTo>
                  <a:lnTo>
                    <a:pt x="9080" y="9067"/>
                  </a:lnTo>
                  <a:lnTo>
                    <a:pt x="10629" y="5321"/>
                  </a:lnTo>
                  <a:close/>
                </a:path>
                <a:path w="285750" h="261619">
                  <a:moveTo>
                    <a:pt x="285597" y="255701"/>
                  </a:moveTo>
                  <a:lnTo>
                    <a:pt x="284035" y="251942"/>
                  </a:lnTo>
                  <a:lnTo>
                    <a:pt x="280276" y="250393"/>
                  </a:lnTo>
                  <a:lnTo>
                    <a:pt x="276517" y="251942"/>
                  </a:lnTo>
                  <a:lnTo>
                    <a:pt x="274967" y="255701"/>
                  </a:lnTo>
                  <a:lnTo>
                    <a:pt x="276517" y="259461"/>
                  </a:lnTo>
                  <a:lnTo>
                    <a:pt x="280276" y="261010"/>
                  </a:lnTo>
                  <a:lnTo>
                    <a:pt x="284035" y="259461"/>
                  </a:lnTo>
                  <a:lnTo>
                    <a:pt x="285597" y="255701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2650" y="1710270"/>
              <a:ext cx="271145" cy="250825"/>
            </a:xfrm>
            <a:custGeom>
              <a:avLst/>
              <a:gdLst/>
              <a:ahLst/>
              <a:cxnLst/>
              <a:rect l="l" t="t" r="r" b="b"/>
              <a:pathLst>
                <a:path w="271144" h="250825">
                  <a:moveTo>
                    <a:pt x="135393" y="0"/>
                  </a:moveTo>
                  <a:lnTo>
                    <a:pt x="189020" y="9585"/>
                  </a:lnTo>
                  <a:lnTo>
                    <a:pt x="231954" y="35992"/>
                  </a:lnTo>
                  <a:lnTo>
                    <a:pt x="260456" y="75702"/>
                  </a:lnTo>
                  <a:lnTo>
                    <a:pt x="270787" y="125192"/>
                  </a:lnTo>
                  <a:lnTo>
                    <a:pt x="260456" y="174683"/>
                  </a:lnTo>
                  <a:lnTo>
                    <a:pt x="231954" y="214392"/>
                  </a:lnTo>
                  <a:lnTo>
                    <a:pt x="189020" y="240800"/>
                  </a:lnTo>
                  <a:lnTo>
                    <a:pt x="135393" y="250385"/>
                  </a:lnTo>
                  <a:lnTo>
                    <a:pt x="81766" y="240800"/>
                  </a:lnTo>
                  <a:lnTo>
                    <a:pt x="38832" y="214392"/>
                  </a:lnTo>
                  <a:lnTo>
                    <a:pt x="10331" y="174683"/>
                  </a:lnTo>
                  <a:lnTo>
                    <a:pt x="0" y="125192"/>
                  </a:lnTo>
                  <a:lnTo>
                    <a:pt x="10331" y="75702"/>
                  </a:lnTo>
                  <a:lnTo>
                    <a:pt x="38832" y="35992"/>
                  </a:lnTo>
                  <a:lnTo>
                    <a:pt x="81766" y="9585"/>
                  </a:lnTo>
                  <a:lnTo>
                    <a:pt x="135393" y="0"/>
                  </a:lnTo>
                  <a:close/>
                </a:path>
              </a:pathLst>
            </a:custGeom>
            <a:ln w="10628">
              <a:solidFill>
                <a:srgbClr val="33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87333" y="1704962"/>
              <a:ext cx="281940" cy="261620"/>
            </a:xfrm>
            <a:custGeom>
              <a:avLst/>
              <a:gdLst/>
              <a:ahLst/>
              <a:cxnLst/>
              <a:rect l="l" t="t" r="r" b="b"/>
              <a:pathLst>
                <a:path w="281939" h="261619">
                  <a:moveTo>
                    <a:pt x="10629" y="5308"/>
                  </a:moveTo>
                  <a:lnTo>
                    <a:pt x="9067" y="1562"/>
                  </a:lnTo>
                  <a:lnTo>
                    <a:pt x="5308" y="0"/>
                  </a:lnTo>
                  <a:lnTo>
                    <a:pt x="1549" y="1562"/>
                  </a:lnTo>
                  <a:lnTo>
                    <a:pt x="0" y="5308"/>
                  </a:lnTo>
                  <a:lnTo>
                    <a:pt x="1549" y="9067"/>
                  </a:lnTo>
                  <a:lnTo>
                    <a:pt x="5308" y="10629"/>
                  </a:lnTo>
                  <a:lnTo>
                    <a:pt x="9067" y="9067"/>
                  </a:lnTo>
                  <a:lnTo>
                    <a:pt x="10629" y="5308"/>
                  </a:lnTo>
                  <a:close/>
                </a:path>
                <a:path w="281939" h="261619">
                  <a:moveTo>
                    <a:pt x="281876" y="255701"/>
                  </a:moveTo>
                  <a:lnTo>
                    <a:pt x="280314" y="251942"/>
                  </a:lnTo>
                  <a:lnTo>
                    <a:pt x="276567" y="250380"/>
                  </a:lnTo>
                  <a:lnTo>
                    <a:pt x="272808" y="251942"/>
                  </a:lnTo>
                  <a:lnTo>
                    <a:pt x="271246" y="255701"/>
                  </a:lnTo>
                  <a:lnTo>
                    <a:pt x="272808" y="259461"/>
                  </a:lnTo>
                  <a:lnTo>
                    <a:pt x="276567" y="261010"/>
                  </a:lnTo>
                  <a:lnTo>
                    <a:pt x="280314" y="259461"/>
                  </a:lnTo>
                  <a:lnTo>
                    <a:pt x="281876" y="255701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95896" y="1633300"/>
              <a:ext cx="251460" cy="139700"/>
            </a:xfrm>
            <a:custGeom>
              <a:avLst/>
              <a:gdLst/>
              <a:ahLst/>
              <a:cxnLst/>
              <a:rect l="l" t="t" r="r" b="b"/>
              <a:pathLst>
                <a:path w="251460" h="139700">
                  <a:moveTo>
                    <a:pt x="0" y="0"/>
                  </a:moveTo>
                  <a:lnTo>
                    <a:pt x="251312" y="1395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5154" y="1754320"/>
              <a:ext cx="61594" cy="46355"/>
            </a:xfrm>
            <a:custGeom>
              <a:avLst/>
              <a:gdLst/>
              <a:ahLst/>
              <a:cxnLst/>
              <a:rect l="l" t="t" r="r" b="b"/>
              <a:pathLst>
                <a:path w="61594" h="46355">
                  <a:moveTo>
                    <a:pt x="19010" y="0"/>
                  </a:moveTo>
                  <a:lnTo>
                    <a:pt x="0" y="34775"/>
                  </a:lnTo>
                  <a:lnTo>
                    <a:pt x="61205" y="45904"/>
                  </a:lnTo>
                  <a:lnTo>
                    <a:pt x="190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 rot="1680000">
            <a:off x="2276460" y="1634407"/>
            <a:ext cx="90089" cy="6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 rot="1680000">
            <a:off x="2341800" y="1665329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(2)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 rot="1680000">
            <a:off x="2360179" y="1722380"/>
            <a:ext cx="60605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1,1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95579" y="1883685"/>
            <a:ext cx="300990" cy="184150"/>
            <a:chOff x="2195579" y="1883685"/>
            <a:chExt cx="300990" cy="184150"/>
          </a:xfrm>
        </p:grpSpPr>
        <p:sp>
          <p:nvSpPr>
            <p:cNvPr id="19" name="object 19"/>
            <p:cNvSpPr/>
            <p:nvPr/>
          </p:nvSpPr>
          <p:spPr>
            <a:xfrm>
              <a:off x="2195897" y="1913361"/>
              <a:ext cx="252729" cy="154305"/>
            </a:xfrm>
            <a:custGeom>
              <a:avLst/>
              <a:gdLst/>
              <a:ahLst/>
              <a:cxnLst/>
              <a:rect l="l" t="t" r="r" b="b"/>
              <a:pathLst>
                <a:path w="252730" h="154305">
                  <a:moveTo>
                    <a:pt x="0" y="153940"/>
                  </a:moveTo>
                  <a:lnTo>
                    <a:pt x="252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5618" y="1883685"/>
              <a:ext cx="60960" cy="48260"/>
            </a:xfrm>
            <a:custGeom>
              <a:avLst/>
              <a:gdLst/>
              <a:ahLst/>
              <a:cxnLst/>
              <a:rect l="l" t="t" r="r" b="b"/>
              <a:pathLst>
                <a:path w="60960" h="48260">
                  <a:moveTo>
                    <a:pt x="60741" y="0"/>
                  </a:moveTo>
                  <a:lnTo>
                    <a:pt x="0" y="14373"/>
                  </a:lnTo>
                  <a:lnTo>
                    <a:pt x="20401" y="47758"/>
                  </a:lnTo>
                  <a:lnTo>
                    <a:pt x="607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 rot="19740000">
            <a:off x="2246512" y="1939742"/>
            <a:ext cx="89194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 rot="19740000">
            <a:off x="2300432" y="1921555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(2)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 rot="19740000">
            <a:off x="2357610" y="1931446"/>
            <a:ext cx="60605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2,1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1864" y="1544093"/>
            <a:ext cx="12573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latin typeface="Arial MT"/>
                <a:cs typeface="Arial MT"/>
              </a:rPr>
              <a:t>x</a:t>
            </a:r>
            <a:r>
              <a:rPr sz="375" spc="-37" baseline="-33333" dirty="0">
                <a:latin typeface="Arial MT"/>
                <a:cs typeface="Arial MT"/>
              </a:rPr>
              <a:t>1</a:t>
            </a:r>
            <a:endParaRPr sz="375" baseline="-33333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1864" y="1999424"/>
            <a:ext cx="12573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50" spc="-25" dirty="0">
                <a:latin typeface="Arial MT"/>
                <a:cs typeface="Arial MT"/>
              </a:rPr>
              <a:t>x</a:t>
            </a:r>
            <a:r>
              <a:rPr sz="375" spc="-37" baseline="-33333" dirty="0">
                <a:latin typeface="Arial MT"/>
                <a:cs typeface="Arial MT"/>
              </a:rPr>
              <a:t>2</a:t>
            </a:r>
            <a:endParaRPr sz="375" baseline="-33333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488472" y="1554011"/>
            <a:ext cx="434340" cy="63500"/>
            <a:chOff x="1488472" y="1554011"/>
            <a:chExt cx="434340" cy="63500"/>
          </a:xfrm>
        </p:grpSpPr>
        <p:sp>
          <p:nvSpPr>
            <p:cNvPr id="27" name="object 27"/>
            <p:cNvSpPr/>
            <p:nvPr/>
          </p:nvSpPr>
          <p:spPr>
            <a:xfrm>
              <a:off x="1488789" y="1573022"/>
              <a:ext cx="378460" cy="43815"/>
            </a:xfrm>
            <a:custGeom>
              <a:avLst/>
              <a:gdLst/>
              <a:ahLst/>
              <a:cxnLst/>
              <a:rect l="l" t="t" r="r" b="b"/>
              <a:pathLst>
                <a:path w="378460" h="43815">
                  <a:moveTo>
                    <a:pt x="0" y="43585"/>
                  </a:moveTo>
                  <a:lnTo>
                    <a:pt x="3778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62049" y="1554011"/>
              <a:ext cx="60960" cy="39370"/>
            </a:xfrm>
            <a:custGeom>
              <a:avLst/>
              <a:gdLst/>
              <a:ahLst/>
              <a:cxnLst/>
              <a:rect l="l" t="t" r="r" b="b"/>
              <a:pathLst>
                <a:path w="60960" h="39369">
                  <a:moveTo>
                    <a:pt x="0" y="0"/>
                  </a:moveTo>
                  <a:lnTo>
                    <a:pt x="4636" y="38948"/>
                  </a:lnTo>
                  <a:lnTo>
                    <a:pt x="60741" y="12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 rot="21240000">
            <a:off x="1612592" y="1532912"/>
            <a:ext cx="89194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 rot="21240000">
            <a:off x="1677222" y="1533348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 rot="21240000">
            <a:off x="1725123" y="1567181"/>
            <a:ext cx="60605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1,1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488472" y="2050292"/>
            <a:ext cx="434340" cy="78105"/>
            <a:chOff x="1488472" y="2050292"/>
            <a:chExt cx="434340" cy="78105"/>
          </a:xfrm>
        </p:grpSpPr>
        <p:sp>
          <p:nvSpPr>
            <p:cNvPr id="33" name="object 33"/>
            <p:cNvSpPr/>
            <p:nvPr/>
          </p:nvSpPr>
          <p:spPr>
            <a:xfrm>
              <a:off x="1488789" y="2050609"/>
              <a:ext cx="378460" cy="58419"/>
            </a:xfrm>
            <a:custGeom>
              <a:avLst/>
              <a:gdLst/>
              <a:ahLst/>
              <a:cxnLst/>
              <a:rect l="l" t="t" r="r" b="b"/>
              <a:pathLst>
                <a:path w="378460" h="58419">
                  <a:moveTo>
                    <a:pt x="0" y="0"/>
                  </a:moveTo>
                  <a:lnTo>
                    <a:pt x="378360" y="584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1585" y="2089094"/>
              <a:ext cx="61594" cy="39370"/>
            </a:xfrm>
            <a:custGeom>
              <a:avLst/>
              <a:gdLst/>
              <a:ahLst/>
              <a:cxnLst/>
              <a:rect l="l" t="t" r="r" b="b"/>
              <a:pathLst>
                <a:path w="61594" h="39369">
                  <a:moveTo>
                    <a:pt x="6027" y="0"/>
                  </a:moveTo>
                  <a:lnTo>
                    <a:pt x="0" y="38948"/>
                  </a:lnTo>
                  <a:lnTo>
                    <a:pt x="61205" y="2828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480000">
            <a:off x="1620398" y="2013565"/>
            <a:ext cx="89678" cy="6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 rot="480000">
            <a:off x="1688287" y="2026509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 rot="480000">
            <a:off x="1725075" y="2073085"/>
            <a:ext cx="60605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-25" dirty="0">
                <a:latin typeface="Arial MT"/>
                <a:cs typeface="Arial MT"/>
              </a:rPr>
              <a:t>2,2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88472" y="1733454"/>
            <a:ext cx="501650" cy="317500"/>
            <a:chOff x="1488472" y="1733454"/>
            <a:chExt cx="501650" cy="317500"/>
          </a:xfrm>
        </p:grpSpPr>
        <p:sp>
          <p:nvSpPr>
            <p:cNvPr id="39" name="object 39"/>
            <p:cNvSpPr/>
            <p:nvPr/>
          </p:nvSpPr>
          <p:spPr>
            <a:xfrm>
              <a:off x="1488789" y="1764057"/>
              <a:ext cx="454025" cy="287020"/>
            </a:xfrm>
            <a:custGeom>
              <a:avLst/>
              <a:gdLst/>
              <a:ahLst/>
              <a:cxnLst/>
              <a:rect l="l" t="t" r="r" b="b"/>
              <a:pathLst>
                <a:path w="454025" h="287019">
                  <a:moveTo>
                    <a:pt x="0" y="286552"/>
                  </a:moveTo>
                  <a:lnTo>
                    <a:pt x="4534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29282" y="1733454"/>
              <a:ext cx="60325" cy="48260"/>
            </a:xfrm>
            <a:custGeom>
              <a:avLst/>
              <a:gdLst/>
              <a:ahLst/>
              <a:cxnLst/>
              <a:rect l="l" t="t" r="r" b="b"/>
              <a:pathLst>
                <a:path w="60325" h="48260">
                  <a:moveTo>
                    <a:pt x="60278" y="0"/>
                  </a:moveTo>
                  <a:lnTo>
                    <a:pt x="0" y="15301"/>
                  </a:lnTo>
                  <a:lnTo>
                    <a:pt x="20865" y="48222"/>
                  </a:lnTo>
                  <a:lnTo>
                    <a:pt x="60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 rot="19680000">
            <a:off x="1639566" y="1857831"/>
            <a:ext cx="89194" cy="6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 rot="19680000">
            <a:off x="1692659" y="1837924"/>
            <a:ext cx="55043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 rot="19680000">
            <a:off x="1750319" y="1847210"/>
            <a:ext cx="60605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2,1</a:t>
            </a:r>
            <a:endParaRPr sz="2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488472" y="1616290"/>
            <a:ext cx="467995" cy="367665"/>
            <a:chOff x="1488472" y="1616290"/>
            <a:chExt cx="467995" cy="367665"/>
          </a:xfrm>
        </p:grpSpPr>
        <p:sp>
          <p:nvSpPr>
            <p:cNvPr id="45" name="object 45"/>
            <p:cNvSpPr/>
            <p:nvPr/>
          </p:nvSpPr>
          <p:spPr>
            <a:xfrm>
              <a:off x="1488789" y="1616608"/>
              <a:ext cx="423545" cy="332740"/>
            </a:xfrm>
            <a:custGeom>
              <a:avLst/>
              <a:gdLst/>
              <a:ahLst/>
              <a:cxnLst/>
              <a:rect l="l" t="t" r="r" b="b"/>
              <a:pathLst>
                <a:path w="423544" h="332739">
                  <a:moveTo>
                    <a:pt x="0" y="0"/>
                  </a:moveTo>
                  <a:lnTo>
                    <a:pt x="423337" y="3324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97752" y="1931908"/>
              <a:ext cx="58419" cy="52069"/>
            </a:xfrm>
            <a:custGeom>
              <a:avLst/>
              <a:gdLst/>
              <a:ahLst/>
              <a:cxnLst/>
              <a:rect l="l" t="t" r="r" b="b"/>
              <a:pathLst>
                <a:path w="58419" h="52069">
                  <a:moveTo>
                    <a:pt x="24111" y="0"/>
                  </a:moveTo>
                  <a:lnTo>
                    <a:pt x="0" y="31066"/>
                  </a:lnTo>
                  <a:lnTo>
                    <a:pt x="58423" y="51931"/>
                  </a:lnTo>
                  <a:lnTo>
                    <a:pt x="24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 rot="2280000">
            <a:off x="1661508" y="1714777"/>
            <a:ext cx="88784" cy="6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450" spc="-50" dirty="0">
                <a:latin typeface="Arial MT"/>
                <a:cs typeface="Arial MT"/>
              </a:rPr>
              <a:t>W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 rot="2280000">
            <a:off x="1723557" y="1752949"/>
            <a:ext cx="55043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 rot="2280000">
            <a:off x="1732909" y="1812103"/>
            <a:ext cx="59571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1,2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895819" y="1555222"/>
            <a:ext cx="28829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75" b="1" baseline="-18518" dirty="0">
                <a:latin typeface="Arial"/>
                <a:cs typeface="Arial"/>
              </a:rPr>
              <a:t>a</a:t>
            </a:r>
            <a:r>
              <a:rPr sz="250" b="1" dirty="0">
                <a:latin typeface="Arial"/>
                <a:cs typeface="Arial"/>
              </a:rPr>
              <a:t>(1)</a:t>
            </a:r>
            <a:r>
              <a:rPr sz="250" b="1" spc="200" dirty="0">
                <a:latin typeface="Arial"/>
                <a:cs typeface="Arial"/>
              </a:rPr>
              <a:t> </a:t>
            </a:r>
            <a:r>
              <a:rPr sz="675" b="1" baseline="-18518" dirty="0">
                <a:latin typeface="Arial"/>
                <a:cs typeface="Arial"/>
              </a:rPr>
              <a:t>|</a:t>
            </a:r>
            <a:r>
              <a:rPr sz="675" b="1" spc="-60" baseline="-18518" dirty="0">
                <a:latin typeface="Arial"/>
                <a:cs typeface="Arial"/>
              </a:rPr>
              <a:t> </a:t>
            </a:r>
            <a:r>
              <a:rPr sz="675" b="1" spc="-30" baseline="-18518" dirty="0">
                <a:latin typeface="Arial"/>
                <a:cs typeface="Arial"/>
              </a:rPr>
              <a:t>h</a:t>
            </a:r>
            <a:r>
              <a:rPr sz="250" b="1" spc="-20" dirty="0">
                <a:latin typeface="Arial"/>
                <a:cs typeface="Arial"/>
              </a:rPr>
              <a:t>(1)</a:t>
            </a:r>
            <a:endParaRPr sz="2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997262" y="1620136"/>
            <a:ext cx="180975" cy="67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" b="1" dirty="0">
                <a:latin typeface="Arial"/>
                <a:cs typeface="Arial"/>
              </a:rPr>
              <a:t>1</a:t>
            </a:r>
            <a:r>
              <a:rPr sz="250" b="1" spc="420" dirty="0">
                <a:latin typeface="Arial"/>
                <a:cs typeface="Arial"/>
              </a:rPr>
              <a:t>  </a:t>
            </a:r>
            <a:r>
              <a:rPr sz="250" b="1" spc="-50" dirty="0">
                <a:latin typeface="Arial"/>
                <a:cs typeface="Arial"/>
              </a:rPr>
              <a:t>1</a:t>
            </a:r>
            <a:endParaRPr sz="2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95819" y="2001742"/>
            <a:ext cx="28829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75" b="1" baseline="-18518" dirty="0">
                <a:latin typeface="Arial"/>
                <a:cs typeface="Arial"/>
              </a:rPr>
              <a:t>a</a:t>
            </a:r>
            <a:r>
              <a:rPr sz="250" b="1" dirty="0">
                <a:latin typeface="Arial"/>
                <a:cs typeface="Arial"/>
              </a:rPr>
              <a:t>(1)</a:t>
            </a:r>
            <a:r>
              <a:rPr sz="250" b="1" spc="200" dirty="0">
                <a:latin typeface="Arial"/>
                <a:cs typeface="Arial"/>
              </a:rPr>
              <a:t> </a:t>
            </a:r>
            <a:r>
              <a:rPr sz="675" b="1" baseline="-18518" dirty="0">
                <a:latin typeface="Arial"/>
                <a:cs typeface="Arial"/>
              </a:rPr>
              <a:t>|</a:t>
            </a:r>
            <a:r>
              <a:rPr sz="675" b="1" spc="-60" baseline="-18518" dirty="0">
                <a:latin typeface="Arial"/>
                <a:cs typeface="Arial"/>
              </a:rPr>
              <a:t> </a:t>
            </a:r>
            <a:r>
              <a:rPr sz="675" b="1" spc="-30" baseline="-18518" dirty="0">
                <a:latin typeface="Arial"/>
                <a:cs typeface="Arial"/>
              </a:rPr>
              <a:t>h</a:t>
            </a:r>
            <a:r>
              <a:rPr sz="250" b="1" spc="-20" dirty="0">
                <a:latin typeface="Arial"/>
                <a:cs typeface="Arial"/>
              </a:rPr>
              <a:t>(1)</a:t>
            </a:r>
            <a:endParaRPr sz="2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97262" y="2067121"/>
            <a:ext cx="180975" cy="67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" b="1" dirty="0">
                <a:latin typeface="Arial"/>
                <a:cs typeface="Arial"/>
              </a:rPr>
              <a:t>2</a:t>
            </a:r>
            <a:r>
              <a:rPr sz="250" b="1" spc="420" dirty="0">
                <a:latin typeface="Arial"/>
                <a:cs typeface="Arial"/>
              </a:rPr>
              <a:t>  </a:t>
            </a:r>
            <a:r>
              <a:rPr sz="250" b="1" spc="-50" dirty="0">
                <a:latin typeface="Arial"/>
                <a:cs typeface="Arial"/>
              </a:rPr>
              <a:t>2</a:t>
            </a:r>
            <a:endParaRPr sz="2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74024" y="1765267"/>
            <a:ext cx="28829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75" b="1" baseline="-18518" dirty="0">
                <a:latin typeface="Arial"/>
                <a:cs typeface="Arial"/>
              </a:rPr>
              <a:t>a</a:t>
            </a:r>
            <a:r>
              <a:rPr sz="250" b="1" dirty="0">
                <a:latin typeface="Arial"/>
                <a:cs typeface="Arial"/>
              </a:rPr>
              <a:t>(2)</a:t>
            </a:r>
            <a:r>
              <a:rPr sz="250" b="1" spc="200" dirty="0">
                <a:latin typeface="Arial"/>
                <a:cs typeface="Arial"/>
              </a:rPr>
              <a:t> </a:t>
            </a:r>
            <a:r>
              <a:rPr sz="675" b="1" baseline="-18518" dirty="0">
                <a:latin typeface="Arial"/>
                <a:cs typeface="Arial"/>
              </a:rPr>
              <a:t>|</a:t>
            </a:r>
            <a:r>
              <a:rPr sz="675" b="1" spc="-60" baseline="-18518" dirty="0">
                <a:latin typeface="Arial"/>
                <a:cs typeface="Arial"/>
              </a:rPr>
              <a:t> </a:t>
            </a:r>
            <a:r>
              <a:rPr sz="675" b="1" spc="-30" baseline="-18518" dirty="0">
                <a:latin typeface="Arial"/>
                <a:cs typeface="Arial"/>
              </a:rPr>
              <a:t>h</a:t>
            </a:r>
            <a:r>
              <a:rPr sz="250" b="1" spc="-20" dirty="0">
                <a:latin typeface="Arial"/>
                <a:cs typeface="Arial"/>
              </a:rPr>
              <a:t>(2)</a:t>
            </a:r>
            <a:endParaRPr sz="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75931" y="1830646"/>
            <a:ext cx="180340" cy="67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" b="1" dirty="0">
                <a:latin typeface="Arial"/>
                <a:cs typeface="Arial"/>
              </a:rPr>
              <a:t>1</a:t>
            </a:r>
            <a:r>
              <a:rPr sz="250" b="1" spc="420" dirty="0">
                <a:latin typeface="Arial"/>
                <a:cs typeface="Arial"/>
              </a:rPr>
              <a:t>  </a:t>
            </a:r>
            <a:r>
              <a:rPr sz="250" b="1" spc="-50" dirty="0">
                <a:latin typeface="Arial"/>
                <a:cs typeface="Arial"/>
              </a:rPr>
              <a:t>1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768220" y="1814134"/>
            <a:ext cx="284480" cy="40005"/>
            <a:chOff x="2768220" y="1814134"/>
            <a:chExt cx="284480" cy="40005"/>
          </a:xfrm>
        </p:grpSpPr>
        <p:sp>
          <p:nvSpPr>
            <p:cNvPr id="57" name="object 57"/>
            <p:cNvSpPr/>
            <p:nvPr/>
          </p:nvSpPr>
          <p:spPr>
            <a:xfrm>
              <a:off x="2768538" y="1833608"/>
              <a:ext cx="227329" cy="0"/>
            </a:xfrm>
            <a:custGeom>
              <a:avLst/>
              <a:gdLst/>
              <a:ahLst/>
              <a:cxnLst/>
              <a:rect l="l" t="t" r="r" b="b"/>
              <a:pathLst>
                <a:path w="227330">
                  <a:moveTo>
                    <a:pt x="0" y="0"/>
                  </a:moveTo>
                  <a:lnTo>
                    <a:pt x="2272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992957" y="1814134"/>
              <a:ext cx="59690" cy="40005"/>
            </a:xfrm>
            <a:custGeom>
              <a:avLst/>
              <a:gdLst/>
              <a:ahLst/>
              <a:cxnLst/>
              <a:rect l="l" t="t" r="r" b="b"/>
              <a:pathLst>
                <a:path w="59689" h="40005">
                  <a:moveTo>
                    <a:pt x="0" y="0"/>
                  </a:moveTo>
                  <a:lnTo>
                    <a:pt x="0" y="39412"/>
                  </a:lnTo>
                  <a:lnTo>
                    <a:pt x="59350" y="194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050736" y="1768049"/>
            <a:ext cx="5588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50" dirty="0">
                <a:latin typeface="Arial MT"/>
                <a:cs typeface="Arial MT"/>
              </a:rPr>
              <a:t>y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22147" y="1241776"/>
            <a:ext cx="282575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latin typeface="Arial MT"/>
                <a:cs typeface="Arial MT"/>
              </a:rPr>
              <a:t>Layer</a:t>
            </a:r>
            <a:r>
              <a:rPr sz="450" spc="170" dirty="0">
                <a:latin typeface="Arial MT"/>
                <a:cs typeface="Arial MT"/>
              </a:rPr>
              <a:t> </a:t>
            </a:r>
            <a:r>
              <a:rPr sz="450" spc="-25" dirty="0">
                <a:latin typeface="Arial MT"/>
                <a:cs typeface="Arial MT"/>
              </a:rPr>
              <a:t>(1)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05607" y="1242239"/>
            <a:ext cx="282575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latin typeface="Arial MT"/>
                <a:cs typeface="Arial MT"/>
              </a:rPr>
              <a:t>Layer</a:t>
            </a:r>
            <a:r>
              <a:rPr sz="450" spc="170" dirty="0">
                <a:latin typeface="Arial MT"/>
                <a:cs typeface="Arial MT"/>
              </a:rPr>
              <a:t> </a:t>
            </a:r>
            <a:r>
              <a:rPr sz="450" spc="-25" dirty="0">
                <a:latin typeface="Arial MT"/>
                <a:cs typeface="Arial MT"/>
              </a:rPr>
              <a:t>(2)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512437" y="1232683"/>
            <a:ext cx="1288415" cy="1169035"/>
            <a:chOff x="1512437" y="1232683"/>
            <a:chExt cx="1288415" cy="1169035"/>
          </a:xfrm>
        </p:grpSpPr>
        <p:sp>
          <p:nvSpPr>
            <p:cNvPr id="63" name="object 63"/>
            <p:cNvSpPr/>
            <p:nvPr/>
          </p:nvSpPr>
          <p:spPr>
            <a:xfrm>
              <a:off x="1512437" y="1232683"/>
              <a:ext cx="1288415" cy="1169035"/>
            </a:xfrm>
            <a:custGeom>
              <a:avLst/>
              <a:gdLst/>
              <a:ahLst/>
              <a:cxnLst/>
              <a:rect l="l" t="t" r="r" b="b"/>
              <a:pathLst>
                <a:path w="1288414" h="1169035">
                  <a:moveTo>
                    <a:pt x="696906" y="0"/>
                  </a:moveTo>
                  <a:lnTo>
                    <a:pt x="696906" y="1168466"/>
                  </a:lnTo>
                </a:path>
                <a:path w="1288414" h="1169035">
                  <a:moveTo>
                    <a:pt x="0" y="0"/>
                  </a:moveTo>
                  <a:lnTo>
                    <a:pt x="0" y="1168466"/>
                  </a:lnTo>
                </a:path>
                <a:path w="1288414" h="1169035">
                  <a:moveTo>
                    <a:pt x="1288094" y="0"/>
                  </a:moveTo>
                  <a:lnTo>
                    <a:pt x="1288094" y="1168466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5944" y="1750147"/>
              <a:ext cx="113832" cy="167155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 rot="18300000">
            <a:off x="1931516" y="1808742"/>
            <a:ext cx="76395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450" spc="-50" dirty="0">
                <a:latin typeface="Arial MT"/>
                <a:cs typeface="Arial MT"/>
              </a:rPr>
              <a:t>b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 rot="18300000">
            <a:off x="1954976" y="1788045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 rot="18300000">
            <a:off x="2013080" y="1784130"/>
            <a:ext cx="4040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50" dirty="0"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9251" y="2197595"/>
            <a:ext cx="117078" cy="187093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 rot="18120000">
            <a:off x="1917609" y="2267791"/>
            <a:ext cx="75823" cy="66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450" spc="-50" dirty="0">
                <a:latin typeface="Arial MT"/>
                <a:cs typeface="Arial MT"/>
              </a:rPr>
              <a:t>b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 rot="18120000">
            <a:off x="1938852" y="2245799"/>
            <a:ext cx="5553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(1)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 rot="18120000">
            <a:off x="1996884" y="2240907"/>
            <a:ext cx="40090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50" dirty="0">
                <a:latin typeface="Arial MT"/>
                <a:cs typeface="Arial MT"/>
              </a:rPr>
              <a:t>2</a:t>
            </a:r>
            <a:endParaRPr sz="250">
              <a:latin typeface="Arial MT"/>
              <a:cs typeface="Arial MT"/>
            </a:endParaRPr>
          </a:p>
        </p:txBody>
      </p:sp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23484" y="1961120"/>
            <a:ext cx="111514" cy="206568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 rot="17940000">
            <a:off x="2498813" y="2043901"/>
            <a:ext cx="76395" cy="6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5"/>
              </a:lnSpc>
            </a:pPr>
            <a:r>
              <a:rPr sz="450" spc="-50" dirty="0">
                <a:latin typeface="Arial MT"/>
                <a:cs typeface="Arial MT"/>
              </a:rPr>
              <a:t>b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 rot="17940000">
            <a:off x="2518841" y="2021496"/>
            <a:ext cx="55043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25" dirty="0">
                <a:latin typeface="Arial MT"/>
                <a:cs typeface="Arial MT"/>
              </a:rPr>
              <a:t>(2)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 rot="17940000">
            <a:off x="2575934" y="2013200"/>
            <a:ext cx="40406" cy="34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5"/>
              </a:lnSpc>
            </a:pPr>
            <a:r>
              <a:rPr sz="250" spc="-50" dirty="0">
                <a:latin typeface="Arial MT"/>
                <a:cs typeface="Arial MT"/>
              </a:rPr>
              <a:t>1</a:t>
            </a:r>
            <a:endParaRPr sz="25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42239" y="2527254"/>
            <a:ext cx="4004310" cy="56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245">
              <a:lnSpc>
                <a:spcPts val="885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4: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initially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W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50" baseline="39682" dirty="0">
                <a:latin typeface="Tahoma"/>
                <a:cs typeface="Tahoma"/>
              </a:rPr>
              <a:t>(1)</a:t>
            </a:r>
            <a:r>
              <a:rPr sz="1050" spc="157" baseline="39682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W</a:t>
            </a:r>
            <a:r>
              <a:rPr sz="1000" i="1" spc="-120" dirty="0">
                <a:latin typeface="Arial"/>
                <a:cs typeface="Arial"/>
              </a:rPr>
              <a:t> </a:t>
            </a:r>
            <a:r>
              <a:rPr sz="1050" baseline="39682" dirty="0">
                <a:latin typeface="Tahoma"/>
                <a:cs typeface="Tahoma"/>
              </a:rPr>
              <a:t>(1)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W</a:t>
            </a:r>
            <a:r>
              <a:rPr sz="1000" i="1" spc="-120" dirty="0">
                <a:latin typeface="Arial"/>
                <a:cs typeface="Arial"/>
              </a:rPr>
              <a:t> </a:t>
            </a:r>
            <a:r>
              <a:rPr sz="1050" baseline="39682" dirty="0">
                <a:latin typeface="Tahoma"/>
                <a:cs typeface="Tahoma"/>
              </a:rPr>
              <a:t>(1)</a:t>
            </a:r>
            <a:r>
              <a:rPr sz="1050" spc="157" baseline="39682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W</a:t>
            </a:r>
            <a:r>
              <a:rPr sz="1000" i="1" spc="-120" dirty="0">
                <a:latin typeface="Arial"/>
                <a:cs typeface="Arial"/>
              </a:rPr>
              <a:t> </a:t>
            </a:r>
            <a:r>
              <a:rPr sz="1050" baseline="39682" dirty="0">
                <a:latin typeface="Tahoma"/>
                <a:cs typeface="Tahoma"/>
              </a:rPr>
              <a:t>(1)</a:t>
            </a:r>
            <a:r>
              <a:rPr sz="1050" spc="247" baseline="39682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50" baseline="39682" dirty="0">
                <a:latin typeface="Tahoma"/>
                <a:cs typeface="Tahoma"/>
              </a:rPr>
              <a:t>(1)</a:t>
            </a:r>
            <a:r>
              <a:rPr sz="1050" spc="157" baseline="39682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b</a:t>
            </a:r>
            <a:r>
              <a:rPr sz="1050" spc="-15" baseline="39682" dirty="0">
                <a:latin typeface="Tahoma"/>
                <a:cs typeface="Tahoma"/>
              </a:rPr>
              <a:t>(1)</a:t>
            </a:r>
            <a:r>
              <a:rPr sz="1000" spc="-10" dirty="0">
                <a:latin typeface="Tahoma"/>
                <a:cs typeface="Tahoma"/>
              </a:rPr>
              <a:t>?</a:t>
            </a:r>
            <a:endParaRPr sz="1000">
              <a:latin typeface="Tahoma"/>
              <a:cs typeface="Tahoma"/>
            </a:endParaRPr>
          </a:p>
          <a:p>
            <a:pPr marL="1683385">
              <a:lnSpc>
                <a:spcPts val="525"/>
              </a:lnSpc>
              <a:tabLst>
                <a:tab pos="2118360" algn="l"/>
                <a:tab pos="2461895" algn="l"/>
                <a:tab pos="2897505" algn="l"/>
                <a:tab pos="3385820" algn="l"/>
                <a:tab pos="3750310" algn="l"/>
              </a:tabLst>
            </a:pPr>
            <a:r>
              <a:rPr sz="700" spc="-25" dirty="0">
                <a:latin typeface="Tahoma"/>
                <a:cs typeface="Tahoma"/>
              </a:rPr>
              <a:t>1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spc="-25" dirty="0">
                <a:latin typeface="Tahoma"/>
                <a:cs typeface="Tahoma"/>
              </a:rPr>
              <a:t>1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1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spc="-25" dirty="0">
                <a:latin typeface="Tahoma"/>
                <a:cs typeface="Tahoma"/>
              </a:rPr>
              <a:t>2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2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spc="-25" dirty="0">
                <a:latin typeface="Tahoma"/>
                <a:cs typeface="Tahoma"/>
              </a:rPr>
              <a:t>2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25" dirty="0">
                <a:latin typeface="Tahoma"/>
                <a:cs typeface="Tahoma"/>
              </a:rPr>
              <a:t>2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spc="-25" dirty="0">
                <a:latin typeface="Tahoma"/>
                <a:cs typeface="Tahoma"/>
              </a:rPr>
              <a:t>2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50" dirty="0">
                <a:latin typeface="Tahoma"/>
                <a:cs typeface="Tahoma"/>
              </a:rPr>
              <a:t>1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700" spc="-50" dirty="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700">
              <a:latin typeface="Tahoma"/>
              <a:cs typeface="Tahoma"/>
            </a:endParaRPr>
          </a:p>
          <a:p>
            <a:pPr marL="171450" indent="-146050">
              <a:lnSpc>
                <a:spcPct val="100000"/>
              </a:lnSpc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spc="-25" dirty="0">
                <a:latin typeface="Tahoma"/>
                <a:cs typeface="Tahoma"/>
              </a:rPr>
              <a:t>Biases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heuristically-</a:t>
            </a:r>
            <a:r>
              <a:rPr sz="1100" spc="-35" dirty="0">
                <a:latin typeface="Tahoma"/>
                <a:cs typeface="Tahoma"/>
              </a:rPr>
              <a:t>chosen</a:t>
            </a:r>
            <a:r>
              <a:rPr sz="1100" spc="-25" dirty="0">
                <a:latin typeface="Tahoma"/>
                <a:cs typeface="Tahoma"/>
              </a:rPr>
              <a:t> constant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randomly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6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1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Parameter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Initializations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120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Parameter</a:t>
            </a:r>
            <a:r>
              <a:rPr spc="-20" dirty="0"/>
              <a:t> </a:t>
            </a:r>
            <a:r>
              <a:rPr spc="-30" dirty="0"/>
              <a:t>Initializations</a:t>
            </a:r>
            <a:r>
              <a:rPr spc="-15" dirty="0"/>
              <a:t> </a:t>
            </a:r>
            <a:r>
              <a:rPr spc="-30" dirty="0"/>
              <a:t>(II)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619606"/>
            <a:ext cx="678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35" dirty="0">
                <a:latin typeface="Tahoma"/>
                <a:cs typeface="Tahoma"/>
              </a:rPr>
              <a:t>Weights: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75" y="860303"/>
            <a:ext cx="93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8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6079" y="800902"/>
            <a:ext cx="1409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Trebuchet MS"/>
                <a:cs typeface="Trebuchet MS"/>
              </a:rPr>
              <a:t>A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5645" y="903988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4651" y="820714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Tahoma"/>
                <a:cs typeface="Tahoma"/>
              </a:rPr>
              <a:t>2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0034" y="828667"/>
            <a:ext cx="17627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45540" algn="l"/>
              </a:tabLst>
            </a:pPr>
            <a:r>
              <a:rPr sz="1000" spc="-35" dirty="0">
                <a:latin typeface="Tahoma"/>
                <a:cs typeface="Tahoma"/>
              </a:rPr>
              <a:t>Gaussian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Noise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W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55" dirty="0">
                <a:latin typeface="Cambria"/>
                <a:cs typeface="Cambria"/>
              </a:rPr>
              <a:t>∼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1000" spc="55" dirty="0">
                <a:latin typeface="Cambria"/>
                <a:cs typeface="Cambria"/>
              </a:rPr>
              <a:t>N</a:t>
            </a:r>
            <a:r>
              <a:rPr sz="1000" spc="55" dirty="0">
                <a:latin typeface="Tahoma"/>
                <a:cs typeface="Tahoma"/>
              </a:rPr>
              <a:t>(0</a:t>
            </a:r>
            <a:r>
              <a:rPr sz="1000" i="1" spc="55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σ</a:t>
            </a:r>
            <a:r>
              <a:rPr sz="1000" i="1" spc="165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575" y="1052504"/>
            <a:ext cx="36995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0" baseline="13888" dirty="0">
                <a:latin typeface="Arial MT"/>
                <a:cs typeface="Arial MT"/>
              </a:rPr>
              <a:t> </a:t>
            </a:r>
            <a:r>
              <a:rPr sz="1000" spc="-25" dirty="0">
                <a:latin typeface="Tahoma"/>
                <a:cs typeface="Tahoma"/>
              </a:rPr>
              <a:t>Commonly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used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heuristic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 </a:t>
            </a:r>
            <a:r>
              <a:rPr sz="1000" spc="-25" dirty="0">
                <a:latin typeface="Tahoma"/>
                <a:cs typeface="Tahoma"/>
              </a:rPr>
              <a:t>Normalized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Initialization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(Xavier):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7701" y="1433896"/>
            <a:ext cx="1409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Trebuchet MS"/>
                <a:cs typeface="Trebuchet MS"/>
              </a:rPr>
              <a:t>A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7267" y="1536981"/>
            <a:ext cx="1117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25" dirty="0">
                <a:latin typeface="Arial"/>
                <a:cs typeface="Arial"/>
              </a:rPr>
              <a:t>i</a:t>
            </a:r>
            <a:r>
              <a:rPr sz="700" i="1" spc="-25" dirty="0">
                <a:latin typeface="Trebuchet MS"/>
                <a:cs typeface="Trebuchet MS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7772" y="1461660"/>
            <a:ext cx="767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9245" algn="l"/>
                <a:tab pos="655955" algn="l"/>
              </a:tabLst>
            </a:pPr>
            <a:r>
              <a:rPr sz="1000" i="1" spc="-50" dirty="0">
                <a:latin typeface="Arial"/>
                <a:cs typeface="Arial"/>
              </a:rPr>
              <a:t>W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55" dirty="0">
                <a:latin typeface="Cambria"/>
                <a:cs typeface="Cambria"/>
              </a:rPr>
              <a:t>∼ </a:t>
            </a:r>
            <a:r>
              <a:rPr sz="1000" spc="-50" dirty="0">
                <a:latin typeface="Cambria"/>
                <a:cs typeface="Cambria"/>
              </a:rPr>
              <a:t>U</a:t>
            </a:r>
            <a:r>
              <a:rPr sz="1000" dirty="0">
                <a:latin typeface="Cambria"/>
                <a:cs typeface="Cambria"/>
              </a:rPr>
              <a:t>	</a:t>
            </a:r>
            <a:r>
              <a:rPr sz="1000" spc="170" dirty="0">
                <a:latin typeface="Cambria"/>
                <a:cs typeface="Cambria"/>
              </a:rPr>
              <a:t>−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1104" y="1245303"/>
            <a:ext cx="350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25" dirty="0">
                <a:latin typeface="Verdana"/>
                <a:cs typeface="Verdana"/>
              </a:rPr>
              <a:t>  </a:t>
            </a:r>
            <a:r>
              <a:rPr sz="1500" spc="607" baseline="5555" dirty="0">
                <a:latin typeface="Verdana"/>
                <a:cs typeface="Verdana"/>
              </a:rPr>
              <a:t>s</a:t>
            </a:r>
            <a:endParaRPr sz="1500" baseline="555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08898" y="1370126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0" y="0"/>
                </a:moveTo>
                <a:lnTo>
                  <a:pt x="76812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17217" y="1569262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>
                <a:moveTo>
                  <a:pt x="0" y="0"/>
                </a:moveTo>
                <a:lnTo>
                  <a:pt x="55148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8198" y="1370126"/>
            <a:ext cx="768350" cy="0"/>
          </a:xfrm>
          <a:custGeom>
            <a:avLst/>
            <a:gdLst/>
            <a:ahLst/>
            <a:cxnLst/>
            <a:rect l="l" t="t" r="r" b="b"/>
            <a:pathLst>
              <a:path w="768350">
                <a:moveTo>
                  <a:pt x="0" y="0"/>
                </a:moveTo>
                <a:lnTo>
                  <a:pt x="76812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70798" y="1256697"/>
            <a:ext cx="1231900" cy="3822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5"/>
              </a:spcBef>
              <a:tabLst>
                <a:tab pos="712470" algn="l"/>
                <a:tab pos="960755" algn="l"/>
              </a:tabLst>
            </a:pPr>
            <a:r>
              <a:rPr sz="1000" dirty="0">
                <a:latin typeface="Verdana"/>
                <a:cs typeface="Verdana"/>
              </a:rPr>
              <a:t>		</a:t>
            </a:r>
            <a:r>
              <a:rPr sz="1500" spc="622" baseline="22222" dirty="0">
                <a:latin typeface="Verdana"/>
                <a:cs typeface="Verdana"/>
              </a:rPr>
              <a:t>s</a:t>
            </a:r>
            <a:r>
              <a:rPr sz="1000" spc="415" dirty="0">
                <a:latin typeface="Verdana"/>
                <a:cs typeface="Verdana"/>
              </a:rPr>
              <a:t> </a:t>
            </a:r>
            <a:endParaRPr sz="1000">
              <a:latin typeface="Verdana"/>
              <a:cs typeface="Verdana"/>
            </a:endParaRPr>
          </a:p>
          <a:p>
            <a:pPr marL="805815">
              <a:lnSpc>
                <a:spcPct val="100000"/>
              </a:lnSpc>
              <a:spcBef>
                <a:spcPts val="204"/>
              </a:spcBef>
            </a:pP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14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48636" y="1376075"/>
            <a:ext cx="11385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1720" algn="l"/>
              </a:tabLst>
            </a:pPr>
            <a:r>
              <a:rPr sz="1000" spc="-50" dirty="0">
                <a:latin typeface="Tahoma"/>
                <a:cs typeface="Tahoma"/>
              </a:rPr>
              <a:t>6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50" dirty="0"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66516" y="1569262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>
                <a:moveTo>
                  <a:pt x="0" y="0"/>
                </a:moveTo>
                <a:lnTo>
                  <a:pt x="55148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66417" y="1567439"/>
            <a:ext cx="1696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99820" algn="l"/>
              </a:tabLst>
            </a:pPr>
            <a:r>
              <a:rPr sz="1500" i="1" spc="-15" baseline="8333" dirty="0">
                <a:latin typeface="Arial"/>
                <a:cs typeface="Arial"/>
              </a:rPr>
              <a:t>N</a:t>
            </a:r>
            <a:r>
              <a:rPr sz="700" i="1" spc="-10" dirty="0">
                <a:latin typeface="Trebuchet MS"/>
                <a:cs typeface="Trebuchet MS"/>
              </a:rPr>
              <a:t>A</a:t>
            </a:r>
            <a:r>
              <a:rPr sz="700" i="1" spc="5" dirty="0">
                <a:latin typeface="Trebuchet MS"/>
                <a:cs typeface="Trebuchet MS"/>
              </a:rPr>
              <a:t> </a:t>
            </a:r>
            <a:r>
              <a:rPr sz="1500" baseline="8333" dirty="0">
                <a:latin typeface="Tahoma"/>
                <a:cs typeface="Tahoma"/>
              </a:rPr>
              <a:t>+</a:t>
            </a:r>
            <a:r>
              <a:rPr sz="1500" spc="-142" baseline="8333" dirty="0">
                <a:latin typeface="Tahoma"/>
                <a:cs typeface="Tahoma"/>
              </a:rPr>
              <a:t> </a:t>
            </a:r>
            <a:r>
              <a:rPr sz="1500" i="1" spc="-30" baseline="8333" dirty="0">
                <a:latin typeface="Arial"/>
                <a:cs typeface="Arial"/>
              </a:rPr>
              <a:t>N</a:t>
            </a:r>
            <a:r>
              <a:rPr sz="700" i="1" spc="-20" dirty="0">
                <a:latin typeface="Trebuchet MS"/>
                <a:cs typeface="Trebuchet MS"/>
              </a:rPr>
              <a:t>A</a:t>
            </a:r>
            <a:r>
              <a:rPr sz="700" spc="-20" dirty="0">
                <a:latin typeface="Tahoma"/>
                <a:cs typeface="Tahoma"/>
              </a:rPr>
              <a:t>+1</a:t>
            </a:r>
            <a:r>
              <a:rPr sz="700" dirty="0">
                <a:latin typeface="Tahoma"/>
                <a:cs typeface="Tahoma"/>
              </a:rPr>
              <a:t>	</a:t>
            </a:r>
            <a:r>
              <a:rPr sz="1500" i="1" spc="-15" baseline="8333" dirty="0">
                <a:latin typeface="Arial"/>
                <a:cs typeface="Arial"/>
              </a:rPr>
              <a:t>N</a:t>
            </a:r>
            <a:r>
              <a:rPr sz="700" i="1" spc="-10" dirty="0">
                <a:latin typeface="Trebuchet MS"/>
                <a:cs typeface="Trebuchet MS"/>
              </a:rPr>
              <a:t>A</a:t>
            </a:r>
            <a:r>
              <a:rPr sz="700" i="1" spc="5" dirty="0">
                <a:latin typeface="Trebuchet MS"/>
                <a:cs typeface="Trebuchet MS"/>
              </a:rPr>
              <a:t> </a:t>
            </a:r>
            <a:r>
              <a:rPr sz="1500" baseline="8333" dirty="0">
                <a:latin typeface="Tahoma"/>
                <a:cs typeface="Tahoma"/>
              </a:rPr>
              <a:t>+</a:t>
            </a:r>
            <a:r>
              <a:rPr sz="1500" spc="-142" baseline="8333" dirty="0">
                <a:latin typeface="Tahoma"/>
                <a:cs typeface="Tahoma"/>
              </a:rPr>
              <a:t> </a:t>
            </a:r>
            <a:r>
              <a:rPr sz="1500" i="1" spc="-30" baseline="8333" dirty="0">
                <a:latin typeface="Arial"/>
                <a:cs typeface="Arial"/>
              </a:rPr>
              <a:t>N</a:t>
            </a:r>
            <a:r>
              <a:rPr sz="700" i="1" spc="-20" dirty="0">
                <a:latin typeface="Trebuchet MS"/>
                <a:cs typeface="Trebuchet MS"/>
              </a:rPr>
              <a:t>A</a:t>
            </a:r>
            <a:r>
              <a:rPr sz="700" spc="-20" dirty="0">
                <a:latin typeface="Tahoma"/>
                <a:cs typeface="Tahoma"/>
              </a:rPr>
              <a:t>+1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5090" y="1245303"/>
            <a:ext cx="269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569" baseline="-16666" dirty="0">
                <a:latin typeface="Verdana"/>
                <a:cs typeface="Verdana"/>
              </a:rPr>
              <a:t> </a:t>
            </a:r>
            <a:r>
              <a:rPr sz="1000" spc="345" dirty="0">
                <a:latin typeface="Verdana"/>
                <a:cs typeface="Verdana"/>
              </a:rPr>
              <a:t>!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939" y="2061145"/>
            <a:ext cx="572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35" dirty="0">
                <a:latin typeface="Tahoma"/>
                <a:cs typeface="Tahoma"/>
              </a:rPr>
              <a:t>Biases: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975" y="2281941"/>
            <a:ext cx="93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8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6244" y="2242352"/>
            <a:ext cx="1498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ahoma"/>
                <a:cs typeface="Tahoma"/>
              </a:rPr>
              <a:t>(</a:t>
            </a:r>
            <a:r>
              <a:rPr sz="700" i="1" spc="-25" dirty="0">
                <a:latin typeface="Arial"/>
                <a:cs typeface="Arial"/>
              </a:rPr>
              <a:t>L</a:t>
            </a:r>
            <a:r>
              <a:rPr sz="700" spc="-25" dirty="0">
                <a:latin typeface="Tahoma"/>
                <a:cs typeface="Tahoma"/>
              </a:rPr>
              <a:t>)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0034" y="2250305"/>
            <a:ext cx="1710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9555" algn="l"/>
              </a:tabLst>
            </a:pPr>
            <a:r>
              <a:rPr sz="1000" dirty="0">
                <a:latin typeface="Tahoma"/>
                <a:cs typeface="Tahoma"/>
              </a:rPr>
              <a:t>Output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layer: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argmin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Cambria"/>
                <a:cs typeface="Cambria"/>
              </a:rPr>
              <a:t>L</a:t>
            </a:r>
            <a:r>
              <a:rPr sz="1000" spc="-25" dirty="0">
                <a:latin typeface="Tahoma"/>
                <a:cs typeface="Tahoma"/>
              </a:rPr>
              <a:t>(</a:t>
            </a:r>
            <a:r>
              <a:rPr sz="1000" i="1" spc="-25" dirty="0">
                <a:latin typeface="Arial"/>
                <a:cs typeface="Arial"/>
              </a:rPr>
              <a:t>h</a:t>
            </a:r>
            <a:r>
              <a:rPr sz="1000" i="1" dirty="0">
                <a:latin typeface="Arial"/>
                <a:cs typeface="Arial"/>
              </a:rPr>
              <a:t>	,</a:t>
            </a:r>
            <a:r>
              <a:rPr sz="1000" i="1" spc="-125" dirty="0">
                <a:latin typeface="Arial"/>
                <a:cs typeface="Arial"/>
              </a:rPr>
              <a:t> </a:t>
            </a:r>
            <a:r>
              <a:rPr sz="1000" i="1" spc="-150" dirty="0">
                <a:latin typeface="Arial"/>
                <a:cs typeface="Arial"/>
              </a:rPr>
              <a:t>y</a:t>
            </a:r>
            <a:r>
              <a:rPr sz="1000" spc="-150" dirty="0">
                <a:latin typeface="Tahoma"/>
                <a:cs typeface="Tahoma"/>
              </a:rPr>
              <a:t>¯)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7575" y="2381405"/>
            <a:ext cx="3886835" cy="526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7590">
              <a:lnSpc>
                <a:spcPct val="100000"/>
              </a:lnSpc>
              <a:spcBef>
                <a:spcPts val="95"/>
              </a:spcBef>
            </a:pPr>
            <a:r>
              <a:rPr sz="1050" i="1" spc="-30" baseline="-15873" dirty="0">
                <a:latin typeface="Arial"/>
                <a:cs typeface="Arial"/>
              </a:rPr>
              <a:t>b</a:t>
            </a:r>
            <a:r>
              <a:rPr sz="500" spc="-20" dirty="0">
                <a:latin typeface="Tahoma"/>
                <a:cs typeface="Tahoma"/>
              </a:rPr>
              <a:t>(</a:t>
            </a:r>
            <a:r>
              <a:rPr sz="500" i="1" spc="-20" dirty="0">
                <a:latin typeface="Arial"/>
                <a:cs typeface="Arial"/>
              </a:rPr>
              <a:t>L</a:t>
            </a:r>
            <a:r>
              <a:rPr sz="500" spc="-20" dirty="0">
                <a:latin typeface="Tahoma"/>
                <a:cs typeface="Tahoma"/>
              </a:rPr>
              <a:t>)</a:t>
            </a:r>
            <a:endParaRPr sz="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500">
              <a:latin typeface="Tahoma"/>
              <a:cs typeface="Tahoma"/>
            </a:endParaRPr>
          </a:p>
          <a:p>
            <a:pPr marL="174625" marR="30480" indent="-137160">
              <a:lnSpc>
                <a:spcPct val="100000"/>
              </a:lnSpc>
              <a:spcBef>
                <a:spcPts val="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0" baseline="13888" dirty="0">
                <a:latin typeface="Arial MT"/>
                <a:cs typeface="Arial MT"/>
              </a:rPr>
              <a:t> </a:t>
            </a:r>
            <a:r>
              <a:rPr sz="1000" spc="-20" dirty="0">
                <a:latin typeface="Tahoma"/>
                <a:cs typeface="Tahoma"/>
              </a:rPr>
              <a:t>Hidden </a:t>
            </a:r>
            <a:r>
              <a:rPr sz="1000" spc="-35" dirty="0">
                <a:latin typeface="Tahoma"/>
                <a:cs typeface="Tahoma"/>
              </a:rPr>
              <a:t>layer: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50" baseline="27777" dirty="0">
                <a:latin typeface="Tahoma"/>
                <a:cs typeface="Tahoma"/>
              </a:rPr>
              <a:t>(</a:t>
            </a:r>
            <a:r>
              <a:rPr sz="1050" i="1" baseline="27777" dirty="0">
                <a:latin typeface="Trebuchet MS"/>
                <a:cs typeface="Trebuchet MS"/>
              </a:rPr>
              <a:t>A</a:t>
            </a:r>
            <a:r>
              <a:rPr sz="1050" baseline="27777" dirty="0">
                <a:latin typeface="Tahoma"/>
                <a:cs typeface="Tahoma"/>
              </a:rPr>
              <a:t>)</a:t>
            </a:r>
            <a:r>
              <a:rPr sz="1050" spc="97" baseline="27777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when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ReLU</a:t>
            </a:r>
            <a:r>
              <a:rPr sz="1000" spc="-20" dirty="0">
                <a:latin typeface="Tahoma"/>
                <a:cs typeface="Tahoma"/>
              </a:rPr>
              <a:t> set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i="1" spc="35" dirty="0">
                <a:latin typeface="Arial"/>
                <a:cs typeface="Arial"/>
              </a:rPr>
              <a:t> </a:t>
            </a:r>
            <a:r>
              <a:rPr sz="1000" i="1" spc="180" dirty="0">
                <a:latin typeface="Arial"/>
                <a:cs typeface="Arial"/>
              </a:rPr>
              <a:t>&gt;</a:t>
            </a:r>
            <a:r>
              <a:rPr sz="1000" i="1" spc="-3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0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avoid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”Dead </a:t>
            </a:r>
            <a:r>
              <a:rPr sz="1000" dirty="0">
                <a:latin typeface="Tahoma"/>
                <a:cs typeface="Tahoma"/>
              </a:rPr>
              <a:t>ReLU”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phenomenon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7</a:t>
            </a:r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921561"/>
            <a:ext cx="142621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Parameter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Initializations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836660"/>
            <a:ext cx="1263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1100" spc="-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1100" spc="-1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2294215"/>
            <a:ext cx="1441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Adaptive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Learning</a:t>
            </a:r>
            <a:r>
              <a:rPr sz="1100" spc="-3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Rates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8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Stochastic</a:t>
            </a:r>
            <a:r>
              <a:rPr spc="-60" dirty="0"/>
              <a:t> </a:t>
            </a:r>
            <a:r>
              <a:rPr spc="-25" dirty="0"/>
              <a:t>Gradient</a:t>
            </a:r>
            <a:r>
              <a:rPr spc="-60" dirty="0"/>
              <a:t> </a:t>
            </a:r>
            <a:r>
              <a:rPr spc="-30" dirty="0"/>
              <a:t>Descent</a:t>
            </a:r>
            <a:r>
              <a:rPr spc="-60" dirty="0"/>
              <a:t> </a:t>
            </a:r>
            <a:r>
              <a:rPr spc="-10" dirty="0"/>
              <a:t>(SGD)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597166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781050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554873"/>
            <a:ext cx="2828290" cy="3937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29"/>
              </a:spcBef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SGD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k-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epoch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θ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66" y="928457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2307" y="1087575"/>
            <a:ext cx="4470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1403" y="988312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4746" y="988312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066" y="1100529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4840" y="1087575"/>
            <a:ext cx="513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9565" algn="l"/>
              </a:tabLst>
            </a:pP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9442" y="988312"/>
            <a:ext cx="170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9429" y="1334908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9429" y="1437232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7158" y="1412035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8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2723" y="1257844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3157" y="1248230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39733" y="1516556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8208" y="1339188"/>
            <a:ext cx="595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91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066" y="1352129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1601951"/>
            <a:ext cx="4356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715" algn="l"/>
                <a:tab pos="4343400" algn="l"/>
              </a:tabLst>
            </a:pPr>
            <a:r>
              <a:rPr sz="900" u="sng" spc="3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4: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Apply</a:t>
            </a:r>
            <a:r>
              <a:rPr sz="1100" u="sng" spc="-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gradient:</a:t>
            </a:r>
            <a:r>
              <a:rPr sz="1100" u="sng" spc="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←</a:t>
            </a:r>
            <a:r>
              <a:rPr sz="1100" u="sng" spc="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ϵ</a:t>
            </a:r>
            <a:r>
              <a:rPr sz="1100" i="1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6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r>
              <a:rPr sz="11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ˆ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939" y="1985567"/>
            <a:ext cx="881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55" dirty="0">
                <a:latin typeface="Tahoma"/>
                <a:cs typeface="Tahoma"/>
              </a:rPr>
              <a:t>Converges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7080" y="204546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0845" y="1985567"/>
            <a:ext cx="728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ϵ</a:t>
            </a:r>
            <a:r>
              <a:rPr sz="1100" i="1" spc="105" dirty="0">
                <a:latin typeface="Arial"/>
                <a:cs typeface="Arial"/>
              </a:rPr>
              <a:t> 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150" dirty="0">
                <a:latin typeface="Cambria"/>
                <a:cs typeface="Cambria"/>
              </a:rPr>
              <a:t>∞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6855" y="1881656"/>
            <a:ext cx="1294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35380" algn="l"/>
              </a:tabLst>
            </a:pPr>
            <a:r>
              <a:rPr sz="1100" spc="360" dirty="0">
                <a:latin typeface="Verdana"/>
                <a:cs typeface="Verdana"/>
              </a:rPr>
              <a:t>Σ</a:t>
            </a:r>
            <a:r>
              <a:rPr sz="1100" dirty="0">
                <a:latin typeface="Verdana"/>
                <a:cs typeface="Verdana"/>
              </a:rPr>
              <a:t>	</a:t>
            </a: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03096" y="1959049"/>
            <a:ext cx="1243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5380" algn="l"/>
              </a:tabLst>
            </a:pPr>
            <a:r>
              <a:rPr sz="800" i="1" spc="210" dirty="0">
                <a:latin typeface="Times New Roman"/>
                <a:cs typeface="Times New Roman"/>
              </a:rPr>
              <a:t>∞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i="1" spc="-50" dirty="0">
                <a:latin typeface="Times New Roman"/>
                <a:cs typeface="Times New Roman"/>
              </a:rPr>
              <a:t>∞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09926" y="197261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3096" y="2065069"/>
            <a:ext cx="1485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5380" algn="l"/>
              </a:tabLst>
            </a:pPr>
            <a:r>
              <a:rPr sz="800" i="1" spc="-25" dirty="0">
                <a:latin typeface="Arial"/>
                <a:cs typeface="Arial"/>
              </a:rPr>
              <a:t>k</a:t>
            </a:r>
            <a:r>
              <a:rPr sz="800" spc="-25" dirty="0">
                <a:latin typeface="Tahoma"/>
                <a:cs typeface="Tahoma"/>
              </a:rPr>
              <a:t>=1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dirty="0">
                <a:latin typeface="Arial"/>
                <a:cs typeface="Arial"/>
              </a:rPr>
              <a:t>k</a:t>
            </a:r>
            <a:r>
              <a:rPr sz="800" dirty="0">
                <a:latin typeface="Tahoma"/>
                <a:cs typeface="Tahoma"/>
              </a:rPr>
              <a:t>=1</a:t>
            </a:r>
            <a:r>
              <a:rPr sz="800" spc="150" dirty="0">
                <a:latin typeface="Tahoma"/>
                <a:cs typeface="Tahoma"/>
              </a:rPr>
              <a:t>  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53690" y="1985567"/>
            <a:ext cx="472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ϵ</a:t>
            </a:r>
            <a:r>
              <a:rPr sz="1100" i="1" spc="480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&lt;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100" dirty="0">
                <a:latin typeface="Cambria"/>
                <a:cs typeface="Cambria"/>
              </a:rPr>
              <a:t>∞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4939" y="2195600"/>
            <a:ext cx="3186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5875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decay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10" dirty="0">
                <a:latin typeface="Tahoma"/>
                <a:cs typeface="Tahoma"/>
              </a:rPr>
              <a:t> rate: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9246" y="2616821"/>
            <a:ext cx="346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ϵ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232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2837" y="2379902"/>
            <a:ext cx="137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25" dirty="0">
                <a:latin typeface="Verdana"/>
                <a:cs typeface="Verdana"/>
              </a:rPr>
              <a:t>(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92491" y="2605340"/>
            <a:ext cx="73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Calibri"/>
                <a:cs typeface="Calibri"/>
              </a:rPr>
              <a:t>τ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4445" y="2408020"/>
            <a:ext cx="48260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0576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37945" y="2520237"/>
            <a:ext cx="498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8625" algn="l"/>
              </a:tabLst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i="1" spc="-50" dirty="0">
                <a:latin typeface="Arial"/>
                <a:cs typeface="Arial"/>
              </a:rPr>
              <a:t>ϵ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10664" y="257834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0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91741" y="2503016"/>
            <a:ext cx="541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5615" algn="l"/>
              </a:tabLst>
            </a:pP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56028" y="2605340"/>
            <a:ext cx="73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Calibri"/>
                <a:cs typeface="Calibri"/>
              </a:rPr>
              <a:t>τ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87600" y="2578340"/>
            <a:ext cx="73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" dirty="0">
                <a:latin typeface="Calibri"/>
                <a:cs typeface="Calibri"/>
              </a:rPr>
              <a:t>τ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01545" y="2480003"/>
            <a:ext cx="962025" cy="4387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502920" algn="l"/>
              </a:tabLst>
            </a:pPr>
            <a:r>
              <a:rPr sz="1100" dirty="0">
                <a:latin typeface="Tahoma"/>
                <a:cs typeface="Tahoma"/>
              </a:rPr>
              <a:t>+</a:t>
            </a:r>
            <a:r>
              <a:rPr sz="1100" spc="160" dirty="0">
                <a:latin typeface="Tahoma"/>
                <a:cs typeface="Tahoma"/>
              </a:rPr>
              <a:t>  </a:t>
            </a:r>
            <a:r>
              <a:rPr sz="1100" i="1" spc="-50" dirty="0">
                <a:latin typeface="Arial"/>
                <a:cs typeface="Arial"/>
              </a:rPr>
              <a:t>ϵ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spc="200" dirty="0">
                <a:latin typeface="Arial"/>
                <a:cs typeface="Arial"/>
              </a:rPr>
              <a:t>&lt;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spc="10" dirty="0">
                <a:latin typeface="Arial"/>
                <a:cs typeface="Arial"/>
              </a:rPr>
              <a:t>τ</a:t>
            </a:r>
            <a:endParaRPr sz="1100">
              <a:latin typeface="Arial"/>
              <a:cs typeface="Arial"/>
            </a:endParaRPr>
          </a:p>
          <a:p>
            <a:pPr marL="502920">
              <a:lnSpc>
                <a:spcPct val="100000"/>
              </a:lnSpc>
              <a:spcBef>
                <a:spcPts val="305"/>
              </a:spcBef>
            </a:pPr>
            <a:r>
              <a:rPr sz="1100" dirty="0">
                <a:latin typeface="Tahoma"/>
                <a:cs typeface="Tahoma"/>
              </a:rPr>
              <a:t>if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i="1" spc="10" dirty="0">
                <a:latin typeface="Arial"/>
                <a:cs typeface="Arial"/>
              </a:rPr>
              <a:t>τ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49045" y="2726726"/>
            <a:ext cx="180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0416" dirty="0">
                <a:latin typeface="Calibri"/>
                <a:cs typeface="Calibri"/>
              </a:rPr>
              <a:t>τ</a:t>
            </a:r>
            <a:endParaRPr sz="1200" baseline="-10416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66631" y="2616821"/>
            <a:ext cx="11182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49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ϵ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i="1" spc="200" dirty="0">
                <a:latin typeface="Arial"/>
                <a:cs typeface="Arial"/>
              </a:rPr>
              <a:t>&gt;&gt;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0416" dirty="0">
                <a:latin typeface="Calibri"/>
                <a:cs typeface="Calibri"/>
              </a:rPr>
              <a:t>τ</a:t>
            </a:r>
            <a:endParaRPr sz="1200" baseline="-10416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8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5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Momentum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8316" y="619308"/>
            <a:ext cx="1841024" cy="17439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2478803"/>
            <a:ext cx="423672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30" dirty="0">
                <a:latin typeface="Tahoma"/>
                <a:cs typeface="Tahoma"/>
              </a:rPr>
              <a:t> 5: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quadratic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loss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poor</a:t>
            </a:r>
            <a:r>
              <a:rPr sz="1000" spc="-25" dirty="0">
                <a:latin typeface="Tahoma"/>
                <a:cs typeface="Tahoma"/>
              </a:rPr>
              <a:t> conditioned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Hessian;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Black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arrows: </a:t>
            </a:r>
            <a:r>
              <a:rPr sz="1000" spc="-25" dirty="0">
                <a:latin typeface="Tahoma"/>
                <a:cs typeface="Tahoma"/>
              </a:rPr>
              <a:t>Gradient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descent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steps;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line: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Momentum</a:t>
            </a:r>
            <a:r>
              <a:rPr sz="1000" spc="-30" dirty="0">
                <a:latin typeface="Tahoma"/>
                <a:cs typeface="Tahoma"/>
              </a:rPr>
              <a:t> correction,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Source: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Goodfellow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et </a:t>
            </a:r>
            <a:r>
              <a:rPr sz="1000" dirty="0">
                <a:latin typeface="Tahoma"/>
                <a:cs typeface="Tahoma"/>
              </a:rPr>
              <a:t>al.,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2016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9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1785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Momentum</a:t>
            </a:r>
            <a:r>
              <a:rPr spc="-50" dirty="0"/>
              <a:t> </a:t>
            </a:r>
            <a:r>
              <a:rPr spc="-40" dirty="0"/>
              <a:t>(II)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9539" y="713713"/>
            <a:ext cx="3522979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84150" algn="l"/>
              </a:tabLst>
            </a:pPr>
            <a:r>
              <a:rPr sz="1100" spc="-40" dirty="0">
                <a:latin typeface="Tahoma"/>
                <a:cs typeface="Tahoma"/>
              </a:rPr>
              <a:t>Introduce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40" dirty="0">
                <a:latin typeface="Tahoma"/>
                <a:cs typeface="Tahoma"/>
              </a:rPr>
              <a:t> 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parameter</a:t>
            </a:r>
            <a:endParaRPr sz="1100">
              <a:latin typeface="Tahoma"/>
              <a:cs typeface="Tahoma"/>
            </a:endParaRPr>
          </a:p>
          <a:p>
            <a:pPr marL="184150" indent="-146050">
              <a:lnSpc>
                <a:spcPct val="100000"/>
              </a:lnSpc>
              <a:spcBef>
                <a:spcPts val="900"/>
              </a:spcBef>
              <a:buSzPct val="72727"/>
              <a:buFont typeface="Lucida Sans Unicode"/>
              <a:buChar char="►"/>
              <a:tabLst>
                <a:tab pos="184150" algn="l"/>
              </a:tabLst>
            </a:pPr>
            <a:r>
              <a:rPr sz="1100" spc="-25" dirty="0">
                <a:latin typeface="Tahoma"/>
                <a:cs typeface="Tahoma"/>
              </a:rPr>
              <a:t>Accumulate</a:t>
            </a:r>
            <a:r>
              <a:rPr sz="1100" spc="-35" dirty="0">
                <a:latin typeface="Tahoma"/>
                <a:cs typeface="Tahoma"/>
              </a:rPr>
              <a:t> gradient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steps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</a:t>
            </a:r>
            <a:endParaRPr sz="1100">
              <a:latin typeface="Tahoma"/>
              <a:cs typeface="Tahoma"/>
            </a:endParaRPr>
          </a:p>
          <a:p>
            <a:pPr marL="184150" indent="-146050">
              <a:lnSpc>
                <a:spcPct val="100000"/>
              </a:lnSpc>
              <a:spcBef>
                <a:spcPts val="900"/>
              </a:spcBef>
              <a:buSzPct val="72727"/>
              <a:buFont typeface="Lucida Sans Unicode"/>
              <a:buChar char="►"/>
              <a:tabLst>
                <a:tab pos="184150" algn="l"/>
              </a:tabLst>
            </a:pP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moving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style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α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-65" dirty="0">
                <a:latin typeface="Tahoma"/>
                <a:cs typeface="Tahoma"/>
              </a:rPr>
              <a:t>[0</a:t>
            </a:r>
            <a:r>
              <a:rPr sz="1100" i="1" spc="-6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1)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070" y="1706701"/>
            <a:ext cx="930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100" spc="-25" dirty="0">
                <a:latin typeface="Cambria"/>
                <a:cs typeface="Cambria"/>
              </a:rPr>
              <a:t>∇</a:t>
            </a:r>
            <a:r>
              <a:rPr sz="1200" i="1" spc="-37" baseline="-13888" dirty="0">
                <a:latin typeface="Calibri"/>
                <a:cs typeface="Calibri"/>
              </a:rPr>
              <a:t>ϴ</a:t>
            </a:r>
            <a:endParaRPr sz="1200" baseline="-13888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48090" y="1823313"/>
            <a:ext cx="113030" cy="0"/>
          </a:xfrm>
          <a:custGeom>
            <a:avLst/>
            <a:gdLst/>
            <a:ahLst/>
            <a:cxnLst/>
            <a:rect l="l" t="t" r="r" b="b"/>
            <a:pathLst>
              <a:path w="113030">
                <a:moveTo>
                  <a:pt x="0" y="0"/>
                </a:moveTo>
                <a:lnTo>
                  <a:pt x="1125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35390" y="1590469"/>
            <a:ext cx="13589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265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m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2705" y="1570849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190" y="1575090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5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9716" y="1912682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8049" y="1552916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9405" y="1686825"/>
            <a:ext cx="999490" cy="21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6559">
              <a:lnSpc>
                <a:spcPts val="555"/>
              </a:lnSpc>
              <a:spcBef>
                <a:spcPts val="95"/>
              </a:spcBef>
              <a:tabLst>
                <a:tab pos="86677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915"/>
              </a:lnSpc>
              <a:tabLst>
                <a:tab pos="542290" algn="l"/>
              </a:tabLst>
            </a:pPr>
            <a:r>
              <a:rPr sz="1100" spc="155" dirty="0">
                <a:latin typeface="Cambria"/>
                <a:cs typeface="Cambria"/>
              </a:rPr>
              <a:t>L</a:t>
            </a:r>
            <a:r>
              <a:rPr sz="1100" spc="180" dirty="0">
                <a:latin typeface="Cambria"/>
                <a:cs typeface="Cambria"/>
              </a:rPr>
              <a:t> 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5124" y="1469795"/>
            <a:ext cx="1760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1701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650" spc="630" baseline="-32828" dirty="0">
                <a:latin typeface="Verdana"/>
                <a:cs typeface="Verdana"/>
              </a:rPr>
              <a:t> </a:t>
            </a:r>
            <a:r>
              <a:rPr sz="1100" spc="420" dirty="0">
                <a:latin typeface="Verdana"/>
                <a:cs typeface="Verdana"/>
              </a:rPr>
              <a:t>!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539" y="2323082"/>
            <a:ext cx="383476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184150" algn="l"/>
              </a:tabLst>
            </a:pPr>
            <a:r>
              <a:rPr sz="1100" spc="-10" dirty="0">
                <a:latin typeface="Tahoma"/>
                <a:cs typeface="Tahoma"/>
              </a:rPr>
              <a:t>Ultimately: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  <a:p>
            <a:pPr marL="184150" indent="-146050">
              <a:lnSpc>
                <a:spcPct val="100000"/>
              </a:lnSpc>
              <a:spcBef>
                <a:spcPts val="900"/>
              </a:spcBef>
              <a:buSzPct val="72727"/>
              <a:buFont typeface="Lucida Sans Unicode"/>
              <a:buChar char="►"/>
              <a:tabLst>
                <a:tab pos="18415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depends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alignment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gradients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10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Momentum</a:t>
            </a:r>
            <a:r>
              <a:rPr spc="-50" dirty="0"/>
              <a:t> </a:t>
            </a:r>
            <a:r>
              <a:rPr spc="-55" dirty="0"/>
              <a:t>(III)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600926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784809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558632"/>
            <a:ext cx="3835400" cy="3937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29"/>
              </a:spcBef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SGD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k-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epoch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Momentum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66" y="932216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1403" y="992072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66" y="1104289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2307" y="1091335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746" y="992072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9429" y="1338667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429" y="1440991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7158" y="1415794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8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2723" y="1261604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3157" y="1251990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9733" y="1520315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8208" y="1342947"/>
            <a:ext cx="595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91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066" y="1355888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44" y="1605710"/>
            <a:ext cx="4407535" cy="93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90"/>
              </a:spcBef>
              <a:tabLst>
                <a:tab pos="412115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spc="155" dirty="0">
                <a:latin typeface="Arial"/>
                <a:cs typeface="Arial"/>
              </a:rPr>
              <a:t>ϵ</a:t>
            </a:r>
            <a:r>
              <a:rPr sz="1100" i="1" spc="-385" dirty="0">
                <a:latin typeface="Arial"/>
                <a:cs typeface="Arial"/>
              </a:rPr>
              <a:t>g</a:t>
            </a:r>
            <a:r>
              <a:rPr sz="1100" spc="15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  <a:tabLst>
                <a:tab pos="412115" algn="l"/>
                <a:tab pos="4368800" algn="l"/>
              </a:tabLst>
            </a:pPr>
            <a:r>
              <a:rPr sz="900" u="sng" spc="3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5: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Apply</a:t>
            </a:r>
            <a:r>
              <a:rPr sz="110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gradient:</a:t>
            </a:r>
            <a:r>
              <a:rPr sz="1100" u="sng" spc="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←</a:t>
            </a:r>
            <a:r>
              <a:rPr sz="1100" u="sng" spc="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>
              <a:latin typeface="Arial"/>
              <a:cs typeface="Arial"/>
            </a:endParaRPr>
          </a:p>
          <a:p>
            <a:pPr marL="313055" indent="-146050">
              <a:lnSpc>
                <a:spcPct val="100000"/>
              </a:lnSpc>
              <a:buSzPct val="72727"/>
              <a:buFont typeface="Lucida Sans Unicode"/>
              <a:buChar char="►"/>
              <a:tabLst>
                <a:tab pos="313055" algn="l"/>
              </a:tabLst>
            </a:pPr>
            <a:r>
              <a:rPr sz="1100" spc="-35" dirty="0">
                <a:latin typeface="Tahoma"/>
                <a:cs typeface="Tahoma"/>
              </a:rPr>
              <a:t>Commonly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α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∈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{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spc="-10" dirty="0">
                <a:latin typeface="Tahoma"/>
                <a:cs typeface="Tahoma"/>
              </a:rPr>
              <a:t>5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0</a:t>
            </a:r>
            <a:r>
              <a:rPr sz="1100" i="1" spc="-30" dirty="0">
                <a:latin typeface="Arial"/>
                <a:cs typeface="Arial"/>
              </a:rPr>
              <a:t>.</a:t>
            </a:r>
            <a:r>
              <a:rPr sz="1100" spc="-30" dirty="0">
                <a:latin typeface="Tahoma"/>
                <a:cs typeface="Tahoma"/>
              </a:rPr>
              <a:t>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Arial"/>
                <a:cs typeface="Arial"/>
              </a:rPr>
              <a:t>.</a:t>
            </a:r>
            <a:r>
              <a:rPr sz="1100" spc="-10" dirty="0">
                <a:latin typeface="Tahoma"/>
                <a:cs typeface="Tahoma"/>
              </a:rPr>
              <a:t>99</a:t>
            </a:r>
            <a:r>
              <a:rPr sz="1100" spc="-1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313055" indent="-146050">
              <a:lnSpc>
                <a:spcPct val="100000"/>
              </a:lnSpc>
              <a:spcBef>
                <a:spcPts val="175"/>
              </a:spcBef>
              <a:buSzPct val="72727"/>
              <a:buFont typeface="Lucida Sans Unicode"/>
              <a:buChar char="►"/>
              <a:tabLst>
                <a:tab pos="313055" algn="l"/>
              </a:tabLst>
            </a:pPr>
            <a:r>
              <a:rPr sz="1100" spc="-10" dirty="0">
                <a:latin typeface="Tahoma"/>
                <a:cs typeface="Tahoma"/>
              </a:rPr>
              <a:t>Note: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might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think</a:t>
            </a:r>
            <a:r>
              <a:rPr sz="1100" spc="-50" dirty="0">
                <a:latin typeface="Tahoma"/>
                <a:cs typeface="Tahoma"/>
              </a:rPr>
              <a:t> momentum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Newton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33410" y="2647480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29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69910" y="2620504"/>
            <a:ext cx="20370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995044" algn="l"/>
                <a:tab pos="1896745" algn="l"/>
              </a:tabLst>
            </a:pPr>
            <a:r>
              <a:rPr sz="800" i="1" spc="35" dirty="0">
                <a:latin typeface="Calibri"/>
                <a:cs typeface="Calibri"/>
              </a:rPr>
              <a:t>∂</a:t>
            </a:r>
            <a:r>
              <a:rPr sz="800" i="1" spc="35" dirty="0">
                <a:latin typeface="Arial"/>
                <a:cs typeface="Arial"/>
              </a:rPr>
              <a:t>t</a:t>
            </a:r>
            <a:r>
              <a:rPr sz="900" spc="52" baseline="23148" dirty="0">
                <a:latin typeface="Tahoma"/>
                <a:cs typeface="Tahoma"/>
              </a:rPr>
              <a:t>2</a:t>
            </a:r>
            <a:r>
              <a:rPr sz="900" baseline="23148" dirty="0">
                <a:latin typeface="Tahoma"/>
                <a:cs typeface="Tahoma"/>
              </a:rPr>
              <a:t>	</a:t>
            </a:r>
            <a:r>
              <a:rPr sz="1200" i="1" spc="67" baseline="3472" dirty="0">
                <a:latin typeface="Calibri"/>
                <a:cs typeface="Calibri"/>
              </a:rPr>
              <a:t>∂</a:t>
            </a:r>
            <a:r>
              <a:rPr sz="1200" i="1" spc="67" baseline="3472" dirty="0">
                <a:latin typeface="Arial"/>
                <a:cs typeface="Arial"/>
              </a:rPr>
              <a:t>t</a:t>
            </a:r>
            <a:r>
              <a:rPr sz="1200" i="1" baseline="3472" dirty="0">
                <a:latin typeface="Arial"/>
                <a:cs typeface="Arial"/>
              </a:rPr>
              <a:t>	</a:t>
            </a:r>
            <a:r>
              <a:rPr sz="1200" i="1" spc="67" baseline="3472" dirty="0">
                <a:latin typeface="Calibri"/>
                <a:cs typeface="Calibri"/>
              </a:rPr>
              <a:t>∂</a:t>
            </a:r>
            <a:r>
              <a:rPr sz="1200" i="1" spc="67" baseline="3472" dirty="0">
                <a:latin typeface="Arial"/>
                <a:cs typeface="Arial"/>
              </a:rPr>
              <a:t>t</a:t>
            </a:r>
            <a:endParaRPr sz="1200" baseline="3472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532" y="2530867"/>
            <a:ext cx="3288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dynamics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t</a:t>
            </a:r>
            <a:r>
              <a:rPr sz="1100" spc="5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325" dirty="0">
                <a:latin typeface="Tahoma"/>
                <a:cs typeface="Tahoma"/>
              </a:rPr>
              <a:t> </a:t>
            </a:r>
            <a:r>
              <a:rPr sz="1200" i="1" baseline="31250" dirty="0">
                <a:latin typeface="Calibri"/>
                <a:cs typeface="Calibri"/>
              </a:rPr>
              <a:t>∂</a:t>
            </a:r>
            <a:r>
              <a:rPr sz="900" baseline="64814" dirty="0">
                <a:latin typeface="Tahoma"/>
                <a:cs typeface="Tahoma"/>
              </a:rPr>
              <a:t>2</a:t>
            </a:r>
            <a:r>
              <a:rPr sz="900" spc="284" baseline="64814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t</a:t>
            </a:r>
            <a:r>
              <a:rPr sz="1100" spc="5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∂</a:t>
            </a:r>
            <a:r>
              <a:rPr sz="1200" i="1" spc="284" baseline="31250" dirty="0">
                <a:latin typeface="Calibri"/>
                <a:cs typeface="Calibri"/>
              </a:rPr>
              <a:t> </a:t>
            </a:r>
            <a:r>
              <a:rPr sz="1100" i="1" spc="-55" dirty="0">
                <a:latin typeface="Arial"/>
                <a:cs typeface="Arial"/>
              </a:rPr>
              <a:t>v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v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i="1" spc="50" dirty="0">
                <a:latin typeface="Arial"/>
                <a:cs typeface="Arial"/>
              </a:rPr>
              <a:t>t</a:t>
            </a:r>
            <a:r>
              <a:rPr sz="1100" spc="5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∂</a:t>
            </a:r>
            <a:r>
              <a:rPr sz="1200" i="1" spc="292" baseline="3125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θ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t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7575" y="2720027"/>
            <a:ext cx="29044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7" baseline="13888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force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pushing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weights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downwards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140" dirty="0">
                <a:latin typeface="Cambria"/>
                <a:cs typeface="Cambria"/>
              </a:rPr>
              <a:t>−∇</a:t>
            </a:r>
            <a:r>
              <a:rPr sz="1050" i="1" spc="209" baseline="-11904" dirty="0">
                <a:latin typeface="Trebuchet MS"/>
                <a:cs typeface="Trebuchet MS"/>
              </a:rPr>
              <a:t>θ</a:t>
            </a:r>
            <a:r>
              <a:rPr sz="1050" i="1" spc="-209" baseline="-11904" dirty="0">
                <a:latin typeface="Trebuchet MS"/>
                <a:cs typeface="Trebuchet MS"/>
              </a:rPr>
              <a:t> </a:t>
            </a:r>
            <a:r>
              <a:rPr sz="1000" i="1" spc="-20" dirty="0">
                <a:latin typeface="Arial"/>
                <a:cs typeface="Arial"/>
              </a:rPr>
              <a:t>J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θ</a:t>
            </a:r>
            <a:r>
              <a:rPr sz="1000" spc="-20" dirty="0">
                <a:latin typeface="Tahoma"/>
                <a:cs typeface="Tahoma"/>
              </a:rPr>
              <a:t>).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11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Nesterov</a:t>
            </a:r>
            <a:r>
              <a:rPr spc="-35" dirty="0"/>
              <a:t> </a:t>
            </a:r>
            <a:r>
              <a:rPr spc="-25" dirty="0"/>
              <a:t>Momentum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498994"/>
            <a:ext cx="39712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58115" marR="5080" indent="-146050">
              <a:lnSpc>
                <a:spcPct val="102600"/>
              </a:lnSpc>
              <a:spcBef>
                <a:spcPts val="55"/>
              </a:spcBef>
              <a:buSzPct val="72727"/>
              <a:buFont typeface="Lucida Sans Unicode"/>
              <a:buChar char="►"/>
              <a:tabLst>
                <a:tab pos="160655" algn="l"/>
              </a:tabLst>
            </a:pPr>
            <a:r>
              <a:rPr sz="1100" spc="-35" dirty="0">
                <a:latin typeface="Tahoma"/>
                <a:cs typeface="Tahoma"/>
              </a:rPr>
              <a:t>Nesterov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momentum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adds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(look-</a:t>
            </a:r>
            <a:r>
              <a:rPr sz="1100" spc="-40" dirty="0">
                <a:latin typeface="Tahoma"/>
                <a:cs typeface="Tahoma"/>
              </a:rPr>
              <a:t>ahead)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factor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the 	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25" dirty="0">
                <a:latin typeface="Tahoma"/>
                <a:cs typeface="Tahoma"/>
              </a:rPr>
              <a:t> velocity </a:t>
            </a:r>
            <a:r>
              <a:rPr sz="1100" spc="-10" dirty="0">
                <a:latin typeface="Tahoma"/>
                <a:cs typeface="Tahoma"/>
              </a:rPr>
              <a:t>update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194" y="944791"/>
            <a:ext cx="2706040" cy="8595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2239" y="1937999"/>
            <a:ext cx="3534410" cy="541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30" dirty="0">
                <a:latin typeface="Tahoma"/>
                <a:cs typeface="Tahoma"/>
              </a:rPr>
              <a:t> 6: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Nesterov </a:t>
            </a:r>
            <a:r>
              <a:rPr sz="1000" spc="-40" dirty="0">
                <a:latin typeface="Tahoma"/>
                <a:cs typeface="Tahoma"/>
              </a:rPr>
              <a:t>momentum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correction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factor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000">
              <a:latin typeface="Tahoma"/>
              <a:cs typeface="Tahoma"/>
            </a:endParaRPr>
          </a:p>
          <a:p>
            <a:pPr marL="171450" indent="-146050">
              <a:lnSpc>
                <a:spcPct val="100000"/>
              </a:lnSpc>
              <a:buSzPct val="72727"/>
              <a:buFont typeface="Lucida Sans Unicode"/>
              <a:buChar char="►"/>
              <a:tabLst>
                <a:tab pos="171450" algn="l"/>
              </a:tabLst>
            </a:pPr>
            <a:r>
              <a:rPr sz="1100" spc="-35" dirty="0">
                <a:latin typeface="Tahoma"/>
                <a:cs typeface="Tahoma"/>
              </a:rPr>
              <a:t>Computes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updated </a:t>
            </a:r>
            <a:r>
              <a:rPr sz="1100" spc="-10" dirty="0">
                <a:latin typeface="Tahoma"/>
                <a:cs typeface="Tahoma"/>
              </a:rPr>
              <a:t>weights: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389" y="2708375"/>
            <a:ext cx="930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100" spc="-25" dirty="0">
                <a:latin typeface="Cambria"/>
                <a:cs typeface="Cambria"/>
              </a:rPr>
              <a:t>∇</a:t>
            </a:r>
            <a:r>
              <a:rPr sz="1200" i="1" spc="-37" baseline="-13888" dirty="0">
                <a:latin typeface="Calibri"/>
                <a:cs typeface="Calibri"/>
              </a:rPr>
              <a:t>ϴ</a:t>
            </a:r>
            <a:endParaRPr sz="1200" baseline="-138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1843" y="2471456"/>
            <a:ext cx="135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79396" y="2824975"/>
            <a:ext cx="113030" cy="0"/>
          </a:xfrm>
          <a:custGeom>
            <a:avLst/>
            <a:gdLst/>
            <a:ahLst/>
            <a:cxnLst/>
            <a:rect l="l" t="t" r="r" b="b"/>
            <a:pathLst>
              <a:path w="113030">
                <a:moveTo>
                  <a:pt x="0" y="0"/>
                </a:moveTo>
                <a:lnTo>
                  <a:pt x="1125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66696" y="2592144"/>
            <a:ext cx="13589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265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4024" y="2572510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7509" y="2576752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5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1022" y="2914356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9367" y="2554578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44888" y="2890558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>
                <a:moveTo>
                  <a:pt x="0" y="0"/>
                </a:moveTo>
                <a:lnTo>
                  <a:pt x="4062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240711" y="2688487"/>
            <a:ext cx="1337310" cy="21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6559">
              <a:lnSpc>
                <a:spcPts val="555"/>
              </a:lnSpc>
              <a:spcBef>
                <a:spcPts val="95"/>
              </a:spcBef>
              <a:tabLst>
                <a:tab pos="120459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915"/>
              </a:lnSpc>
              <a:tabLst>
                <a:tab pos="542290" algn="l"/>
              </a:tabLst>
            </a:pPr>
            <a:r>
              <a:rPr sz="1100" spc="155" dirty="0">
                <a:latin typeface="Cambria"/>
                <a:cs typeface="Cambria"/>
              </a:rPr>
              <a:t>L</a:t>
            </a:r>
            <a:r>
              <a:rPr sz="1100" spc="180" dirty="0">
                <a:latin typeface="Cambria"/>
                <a:cs typeface="Cambria"/>
              </a:rPr>
              <a:t> 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33025" y="2471456"/>
            <a:ext cx="268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390" baseline="-32828" dirty="0">
                <a:latin typeface="Verdana"/>
                <a:cs typeface="Verdana"/>
              </a:rPr>
              <a:t> </a:t>
            </a:r>
            <a:r>
              <a:rPr sz="1100" spc="370" dirty="0">
                <a:latin typeface="Verdana"/>
                <a:cs typeface="Verdana"/>
              </a:rPr>
              <a:t>!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12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1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85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SGD</a:t>
            </a:r>
            <a:r>
              <a:rPr sz="600" spc="2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600" spc="2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Momentum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886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Nesterov </a:t>
            </a:r>
            <a:r>
              <a:rPr spc="-25" dirty="0"/>
              <a:t>Momentum</a:t>
            </a:r>
            <a:r>
              <a:rPr spc="-40" dirty="0"/>
              <a:t> </a:t>
            </a:r>
            <a:r>
              <a:rPr spc="-30" dirty="0"/>
              <a:t>(II)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642226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826109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599933"/>
            <a:ext cx="3835400" cy="3937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29"/>
              </a:spcBef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SGD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k-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epoch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Nesterov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Momentum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66" y="973517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1403" y="1033372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66" y="1145589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2307" y="1132635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746" y="1033372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666" y="1335111"/>
            <a:ext cx="2379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36550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Apply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interim </a:t>
            </a:r>
            <a:r>
              <a:rPr sz="1100" spc="-30" dirty="0">
                <a:latin typeface="Tahoma"/>
                <a:cs typeface="Tahoma"/>
              </a:rPr>
              <a:t>update: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spc="-540" dirty="0">
                <a:latin typeface="Arial"/>
                <a:cs typeface="Arial"/>
              </a:rPr>
              <a:t>θ</a:t>
            </a:r>
            <a:r>
              <a:rPr sz="1650" spc="-60" baseline="12626" dirty="0">
                <a:latin typeface="Tahoma"/>
                <a:cs typeface="Tahoma"/>
              </a:rPr>
              <a:t>˜</a:t>
            </a:r>
            <a:r>
              <a:rPr sz="1650" spc="-202" baseline="12626" dirty="0">
                <a:latin typeface="Tahoma"/>
                <a:cs typeface="Tahoma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αv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429" y="1547938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5819" y="162360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˜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9429" y="1650262"/>
            <a:ext cx="2806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15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2723" y="1470874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3157" y="1461248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39733" y="1729573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8208" y="1552205"/>
            <a:ext cx="144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86773" y="153052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10" dirty="0">
                <a:latin typeface="Tahoma"/>
                <a:cs typeface="Tahoma"/>
              </a:rPr>
              <a:t>~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652" y="1552205"/>
            <a:ext cx="144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066" y="1565159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3144" y="1814968"/>
            <a:ext cx="4382135" cy="1027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90"/>
              </a:spcBef>
              <a:tabLst>
                <a:tab pos="399415" algn="l"/>
              </a:tabLst>
            </a:pPr>
            <a:r>
              <a:rPr sz="900" spc="-25" dirty="0">
                <a:latin typeface="Calibri"/>
                <a:cs typeface="Calibri"/>
              </a:rPr>
              <a:t>5: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spc="155" dirty="0">
                <a:latin typeface="Arial"/>
                <a:cs typeface="Arial"/>
              </a:rPr>
              <a:t>ϵ</a:t>
            </a:r>
            <a:r>
              <a:rPr sz="1100" i="1" spc="-385" dirty="0">
                <a:latin typeface="Arial"/>
                <a:cs typeface="Arial"/>
              </a:rPr>
              <a:t>g</a:t>
            </a:r>
            <a:r>
              <a:rPr sz="1100" spc="15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  <a:tabLst>
                <a:tab pos="399415" algn="l"/>
                <a:tab pos="4356100" algn="l"/>
              </a:tabLst>
            </a:pPr>
            <a:r>
              <a:rPr sz="900" u="sng" spc="3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6: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Apply</a:t>
            </a:r>
            <a:r>
              <a:rPr sz="110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gradient:</a:t>
            </a:r>
            <a:r>
              <a:rPr sz="1100" u="sng" spc="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←</a:t>
            </a:r>
            <a:r>
              <a:rPr sz="1100" u="sng" spc="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Arial"/>
              <a:cs typeface="Arial"/>
            </a:endParaRPr>
          </a:p>
          <a:p>
            <a:pPr marL="299720" marR="62865" indent="-146050">
              <a:lnSpc>
                <a:spcPct val="102600"/>
              </a:lnSpc>
              <a:buSzPct val="72727"/>
              <a:buFont typeface="Lucida Sans Unicode"/>
              <a:buChar char="►"/>
              <a:tabLst>
                <a:tab pos="302260" algn="l"/>
              </a:tabLst>
            </a:pPr>
            <a:r>
              <a:rPr sz="1100" spc="-35" dirty="0">
                <a:latin typeface="Tahoma"/>
                <a:cs typeface="Tahoma"/>
              </a:rPr>
              <a:t>Nesterov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momentum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currently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widely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momentum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	</a:t>
            </a:r>
            <a:r>
              <a:rPr sz="1100" spc="-40" dirty="0">
                <a:latin typeface="Tahoma"/>
                <a:cs typeface="Tahoma"/>
              </a:rPr>
              <a:t>Deep</a:t>
            </a:r>
            <a:r>
              <a:rPr sz="1100" spc="-35" dirty="0">
                <a:latin typeface="Tahoma"/>
                <a:cs typeface="Tahoma"/>
              </a:rPr>
              <a:t> Learning libraries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provided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50" dirty="0">
                <a:latin typeface="Tahoma"/>
                <a:cs typeface="Tahoma"/>
              </a:rPr>
              <a:t>Tensorflow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Theano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13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921561"/>
            <a:ext cx="1426210" cy="1106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272900"/>
              </a:lnSpc>
            </a:pP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Parameter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Initializations</a:t>
            </a:r>
            <a:r>
              <a:rPr sz="1100" spc="-30" dirty="0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SGD</a:t>
            </a:r>
            <a:r>
              <a:rPr sz="1100" spc="-1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Momentum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2294215"/>
            <a:ext cx="1441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 Learning</a:t>
            </a:r>
            <a:r>
              <a:rPr sz="1100" spc="-3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14</a:t>
            </a:r>
            <a:r>
              <a:rPr sz="600" spc="1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Adagrad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1288351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1472234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544777"/>
            <a:ext cx="3884295" cy="10947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25755" indent="-146050">
              <a:lnSpc>
                <a:spcPct val="100000"/>
              </a:lnSpc>
              <a:spcBef>
                <a:spcPts val="434"/>
              </a:spcBef>
              <a:buSzPct val="72727"/>
              <a:buFont typeface="Lucida Sans Unicode"/>
              <a:buChar char="►"/>
              <a:tabLst>
                <a:tab pos="325755" algn="l"/>
              </a:tabLst>
            </a:pPr>
            <a:r>
              <a:rPr sz="1100" spc="-25" dirty="0">
                <a:latin typeface="Tahoma"/>
                <a:cs typeface="Tahoma"/>
              </a:rPr>
              <a:t>Strongly</a:t>
            </a:r>
            <a:r>
              <a:rPr sz="1100" spc="-60" dirty="0">
                <a:latin typeface="Tahoma"/>
                <a:cs typeface="Tahoma"/>
              </a:rPr>
              <a:t> decrease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gradients</a:t>
            </a:r>
            <a:endParaRPr sz="1100">
              <a:latin typeface="Tahoma"/>
              <a:cs typeface="Tahoma"/>
            </a:endParaRPr>
          </a:p>
          <a:p>
            <a:pPr marL="325755" indent="-146050">
              <a:lnSpc>
                <a:spcPct val="100000"/>
              </a:lnSpc>
              <a:spcBef>
                <a:spcPts val="334"/>
              </a:spcBef>
              <a:buSzPct val="72727"/>
              <a:buFont typeface="Lucida Sans Unicode"/>
              <a:buChar char="►"/>
              <a:tabLst>
                <a:tab pos="325755" algn="l"/>
              </a:tabLst>
            </a:pPr>
            <a:r>
              <a:rPr sz="1100" spc="-10" dirty="0">
                <a:latin typeface="Tahoma"/>
                <a:cs typeface="Tahoma"/>
              </a:rPr>
              <a:t>Rapid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progress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gently </a:t>
            </a:r>
            <a:r>
              <a:rPr sz="1100" spc="-40" dirty="0">
                <a:latin typeface="Tahoma"/>
                <a:cs typeface="Tahoma"/>
              </a:rPr>
              <a:t>sloped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directions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Adagrad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adaptation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δ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66" y="1619642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1403" y="1679497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66" y="1791727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2307" y="1778773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746" y="1679497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9429" y="2026105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429" y="2128429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7158" y="2103220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8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2723" y="1949029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3157" y="1939415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9733" y="2207741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8208" y="2030373"/>
            <a:ext cx="595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91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066" y="2043327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066" y="2336151"/>
            <a:ext cx="1623695" cy="471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5" dirty="0">
                <a:latin typeface="Tahoma"/>
                <a:cs typeface="Tahoma"/>
              </a:rPr>
              <a:t>Accumulate</a:t>
            </a:r>
            <a:r>
              <a:rPr sz="1100" spc="-10" dirty="0">
                <a:latin typeface="Tahoma"/>
                <a:cs typeface="Tahoma"/>
              </a:rPr>
              <a:t> gradients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5: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Apply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gradient: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θ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43252" y="2729001"/>
            <a:ext cx="414020" cy="33655"/>
            <a:chOff x="2043252" y="2729001"/>
            <a:chExt cx="414020" cy="33655"/>
          </a:xfrm>
        </p:grpSpPr>
        <p:sp>
          <p:nvSpPr>
            <p:cNvPr id="23" name="object 23"/>
            <p:cNvSpPr/>
            <p:nvPr/>
          </p:nvSpPr>
          <p:spPr>
            <a:xfrm>
              <a:off x="2043252" y="2731770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19">
                  <a:moveTo>
                    <a:pt x="0" y="0"/>
                  </a:moveTo>
                  <a:lnTo>
                    <a:pt x="41395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4851" y="2759481"/>
              <a:ext cx="62865" cy="0"/>
            </a:xfrm>
            <a:custGeom>
              <a:avLst/>
              <a:gdLst/>
              <a:ahLst/>
              <a:cxnLst/>
              <a:rect l="l" t="t" r="r" b="b"/>
              <a:pathLst>
                <a:path w="62864">
                  <a:moveTo>
                    <a:pt x="0" y="0"/>
                  </a:moveTo>
                  <a:lnTo>
                    <a:pt x="623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809178" y="2348179"/>
          <a:ext cx="953135" cy="58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40005">
                        <a:lnSpc>
                          <a:spcPts val="1295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100" i="1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155" dirty="0">
                          <a:latin typeface="Cambria"/>
                          <a:cs typeface="Cambria"/>
                        </a:rPr>
                        <a:t>←</a:t>
                      </a:r>
                      <a:r>
                        <a:rPr sz="11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100" i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1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spc="-57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ˆ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4" dirty="0">
                          <a:latin typeface="Cambria"/>
                          <a:cs typeface="Cambria"/>
                        </a:rPr>
                        <a:t>⊙</a:t>
                      </a:r>
                      <a:r>
                        <a:rPr sz="11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60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100" spc="-60" dirty="0">
                          <a:latin typeface="Tahoma"/>
                          <a:cs typeface="Tahoma"/>
                        </a:rPr>
                        <a:t>ˆ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100" spc="-315" dirty="0">
                          <a:latin typeface="Cambria"/>
                          <a:cs typeface="Cambria"/>
                        </a:rPr>
                        <a:t>—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628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ts val="785"/>
                        </a:lnSpc>
                      </a:pPr>
                      <a:r>
                        <a:rPr sz="1100" i="1" spc="-50" dirty="0">
                          <a:latin typeface="Arial"/>
                          <a:cs typeface="Arial"/>
                        </a:rPr>
                        <a:t>ϵ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55244">
                        <a:lnSpc>
                          <a:spcPts val="1030"/>
                        </a:lnSpc>
                      </a:pPr>
                      <a:r>
                        <a:rPr sz="1650" i="1" spc="-202" baseline="-37878" dirty="0">
                          <a:latin typeface="Arial"/>
                          <a:cs typeface="Arial"/>
                        </a:rPr>
                        <a:t>δ</a:t>
                      </a:r>
                      <a:r>
                        <a:rPr sz="1650" i="1" spc="-22" baseline="-3787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aseline="-37878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50" spc="-142" baseline="-37878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135" baseline="2525" dirty="0">
                          <a:latin typeface="Cambria"/>
                          <a:cs typeface="Cambria"/>
                        </a:rPr>
                        <a:t>√</a:t>
                      </a:r>
                      <a:r>
                        <a:rPr sz="1650" i="1" spc="135" baseline="-37878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50" i="1" spc="562" baseline="-3787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4" dirty="0">
                          <a:latin typeface="Cambria"/>
                          <a:cs typeface="Cambria"/>
                        </a:rPr>
                        <a:t>⊙</a:t>
                      </a:r>
                      <a:r>
                        <a:rPr sz="11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i="1" spc="-60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100" spc="-60" dirty="0">
                          <a:latin typeface="Tahoma"/>
                          <a:cs typeface="Tahoma"/>
                        </a:rPr>
                        <a:t>ˆ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138544" y="2993821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Tahoma"/>
                <a:cs typeface="Tahoma"/>
              </a:rPr>
              <a:t>14</a:t>
            </a:r>
            <a:r>
              <a:rPr sz="600" spc="1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90" dirty="0">
                <a:solidFill>
                  <a:srgbClr val="7F7F7F"/>
                </a:solidFill>
                <a:latin typeface="Tahoma"/>
                <a:cs typeface="Tahoma"/>
              </a:rPr>
              <a:t>/</a:t>
            </a:r>
            <a:r>
              <a:rPr sz="600" spc="10" dirty="0">
                <a:solidFill>
                  <a:srgbClr val="7F7F7F"/>
                </a:solidFill>
                <a:latin typeface="Tahoma"/>
                <a:cs typeface="Tahoma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Tahoma"/>
                <a:cs typeface="Tahoma"/>
              </a:rPr>
              <a:t>19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RMSProp</a:t>
            </a:r>
            <a:r>
              <a:rPr spc="40" dirty="0"/>
              <a:t> </a:t>
            </a:r>
            <a:r>
              <a:rPr spc="-30" dirty="0"/>
              <a:t>(Root-</a:t>
            </a:r>
            <a:r>
              <a:rPr spc="-35" dirty="0"/>
              <a:t>mean</a:t>
            </a:r>
            <a:r>
              <a:rPr spc="40" dirty="0"/>
              <a:t> </a:t>
            </a:r>
            <a:r>
              <a:rPr spc="-75" dirty="0"/>
              <a:t>square</a:t>
            </a:r>
            <a:r>
              <a:rPr spc="40" dirty="0"/>
              <a:t> </a:t>
            </a:r>
            <a:r>
              <a:rPr spc="-35" dirty="0"/>
              <a:t>propagation)</a:t>
            </a:r>
          </a:p>
        </p:txBody>
      </p:sp>
      <p:sp>
        <p:nvSpPr>
          <p:cNvPr id="5" name="object 5"/>
          <p:cNvSpPr/>
          <p:nvPr/>
        </p:nvSpPr>
        <p:spPr>
          <a:xfrm>
            <a:off x="722744" y="631063"/>
            <a:ext cx="62865" cy="0"/>
          </a:xfrm>
          <a:custGeom>
            <a:avLst/>
            <a:gdLst/>
            <a:ahLst/>
            <a:cxnLst/>
            <a:rect l="l" t="t" r="r" b="b"/>
            <a:pathLst>
              <a:path w="62865">
                <a:moveTo>
                  <a:pt x="0" y="0"/>
                </a:moveTo>
                <a:lnTo>
                  <a:pt x="623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084514" y="697179"/>
            <a:ext cx="137795" cy="20320"/>
            <a:chOff x="2084514" y="697179"/>
            <a:chExt cx="137795" cy="20320"/>
          </a:xfrm>
        </p:grpSpPr>
        <p:sp>
          <p:nvSpPr>
            <p:cNvPr id="7" name="object 7"/>
            <p:cNvSpPr/>
            <p:nvPr/>
          </p:nvSpPr>
          <p:spPr>
            <a:xfrm>
              <a:off x="2084514" y="699947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>
                  <a:moveTo>
                    <a:pt x="0" y="0"/>
                  </a:moveTo>
                  <a:lnTo>
                    <a:pt x="137401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74138" y="715098"/>
              <a:ext cx="48260" cy="0"/>
            </a:xfrm>
            <a:custGeom>
              <a:avLst/>
              <a:gdLst/>
              <a:ahLst/>
              <a:cxnLst/>
              <a:rect l="l" t="t" r="r" b="b"/>
              <a:pathLst>
                <a:path w="48260">
                  <a:moveTo>
                    <a:pt x="0" y="0"/>
                  </a:moveTo>
                  <a:lnTo>
                    <a:pt x="47790" y="0"/>
                  </a:lnTo>
                </a:path>
              </a:pathLst>
            </a:custGeom>
            <a:ln w="4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38544" y="1471460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8544" y="1655343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744" y="583335"/>
            <a:ext cx="4432935" cy="1239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5755" indent="-146050">
              <a:lnSpc>
                <a:spcPts val="103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325755" algn="l"/>
              </a:tabLst>
            </a:pPr>
            <a:r>
              <a:rPr sz="1100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650" spc="135" baseline="40404" dirty="0">
                <a:latin typeface="Cambria"/>
                <a:cs typeface="Cambria"/>
              </a:rPr>
              <a:t>√</a:t>
            </a:r>
            <a:r>
              <a:rPr sz="1100" i="1" spc="90" dirty="0">
                <a:latin typeface="Arial"/>
                <a:cs typeface="Arial"/>
              </a:rPr>
              <a:t>r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increases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Adagrad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200" i="1" baseline="10416" dirty="0">
                <a:latin typeface="Times New Roman"/>
                <a:cs typeface="Times New Roman"/>
              </a:rPr>
              <a:t>√</a:t>
            </a:r>
            <a:r>
              <a:rPr sz="1200" i="1" baseline="31250" dirty="0">
                <a:latin typeface="Calibri"/>
                <a:cs typeface="Calibri"/>
              </a:rPr>
              <a:t>є</a:t>
            </a:r>
            <a:r>
              <a:rPr sz="1200" i="1" spc="284" baseline="31250" dirty="0">
                <a:latin typeface="Calibri"/>
                <a:cs typeface="Calibri"/>
              </a:rPr>
              <a:t>  </a:t>
            </a:r>
            <a:r>
              <a:rPr sz="1100" spc="-55" dirty="0">
                <a:latin typeface="Tahoma"/>
                <a:cs typeface="Tahoma"/>
              </a:rPr>
              <a:t>becomes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small</a:t>
            </a:r>
            <a:endParaRPr sz="1100">
              <a:latin typeface="Tahoma"/>
              <a:cs typeface="Tahoma"/>
            </a:endParaRPr>
          </a:p>
          <a:p>
            <a:pPr marR="215265" algn="ctr">
              <a:lnSpc>
                <a:spcPts val="670"/>
              </a:lnSpc>
            </a:pPr>
            <a:r>
              <a:rPr sz="800" i="1" spc="-50" dirty="0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  <a:p>
            <a:pPr marL="325120" marR="495300" indent="-146050">
              <a:lnSpc>
                <a:spcPct val="102600"/>
              </a:lnSpc>
              <a:spcBef>
                <a:spcPts val="40"/>
              </a:spcBef>
              <a:buSzPct val="72727"/>
              <a:buFont typeface="Lucida Sans Unicode"/>
              <a:buChar char="►"/>
              <a:tabLst>
                <a:tab pos="327660" algn="l"/>
              </a:tabLst>
            </a:pPr>
            <a:r>
              <a:rPr sz="1100" dirty="0">
                <a:latin typeface="Tahoma"/>
                <a:cs typeface="Tahoma"/>
              </a:rPr>
              <a:t>RMSProp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introduces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exponentially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decaying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	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history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5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RMSProp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adaptation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Initial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parameters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δ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Decay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ρ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066" y="1802751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1403" y="1862606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066" y="1974823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2307" y="1961869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4746" y="1862606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9429" y="2209201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9429" y="2311538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7158" y="2286329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8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2723" y="2132138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53157" y="2122524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39733" y="2390849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8208" y="2213481"/>
            <a:ext cx="595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91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066" y="2226435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066" y="2526955"/>
            <a:ext cx="2995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5" dirty="0">
                <a:latin typeface="Tahoma"/>
                <a:cs typeface="Tahoma"/>
              </a:rPr>
              <a:t>Accumulate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gradients</a:t>
            </a:r>
            <a:r>
              <a:rPr sz="1100" spc="3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ρr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Arial"/>
                <a:cs typeface="Arial"/>
              </a:rPr>
              <a:t>ρ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i="1" spc="-575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4" dirty="0">
                <a:latin typeface="Cambria"/>
                <a:cs typeface="Cambria"/>
              </a:rPr>
              <a:t>⊙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600" dirty="0">
                <a:latin typeface="Arial"/>
                <a:cs typeface="Arial"/>
              </a:rPr>
              <a:t>g</a:t>
            </a:r>
            <a:r>
              <a:rPr sz="1100" spc="-6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09178" y="2531275"/>
            <a:ext cx="1423670" cy="224790"/>
            <a:chOff x="1809178" y="2531275"/>
            <a:chExt cx="1423670" cy="224790"/>
          </a:xfrm>
        </p:grpSpPr>
        <p:sp>
          <p:nvSpPr>
            <p:cNvPr id="27" name="object 27"/>
            <p:cNvSpPr/>
            <p:nvPr/>
          </p:nvSpPr>
          <p:spPr>
            <a:xfrm>
              <a:off x="1809178" y="2533802"/>
              <a:ext cx="1423670" cy="0"/>
            </a:xfrm>
            <a:custGeom>
              <a:avLst/>
              <a:gdLst/>
              <a:ahLst/>
              <a:cxnLst/>
              <a:rect l="l" t="t" r="r" b="b"/>
              <a:pathLst>
                <a:path w="1423670">
                  <a:moveTo>
                    <a:pt x="0" y="0"/>
                  </a:moveTo>
                  <a:lnTo>
                    <a:pt x="14231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11705" y="2533802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29749" y="2533802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219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09178" y="2753321"/>
              <a:ext cx="1423670" cy="0"/>
            </a:xfrm>
            <a:custGeom>
              <a:avLst/>
              <a:gdLst/>
              <a:ahLst/>
              <a:cxnLst/>
              <a:rect l="l" t="t" r="r" b="b"/>
              <a:pathLst>
                <a:path w="1423670">
                  <a:moveTo>
                    <a:pt x="0" y="0"/>
                  </a:moveTo>
                  <a:lnTo>
                    <a:pt x="14231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01079" y="2715398"/>
            <a:ext cx="1765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5: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Apply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gradient: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02015" y="2698177"/>
            <a:ext cx="56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5" dirty="0">
                <a:latin typeface="Calibri"/>
                <a:cs typeface="Calibri"/>
              </a:rPr>
              <a:t>є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000237" y="2832011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>
                <a:moveTo>
                  <a:pt x="0" y="0"/>
                </a:moveTo>
                <a:lnTo>
                  <a:pt x="27244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22563" y="2735502"/>
            <a:ext cx="115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15" dirty="0">
                <a:latin typeface="Times New Roman"/>
                <a:cs typeface="Times New Roman"/>
              </a:rPr>
              <a:t>√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24887" y="2847149"/>
            <a:ext cx="48260" cy="0"/>
          </a:xfrm>
          <a:custGeom>
            <a:avLst/>
            <a:gdLst/>
            <a:ahLst/>
            <a:cxnLst/>
            <a:rect l="l" t="t" r="r" b="b"/>
            <a:pathLst>
              <a:path w="48260">
                <a:moveTo>
                  <a:pt x="0" y="0"/>
                </a:moveTo>
                <a:lnTo>
                  <a:pt x="47790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987537" y="2809175"/>
            <a:ext cx="2870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Calibri"/>
                <a:cs typeface="Calibri"/>
              </a:rPr>
              <a:t>δ</a:t>
            </a:r>
            <a:r>
              <a:rPr sz="800" dirty="0">
                <a:latin typeface="Tahoma"/>
                <a:cs typeface="Tahoma"/>
              </a:rPr>
              <a:t>+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i="1" spc="-50" dirty="0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05939" y="2715398"/>
            <a:ext cx="242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latin typeface="Cambria"/>
                <a:cs typeface="Cambria"/>
              </a:rPr>
              <a:t>⊙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600" dirty="0">
                <a:latin typeface="Arial"/>
                <a:cs typeface="Arial"/>
              </a:rPr>
              <a:t>g</a:t>
            </a:r>
            <a:r>
              <a:rPr sz="1100" spc="-6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38544" y="3001632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15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7476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RMSProp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40" dirty="0"/>
              <a:t>Nesterov</a:t>
            </a:r>
            <a:r>
              <a:rPr spc="10" dirty="0"/>
              <a:t> </a:t>
            </a:r>
            <a:r>
              <a:rPr spc="-10" dirty="0"/>
              <a:t>Momentum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1000252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1184135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510488"/>
            <a:ext cx="4324350" cy="1012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5755" indent="-146050">
              <a:lnSpc>
                <a:spcPct val="100000"/>
              </a:lnSpc>
              <a:spcBef>
                <a:spcPts val="90"/>
              </a:spcBef>
              <a:buSzPct val="72727"/>
              <a:buFont typeface="Lucida Sans Unicode"/>
              <a:buChar char="►"/>
              <a:tabLst>
                <a:tab pos="325755" algn="l"/>
              </a:tabLst>
            </a:pPr>
            <a:r>
              <a:rPr sz="1100" spc="-20" dirty="0">
                <a:latin typeface="Tahoma"/>
                <a:cs typeface="Tahoma"/>
              </a:rPr>
              <a:t>Adaptive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combined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momentum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6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RMSProp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Nesterov </a:t>
            </a:r>
            <a:r>
              <a:rPr sz="1100" spc="-10" dirty="0">
                <a:latin typeface="Tahoma"/>
                <a:cs typeface="Tahoma"/>
              </a:rPr>
              <a:t>Momentum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50" dirty="0">
                <a:latin typeface="Tahoma"/>
                <a:cs typeface="Tahoma"/>
              </a:rPr>
              <a:t> parameters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δ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Decay</a:t>
            </a:r>
            <a:endParaRPr sz="1100">
              <a:latin typeface="Tahoma"/>
              <a:cs typeface="Tahoma"/>
            </a:endParaRPr>
          </a:p>
          <a:p>
            <a:pPr marL="28575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ρ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Momentum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15" dirty="0">
                <a:latin typeface="Arial"/>
                <a:cs typeface="Arial"/>
              </a:rPr>
              <a:t>α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79" y="1503627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1403" y="1563470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79" y="1675700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2: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2307" y="1662746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746" y="1563470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666" y="1865222"/>
            <a:ext cx="2379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36550" algn="l"/>
              </a:tabLst>
            </a:pPr>
            <a:r>
              <a:rPr sz="900" spc="-25" dirty="0">
                <a:latin typeface="Calibri"/>
                <a:cs typeface="Calibri"/>
              </a:rPr>
              <a:t>3: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dirty="0">
                <a:latin typeface="Tahoma"/>
                <a:cs typeface="Tahoma"/>
              </a:rPr>
              <a:t>Apply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interim </a:t>
            </a:r>
            <a:r>
              <a:rPr sz="1100" spc="-30" dirty="0">
                <a:latin typeface="Tahoma"/>
                <a:cs typeface="Tahoma"/>
              </a:rPr>
              <a:t>update: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spc="-540" dirty="0">
                <a:latin typeface="Arial"/>
                <a:cs typeface="Arial"/>
              </a:rPr>
              <a:t>θ</a:t>
            </a:r>
            <a:r>
              <a:rPr sz="1650" spc="-60" baseline="12626" dirty="0">
                <a:latin typeface="Tahoma"/>
                <a:cs typeface="Tahoma"/>
              </a:rPr>
              <a:t>˜</a:t>
            </a:r>
            <a:r>
              <a:rPr sz="1650" spc="-202" baseline="12626" dirty="0">
                <a:latin typeface="Tahoma"/>
                <a:cs typeface="Tahoma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αv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429" y="2078049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5819" y="215370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˜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9429" y="2180372"/>
            <a:ext cx="2806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9870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15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2723" y="2000972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3157" y="1991358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39733" y="2259684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8208" y="2082316"/>
            <a:ext cx="144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86773" y="2060637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10" dirty="0">
                <a:latin typeface="Tahoma"/>
                <a:cs typeface="Tahoma"/>
              </a:rPr>
              <a:t>~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652" y="2082316"/>
            <a:ext cx="144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066" y="2095270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066" y="2352775"/>
            <a:ext cx="295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5: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5" dirty="0">
                <a:latin typeface="Tahoma"/>
                <a:cs typeface="Tahoma"/>
              </a:rPr>
              <a:t>Accumulate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ρr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35" dirty="0">
                <a:latin typeface="Arial"/>
                <a:cs typeface="Arial"/>
              </a:rPr>
              <a:t>ρ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i="1" spc="-575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4" dirty="0">
                <a:latin typeface="Cambria"/>
                <a:cs typeface="Cambria"/>
              </a:rPr>
              <a:t>⊙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600" dirty="0">
                <a:latin typeface="Arial"/>
                <a:cs typeface="Arial"/>
              </a:rPr>
              <a:t>g</a:t>
            </a:r>
            <a:r>
              <a:rPr sz="1100" spc="-6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066" y="2596463"/>
            <a:ext cx="1928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6: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velocity: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αv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180" dirty="0">
                <a:latin typeface="Cambria"/>
                <a:cs typeface="Cambria"/>
              </a:rPr>
              <a:t>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71864" y="2502736"/>
            <a:ext cx="81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ϵ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05710" y="2710307"/>
            <a:ext cx="414020" cy="33655"/>
            <a:chOff x="2205710" y="2710307"/>
            <a:chExt cx="414020" cy="33655"/>
          </a:xfrm>
        </p:grpSpPr>
        <p:sp>
          <p:nvSpPr>
            <p:cNvPr id="28" name="object 28"/>
            <p:cNvSpPr/>
            <p:nvPr/>
          </p:nvSpPr>
          <p:spPr>
            <a:xfrm>
              <a:off x="2205710" y="2713075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19">
                  <a:moveTo>
                    <a:pt x="0" y="0"/>
                  </a:moveTo>
                  <a:lnTo>
                    <a:pt x="41395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57322" y="2740774"/>
              <a:ext cx="62865" cy="0"/>
            </a:xfrm>
            <a:custGeom>
              <a:avLst/>
              <a:gdLst/>
              <a:ahLst/>
              <a:cxnLst/>
              <a:rect l="l" t="t" r="r" b="b"/>
              <a:pathLst>
                <a:path w="62864">
                  <a:moveTo>
                    <a:pt x="0" y="0"/>
                  </a:moveTo>
                  <a:lnTo>
                    <a:pt x="623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167610" y="2693059"/>
            <a:ext cx="475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35" dirty="0">
                <a:latin typeface="Arial"/>
                <a:cs typeface="Arial"/>
              </a:rPr>
              <a:t>δ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650" spc="97" baseline="40404" dirty="0">
                <a:latin typeface="Cambria"/>
                <a:cs typeface="Cambria"/>
              </a:rPr>
              <a:t>√</a:t>
            </a:r>
            <a:r>
              <a:rPr sz="1100" i="1" spc="65" dirty="0"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147506" y="2551315"/>
            <a:ext cx="530860" cy="368300"/>
            <a:chOff x="2147506" y="2551315"/>
            <a:chExt cx="530860" cy="368300"/>
          </a:xfrm>
        </p:grpSpPr>
        <p:sp>
          <p:nvSpPr>
            <p:cNvPr id="32" name="object 32"/>
            <p:cNvSpPr/>
            <p:nvPr/>
          </p:nvSpPr>
          <p:spPr>
            <a:xfrm>
              <a:off x="2147506" y="2553843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60">
                  <a:moveTo>
                    <a:pt x="0" y="0"/>
                  </a:moveTo>
                  <a:lnTo>
                    <a:pt x="53036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50033" y="2553830"/>
              <a:ext cx="0" cy="363220"/>
            </a:xfrm>
            <a:custGeom>
              <a:avLst/>
              <a:gdLst/>
              <a:ahLst/>
              <a:cxnLst/>
              <a:rect l="l" t="t" r="r" b="b"/>
              <a:pathLst>
                <a:path h="363219">
                  <a:moveTo>
                    <a:pt x="0" y="36320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75343" y="2553830"/>
              <a:ext cx="0" cy="363220"/>
            </a:xfrm>
            <a:custGeom>
              <a:avLst/>
              <a:gdLst/>
              <a:ahLst/>
              <a:cxnLst/>
              <a:rect l="l" t="t" r="r" b="b"/>
              <a:pathLst>
                <a:path h="363219">
                  <a:moveTo>
                    <a:pt x="0" y="36320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7506" y="2917037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60">
                  <a:moveTo>
                    <a:pt x="0" y="0"/>
                  </a:moveTo>
                  <a:lnTo>
                    <a:pt x="53036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695955" y="2596463"/>
            <a:ext cx="242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4" dirty="0">
                <a:latin typeface="Cambria"/>
                <a:cs typeface="Cambria"/>
              </a:rPr>
              <a:t>⊙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600" dirty="0">
                <a:latin typeface="Arial"/>
                <a:cs typeface="Arial"/>
              </a:rPr>
              <a:t>g</a:t>
            </a:r>
            <a:r>
              <a:rPr sz="1100" spc="-6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844" y="2877196"/>
            <a:ext cx="4356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715" algn="l"/>
                <a:tab pos="4343400" algn="l"/>
              </a:tabLst>
            </a:pPr>
            <a:r>
              <a:rPr sz="900" u="sng" spc="3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7:</a:t>
            </a:r>
            <a:r>
              <a:rPr sz="9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Update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parameter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←</a:t>
            </a:r>
            <a:r>
              <a:rPr sz="1100" u="sng" spc="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i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θ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</a:t>
            </a:r>
            <a:r>
              <a:rPr sz="1100" u="sng" spc="-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16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9932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Adam</a:t>
            </a:r>
            <a:r>
              <a:rPr spc="-55" dirty="0"/>
              <a:t> </a:t>
            </a:r>
            <a:r>
              <a:rPr spc="-20" dirty="0"/>
              <a:t>(Adaptive</a:t>
            </a:r>
            <a:r>
              <a:rPr spc="-50" dirty="0"/>
              <a:t> </a:t>
            </a:r>
            <a:r>
              <a:rPr spc="-10" dirty="0"/>
              <a:t>Moment)</a:t>
            </a:r>
          </a:p>
        </p:txBody>
      </p:sp>
      <p:sp>
        <p:nvSpPr>
          <p:cNvPr id="5" name="object 5"/>
          <p:cNvSpPr/>
          <p:nvPr/>
        </p:nvSpPr>
        <p:spPr>
          <a:xfrm>
            <a:off x="138544" y="454736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544" y="666800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744" y="425231"/>
            <a:ext cx="4378325" cy="9251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90"/>
              </a:spcBef>
            </a:pPr>
            <a:r>
              <a:rPr sz="1100" b="1" spc="-25" dirty="0">
                <a:latin typeface="Arial"/>
                <a:cs typeface="Arial"/>
              </a:rPr>
              <a:t>Algorithm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7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Adam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(Suggested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ϵ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10</a:t>
            </a:r>
            <a:r>
              <a:rPr sz="1200" i="1" baseline="27777" dirty="0">
                <a:latin typeface="Times New Roman"/>
                <a:cs typeface="Times New Roman"/>
              </a:rPr>
              <a:t>−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ρ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0</a:t>
            </a:r>
            <a:r>
              <a:rPr sz="1100" i="1" spc="-40" dirty="0">
                <a:latin typeface="Arial"/>
                <a:cs typeface="Arial"/>
              </a:rPr>
              <a:t>.</a:t>
            </a:r>
            <a:r>
              <a:rPr sz="1100" spc="-40" dirty="0">
                <a:latin typeface="Tahoma"/>
                <a:cs typeface="Tahoma"/>
              </a:rPr>
              <a:t>9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ρ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12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</a:t>
            </a:r>
            <a:r>
              <a:rPr sz="1100" i="1" spc="-45" dirty="0">
                <a:latin typeface="Arial"/>
                <a:cs typeface="Arial"/>
              </a:rPr>
              <a:t>.</a:t>
            </a:r>
            <a:r>
              <a:rPr sz="1100" spc="-45" dirty="0">
                <a:latin typeface="Tahoma"/>
                <a:cs typeface="Tahoma"/>
              </a:rPr>
              <a:t>99</a:t>
            </a:r>
            <a:r>
              <a:rPr sz="1100" i="1" spc="-4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130" dirty="0">
                <a:latin typeface="Arial"/>
                <a:cs typeface="Arial"/>
              </a:rPr>
              <a:t>δ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10</a:t>
            </a:r>
            <a:r>
              <a:rPr sz="1200" i="1" spc="-15" baseline="27777" dirty="0">
                <a:latin typeface="Times New Roman"/>
                <a:cs typeface="Times New Roman"/>
              </a:rPr>
              <a:t>−</a:t>
            </a:r>
            <a:r>
              <a:rPr sz="1200" spc="-15" baseline="27777" dirty="0">
                <a:latin typeface="Tahoma"/>
                <a:cs typeface="Tahoma"/>
              </a:rPr>
              <a:t>8</a:t>
            </a:r>
            <a:r>
              <a:rPr sz="1100" spc="-1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85750" marR="97155" indent="-235585">
              <a:lnSpc>
                <a:spcPct val="102600"/>
              </a:lnSpc>
              <a:spcBef>
                <a:spcPts val="155"/>
              </a:spcBef>
            </a:pPr>
            <a:r>
              <a:rPr sz="1100" b="1" spc="-30" dirty="0">
                <a:latin typeface="Arial"/>
                <a:cs typeface="Arial"/>
              </a:rPr>
              <a:t>Require: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ϵ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</a:t>
            </a:r>
            <a:r>
              <a:rPr sz="1100" spc="-50" dirty="0">
                <a:latin typeface="Tahoma"/>
                <a:cs typeface="Tahoma"/>
              </a:rPr>
              <a:t> parameters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Small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δ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Decay </a:t>
            </a:r>
            <a:r>
              <a:rPr sz="1100" spc="-30" dirty="0">
                <a:latin typeface="Tahoma"/>
                <a:cs typeface="Tahoma"/>
              </a:rPr>
              <a:t>rates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ρ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ρ</a:t>
            </a:r>
            <a:r>
              <a:rPr sz="1200" spc="-37" baseline="-10416" dirty="0">
                <a:latin typeface="Tahoma"/>
                <a:cs typeface="Tahoma"/>
              </a:rPr>
              <a:t>2</a:t>
            </a:r>
            <a:endParaRPr sz="1200" baseline="-10416">
              <a:latin typeface="Tahoma"/>
              <a:cs typeface="Tahoma"/>
            </a:endParaRPr>
          </a:p>
          <a:p>
            <a:pPr marL="12573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Calibri"/>
                <a:cs typeface="Calibri"/>
              </a:rPr>
              <a:t>1: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Arial"/>
                <a:cs typeface="Arial"/>
              </a:rPr>
              <a:t>s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0</a:t>
            </a:r>
            <a:endParaRPr sz="1100">
              <a:latin typeface="Tahoma"/>
              <a:cs typeface="Tahoma"/>
            </a:endParaRPr>
          </a:p>
          <a:p>
            <a:pPr marL="12573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latin typeface="Calibri"/>
                <a:cs typeface="Calibri"/>
              </a:rPr>
              <a:t>2:</a:t>
            </a:r>
            <a:r>
              <a:rPr sz="900" spc="365" dirty="0">
                <a:latin typeface="Calibri"/>
                <a:cs typeface="Calibri"/>
              </a:rPr>
              <a:t> </a:t>
            </a:r>
            <a:r>
              <a:rPr sz="1100" i="1" spc="90" dirty="0">
                <a:latin typeface="Arial"/>
                <a:cs typeface="Arial"/>
              </a:rPr>
              <a:t>t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079" y="1330438"/>
            <a:ext cx="237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Calibri"/>
                <a:cs typeface="Calibri"/>
              </a:rPr>
              <a:t>3:</a:t>
            </a:r>
            <a:r>
              <a:rPr sz="900" spc="250" dirty="0">
                <a:latin typeface="Calibri"/>
                <a:cs typeface="Calibri"/>
              </a:rPr>
              <a:t> </a:t>
            </a:r>
            <a:r>
              <a:rPr sz="1100" b="1" dirty="0">
                <a:latin typeface="Arial"/>
                <a:cs typeface="Arial"/>
              </a:rPr>
              <a:t>while</a:t>
            </a:r>
            <a:r>
              <a:rPr sz="1100" b="1" spc="310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stopping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criterion</a:t>
            </a:r>
            <a:r>
              <a:rPr sz="1100" i="1" dirty="0">
                <a:latin typeface="Arial"/>
                <a:cs typeface="Arial"/>
              </a:rPr>
              <a:t> not met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1403" y="1390293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1035" algn="l"/>
              </a:tabLst>
            </a:pPr>
            <a:r>
              <a:rPr sz="1100" dirty="0">
                <a:latin typeface="Verdana"/>
                <a:cs typeface="Verdana"/>
              </a:rPr>
              <a:t>	 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79" y="1502510"/>
            <a:ext cx="2992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637030" algn="l"/>
                <a:tab pos="1857375" algn="l"/>
                <a:tab pos="2228215" algn="l"/>
                <a:tab pos="2853055" algn="l"/>
              </a:tabLst>
            </a:pPr>
            <a:r>
              <a:rPr sz="900" spc="-25" dirty="0">
                <a:latin typeface="Calibri"/>
                <a:cs typeface="Calibri"/>
              </a:rPr>
              <a:t>4: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30" dirty="0">
                <a:latin typeface="Tahoma"/>
                <a:cs typeface="Tahoma"/>
              </a:rPr>
              <a:t>Sample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mini-</a:t>
            </a:r>
            <a:r>
              <a:rPr sz="1100" spc="-10" dirty="0">
                <a:latin typeface="Tahoma"/>
                <a:cs typeface="Tahoma"/>
              </a:rPr>
              <a:t>batch: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3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2307" y="1489556"/>
            <a:ext cx="1476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6545" algn="l"/>
                <a:tab pos="974725" algn="l"/>
                <a:tab pos="1292225" algn="l"/>
              </a:tabLst>
            </a:pP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(1)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spc="-25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746" y="1390293"/>
            <a:ext cx="804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7065" algn="l"/>
              </a:tabLst>
            </a:pP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9429" y="1736888"/>
            <a:ext cx="95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39429" y="1839212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7158" y="1814016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8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2723" y="1659825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3157" y="165021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60" dirty="0">
                <a:latin typeface="Verdana"/>
                <a:cs typeface="Verdana"/>
              </a:rPr>
              <a:t>Σ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9733" y="1918537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88208" y="1741168"/>
            <a:ext cx="595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915" algn="l"/>
              </a:tabLst>
            </a:pPr>
            <a:r>
              <a:rPr sz="800" dirty="0">
                <a:latin typeface="Tahoma"/>
                <a:cs typeface="Tahoma"/>
              </a:rPr>
              <a:t>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(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05" dirty="0">
                <a:latin typeface="Arial"/>
                <a:cs typeface="Arial"/>
              </a:rPr>
              <a:t> </a:t>
            </a:r>
            <a:r>
              <a:rPr sz="800" spc="-5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066" y="1754110"/>
            <a:ext cx="3242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  <a:tab pos="1852930" algn="l"/>
                <a:tab pos="2247265" algn="l"/>
                <a:tab pos="2725420" algn="l"/>
                <a:tab pos="3175635" algn="l"/>
              </a:tabLst>
            </a:pPr>
            <a:r>
              <a:rPr sz="900" spc="-25" dirty="0">
                <a:latin typeface="Calibri"/>
                <a:cs typeface="Calibri"/>
              </a:rPr>
              <a:t>5: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10" dirty="0">
                <a:latin typeface="Tahoma"/>
                <a:cs typeface="Tahoma"/>
              </a:rPr>
              <a:t>Estimate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spc="-570" dirty="0">
                <a:latin typeface="Arial"/>
                <a:cs typeface="Arial"/>
              </a:rPr>
              <a:t>g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0" dirty="0">
                <a:latin typeface="Cambria"/>
                <a:cs typeface="Cambria"/>
              </a:rPr>
              <a:t>∇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0" dirty="0">
                <a:latin typeface="Cambria"/>
                <a:cs typeface="Cambria"/>
              </a:rPr>
              <a:t>L</a:t>
            </a:r>
            <a:r>
              <a:rPr sz="1100" spc="60" dirty="0">
                <a:latin typeface="Tahoma"/>
                <a:cs typeface="Tahoma"/>
              </a:rPr>
              <a:t>(</a:t>
            </a:r>
            <a:r>
              <a:rPr sz="1100" i="1" spc="6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spc="-30" dirty="0">
                <a:latin typeface="Arial"/>
                <a:cs typeface="Arial"/>
              </a:rPr>
              <a:t>θ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966" y="1998534"/>
            <a:ext cx="333692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sz="900" spc="-25" dirty="0">
                <a:latin typeface="Calibri"/>
                <a:cs typeface="Calibri"/>
              </a:rPr>
              <a:t>6: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i="1" spc="90" dirty="0">
                <a:latin typeface="Arial"/>
                <a:cs typeface="Arial"/>
              </a:rPr>
              <a:t>t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i="1" spc="90" dirty="0">
                <a:latin typeface="Arial"/>
                <a:cs typeface="Arial"/>
              </a:rPr>
              <a:t>t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  <a:tabLst>
                <a:tab pos="349250" algn="l"/>
              </a:tabLst>
            </a:pPr>
            <a:r>
              <a:rPr sz="900" spc="-25" dirty="0">
                <a:latin typeface="Calibri"/>
                <a:cs typeface="Calibri"/>
              </a:rPr>
              <a:t>7: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accumulator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s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i="1" spc="-40" dirty="0">
                <a:latin typeface="Arial"/>
                <a:cs typeface="Arial"/>
              </a:rPr>
              <a:t>ρ</a:t>
            </a:r>
            <a:r>
              <a:rPr sz="1200" spc="-60" baseline="-10416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Arial"/>
                <a:cs typeface="Arial"/>
              </a:rPr>
              <a:t>s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spc="55" dirty="0">
                <a:latin typeface="Arial"/>
                <a:cs typeface="Arial"/>
              </a:rPr>
              <a:t>ρ</a:t>
            </a:r>
            <a:r>
              <a:rPr sz="1200" spc="157" baseline="-10416" dirty="0">
                <a:latin typeface="Tahoma"/>
                <a:cs typeface="Tahoma"/>
              </a:rPr>
              <a:t>1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i="1" spc="-484" dirty="0">
                <a:latin typeface="Arial"/>
                <a:cs typeface="Arial"/>
              </a:rPr>
              <a:t>g</a:t>
            </a:r>
            <a:r>
              <a:rPr sz="1100" spc="55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066" y="2342691"/>
            <a:ext cx="2302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1150" algn="l"/>
              </a:tabLst>
            </a:pPr>
            <a:r>
              <a:rPr sz="900" spc="-25" dirty="0">
                <a:latin typeface="Calibri"/>
                <a:cs typeface="Calibri"/>
              </a:rPr>
              <a:t>8: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5" dirty="0">
                <a:latin typeface="Tahoma"/>
                <a:cs typeface="Tahoma"/>
              </a:rPr>
              <a:t>Correct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accumulator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550" dirty="0">
                <a:latin typeface="Arial"/>
                <a:cs typeface="Arial"/>
              </a:rPr>
              <a:t>s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44025" y="2459291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4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26410" y="2325457"/>
            <a:ext cx="152400" cy="213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6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  <a:p>
            <a:pPr marR="5080" algn="r">
              <a:lnSpc>
                <a:spcPts val="620"/>
              </a:lnSpc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05925" y="2431934"/>
            <a:ext cx="309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Tahoma"/>
                <a:cs typeface="Tahoma"/>
              </a:rPr>
              <a:t>1</a:t>
            </a:r>
            <a:r>
              <a:rPr sz="800" i="1" spc="-20" dirty="0">
                <a:latin typeface="Times New Roman"/>
                <a:cs typeface="Times New Roman"/>
              </a:rPr>
              <a:t>−</a:t>
            </a:r>
            <a:r>
              <a:rPr sz="800" i="1" spc="-20" dirty="0">
                <a:latin typeface="Calibri"/>
                <a:cs typeface="Calibri"/>
              </a:rPr>
              <a:t>ρ</a:t>
            </a:r>
            <a:r>
              <a:rPr sz="900" spc="-30" baseline="-23148" dirty="0">
                <a:latin typeface="Tahoma"/>
                <a:cs typeface="Tahoma"/>
              </a:rPr>
              <a:t>1</a:t>
            </a:r>
            <a:endParaRPr sz="900" baseline="-23148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679" y="2544342"/>
            <a:ext cx="4047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36550" algn="l"/>
              </a:tabLst>
            </a:pPr>
            <a:r>
              <a:rPr sz="900" spc="-25" dirty="0">
                <a:latin typeface="Calibri"/>
                <a:cs typeface="Calibri"/>
              </a:rPr>
              <a:t>9: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squared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accumulator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ρ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i="1" spc="-40" dirty="0">
                <a:latin typeface="Arial"/>
                <a:cs typeface="Arial"/>
              </a:rPr>
              <a:t>ρ</a:t>
            </a:r>
            <a:r>
              <a:rPr sz="1200" spc="15" baseline="-10416" dirty="0">
                <a:latin typeface="Tahoma"/>
                <a:cs typeface="Tahoma"/>
              </a:rPr>
              <a:t>2</a:t>
            </a:r>
            <a:r>
              <a:rPr sz="1100" spc="-40" dirty="0">
                <a:latin typeface="Tahoma"/>
                <a:cs typeface="Tahoma"/>
              </a:rPr>
              <a:t>)</a:t>
            </a:r>
            <a:r>
              <a:rPr sz="1100" i="1" spc="-580" dirty="0">
                <a:latin typeface="Arial"/>
                <a:cs typeface="Arial"/>
              </a:rPr>
              <a:t>g</a:t>
            </a:r>
            <a:r>
              <a:rPr sz="1100" spc="-40" dirty="0">
                <a:latin typeface="Tahoma"/>
                <a:cs typeface="Tahoma"/>
              </a:rPr>
              <a:t>ˆ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4" dirty="0">
                <a:latin typeface="Cambria"/>
                <a:cs typeface="Cambria"/>
              </a:rPr>
              <a:t>⊙</a:t>
            </a:r>
            <a:r>
              <a:rPr sz="1100" dirty="0">
                <a:latin typeface="Cambria"/>
                <a:cs typeface="Cambria"/>
              </a:rPr>
              <a:t> </a:t>
            </a:r>
            <a:r>
              <a:rPr sz="1100" i="1" spc="-600" dirty="0">
                <a:latin typeface="Arial"/>
                <a:cs typeface="Arial"/>
              </a:rPr>
              <a:t>g</a:t>
            </a:r>
            <a:r>
              <a:rPr sz="1100" spc="-6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557" y="2716414"/>
            <a:ext cx="2844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9570" algn="l"/>
              </a:tabLst>
            </a:pPr>
            <a:r>
              <a:rPr sz="900" spc="-25" dirty="0">
                <a:latin typeface="Calibri"/>
                <a:cs typeface="Calibri"/>
              </a:rPr>
              <a:t>10: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5" dirty="0">
                <a:latin typeface="Tahoma"/>
                <a:cs typeface="Tahoma"/>
              </a:rPr>
              <a:t>Correct </a:t>
            </a:r>
            <a:r>
              <a:rPr sz="1100" spc="-55" dirty="0">
                <a:latin typeface="Tahoma"/>
                <a:cs typeface="Tahoma"/>
              </a:rPr>
              <a:t>squared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gradient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accumulator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195" dirty="0">
                <a:latin typeface="Arial"/>
                <a:cs typeface="Arial"/>
              </a:rPr>
              <a:t>r</a:t>
            </a:r>
            <a:r>
              <a:rPr sz="1100" spc="-195" dirty="0">
                <a:latin typeface="Tahoma"/>
                <a:cs typeface="Tahoma"/>
              </a:rPr>
              <a:t>ˆ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spc="105" dirty="0">
                <a:latin typeface="Cambria"/>
                <a:cs typeface="Cambria"/>
              </a:rPr>
              <a:t>←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028162" y="2833027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>
                <a:moveTo>
                  <a:pt x="0" y="0"/>
                </a:moveTo>
                <a:lnTo>
                  <a:pt x="2391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11157" y="2699193"/>
            <a:ext cx="151765" cy="213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6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  <a:p>
            <a:pPr marR="5080" algn="r">
              <a:lnSpc>
                <a:spcPts val="620"/>
              </a:lnSpc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90062" y="2805670"/>
            <a:ext cx="309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Tahoma"/>
                <a:cs typeface="Tahoma"/>
              </a:rPr>
              <a:t>1</a:t>
            </a:r>
            <a:r>
              <a:rPr sz="800" i="1" spc="-20" dirty="0">
                <a:latin typeface="Times New Roman"/>
                <a:cs typeface="Times New Roman"/>
              </a:rPr>
              <a:t>−</a:t>
            </a:r>
            <a:r>
              <a:rPr sz="800" i="1" spc="-20" dirty="0">
                <a:latin typeface="Calibri"/>
                <a:cs typeface="Calibri"/>
              </a:rPr>
              <a:t>ρ</a:t>
            </a:r>
            <a:r>
              <a:rPr sz="900" spc="-30" baseline="-23148" dirty="0">
                <a:latin typeface="Tahoma"/>
                <a:cs typeface="Tahoma"/>
              </a:rPr>
              <a:t>2</a:t>
            </a:r>
            <a:endParaRPr sz="900" baseline="-23148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557" y="2939007"/>
            <a:ext cx="1428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9570" algn="l"/>
              </a:tabLst>
            </a:pPr>
            <a:r>
              <a:rPr sz="900" spc="-25" dirty="0">
                <a:latin typeface="Calibri"/>
                <a:cs typeface="Calibri"/>
              </a:rPr>
              <a:t>11:</a:t>
            </a:r>
            <a:r>
              <a:rPr sz="900" dirty="0">
                <a:latin typeface="Calibri"/>
                <a:cs typeface="Calibri"/>
              </a:rPr>
              <a:t>	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θ </a:t>
            </a:r>
            <a:r>
              <a:rPr sz="1100" spc="155" dirty="0">
                <a:latin typeface="Cambria"/>
                <a:cs typeface="Cambria"/>
              </a:rPr>
              <a:t>←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i="1" spc="-90" dirty="0">
                <a:latin typeface="Arial"/>
                <a:cs typeface="Arial"/>
              </a:rPr>
              <a:t>θ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ϵ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60588" y="2921786"/>
            <a:ext cx="21971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i="1" u="sng" spc="2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sz="800" u="sng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ˆ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85"/>
              </a:lnSpc>
            </a:pPr>
            <a:r>
              <a:rPr sz="800" i="1" spc="-40" dirty="0">
                <a:latin typeface="Calibri"/>
                <a:cs typeface="Calibri"/>
              </a:rPr>
              <a:t>δ</a:t>
            </a:r>
            <a:r>
              <a:rPr sz="800" spc="-40" dirty="0">
                <a:latin typeface="Tahoma"/>
                <a:cs typeface="Tahoma"/>
              </a:rPr>
              <a:t>+</a:t>
            </a:r>
            <a:r>
              <a:rPr sz="800" i="1" spc="-40" dirty="0">
                <a:latin typeface="Arial"/>
                <a:cs typeface="Arial"/>
              </a:rPr>
              <a:t>r</a:t>
            </a:r>
            <a:r>
              <a:rPr sz="800" spc="-40" dirty="0">
                <a:latin typeface="Tahoma"/>
                <a:cs typeface="Tahoma"/>
              </a:rPr>
              <a:t>ˆ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17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21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  <a:hlinkClick r:id="rId2" action="ppaction://hlinksldjump"/>
              </a:rPr>
              <a:t>Regularization</a:t>
            </a:r>
            <a:r>
              <a:rPr sz="600" spc="160" dirty="0">
                <a:latin typeface="Tahoma"/>
                <a:cs typeface="Tahoma"/>
              </a:rPr>
              <a:t> 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Adaptive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latin typeface="Tahoma"/>
                <a:cs typeface="Tahoma"/>
                <a:hlinkClick r:id="rId3" action="ppaction://hlinksldjump"/>
              </a:rPr>
              <a:t>Learning</a:t>
            </a:r>
            <a:r>
              <a:rPr sz="600" spc="1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latin typeface="Tahoma"/>
                <a:cs typeface="Tahoma"/>
                <a:hlinkClick r:id="rId3" action="ppaction://hlinksldjump"/>
              </a:rPr>
              <a:t>Rates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Comparing</a:t>
            </a:r>
            <a:r>
              <a:rPr spc="-60" dirty="0"/>
              <a:t> </a:t>
            </a:r>
            <a:r>
              <a:rPr spc="-30" dirty="0"/>
              <a:t>Various</a:t>
            </a:r>
            <a:r>
              <a:rPr spc="-60" dirty="0"/>
              <a:t> </a:t>
            </a:r>
            <a:r>
              <a:rPr spc="-10" dirty="0"/>
              <a:t>Optimization</a:t>
            </a:r>
            <a:r>
              <a:rPr spc="-55" dirty="0"/>
              <a:t> </a:t>
            </a:r>
            <a:r>
              <a:rPr spc="-35" dirty="0"/>
              <a:t>Approaches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135" y="612646"/>
            <a:ext cx="2861112" cy="20690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8657" y="2882740"/>
            <a:ext cx="3531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7: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Optimizing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logistic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regression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model,</a:t>
            </a:r>
            <a:r>
              <a:rPr sz="1000" spc="-30" dirty="0">
                <a:latin typeface="Tahoma"/>
                <a:cs typeface="Tahoma"/>
              </a:rPr>
              <a:t> Source: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latin typeface="Courier New"/>
                <a:cs typeface="Courier New"/>
                <a:hlinkClick r:id="rId5"/>
              </a:rPr>
              <a:t>gmo.jp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18</a:t>
            </a:r>
            <a:r>
              <a:rPr spc="10" dirty="0"/>
              <a:t> </a:t>
            </a:r>
            <a:r>
              <a:rPr spc="90" dirty="0"/>
              <a:t>/</a:t>
            </a:r>
            <a:r>
              <a:rPr spc="1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2382</Words>
  <Application>Microsoft Office PowerPoint</Application>
  <PresentationFormat>Custom</PresentationFormat>
  <Paragraphs>416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MT</vt:lpstr>
      <vt:lpstr>Calibri</vt:lpstr>
      <vt:lpstr>Cambria</vt:lpstr>
      <vt:lpstr>Courier New</vt:lpstr>
      <vt:lpstr>Lucida Sans Unicode</vt:lpstr>
      <vt:lpstr>Tahoma</vt:lpstr>
      <vt:lpstr>Times New Roman</vt:lpstr>
      <vt:lpstr>Trebuchet MS</vt:lpstr>
      <vt:lpstr>Verdana</vt:lpstr>
      <vt:lpstr>Office Theme</vt:lpstr>
      <vt:lpstr>Optimization for Training Deep Models</vt:lpstr>
      <vt:lpstr>Outline</vt:lpstr>
      <vt:lpstr>Non-convex Optimization</vt:lpstr>
      <vt:lpstr>Saddle Points</vt:lpstr>
      <vt:lpstr>Gradients</vt:lpstr>
      <vt:lpstr>Stochastic Gradient Descent and Learning Rates</vt:lpstr>
      <vt:lpstr>Outline</vt:lpstr>
      <vt:lpstr>Parameter Initializations</vt:lpstr>
      <vt:lpstr>Parameter Initializations (II)</vt:lpstr>
      <vt:lpstr>Outline</vt:lpstr>
      <vt:lpstr>Stochastic Gradient Descent (SGD)</vt:lpstr>
      <vt:lpstr>Momentum</vt:lpstr>
      <vt:lpstr>Momentum (II)</vt:lpstr>
      <vt:lpstr>Momentum (III)</vt:lpstr>
      <vt:lpstr>Nesterov Momentum</vt:lpstr>
      <vt:lpstr>Nesterov Momentum (II)</vt:lpstr>
      <vt:lpstr>Outline</vt:lpstr>
      <vt:lpstr>Adagrad</vt:lpstr>
      <vt:lpstr>RMSProp (Root-mean square propagation)</vt:lpstr>
      <vt:lpstr>RMSProp with Nesterov Momentum</vt:lpstr>
      <vt:lpstr>Adam (Adaptive Moment)</vt:lpstr>
      <vt:lpstr>Comparing Various Optimization Approaches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for Training Deep Models</dc:title>
  <dc:creator>Dr. Josif Grabocka</dc:creator>
  <cp:lastModifiedBy>KIIT0001</cp:lastModifiedBy>
  <cp:revision>9</cp:revision>
  <dcterms:created xsi:type="dcterms:W3CDTF">2025-07-12T07:03:41Z</dcterms:created>
  <dcterms:modified xsi:type="dcterms:W3CDTF">2025-07-25T14:47:29Z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2017-05-24T00:00:00Z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MiKTeX-pdfTeX 2.9.5800 (1.40.16)</vt:lpwstr>
  </property>
  <property fmtid="{D5CDD505-2E9C-101B-9397-08002B2CF9AE}" pid="6" name="Producer">
    <vt:lpwstr>pdfTeX-1.40.16</vt:lpwstr>
  </property>
</Properties>
</file>