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1" d="100"/>
          <a:sy n="121" d="100"/>
        </p:scale>
        <p:origin x="1424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147185" cy="109855"/>
          </a:xfrm>
          <a:custGeom>
            <a:avLst/>
            <a:gdLst/>
            <a:ahLst/>
            <a:cxnLst/>
            <a:rect l="l" t="t" r="r" b="b"/>
            <a:pathLst>
              <a:path w="4147185" h="109855">
                <a:moveTo>
                  <a:pt x="4147172" y="0"/>
                </a:moveTo>
                <a:lnTo>
                  <a:pt x="0" y="0"/>
                </a:lnTo>
                <a:lnTo>
                  <a:pt x="0" y="109651"/>
                </a:lnTo>
                <a:lnTo>
                  <a:pt x="4147172" y="109651"/>
                </a:lnTo>
                <a:lnTo>
                  <a:pt x="4147172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82179"/>
            <a:ext cx="3649979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6839" y="814870"/>
            <a:ext cx="4142104" cy="1762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1660" y="3242132"/>
            <a:ext cx="393319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280" y="3351784"/>
            <a:ext cx="28130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7F7F7F"/>
                </a:solidFill>
                <a:latin typeface="Arial MT"/>
                <a:cs typeface="Arial MT"/>
              </a:defRPr>
            </a:lvl1pPr>
          </a:lstStyle>
          <a:p>
            <a:pPr marL="52705">
              <a:lnSpc>
                <a:spcPts val="675"/>
              </a:lnSpc>
            </a:pPr>
            <a:fld id="{81D60167-4931-47E6-BA6A-407CBD079E47}" type="slidenum">
              <a:rPr dirty="0"/>
              <a:t>‹#›</a:t>
            </a:fld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7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analyticsvidhya.com/" TargetMode="Externa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7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18.xml"/><Relationship Id="rId7" Type="http://schemas.openxmlformats.org/officeDocument/2006/relationships/slide" Target="slide2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1.xml"/><Relationship Id="rId5" Type="http://schemas.openxmlformats.org/officeDocument/2006/relationships/slide" Target="slide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7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1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7" Type="http://schemas.openxmlformats.org/officeDocument/2006/relationships/slide" Target="slide24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1.xml"/><Relationship Id="rId4" Type="http://schemas.openxmlformats.org/officeDocument/2006/relationships/slide" Target="slide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7" Type="http://schemas.openxmlformats.org/officeDocument/2006/relationships/image" Target="../media/image10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slide" Target="slide28.xml"/><Relationship Id="rId7" Type="http://schemas.openxmlformats.org/officeDocument/2006/relationships/image" Target="../media/image14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" Target="slide28.xml"/><Relationship Id="rId7" Type="http://schemas.openxmlformats.org/officeDocument/2006/relationships/image" Target="../media/image1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5111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-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Learning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813903"/>
            <a:ext cx="2524125" cy="18065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2245" algn="l"/>
              </a:tabLst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What</a:t>
            </a:r>
            <a:r>
              <a:rPr sz="1100" spc="-4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is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a</a:t>
            </a:r>
            <a:r>
              <a:rPr sz="1100" spc="-4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3" action="ppaction://hlinksldjump"/>
              </a:rPr>
              <a:t>Neural</a:t>
            </a:r>
            <a:r>
              <a:rPr sz="1100" spc="-4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3" action="ppaction://hlinksldjump"/>
              </a:rPr>
              <a:t>Network?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dirty="0">
                <a:latin typeface="Tahoma"/>
                <a:cs typeface="Tahoma"/>
                <a:hlinkClick r:id="rId4" action="ppaction://hlinksldjump"/>
              </a:rPr>
              <a:t>An</a:t>
            </a:r>
            <a:r>
              <a:rPr sz="1100" spc="-3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45" dirty="0">
                <a:latin typeface="Tahoma"/>
                <a:cs typeface="Tahoma"/>
                <a:hlinkClick r:id="rId4" action="ppaction://hlinksldjump"/>
              </a:rPr>
              <a:t>example:</a:t>
            </a:r>
            <a:r>
              <a:rPr sz="1100" spc="75" dirty="0"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4" action="ppaction://hlinksldjump"/>
              </a:rPr>
              <a:t>XOR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spc="-25" dirty="0">
                <a:latin typeface="Tahoma"/>
                <a:cs typeface="Tahoma"/>
                <a:hlinkClick r:id="rId5" action="ppaction://hlinksldjump"/>
              </a:rPr>
              <a:t>Loss</a:t>
            </a:r>
            <a:r>
              <a:rPr sz="1100" spc="-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1100" spc="-45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5" action="ppaction://hlinksldjump"/>
              </a:rPr>
              <a:t>Output</a:t>
            </a:r>
            <a:r>
              <a:rPr sz="1100" spc="-50" dirty="0"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5" action="ppaction://hlinksldjump"/>
              </a:rPr>
              <a:t>Layer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2245" algn="l"/>
              </a:tabLst>
            </a:pPr>
            <a:r>
              <a:rPr sz="1100" dirty="0">
                <a:latin typeface="Tahoma"/>
                <a:cs typeface="Tahoma"/>
                <a:hlinkClick r:id="rId6" action="ppaction://hlinksldjump"/>
              </a:rPr>
              <a:t>Basic</a:t>
            </a:r>
            <a:r>
              <a:rPr sz="1100" spc="-55" dirty="0">
                <a:latin typeface="Tahoma"/>
                <a:cs typeface="Tahoma"/>
                <a:hlinkClick r:id="rId6" action="ppaction://hlinksldjump"/>
              </a:rPr>
              <a:t> Feedforward</a:t>
            </a:r>
            <a:r>
              <a:rPr sz="1100" spc="-35" dirty="0">
                <a:latin typeface="Tahoma"/>
                <a:cs typeface="Tahoma"/>
                <a:hlinkClick r:id="rId6" action="ppaction://hlinksldjump"/>
              </a:rPr>
              <a:t> Network</a:t>
            </a:r>
            <a:r>
              <a:rPr sz="1100" spc="-40" dirty="0"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6" action="ppaction://hlinksldjump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spc="-10" dirty="0">
                <a:latin typeface="Tahoma"/>
                <a:cs typeface="Tahoma"/>
                <a:hlinkClick r:id="rId7" action="ppaction://hlinksldjump"/>
              </a:rPr>
              <a:t>Backpropagation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813903"/>
            <a:ext cx="1772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1.</a:t>
            </a:r>
            <a:r>
              <a:rPr sz="1100" spc="5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What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is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a</a:t>
            </a:r>
            <a:r>
              <a:rPr sz="1100" spc="-4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0" dirty="0">
                <a:latin typeface="Tahoma"/>
                <a:cs typeface="Tahoma"/>
                <a:hlinkClick r:id="rId3" action="ppaction://hlinksldjump"/>
              </a:rPr>
              <a:t>Neural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Network?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217623"/>
            <a:ext cx="2524125" cy="1403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 startAt="2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An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example:</a:t>
            </a:r>
            <a:r>
              <a:rPr sz="1100" spc="7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XOR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 startAt="2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 startAt="2"/>
              <a:tabLst>
                <a:tab pos="182245" algn="l"/>
              </a:tabLst>
            </a:pP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Loss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Output</a:t>
            </a:r>
            <a:r>
              <a:rPr sz="1100" spc="-5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Layer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 startAt="2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 startAt="2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Basic</a:t>
            </a:r>
            <a:r>
              <a:rPr sz="1100" spc="-5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Feedforward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Network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 startAt="2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AutoNum type="arabicPeriod" startAt="2"/>
              <a:tabLst>
                <a:tab pos="182245" algn="l"/>
              </a:tabLst>
            </a:pP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Backpropagation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What</a:t>
            </a:r>
            <a:r>
              <a:rPr spc="-45" dirty="0"/>
              <a:t> </a:t>
            </a:r>
            <a:r>
              <a:rPr dirty="0"/>
              <a:t>is</a:t>
            </a:r>
            <a:r>
              <a:rPr spc="-4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30" dirty="0"/>
              <a:t>Deep</a:t>
            </a:r>
            <a:r>
              <a:rPr spc="-45" dirty="0"/>
              <a:t> </a:t>
            </a:r>
            <a:r>
              <a:rPr spc="-60" dirty="0"/>
              <a:t>Feedforward</a:t>
            </a:r>
            <a:r>
              <a:rPr spc="-45" dirty="0"/>
              <a:t> </a:t>
            </a:r>
            <a:r>
              <a:rPr spc="-40" dirty="0"/>
              <a:t>Network </a:t>
            </a:r>
            <a:r>
              <a:rPr spc="-10" dirty="0"/>
              <a:t>(DFN)?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40650" rIns="0" bIns="0" rtlCol="0">
            <a:spAutoFit/>
          </a:bodyPr>
          <a:lstStyle/>
          <a:p>
            <a:pPr marL="198120" indent="-147320">
              <a:lnSpc>
                <a:spcPct val="100000"/>
              </a:lnSpc>
              <a:spcBef>
                <a:spcPts val="90"/>
              </a:spcBef>
              <a:buSzPct val="72727"/>
              <a:buFont typeface="Tahoma"/>
              <a:buChar char="►"/>
              <a:tabLst>
                <a:tab pos="198120" algn="l"/>
              </a:tabLst>
            </a:pPr>
            <a:r>
              <a:rPr sz="1100" b="1" spc="-50" dirty="0">
                <a:latin typeface="Trebuchet MS"/>
                <a:cs typeface="Trebuchet MS"/>
              </a:rPr>
              <a:t>Feedforward</a:t>
            </a:r>
            <a:r>
              <a:rPr sz="1100" b="1" spc="-10" dirty="0">
                <a:latin typeface="Trebuchet MS"/>
                <a:cs typeface="Trebuchet MS"/>
              </a:rPr>
              <a:t> networks</a:t>
            </a:r>
            <a:endParaRPr sz="1100">
              <a:latin typeface="Trebuchet MS"/>
              <a:cs typeface="Trebuchet MS"/>
            </a:endParaRPr>
          </a:p>
          <a:p>
            <a:pPr marL="198755">
              <a:lnSpc>
                <a:spcPct val="100000"/>
              </a:lnSpc>
              <a:spcBef>
                <a:spcPts val="35"/>
              </a:spcBef>
            </a:pPr>
            <a:r>
              <a:rPr spc="-20" dirty="0"/>
              <a:t>(aka</a:t>
            </a:r>
            <a:r>
              <a:rPr spc="-55" dirty="0"/>
              <a:t> </a:t>
            </a:r>
            <a:r>
              <a:rPr b="1" spc="-55" dirty="0">
                <a:latin typeface="Trebuchet MS"/>
                <a:cs typeface="Trebuchet MS"/>
              </a:rPr>
              <a:t>feedforward</a:t>
            </a:r>
            <a:r>
              <a:rPr b="1" spc="-15" dirty="0">
                <a:latin typeface="Trebuchet MS"/>
                <a:cs typeface="Trebuchet MS"/>
              </a:rPr>
              <a:t> </a:t>
            </a:r>
            <a:r>
              <a:rPr b="1" spc="-35" dirty="0">
                <a:latin typeface="Trebuchet MS"/>
                <a:cs typeface="Trebuchet MS"/>
              </a:rPr>
              <a:t>neural</a:t>
            </a:r>
            <a:r>
              <a:rPr b="1" spc="-10" dirty="0">
                <a:latin typeface="Trebuchet MS"/>
                <a:cs typeface="Trebuchet MS"/>
              </a:rPr>
              <a:t> </a:t>
            </a:r>
            <a:r>
              <a:rPr b="1" spc="-45" dirty="0">
                <a:latin typeface="Trebuchet MS"/>
                <a:cs typeface="Trebuchet MS"/>
              </a:rPr>
              <a:t>networks</a:t>
            </a:r>
            <a:r>
              <a:rPr b="1" spc="-40" dirty="0">
                <a:latin typeface="Trebuchet MS"/>
                <a:cs typeface="Trebuchet MS"/>
              </a:rPr>
              <a:t> </a:t>
            </a:r>
            <a:r>
              <a:rPr spc="-10" dirty="0"/>
              <a:t>or</a:t>
            </a:r>
            <a:r>
              <a:rPr spc="-40" dirty="0"/>
              <a:t> </a:t>
            </a:r>
            <a:r>
              <a:rPr b="1" spc="-40" dirty="0">
                <a:latin typeface="Trebuchet MS"/>
                <a:cs typeface="Trebuchet MS"/>
              </a:rPr>
              <a:t>multilayer</a:t>
            </a:r>
            <a:r>
              <a:rPr b="1" spc="-10" dirty="0">
                <a:latin typeface="Trebuchet MS"/>
                <a:cs typeface="Trebuchet MS"/>
              </a:rPr>
              <a:t> perceptrons</a:t>
            </a:r>
            <a:r>
              <a:rPr spc="-10" dirty="0"/>
              <a:t>)</a:t>
            </a:r>
          </a:p>
          <a:p>
            <a:pPr marL="1981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198120" algn="l"/>
              </a:tabLst>
            </a:pPr>
            <a:r>
              <a:rPr sz="1100" spc="-25" dirty="0"/>
              <a:t>Given</a:t>
            </a:r>
            <a:r>
              <a:rPr sz="1100" spc="-20" dirty="0"/>
              <a:t> </a:t>
            </a:r>
            <a:r>
              <a:rPr sz="1100" dirty="0"/>
              <a:t>a</a:t>
            </a:r>
            <a:r>
              <a:rPr sz="1100" spc="-15" dirty="0"/>
              <a:t> </a:t>
            </a:r>
            <a:r>
              <a:rPr sz="1100" spc="-25" dirty="0"/>
              <a:t>function</a:t>
            </a:r>
            <a:r>
              <a:rPr sz="1100" spc="-20" dirty="0"/>
              <a:t> </a:t>
            </a:r>
            <a:r>
              <a:rPr sz="1100" b="1" dirty="0">
                <a:latin typeface="Trebuchet MS"/>
                <a:cs typeface="Trebuchet MS"/>
              </a:rPr>
              <a:t>y</a:t>
            </a:r>
            <a:r>
              <a:rPr sz="1100" b="1" spc="-45" dirty="0">
                <a:latin typeface="Trebuchet MS"/>
                <a:cs typeface="Trebuchet MS"/>
              </a:rPr>
              <a:t> </a:t>
            </a:r>
            <a:r>
              <a:rPr sz="1100" dirty="0"/>
              <a:t>=</a:t>
            </a:r>
            <a:r>
              <a:rPr sz="1100" spc="-70" dirty="0"/>
              <a:t> </a:t>
            </a:r>
            <a:r>
              <a:rPr sz="1100" b="1" dirty="0">
                <a:latin typeface="Trebuchet MS"/>
                <a:cs typeface="Trebuchet MS"/>
              </a:rPr>
              <a:t>f</a:t>
            </a:r>
            <a:r>
              <a:rPr sz="1200" baseline="27777" dirty="0">
                <a:latin typeface="Cambria"/>
                <a:cs typeface="Cambria"/>
              </a:rPr>
              <a:t>∗</a:t>
            </a:r>
            <a:r>
              <a:rPr sz="1100" dirty="0"/>
              <a:t>(</a:t>
            </a:r>
            <a:r>
              <a:rPr sz="1100" b="1" dirty="0">
                <a:latin typeface="Trebuchet MS"/>
                <a:cs typeface="Trebuchet MS"/>
              </a:rPr>
              <a:t>x</a:t>
            </a:r>
            <a:r>
              <a:rPr sz="1100" dirty="0"/>
              <a:t>)</a:t>
            </a:r>
            <a:r>
              <a:rPr sz="1100" spc="-15" dirty="0"/>
              <a:t> </a:t>
            </a:r>
            <a:r>
              <a:rPr sz="1100" dirty="0"/>
              <a:t>that</a:t>
            </a:r>
            <a:r>
              <a:rPr sz="1100" spc="-15" dirty="0"/>
              <a:t> </a:t>
            </a:r>
            <a:r>
              <a:rPr sz="1100" spc="-50" dirty="0"/>
              <a:t>maps</a:t>
            </a:r>
            <a:r>
              <a:rPr sz="1100" spc="-25" dirty="0"/>
              <a:t> </a:t>
            </a:r>
            <a:r>
              <a:rPr sz="1100" spc="-10" dirty="0"/>
              <a:t>input</a:t>
            </a:r>
            <a:r>
              <a:rPr sz="1100" spc="-15" dirty="0"/>
              <a:t> </a:t>
            </a:r>
            <a:r>
              <a:rPr sz="1100" b="1" dirty="0">
                <a:latin typeface="Trebuchet MS"/>
                <a:cs typeface="Trebuchet MS"/>
              </a:rPr>
              <a:t>x</a:t>
            </a:r>
            <a:r>
              <a:rPr sz="1100" b="1" spc="-5" dirty="0">
                <a:latin typeface="Trebuchet MS"/>
                <a:cs typeface="Trebuchet MS"/>
              </a:rPr>
              <a:t> </a:t>
            </a:r>
            <a:r>
              <a:rPr sz="1100" dirty="0"/>
              <a:t>to</a:t>
            </a:r>
            <a:r>
              <a:rPr sz="1100" spc="-20" dirty="0"/>
              <a:t> output</a:t>
            </a:r>
            <a:r>
              <a:rPr sz="1100" spc="-15" dirty="0"/>
              <a:t> </a:t>
            </a:r>
            <a:r>
              <a:rPr sz="1100" b="1" spc="-50" dirty="0">
                <a:latin typeface="Trebuchet MS"/>
                <a:cs typeface="Trebuchet MS"/>
              </a:rPr>
              <a:t>y</a:t>
            </a:r>
            <a:endParaRPr sz="1100">
              <a:latin typeface="Trebuchet MS"/>
              <a:cs typeface="Trebuchet MS"/>
            </a:endParaRPr>
          </a:p>
          <a:p>
            <a:pPr marL="1981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198120" algn="l"/>
              </a:tabLst>
            </a:pPr>
            <a:r>
              <a:rPr sz="1100" spc="55" dirty="0"/>
              <a:t>A</a:t>
            </a:r>
            <a:r>
              <a:rPr sz="1100" spc="5" dirty="0"/>
              <a:t> </a:t>
            </a:r>
            <a:r>
              <a:rPr sz="1100" dirty="0"/>
              <a:t>DFN</a:t>
            </a:r>
            <a:r>
              <a:rPr sz="1100" spc="15" dirty="0"/>
              <a:t> </a:t>
            </a:r>
            <a:r>
              <a:rPr sz="1100" spc="-55" dirty="0"/>
              <a:t>defines</a:t>
            </a:r>
            <a:r>
              <a:rPr sz="1100" spc="10" dirty="0"/>
              <a:t> </a:t>
            </a:r>
            <a:r>
              <a:rPr sz="1100" dirty="0"/>
              <a:t>a</a:t>
            </a:r>
            <a:r>
              <a:rPr sz="1100" spc="15" dirty="0"/>
              <a:t> </a:t>
            </a:r>
            <a:r>
              <a:rPr sz="1100" spc="-40" dirty="0"/>
              <a:t>parametric</a:t>
            </a:r>
            <a:r>
              <a:rPr sz="1100" spc="15" dirty="0"/>
              <a:t> </a:t>
            </a:r>
            <a:r>
              <a:rPr sz="1100" spc="-50" dirty="0"/>
              <a:t>mapping</a:t>
            </a:r>
            <a:r>
              <a:rPr sz="1100" dirty="0"/>
              <a:t> </a:t>
            </a:r>
            <a:r>
              <a:rPr sz="1100" b="1" spc="-675" dirty="0">
                <a:latin typeface="Trebuchet MS"/>
                <a:cs typeface="Trebuchet MS"/>
              </a:rPr>
              <a:t>ˆ</a:t>
            </a:r>
            <a:r>
              <a:rPr sz="1100" b="1" spc="-35" dirty="0">
                <a:latin typeface="Trebuchet MS"/>
                <a:cs typeface="Trebuchet MS"/>
              </a:rPr>
              <a:t>y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dirty="0"/>
              <a:t>=</a:t>
            </a:r>
            <a:r>
              <a:rPr sz="1100" spc="-45" dirty="0"/>
              <a:t> </a:t>
            </a:r>
            <a:r>
              <a:rPr sz="1100" b="1" spc="-40" dirty="0">
                <a:latin typeface="Trebuchet MS"/>
                <a:cs typeface="Trebuchet MS"/>
              </a:rPr>
              <a:t>f</a:t>
            </a:r>
            <a:r>
              <a:rPr sz="1100" spc="-40" dirty="0"/>
              <a:t>(</a:t>
            </a:r>
            <a:r>
              <a:rPr sz="1100" b="1" spc="-40" dirty="0">
                <a:latin typeface="Trebuchet MS"/>
                <a:cs typeface="Trebuchet MS"/>
              </a:rPr>
              <a:t>x</a:t>
            </a:r>
            <a:r>
              <a:rPr sz="1100" spc="-40" dirty="0"/>
              <a:t>;</a:t>
            </a:r>
            <a:r>
              <a:rPr sz="1100" spc="-165" dirty="0"/>
              <a:t> 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/>
              <a:t>)</a:t>
            </a:r>
            <a:r>
              <a:rPr sz="1100" spc="15" dirty="0"/>
              <a:t> </a:t>
            </a:r>
            <a:r>
              <a:rPr sz="1100" dirty="0"/>
              <a:t>with</a:t>
            </a:r>
            <a:r>
              <a:rPr sz="1100" spc="10" dirty="0"/>
              <a:t> </a:t>
            </a:r>
            <a:r>
              <a:rPr sz="1100" spc="-50" dirty="0"/>
              <a:t>parameters</a:t>
            </a:r>
            <a:r>
              <a:rPr sz="1100" spc="15" dirty="0"/>
              <a:t> </a:t>
            </a:r>
            <a:r>
              <a:rPr sz="1100" i="1" spc="-50" dirty="0">
                <a:latin typeface="Georgia"/>
                <a:cs typeface="Georgia"/>
              </a:rPr>
              <a:t>θ</a:t>
            </a:r>
            <a:endParaRPr sz="1100">
              <a:latin typeface="Georgia"/>
              <a:cs typeface="Georgia"/>
            </a:endParaRPr>
          </a:p>
          <a:p>
            <a:pPr marL="1981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198120" algn="l"/>
              </a:tabLst>
            </a:pPr>
            <a:r>
              <a:rPr sz="1100" dirty="0"/>
              <a:t>Aim</a:t>
            </a:r>
            <a:r>
              <a:rPr sz="1100" spc="-60" dirty="0"/>
              <a:t> </a:t>
            </a:r>
            <a:r>
              <a:rPr sz="1100" dirty="0"/>
              <a:t>is</a:t>
            </a:r>
            <a:r>
              <a:rPr sz="1100" spc="-30" dirty="0"/>
              <a:t> </a:t>
            </a:r>
            <a:r>
              <a:rPr sz="1100" dirty="0"/>
              <a:t>to</a:t>
            </a:r>
            <a:r>
              <a:rPr sz="1100" spc="-35" dirty="0"/>
              <a:t> </a:t>
            </a:r>
            <a:r>
              <a:rPr sz="1100" spc="-45" dirty="0"/>
              <a:t>learn</a:t>
            </a:r>
            <a:r>
              <a:rPr sz="1100" spc="-30" dirty="0"/>
              <a:t> 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i="1" spc="70" dirty="0">
                <a:latin typeface="Georgia"/>
                <a:cs typeface="Georgia"/>
              </a:rPr>
              <a:t> </a:t>
            </a:r>
            <a:r>
              <a:rPr sz="1100" spc="-40" dirty="0"/>
              <a:t>such</a:t>
            </a:r>
            <a:r>
              <a:rPr sz="1100" spc="-30" dirty="0"/>
              <a:t> </a:t>
            </a:r>
            <a:r>
              <a:rPr sz="1100" spc="-20" dirty="0"/>
              <a:t>as</a:t>
            </a:r>
            <a:r>
              <a:rPr sz="1100" spc="-30" dirty="0"/>
              <a:t> </a:t>
            </a:r>
            <a:r>
              <a:rPr sz="1100" b="1" spc="-40" dirty="0">
                <a:latin typeface="Trebuchet MS"/>
                <a:cs typeface="Trebuchet MS"/>
              </a:rPr>
              <a:t>f</a:t>
            </a:r>
            <a:r>
              <a:rPr sz="1100" spc="-40" dirty="0"/>
              <a:t>(</a:t>
            </a:r>
            <a:r>
              <a:rPr sz="1100" b="1" spc="-40" dirty="0">
                <a:latin typeface="Trebuchet MS"/>
                <a:cs typeface="Trebuchet MS"/>
              </a:rPr>
              <a:t>x</a:t>
            </a:r>
            <a:r>
              <a:rPr sz="1100" spc="-40" dirty="0"/>
              <a:t>;</a:t>
            </a:r>
            <a:r>
              <a:rPr sz="1100" spc="-165" dirty="0"/>
              <a:t> 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/>
              <a:t>)</a:t>
            </a:r>
            <a:r>
              <a:rPr sz="1100" spc="-30" dirty="0"/>
              <a:t> </a:t>
            </a:r>
            <a:r>
              <a:rPr sz="1100" i="1" spc="-20" dirty="0">
                <a:latin typeface="Arial"/>
                <a:cs typeface="Arial"/>
              </a:rPr>
              <a:t>best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50" dirty="0"/>
              <a:t>approximates</a:t>
            </a:r>
            <a:r>
              <a:rPr sz="1100" spc="-30" dirty="0"/>
              <a:t> </a:t>
            </a:r>
            <a:r>
              <a:rPr sz="1100" b="1" spc="-10" dirty="0">
                <a:latin typeface="Trebuchet MS"/>
                <a:cs typeface="Trebuchet MS"/>
              </a:rPr>
              <a:t>f</a:t>
            </a:r>
            <a:r>
              <a:rPr sz="1200" spc="-15" baseline="27777" dirty="0">
                <a:latin typeface="Cambria"/>
                <a:cs typeface="Cambria"/>
              </a:rPr>
              <a:t>∗</a:t>
            </a:r>
            <a:r>
              <a:rPr sz="1100" spc="-10" dirty="0"/>
              <a:t>(</a:t>
            </a:r>
            <a:r>
              <a:rPr sz="1100" b="1" spc="-10" dirty="0">
                <a:latin typeface="Trebuchet MS"/>
                <a:cs typeface="Trebuchet MS"/>
              </a:rPr>
              <a:t>x</a:t>
            </a:r>
            <a:r>
              <a:rPr sz="1100" spc="-10" dirty="0"/>
              <a:t>)!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i="1" spc="-85" dirty="0">
                <a:latin typeface="Arial"/>
                <a:cs typeface="Arial"/>
              </a:rPr>
              <a:t>Feedforward</a:t>
            </a:r>
            <a:r>
              <a:rPr i="1" spc="-250" dirty="0">
                <a:latin typeface="Arial"/>
                <a:cs typeface="Arial"/>
              </a:rPr>
              <a:t> </a:t>
            </a:r>
            <a:r>
              <a:rPr spc="-50" dirty="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78739" y="448641"/>
            <a:ext cx="4236720" cy="268033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35585" indent="-147320">
              <a:lnSpc>
                <a:spcPct val="100000"/>
              </a:lnSpc>
              <a:spcBef>
                <a:spcPts val="265"/>
              </a:spcBef>
              <a:buSzPct val="72727"/>
              <a:buChar char="►"/>
              <a:tabLst>
                <a:tab pos="235585" algn="l"/>
              </a:tabLst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55" dirty="0">
                <a:latin typeface="Tahoma"/>
                <a:cs typeface="Tahoma"/>
              </a:rPr>
              <a:t>Feedforward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Network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675" dirty="0">
                <a:latin typeface="Trebuchet MS"/>
                <a:cs typeface="Trebuchet MS"/>
              </a:rPr>
              <a:t>ˆ</a:t>
            </a:r>
            <a:r>
              <a:rPr sz="1100" b="1" spc="-35" dirty="0">
                <a:latin typeface="Trebuchet MS"/>
                <a:cs typeface="Trebuchet MS"/>
              </a:rPr>
              <a:t>y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f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b="1" spc="-40" dirty="0">
                <a:latin typeface="Trebuchet MS"/>
                <a:cs typeface="Trebuchet MS"/>
              </a:rPr>
              <a:t>x</a:t>
            </a:r>
            <a:r>
              <a:rPr sz="1100" spc="-40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θ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 dirty="0">
              <a:latin typeface="Tahoma"/>
              <a:cs typeface="Tahoma"/>
            </a:endParaRPr>
          </a:p>
          <a:p>
            <a:pPr marL="376555">
              <a:lnSpc>
                <a:spcPct val="100000"/>
              </a:lnSpc>
              <a:spcBef>
                <a:spcPts val="15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7" baseline="13888" dirty="0">
                <a:latin typeface="Arial MT"/>
                <a:cs typeface="Arial MT"/>
              </a:rPr>
              <a:t> </a:t>
            </a:r>
            <a:r>
              <a:rPr sz="1000" spc="-30" dirty="0">
                <a:latin typeface="Tahoma"/>
                <a:cs typeface="Tahoma"/>
              </a:rPr>
              <a:t>Input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b="1" dirty="0">
                <a:latin typeface="Trebuchet MS"/>
                <a:cs typeface="Trebuchet MS"/>
              </a:rPr>
              <a:t>x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pass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through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chain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steps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before</a:t>
            </a:r>
            <a:r>
              <a:rPr sz="1000" spc="-20" dirty="0">
                <a:latin typeface="Tahoma"/>
                <a:cs typeface="Tahoma"/>
              </a:rPr>
              <a:t> outputting </a:t>
            </a:r>
            <a:r>
              <a:rPr sz="1000" b="1" spc="-50" dirty="0">
                <a:latin typeface="Trebuchet MS"/>
                <a:cs typeface="Trebuchet MS"/>
              </a:rPr>
              <a:t>y</a:t>
            </a:r>
            <a:endParaRPr sz="1000" dirty="0">
              <a:latin typeface="Trebuchet MS"/>
              <a:cs typeface="Trebuchet MS"/>
            </a:endParaRPr>
          </a:p>
          <a:p>
            <a:pPr marL="236220" indent="-147320">
              <a:lnSpc>
                <a:spcPct val="100000"/>
              </a:lnSpc>
              <a:spcBef>
                <a:spcPts val="865"/>
              </a:spcBef>
              <a:buSzPct val="72727"/>
              <a:buChar char="►"/>
              <a:tabLst>
                <a:tab pos="236220" algn="l"/>
              </a:tabLst>
            </a:pPr>
            <a:r>
              <a:rPr sz="1100" spc="-35" dirty="0">
                <a:latin typeface="Tahoma"/>
                <a:cs typeface="Tahoma"/>
              </a:rPr>
              <a:t>Example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spc="-30" baseline="27777" dirty="0">
                <a:latin typeface="Arial MT"/>
                <a:cs typeface="Arial MT"/>
              </a:rPr>
              <a:t>1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),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spc="-30" baseline="27777" dirty="0">
                <a:latin typeface="Arial MT"/>
                <a:cs typeface="Arial MT"/>
              </a:rPr>
              <a:t>2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spc="-30" baseline="27777" dirty="0">
                <a:latin typeface="Arial MT"/>
                <a:cs typeface="Arial MT"/>
              </a:rPr>
              <a:t>3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chained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as:</a:t>
            </a:r>
            <a:endParaRPr sz="1100" dirty="0">
              <a:latin typeface="Tahoma"/>
              <a:cs typeface="Tahoma"/>
            </a:endParaRPr>
          </a:p>
          <a:p>
            <a:pPr marL="376555">
              <a:lnSpc>
                <a:spcPct val="100000"/>
              </a:lnSpc>
              <a:spcBef>
                <a:spcPts val="62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637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40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45" dirty="0">
                <a:latin typeface="Arial"/>
                <a:cs typeface="Arial"/>
              </a:rPr>
              <a:t> </a:t>
            </a:r>
            <a:r>
              <a:rPr sz="1050" baseline="27777" dirty="0">
                <a:latin typeface="Arial MT"/>
                <a:cs typeface="Arial MT"/>
              </a:rPr>
              <a:t>3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40" dirty="0">
                <a:latin typeface="Arial"/>
                <a:cs typeface="Arial"/>
              </a:rPr>
              <a:t> </a:t>
            </a:r>
            <a:r>
              <a:rPr sz="1050" baseline="27777" dirty="0">
                <a:latin typeface="Arial MT"/>
                <a:cs typeface="Arial MT"/>
              </a:rPr>
              <a:t>2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45" dirty="0">
                <a:latin typeface="Arial"/>
                <a:cs typeface="Arial"/>
              </a:rPr>
              <a:t> </a:t>
            </a:r>
            <a:r>
              <a:rPr sz="1050" spc="-15" baseline="27777" dirty="0">
                <a:latin typeface="Arial MT"/>
                <a:cs typeface="Arial MT"/>
              </a:rPr>
              <a:t>1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x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)))</a:t>
            </a:r>
            <a:endParaRPr sz="1000" dirty="0">
              <a:latin typeface="Tahoma"/>
              <a:cs typeface="Tahoma"/>
            </a:endParaRPr>
          </a:p>
          <a:p>
            <a:pPr marL="653415">
              <a:lnSpc>
                <a:spcPct val="100000"/>
              </a:lnSpc>
              <a:spcBef>
                <a:spcPts val="74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7" baseline="13888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8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zero-</a:t>
            </a:r>
            <a:r>
              <a:rPr sz="900" dirty="0">
                <a:latin typeface="Tahoma"/>
                <a:cs typeface="Tahoma"/>
              </a:rPr>
              <a:t>th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layer,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input</a:t>
            </a:r>
            <a:r>
              <a:rPr sz="900" b="1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ahoma"/>
                <a:cs typeface="Tahoma"/>
              </a:rPr>
              <a:t>layer</a:t>
            </a:r>
            <a:endParaRPr sz="900" dirty="0">
              <a:latin typeface="Tahoma"/>
              <a:cs typeface="Tahoma"/>
            </a:endParaRPr>
          </a:p>
          <a:p>
            <a:pPr marL="653415">
              <a:lnSpc>
                <a:spcPct val="100000"/>
              </a:lnSpc>
              <a:spcBef>
                <a:spcPts val="259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27" baseline="13888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baseline="37037" dirty="0">
                <a:latin typeface="Arial MT"/>
                <a:cs typeface="Arial MT"/>
              </a:rPr>
              <a:t>1</a:t>
            </a:r>
            <a:r>
              <a:rPr sz="900" spc="209" baseline="37037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first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layer,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first</a:t>
            </a:r>
            <a:r>
              <a:rPr sz="900" b="1" spc="15" dirty="0">
                <a:latin typeface="Trebuchet MS"/>
                <a:cs typeface="Trebuchet MS"/>
              </a:rPr>
              <a:t> </a:t>
            </a:r>
            <a:r>
              <a:rPr sz="900" b="1" spc="-25" dirty="0">
                <a:latin typeface="Trebuchet MS"/>
                <a:cs typeface="Trebuchet MS"/>
              </a:rPr>
              <a:t>hidden</a:t>
            </a:r>
            <a:r>
              <a:rPr sz="900" b="1" spc="-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ahoma"/>
                <a:cs typeface="Tahoma"/>
              </a:rPr>
              <a:t>layer</a:t>
            </a:r>
            <a:endParaRPr sz="900" dirty="0">
              <a:latin typeface="Tahoma"/>
              <a:cs typeface="Tahoma"/>
            </a:endParaRPr>
          </a:p>
          <a:p>
            <a:pPr marL="653415">
              <a:lnSpc>
                <a:spcPct val="100000"/>
              </a:lnSpc>
              <a:spcBef>
                <a:spcPts val="254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42" baseline="13888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baseline="37037" dirty="0">
                <a:latin typeface="Arial MT"/>
                <a:cs typeface="Arial MT"/>
              </a:rPr>
              <a:t>2</a:t>
            </a:r>
            <a:r>
              <a:rPr sz="900" spc="217" baseline="37037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second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layer,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b="1" spc="-20" dirty="0">
                <a:latin typeface="Trebuchet MS"/>
                <a:cs typeface="Trebuchet MS"/>
              </a:rPr>
              <a:t>second</a:t>
            </a:r>
            <a:r>
              <a:rPr sz="900" b="1" spc="15" dirty="0">
                <a:latin typeface="Trebuchet MS"/>
                <a:cs typeface="Trebuchet MS"/>
              </a:rPr>
              <a:t> </a:t>
            </a:r>
            <a:r>
              <a:rPr sz="900" b="1" spc="-25" dirty="0">
                <a:latin typeface="Trebuchet MS"/>
                <a:cs typeface="Trebuchet MS"/>
              </a:rPr>
              <a:t>hidden</a:t>
            </a:r>
            <a:r>
              <a:rPr sz="900" b="1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ahoma"/>
                <a:cs typeface="Tahoma"/>
              </a:rPr>
              <a:t>layer</a:t>
            </a:r>
            <a:endParaRPr sz="900" dirty="0">
              <a:latin typeface="Tahoma"/>
              <a:cs typeface="Tahoma"/>
            </a:endParaRPr>
          </a:p>
          <a:p>
            <a:pPr marL="653415">
              <a:lnSpc>
                <a:spcPct val="100000"/>
              </a:lnSpc>
              <a:spcBef>
                <a:spcPts val="26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42" baseline="13888" dirty="0">
                <a:latin typeface="Arial MT"/>
                <a:cs typeface="Arial MT"/>
              </a:rPr>
              <a:t> </a:t>
            </a:r>
            <a:r>
              <a:rPr sz="900" i="1" dirty="0">
                <a:latin typeface="Arial"/>
                <a:cs typeface="Arial"/>
              </a:rPr>
              <a:t>f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baseline="37037" dirty="0">
                <a:latin typeface="Arial MT"/>
                <a:cs typeface="Arial MT"/>
              </a:rPr>
              <a:t>3</a:t>
            </a:r>
            <a:r>
              <a:rPr sz="900" spc="209" baseline="37037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is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last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layer,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or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b="1" spc="-10" dirty="0">
                <a:latin typeface="Trebuchet MS"/>
                <a:cs typeface="Trebuchet MS"/>
              </a:rPr>
              <a:t>output</a:t>
            </a:r>
            <a:r>
              <a:rPr sz="900" b="1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ahoma"/>
                <a:cs typeface="Tahoma"/>
              </a:rPr>
              <a:t>layer</a:t>
            </a:r>
            <a:endParaRPr sz="900" dirty="0">
              <a:latin typeface="Tahoma"/>
              <a:cs typeface="Tahoma"/>
            </a:endParaRPr>
          </a:p>
          <a:p>
            <a:pPr marL="236220" indent="-147320">
              <a:lnSpc>
                <a:spcPct val="100000"/>
              </a:lnSpc>
              <a:spcBef>
                <a:spcPts val="885"/>
              </a:spcBef>
              <a:buSzPct val="72727"/>
              <a:buChar char="►"/>
              <a:tabLst>
                <a:tab pos="236220" algn="l"/>
              </a:tabLst>
            </a:pPr>
            <a:r>
              <a:rPr sz="1100" dirty="0">
                <a:latin typeface="Tahoma"/>
                <a:cs typeface="Tahoma"/>
              </a:rPr>
              <a:t>No</a:t>
            </a:r>
            <a:r>
              <a:rPr sz="1100" spc="-50" dirty="0">
                <a:latin typeface="Tahoma"/>
                <a:cs typeface="Tahoma"/>
              </a:rPr>
              <a:t> feedback</a:t>
            </a:r>
            <a:r>
              <a:rPr sz="1100" spc="-30" dirty="0">
                <a:latin typeface="Tahoma"/>
                <a:cs typeface="Tahoma"/>
              </a:rPr>
              <a:t> exists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steps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chain</a:t>
            </a:r>
            <a:endParaRPr sz="1100" dirty="0">
              <a:latin typeface="Tahoma"/>
              <a:cs typeface="Tahoma"/>
            </a:endParaRPr>
          </a:p>
          <a:p>
            <a:pPr marL="376555">
              <a:lnSpc>
                <a:spcPct val="100000"/>
              </a:lnSpc>
              <a:spcBef>
                <a:spcPts val="15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0" baseline="13888" dirty="0">
                <a:latin typeface="Arial MT"/>
                <a:cs typeface="Arial MT"/>
              </a:rPr>
              <a:t> </a:t>
            </a:r>
            <a:r>
              <a:rPr sz="1000" spc="-35" dirty="0">
                <a:latin typeface="Tahoma"/>
                <a:cs typeface="Tahoma"/>
              </a:rPr>
              <a:t>Feedback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connections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yield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Recurrent</a:t>
            </a:r>
            <a:r>
              <a:rPr sz="1000" b="1" spc="15" dirty="0">
                <a:latin typeface="Trebuchet MS"/>
                <a:cs typeface="Trebuchet MS"/>
              </a:rPr>
              <a:t> </a:t>
            </a:r>
            <a:r>
              <a:rPr sz="1000" b="1" dirty="0">
                <a:latin typeface="Trebuchet MS"/>
                <a:cs typeface="Trebuchet MS"/>
              </a:rPr>
              <a:t>Neural</a:t>
            </a:r>
            <a:r>
              <a:rPr sz="1000" b="1" spc="20" dirty="0">
                <a:latin typeface="Trebuchet MS"/>
                <a:cs typeface="Trebuchet MS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Network</a:t>
            </a:r>
            <a:endParaRPr sz="1000" dirty="0">
              <a:latin typeface="Trebuchet MS"/>
              <a:cs typeface="Trebuchet MS"/>
            </a:endParaRPr>
          </a:p>
          <a:p>
            <a:pPr marL="236220" indent="-147320">
              <a:lnSpc>
                <a:spcPct val="100000"/>
              </a:lnSpc>
              <a:spcBef>
                <a:spcPts val="1019"/>
              </a:spcBef>
              <a:buSzPct val="72727"/>
              <a:buChar char="►"/>
              <a:tabLst>
                <a:tab pos="236220" algn="l"/>
              </a:tabLst>
            </a:pPr>
            <a:r>
              <a:rPr sz="1100" spc="-30" dirty="0">
                <a:latin typeface="Tahoma"/>
                <a:cs typeface="Tahoma"/>
              </a:rPr>
              <a:t>Number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 </a:t>
            </a:r>
            <a:r>
              <a:rPr sz="1100" spc="-60" dirty="0">
                <a:latin typeface="Tahoma"/>
                <a:cs typeface="Tahoma"/>
              </a:rPr>
              <a:t>layers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define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depth</a:t>
            </a:r>
            <a:r>
              <a:rPr sz="1100" b="1" spc="-2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network</a:t>
            </a:r>
            <a:endParaRPr sz="1100" dirty="0">
              <a:latin typeface="Tahoma"/>
              <a:cs typeface="Tahoma"/>
            </a:endParaRPr>
          </a:p>
          <a:p>
            <a:pPr marL="2362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236220" algn="l"/>
              </a:tabLst>
            </a:pPr>
            <a:r>
              <a:rPr sz="1100" spc="-30" dirty="0">
                <a:latin typeface="Tahoma"/>
                <a:cs typeface="Tahoma"/>
              </a:rPr>
              <a:t>Dimensionality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layers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defines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width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network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2</a:t>
            </a:r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-25" dirty="0"/>
              <a:t> </a:t>
            </a:r>
            <a:r>
              <a:rPr i="1" spc="-60" dirty="0">
                <a:latin typeface="Arial"/>
                <a:cs typeface="Arial"/>
              </a:rPr>
              <a:t>Neural</a:t>
            </a:r>
            <a:r>
              <a:rPr i="1" spc="-250" dirty="0">
                <a:latin typeface="Arial"/>
                <a:cs typeface="Arial"/>
              </a:rPr>
              <a:t> </a:t>
            </a:r>
            <a:r>
              <a:rPr spc="-50" dirty="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91439" y="673327"/>
            <a:ext cx="4067175" cy="2184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35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223520" algn="l"/>
              </a:tabLst>
            </a:pPr>
            <a:r>
              <a:rPr sz="1100" spc="-30" dirty="0">
                <a:latin typeface="Tahoma"/>
                <a:cs typeface="Tahoma"/>
              </a:rPr>
              <a:t>Loosely </a:t>
            </a:r>
            <a:r>
              <a:rPr sz="1100" spc="-35" dirty="0">
                <a:latin typeface="Tahoma"/>
                <a:cs typeface="Tahoma"/>
              </a:rPr>
              <a:t>inspired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neuroscience,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hence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Artificial</a:t>
            </a:r>
            <a:r>
              <a:rPr sz="1100" spc="-20" dirty="0">
                <a:latin typeface="Tahoma"/>
                <a:cs typeface="Tahoma"/>
              </a:rPr>
              <a:t> Neural </a:t>
            </a:r>
            <a:r>
              <a:rPr sz="1100" spc="-10" dirty="0">
                <a:latin typeface="Tahoma"/>
                <a:cs typeface="Tahoma"/>
              </a:rPr>
              <a:t>Network</a:t>
            </a:r>
            <a:endParaRPr sz="1100">
              <a:latin typeface="Tahoma"/>
              <a:cs typeface="Tahoma"/>
            </a:endParaRPr>
          </a:p>
          <a:p>
            <a:pPr marL="2235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223520" algn="l"/>
              </a:tabLst>
            </a:pPr>
            <a:r>
              <a:rPr sz="1100" dirty="0">
                <a:latin typeface="Tahoma"/>
                <a:cs typeface="Tahoma"/>
              </a:rPr>
              <a:t>Each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resembles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neuron</a:t>
            </a:r>
            <a:endParaRPr sz="1100">
              <a:latin typeface="Tahoma"/>
              <a:cs typeface="Tahoma"/>
            </a:endParaRPr>
          </a:p>
          <a:p>
            <a:pPr marL="222885" marR="71120" indent="-147320">
              <a:lnSpc>
                <a:spcPct val="102600"/>
              </a:lnSpc>
              <a:spcBef>
                <a:spcPts val="969"/>
              </a:spcBef>
              <a:buSzPct val="72727"/>
              <a:buChar char="►"/>
              <a:tabLst>
                <a:tab pos="224154" algn="l"/>
              </a:tabLst>
            </a:pPr>
            <a:r>
              <a:rPr sz="1100" spc="-35" dirty="0">
                <a:latin typeface="Tahoma"/>
                <a:cs typeface="Tahoma"/>
              </a:rPr>
              <a:t>Input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neuron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synaptic </a:t>
            </a:r>
            <a:r>
              <a:rPr sz="1100" spc="-40" dirty="0">
                <a:latin typeface="Tahoma"/>
                <a:cs typeface="Tahoma"/>
              </a:rPr>
              <a:t>connections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 	</a:t>
            </a:r>
            <a:r>
              <a:rPr sz="1100" spc="-30" dirty="0">
                <a:latin typeface="Tahoma"/>
                <a:cs typeface="Tahoma"/>
              </a:rPr>
              <a:t>attached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neuron</a:t>
            </a:r>
            <a:endParaRPr sz="1100">
              <a:latin typeface="Tahoma"/>
              <a:cs typeface="Tahoma"/>
            </a:endParaRPr>
          </a:p>
          <a:p>
            <a:pPr marL="2235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223520" algn="l"/>
              </a:tabLst>
            </a:pPr>
            <a:r>
              <a:rPr sz="1100" dirty="0">
                <a:latin typeface="Tahoma"/>
                <a:cs typeface="Tahoma"/>
              </a:rPr>
              <a:t>Output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neuron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5" dirty="0">
                <a:latin typeface="Tahoma"/>
                <a:cs typeface="Tahoma"/>
              </a:rPr>
              <a:t> aggregation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input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vector</a:t>
            </a:r>
            <a:endParaRPr sz="1100">
              <a:latin typeface="Tahoma"/>
              <a:cs typeface="Tahoma"/>
            </a:endParaRPr>
          </a:p>
          <a:p>
            <a:pPr marL="222885" marR="196215" indent="-147320">
              <a:lnSpc>
                <a:spcPct val="102600"/>
              </a:lnSpc>
              <a:spcBef>
                <a:spcPts val="969"/>
              </a:spcBef>
              <a:buSzPct val="72727"/>
              <a:buChar char="►"/>
              <a:tabLst>
                <a:tab pos="224154" algn="l"/>
              </a:tabLst>
            </a:pPr>
            <a:r>
              <a:rPr sz="1100" spc="-20" dirty="0">
                <a:latin typeface="Tahoma"/>
                <a:cs typeface="Tahoma"/>
              </a:rPr>
              <a:t>Signal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propagates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forward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chain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”Neuron”-</a:t>
            </a:r>
            <a:r>
              <a:rPr sz="1100" spc="-10" dirty="0">
                <a:latin typeface="Tahoma"/>
                <a:cs typeface="Tahoma"/>
              </a:rPr>
              <a:t>to-”Neuron” 	transmissions</a:t>
            </a:r>
            <a:endParaRPr sz="1100">
              <a:latin typeface="Tahoma"/>
              <a:cs typeface="Tahoma"/>
            </a:endParaRPr>
          </a:p>
          <a:p>
            <a:pPr marL="222885" marR="246379" indent="-147320">
              <a:lnSpc>
                <a:spcPct val="102600"/>
              </a:lnSpc>
              <a:spcBef>
                <a:spcPts val="969"/>
              </a:spcBef>
              <a:buSzPct val="72727"/>
              <a:buChar char="►"/>
              <a:tabLst>
                <a:tab pos="224154" algn="l"/>
              </a:tabLst>
            </a:pPr>
            <a:r>
              <a:rPr sz="1100" spc="-50" dirty="0">
                <a:latin typeface="Tahoma"/>
                <a:cs typeface="Tahoma"/>
              </a:rPr>
              <a:t>However,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modern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Deep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Learning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research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steered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mainly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by 	</a:t>
            </a:r>
            <a:r>
              <a:rPr sz="1100" spc="-30" dirty="0">
                <a:latin typeface="Tahoma"/>
                <a:cs typeface="Tahoma"/>
              </a:rPr>
              <a:t>mathematical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engineering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principles!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3</a:t>
            </a:r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-5" dirty="0"/>
              <a:t> </a:t>
            </a:r>
            <a:r>
              <a:rPr i="1" spc="-55" dirty="0">
                <a:latin typeface="Arial"/>
                <a:cs typeface="Arial"/>
              </a:rPr>
              <a:t>Network</a:t>
            </a:r>
            <a:r>
              <a:rPr i="1" spc="-270" dirty="0">
                <a:latin typeface="Arial"/>
                <a:cs typeface="Arial"/>
              </a:rPr>
              <a:t> </a:t>
            </a:r>
            <a:r>
              <a:rPr spc="-50" dirty="0"/>
              <a:t>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2239" y="431278"/>
            <a:ext cx="3567429" cy="1408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2720" indent="-147320">
              <a:lnSpc>
                <a:spcPts val="1310"/>
              </a:lnSpc>
              <a:spcBef>
                <a:spcPts val="90"/>
              </a:spcBef>
              <a:buSzPct val="72727"/>
              <a:buChar char="►"/>
              <a:tabLst>
                <a:tab pos="172720" algn="l"/>
              </a:tabLst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feed-</a:t>
            </a:r>
            <a:r>
              <a:rPr sz="1100" spc="-55" dirty="0">
                <a:latin typeface="Tahoma"/>
                <a:cs typeface="Tahoma"/>
              </a:rPr>
              <a:t>forward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b="1" spc="-25" dirty="0">
                <a:latin typeface="Trebuchet MS"/>
                <a:cs typeface="Trebuchet MS"/>
              </a:rPr>
              <a:t>acyclic</a:t>
            </a:r>
            <a:r>
              <a:rPr sz="1100" b="1" spc="10" dirty="0">
                <a:latin typeface="Trebuchet MS"/>
                <a:cs typeface="Trebuchet MS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directed</a:t>
            </a:r>
            <a:r>
              <a:rPr sz="1100" b="1" spc="10" dirty="0">
                <a:latin typeface="Trebuchet MS"/>
                <a:cs typeface="Trebuchet MS"/>
              </a:rPr>
              <a:t> </a:t>
            </a:r>
            <a:r>
              <a:rPr sz="1100" b="1" spc="-20" dirty="0">
                <a:latin typeface="Trebuchet MS"/>
                <a:cs typeface="Trebuchet MS"/>
              </a:rPr>
              <a:t>graph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-25" dirty="0">
                <a:latin typeface="Tahoma"/>
                <a:cs typeface="Tahoma"/>
              </a:rPr>
              <a:t> but</a:t>
            </a:r>
            <a:endParaRPr sz="1100">
              <a:latin typeface="Tahoma"/>
              <a:cs typeface="Tahoma"/>
            </a:endParaRPr>
          </a:p>
          <a:p>
            <a:pPr marL="313055">
              <a:lnSpc>
                <a:spcPts val="1190"/>
              </a:lnSpc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7" baseline="13888" dirty="0">
                <a:latin typeface="Arial MT"/>
                <a:cs typeface="Arial MT"/>
              </a:rPr>
              <a:t> </a:t>
            </a:r>
            <a:r>
              <a:rPr sz="1000" spc="-20" dirty="0">
                <a:latin typeface="Tahoma"/>
                <a:cs typeface="Tahoma"/>
              </a:rPr>
              <a:t>Graph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structured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layers</a:t>
            </a:r>
            <a:endParaRPr sz="10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0" baseline="13888" dirty="0">
                <a:latin typeface="Arial MT"/>
                <a:cs typeface="Arial MT"/>
              </a:rPr>
              <a:t> </a:t>
            </a:r>
            <a:r>
              <a:rPr sz="1000" spc="-20" dirty="0">
                <a:latin typeface="Tahoma"/>
                <a:cs typeface="Tahoma"/>
              </a:rPr>
              <a:t>Directed</a:t>
            </a:r>
            <a:r>
              <a:rPr sz="1000" spc="-10" dirty="0">
                <a:latin typeface="Tahoma"/>
                <a:cs typeface="Tahoma"/>
              </a:rPr>
              <a:t> links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between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nodes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parameters/weights</a:t>
            </a:r>
            <a:endParaRPr sz="1000">
              <a:latin typeface="Trebuchet MS"/>
              <a:cs typeface="Trebuchet MS"/>
            </a:endParaRPr>
          </a:p>
          <a:p>
            <a:pPr marL="3130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72" baseline="13888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Each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node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computational</a:t>
            </a:r>
            <a:r>
              <a:rPr sz="1000" spc="-10" dirty="0">
                <a:latin typeface="Tahoma"/>
                <a:cs typeface="Tahoma"/>
              </a:rPr>
              <a:t> functions</a:t>
            </a:r>
            <a:endParaRPr sz="10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0" baseline="13888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No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inter-</a:t>
            </a:r>
            <a:r>
              <a:rPr sz="1000" spc="-40" dirty="0">
                <a:latin typeface="Tahoma"/>
                <a:cs typeface="Tahoma"/>
              </a:rPr>
              <a:t>layer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intra-</a:t>
            </a:r>
            <a:r>
              <a:rPr sz="1000" spc="-40" dirty="0">
                <a:latin typeface="Tahoma"/>
                <a:cs typeface="Tahoma"/>
              </a:rPr>
              <a:t>layer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connections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(but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possible)</a:t>
            </a:r>
            <a:endParaRPr sz="10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0" baseline="13888" dirty="0">
                <a:latin typeface="Arial MT"/>
                <a:cs typeface="Arial MT"/>
              </a:rPr>
              <a:t> </a:t>
            </a:r>
            <a:r>
              <a:rPr sz="1000" spc="-40" dirty="0">
                <a:latin typeface="Tahoma"/>
                <a:cs typeface="Tahoma"/>
              </a:rPr>
              <a:t>Input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-20" dirty="0">
                <a:latin typeface="Tahoma"/>
                <a:cs typeface="Tahoma"/>
              </a:rPr>
              <a:t> 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first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layer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given</a:t>
            </a:r>
            <a:r>
              <a:rPr sz="1000" spc="-20" dirty="0">
                <a:latin typeface="Tahoma"/>
                <a:cs typeface="Tahoma"/>
              </a:rPr>
              <a:t> (the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features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b="1" spc="-25" dirty="0">
                <a:latin typeface="Trebuchet MS"/>
                <a:cs typeface="Trebuchet MS"/>
              </a:rPr>
              <a:t>x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42" baseline="13888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Output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computation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last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layer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(the</a:t>
            </a:r>
            <a:r>
              <a:rPr sz="1000" spc="-30" dirty="0">
                <a:latin typeface="Tahoma"/>
                <a:cs typeface="Tahoma"/>
              </a:rPr>
              <a:t> target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b="1" spc="-420" dirty="0">
                <a:latin typeface="Trebuchet MS"/>
                <a:cs typeface="Trebuchet MS"/>
              </a:rPr>
              <a:t>ˆ</a:t>
            </a:r>
            <a:r>
              <a:rPr sz="1000" b="1" spc="175" dirty="0">
                <a:latin typeface="Trebuchet MS"/>
                <a:cs typeface="Trebuchet MS"/>
              </a:rPr>
              <a:t>y</a:t>
            </a:r>
            <a:r>
              <a:rPr sz="1000" spc="16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809221"/>
            <a:ext cx="4608195" cy="1647189"/>
            <a:chOff x="0" y="1809221"/>
            <a:chExt cx="4608195" cy="1647189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21270" y="1809221"/>
              <a:ext cx="2165314" cy="14176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3236696"/>
              <a:ext cx="4608195" cy="219710"/>
            </a:xfrm>
            <a:custGeom>
              <a:avLst/>
              <a:gdLst/>
              <a:ahLst/>
              <a:cxnLst/>
              <a:rect l="l" t="t" r="r" b="b"/>
              <a:pathLst>
                <a:path w="4608195" h="219710">
                  <a:moveTo>
                    <a:pt x="4608004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0" y="219303"/>
                  </a:lnTo>
                  <a:lnTo>
                    <a:pt x="4147172" y="219303"/>
                  </a:lnTo>
                  <a:lnTo>
                    <a:pt x="4147172" y="109651"/>
                  </a:lnTo>
                  <a:lnTo>
                    <a:pt x="4174058" y="109651"/>
                  </a:lnTo>
                  <a:lnTo>
                    <a:pt x="4174058" y="219303"/>
                  </a:lnTo>
                  <a:lnTo>
                    <a:pt x="4608004" y="219303"/>
                  </a:lnTo>
                  <a:lnTo>
                    <a:pt x="4608004" y="109651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20889" y="3307300"/>
            <a:ext cx="2366645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20" dirty="0">
                <a:latin typeface="Tahoma"/>
                <a:cs typeface="Tahoma"/>
              </a:rPr>
              <a:t>Figure </a:t>
            </a:r>
            <a:r>
              <a:rPr sz="1000" spc="-35" dirty="0">
                <a:latin typeface="Tahoma"/>
                <a:cs typeface="Tahoma"/>
              </a:rPr>
              <a:t>1: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800" dirty="0">
                <a:latin typeface="Arial MT"/>
                <a:cs typeface="Arial MT"/>
              </a:rPr>
              <a:t>FNN,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5" dirty="0">
                <a:latin typeface="Arial MT"/>
                <a:cs typeface="Arial MT"/>
              </a:rPr>
              <a:t>Source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35" dirty="0">
                <a:latin typeface="Calibri"/>
                <a:cs typeface="Calibri"/>
                <a:hlinkClick r:id="rId5"/>
              </a:rPr>
              <a:t>www.analyticsvidhya.com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4</a:t>
            </a:r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433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Nonlinear</a:t>
            </a:r>
            <a:r>
              <a:rPr spc="-4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6839" y="451521"/>
            <a:ext cx="4204970" cy="659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81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9812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easily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regression,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linear.</a:t>
            </a:r>
            <a:endParaRPr sz="1100">
              <a:latin typeface="Tahoma"/>
              <a:cs typeface="Tahoma"/>
            </a:endParaRPr>
          </a:p>
          <a:p>
            <a:pPr marL="197485" marR="83820" indent="-147320">
              <a:lnSpc>
                <a:spcPct val="102600"/>
              </a:lnSpc>
              <a:spcBef>
                <a:spcPts val="969"/>
              </a:spcBef>
              <a:buSzPct val="72727"/>
              <a:buChar char="►"/>
              <a:tabLst>
                <a:tab pos="198755" algn="l"/>
              </a:tabLst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1)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217" baseline="27777" dirty="0">
                <a:latin typeface="Arial MT"/>
                <a:cs typeface="Arial MT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linear 	</a:t>
            </a:r>
            <a:r>
              <a:rPr sz="1100" spc="-10" dirty="0">
                <a:latin typeface="Tahoma"/>
                <a:cs typeface="Tahoma"/>
              </a:rPr>
              <a:t>function?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5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433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Nonlinear</a:t>
            </a:r>
            <a:r>
              <a:rPr spc="-4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139" y="451521"/>
            <a:ext cx="4230370" cy="954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08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21082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easily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regression,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linear.</a:t>
            </a:r>
            <a:endParaRPr sz="1100">
              <a:latin typeface="Tahoma"/>
              <a:cs typeface="Tahoma"/>
            </a:endParaRPr>
          </a:p>
          <a:p>
            <a:pPr marL="210185" marR="96520" indent="-147320">
              <a:lnSpc>
                <a:spcPct val="102600"/>
              </a:lnSpc>
              <a:spcBef>
                <a:spcPts val="969"/>
              </a:spcBef>
              <a:buSzPct val="72727"/>
              <a:buChar char="►"/>
              <a:tabLst>
                <a:tab pos="211454" algn="l"/>
              </a:tabLst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1)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217" baseline="27777" dirty="0">
                <a:latin typeface="Arial MT"/>
                <a:cs typeface="Arial MT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through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linear 	</a:t>
            </a:r>
            <a:r>
              <a:rPr sz="1100" spc="-10" dirty="0">
                <a:latin typeface="Tahoma"/>
                <a:cs typeface="Tahoma"/>
              </a:rPr>
              <a:t>function?</a:t>
            </a:r>
            <a:endParaRPr sz="1100">
              <a:latin typeface="Tahoma"/>
              <a:cs typeface="Tahoma"/>
            </a:endParaRPr>
          </a:p>
          <a:p>
            <a:pPr marL="2108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210820" algn="l"/>
              </a:tabLst>
            </a:pPr>
            <a:r>
              <a:rPr sz="1100" spc="-40" dirty="0">
                <a:latin typeface="Tahoma"/>
                <a:cs typeface="Tahoma"/>
              </a:rPr>
              <a:t>Yes,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map</a:t>
            </a:r>
            <a:r>
              <a:rPr sz="1100" b="1" spc="-30" dirty="0">
                <a:latin typeface="Trebuchet MS"/>
                <a:cs typeface="Trebuchet MS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feature </a:t>
            </a:r>
            <a:r>
              <a:rPr sz="1100" dirty="0">
                <a:latin typeface="Tahoma"/>
                <a:cs typeface="Tahoma"/>
              </a:rPr>
              <a:t>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space: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44895" y="2267799"/>
            <a:ext cx="111125" cy="203835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00" spc="-10" dirty="0">
                <a:latin typeface="Arial MT"/>
                <a:cs typeface="Arial MT"/>
              </a:rPr>
              <a:t>f(a,b)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1605" y="2076955"/>
            <a:ext cx="132080" cy="677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595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120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ts val="595"/>
              </a:lnSpc>
            </a:pPr>
            <a:r>
              <a:rPr sz="500" spc="-25" dirty="0">
                <a:latin typeface="Arial MT"/>
                <a:cs typeface="Arial MT"/>
              </a:rPr>
              <a:t>100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ts val="590"/>
              </a:lnSpc>
            </a:pPr>
            <a:r>
              <a:rPr sz="500" spc="-25" dirty="0">
                <a:latin typeface="Arial MT"/>
                <a:cs typeface="Arial MT"/>
              </a:rPr>
              <a:t>80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ts val="590"/>
              </a:lnSpc>
            </a:pPr>
            <a:r>
              <a:rPr sz="500" spc="-25" dirty="0">
                <a:latin typeface="Arial MT"/>
                <a:cs typeface="Arial MT"/>
              </a:rPr>
              <a:t>60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ts val="595"/>
              </a:lnSpc>
            </a:pPr>
            <a:r>
              <a:rPr sz="500" spc="-25" dirty="0">
                <a:latin typeface="Arial MT"/>
                <a:cs typeface="Arial MT"/>
              </a:rPr>
              <a:t>40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ts val="595"/>
              </a:lnSpc>
            </a:pPr>
            <a:r>
              <a:rPr sz="500" spc="-25" dirty="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  <a:p>
            <a:pPr marR="5080" algn="r">
              <a:lnSpc>
                <a:spcPts val="595"/>
              </a:lnSpc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43815">
              <a:lnSpc>
                <a:spcPct val="100000"/>
              </a:lnSpc>
              <a:spcBef>
                <a:spcPts val="375"/>
              </a:spcBef>
            </a:pPr>
            <a:r>
              <a:rPr sz="500" spc="-25" dirty="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980" y="1960905"/>
            <a:ext cx="1215120" cy="92239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73669" y="2354269"/>
            <a:ext cx="111125" cy="135890"/>
          </a:xfrm>
          <a:prstGeom prst="rect">
            <a:avLst/>
          </a:prstGeom>
        </p:spPr>
        <p:txBody>
          <a:bodyPr vert="vert270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600" spc="-20" dirty="0">
                <a:latin typeface="Arial MT"/>
                <a:cs typeface="Arial MT"/>
              </a:rPr>
              <a:t>f(x)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01718" y="2900947"/>
            <a:ext cx="6413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600" spc="-50" dirty="0">
                <a:latin typeface="Arial MT"/>
                <a:cs typeface="Arial MT"/>
              </a:rPr>
              <a:t>x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5855" y="1986075"/>
            <a:ext cx="132080" cy="374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120</a:t>
            </a:r>
            <a:endParaRPr sz="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500" spc="-25" dirty="0">
                <a:latin typeface="Arial MT"/>
                <a:cs typeface="Arial MT"/>
              </a:rPr>
              <a:t>100</a:t>
            </a:r>
            <a:endParaRPr sz="500">
              <a:latin typeface="Arial MT"/>
              <a:cs typeface="Arial MT"/>
            </a:endParaRPr>
          </a:p>
          <a:p>
            <a:pPr marL="47625">
              <a:lnSpc>
                <a:spcPct val="100000"/>
              </a:lnSpc>
              <a:spcBef>
                <a:spcPts val="475"/>
              </a:spcBef>
            </a:pPr>
            <a:r>
              <a:rPr sz="500" spc="-25" dirty="0">
                <a:latin typeface="Arial MT"/>
                <a:cs typeface="Arial MT"/>
              </a:rPr>
              <a:t>80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1266" y="2394610"/>
            <a:ext cx="9652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60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1266" y="2530798"/>
            <a:ext cx="174625" cy="47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40</a:t>
            </a:r>
            <a:endParaRPr sz="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500" spc="-25" dirty="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  <a:p>
            <a:pPr marL="47625">
              <a:lnSpc>
                <a:spcPct val="100000"/>
              </a:lnSpc>
              <a:spcBef>
                <a:spcPts val="475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  <a:p>
            <a:pPr marL="69215">
              <a:lnSpc>
                <a:spcPct val="100000"/>
              </a:lnSpc>
              <a:spcBef>
                <a:spcPts val="170"/>
              </a:spcBef>
            </a:pPr>
            <a:r>
              <a:rPr sz="500" dirty="0">
                <a:latin typeface="Arial MT"/>
                <a:cs typeface="Arial MT"/>
              </a:rPr>
              <a:t>-</a:t>
            </a:r>
            <a:r>
              <a:rPr sz="500" spc="-25" dirty="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6043" y="1809700"/>
            <a:ext cx="435609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10" dirty="0">
                <a:latin typeface="Arial MT"/>
                <a:cs typeface="Arial MT"/>
              </a:rPr>
              <a:t>f(x)=(x+1)^2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6576" y="2900947"/>
            <a:ext cx="609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9097" y="2900947"/>
            <a:ext cx="8255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latin typeface="Arial MT"/>
                <a:cs typeface="Arial MT"/>
              </a:rPr>
              <a:t>-</a:t>
            </a:r>
            <a:r>
              <a:rPr sz="500" spc="-50" dirty="0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586061" y="1962497"/>
            <a:ext cx="1231965" cy="93297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3301325" y="2858680"/>
            <a:ext cx="9652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20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8758" y="2787282"/>
            <a:ext cx="28003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baseline="-33333" dirty="0">
                <a:latin typeface="Arial MT"/>
                <a:cs typeface="Arial MT"/>
              </a:rPr>
              <a:t>40</a:t>
            </a:r>
            <a:r>
              <a:rPr sz="750" spc="517" baseline="-33333" dirty="0">
                <a:latin typeface="Arial MT"/>
                <a:cs typeface="Arial MT"/>
              </a:rPr>
              <a:t> </a:t>
            </a:r>
            <a:r>
              <a:rPr sz="500" spc="-25" dirty="0">
                <a:latin typeface="Arial MT"/>
                <a:cs typeface="Arial MT"/>
              </a:rPr>
              <a:t>60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34305" y="2881544"/>
            <a:ext cx="271780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a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= </a:t>
            </a:r>
            <a:r>
              <a:rPr sz="600" spc="-25" dirty="0">
                <a:latin typeface="Arial MT"/>
                <a:cs typeface="Arial MT"/>
              </a:rPr>
              <a:t>x^2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674417" y="2715854"/>
            <a:ext cx="315595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baseline="-33333" dirty="0">
                <a:latin typeface="Arial MT"/>
                <a:cs typeface="Arial MT"/>
              </a:rPr>
              <a:t>80</a:t>
            </a:r>
            <a:r>
              <a:rPr sz="750" spc="517" baseline="-33333" dirty="0">
                <a:latin typeface="Arial MT"/>
                <a:cs typeface="Arial MT"/>
              </a:rPr>
              <a:t> </a:t>
            </a:r>
            <a:r>
              <a:rPr sz="500" spc="-25" dirty="0">
                <a:latin typeface="Arial MT"/>
                <a:cs typeface="Arial MT"/>
              </a:rPr>
              <a:t>100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36301" y="2894410"/>
            <a:ext cx="31877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750" baseline="5555" dirty="0">
                <a:latin typeface="Arial MT"/>
                <a:cs typeface="Arial MT"/>
              </a:rPr>
              <a:t>-10</a:t>
            </a:r>
            <a:r>
              <a:rPr sz="750" spc="465" baseline="5555" dirty="0">
                <a:latin typeface="Arial MT"/>
                <a:cs typeface="Arial MT"/>
              </a:rPr>
              <a:t>  </a:t>
            </a: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72289" y="2900951"/>
            <a:ext cx="9652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25" dirty="0">
                <a:latin typeface="Arial MT"/>
                <a:cs typeface="Arial MT"/>
              </a:rPr>
              <a:t>10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69700" y="2826790"/>
            <a:ext cx="8255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latin typeface="Arial MT"/>
                <a:cs typeface="Arial MT"/>
              </a:rPr>
              <a:t>-</a:t>
            </a:r>
            <a:r>
              <a:rPr sz="500" spc="-50" dirty="0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484615" y="2845049"/>
            <a:ext cx="19367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b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= </a:t>
            </a:r>
            <a:r>
              <a:rPr sz="600" spc="-50" dirty="0">
                <a:latin typeface="Arial MT"/>
                <a:cs typeface="Arial MT"/>
              </a:rPr>
              <a:t>x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63503" y="2768621"/>
            <a:ext cx="609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Arial MT"/>
                <a:cs typeface="Arial MT"/>
              </a:rPr>
              <a:t>0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636122" y="2710453"/>
            <a:ext cx="60960" cy="102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spc="-50" dirty="0">
                <a:latin typeface="Arial MT"/>
                <a:cs typeface="Arial MT"/>
              </a:rPr>
              <a:t>5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85349" y="1809704"/>
            <a:ext cx="63563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dirty="0">
                <a:latin typeface="Arial MT"/>
                <a:cs typeface="Arial MT"/>
              </a:rPr>
              <a:t>f(a,b)=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 +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2 b +</a:t>
            </a:r>
            <a:r>
              <a:rPr sz="600" spc="-5" dirty="0">
                <a:latin typeface="Arial MT"/>
                <a:cs typeface="Arial MT"/>
              </a:rPr>
              <a:t> </a:t>
            </a:r>
            <a:r>
              <a:rPr sz="600" spc="-50" dirty="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618108" y="3206843"/>
            <a:ext cx="3371850" cy="1282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55"/>
              </a:lnSpc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2: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800" dirty="0">
                <a:latin typeface="Arial MT"/>
                <a:cs typeface="Arial MT"/>
              </a:rPr>
              <a:t>Mapping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feature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x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into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new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dimensionality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800" i="1" spc="65" dirty="0">
                <a:latin typeface="Arial"/>
                <a:cs typeface="Arial"/>
              </a:rPr>
              <a:t> </a:t>
            </a:r>
            <a:r>
              <a:rPr sz="800" spc="165" dirty="0">
                <a:latin typeface="Cambria"/>
                <a:cs typeface="Cambria"/>
              </a:rPr>
              <a:t>→</a:t>
            </a:r>
            <a:r>
              <a:rPr sz="800" spc="45" dirty="0">
                <a:latin typeface="Cambria"/>
                <a:cs typeface="Cambria"/>
              </a:rPr>
              <a:t> </a:t>
            </a:r>
            <a:r>
              <a:rPr sz="800" i="1" dirty="0">
                <a:latin typeface="Calibri"/>
                <a:cs typeface="Calibri"/>
              </a:rPr>
              <a:t>φ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x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65" dirty="0">
                <a:latin typeface="Arial MT"/>
                <a:cs typeface="Arial MT"/>
              </a:rPr>
              <a:t>)</a:t>
            </a:r>
            <a:r>
              <a:rPr sz="800" dirty="0">
                <a:latin typeface="Arial MT"/>
                <a:cs typeface="Arial MT"/>
              </a:rPr>
              <a:t> </a:t>
            </a:r>
            <a:r>
              <a:rPr sz="800" spc="190" dirty="0">
                <a:latin typeface="Arial MT"/>
                <a:cs typeface="Arial MT"/>
              </a:rPr>
              <a:t>=</a:t>
            </a:r>
            <a:r>
              <a:rPr sz="800" spc="-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a</a:t>
            </a:r>
            <a:r>
              <a:rPr sz="800" i="1" dirty="0">
                <a:latin typeface="Calibri"/>
                <a:cs typeface="Calibri"/>
              </a:rPr>
              <a:t>,</a:t>
            </a:r>
            <a:r>
              <a:rPr sz="800" i="1" spc="-45" dirty="0">
                <a:latin typeface="Calibri"/>
                <a:cs typeface="Calibri"/>
              </a:rPr>
              <a:t> </a:t>
            </a:r>
            <a:r>
              <a:rPr sz="800" i="1" spc="-25" dirty="0">
                <a:latin typeface="Arial"/>
                <a:cs typeface="Arial"/>
              </a:rPr>
              <a:t>b</a:t>
            </a:r>
            <a:r>
              <a:rPr sz="800" spc="-25" dirty="0"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5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7335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Nonlinear</a:t>
            </a:r>
            <a:r>
              <a:rPr spc="-50" dirty="0"/>
              <a:t> </a:t>
            </a:r>
            <a:r>
              <a:rPr spc="-10" dirty="0"/>
              <a:t>Mapping</a:t>
            </a:r>
            <a:r>
              <a:rPr spc="-50" dirty="0"/>
              <a:t> </a:t>
            </a:r>
            <a:r>
              <a:rPr spc="-40" dirty="0"/>
              <a:t>(II)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344" y="723568"/>
            <a:ext cx="4155440" cy="2089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2425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352425" algn="l"/>
              </a:tabLst>
            </a:pPr>
            <a:r>
              <a:rPr sz="1100" dirty="0">
                <a:latin typeface="Tahoma"/>
                <a:cs typeface="Tahoma"/>
              </a:rPr>
              <a:t>Which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Georgia"/>
                <a:cs typeface="Georgia"/>
              </a:rPr>
              <a:t>φ</a:t>
            </a:r>
            <a:r>
              <a:rPr sz="1100" spc="-70" dirty="0">
                <a:latin typeface="Tahoma"/>
                <a:cs typeface="Tahoma"/>
              </a:rPr>
              <a:t>(</a:t>
            </a:r>
            <a:r>
              <a:rPr sz="1100" i="1" spc="-7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best?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Tahoma"/>
              <a:cs typeface="Tahoma"/>
            </a:endParaRPr>
          </a:p>
          <a:p>
            <a:pPr marL="76200">
              <a:lnSpc>
                <a:spcPct val="100000"/>
              </a:lnSpc>
            </a:pPr>
            <a:r>
              <a:rPr sz="1100" spc="-20" dirty="0">
                <a:latin typeface="Tahoma"/>
                <a:cs typeface="Tahoma"/>
              </a:rPr>
              <a:t>There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various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ways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designing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Georgia"/>
                <a:cs typeface="Georgia"/>
              </a:rPr>
              <a:t>φ</a:t>
            </a:r>
            <a:r>
              <a:rPr sz="1100" spc="-70" dirty="0">
                <a:latin typeface="Tahoma"/>
                <a:cs typeface="Tahoma"/>
              </a:rPr>
              <a:t>(</a:t>
            </a:r>
            <a:r>
              <a:rPr sz="1100" i="1" spc="-7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):</a:t>
            </a:r>
            <a:endParaRPr sz="1100">
              <a:latin typeface="Tahoma"/>
              <a:cs typeface="Tahoma"/>
            </a:endParaRPr>
          </a:p>
          <a:p>
            <a:pPr marL="353695" indent="-1778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353695" algn="l"/>
              </a:tabLst>
            </a:pPr>
            <a:r>
              <a:rPr sz="1100" spc="-35" dirty="0">
                <a:latin typeface="Tahoma"/>
                <a:cs typeface="Tahoma"/>
              </a:rPr>
              <a:t>Hand-</a:t>
            </a:r>
            <a:r>
              <a:rPr sz="1100" spc="-10" dirty="0">
                <a:latin typeface="Tahoma"/>
                <a:cs typeface="Tahoma"/>
              </a:rPr>
              <a:t>craft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(manually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engineer)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Georgia"/>
                <a:cs typeface="Georgia"/>
              </a:rPr>
              <a:t>φ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b="1" spc="-20" dirty="0">
                <a:latin typeface="Trebuchet MS"/>
                <a:cs typeface="Trebuchet MS"/>
              </a:rPr>
              <a:t>x</a:t>
            </a:r>
            <a:r>
              <a:rPr sz="1100" spc="-2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353695" indent="-177800">
              <a:lnSpc>
                <a:spcPct val="100000"/>
              </a:lnSpc>
              <a:spcBef>
                <a:spcPts val="330"/>
              </a:spcBef>
              <a:buAutoNum type="arabicPeriod"/>
              <a:tabLst>
                <a:tab pos="353695" algn="l"/>
              </a:tabLst>
            </a:pPr>
            <a:r>
              <a:rPr sz="1100" spc="-20" dirty="0">
                <a:latin typeface="Tahoma"/>
                <a:cs typeface="Tahoma"/>
              </a:rPr>
              <a:t>Use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generic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φ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b="1" spc="-35" dirty="0">
                <a:latin typeface="Trebuchet MS"/>
                <a:cs typeface="Trebuchet MS"/>
              </a:rPr>
              <a:t>x</a:t>
            </a:r>
            <a:r>
              <a:rPr sz="1100" spc="-35" dirty="0">
                <a:latin typeface="Tahoma"/>
                <a:cs typeface="Tahoma"/>
              </a:rPr>
              <a:t>),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RBF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polynomial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expansion</a:t>
            </a:r>
            <a:endParaRPr sz="1100">
              <a:latin typeface="Tahoma"/>
              <a:cs typeface="Tahoma"/>
            </a:endParaRPr>
          </a:p>
          <a:p>
            <a:pPr marL="353695" indent="-177800">
              <a:lnSpc>
                <a:spcPct val="100000"/>
              </a:lnSpc>
              <a:spcBef>
                <a:spcPts val="335"/>
              </a:spcBef>
              <a:buAutoNum type="arabicPeriod"/>
              <a:tabLst>
                <a:tab pos="353695" algn="l"/>
              </a:tabLst>
            </a:pPr>
            <a:r>
              <a:rPr sz="1100" spc="-35" dirty="0">
                <a:latin typeface="Tahoma"/>
                <a:cs typeface="Tahoma"/>
              </a:rPr>
              <a:t>Parametrize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10" dirty="0">
                <a:latin typeface="Tahoma"/>
                <a:cs typeface="Tahoma"/>
              </a:rPr>
              <a:t> the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f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b="1" spc="-40" dirty="0">
                <a:latin typeface="Trebuchet MS"/>
                <a:cs typeface="Trebuchet MS"/>
              </a:rPr>
              <a:t>x</a:t>
            </a:r>
            <a:r>
              <a:rPr sz="1100" spc="-40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45" dirty="0">
                <a:latin typeface="Georgia"/>
                <a:cs typeface="Georgia"/>
              </a:rPr>
              <a:t>θ,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b="1" dirty="0">
                <a:latin typeface="Trebuchet MS"/>
                <a:cs typeface="Trebuchet MS"/>
              </a:rPr>
              <a:t>w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:=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i="1" spc="-80" dirty="0">
                <a:latin typeface="Georgia"/>
                <a:cs typeface="Georgia"/>
              </a:rPr>
              <a:t>φ</a:t>
            </a:r>
            <a:r>
              <a:rPr sz="1100" spc="-80" dirty="0">
                <a:latin typeface="Tahoma"/>
                <a:cs typeface="Tahoma"/>
              </a:rPr>
              <a:t>(</a:t>
            </a:r>
            <a:r>
              <a:rPr sz="1100" b="1" spc="-80" dirty="0">
                <a:latin typeface="Trebuchet MS"/>
                <a:cs typeface="Trebuchet MS"/>
              </a:rPr>
              <a:t>x</a:t>
            </a:r>
            <a:r>
              <a:rPr sz="1100" spc="-80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Georgia"/>
                <a:cs typeface="Georgia"/>
              </a:rPr>
              <a:t>θ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200" b="1" spc="-30" baseline="27777" dirty="0">
                <a:latin typeface="Trebuchet MS"/>
                <a:cs typeface="Trebuchet MS"/>
              </a:rPr>
              <a:t>T</a:t>
            </a:r>
            <a:r>
              <a:rPr sz="1100" b="1" spc="-20" dirty="0">
                <a:latin typeface="Trebuchet MS"/>
                <a:cs typeface="Trebuchet MS"/>
              </a:rPr>
              <a:t>w</a:t>
            </a:r>
            <a:endParaRPr sz="1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0"/>
              </a:spcBef>
              <a:buFont typeface="Tahoma"/>
              <a:buAutoNum type="arabicPeriod"/>
            </a:pPr>
            <a:endParaRPr sz="1100">
              <a:latin typeface="Trebuchet MS"/>
              <a:cs typeface="Trebuchet MS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1100" spc="-40" dirty="0">
                <a:latin typeface="Tahoma"/>
                <a:cs typeface="Tahoma"/>
              </a:rPr>
              <a:t>Deep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Feedforward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Networks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follow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third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approach,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where:</a:t>
            </a:r>
            <a:endParaRPr sz="1100">
              <a:latin typeface="Tahoma"/>
              <a:cs typeface="Tahoma"/>
            </a:endParaRPr>
          </a:p>
          <a:p>
            <a:pPr marL="352425" lvl="1" indent="-147320">
              <a:lnSpc>
                <a:spcPct val="100000"/>
              </a:lnSpc>
              <a:spcBef>
                <a:spcPts val="330"/>
              </a:spcBef>
              <a:buSzPct val="72727"/>
              <a:buChar char="►"/>
              <a:tabLst>
                <a:tab pos="352425" algn="l"/>
              </a:tabLst>
            </a:pP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layers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(weights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mapping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70" dirty="0">
                <a:latin typeface="Georgia"/>
                <a:cs typeface="Georgia"/>
              </a:rPr>
              <a:t>φ</a:t>
            </a:r>
            <a:r>
              <a:rPr sz="1100" spc="-70" dirty="0">
                <a:latin typeface="Tahoma"/>
                <a:cs typeface="Tahoma"/>
              </a:rPr>
              <a:t>(</a:t>
            </a:r>
            <a:r>
              <a:rPr sz="1100" i="1" spc="-7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θ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352425" lvl="1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352425" algn="l"/>
              </a:tabLst>
            </a:pP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(weights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function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spc="-75" dirty="0">
                <a:latin typeface="Arial"/>
                <a:cs typeface="Arial"/>
              </a:rPr>
              <a:t>g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:=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6</a:t>
            </a:r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6217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1.</a:t>
            </a:r>
            <a:r>
              <a:rPr sz="600" spc="7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What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is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Neural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Network?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433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Nonlinear</a:t>
            </a:r>
            <a:r>
              <a:rPr spc="-45" dirty="0"/>
              <a:t> </a:t>
            </a:r>
            <a:r>
              <a:rPr spc="-10" dirty="0"/>
              <a:t>Mapping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6839" y="900555"/>
            <a:ext cx="3422650" cy="16090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7485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97485" algn="l"/>
              </a:tabLst>
            </a:pPr>
            <a:r>
              <a:rPr sz="1100" spc="-40" dirty="0">
                <a:latin typeface="Tahoma"/>
                <a:cs typeface="Tahoma"/>
              </a:rPr>
              <a:t>consider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</a:t>
            </a:r>
            <a:endParaRPr sz="1100" dirty="0">
              <a:latin typeface="Tahoma"/>
              <a:cs typeface="Tahoma"/>
            </a:endParaRPr>
          </a:p>
          <a:p>
            <a:pPr marL="1471930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31250" dirty="0">
                <a:latin typeface="Arial MT"/>
                <a:cs typeface="Arial MT"/>
              </a:rPr>
              <a:t>2</a:t>
            </a:r>
            <a:r>
              <a:rPr sz="1200" spc="89" baseline="3125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2</a:t>
            </a:r>
            <a:r>
              <a:rPr sz="1100" i="1" spc="-10" dirty="0">
                <a:latin typeface="Arial"/>
                <a:cs typeface="Arial"/>
              </a:rPr>
              <a:t>e</a:t>
            </a:r>
            <a:r>
              <a:rPr sz="1200" i="1" spc="-15" baseline="31250" dirty="0">
                <a:latin typeface="Arial"/>
                <a:cs typeface="Arial"/>
              </a:rPr>
              <a:t>x</a:t>
            </a:r>
            <a:r>
              <a:rPr sz="1200" i="1" spc="202" baseline="3125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3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5</a:t>
            </a:r>
            <a:endParaRPr sz="1100" dirty="0">
              <a:latin typeface="Tahoma"/>
              <a:cs typeface="Tahoma"/>
            </a:endParaRPr>
          </a:p>
          <a:p>
            <a:pPr marL="198120" indent="-147320">
              <a:lnSpc>
                <a:spcPct val="100000"/>
              </a:lnSpc>
              <a:spcBef>
                <a:spcPts val="969"/>
              </a:spcBef>
              <a:buSzPct val="72727"/>
              <a:buChar char="►"/>
              <a:tabLst>
                <a:tab pos="198120" algn="l"/>
              </a:tabLst>
            </a:pP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features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linearly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combined:</a:t>
            </a:r>
            <a:endParaRPr sz="1100" dirty="0">
              <a:latin typeface="Tahoma"/>
              <a:cs typeface="Tahoma"/>
            </a:endParaRPr>
          </a:p>
          <a:p>
            <a:pPr marL="474980" lvl="1" indent="-187960">
              <a:lnSpc>
                <a:spcPct val="100000"/>
              </a:lnSpc>
              <a:spcBef>
                <a:spcPts val="175"/>
              </a:spcBef>
              <a:buFont typeface="Tahoma"/>
              <a:buAutoNum type="alphaUcPeriod"/>
              <a:tabLst>
                <a:tab pos="474980" algn="l"/>
              </a:tabLst>
            </a:pP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spc="-89" baseline="27777" dirty="0">
                <a:latin typeface="Arial MT"/>
                <a:cs typeface="Arial MT"/>
              </a:rPr>
              <a:t>2</a:t>
            </a:r>
            <a:endParaRPr sz="1050" baseline="27777" dirty="0">
              <a:latin typeface="Arial MT"/>
              <a:cs typeface="Arial MT"/>
            </a:endParaRPr>
          </a:p>
          <a:p>
            <a:pPr marL="474980" lvl="1" indent="-187960">
              <a:lnSpc>
                <a:spcPct val="100000"/>
              </a:lnSpc>
              <a:spcBef>
                <a:spcPts val="480"/>
              </a:spcBef>
              <a:buFont typeface="Tahoma"/>
              <a:buAutoNum type="alphaUcPeriod"/>
              <a:tabLst>
                <a:tab pos="474980" algn="l"/>
              </a:tabLst>
            </a:pP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50" baseline="27777" dirty="0">
                <a:latin typeface="Arial MT"/>
                <a:cs typeface="Arial MT"/>
              </a:rPr>
              <a:t>2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4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45" dirty="0">
                <a:latin typeface="Georgia"/>
                <a:cs typeface="Georgia"/>
              </a:rPr>
              <a:t> </a:t>
            </a:r>
            <a:r>
              <a:rPr sz="1000" i="1" spc="-25" dirty="0">
                <a:latin typeface="Arial"/>
                <a:cs typeface="Arial"/>
              </a:rPr>
              <a:t>e</a:t>
            </a:r>
            <a:r>
              <a:rPr sz="1050" i="1" spc="-37" baseline="27777" dirty="0">
                <a:latin typeface="Arial"/>
                <a:cs typeface="Arial"/>
              </a:rPr>
              <a:t>x</a:t>
            </a:r>
            <a:endParaRPr sz="1050" baseline="27777" dirty="0">
              <a:latin typeface="Arial"/>
              <a:cs typeface="Arial"/>
            </a:endParaRPr>
          </a:p>
          <a:p>
            <a:pPr marL="474980" lvl="1" indent="-184785">
              <a:lnSpc>
                <a:spcPct val="100000"/>
              </a:lnSpc>
              <a:spcBef>
                <a:spcPts val="480"/>
              </a:spcBef>
              <a:buFont typeface="Tahoma"/>
              <a:buAutoNum type="alphaUcPeriod"/>
              <a:tabLst>
                <a:tab pos="474980" algn="l"/>
              </a:tabLst>
            </a:pP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i="1" spc="-25" dirty="0">
                <a:latin typeface="Arial"/>
                <a:cs typeface="Arial"/>
              </a:rPr>
              <a:t>e</a:t>
            </a:r>
            <a:r>
              <a:rPr sz="1050" i="1" spc="-37" baseline="27777" dirty="0">
                <a:latin typeface="Arial"/>
                <a:cs typeface="Arial"/>
              </a:rPr>
              <a:t>x</a:t>
            </a:r>
            <a:endParaRPr sz="1050" baseline="27777" dirty="0">
              <a:latin typeface="Arial"/>
              <a:cs typeface="Arial"/>
            </a:endParaRPr>
          </a:p>
          <a:p>
            <a:pPr marL="475615" lvl="1" indent="-195580">
              <a:lnSpc>
                <a:spcPct val="100000"/>
              </a:lnSpc>
              <a:spcBef>
                <a:spcPts val="484"/>
              </a:spcBef>
              <a:buFont typeface="Tahoma"/>
              <a:buAutoNum type="alphaUcPeriod"/>
              <a:tabLst>
                <a:tab pos="475615" algn="l"/>
              </a:tabLst>
            </a:pP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80" dirty="0">
                <a:latin typeface="Arial"/>
                <a:cs typeface="Arial"/>
              </a:rPr>
              <a:t> </a:t>
            </a:r>
            <a:r>
              <a:rPr sz="1050" baseline="27777" dirty="0">
                <a:latin typeface="Arial MT"/>
                <a:cs typeface="Arial MT"/>
              </a:rPr>
              <a:t>2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4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50" dirty="0">
                <a:latin typeface="Georgia"/>
                <a:cs typeface="Georgia"/>
              </a:rPr>
              <a:t> </a:t>
            </a:r>
            <a:r>
              <a:rPr sz="1000" i="1" spc="-35" dirty="0">
                <a:latin typeface="Arial"/>
                <a:cs typeface="Arial"/>
              </a:rPr>
              <a:t>e</a:t>
            </a:r>
            <a:r>
              <a:rPr sz="1050" i="1" spc="-52" baseline="27777" dirty="0">
                <a:latin typeface="Arial"/>
                <a:cs typeface="Arial"/>
              </a:rPr>
              <a:t>x</a:t>
            </a:r>
            <a:r>
              <a:rPr sz="1050" i="1" spc="-97" baseline="27777" dirty="0">
                <a:latin typeface="Arial"/>
                <a:cs typeface="Arial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45" dirty="0">
                <a:latin typeface="Georgia"/>
                <a:cs typeface="Georgia"/>
              </a:rPr>
              <a:t> </a:t>
            </a:r>
            <a:r>
              <a:rPr sz="1000" spc="-40" dirty="0">
                <a:latin typeface="Tahoma"/>
                <a:cs typeface="Tahoma"/>
              </a:rPr>
              <a:t>sin(</a:t>
            </a:r>
            <a:r>
              <a:rPr sz="1000" i="1" spc="-40" dirty="0">
                <a:latin typeface="Arial"/>
                <a:cs typeface="Arial"/>
              </a:rPr>
              <a:t>x</a:t>
            </a:r>
            <a:r>
              <a:rPr sz="1000" i="1" spc="-175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2705">
              <a:lnSpc>
                <a:spcPts val="675"/>
              </a:lnSpc>
            </a:pPr>
            <a:r>
              <a:rPr dirty="0"/>
              <a:t>7</a:t>
            </a:r>
            <a:r>
              <a:rPr spc="35" dirty="0"/>
              <a:t> </a:t>
            </a:r>
            <a:r>
              <a:rPr spc="150" dirty="0"/>
              <a:t>/</a:t>
            </a:r>
            <a:r>
              <a:rPr spc="3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813903"/>
            <a:ext cx="17722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1.</a:t>
            </a:r>
            <a:r>
              <a:rPr sz="1100" spc="5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What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a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Neural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Network?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217623"/>
            <a:ext cx="1254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2.</a:t>
            </a:r>
            <a:r>
              <a:rPr sz="1100" spc="6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An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example:</a:t>
            </a:r>
            <a:r>
              <a:rPr sz="1100" spc="6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3" action="ppaction://hlinksldjump"/>
              </a:rPr>
              <a:t>XOR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621344"/>
            <a:ext cx="2524125" cy="999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 startAt="3"/>
              <a:tabLst>
                <a:tab pos="182245" algn="l"/>
              </a:tabLst>
            </a:pP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Loss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and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Output</a:t>
            </a:r>
            <a:r>
              <a:rPr sz="1100" spc="-5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Layer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 startAt="3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 startAt="3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Basic</a:t>
            </a:r>
            <a:r>
              <a:rPr sz="1100" spc="-5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Feedforward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Network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 startAt="3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 startAt="3"/>
              <a:tabLst>
                <a:tab pos="182245" algn="l"/>
              </a:tabLst>
            </a:pP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Backpropagation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8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</a:t>
            </a:r>
            <a:r>
              <a:rPr spc="-10" dirty="0"/>
              <a:t> </a:t>
            </a:r>
            <a:r>
              <a:rPr spc="-55" dirty="0"/>
              <a:t>example</a:t>
            </a:r>
            <a:r>
              <a:rPr spc="-10" dirty="0"/>
              <a:t> </a:t>
            </a:r>
            <a:r>
              <a:rPr dirty="0"/>
              <a:t>-</a:t>
            </a:r>
            <a:r>
              <a:rPr spc="-10" dirty="0"/>
              <a:t> </a:t>
            </a:r>
            <a:r>
              <a:rPr spc="-40" dirty="0"/>
              <a:t>Learn</a:t>
            </a:r>
            <a:r>
              <a:rPr spc="-5" dirty="0"/>
              <a:t> </a:t>
            </a:r>
            <a:r>
              <a:rPr spc="-25" dirty="0"/>
              <a:t>XOR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939" y="451521"/>
            <a:ext cx="12547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60020" algn="l"/>
              </a:tabLst>
            </a:pPr>
            <a:r>
              <a:rPr sz="1100" dirty="0">
                <a:latin typeface="Tahoma"/>
                <a:cs typeface="Tahoma"/>
              </a:rPr>
              <a:t>XOR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790458" y="621754"/>
          <a:ext cx="1298575" cy="868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2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37" baseline="-10416" dirty="0">
                          <a:latin typeface="Arial MT"/>
                          <a:cs typeface="Arial MT"/>
                        </a:rPr>
                        <a:t>1</a:t>
                      </a:r>
                      <a:endParaRPr sz="1200" baseline="-10416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2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200" spc="-37" baseline="-10416" dirty="0">
                          <a:latin typeface="Arial MT"/>
                          <a:cs typeface="Arial MT"/>
                        </a:rPr>
                        <a:t>2</a:t>
                      </a:r>
                      <a:endParaRPr sz="1200" baseline="-10416">
                        <a:latin typeface="Arial MT"/>
                        <a:cs typeface="Arial MT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1100" i="1" spc="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=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f</a:t>
                      </a:r>
                      <a:r>
                        <a:rPr sz="110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baseline="27777" dirty="0">
                          <a:latin typeface="Cambria"/>
                          <a:cs typeface="Cambria"/>
                        </a:rPr>
                        <a:t>∗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(</a:t>
                      </a:r>
                      <a:r>
                        <a:rPr sz="1100" i="1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i="1" spc="-20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)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55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45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5"/>
                        </a:lnSpc>
                      </a:pPr>
                      <a:r>
                        <a:rPr sz="1100" spc="-50" dirty="0"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29539" y="1585771"/>
            <a:ext cx="36258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85420" algn="l"/>
              </a:tabLst>
            </a:pPr>
            <a:r>
              <a:rPr sz="1100" dirty="0">
                <a:latin typeface="Tahoma"/>
                <a:cs typeface="Tahoma"/>
              </a:rPr>
              <a:t>Can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DFN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b="1" spc="-675" dirty="0">
                <a:latin typeface="Trebuchet MS"/>
                <a:cs typeface="Trebuchet MS"/>
              </a:rPr>
              <a:t>ˆ</a:t>
            </a:r>
            <a:r>
              <a:rPr sz="1100" b="1" spc="-35" dirty="0">
                <a:latin typeface="Trebuchet MS"/>
                <a:cs typeface="Trebuchet MS"/>
              </a:rPr>
              <a:t>y</a:t>
            </a:r>
            <a:r>
              <a:rPr sz="1100" b="1" spc="-15" dirty="0">
                <a:latin typeface="Trebuchet MS"/>
                <a:cs typeface="Trebuchet MS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b="1" spc="-40" dirty="0">
                <a:latin typeface="Trebuchet MS"/>
                <a:cs typeface="Trebuchet MS"/>
              </a:rPr>
              <a:t>f</a:t>
            </a:r>
            <a:r>
              <a:rPr sz="1100" spc="-40" dirty="0">
                <a:latin typeface="Tahoma"/>
                <a:cs typeface="Tahoma"/>
              </a:rPr>
              <a:t>(</a:t>
            </a:r>
            <a:r>
              <a:rPr sz="1100" b="1" spc="-40" dirty="0">
                <a:latin typeface="Trebuchet MS"/>
                <a:cs typeface="Trebuchet MS"/>
              </a:rPr>
              <a:t>x</a:t>
            </a:r>
            <a:r>
              <a:rPr sz="1100" spc="-40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27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resembles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200" spc="-37" baseline="27777" dirty="0">
                <a:latin typeface="Cambria"/>
                <a:cs typeface="Cambria"/>
              </a:rPr>
              <a:t>∗</a:t>
            </a:r>
            <a:r>
              <a:rPr sz="1100" spc="-25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939" y="1880995"/>
            <a:ext cx="8597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60020" algn="l"/>
              </a:tabLst>
            </a:pPr>
            <a:r>
              <a:rPr sz="1100" dirty="0">
                <a:latin typeface="Tahoma"/>
                <a:cs typeface="Tahoma"/>
              </a:rPr>
              <a:t>Our</a:t>
            </a:r>
            <a:r>
              <a:rPr sz="1100" spc="-35" dirty="0">
                <a:latin typeface="Tahoma"/>
                <a:cs typeface="Tahoma"/>
              </a:rPr>
              <a:t> dataset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3664" y="2087409"/>
            <a:ext cx="2343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 MT"/>
                <a:cs typeface="Arial MT"/>
              </a:rPr>
              <a:t>train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2932" y="2100362"/>
            <a:ext cx="697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76555" algn="l"/>
              </a:tabLst>
            </a:pPr>
            <a:r>
              <a:rPr sz="1100" spc="-50" dirty="0">
                <a:latin typeface="Lucida Sans Unicode"/>
                <a:cs typeface="Lucida Sans Unicode"/>
              </a:rPr>
              <a:t>D</a:t>
            </a:r>
            <a:r>
              <a:rPr sz="1100" dirty="0">
                <a:latin typeface="Lucida Sans Unicode"/>
                <a:cs typeface="Lucida Sans Unicode"/>
              </a:rPr>
              <a:t>	</a:t>
            </a:r>
            <a:r>
              <a:rPr sz="1100" dirty="0">
                <a:latin typeface="Tahoma"/>
                <a:cs typeface="Tahoma"/>
              </a:rPr>
              <a:t>:=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60" dirty="0">
                <a:latin typeface="Lucida Sans Unicode"/>
                <a:cs typeface="Lucida Sans Unicode"/>
              </a:rPr>
              <a:t>{</a:t>
            </a:r>
            <a:r>
              <a:rPr sz="1100" spc="60" dirty="0">
                <a:latin typeface="Tahoma"/>
                <a:cs typeface="Tahoma"/>
              </a:rPr>
              <a:t>(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40015" y="2014104"/>
            <a:ext cx="952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74762" y="1905011"/>
            <a:ext cx="42545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09880" algn="l"/>
              </a:tabLst>
            </a:pPr>
            <a:r>
              <a:rPr sz="1100" dirty="0">
                <a:latin typeface="Tahoma"/>
                <a:cs typeface="Tahoma"/>
              </a:rPr>
              <a:t>	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7622" y="2100362"/>
            <a:ext cx="325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spc="-30" dirty="0">
                <a:latin typeface="Tahoma"/>
                <a:cs typeface="Tahoma"/>
              </a:rPr>
              <a:t>0)</a:t>
            </a:r>
            <a:r>
              <a:rPr sz="1100" i="1" spc="-3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97811" y="1905011"/>
            <a:ext cx="1276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63051" y="2014104"/>
            <a:ext cx="952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095588" y="1905011"/>
            <a:ext cx="55308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37515" algn="l"/>
              </a:tabLst>
            </a:pPr>
            <a:r>
              <a:rPr sz="1100" dirty="0">
                <a:latin typeface="Tahoma"/>
                <a:cs typeface="Tahoma"/>
              </a:rPr>
              <a:t>	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20671" y="2100362"/>
            <a:ext cx="325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spc="-30" dirty="0">
                <a:latin typeface="Tahoma"/>
                <a:cs typeface="Tahoma"/>
              </a:rPr>
              <a:t>1)</a:t>
            </a:r>
            <a:r>
              <a:rPr sz="1100" i="1" spc="-3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86100" y="2014104"/>
            <a:ext cx="952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3707" y="2100362"/>
            <a:ext cx="325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spc="-30" dirty="0">
                <a:latin typeface="Tahoma"/>
                <a:cs typeface="Tahoma"/>
              </a:rPr>
              <a:t>1)</a:t>
            </a:r>
            <a:r>
              <a:rPr sz="1100" i="1" spc="-3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09137" y="2014104"/>
            <a:ext cx="9525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18638" y="1905011"/>
            <a:ext cx="85090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37515" algn="l"/>
                <a:tab pos="735330" algn="l"/>
              </a:tabLst>
            </a:pPr>
            <a:r>
              <a:rPr sz="1100" dirty="0">
                <a:latin typeface="Tahoma"/>
                <a:cs typeface="Tahoma"/>
              </a:rPr>
              <a:t>		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66744" y="2100362"/>
            <a:ext cx="2800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25" dirty="0">
                <a:latin typeface="Tahoma"/>
                <a:cs typeface="Tahoma"/>
              </a:rPr>
              <a:t>0)</a:t>
            </a:r>
            <a:r>
              <a:rPr sz="1100" spc="-25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02181" y="2914864"/>
            <a:ext cx="755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Calibri"/>
                <a:cs typeface="Calibri"/>
              </a:rPr>
              <a:t>θ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4939" y="2442398"/>
            <a:ext cx="1993264" cy="50673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305"/>
              </a:spcBef>
              <a:buSzPct val="72727"/>
              <a:buChar char="►"/>
              <a:tabLst>
                <a:tab pos="160020" algn="l"/>
              </a:tabLst>
            </a:pPr>
            <a:r>
              <a:rPr sz="1100" spc="-30" dirty="0">
                <a:latin typeface="Tahoma"/>
                <a:cs typeface="Tahoma"/>
              </a:rPr>
              <a:t>Leading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optimization:</a:t>
            </a:r>
            <a:endParaRPr sz="1100">
              <a:latin typeface="Tahoma"/>
              <a:cs typeface="Tahoma"/>
            </a:endParaRPr>
          </a:p>
          <a:p>
            <a:pPr marL="1910714">
              <a:lnSpc>
                <a:spcPts val="1030"/>
              </a:lnSpc>
              <a:spcBef>
                <a:spcPts val="204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976630">
              <a:lnSpc>
                <a:spcPts val="1030"/>
              </a:lnSpc>
            </a:pPr>
            <a:r>
              <a:rPr sz="1100" spc="-70" dirty="0">
                <a:latin typeface="Tahoma"/>
                <a:cs typeface="Tahoma"/>
              </a:rPr>
              <a:t>arg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min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:=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27681" y="2852253"/>
            <a:ext cx="730885" cy="269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145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4</a:t>
            </a:r>
            <a:endParaRPr sz="1100">
              <a:latin typeface="Tahoma"/>
              <a:cs typeface="Tahoma"/>
            </a:endParaRPr>
          </a:p>
          <a:p>
            <a:pPr marL="145415">
              <a:lnSpc>
                <a:spcPts val="785"/>
              </a:lnSpc>
            </a:pPr>
            <a:r>
              <a:rPr sz="800" spc="20" dirty="0">
                <a:latin typeface="Arial MT"/>
                <a:cs typeface="Arial MT"/>
              </a:rPr>
              <a:t>(</a:t>
            </a:r>
            <a:r>
              <a:rPr sz="800" i="1" spc="20" dirty="0">
                <a:latin typeface="Arial"/>
                <a:cs typeface="Arial"/>
              </a:rPr>
              <a:t>x</a:t>
            </a:r>
            <a:r>
              <a:rPr sz="800" i="1" spc="20" dirty="0">
                <a:latin typeface="Calibri"/>
                <a:cs typeface="Calibri"/>
              </a:rPr>
              <a:t>,</a:t>
            </a:r>
            <a:r>
              <a:rPr sz="800" i="1" spc="20" dirty="0">
                <a:latin typeface="Arial"/>
                <a:cs typeface="Arial"/>
              </a:rPr>
              <a:t>y</a:t>
            </a:r>
            <a:r>
              <a:rPr sz="800" i="1" spc="-70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)</a:t>
            </a:r>
            <a:r>
              <a:rPr sz="800" spc="-10" dirty="0">
                <a:latin typeface="Cambria"/>
                <a:cs typeface="Cambria"/>
              </a:rPr>
              <a:t>∈D</a:t>
            </a:r>
            <a:r>
              <a:rPr sz="900" spc="-15" baseline="23148" dirty="0">
                <a:latin typeface="Arial MT"/>
                <a:cs typeface="Arial MT"/>
              </a:rPr>
              <a:t>train</a:t>
            </a:r>
            <a:endParaRPr sz="900" baseline="23148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437295" y="2625596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11779" y="2757219"/>
            <a:ext cx="8737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Georgia"/>
                <a:cs typeface="Georgia"/>
              </a:rPr>
              <a:t>θ</a:t>
            </a:r>
            <a:r>
              <a:rPr sz="1100" spc="-20" dirty="0">
                <a:latin typeface="Tahoma"/>
                <a:cs typeface="Tahoma"/>
              </a:rPr>
              <a:t>))</a:t>
            </a:r>
            <a:r>
              <a:rPr sz="1200" spc="-30" baseline="34722" dirty="0">
                <a:latin typeface="Arial MT"/>
                <a:cs typeface="Arial MT"/>
              </a:rPr>
              <a:t>2</a:t>
            </a:r>
            <a:endParaRPr sz="1200" baseline="34722">
              <a:latin typeface="Arial MT"/>
              <a:cs typeface="Arial MT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4339615" y="3351784"/>
            <a:ext cx="24066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8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3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</a:t>
            </a:r>
            <a:r>
              <a:rPr spc="25" dirty="0"/>
              <a:t> </a:t>
            </a:r>
            <a:r>
              <a:rPr spc="-55" dirty="0"/>
              <a:t>example</a:t>
            </a:r>
            <a:r>
              <a:rPr spc="30" dirty="0"/>
              <a:t> </a:t>
            </a:r>
            <a:r>
              <a:rPr dirty="0"/>
              <a:t>-</a:t>
            </a:r>
            <a:r>
              <a:rPr spc="30" dirty="0"/>
              <a:t> </a:t>
            </a:r>
            <a:r>
              <a:rPr spc="-40" dirty="0"/>
              <a:t>Learn</a:t>
            </a:r>
            <a:r>
              <a:rPr spc="30" dirty="0"/>
              <a:t> </a:t>
            </a:r>
            <a:r>
              <a:rPr dirty="0"/>
              <a:t>XOR</a:t>
            </a:r>
            <a:r>
              <a:rPr spc="25" dirty="0"/>
              <a:t> </a:t>
            </a:r>
            <a:r>
              <a:rPr spc="-25" dirty="0"/>
              <a:t>(2)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4939" y="451521"/>
            <a:ext cx="3090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6002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simple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DFN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one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layer: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6785" y="783477"/>
            <a:ext cx="1290098" cy="115398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84681" y="2042736"/>
            <a:ext cx="2715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3: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600" dirty="0">
                <a:latin typeface="Arial MT"/>
                <a:cs typeface="Arial MT"/>
              </a:rPr>
              <a:t>Left: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Detailed,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Right:</a:t>
            </a:r>
            <a:r>
              <a:rPr sz="600" spc="9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Compact,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Source:</a:t>
            </a:r>
            <a:r>
              <a:rPr sz="600" spc="85" dirty="0">
                <a:latin typeface="Arial MT"/>
                <a:cs typeface="Arial MT"/>
              </a:rPr>
              <a:t> </a:t>
            </a:r>
            <a:r>
              <a:rPr sz="600" spc="-10" dirty="0">
                <a:latin typeface="Arial MT"/>
                <a:cs typeface="Arial MT"/>
              </a:rPr>
              <a:t>Goodfellow</a:t>
            </a:r>
            <a:r>
              <a:rPr sz="600" spc="3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et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</a:rPr>
              <a:t>al.,</a:t>
            </a:r>
            <a:r>
              <a:rPr sz="600" spc="30" dirty="0">
                <a:latin typeface="Arial MT"/>
                <a:cs typeface="Arial MT"/>
              </a:rPr>
              <a:t> </a:t>
            </a:r>
            <a:r>
              <a:rPr sz="600" spc="-20" dirty="0">
                <a:latin typeface="Arial MT"/>
                <a:cs typeface="Arial MT"/>
              </a:rPr>
              <a:t>2016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9539" y="2389961"/>
            <a:ext cx="39109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85420" algn="l"/>
              </a:tabLst>
            </a:pPr>
            <a:r>
              <a:rPr sz="1100" dirty="0">
                <a:latin typeface="Tahoma"/>
                <a:cs typeface="Tahoma"/>
              </a:rPr>
              <a:t>Two </a:t>
            </a:r>
            <a:r>
              <a:rPr sz="1100" spc="-30" dirty="0">
                <a:latin typeface="Tahoma"/>
                <a:cs typeface="Tahoma"/>
              </a:rPr>
              <a:t>functions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chained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spc="-30" baseline="27777" dirty="0">
                <a:latin typeface="Arial MT"/>
                <a:cs typeface="Arial MT"/>
              </a:rPr>
              <a:t>1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200" spc="-52" baseline="27777" dirty="0">
                <a:latin typeface="Arial MT"/>
                <a:cs typeface="Arial MT"/>
              </a:rPr>
              <a:t>2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h</a:t>
            </a:r>
            <a:r>
              <a:rPr sz="1100" spc="-3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2975" y="2613042"/>
            <a:ext cx="933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280" dirty="0">
                <a:latin typeface="Arial MT"/>
                <a:cs typeface="Arial MT"/>
              </a:rPr>
              <a:t>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40279" y="2553655"/>
            <a:ext cx="1492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Arial MT"/>
                <a:cs typeface="Arial MT"/>
              </a:rPr>
              <a:t>(</a:t>
            </a:r>
            <a:r>
              <a:rPr sz="700" i="1" spc="-25" dirty="0">
                <a:latin typeface="Arial"/>
                <a:cs typeface="Arial"/>
              </a:rPr>
              <a:t>n</a:t>
            </a:r>
            <a:r>
              <a:rPr sz="700" spc="-25" dirty="0">
                <a:latin typeface="Arial MT"/>
                <a:cs typeface="Arial MT"/>
              </a:rPr>
              <a:t>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8031" y="2656728"/>
            <a:ext cx="68008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8645" algn="l"/>
              </a:tabLst>
            </a:pPr>
            <a:r>
              <a:rPr sz="700" i="1" spc="-50" dirty="0">
                <a:latin typeface="Arial"/>
                <a:cs typeface="Arial"/>
              </a:rPr>
              <a:t>i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spc="-25" dirty="0">
                <a:latin typeface="Arial MT"/>
                <a:cs typeface="Arial MT"/>
              </a:rPr>
              <a:t>:</a:t>
            </a:r>
            <a:r>
              <a:rPr sz="700" i="1" spc="-25" dirty="0">
                <a:latin typeface="Arial"/>
                <a:cs typeface="Arial"/>
              </a:rPr>
              <a:t>,i</a:t>
            </a:r>
            <a:endParaRPr sz="7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34550" y="2573454"/>
            <a:ext cx="30099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75" dirty="0">
                <a:latin typeface="Arial"/>
                <a:cs typeface="Arial"/>
              </a:rPr>
              <a:t>T</a:t>
            </a:r>
            <a:r>
              <a:rPr sz="700" i="1" spc="155" dirty="0">
                <a:latin typeface="Arial"/>
                <a:cs typeface="Arial"/>
              </a:rPr>
              <a:t>  </a:t>
            </a:r>
            <a:r>
              <a:rPr sz="700" spc="-25" dirty="0">
                <a:latin typeface="Arial MT"/>
                <a:cs typeface="Arial MT"/>
              </a:rPr>
              <a:t>(</a:t>
            </a:r>
            <a:r>
              <a:rPr sz="700" i="1" spc="-25" dirty="0">
                <a:latin typeface="Arial"/>
                <a:cs typeface="Arial"/>
              </a:rPr>
              <a:t>n</a:t>
            </a:r>
            <a:r>
              <a:rPr sz="700" spc="-25" dirty="0">
                <a:latin typeface="Arial MT"/>
                <a:cs typeface="Arial MT"/>
              </a:rPr>
              <a:t>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0034" y="2581419"/>
            <a:ext cx="287274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937385" algn="l"/>
                <a:tab pos="2677160" algn="l"/>
              </a:tabLst>
            </a:pPr>
            <a:r>
              <a:rPr sz="1000" dirty="0">
                <a:latin typeface="Tahoma"/>
                <a:cs typeface="Tahoma"/>
              </a:rPr>
              <a:t>For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n-</a:t>
            </a:r>
            <a:r>
              <a:rPr sz="1000" dirty="0">
                <a:latin typeface="Tahoma"/>
                <a:cs typeface="Tahoma"/>
              </a:rPr>
              <a:t>th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instance: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Hidden-</a:t>
            </a:r>
            <a:r>
              <a:rPr sz="1000" spc="-50" dirty="0">
                <a:latin typeface="Tahoma"/>
                <a:cs typeface="Tahoma"/>
              </a:rPr>
              <a:t>layer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g</a:t>
            </a:r>
            <a:r>
              <a:rPr sz="1000" i="1" spc="43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114" dirty="0">
                <a:latin typeface="Arial"/>
                <a:cs typeface="Arial"/>
              </a:rPr>
              <a:t>  </a:t>
            </a: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dirty="0">
                <a:latin typeface="Arial"/>
                <a:cs typeface="Arial"/>
              </a:rPr>
              <a:t>	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c</a:t>
            </a:r>
            <a:endParaRPr sz="1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27310" y="2638351"/>
            <a:ext cx="4826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36621" y="2478930"/>
            <a:ext cx="81216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740410" algn="l"/>
              </a:tabLst>
            </a:pPr>
            <a:r>
              <a:rPr sz="1000" dirty="0">
                <a:latin typeface="Tahoma"/>
                <a:cs typeface="Tahoma"/>
              </a:rPr>
              <a:t>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7575" y="2758662"/>
            <a:ext cx="2816860" cy="4527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27" baseline="13888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For </a:t>
            </a:r>
            <a:r>
              <a:rPr sz="1000" spc="-35" dirty="0">
                <a:latin typeface="Tahoma"/>
                <a:cs typeface="Tahoma"/>
              </a:rPr>
              <a:t>n-</a:t>
            </a:r>
            <a:r>
              <a:rPr sz="1000" dirty="0">
                <a:latin typeface="Tahoma"/>
                <a:cs typeface="Tahoma"/>
              </a:rPr>
              <a:t>th </a:t>
            </a:r>
            <a:r>
              <a:rPr sz="1000" spc="-30" dirty="0">
                <a:latin typeface="Tahoma"/>
                <a:cs typeface="Tahoma"/>
              </a:rPr>
              <a:t>instance: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output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layer:</a:t>
            </a:r>
            <a:r>
              <a:rPr sz="1000" spc="100" dirty="0">
                <a:latin typeface="Tahoma"/>
                <a:cs typeface="Tahoma"/>
              </a:rPr>
              <a:t> </a:t>
            </a:r>
            <a:r>
              <a:rPr sz="1000" i="1" spc="-210" dirty="0">
                <a:latin typeface="Arial"/>
                <a:cs typeface="Arial"/>
              </a:rPr>
              <a:t>y</a:t>
            </a:r>
            <a:r>
              <a:rPr sz="1000" spc="-210" dirty="0">
                <a:latin typeface="Tahoma"/>
                <a:cs typeface="Tahoma"/>
              </a:rPr>
              <a:t>ˆ</a:t>
            </a:r>
            <a:r>
              <a:rPr sz="1050" i="1" spc="-315" baseline="-11904" dirty="0">
                <a:latin typeface="Arial"/>
                <a:cs typeface="Arial"/>
              </a:rPr>
              <a:t>n</a:t>
            </a:r>
            <a:r>
              <a:rPr sz="1050" i="1" spc="21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50" i="1" spc="112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h</a:t>
            </a:r>
            <a:r>
              <a:rPr sz="1050" baseline="27777" dirty="0">
                <a:latin typeface="Arial MT"/>
                <a:cs typeface="Arial MT"/>
              </a:rPr>
              <a:t>(</a:t>
            </a:r>
            <a:r>
              <a:rPr sz="1050" i="1" baseline="27777" dirty="0">
                <a:latin typeface="Arial"/>
                <a:cs typeface="Arial"/>
              </a:rPr>
              <a:t>n</a:t>
            </a:r>
            <a:r>
              <a:rPr sz="1050" baseline="27777" dirty="0">
                <a:latin typeface="Arial MT"/>
                <a:cs typeface="Arial MT"/>
              </a:rPr>
              <a:t>)</a:t>
            </a:r>
            <a:r>
              <a:rPr sz="1050" spc="89" baseline="27777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42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14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50" dirty="0">
                <a:latin typeface="Georgia"/>
                <a:cs typeface="Georgia"/>
              </a:rPr>
              <a:t>R</a:t>
            </a:r>
            <a:r>
              <a:rPr sz="1050" spc="75" baseline="27777" dirty="0">
                <a:latin typeface="Arial MT"/>
                <a:cs typeface="Arial MT"/>
              </a:rPr>
              <a:t>2</a:t>
            </a:r>
            <a:r>
              <a:rPr sz="1050" spc="75" baseline="27777" dirty="0">
                <a:latin typeface="Cambria"/>
                <a:cs typeface="Cambria"/>
              </a:rPr>
              <a:t>×</a:t>
            </a:r>
            <a:r>
              <a:rPr sz="1050" spc="75" baseline="27777" dirty="0">
                <a:latin typeface="Arial MT"/>
                <a:cs typeface="Arial MT"/>
              </a:rPr>
              <a:t>2</a:t>
            </a:r>
            <a:r>
              <a:rPr sz="1000" i="1" spc="5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c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50" dirty="0">
                <a:latin typeface="Georgia"/>
                <a:cs typeface="Georgia"/>
              </a:rPr>
              <a:t>R</a:t>
            </a:r>
            <a:r>
              <a:rPr sz="1050" spc="75" baseline="27777" dirty="0">
                <a:latin typeface="Arial MT"/>
                <a:cs typeface="Arial MT"/>
              </a:rPr>
              <a:t>2</a:t>
            </a:r>
            <a:r>
              <a:rPr sz="1050" spc="75" baseline="27777" dirty="0">
                <a:latin typeface="Cambria"/>
                <a:cs typeface="Cambria"/>
              </a:rPr>
              <a:t>×</a:t>
            </a:r>
            <a:r>
              <a:rPr sz="1050" spc="75" baseline="27777" dirty="0">
                <a:latin typeface="Arial MT"/>
                <a:cs typeface="Arial MT"/>
              </a:rPr>
              <a:t>1</a:t>
            </a:r>
            <a:r>
              <a:rPr sz="1000" i="1" spc="5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9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50" dirty="0">
                <a:latin typeface="Georgia"/>
                <a:cs typeface="Georgia"/>
              </a:rPr>
              <a:t>R</a:t>
            </a:r>
            <a:r>
              <a:rPr sz="1050" spc="75" baseline="27777" dirty="0">
                <a:latin typeface="Arial MT"/>
                <a:cs typeface="Arial MT"/>
              </a:rPr>
              <a:t>2</a:t>
            </a:r>
            <a:r>
              <a:rPr sz="1050" spc="75" baseline="27777" dirty="0">
                <a:latin typeface="Cambria"/>
                <a:cs typeface="Cambria"/>
              </a:rPr>
              <a:t>×</a:t>
            </a:r>
            <a:r>
              <a:rPr sz="1050" spc="75" baseline="27777" dirty="0">
                <a:latin typeface="Arial MT"/>
                <a:cs typeface="Arial MT"/>
              </a:rPr>
              <a:t>1</a:t>
            </a:r>
            <a:r>
              <a:rPr sz="1000" i="1" spc="5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50" dirty="0">
                <a:latin typeface="Georgia"/>
                <a:cs typeface="Georgia"/>
              </a:rPr>
              <a:t>R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9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1710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Rectified </a:t>
            </a:r>
            <a:r>
              <a:rPr spc="-30" dirty="0"/>
              <a:t>Linear</a:t>
            </a:r>
            <a:r>
              <a:rPr spc="-20" dirty="0"/>
              <a:t> </a:t>
            </a:r>
            <a:r>
              <a:rPr dirty="0"/>
              <a:t>Unit</a:t>
            </a:r>
            <a:r>
              <a:rPr spc="-15" dirty="0"/>
              <a:t> </a:t>
            </a:r>
            <a:r>
              <a:rPr spc="-10" dirty="0"/>
              <a:t>(ReLU)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332318"/>
            <a:ext cx="2783205" cy="7874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spc="-35" dirty="0">
                <a:latin typeface="Tahoma"/>
                <a:cs typeface="Tahoma"/>
              </a:rPr>
              <a:t>linear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  <a:p>
            <a:pPr marL="1586230">
              <a:lnSpc>
                <a:spcPct val="100000"/>
              </a:lnSpc>
              <a:spcBef>
                <a:spcPts val="680"/>
              </a:spcBef>
            </a:pPr>
            <a:r>
              <a:rPr sz="1100" spc="-50" dirty="0">
                <a:latin typeface="Tahoma"/>
                <a:cs typeface="Tahoma"/>
              </a:rPr>
              <a:t>relu(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:=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max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0" dirty="0">
                <a:latin typeface="Georgia"/>
                <a:cs typeface="Georgi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13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100" spc="-10" dirty="0">
                <a:latin typeface="Tahoma"/>
                <a:cs typeface="Tahoma"/>
              </a:rPr>
              <a:t>node: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23590" y="1253933"/>
            <a:ext cx="1460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k</a:t>
            </a:r>
            <a:r>
              <a:rPr sz="800" i="1" spc="-25" dirty="0">
                <a:latin typeface="Calibri"/>
                <a:cs typeface="Calibri"/>
              </a:rPr>
              <a:t>,.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6066" y="1181352"/>
            <a:ext cx="3517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:=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relu(</a:t>
            </a:r>
            <a:r>
              <a:rPr sz="1100" i="1" spc="-45" dirty="0">
                <a:latin typeface="Arial"/>
                <a:cs typeface="Arial"/>
              </a:rPr>
              <a:t>Wz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max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i="1" spc="-55" dirty="0">
                <a:latin typeface="Arial"/>
                <a:cs typeface="Arial"/>
              </a:rPr>
              <a:t>Wz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180" dirty="0">
                <a:latin typeface="Lucida Sans Unicode"/>
                <a:cs typeface="Lucida Sans Unicode"/>
              </a:rPr>
              <a:t>}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(max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Georgia"/>
                <a:cs typeface="Georgia"/>
              </a:rPr>
              <a:t>,</a:t>
            </a:r>
            <a:r>
              <a:rPr sz="1100" i="1" spc="-75" dirty="0">
                <a:latin typeface="Georgia"/>
                <a:cs typeface="Georgia"/>
              </a:rPr>
              <a:t> </a:t>
            </a:r>
            <a:r>
              <a:rPr sz="1100" spc="-10" dirty="0">
                <a:latin typeface="Tahoma"/>
                <a:cs typeface="Tahoma"/>
              </a:rPr>
              <a:t>(</a:t>
            </a:r>
            <a:r>
              <a:rPr sz="1100" i="1" spc="-10" dirty="0">
                <a:latin typeface="Arial"/>
                <a:cs typeface="Arial"/>
              </a:rPr>
              <a:t>W</a:t>
            </a:r>
            <a:r>
              <a:rPr sz="1100" i="1" spc="-120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52" baseline="31250" dirty="0">
                <a:latin typeface="Arial"/>
                <a:cs typeface="Arial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45" dirty="0">
                <a:latin typeface="Tahoma"/>
                <a:cs typeface="Tahoma"/>
              </a:rPr>
              <a:t>)</a:t>
            </a:r>
            <a:r>
              <a:rPr sz="1100" spc="45" dirty="0">
                <a:latin typeface="Lucida Sans Unicode"/>
                <a:cs typeface="Lucida Sans Unicode"/>
              </a:rPr>
              <a:t>}</a:t>
            </a:r>
            <a:r>
              <a:rPr sz="1100" spc="45" dirty="0">
                <a:latin typeface="Tahoma"/>
                <a:cs typeface="Tahoma"/>
              </a:rPr>
              <a:t>)</a:t>
            </a:r>
            <a:r>
              <a:rPr sz="1200" i="1" spc="67" baseline="-13888" dirty="0">
                <a:latin typeface="Arial"/>
                <a:cs typeface="Arial"/>
              </a:rPr>
              <a:t>k</a:t>
            </a:r>
            <a:r>
              <a:rPr sz="1200" spc="67" baseline="-13888" dirty="0">
                <a:latin typeface="Arial MT"/>
                <a:cs typeface="Arial MT"/>
              </a:rPr>
              <a:t>=1:</a:t>
            </a:r>
            <a:r>
              <a:rPr sz="1200" i="1" spc="67" baseline="-13888" dirty="0">
                <a:latin typeface="Arial"/>
                <a:cs typeface="Arial"/>
              </a:rPr>
              <a:t>K</a:t>
            </a:r>
            <a:endParaRPr sz="1200" baseline="-13888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57033" y="1648806"/>
            <a:ext cx="1878874" cy="11218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22096" y="2827825"/>
            <a:ext cx="29635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Figure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4: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ReLU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activation,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Source:</a:t>
            </a:r>
            <a:r>
              <a:rPr sz="800" spc="114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Goodfellow</a:t>
            </a:r>
            <a:r>
              <a:rPr sz="800" spc="2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et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al.,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2016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”Deus</a:t>
            </a:r>
            <a:r>
              <a:rPr spc="-55" dirty="0"/>
              <a:t> </a:t>
            </a:r>
            <a:r>
              <a:rPr spc="-35" dirty="0"/>
              <a:t>ex</a:t>
            </a:r>
            <a:r>
              <a:rPr spc="-50" dirty="0"/>
              <a:t> </a:t>
            </a:r>
            <a:r>
              <a:rPr spc="-20" dirty="0"/>
              <a:t>machina”</a:t>
            </a:r>
            <a:r>
              <a:rPr spc="-50" dirty="0"/>
              <a:t> </a:t>
            </a:r>
            <a:r>
              <a:rPr spc="-20" dirty="0"/>
              <a:t>solution?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1019821"/>
            <a:ext cx="21209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Suppose </a:t>
            </a:r>
            <a:r>
              <a:rPr sz="1100" spc="-120" dirty="0">
                <a:latin typeface="Tahoma"/>
                <a:cs typeface="Tahoma"/>
              </a:rPr>
              <a:t>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magically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found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4519" y="1550440"/>
            <a:ext cx="3251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15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4447" y="1464181"/>
            <a:ext cx="998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16305" algn="l"/>
              </a:tabLst>
            </a:pPr>
            <a:r>
              <a:rPr sz="1100" dirty="0">
                <a:latin typeface="Tahoma"/>
                <a:cs typeface="Tahoma"/>
              </a:rPr>
              <a:t>1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2466" y="1355088"/>
            <a:ext cx="125666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379095" algn="l"/>
                <a:tab pos="862330" algn="l"/>
                <a:tab pos="1141095" algn="l"/>
              </a:tabLst>
            </a:pPr>
            <a:r>
              <a:rPr sz="1100" dirty="0">
                <a:latin typeface="Tahoma"/>
                <a:cs typeface="Tahoma"/>
              </a:rPr>
              <a:t>			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96933" y="14641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4447" y="1636254"/>
            <a:ext cx="18516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62330" algn="l"/>
                <a:tab pos="1661160" algn="l"/>
              </a:tabLst>
            </a:pPr>
            <a:r>
              <a:rPr sz="1100" dirty="0">
                <a:latin typeface="Tahoma"/>
                <a:cs typeface="Tahoma"/>
              </a:rPr>
              <a:t>1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Lucida Sans Unicode"/>
                <a:cs typeface="Lucida Sans Unicode"/>
              </a:rPr>
              <a:t>−</a:t>
            </a:r>
            <a:r>
              <a:rPr sz="1100" spc="-25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Lucida Sans Unicode"/>
                <a:cs typeface="Lucida Sans Unicode"/>
              </a:rPr>
              <a:t>−</a:t>
            </a:r>
            <a:r>
              <a:rPr sz="1100" spc="-25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1066" y="1355088"/>
            <a:ext cx="40640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291465" algn="l"/>
              </a:tabLst>
            </a:pPr>
            <a:r>
              <a:rPr sz="1100" dirty="0">
                <a:latin typeface="Tahoma"/>
                <a:cs typeface="Tahoma"/>
              </a:rPr>
              <a:t>	 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4591" y="1550440"/>
            <a:ext cx="2016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4065" algn="l"/>
                <a:tab pos="1572895" algn="l"/>
              </a:tabLst>
            </a:pP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175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185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204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5844" y="1935923"/>
            <a:ext cx="423037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would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optimization</a:t>
            </a:r>
            <a:r>
              <a:rPr sz="1100" spc="-40" dirty="0">
                <a:latin typeface="Tahoma"/>
                <a:cs typeface="Tahoma"/>
              </a:rPr>
              <a:t> technique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backpropagation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learn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network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parameters.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XOR</a:t>
            </a:r>
            <a:r>
              <a:rPr spc="-5" dirty="0"/>
              <a:t> </a:t>
            </a:r>
            <a:r>
              <a:rPr spc="-10" dirty="0"/>
              <a:t>Solution</a:t>
            </a:r>
            <a:r>
              <a:rPr dirty="0"/>
              <a:t> - </a:t>
            </a:r>
            <a:r>
              <a:rPr spc="-30" dirty="0"/>
              <a:t>Hidden</a:t>
            </a:r>
            <a:r>
              <a:rPr dirty="0"/>
              <a:t> </a:t>
            </a:r>
            <a:r>
              <a:rPr spc="-50" dirty="0"/>
              <a:t>Layer</a:t>
            </a:r>
            <a:r>
              <a:rPr dirty="0"/>
              <a:t> </a:t>
            </a:r>
            <a:r>
              <a:rPr spc="-25" dirty="0"/>
              <a:t>Computations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74420" y="584372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(1)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0272" y="71036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5242" y="625835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6814" y="700562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1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1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6207" y="516427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8245" y="642576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30989" y="641941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2311" y="550590"/>
            <a:ext cx="37655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48813" y="572358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8813" y="711525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06167" y="482264"/>
            <a:ext cx="1000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8630" algn="l"/>
                <a:tab pos="901065" algn="l"/>
              </a:tabLst>
            </a:pP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9488" y="642576"/>
            <a:ext cx="8978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60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(0)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4420" y="913340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(1)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0272" y="103932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05242" y="954803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6814" y="1029530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2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1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06207" y="845395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06167" y="811232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98245" y="971544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530989" y="970909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292311" y="879558"/>
            <a:ext cx="37655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748813" y="901326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748813" y="1040493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62656" y="811232"/>
            <a:ext cx="544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919488" y="971544"/>
            <a:ext cx="98869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70" dirty="0">
                <a:latin typeface="Sitka Small"/>
                <a:cs typeface="Sitka Small"/>
              </a:rPr>
              <a:t>—</a:t>
            </a:r>
            <a:r>
              <a:rPr sz="900" i="1" spc="-75" dirty="0">
                <a:latin typeface="Sitka Small"/>
                <a:cs typeface="Sitka Small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185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Sitka Small"/>
                <a:cs typeface="Sitka Small"/>
              </a:rPr>
              <a:t>−</a:t>
            </a:r>
            <a:r>
              <a:rPr sz="900" dirty="0">
                <a:latin typeface="Tahoma"/>
                <a:cs typeface="Tahoma"/>
              </a:rPr>
              <a:t>1)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4420" y="1242309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(2)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0272" y="136829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05242" y="1283772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486814" y="1358498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1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2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06207" y="1174363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06167" y="1140200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98245" y="1300513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530989" y="1299878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92311" y="1208527"/>
            <a:ext cx="37655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48813" y="1230282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48813" y="1369461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62656" y="1140200"/>
            <a:ext cx="544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19488" y="1300513"/>
            <a:ext cx="8978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60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(1)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4420" y="1571277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(2)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0272" y="169725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05242" y="1612740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86814" y="1687466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2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2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06207" y="1503332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206167" y="1469169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98245" y="1629481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30989" y="1628846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748813" y="1559250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748813" y="1698429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662656" y="1469169"/>
            <a:ext cx="544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919488" y="1629481"/>
            <a:ext cx="8978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70" dirty="0">
                <a:latin typeface="Sitka Small"/>
                <a:cs typeface="Sitka Small"/>
              </a:rPr>
              <a:t>—</a:t>
            </a:r>
            <a:r>
              <a:rPr sz="900" i="1" spc="-75" dirty="0">
                <a:latin typeface="Sitka Small"/>
                <a:cs typeface="Sitka Small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165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(0)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4420" y="1900245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(3)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760272" y="202622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05242" y="1941695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486814" y="2016435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1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3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06207" y="1832300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206167" y="1798137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998245" y="1958449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2530989" y="1957814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748813" y="1888218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748813" y="2027397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662656" y="1798137"/>
            <a:ext cx="544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919488" y="1958449"/>
            <a:ext cx="8978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60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(1)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74420" y="2229213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(3)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760272" y="235519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505242" y="2270663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86814" y="2345403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2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3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306207" y="2161268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206167" y="2127105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8245" y="2287417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530989" y="2286782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748813" y="2217186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748813" y="2356365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2662669" y="2127105"/>
            <a:ext cx="544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74420" y="2558181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(4)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60272" y="268416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05242" y="2599631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486814" y="2674371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1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4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306207" y="2490236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206167" y="2456073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998245" y="2616385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2530989" y="2615750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2748813" y="2546154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2748813" y="2685333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662669" y="2255409"/>
            <a:ext cx="1154430" cy="3632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345"/>
              </a:spcBef>
            </a:pPr>
            <a:r>
              <a:rPr sz="900" i="1" spc="-70" dirty="0">
                <a:latin typeface="Sitka Small"/>
                <a:cs typeface="Sitka Small"/>
              </a:rPr>
              <a:t>—</a:t>
            </a:r>
            <a:r>
              <a:rPr sz="900" i="1" spc="-75" dirty="0">
                <a:latin typeface="Sitka Small"/>
                <a:cs typeface="Sitka Small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165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(0)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74420" y="2887149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0" baseline="-27777" dirty="0">
                <a:latin typeface="Arial"/>
                <a:cs typeface="Arial"/>
              </a:rPr>
              <a:t>h</a:t>
            </a:r>
            <a:r>
              <a:rPr sz="600" spc="-20" dirty="0">
                <a:latin typeface="Arial MT"/>
                <a:cs typeface="Arial MT"/>
              </a:rPr>
              <a:t>(4)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760272" y="301313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505242" y="2928599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486814" y="3003339"/>
            <a:ext cx="21780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:</a:t>
            </a:r>
            <a:r>
              <a:rPr sz="600" i="1" dirty="0">
                <a:latin typeface="Arial"/>
                <a:cs typeface="Arial"/>
              </a:rPr>
              <a:t>,</a:t>
            </a:r>
            <a:r>
              <a:rPr sz="600" dirty="0">
                <a:latin typeface="Arial MT"/>
                <a:cs typeface="Arial MT"/>
              </a:rPr>
              <a:t>2</a:t>
            </a:r>
            <a:r>
              <a:rPr sz="600" spc="350" dirty="0">
                <a:latin typeface="Arial MT"/>
                <a:cs typeface="Arial MT"/>
              </a:rPr>
              <a:t> </a:t>
            </a:r>
            <a:r>
              <a:rPr sz="900" spc="-89" baseline="4629" dirty="0">
                <a:latin typeface="Arial MT"/>
                <a:cs typeface="Arial MT"/>
              </a:rPr>
              <a:t>4</a:t>
            </a:r>
            <a:endParaRPr sz="900" baseline="4629">
              <a:latin typeface="Arial MT"/>
              <a:cs typeface="Arial MT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306207" y="2819204"/>
            <a:ext cx="67881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595630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2206167" y="2785041"/>
            <a:ext cx="11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998245" y="2945340"/>
            <a:ext cx="1431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0170" algn="l"/>
              </a:tabLst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04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14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W</a:t>
            </a:r>
            <a:r>
              <a:rPr sz="900" i="1" spc="130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c</a:t>
            </a:r>
            <a:r>
              <a:rPr sz="900" i="1" spc="180" dirty="0">
                <a:latin typeface="Arial"/>
                <a:cs typeface="Arial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g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530989" y="2944718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2292311" y="1537495"/>
            <a:ext cx="376555" cy="147828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309245" algn="l"/>
              </a:tabLst>
            </a:pPr>
            <a:r>
              <a:rPr sz="900" dirty="0">
                <a:latin typeface="Arial MT"/>
                <a:cs typeface="Arial MT"/>
              </a:rPr>
              <a:t>	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748813" y="2875122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2748813" y="3014301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2662669" y="2584377"/>
            <a:ext cx="1154430" cy="36322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69240">
              <a:lnSpc>
                <a:spcPct val="100000"/>
              </a:lnSpc>
              <a:spcBef>
                <a:spcPts val="34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60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(2)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444500" algn="l"/>
              </a:tabLst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2919488" y="2945340"/>
            <a:ext cx="8978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70" dirty="0">
                <a:latin typeface="Sitka Small"/>
                <a:cs typeface="Sitka Small"/>
              </a:rPr>
              <a:t>—</a:t>
            </a:r>
            <a:r>
              <a:rPr sz="900" i="1" spc="-75" dirty="0">
                <a:latin typeface="Sitka Small"/>
                <a:cs typeface="Sitka Small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165" dirty="0">
                <a:latin typeface="Tahoma"/>
                <a:cs typeface="Tahoma"/>
              </a:rPr>
              <a:t> 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g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(1)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12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32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5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2.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example: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5" dirty="0">
                <a:latin typeface="Arial MT"/>
                <a:cs typeface="Arial MT"/>
                <a:hlinkClick r:id="rId3" action="ppaction://hlinksldjump"/>
              </a:rPr>
              <a:t>XOR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XOR</a:t>
            </a:r>
            <a:r>
              <a:rPr spc="5" dirty="0"/>
              <a:t> </a:t>
            </a:r>
            <a:r>
              <a:rPr spc="-10" dirty="0"/>
              <a:t>Solution</a:t>
            </a:r>
            <a:r>
              <a:rPr spc="5" dirty="0"/>
              <a:t> </a:t>
            </a:r>
            <a:r>
              <a:rPr dirty="0"/>
              <a:t>-</a:t>
            </a:r>
            <a:r>
              <a:rPr spc="10" dirty="0"/>
              <a:t> </a:t>
            </a:r>
            <a:r>
              <a:rPr dirty="0"/>
              <a:t>Output</a:t>
            </a:r>
            <a:r>
              <a:rPr spc="5" dirty="0"/>
              <a:t> </a:t>
            </a:r>
            <a:r>
              <a:rPr spc="-50" dirty="0"/>
              <a:t>Layer</a:t>
            </a:r>
            <a:r>
              <a:rPr spc="10" dirty="0"/>
              <a:t> </a:t>
            </a:r>
            <a:r>
              <a:rPr spc="-25" dirty="0"/>
              <a:t>Computations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2385" y="1059937"/>
            <a:ext cx="245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7" baseline="-27777" dirty="0">
                <a:latin typeface="Arial"/>
                <a:cs typeface="Arial"/>
              </a:rPr>
              <a:t>y</a:t>
            </a:r>
            <a:r>
              <a:rPr sz="1350" spc="-37" baseline="-27777" dirty="0">
                <a:latin typeface="Tahoma"/>
                <a:cs typeface="Tahoma"/>
              </a:rPr>
              <a:t>ˆ</a:t>
            </a:r>
            <a:r>
              <a:rPr sz="600" spc="-25" dirty="0">
                <a:latin typeface="Arial MT"/>
                <a:cs typeface="Arial MT"/>
              </a:rPr>
              <a:t>(1)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4025" y="1044417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4025" y="1183584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7868" y="954323"/>
            <a:ext cx="2565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64700" y="1114635"/>
            <a:ext cx="415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2385" y="1388905"/>
            <a:ext cx="245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7" baseline="-27777" dirty="0">
                <a:latin typeface="Arial"/>
                <a:cs typeface="Arial"/>
              </a:rPr>
              <a:t>y</a:t>
            </a:r>
            <a:r>
              <a:rPr sz="1350" spc="-37" baseline="-27777" dirty="0">
                <a:latin typeface="Tahoma"/>
                <a:cs typeface="Tahoma"/>
              </a:rPr>
              <a:t>ˆ</a:t>
            </a:r>
            <a:r>
              <a:rPr sz="600" spc="-25" dirty="0">
                <a:latin typeface="Arial MT"/>
                <a:cs typeface="Arial MT"/>
              </a:rPr>
              <a:t>(2)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4025" y="1373372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94025" y="1512552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7868" y="1283291"/>
            <a:ext cx="2565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064700" y="1443603"/>
            <a:ext cx="415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02385" y="1717860"/>
            <a:ext cx="245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7" baseline="-27777" dirty="0">
                <a:latin typeface="Arial"/>
                <a:cs typeface="Arial"/>
              </a:rPr>
              <a:t>y</a:t>
            </a:r>
            <a:r>
              <a:rPr sz="1350" spc="-37" baseline="-27777" dirty="0">
                <a:latin typeface="Tahoma"/>
                <a:cs typeface="Tahoma"/>
              </a:rPr>
              <a:t>ˆ</a:t>
            </a:r>
            <a:r>
              <a:rPr sz="600" spc="-25" dirty="0">
                <a:latin typeface="Arial MT"/>
                <a:cs typeface="Arial MT"/>
              </a:rPr>
              <a:t>(3)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94025" y="1702341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4025" y="1841520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07868" y="1612259"/>
            <a:ext cx="2565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3832" y="1114635"/>
            <a:ext cx="1470025" cy="114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20" dirty="0">
                <a:latin typeface="Tahoma"/>
                <a:cs typeface="Tahoma"/>
              </a:rPr>
              <a:t>  </a:t>
            </a:r>
            <a:r>
              <a:rPr sz="900" i="1" spc="-35" dirty="0">
                <a:latin typeface="Arial"/>
                <a:cs typeface="Arial"/>
              </a:rPr>
              <a:t>w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97" baseline="41666" dirty="0">
                <a:latin typeface="Arial"/>
                <a:cs typeface="Arial"/>
              </a:rPr>
              <a:t>T</a:t>
            </a:r>
            <a:r>
              <a:rPr sz="900" i="1" spc="-60" baseline="41666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baseline="41666" dirty="0">
                <a:latin typeface="Arial MT"/>
                <a:cs typeface="Arial MT"/>
              </a:rPr>
              <a:t>(1)</a:t>
            </a:r>
            <a:r>
              <a:rPr sz="900" spc="120" baseline="41666" dirty="0">
                <a:latin typeface="Arial MT"/>
                <a:cs typeface="Arial MT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1350" spc="644" baseline="43209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225" dirty="0">
                <a:latin typeface="Tahoma"/>
                <a:cs typeface="Tahoma"/>
              </a:rPr>
              <a:t>  </a:t>
            </a:r>
            <a:r>
              <a:rPr sz="900" i="1" spc="-25" dirty="0">
                <a:latin typeface="Sitka Small"/>
                <a:cs typeface="Sitka Small"/>
              </a:rPr>
              <a:t>−</a:t>
            </a:r>
            <a:r>
              <a:rPr sz="900" spc="-25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9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20" dirty="0">
                <a:latin typeface="Tahoma"/>
                <a:cs typeface="Tahoma"/>
              </a:rPr>
              <a:t>  </a:t>
            </a:r>
            <a:r>
              <a:rPr sz="900" i="1" spc="-35" dirty="0">
                <a:latin typeface="Arial"/>
                <a:cs typeface="Arial"/>
              </a:rPr>
              <a:t>w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97" baseline="41666" dirty="0">
                <a:latin typeface="Arial"/>
                <a:cs typeface="Arial"/>
              </a:rPr>
              <a:t>T</a:t>
            </a:r>
            <a:r>
              <a:rPr sz="900" i="1" spc="-60" baseline="41666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baseline="41666" dirty="0">
                <a:latin typeface="Arial MT"/>
                <a:cs typeface="Arial MT"/>
              </a:rPr>
              <a:t>(2)</a:t>
            </a:r>
            <a:r>
              <a:rPr sz="900" spc="120" baseline="41666" dirty="0">
                <a:latin typeface="Arial MT"/>
                <a:cs typeface="Arial MT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1350" spc="644" baseline="43209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225" dirty="0">
                <a:latin typeface="Tahoma"/>
                <a:cs typeface="Tahoma"/>
              </a:rPr>
              <a:t>  </a:t>
            </a:r>
            <a:r>
              <a:rPr sz="900" i="1" spc="-25" dirty="0">
                <a:latin typeface="Sitka Small"/>
                <a:cs typeface="Sitka Small"/>
              </a:rPr>
              <a:t>−</a:t>
            </a:r>
            <a:r>
              <a:rPr sz="900" spc="-25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  <a:spcBef>
                <a:spcPts val="5"/>
              </a:spcBef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20" dirty="0">
                <a:latin typeface="Tahoma"/>
                <a:cs typeface="Tahoma"/>
              </a:rPr>
              <a:t>  </a:t>
            </a:r>
            <a:r>
              <a:rPr sz="900" i="1" spc="-35" dirty="0">
                <a:latin typeface="Arial"/>
                <a:cs typeface="Arial"/>
              </a:rPr>
              <a:t>w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97" baseline="41666" dirty="0">
                <a:latin typeface="Arial"/>
                <a:cs typeface="Arial"/>
              </a:rPr>
              <a:t>T</a:t>
            </a:r>
            <a:r>
              <a:rPr sz="900" i="1" spc="-60" baseline="41666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baseline="41666" dirty="0">
                <a:latin typeface="Arial MT"/>
                <a:cs typeface="Arial MT"/>
              </a:rPr>
              <a:t>(3)</a:t>
            </a:r>
            <a:r>
              <a:rPr sz="900" spc="120" baseline="41666" dirty="0">
                <a:latin typeface="Arial MT"/>
                <a:cs typeface="Arial MT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1350" spc="644" baseline="43209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225" dirty="0">
                <a:latin typeface="Tahoma"/>
                <a:cs typeface="Tahoma"/>
              </a:rPr>
              <a:t>  </a:t>
            </a:r>
            <a:r>
              <a:rPr sz="900" i="1" spc="-25" dirty="0">
                <a:latin typeface="Sitka Small"/>
                <a:cs typeface="Sitka Small"/>
              </a:rPr>
              <a:t>−</a:t>
            </a:r>
            <a:r>
              <a:rPr sz="900" spc="-25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sz="900">
              <a:latin typeface="Tahoma"/>
              <a:cs typeface="Tahoma"/>
            </a:endParaRPr>
          </a:p>
          <a:p>
            <a:pPr marL="88900">
              <a:lnSpc>
                <a:spcPct val="100000"/>
              </a:lnSpc>
            </a:pP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220" dirty="0">
                <a:latin typeface="Tahoma"/>
                <a:cs typeface="Tahoma"/>
              </a:rPr>
              <a:t>  </a:t>
            </a:r>
            <a:r>
              <a:rPr sz="900" i="1" spc="-35" dirty="0">
                <a:latin typeface="Arial"/>
                <a:cs typeface="Arial"/>
              </a:rPr>
              <a:t>w</a:t>
            </a:r>
            <a:r>
              <a:rPr sz="900" i="1" spc="-150" dirty="0">
                <a:latin typeface="Arial"/>
                <a:cs typeface="Arial"/>
              </a:rPr>
              <a:t> </a:t>
            </a:r>
            <a:r>
              <a:rPr sz="900" i="1" spc="97" baseline="41666" dirty="0">
                <a:latin typeface="Arial"/>
                <a:cs typeface="Arial"/>
              </a:rPr>
              <a:t>T</a:t>
            </a:r>
            <a:r>
              <a:rPr sz="900" i="1" spc="-60" baseline="41666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h</a:t>
            </a:r>
            <a:r>
              <a:rPr sz="900" baseline="41666" dirty="0">
                <a:latin typeface="Arial MT"/>
                <a:cs typeface="Arial MT"/>
              </a:rPr>
              <a:t>(4)</a:t>
            </a:r>
            <a:r>
              <a:rPr sz="900" spc="120" baseline="41666" dirty="0">
                <a:latin typeface="Arial MT"/>
                <a:cs typeface="Arial MT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b</a:t>
            </a:r>
            <a:r>
              <a:rPr sz="900" i="1" spc="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1350" spc="644" baseline="43209" dirty="0">
                <a:latin typeface="Arial MT"/>
                <a:cs typeface="Arial MT"/>
              </a:rPr>
              <a:t> </a:t>
            </a:r>
            <a:r>
              <a:rPr sz="900" dirty="0">
                <a:latin typeface="Tahoma"/>
                <a:cs typeface="Tahoma"/>
              </a:rPr>
              <a:t>1</a:t>
            </a:r>
            <a:r>
              <a:rPr sz="900" spc="225" dirty="0">
                <a:latin typeface="Tahoma"/>
                <a:cs typeface="Tahoma"/>
              </a:rPr>
              <a:t>  </a:t>
            </a:r>
            <a:r>
              <a:rPr sz="900" i="1" spc="-25" dirty="0">
                <a:latin typeface="Sitka Small"/>
                <a:cs typeface="Sitka Small"/>
              </a:rPr>
              <a:t>−</a:t>
            </a:r>
            <a:r>
              <a:rPr sz="900" spc="-25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734716" y="1022649"/>
            <a:ext cx="79375" cy="1149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Arial MT"/>
                <a:cs typeface="Arial MT"/>
              </a:rPr>
              <a:t>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 </a:t>
            </a:r>
            <a:endParaRPr sz="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9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900" dirty="0">
                <a:latin typeface="Arial MT"/>
                <a:cs typeface="Arial MT"/>
              </a:rPr>
              <a:t> 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64700" y="1772572"/>
            <a:ext cx="415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2385" y="2046828"/>
            <a:ext cx="245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spc="-37" baseline="-27777" dirty="0">
                <a:latin typeface="Arial"/>
                <a:cs typeface="Arial"/>
              </a:rPr>
              <a:t>y</a:t>
            </a:r>
            <a:r>
              <a:rPr sz="1350" spc="-37" baseline="-27777" dirty="0">
                <a:latin typeface="Tahoma"/>
                <a:cs typeface="Tahoma"/>
              </a:rPr>
              <a:t>ˆ</a:t>
            </a:r>
            <a:r>
              <a:rPr sz="600" spc="-25" dirty="0">
                <a:latin typeface="Arial MT"/>
                <a:cs typeface="Arial MT"/>
              </a:rPr>
              <a:t>(4)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894025" y="2031309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94025" y="2170488"/>
            <a:ext cx="838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1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07868" y="1941228"/>
            <a:ext cx="2565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425" dirty="0">
                <a:latin typeface="Arial MT"/>
                <a:cs typeface="Arial MT"/>
              </a:rPr>
              <a:t>,</a:t>
            </a:r>
            <a:r>
              <a:rPr sz="900" spc="210" dirty="0">
                <a:latin typeface="Arial MT"/>
                <a:cs typeface="Arial MT"/>
              </a:rPr>
              <a:t> </a:t>
            </a:r>
            <a:r>
              <a:rPr sz="900" spc="375" dirty="0">
                <a:latin typeface="Arial MT"/>
                <a:cs typeface="Arial MT"/>
              </a:rPr>
              <a:t>,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64700" y="2101540"/>
            <a:ext cx="4159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844" y="2405197"/>
            <a:ext cx="38398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The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computations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final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layer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match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exactly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those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of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XOR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function.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8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3.</a:t>
            </a:r>
            <a:r>
              <a:rPr sz="600" spc="8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Loss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and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Output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Layer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47172" y="0"/>
            <a:ext cx="460832" cy="4359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813903"/>
            <a:ext cx="1772285" cy="595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What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is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Neural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Network?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An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example:</a:t>
            </a:r>
            <a:r>
              <a:rPr sz="1100" spc="7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XOR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1621344"/>
            <a:ext cx="1517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3.</a:t>
            </a:r>
            <a:r>
              <a:rPr sz="1100" spc="5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25" dirty="0">
                <a:latin typeface="Tahoma"/>
                <a:cs typeface="Tahoma"/>
                <a:hlinkClick r:id="rId3" action="ppaction://hlinksldjump"/>
              </a:rPr>
              <a:t>Loss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and</a:t>
            </a:r>
            <a:r>
              <a:rPr sz="1100" spc="-5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Output</a:t>
            </a:r>
            <a:r>
              <a:rPr sz="1100" spc="-5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40" dirty="0">
                <a:latin typeface="Tahoma"/>
                <a:cs typeface="Tahoma"/>
                <a:hlinkClick r:id="rId3" action="ppaction://hlinksldjump"/>
              </a:rPr>
              <a:t>Layer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2025064"/>
            <a:ext cx="2524125" cy="5956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 startAt="4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Basic</a:t>
            </a:r>
            <a:r>
              <a:rPr sz="1100" spc="-55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Feedforward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Network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Architecture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 startAt="4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 startAt="4"/>
              <a:tabLst>
                <a:tab pos="182245" algn="l"/>
              </a:tabLst>
            </a:pP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8" action="ppaction://hlinksldjump"/>
              </a:rPr>
              <a:t>Backpropagation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Lars</a:t>
            </a:r>
            <a:r>
              <a:rPr spc="30" dirty="0"/>
              <a:t> </a:t>
            </a:r>
            <a:r>
              <a:rPr spc="-10" dirty="0"/>
              <a:t>Schmidt-</a:t>
            </a:r>
            <a:r>
              <a:rPr dirty="0"/>
              <a:t>Thieme,</a:t>
            </a:r>
            <a:r>
              <a:rPr spc="30" dirty="0"/>
              <a:t> </a:t>
            </a:r>
            <a:r>
              <a:rPr dirty="0"/>
              <a:t>Information</a:t>
            </a:r>
            <a:r>
              <a:rPr spc="30" dirty="0"/>
              <a:t> </a:t>
            </a:r>
            <a:r>
              <a:rPr spc="-20" dirty="0"/>
              <a:t>Systems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dirty="0"/>
              <a:t>Machine</a:t>
            </a:r>
            <a:r>
              <a:rPr spc="30" dirty="0"/>
              <a:t> </a:t>
            </a:r>
            <a:r>
              <a:rPr spc="-10" dirty="0"/>
              <a:t>Learning</a:t>
            </a:r>
            <a:r>
              <a:rPr spc="35" dirty="0"/>
              <a:t> </a:t>
            </a:r>
            <a:r>
              <a:rPr dirty="0"/>
              <a:t>Lab</a:t>
            </a:r>
            <a:r>
              <a:rPr spc="30" dirty="0"/>
              <a:t> </a:t>
            </a:r>
            <a:r>
              <a:rPr dirty="0"/>
              <a:t>(ISMLL),</a:t>
            </a:r>
            <a:r>
              <a:rPr spc="30" dirty="0"/>
              <a:t> </a:t>
            </a:r>
            <a:r>
              <a:rPr dirty="0"/>
              <a:t>University</a:t>
            </a:r>
            <a:r>
              <a:rPr spc="35" dirty="0"/>
              <a:t> </a:t>
            </a:r>
            <a:r>
              <a:rPr dirty="0"/>
              <a:t>of</a:t>
            </a:r>
            <a:r>
              <a:rPr spc="30" dirty="0"/>
              <a:t> </a:t>
            </a:r>
            <a:r>
              <a:rPr spc="-10" dirty="0"/>
              <a:t>Hildesheim,</a:t>
            </a:r>
            <a:r>
              <a:rPr spc="30" dirty="0"/>
              <a:t> </a:t>
            </a:r>
            <a:r>
              <a:rPr spc="-10" dirty="0"/>
              <a:t>Germany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8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3.</a:t>
            </a:r>
            <a:r>
              <a:rPr sz="600" spc="8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Loss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and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Output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Layer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Maximum</a:t>
            </a:r>
            <a:r>
              <a:rPr spc="-70" dirty="0"/>
              <a:t> </a:t>
            </a:r>
            <a:r>
              <a:rPr spc="-20" dirty="0"/>
              <a:t>Likelihood</a:t>
            </a:r>
            <a:r>
              <a:rPr spc="-70" dirty="0"/>
              <a:t> </a:t>
            </a:r>
            <a:r>
              <a:rPr spc="-30" dirty="0"/>
              <a:t>as</a:t>
            </a:r>
            <a:r>
              <a:rPr spc="-70" dirty="0"/>
              <a:t> </a:t>
            </a:r>
            <a:r>
              <a:rPr spc="-25" dirty="0"/>
              <a:t>Objective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139" y="783690"/>
            <a:ext cx="3233420" cy="1125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0185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21018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loss</a:t>
            </a:r>
            <a:r>
              <a:rPr sz="1100" spc="-20" dirty="0">
                <a:latin typeface="Tahoma"/>
                <a:cs typeface="Tahoma"/>
              </a:rPr>
              <a:t> can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5" dirty="0">
                <a:latin typeface="Tahoma"/>
                <a:cs typeface="Tahoma"/>
              </a:rPr>
              <a:t>expressed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probabilistic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terms</a:t>
            </a:r>
            <a:r>
              <a:rPr sz="1100" spc="-25" dirty="0">
                <a:latin typeface="Tahoma"/>
                <a:cs typeface="Tahoma"/>
              </a:rPr>
              <a:t> as</a:t>
            </a:r>
            <a:endParaRPr sz="1100">
              <a:latin typeface="Tahoma"/>
              <a:cs typeface="Tahoma"/>
            </a:endParaRPr>
          </a:p>
          <a:p>
            <a:pPr marL="1053465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b="1" dirty="0">
                <a:latin typeface="Trebuchet MS"/>
                <a:cs typeface="Trebuchet MS"/>
              </a:rPr>
              <a:t>E</a:t>
            </a:r>
            <a:r>
              <a:rPr sz="1200" baseline="-13888" dirty="0">
                <a:latin typeface="Arial MT"/>
                <a:cs typeface="Arial MT"/>
              </a:rPr>
              <a:t>(</a:t>
            </a:r>
            <a:r>
              <a:rPr sz="1200" i="1" baseline="-13888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Calibri"/>
                <a:cs typeface="Calibri"/>
              </a:rPr>
              <a:t>,</a:t>
            </a:r>
            <a:r>
              <a:rPr sz="1200" i="1" baseline="-13888" dirty="0">
                <a:latin typeface="Arial"/>
                <a:cs typeface="Arial"/>
              </a:rPr>
              <a:t>y</a:t>
            </a:r>
            <a:r>
              <a:rPr sz="1200" i="1" spc="-187" baseline="-13888" dirty="0">
                <a:latin typeface="Arial"/>
                <a:cs typeface="Arial"/>
              </a:rPr>
              <a:t> </a:t>
            </a:r>
            <a:r>
              <a:rPr sz="1200" baseline="-13888" dirty="0">
                <a:latin typeface="Arial MT"/>
                <a:cs typeface="Arial MT"/>
              </a:rPr>
              <a:t>)</a:t>
            </a:r>
            <a:r>
              <a:rPr sz="1200" baseline="-13888" dirty="0">
                <a:latin typeface="Cambria"/>
                <a:cs typeface="Cambria"/>
              </a:rPr>
              <a:t>∼</a:t>
            </a:r>
            <a:r>
              <a:rPr sz="1200" i="1" baseline="-13888" dirty="0">
                <a:latin typeface="Arial"/>
                <a:cs typeface="Arial"/>
              </a:rPr>
              <a:t>p</a:t>
            </a:r>
            <a:r>
              <a:rPr sz="900" i="1" baseline="-32407" dirty="0">
                <a:latin typeface="Arial"/>
                <a:cs typeface="Arial"/>
              </a:rPr>
              <a:t>data</a:t>
            </a:r>
            <a:r>
              <a:rPr sz="900" i="1" spc="202" baseline="-32407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log</a:t>
            </a:r>
            <a:r>
              <a:rPr sz="1100" spc="-1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200" baseline="-13888" dirty="0">
                <a:latin typeface="Arial MT"/>
                <a:cs typeface="Arial MT"/>
              </a:rPr>
              <a:t>model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10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0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10820" indent="-147320">
              <a:lnSpc>
                <a:spcPct val="100000"/>
              </a:lnSpc>
              <a:spcBef>
                <a:spcPts val="1130"/>
              </a:spcBef>
              <a:buSzPct val="72727"/>
              <a:buChar char="►"/>
              <a:tabLst>
                <a:tab pos="210820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outputs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normal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uncertainty:</a:t>
            </a:r>
            <a:endParaRPr sz="1100">
              <a:latin typeface="Tahoma"/>
              <a:cs typeface="Tahoma"/>
            </a:endParaRPr>
          </a:p>
          <a:p>
            <a:pPr marL="781685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200" baseline="-13888" dirty="0">
                <a:latin typeface="Arial MT"/>
                <a:cs typeface="Arial MT"/>
              </a:rPr>
              <a:t>model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80" dirty="0">
                <a:latin typeface="Lucida Sans Unicode"/>
                <a:cs typeface="Lucida Sans Unicode"/>
              </a:rPr>
              <a:t>N</a:t>
            </a:r>
            <a:r>
              <a:rPr sz="1100" spc="-18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y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θ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i="1" spc="-35" dirty="0">
                <a:latin typeface="Georgia"/>
                <a:cs typeface="Georgia"/>
              </a:rPr>
              <a:t>,</a:t>
            </a:r>
            <a:r>
              <a:rPr sz="1100" i="1" spc="-80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σ</a:t>
            </a:r>
            <a:r>
              <a:rPr sz="1200" spc="-37" baseline="31250" dirty="0">
                <a:latin typeface="Arial MT"/>
                <a:cs typeface="Arial MT"/>
              </a:rPr>
              <a:t>2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913737" y="212084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01037" y="209927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2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48992" y="2069756"/>
            <a:ext cx="5969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spc="20" dirty="0">
                <a:latin typeface="Arial MT"/>
                <a:cs typeface="Arial MT"/>
              </a:rPr>
              <a:t>(</a:t>
            </a:r>
            <a:r>
              <a:rPr sz="800" i="1" spc="20" dirty="0">
                <a:latin typeface="Arial"/>
                <a:cs typeface="Arial"/>
              </a:rPr>
              <a:t>x</a:t>
            </a:r>
            <a:r>
              <a:rPr sz="800" i="1" spc="20" dirty="0">
                <a:latin typeface="Calibri"/>
                <a:cs typeface="Calibri"/>
              </a:rPr>
              <a:t>,</a:t>
            </a:r>
            <a:r>
              <a:rPr sz="800" i="1" spc="20" dirty="0">
                <a:latin typeface="Arial"/>
                <a:cs typeface="Arial"/>
              </a:rPr>
              <a:t>y</a:t>
            </a:r>
            <a:r>
              <a:rPr sz="800" i="1" spc="-70" dirty="0">
                <a:latin typeface="Arial"/>
                <a:cs typeface="Arial"/>
              </a:rPr>
              <a:t> </a:t>
            </a:r>
            <a:r>
              <a:rPr sz="800" spc="-10" dirty="0">
                <a:latin typeface="Arial MT"/>
                <a:cs typeface="Arial MT"/>
              </a:rPr>
              <a:t>)</a:t>
            </a:r>
            <a:r>
              <a:rPr sz="800" spc="-10" dirty="0">
                <a:latin typeface="Cambria"/>
                <a:cs typeface="Cambria"/>
              </a:rPr>
              <a:t>∼</a:t>
            </a:r>
            <a:r>
              <a:rPr sz="800" i="1" spc="-10" dirty="0">
                <a:latin typeface="Arial"/>
                <a:cs typeface="Arial"/>
              </a:rPr>
              <a:t>p</a:t>
            </a:r>
            <a:r>
              <a:rPr sz="900" i="1" spc="-15" baseline="-13888" dirty="0">
                <a:latin typeface="Arial"/>
                <a:cs typeface="Arial"/>
              </a:rPr>
              <a:t>data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4168" y="2004236"/>
            <a:ext cx="28555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0"/>
              </a:spcBef>
              <a:tabLst>
                <a:tab pos="365760" algn="l"/>
                <a:tab pos="1526540" algn="l"/>
              </a:tabLst>
            </a:pPr>
            <a:r>
              <a:rPr sz="1100" spc="229" dirty="0">
                <a:latin typeface="Tahoma"/>
                <a:cs typeface="Tahoma"/>
              </a:rPr>
              <a:t>~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75" dirty="0">
                <a:latin typeface="Tahoma"/>
                <a:cs typeface="Tahoma"/>
              </a:rPr>
              <a:t> </a:t>
            </a:r>
            <a:r>
              <a:rPr sz="1650" spc="-89" baseline="37878" dirty="0">
                <a:latin typeface="Tahoma"/>
                <a:cs typeface="Tahoma"/>
              </a:rPr>
              <a:t>1</a:t>
            </a:r>
            <a:r>
              <a:rPr sz="1650" spc="-337" baseline="37878" dirty="0">
                <a:latin typeface="Tahoma"/>
                <a:cs typeface="Tahoma"/>
              </a:rPr>
              <a:t> </a:t>
            </a:r>
            <a:r>
              <a:rPr sz="1100" b="1" spc="15" dirty="0">
                <a:latin typeface="Trebuchet MS"/>
                <a:cs typeface="Trebuchet MS"/>
              </a:rPr>
              <a:t>E</a:t>
            </a:r>
            <a:r>
              <a:rPr sz="1100" b="1" dirty="0">
                <a:latin typeface="Trebuchet MS"/>
                <a:cs typeface="Trebuchet MS"/>
              </a:rPr>
              <a:t>	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Georgia"/>
                <a:cs typeface="Georgia"/>
              </a:rPr>
              <a:t>θ</a:t>
            </a:r>
            <a:r>
              <a:rPr sz="1100" spc="-10" dirty="0">
                <a:latin typeface="Tahoma"/>
                <a:cs typeface="Tahoma"/>
              </a:rPr>
              <a:t>))</a:t>
            </a:r>
            <a:r>
              <a:rPr sz="1200" spc="-15" baseline="31250" dirty="0">
                <a:latin typeface="Arial MT"/>
                <a:cs typeface="Arial MT"/>
              </a:rPr>
              <a:t>2</a:t>
            </a:r>
            <a:r>
              <a:rPr sz="1200" spc="97" baseline="31250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const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539" y="2355010"/>
            <a:ext cx="260159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785" marR="30480" indent="-147320">
              <a:lnSpc>
                <a:spcPct val="102600"/>
              </a:lnSpc>
              <a:spcBef>
                <a:spcPts val="55"/>
              </a:spcBef>
              <a:buSzPct val="72727"/>
              <a:buChar char="►"/>
              <a:tabLst>
                <a:tab pos="186055" algn="l"/>
              </a:tabLst>
            </a:pP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model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just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outputs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θ</a:t>
            </a:r>
            <a:r>
              <a:rPr sz="1100" spc="-25" dirty="0">
                <a:latin typeface="Tahoma"/>
                <a:cs typeface="Tahoma"/>
              </a:rPr>
              <a:t>), 	</a:t>
            </a:r>
            <a:r>
              <a:rPr sz="1100" i="1" dirty="0">
                <a:latin typeface="Georgia"/>
                <a:cs typeface="Georgia"/>
              </a:rPr>
              <a:t>σ</a:t>
            </a:r>
            <a:r>
              <a:rPr sz="1200" baseline="27777" dirty="0">
                <a:latin typeface="Arial MT"/>
                <a:cs typeface="Arial MT"/>
              </a:rPr>
              <a:t>2</a:t>
            </a:r>
            <a:r>
              <a:rPr sz="1200" spc="232" baseline="27777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error</a:t>
            </a:r>
            <a:r>
              <a:rPr sz="1100" spc="-10" dirty="0">
                <a:latin typeface="Tahoma"/>
                <a:cs typeface="Tahoma"/>
              </a:rPr>
              <a:t> variance.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14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8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3.</a:t>
            </a:r>
            <a:r>
              <a:rPr sz="600" spc="8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Loss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and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Output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Layer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Output</a:t>
            </a:r>
            <a:r>
              <a:rPr spc="-15" dirty="0"/>
              <a:t> </a:t>
            </a:r>
            <a:r>
              <a:rPr spc="-50" dirty="0"/>
              <a:t>Layer</a:t>
            </a:r>
            <a:r>
              <a:rPr spc="-15" dirty="0"/>
              <a:t> </a:t>
            </a:r>
            <a:r>
              <a:rPr spc="125" dirty="0"/>
              <a:t>—</a:t>
            </a:r>
            <a:r>
              <a:rPr spc="-15" dirty="0"/>
              <a:t> </a:t>
            </a:r>
            <a:r>
              <a:rPr spc="-45" dirty="0"/>
              <a:t>Gaussian</a:t>
            </a:r>
            <a:r>
              <a:rPr spc="-15" dirty="0"/>
              <a:t> </a:t>
            </a:r>
            <a:r>
              <a:rPr dirty="0"/>
              <a:t>Output</a:t>
            </a:r>
            <a:r>
              <a:rPr spc="-15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9539" y="940003"/>
            <a:ext cx="2792730" cy="60515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285"/>
              </a:spcBef>
              <a:buSzPct val="72727"/>
              <a:buChar char="►"/>
              <a:tabLst>
                <a:tab pos="185420" algn="l"/>
              </a:tabLst>
            </a:pPr>
            <a:r>
              <a:rPr sz="1100" spc="-10" dirty="0">
                <a:latin typeface="Tahoma"/>
                <a:cs typeface="Tahoma"/>
              </a:rPr>
              <a:t>Affine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transformation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without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nonlinearity</a:t>
            </a:r>
            <a:endParaRPr sz="1100">
              <a:latin typeface="Tahoma"/>
              <a:cs typeface="Tahoma"/>
            </a:endParaRPr>
          </a:p>
          <a:p>
            <a:pPr marL="325755">
              <a:lnSpc>
                <a:spcPct val="100000"/>
              </a:lnSpc>
              <a:spcBef>
                <a:spcPts val="175"/>
              </a:spcBef>
            </a:pPr>
            <a:r>
              <a:rPr sz="900" spc="494" baseline="13888" dirty="0">
                <a:latin typeface="Arial MT"/>
                <a:cs typeface="Arial MT"/>
              </a:rPr>
              <a:t>) </a:t>
            </a:r>
            <a:r>
              <a:rPr sz="1000" spc="-25" dirty="0">
                <a:latin typeface="Tahoma"/>
                <a:cs typeface="Tahoma"/>
              </a:rPr>
              <a:t>Given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features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h</a:t>
            </a:r>
            <a:r>
              <a:rPr sz="1000" dirty="0">
                <a:latin typeface="Tahoma"/>
                <a:cs typeface="Tahoma"/>
              </a:rPr>
              <a:t>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produces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i="1" spc="-265" dirty="0">
                <a:latin typeface="Arial"/>
                <a:cs typeface="Arial"/>
              </a:rPr>
              <a:t>y</a:t>
            </a:r>
            <a:r>
              <a:rPr sz="1000" spc="-265" dirty="0">
                <a:latin typeface="Tahoma"/>
                <a:cs typeface="Tahoma"/>
              </a:rPr>
              <a:t>ˆ</a:t>
            </a:r>
            <a:r>
              <a:rPr sz="1000" dirty="0">
                <a:latin typeface="Tahoma"/>
                <a:cs typeface="Tahoma"/>
              </a:rPr>
              <a:t> 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50" i="1" spc="112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spc="-40" dirty="0">
                <a:latin typeface="Arial"/>
                <a:cs typeface="Arial"/>
              </a:rPr>
              <a:t>h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b</a:t>
            </a:r>
            <a:endParaRPr sz="1000">
              <a:latin typeface="Arial"/>
              <a:cs typeface="Arial"/>
            </a:endParaRPr>
          </a:p>
          <a:p>
            <a:pPr marL="3257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72" baseline="13888" dirty="0">
                <a:latin typeface="Arial MT"/>
                <a:cs typeface="Arial MT"/>
              </a:rPr>
              <a:t> </a:t>
            </a:r>
            <a:r>
              <a:rPr sz="1000" spc="-20" dirty="0">
                <a:latin typeface="Tahoma"/>
                <a:cs typeface="Tahoma"/>
              </a:rPr>
              <a:t>activation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function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identify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i="1" spc="-20" dirty="0">
                <a:latin typeface="Arial"/>
                <a:cs typeface="Arial"/>
              </a:rPr>
              <a:t>a</a:t>
            </a:r>
            <a:r>
              <a:rPr sz="1000" spc="-20" dirty="0">
                <a:latin typeface="Tahoma"/>
                <a:cs typeface="Tahoma"/>
              </a:rPr>
              <a:t>(</a:t>
            </a:r>
            <a:r>
              <a:rPr sz="1000" i="1" spc="-20" dirty="0">
                <a:latin typeface="Arial"/>
                <a:cs typeface="Arial"/>
              </a:rPr>
              <a:t>h</a:t>
            </a:r>
            <a:r>
              <a:rPr sz="1000" spc="-20" dirty="0">
                <a:latin typeface="Tahoma"/>
                <a:cs typeface="Tahoma"/>
              </a:rPr>
              <a:t>)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h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9539" y="1990813"/>
            <a:ext cx="3580129" cy="39179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285"/>
              </a:spcBef>
              <a:buSzPct val="72727"/>
              <a:buChar char="►"/>
              <a:tabLst>
                <a:tab pos="185420" algn="l"/>
              </a:tabLst>
            </a:pPr>
            <a:r>
              <a:rPr sz="1100" spc="-50" dirty="0">
                <a:latin typeface="Tahoma"/>
                <a:cs typeface="Tahoma"/>
              </a:rPr>
              <a:t>Interpreted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conditional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Gaussian </a:t>
            </a:r>
            <a:r>
              <a:rPr sz="1100" spc="-10" dirty="0">
                <a:latin typeface="Tahoma"/>
                <a:cs typeface="Tahoma"/>
              </a:rPr>
              <a:t>distribution</a:t>
            </a:r>
            <a:endParaRPr sz="1100">
              <a:latin typeface="Tahoma"/>
              <a:cs typeface="Tahoma"/>
            </a:endParaRPr>
          </a:p>
          <a:p>
            <a:pPr marL="325755">
              <a:lnSpc>
                <a:spcPct val="100000"/>
              </a:lnSpc>
              <a:spcBef>
                <a:spcPts val="175"/>
              </a:spcBef>
              <a:tabLst>
                <a:tab pos="1809750" algn="l"/>
              </a:tabLst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569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y </a:t>
            </a:r>
            <a:r>
              <a:rPr sz="1000" spc="-110" dirty="0">
                <a:latin typeface="Lucida Sans Unicode"/>
                <a:cs typeface="Lucida Sans Unicode"/>
              </a:rPr>
              <a:t>|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70" dirty="0">
                <a:latin typeface="Lucida Sans Unicode"/>
                <a:cs typeface="Lucida Sans Unicode"/>
              </a:rPr>
              <a:t>N</a:t>
            </a:r>
            <a:r>
              <a:rPr sz="1000" spc="-170" dirty="0">
                <a:latin typeface="Lucida Sans Unicode"/>
                <a:cs typeface="Lucida Sans Unicode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y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spc="-85" dirty="0">
                <a:latin typeface="Tahoma"/>
                <a:cs typeface="Tahoma"/>
              </a:rPr>
              <a:t>;</a:t>
            </a:r>
            <a:r>
              <a:rPr sz="1000" spc="-145" dirty="0">
                <a:latin typeface="Tahoma"/>
                <a:cs typeface="Tahoma"/>
              </a:rPr>
              <a:t> </a:t>
            </a:r>
            <a:r>
              <a:rPr sz="1000" i="1" spc="-500" dirty="0">
                <a:latin typeface="Arial"/>
                <a:cs typeface="Arial"/>
              </a:rPr>
              <a:t>y</a:t>
            </a:r>
            <a:r>
              <a:rPr sz="1000" spc="10" dirty="0">
                <a:latin typeface="Tahoma"/>
                <a:cs typeface="Tahoma"/>
              </a:rPr>
              <a:t>ˆ</a:t>
            </a:r>
            <a:r>
              <a:rPr sz="1000" i="1" spc="-25" dirty="0">
                <a:latin typeface="Georgia"/>
                <a:cs typeface="Georgia"/>
              </a:rPr>
              <a:t>,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spc="-20" dirty="0">
                <a:latin typeface="Georgia"/>
                <a:cs typeface="Georgia"/>
              </a:rPr>
              <a:t>σ</a:t>
            </a:r>
            <a:r>
              <a:rPr sz="1050" spc="-30" baseline="27777" dirty="0">
                <a:latin typeface="Arial MT"/>
                <a:cs typeface="Arial MT"/>
              </a:rPr>
              <a:t>2</a:t>
            </a:r>
            <a:r>
              <a:rPr sz="1000" spc="-20" dirty="0">
                <a:latin typeface="Tahoma"/>
                <a:cs typeface="Tahoma"/>
              </a:rPr>
              <a:t>)</a:t>
            </a:r>
            <a:r>
              <a:rPr sz="1000" i="1" spc="-20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spc="-265" dirty="0">
                <a:latin typeface="Arial"/>
                <a:cs typeface="Arial"/>
              </a:rPr>
              <a:t>y</a:t>
            </a:r>
            <a:r>
              <a:rPr sz="1000" spc="-265" dirty="0">
                <a:latin typeface="Tahoma"/>
                <a:cs typeface="Tahoma"/>
              </a:rPr>
              <a:t>ˆ</a:t>
            </a:r>
            <a:r>
              <a:rPr sz="1000" dirty="0">
                <a:latin typeface="Tahoma"/>
                <a:cs typeface="Tahoma"/>
              </a:rPr>
              <a:t> :=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6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(</a:t>
            </a:r>
            <a:r>
              <a:rPr sz="1000" i="1" spc="-30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00" spc="-85" dirty="0">
                <a:latin typeface="Tahoma"/>
                <a:cs typeface="Tahoma"/>
              </a:rPr>
              <a:t>;</a:t>
            </a:r>
            <a:r>
              <a:rPr sz="1000" spc="-15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Georgia"/>
                <a:cs typeface="Georgia"/>
              </a:rPr>
              <a:t>θ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15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8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3.</a:t>
            </a:r>
            <a:r>
              <a:rPr sz="600" spc="8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Loss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and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Output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Layer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Bernoulli</a:t>
            </a:r>
            <a:r>
              <a:rPr spc="-55" dirty="0"/>
              <a:t> </a:t>
            </a:r>
            <a:r>
              <a:rPr dirty="0"/>
              <a:t>Output</a:t>
            </a:r>
            <a:r>
              <a:rPr spc="-55" dirty="0"/>
              <a:t> </a:t>
            </a:r>
            <a:r>
              <a:rPr spc="-20" dirty="0"/>
              <a:t>Distributions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4139" y="984413"/>
            <a:ext cx="3565525" cy="14065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08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210820" algn="l"/>
              </a:tabLst>
            </a:pPr>
            <a:r>
              <a:rPr sz="1100" spc="-10" dirty="0">
                <a:latin typeface="Tahoma"/>
                <a:cs typeface="Tahoma"/>
              </a:rPr>
              <a:t>Binary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target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variables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follow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Bernoulli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distribution</a:t>
            </a:r>
            <a:endParaRPr sz="1100">
              <a:latin typeface="Tahoma"/>
              <a:cs typeface="Tahoma"/>
            </a:endParaRPr>
          </a:p>
          <a:p>
            <a:pPr marL="211454">
              <a:lnSpc>
                <a:spcPct val="100000"/>
              </a:lnSpc>
              <a:spcBef>
                <a:spcPts val="35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1)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225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0)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1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endParaRPr sz="1100">
              <a:latin typeface="Arial"/>
              <a:cs typeface="Arial"/>
            </a:endParaRPr>
          </a:p>
          <a:p>
            <a:pPr marL="210820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210820" algn="l"/>
              </a:tabLst>
            </a:pPr>
            <a:r>
              <a:rPr sz="1100" spc="-10" dirty="0">
                <a:latin typeface="Tahoma"/>
                <a:cs typeface="Tahoma"/>
              </a:rPr>
              <a:t>Train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DFN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such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50" dirty="0">
                <a:latin typeface="Arial"/>
                <a:cs typeface="Arial"/>
              </a:rPr>
              <a:t>y</a:t>
            </a:r>
            <a:r>
              <a:rPr sz="1100" spc="-30" dirty="0">
                <a:latin typeface="Tahoma"/>
                <a:cs typeface="Tahoma"/>
              </a:rPr>
              <a:t>ˆ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θ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65" dirty="0">
                <a:latin typeface="Tahoma"/>
                <a:cs typeface="Tahoma"/>
              </a:rPr>
              <a:t>[0</a:t>
            </a:r>
            <a:r>
              <a:rPr sz="1100" i="1" spc="-65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spc="-25" dirty="0">
                <a:latin typeface="Tahoma"/>
                <a:cs typeface="Tahoma"/>
              </a:rPr>
              <a:t>1]</a:t>
            </a:r>
            <a:endParaRPr sz="1100">
              <a:latin typeface="Tahoma"/>
              <a:cs typeface="Tahoma"/>
            </a:endParaRPr>
          </a:p>
          <a:p>
            <a:pPr marL="210185" indent="-147320">
              <a:lnSpc>
                <a:spcPct val="100000"/>
              </a:lnSpc>
              <a:spcBef>
                <a:spcPts val="844"/>
              </a:spcBef>
              <a:buSzPct val="72727"/>
              <a:buChar char="►"/>
              <a:tabLst>
                <a:tab pos="210185" algn="l"/>
              </a:tabLst>
            </a:pPr>
            <a:r>
              <a:rPr sz="1100" spc="-20" dirty="0">
                <a:latin typeface="Tahoma"/>
                <a:cs typeface="Tahoma"/>
              </a:rPr>
              <a:t>Naive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Option: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clip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layer:</a:t>
            </a:r>
            <a:endParaRPr sz="1100">
              <a:latin typeface="Tahoma"/>
              <a:cs typeface="Tahoma"/>
            </a:endParaRPr>
          </a:p>
          <a:p>
            <a:pPr marL="351155">
              <a:lnSpc>
                <a:spcPct val="100000"/>
              </a:lnSpc>
              <a:spcBef>
                <a:spcPts val="17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509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y</a:t>
            </a:r>
            <a:r>
              <a:rPr sz="1000" i="1" spc="10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1</a:t>
            </a:r>
            <a:r>
              <a:rPr sz="1000" spc="-150" dirty="0">
                <a:latin typeface="Tahoma"/>
                <a:cs typeface="Tahoma"/>
              </a:rPr>
              <a:t> </a:t>
            </a:r>
            <a:r>
              <a:rPr sz="1000" spc="-110" dirty="0">
                <a:latin typeface="Lucida Sans Unicode"/>
                <a:cs typeface="Lucida Sans Unicode"/>
              </a:rPr>
              <a:t>|</a:t>
            </a:r>
            <a:r>
              <a:rPr sz="1000" spc="-150" dirty="0">
                <a:latin typeface="Lucida Sans Unicode"/>
                <a:cs typeface="Lucida Sans Unicode"/>
              </a:rPr>
              <a:t> </a:t>
            </a: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max</a:t>
            </a:r>
            <a:r>
              <a:rPr sz="1500" spc="622" baseline="44444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0</a:t>
            </a:r>
            <a:r>
              <a:rPr sz="1000" i="1" spc="-35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Tahoma"/>
                <a:cs typeface="Tahoma"/>
              </a:rPr>
              <a:t>min</a:t>
            </a:r>
            <a:r>
              <a:rPr sz="1500" spc="622" baseline="44444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1</a:t>
            </a:r>
            <a:r>
              <a:rPr sz="1000" i="1" spc="-35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50" i="1" spc="112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spc="-40" dirty="0">
                <a:latin typeface="Arial"/>
                <a:cs typeface="Arial"/>
              </a:rPr>
              <a:t>h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40" dirty="0">
                <a:latin typeface="Arial"/>
                <a:cs typeface="Arial"/>
              </a:rPr>
              <a:t>b</a:t>
            </a:r>
            <a:r>
              <a:rPr sz="1500" spc="60" baseline="44444" dirty="0">
                <a:latin typeface="Tahoma"/>
                <a:cs typeface="Tahoma"/>
              </a:rPr>
              <a:t>}}</a:t>
            </a:r>
            <a:endParaRPr sz="1500" baseline="44444">
              <a:latin typeface="Tahoma"/>
              <a:cs typeface="Tahoma"/>
            </a:endParaRPr>
          </a:p>
          <a:p>
            <a:pPr marL="210185" indent="-147320">
              <a:lnSpc>
                <a:spcPct val="100000"/>
              </a:lnSpc>
              <a:spcBef>
                <a:spcPts val="1025"/>
              </a:spcBef>
              <a:buSzPct val="72727"/>
              <a:buChar char="►"/>
              <a:tabLst>
                <a:tab pos="210185" algn="l"/>
              </a:tabLst>
            </a:pPr>
            <a:r>
              <a:rPr sz="1100" dirty="0">
                <a:latin typeface="Tahoma"/>
                <a:cs typeface="Tahoma"/>
              </a:rPr>
              <a:t>What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clipped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layer?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8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3.</a:t>
            </a:r>
            <a:r>
              <a:rPr sz="600" spc="8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Loss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and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Output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Layer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Bernoulli</a:t>
            </a:r>
            <a:r>
              <a:rPr spc="-45" dirty="0"/>
              <a:t> </a:t>
            </a:r>
            <a:r>
              <a:rPr dirty="0"/>
              <a:t>Output</a:t>
            </a:r>
            <a:r>
              <a:rPr spc="-40" dirty="0"/>
              <a:t> </a:t>
            </a:r>
            <a:r>
              <a:rPr spc="-20" dirty="0"/>
              <a:t>Distributions</a:t>
            </a:r>
            <a:r>
              <a:rPr spc="-40" dirty="0"/>
              <a:t> </a:t>
            </a:r>
            <a:r>
              <a:rPr spc="-25" dirty="0"/>
              <a:t>(2)</a:t>
            </a:r>
          </a:p>
        </p:txBody>
      </p:sp>
      <p:sp>
        <p:nvSpPr>
          <p:cNvPr id="5" name="object 5"/>
          <p:cNvSpPr/>
          <p:nvPr/>
        </p:nvSpPr>
        <p:spPr>
          <a:xfrm>
            <a:off x="2712694" y="1220597"/>
            <a:ext cx="371475" cy="0"/>
          </a:xfrm>
          <a:custGeom>
            <a:avLst/>
            <a:gdLst/>
            <a:ahLst/>
            <a:cxnLst/>
            <a:rect l="l" t="t" r="r" b="b"/>
            <a:pathLst>
              <a:path w="371475">
                <a:moveTo>
                  <a:pt x="0" y="0"/>
                </a:moveTo>
                <a:lnTo>
                  <a:pt x="37146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6839" y="678723"/>
            <a:ext cx="3272790" cy="12134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98120" indent="-147320">
              <a:lnSpc>
                <a:spcPct val="100000"/>
              </a:lnSpc>
              <a:spcBef>
                <a:spcPts val="540"/>
              </a:spcBef>
              <a:buSzPct val="72727"/>
              <a:buChar char="►"/>
              <a:tabLst>
                <a:tab pos="198120" algn="l"/>
              </a:tabLst>
            </a:pPr>
            <a:r>
              <a:rPr sz="1100" spc="-20" dirty="0">
                <a:latin typeface="Tahoma"/>
                <a:cs typeface="Tahoma"/>
              </a:rPr>
              <a:t>Use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smooth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sigmoid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unit:</a:t>
            </a:r>
            <a:endParaRPr sz="1100">
              <a:latin typeface="Tahoma"/>
              <a:cs typeface="Tahoma"/>
            </a:endParaRPr>
          </a:p>
          <a:p>
            <a:pPr marL="2075180" algn="ctr">
              <a:lnSpc>
                <a:spcPts val="1225"/>
              </a:lnSpc>
              <a:spcBef>
                <a:spcPts val="445"/>
              </a:spcBef>
            </a:pPr>
            <a:r>
              <a:rPr sz="1650" i="1" spc="-37" baseline="-20202" dirty="0">
                <a:latin typeface="Arial"/>
                <a:cs typeface="Arial"/>
              </a:rPr>
              <a:t>e</a:t>
            </a:r>
            <a:r>
              <a:rPr sz="800" i="1" spc="-25" dirty="0">
                <a:latin typeface="Arial"/>
                <a:cs typeface="Arial"/>
              </a:rPr>
              <a:t>z</a:t>
            </a:r>
            <a:endParaRPr sz="800">
              <a:latin typeface="Arial"/>
              <a:cs typeface="Arial"/>
            </a:endParaRPr>
          </a:p>
          <a:p>
            <a:pPr marL="1568450">
              <a:lnSpc>
                <a:spcPts val="940"/>
              </a:lnSpc>
              <a:tabLst>
                <a:tab pos="1774189" algn="l"/>
              </a:tabLst>
            </a:pPr>
            <a:r>
              <a:rPr sz="1100" i="1" spc="-590" dirty="0">
                <a:latin typeface="Arial"/>
                <a:cs typeface="Arial"/>
              </a:rPr>
              <a:t>y</a:t>
            </a:r>
            <a:r>
              <a:rPr sz="1100" spc="-75" dirty="0">
                <a:latin typeface="Tahoma"/>
                <a:cs typeface="Tahoma"/>
              </a:rPr>
              <a:t>ˆ</a:t>
            </a:r>
            <a:r>
              <a:rPr sz="1100" dirty="0">
                <a:latin typeface="Tahoma"/>
                <a:cs typeface="Tahoma"/>
              </a:rPr>
              <a:t>	=</a:t>
            </a:r>
            <a:r>
              <a:rPr sz="1100" spc="170" dirty="0">
                <a:latin typeface="Tahoma"/>
                <a:cs typeface="Tahoma"/>
              </a:rPr>
              <a:t>  </a:t>
            </a:r>
            <a:r>
              <a:rPr sz="1100" i="1" dirty="0">
                <a:latin typeface="Georgia"/>
                <a:cs typeface="Georgia"/>
              </a:rPr>
              <a:t>σ</a:t>
            </a:r>
            <a:r>
              <a:rPr sz="1100" i="1" spc="-35" dirty="0">
                <a:latin typeface="Georgia"/>
                <a:cs typeface="Georgia"/>
              </a:rPr>
              <a:t> </a:t>
            </a:r>
            <a:r>
              <a:rPr sz="1100" spc="-50" dirty="0">
                <a:latin typeface="Tahoma"/>
                <a:cs typeface="Tahoma"/>
              </a:rPr>
              <a:t>(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L="2090420" algn="ctr">
              <a:lnSpc>
                <a:spcPts val="1035"/>
              </a:lnSpc>
            </a:pPr>
            <a:r>
              <a:rPr sz="1100" i="1" dirty="0">
                <a:latin typeface="Arial"/>
                <a:cs typeface="Arial"/>
              </a:rPr>
              <a:t>e</a:t>
            </a:r>
            <a:r>
              <a:rPr sz="1200" i="1" baseline="20833" dirty="0">
                <a:latin typeface="Arial"/>
                <a:cs typeface="Arial"/>
              </a:rPr>
              <a:t>z</a:t>
            </a:r>
            <a:r>
              <a:rPr sz="1200" i="1" spc="127" baseline="20833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575435">
              <a:lnSpc>
                <a:spcPct val="100000"/>
              </a:lnSpc>
              <a:spcBef>
                <a:spcPts val="170"/>
              </a:spcBef>
              <a:tabLst>
                <a:tab pos="1774189" algn="l"/>
              </a:tabLst>
            </a:pP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185" dirty="0">
                <a:latin typeface="Tahoma"/>
                <a:cs typeface="Tahoma"/>
              </a:rPr>
              <a:t> 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-60" dirty="0">
                <a:latin typeface="Arial"/>
                <a:cs typeface="Arial"/>
              </a:rPr>
              <a:t>h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L="197485" indent="-147320">
              <a:lnSpc>
                <a:spcPct val="100000"/>
              </a:lnSpc>
              <a:spcBef>
                <a:spcPts val="1135"/>
              </a:spcBef>
              <a:buSzPct val="72727"/>
              <a:buChar char="►"/>
              <a:tabLst>
                <a:tab pos="19748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loss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DFN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sigmoid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output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2420" y="2007868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24355" y="2012110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19211" y="2201835"/>
            <a:ext cx="1412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16890" algn="l"/>
                <a:tab pos="1344295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0260" y="2143733"/>
            <a:ext cx="3162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49630" algn="l"/>
              </a:tabLst>
            </a:pP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35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32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log(</a:t>
            </a:r>
            <a:r>
              <a:rPr sz="1100" i="1" spc="-20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spc="-95" dirty="0">
                <a:latin typeface="Tahoma"/>
                <a:cs typeface="Tahoma"/>
              </a:rPr>
              <a:t>;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Georgia"/>
                <a:cs typeface="Georgia"/>
              </a:rPr>
              <a:t>θ</a:t>
            </a:r>
            <a:r>
              <a:rPr sz="1100" spc="-35" dirty="0">
                <a:latin typeface="Tahoma"/>
                <a:cs typeface="Tahoma"/>
              </a:rPr>
              <a:t>))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ahoma"/>
                <a:cs typeface="Tahoma"/>
              </a:rPr>
              <a:t>(1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8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log(1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f</a:t>
            </a:r>
            <a:r>
              <a:rPr sz="1100" i="1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47655" y="2201835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11206" y="2143733"/>
            <a:ext cx="264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θ</a:t>
            </a:r>
            <a:r>
              <a:rPr sz="1100" spc="-25" dirty="0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2239" y="2346768"/>
            <a:ext cx="1704975" cy="4165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97280">
              <a:lnSpc>
                <a:spcPct val="100000"/>
              </a:lnSpc>
              <a:spcBef>
                <a:spcPts val="95"/>
              </a:spcBef>
            </a:pPr>
            <a:r>
              <a:rPr sz="800" i="1" spc="25" dirty="0">
                <a:latin typeface="Arial"/>
                <a:cs typeface="Arial"/>
              </a:rPr>
              <a:t>n</a:t>
            </a:r>
            <a:r>
              <a:rPr sz="800" spc="25" dirty="0">
                <a:latin typeface="Arial MT"/>
                <a:cs typeface="Arial MT"/>
              </a:rPr>
              <a:t>=1</a:t>
            </a:r>
            <a:endParaRPr sz="800">
              <a:latin typeface="Arial MT"/>
              <a:cs typeface="Arial MT"/>
            </a:endParaRPr>
          </a:p>
          <a:p>
            <a:pPr marL="172720" indent="-147320">
              <a:lnSpc>
                <a:spcPct val="100000"/>
              </a:lnSpc>
              <a:spcBef>
                <a:spcPts val="805"/>
              </a:spcBef>
              <a:buSzPct val="72727"/>
              <a:buChar char="►"/>
              <a:tabLst>
                <a:tab pos="172720" algn="l"/>
              </a:tabLst>
            </a:pPr>
            <a:r>
              <a:rPr sz="1100" dirty="0">
                <a:latin typeface="Tahoma"/>
                <a:cs typeface="Tahoma"/>
              </a:rPr>
              <a:t>Also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Trebuchet MS"/>
                <a:cs typeface="Trebuchet MS"/>
              </a:rPr>
              <a:t>cross</a:t>
            </a:r>
            <a:r>
              <a:rPr sz="1100" b="1" spc="-2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25" dirty="0">
                <a:solidFill>
                  <a:srgbClr val="FF0000"/>
                </a:solidFill>
                <a:latin typeface="Trebuchet MS"/>
                <a:cs typeface="Trebuchet MS"/>
              </a:rPr>
              <a:t>entropy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4744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2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84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3.</a:t>
            </a:r>
            <a:r>
              <a:rPr sz="600" spc="8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Loss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and</a:t>
            </a:r>
            <a:r>
              <a:rPr sz="600" spc="2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Output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Layer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Multinoulli</a:t>
            </a:r>
            <a:r>
              <a:rPr spc="-35" dirty="0"/>
              <a:t> </a:t>
            </a:r>
            <a:r>
              <a:rPr dirty="0"/>
              <a:t>Output</a:t>
            </a:r>
            <a:r>
              <a:rPr spc="-3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9539" y="453477"/>
            <a:ext cx="3785870" cy="4870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85420" algn="l"/>
              </a:tabLst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multi-category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targets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i="1" spc="-545" dirty="0">
                <a:latin typeface="Arial"/>
                <a:cs typeface="Arial"/>
              </a:rPr>
              <a:t>y</a:t>
            </a:r>
            <a:r>
              <a:rPr sz="1100" spc="-110" dirty="0">
                <a:latin typeface="Tahoma"/>
                <a:cs typeface="Tahoma"/>
              </a:rPr>
              <a:t>ˆ</a:t>
            </a:r>
            <a:r>
              <a:rPr sz="1200" i="1" spc="-30" baseline="-10416" dirty="0">
                <a:latin typeface="Arial"/>
                <a:cs typeface="Arial"/>
              </a:rPr>
              <a:t>c</a:t>
            </a:r>
            <a:r>
              <a:rPr sz="1200" i="1" spc="284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210" dirty="0">
                <a:latin typeface="Georgia"/>
                <a:cs typeface="Georgi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110" dirty="0">
                <a:latin typeface="Arial"/>
                <a:cs typeface="Arial"/>
              </a:rPr>
              <a:t>C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130" dirty="0">
                <a:latin typeface="Lucida Sans Unicode"/>
                <a:cs typeface="Lucida Sans Unicode"/>
              </a:rPr>
              <a:t>}</a:t>
            </a:r>
            <a:endParaRPr sz="1100">
              <a:latin typeface="Lucida Sans Unicode"/>
              <a:cs typeface="Lucida Sans Unicode"/>
            </a:endParaRPr>
          </a:p>
          <a:p>
            <a:pPr marL="184785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184785" algn="l"/>
              </a:tabLst>
            </a:pPr>
            <a:r>
              <a:rPr sz="1100" dirty="0">
                <a:latin typeface="Tahoma"/>
                <a:cs typeface="Tahoma"/>
              </a:rPr>
              <a:t>last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latent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layer:</a:t>
            </a:r>
            <a:r>
              <a:rPr sz="1100" spc="4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unnormalized </a:t>
            </a:r>
            <a:r>
              <a:rPr sz="1100" spc="-10" dirty="0">
                <a:latin typeface="Tahoma"/>
                <a:cs typeface="Tahoma"/>
              </a:rPr>
              <a:t>log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probabilities: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6156" y="1058988"/>
            <a:ext cx="73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04175" y="987411"/>
            <a:ext cx="21463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87020" algn="l"/>
              </a:tabLst>
            </a:pPr>
            <a:r>
              <a:rPr sz="1100" i="1" spc="-25" dirty="0">
                <a:latin typeface="Arial"/>
                <a:cs typeface="Arial"/>
              </a:rPr>
              <a:t>z</a:t>
            </a:r>
            <a:r>
              <a:rPr sz="1200" i="1" spc="-37" baseline="-10416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log</a:t>
            </a:r>
            <a:r>
              <a:rPr sz="1100" spc="-145" dirty="0">
                <a:latin typeface="Tahoma"/>
                <a:cs typeface="Tahoma"/>
              </a:rPr>
              <a:t> </a:t>
            </a:r>
            <a:r>
              <a:rPr sz="1100" i="1" spc="-640" dirty="0">
                <a:latin typeface="Arial"/>
                <a:cs typeface="Arial"/>
              </a:rPr>
              <a:t>P</a:t>
            </a:r>
            <a:r>
              <a:rPr sz="1650" spc="150" baseline="12626" dirty="0">
                <a:latin typeface="Tahoma"/>
                <a:cs typeface="Tahoma"/>
              </a:rPr>
              <a:t>˜</a:t>
            </a:r>
            <a:r>
              <a:rPr sz="1100" spc="-20" dirty="0">
                <a:latin typeface="Tahoma"/>
                <a:cs typeface="Tahoma"/>
              </a:rPr>
              <a:t>(</a:t>
            </a:r>
            <a:r>
              <a:rPr sz="1100" i="1" spc="-20" dirty="0">
                <a:latin typeface="Arial"/>
                <a:cs typeface="Arial"/>
              </a:rPr>
              <a:t>y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:=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w</a:t>
            </a:r>
            <a:r>
              <a:rPr sz="1100" i="1" spc="-19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spc="-60" dirty="0">
                <a:latin typeface="Arial"/>
                <a:cs typeface="Arial"/>
              </a:rPr>
              <a:t>h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939" y="1226107"/>
            <a:ext cx="12661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60020" algn="l"/>
              </a:tabLst>
            </a:pPr>
            <a:r>
              <a:rPr sz="1100" spc="-30" dirty="0">
                <a:latin typeface="Tahoma"/>
                <a:cs typeface="Tahoma"/>
              </a:rPr>
              <a:t>yields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probabilities: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8625" y="1579421"/>
            <a:ext cx="736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3480" y="1521319"/>
            <a:ext cx="1868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:=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softmax(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459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:=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32099" y="1389963"/>
            <a:ext cx="229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7" baseline="-15151" dirty="0">
                <a:latin typeface="Arial"/>
                <a:cs typeface="Arial"/>
              </a:rPr>
              <a:t>e</a:t>
            </a:r>
            <a:r>
              <a:rPr sz="1200" i="1" spc="-37" baseline="6944" dirty="0">
                <a:latin typeface="Arial"/>
                <a:cs typeface="Arial"/>
              </a:rPr>
              <a:t>z</a:t>
            </a:r>
            <a:r>
              <a:rPr sz="600" i="1" spc="-25" dirty="0">
                <a:latin typeface="Arial"/>
                <a:cs typeface="Arial"/>
              </a:rPr>
              <a:t>c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082213" y="1637919"/>
            <a:ext cx="348615" cy="0"/>
          </a:xfrm>
          <a:custGeom>
            <a:avLst/>
            <a:gdLst/>
            <a:ahLst/>
            <a:cxnLst/>
            <a:rect l="l" t="t" r="r" b="b"/>
            <a:pathLst>
              <a:path w="348614">
                <a:moveTo>
                  <a:pt x="0" y="0"/>
                </a:moveTo>
                <a:lnTo>
                  <a:pt x="34846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069513" y="1512441"/>
            <a:ext cx="1720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48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10128" y="178169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d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38855" y="1616353"/>
            <a:ext cx="86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85" dirty="0">
                <a:latin typeface="Arial"/>
                <a:cs typeface="Arial"/>
              </a:rPr>
              <a:t>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09810" y="1613648"/>
            <a:ext cx="723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z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56559" y="165680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d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939" y="1933713"/>
            <a:ext cx="2143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60020" algn="l"/>
              </a:tabLst>
            </a:pPr>
            <a:r>
              <a:rPr sz="1100" dirty="0">
                <a:latin typeface="Tahoma"/>
                <a:cs typeface="Tahoma"/>
              </a:rPr>
              <a:t>Minimizing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log-</a:t>
            </a:r>
            <a:r>
              <a:rPr sz="1100" spc="-30" dirty="0">
                <a:latin typeface="Tahoma"/>
                <a:cs typeface="Tahoma"/>
              </a:rPr>
              <a:t>likelihood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loss: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1127" y="2161399"/>
            <a:ext cx="3194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490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93062" y="2165640"/>
            <a:ext cx="4489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60" dirty="0">
                <a:latin typeface="Tahoma"/>
                <a:cs typeface="Tahoma"/>
              </a:rPr>
              <a:t>Σ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95805" y="2500298"/>
            <a:ext cx="443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0" dirty="0">
                <a:latin typeface="Arial"/>
                <a:cs typeface="Arial"/>
              </a:rPr>
              <a:t>n</a:t>
            </a:r>
            <a:r>
              <a:rPr sz="800" spc="50" dirty="0">
                <a:latin typeface="Arial MT"/>
                <a:cs typeface="Arial MT"/>
              </a:rPr>
              <a:t>=1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i="1" spc="40" dirty="0">
                <a:latin typeface="Arial"/>
                <a:cs typeface="Arial"/>
              </a:rPr>
              <a:t>c</a:t>
            </a:r>
            <a:r>
              <a:rPr sz="800" spc="40" dirty="0">
                <a:latin typeface="Arial MT"/>
                <a:cs typeface="Arial MT"/>
              </a:rPr>
              <a:t>=1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218893" y="2355366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70444" y="2297263"/>
            <a:ext cx="25285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881380" algn="l"/>
              </a:tabLst>
            </a:pPr>
            <a:r>
              <a:rPr sz="1100" i="1" dirty="0">
                <a:latin typeface="Arial"/>
                <a:cs typeface="Arial"/>
              </a:rPr>
              <a:t>J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Georgia"/>
                <a:cs typeface="Georgia"/>
              </a:rPr>
              <a:t>θ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dirty="0">
                <a:latin typeface="Lucida Sans Unicode"/>
                <a:cs typeface="Lucida Sans Unicode"/>
              </a:rPr>
              <a:t>−</a:t>
            </a:r>
            <a:r>
              <a:rPr sz="1100" dirty="0">
                <a:latin typeface="Georgia"/>
                <a:cs typeface="Georgia"/>
              </a:rPr>
              <a:t>I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46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log</a:t>
            </a:r>
            <a:r>
              <a:rPr sz="1100" spc="-1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120" dirty="0">
                <a:latin typeface="Lucida Sans Unicode"/>
                <a:cs typeface="Lucida Sans Unicode"/>
              </a:rPr>
              <a:t>|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62214" y="2784765"/>
            <a:ext cx="2717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=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Lucida Sans Unicode"/>
                <a:cs typeface="Lucida Sans Unicode"/>
              </a:rPr>
              <a:t>−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97367" y="2648914"/>
            <a:ext cx="3194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490" algn="l"/>
              </a:tabLst>
            </a:pPr>
            <a:r>
              <a:rPr sz="800" i="1" spc="-50" dirty="0">
                <a:latin typeface="Arial"/>
                <a:cs typeface="Arial"/>
              </a:rPr>
              <a:t>N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C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39303" y="2653155"/>
            <a:ext cx="436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60" dirty="0">
                <a:latin typeface="Tahoma"/>
                <a:cs typeface="Tahoma"/>
              </a:rPr>
              <a:t>Σ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42046" y="2987813"/>
            <a:ext cx="443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0" dirty="0">
                <a:latin typeface="Arial"/>
                <a:cs typeface="Arial"/>
              </a:rPr>
              <a:t>n</a:t>
            </a:r>
            <a:r>
              <a:rPr sz="800" spc="50" dirty="0">
                <a:latin typeface="Arial MT"/>
                <a:cs typeface="Arial MT"/>
              </a:rPr>
              <a:t>=1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i="1" spc="40" dirty="0">
                <a:latin typeface="Arial"/>
                <a:cs typeface="Arial"/>
              </a:rPr>
              <a:t>c</a:t>
            </a:r>
            <a:r>
              <a:rPr sz="800" spc="40" dirty="0">
                <a:latin typeface="Arial MT"/>
                <a:cs typeface="Arial MT"/>
              </a:rPr>
              <a:t>=1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60333" y="2784765"/>
            <a:ext cx="12426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40410" algn="l"/>
              </a:tabLst>
            </a:pPr>
            <a:r>
              <a:rPr sz="1100" dirty="0">
                <a:latin typeface="Georgia"/>
                <a:cs typeface="Georgia"/>
              </a:rPr>
              <a:t>I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y</a:t>
            </a:r>
            <a:r>
              <a:rPr sz="1200" i="1" baseline="-10416" dirty="0">
                <a:latin typeface="Arial"/>
                <a:cs typeface="Arial"/>
              </a:rPr>
              <a:t>n</a:t>
            </a:r>
            <a:r>
              <a:rPr sz="1200" i="1" spc="18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c</a:t>
            </a:r>
            <a:r>
              <a:rPr sz="1100" spc="-25" dirty="0">
                <a:latin typeface="Tahoma"/>
                <a:cs typeface="Tahoma"/>
              </a:rPr>
              <a:t>)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200" i="1" baseline="-10416" dirty="0">
                <a:latin typeface="Arial"/>
                <a:cs typeface="Arial"/>
              </a:rPr>
              <a:t>c</a:t>
            </a:r>
            <a:r>
              <a:rPr sz="1200" i="1" spc="44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log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344773" y="2991674"/>
            <a:ext cx="812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d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475037" y="2727565"/>
            <a:ext cx="235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7" baseline="-22727" dirty="0">
                <a:latin typeface="Arial"/>
                <a:cs typeface="Arial"/>
              </a:rPr>
              <a:t>e</a:t>
            </a:r>
            <a:r>
              <a:rPr sz="800" i="1" spc="-25" dirty="0">
                <a:latin typeface="Arial"/>
                <a:cs typeface="Arial"/>
              </a:rPr>
              <a:t>z</a:t>
            </a:r>
            <a:r>
              <a:rPr sz="900" i="1" spc="-37" baseline="-13888" dirty="0">
                <a:latin typeface="Arial"/>
                <a:cs typeface="Arial"/>
              </a:rPr>
              <a:t>d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53423" y="2547860"/>
            <a:ext cx="11995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636270" algn="l"/>
                <a:tab pos="1038225" algn="l"/>
              </a:tabLst>
            </a:pPr>
            <a:r>
              <a:rPr sz="1100" dirty="0">
                <a:latin typeface="Tahoma"/>
                <a:cs typeface="Tahoma"/>
              </a:rPr>
              <a:t>	</a:t>
            </a:r>
            <a:r>
              <a:rPr sz="1650" spc="1364" baseline="-42929" dirty="0">
                <a:latin typeface="Tahoma"/>
                <a:cs typeface="Tahoma"/>
              </a:rPr>
              <a:t>Σ</a:t>
            </a:r>
            <a:r>
              <a:rPr sz="1650" baseline="-42929" dirty="0">
                <a:latin typeface="Tahoma"/>
                <a:cs typeface="Tahoma"/>
              </a:rPr>
              <a:t>	</a:t>
            </a:r>
            <a:r>
              <a:rPr sz="1100" spc="450" dirty="0">
                <a:latin typeface="Tahoma"/>
                <a:cs typeface="Tahoma"/>
              </a:rPr>
              <a:t>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18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2059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4.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Basic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Feedforward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Network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Architecture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813903"/>
            <a:ext cx="1772285" cy="999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What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a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Neural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Network?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An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example:</a:t>
            </a:r>
            <a:r>
              <a:rPr sz="1100" spc="7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XOR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Loss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and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Output</a:t>
            </a:r>
            <a:r>
              <a:rPr sz="1100" spc="-5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Layer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2025064"/>
            <a:ext cx="25241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4.</a:t>
            </a:r>
            <a:r>
              <a:rPr sz="1100" spc="40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dirty="0">
                <a:latin typeface="Tahoma"/>
                <a:cs typeface="Tahoma"/>
                <a:hlinkClick r:id="rId3" action="ppaction://hlinksldjump"/>
              </a:rPr>
              <a:t>Basic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55" dirty="0">
                <a:latin typeface="Tahoma"/>
                <a:cs typeface="Tahoma"/>
                <a:hlinkClick r:id="rId3" action="ppaction://hlinksldjump"/>
              </a:rPr>
              <a:t>Feedforward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 Network</a:t>
            </a:r>
            <a:r>
              <a:rPr sz="1100" spc="-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10" dirty="0">
                <a:latin typeface="Tahoma"/>
                <a:cs typeface="Tahoma"/>
                <a:hlinkClick r:id="rId3" action="ppaction://hlinksldjump"/>
              </a:rPr>
              <a:t>Architecture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2428784"/>
            <a:ext cx="1165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5.</a:t>
            </a:r>
            <a:r>
              <a:rPr sz="1100" spc="45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Backpropagation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19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2059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4.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Basic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Feedforward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Network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Architecture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30" dirty="0"/>
              <a:t>Hidden</a:t>
            </a:r>
            <a:r>
              <a:rPr spc="-60" dirty="0"/>
              <a:t> </a:t>
            </a:r>
            <a:r>
              <a:rPr spc="-10" dirty="0"/>
              <a:t>Units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9539" y="632471"/>
            <a:ext cx="4094479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4785" marR="30480" indent="-147320">
              <a:lnSpc>
                <a:spcPct val="102600"/>
              </a:lnSpc>
              <a:spcBef>
                <a:spcPts val="55"/>
              </a:spcBef>
              <a:buSzPct val="72727"/>
              <a:buChar char="►"/>
              <a:tabLst>
                <a:tab pos="186055" algn="l"/>
              </a:tabLst>
            </a:pPr>
            <a:r>
              <a:rPr sz="1100" spc="-30" dirty="0">
                <a:latin typeface="Tahoma"/>
                <a:cs typeface="Tahoma"/>
              </a:rPr>
              <a:t>Question: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function,i.e.,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purely </a:t>
            </a:r>
            <a:r>
              <a:rPr sz="1100" spc="-20" dirty="0">
                <a:latin typeface="Tahoma"/>
                <a:cs typeface="Tahoma"/>
              </a:rPr>
              <a:t>linear 	</a:t>
            </a:r>
            <a:r>
              <a:rPr sz="1100" spc="-50" dirty="0">
                <a:latin typeface="Tahoma"/>
                <a:cs typeface="Tahoma"/>
              </a:rPr>
              <a:t>layers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19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2059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4.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Basic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Feedforward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Network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Architecture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Types</a:t>
            </a:r>
            <a:r>
              <a:rPr spc="-60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30" dirty="0"/>
              <a:t>Hidden</a:t>
            </a:r>
            <a:r>
              <a:rPr spc="-60" dirty="0"/>
              <a:t> </a:t>
            </a:r>
            <a:r>
              <a:rPr spc="-10" dirty="0"/>
              <a:t>Units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3339" y="632471"/>
            <a:ext cx="4246880" cy="22155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60985" marR="106680" indent="-147320">
              <a:lnSpc>
                <a:spcPct val="102600"/>
              </a:lnSpc>
              <a:spcBef>
                <a:spcPts val="55"/>
              </a:spcBef>
              <a:buSzPct val="72727"/>
              <a:buChar char="►"/>
              <a:tabLst>
                <a:tab pos="262255" algn="l"/>
              </a:tabLst>
            </a:pPr>
            <a:r>
              <a:rPr sz="1100" spc="-30" dirty="0">
                <a:latin typeface="Tahoma"/>
                <a:cs typeface="Tahoma"/>
              </a:rPr>
              <a:t>Question: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no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activation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function,i.e.,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purely </a:t>
            </a:r>
            <a:r>
              <a:rPr sz="1100" spc="-20" dirty="0">
                <a:latin typeface="Tahoma"/>
                <a:cs typeface="Tahoma"/>
              </a:rPr>
              <a:t>linear 	</a:t>
            </a:r>
            <a:r>
              <a:rPr sz="1100" spc="-50" dirty="0">
                <a:latin typeface="Tahoma"/>
                <a:cs typeface="Tahoma"/>
              </a:rPr>
              <a:t>layers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  <a:p>
            <a:pPr marL="260985" indent="-147320">
              <a:lnSpc>
                <a:spcPct val="100000"/>
              </a:lnSpc>
              <a:spcBef>
                <a:spcPts val="1005"/>
              </a:spcBef>
              <a:buSzPct val="72727"/>
              <a:buChar char="►"/>
              <a:tabLst>
                <a:tab pos="260985" algn="l"/>
              </a:tabLst>
            </a:pPr>
            <a:r>
              <a:rPr sz="1100" spc="-50" dirty="0">
                <a:latin typeface="Tahoma"/>
                <a:cs typeface="Tahoma"/>
              </a:rPr>
              <a:t>Remember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most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ReLU:</a:t>
            </a:r>
            <a:endParaRPr sz="1100">
              <a:latin typeface="Tahoma"/>
              <a:cs typeface="Tahoma"/>
            </a:endParaRPr>
          </a:p>
          <a:p>
            <a:pPr marL="7810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relu(</a:t>
            </a:r>
            <a:r>
              <a:rPr sz="1100" i="1" spc="-40" dirty="0">
                <a:latin typeface="Arial"/>
                <a:cs typeface="Arial"/>
              </a:rPr>
              <a:t>W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max(0</a:t>
            </a:r>
            <a:r>
              <a:rPr sz="1100" i="1" spc="-45" dirty="0">
                <a:latin typeface="Georgia"/>
                <a:cs typeface="Georgia"/>
              </a:rPr>
              <a:t>,</a:t>
            </a:r>
            <a:r>
              <a:rPr sz="1100" i="1" spc="-80" dirty="0">
                <a:latin typeface="Georgia"/>
                <a:cs typeface="Georgia"/>
              </a:rPr>
              <a:t> </a:t>
            </a:r>
            <a:r>
              <a:rPr sz="1100" i="1" spc="-20" dirty="0">
                <a:latin typeface="Arial"/>
                <a:cs typeface="Arial"/>
              </a:rPr>
              <a:t>W</a:t>
            </a:r>
            <a:r>
              <a:rPr sz="1100" i="1" spc="-12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60985" indent="-147320">
              <a:lnSpc>
                <a:spcPct val="100000"/>
              </a:lnSpc>
              <a:spcBef>
                <a:spcPts val="1130"/>
              </a:spcBef>
              <a:buSzPct val="72727"/>
              <a:buChar char="►"/>
              <a:tabLst>
                <a:tab pos="260985" algn="l"/>
              </a:tabLst>
            </a:pPr>
            <a:r>
              <a:rPr sz="1100" spc="-30" dirty="0">
                <a:latin typeface="Tahoma"/>
                <a:cs typeface="Tahoma"/>
              </a:rPr>
              <a:t>Alternatively,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sigmoid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function:</a:t>
            </a:r>
            <a:endParaRPr sz="1100">
              <a:latin typeface="Tahoma"/>
              <a:cs typeface="Tahoma"/>
            </a:endParaRPr>
          </a:p>
          <a:p>
            <a:pPr marL="7810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σ</a:t>
            </a:r>
            <a:r>
              <a:rPr sz="1100" spc="-25" dirty="0">
                <a:latin typeface="Tahoma"/>
                <a:cs typeface="Tahoma"/>
              </a:rPr>
              <a:t>(</a:t>
            </a:r>
            <a:r>
              <a:rPr sz="1100" i="1" spc="-2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  <a:p>
            <a:pPr marL="260985" indent="-147320">
              <a:lnSpc>
                <a:spcPct val="100000"/>
              </a:lnSpc>
              <a:spcBef>
                <a:spcPts val="1135"/>
              </a:spcBef>
              <a:buSzPct val="72727"/>
              <a:buChar char="►"/>
              <a:tabLst>
                <a:tab pos="260985" algn="l"/>
              </a:tabLst>
            </a:pPr>
            <a:r>
              <a:rPr sz="1100" spc="-35" dirty="0">
                <a:latin typeface="Tahoma"/>
                <a:cs typeface="Tahoma"/>
              </a:rPr>
              <a:t>or,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hyperbolic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tangent:</a:t>
            </a:r>
            <a:endParaRPr sz="1100">
              <a:latin typeface="Tahoma"/>
              <a:cs typeface="Tahoma"/>
            </a:endParaRPr>
          </a:p>
          <a:p>
            <a:pPr marL="78105" algn="ctr">
              <a:lnSpc>
                <a:spcPct val="100000"/>
              </a:lnSpc>
              <a:spcBef>
                <a:spcPts val="1130"/>
              </a:spcBef>
            </a:pPr>
            <a:r>
              <a:rPr sz="1100" i="1" dirty="0">
                <a:latin typeface="Arial"/>
                <a:cs typeface="Arial"/>
              </a:rPr>
              <a:t>h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tanh(</a:t>
            </a:r>
            <a:r>
              <a:rPr sz="1100" i="1" spc="-45" dirty="0">
                <a:latin typeface="Arial"/>
                <a:cs typeface="Arial"/>
              </a:rPr>
              <a:t>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2</a:t>
            </a:r>
            <a:r>
              <a:rPr sz="1100" i="1" spc="-35" dirty="0">
                <a:latin typeface="Georgia"/>
                <a:cs typeface="Georgia"/>
              </a:rPr>
              <a:t>σ</a:t>
            </a:r>
            <a:r>
              <a:rPr sz="1100" spc="-35" dirty="0">
                <a:latin typeface="Tahoma"/>
                <a:cs typeface="Tahoma"/>
              </a:rPr>
              <a:t>(2</a:t>
            </a:r>
            <a:r>
              <a:rPr sz="1100" i="1" spc="-35" dirty="0">
                <a:latin typeface="Arial"/>
                <a:cs typeface="Arial"/>
              </a:rPr>
              <a:t>z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19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20593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5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4.</a:t>
            </a:r>
            <a:r>
              <a:rPr sz="600" spc="6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Basic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20" dirty="0">
                <a:latin typeface="Arial MT"/>
                <a:cs typeface="Arial MT"/>
                <a:hlinkClick r:id="rId3" action="ppaction://hlinksldjump"/>
              </a:rPr>
              <a:t>Feedforward</a:t>
            </a:r>
            <a:r>
              <a:rPr sz="600" spc="2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Network</a:t>
            </a:r>
            <a:r>
              <a:rPr sz="600" spc="15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Architecture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2402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Architecture</a:t>
            </a:r>
            <a:r>
              <a:rPr spc="-45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30" dirty="0"/>
              <a:t>Hidden</a:t>
            </a:r>
            <a:r>
              <a:rPr spc="-45" dirty="0"/>
              <a:t> Layers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926285"/>
            <a:ext cx="16878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5" dirty="0">
                <a:latin typeface="Tahoma"/>
                <a:cs typeface="Tahoma"/>
              </a:rPr>
              <a:t>A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DFN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hidden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layers: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7490" y="1128862"/>
            <a:ext cx="287655" cy="5226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1650" i="1" spc="-30" baseline="-22727" dirty="0">
                <a:latin typeface="Arial"/>
                <a:cs typeface="Arial"/>
              </a:rPr>
              <a:t>h</a:t>
            </a:r>
            <a:r>
              <a:rPr sz="800" spc="-20" dirty="0">
                <a:latin typeface="Arial MT"/>
                <a:cs typeface="Arial MT"/>
              </a:rPr>
              <a:t>(1)</a:t>
            </a:r>
            <a:endParaRPr sz="800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1650" i="1" spc="-30" baseline="-22727" dirty="0">
                <a:latin typeface="Arial"/>
                <a:cs typeface="Arial"/>
              </a:rPr>
              <a:t>h</a:t>
            </a:r>
            <a:r>
              <a:rPr sz="800" spc="-20" dirty="0">
                <a:latin typeface="Arial MT"/>
                <a:cs typeface="Arial MT"/>
              </a:rPr>
              <a:t>(2)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77213" y="1186063"/>
            <a:ext cx="187325" cy="9429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9370">
              <a:lnSpc>
                <a:spcPct val="100000"/>
              </a:lnSpc>
              <a:spcBef>
                <a:spcPts val="74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L="39370">
              <a:lnSpc>
                <a:spcPct val="100000"/>
              </a:lnSpc>
              <a:spcBef>
                <a:spcPts val="635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.</a:t>
            </a:r>
            <a:endParaRPr sz="1100">
              <a:latin typeface="Georgia"/>
              <a:cs typeface="Georgia"/>
            </a:endParaRPr>
          </a:p>
          <a:p>
            <a:pPr marL="39370">
              <a:lnSpc>
                <a:spcPct val="100000"/>
              </a:lnSpc>
              <a:spcBef>
                <a:spcPts val="334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9963" y="1128862"/>
            <a:ext cx="1409065" cy="52260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sz="1650" i="1" spc="-112" baseline="-22727" dirty="0">
                <a:latin typeface="Arial"/>
                <a:cs typeface="Arial"/>
              </a:rPr>
              <a:t>g</a:t>
            </a:r>
            <a:r>
              <a:rPr sz="1650" i="1" spc="-262" baseline="-22727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(1)</a:t>
            </a:r>
            <a:r>
              <a:rPr sz="1650" baseline="-22727" dirty="0">
                <a:latin typeface="Tahoma"/>
                <a:cs typeface="Tahoma"/>
              </a:rPr>
              <a:t>(</a:t>
            </a:r>
            <a:r>
              <a:rPr sz="1650" i="1" baseline="-22727" dirty="0">
                <a:latin typeface="Arial"/>
                <a:cs typeface="Arial"/>
              </a:rPr>
              <a:t>W</a:t>
            </a:r>
            <a:r>
              <a:rPr sz="1650" i="1" spc="-157" baseline="-22727" dirty="0">
                <a:latin typeface="Arial"/>
                <a:cs typeface="Arial"/>
              </a:rPr>
              <a:t> </a:t>
            </a:r>
            <a:r>
              <a:rPr sz="800" spc="55" dirty="0">
                <a:latin typeface="Arial MT"/>
                <a:cs typeface="Arial MT"/>
              </a:rPr>
              <a:t>(1)</a:t>
            </a:r>
            <a:r>
              <a:rPr sz="1200" i="1" spc="82" baseline="20833" dirty="0">
                <a:latin typeface="Arial"/>
                <a:cs typeface="Arial"/>
              </a:rPr>
              <a:t>T</a:t>
            </a:r>
            <a:r>
              <a:rPr sz="1200" i="1" spc="-75" baseline="20833" dirty="0">
                <a:latin typeface="Arial"/>
                <a:cs typeface="Arial"/>
              </a:rPr>
              <a:t> </a:t>
            </a:r>
            <a:r>
              <a:rPr sz="1650" i="1" baseline="-22727" dirty="0">
                <a:latin typeface="Arial"/>
                <a:cs typeface="Arial"/>
              </a:rPr>
              <a:t>x</a:t>
            </a:r>
            <a:r>
              <a:rPr sz="1650" i="1" spc="127" baseline="-22727" dirty="0">
                <a:latin typeface="Arial"/>
                <a:cs typeface="Arial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-104" baseline="-22727" dirty="0">
                <a:latin typeface="Tahoma"/>
                <a:cs typeface="Tahoma"/>
              </a:rPr>
              <a:t> </a:t>
            </a:r>
            <a:r>
              <a:rPr sz="1650" i="1" spc="-30" baseline="-22727" dirty="0">
                <a:latin typeface="Arial"/>
                <a:cs typeface="Arial"/>
              </a:rPr>
              <a:t>b</a:t>
            </a:r>
            <a:r>
              <a:rPr sz="800" spc="-20" dirty="0">
                <a:latin typeface="Arial MT"/>
                <a:cs typeface="Arial MT"/>
              </a:rPr>
              <a:t>(1)</a:t>
            </a:r>
            <a:r>
              <a:rPr sz="1650" spc="-30" baseline="-22727" dirty="0">
                <a:latin typeface="Tahoma"/>
                <a:cs typeface="Tahoma"/>
              </a:rPr>
              <a:t>)</a:t>
            </a:r>
            <a:endParaRPr sz="1650" baseline="-22727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635"/>
              </a:spcBef>
            </a:pPr>
            <a:r>
              <a:rPr sz="1650" i="1" spc="-112" baseline="-22727" dirty="0">
                <a:latin typeface="Arial"/>
                <a:cs typeface="Arial"/>
              </a:rPr>
              <a:t>g</a:t>
            </a:r>
            <a:r>
              <a:rPr sz="1650" i="1" spc="-247" baseline="-22727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(2)</a:t>
            </a:r>
            <a:r>
              <a:rPr sz="1650" baseline="-22727" dirty="0">
                <a:latin typeface="Tahoma"/>
                <a:cs typeface="Tahoma"/>
              </a:rPr>
              <a:t>(</a:t>
            </a:r>
            <a:r>
              <a:rPr sz="1650" i="1" baseline="-22727" dirty="0">
                <a:latin typeface="Arial"/>
                <a:cs typeface="Arial"/>
              </a:rPr>
              <a:t>W</a:t>
            </a:r>
            <a:r>
              <a:rPr sz="1650" i="1" spc="-127" baseline="-22727" dirty="0">
                <a:latin typeface="Arial"/>
                <a:cs typeface="Arial"/>
              </a:rPr>
              <a:t> </a:t>
            </a:r>
            <a:r>
              <a:rPr sz="800" spc="55" dirty="0">
                <a:latin typeface="Arial MT"/>
                <a:cs typeface="Arial MT"/>
              </a:rPr>
              <a:t>(2)</a:t>
            </a:r>
            <a:r>
              <a:rPr sz="1200" i="1" spc="82" baseline="20833" dirty="0">
                <a:latin typeface="Arial"/>
                <a:cs typeface="Arial"/>
              </a:rPr>
              <a:t>T</a:t>
            </a:r>
            <a:r>
              <a:rPr sz="1200" i="1" spc="-37" baseline="20833" dirty="0">
                <a:latin typeface="Arial"/>
                <a:cs typeface="Arial"/>
              </a:rPr>
              <a:t> </a:t>
            </a:r>
            <a:r>
              <a:rPr sz="1650" i="1" baseline="-22727" dirty="0">
                <a:latin typeface="Arial"/>
                <a:cs typeface="Arial"/>
              </a:rPr>
              <a:t>h</a:t>
            </a:r>
            <a:r>
              <a:rPr sz="800" dirty="0">
                <a:latin typeface="Arial MT"/>
                <a:cs typeface="Arial MT"/>
              </a:rPr>
              <a:t>(1)</a:t>
            </a:r>
            <a:r>
              <a:rPr sz="800" spc="145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-60" baseline="-22727" dirty="0">
                <a:latin typeface="Tahoma"/>
                <a:cs typeface="Tahoma"/>
              </a:rPr>
              <a:t> </a:t>
            </a:r>
            <a:r>
              <a:rPr sz="1650" i="1" spc="-30" baseline="-22727" dirty="0">
                <a:latin typeface="Arial"/>
                <a:cs typeface="Arial"/>
              </a:rPr>
              <a:t>b</a:t>
            </a:r>
            <a:r>
              <a:rPr sz="800" spc="-20" dirty="0">
                <a:latin typeface="Arial MT"/>
                <a:cs typeface="Arial MT"/>
              </a:rPr>
              <a:t>(2)</a:t>
            </a:r>
            <a:r>
              <a:rPr sz="1650" spc="-30" baseline="-22727" dirty="0">
                <a:latin typeface="Tahoma"/>
                <a:cs typeface="Tahoma"/>
              </a:rPr>
              <a:t>)</a:t>
            </a:r>
            <a:endParaRPr sz="1650" baseline="-22727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740" y="1879852"/>
            <a:ext cx="292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30" baseline="-22727" dirty="0">
                <a:latin typeface="Arial"/>
                <a:cs typeface="Arial"/>
              </a:rPr>
              <a:t>h</a:t>
            </a:r>
            <a:r>
              <a:rPr sz="800" spc="-20" dirty="0">
                <a:latin typeface="Arial MT"/>
                <a:cs typeface="Arial MT"/>
              </a:rPr>
              <a:t>(</a:t>
            </a:r>
            <a:r>
              <a:rPr sz="800" i="1" spc="-20" dirty="0">
                <a:latin typeface="Arial"/>
                <a:cs typeface="Arial"/>
              </a:rPr>
              <a:t>L</a:t>
            </a:r>
            <a:r>
              <a:rPr sz="800" spc="-20" dirty="0"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839963" y="1879852"/>
            <a:ext cx="15652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112" baseline="-22727" dirty="0">
                <a:latin typeface="Arial"/>
                <a:cs typeface="Arial"/>
              </a:rPr>
              <a:t>g</a:t>
            </a:r>
            <a:r>
              <a:rPr sz="1650" i="1" spc="-202" baseline="-22727" dirty="0">
                <a:latin typeface="Arial"/>
                <a:cs typeface="Arial"/>
              </a:rPr>
              <a:t> 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L</a:t>
            </a:r>
            <a:r>
              <a:rPr sz="800" dirty="0">
                <a:latin typeface="Arial MT"/>
                <a:cs typeface="Arial MT"/>
              </a:rPr>
              <a:t>)</a:t>
            </a:r>
            <a:r>
              <a:rPr sz="1650" baseline="-22727" dirty="0">
                <a:latin typeface="Tahoma"/>
                <a:cs typeface="Tahoma"/>
              </a:rPr>
              <a:t>(</a:t>
            </a:r>
            <a:r>
              <a:rPr sz="1650" i="1" baseline="-22727" dirty="0">
                <a:latin typeface="Arial"/>
                <a:cs typeface="Arial"/>
              </a:rPr>
              <a:t>W</a:t>
            </a:r>
            <a:r>
              <a:rPr sz="1650" i="1" spc="-52" baseline="-22727" dirty="0">
                <a:latin typeface="Arial"/>
                <a:cs typeface="Arial"/>
              </a:rPr>
              <a:t> </a:t>
            </a:r>
            <a:r>
              <a:rPr sz="800" spc="65" dirty="0">
                <a:latin typeface="Arial MT"/>
                <a:cs typeface="Arial MT"/>
              </a:rPr>
              <a:t>(</a:t>
            </a:r>
            <a:r>
              <a:rPr sz="800" i="1" spc="65" dirty="0">
                <a:latin typeface="Arial"/>
                <a:cs typeface="Arial"/>
              </a:rPr>
              <a:t>L</a:t>
            </a:r>
            <a:r>
              <a:rPr sz="800" spc="65" dirty="0">
                <a:latin typeface="Arial MT"/>
                <a:cs typeface="Arial MT"/>
              </a:rPr>
              <a:t>)</a:t>
            </a:r>
            <a:r>
              <a:rPr sz="1200" i="1" spc="97" baseline="20833" dirty="0">
                <a:latin typeface="Arial"/>
                <a:cs typeface="Arial"/>
              </a:rPr>
              <a:t>T</a:t>
            </a:r>
            <a:r>
              <a:rPr sz="1200" i="1" spc="15" baseline="20833" dirty="0">
                <a:latin typeface="Arial"/>
                <a:cs typeface="Arial"/>
              </a:rPr>
              <a:t> </a:t>
            </a:r>
            <a:r>
              <a:rPr sz="1650" i="1" baseline="-22727" dirty="0">
                <a:latin typeface="Arial"/>
                <a:cs typeface="Arial"/>
              </a:rPr>
              <a:t>h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L</a:t>
            </a:r>
            <a:r>
              <a:rPr sz="800" dirty="0">
                <a:latin typeface="Cambria"/>
                <a:cs typeface="Cambria"/>
              </a:rPr>
              <a:t>−</a:t>
            </a:r>
            <a:r>
              <a:rPr sz="800" dirty="0">
                <a:latin typeface="Arial MT"/>
                <a:cs typeface="Arial MT"/>
              </a:rPr>
              <a:t>1)</a:t>
            </a:r>
            <a:r>
              <a:rPr sz="800" spc="229" dirty="0">
                <a:latin typeface="Arial MT"/>
                <a:cs typeface="Arial MT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+</a:t>
            </a:r>
            <a:r>
              <a:rPr sz="1650" spc="44" baseline="-22727" dirty="0">
                <a:latin typeface="Tahoma"/>
                <a:cs typeface="Tahoma"/>
              </a:rPr>
              <a:t> </a:t>
            </a:r>
            <a:r>
              <a:rPr sz="1650" i="1" spc="-30" baseline="-22727" dirty="0">
                <a:latin typeface="Arial"/>
                <a:cs typeface="Arial"/>
              </a:rPr>
              <a:t>b</a:t>
            </a:r>
            <a:r>
              <a:rPr sz="800" spc="-20" dirty="0">
                <a:latin typeface="Arial MT"/>
                <a:cs typeface="Arial MT"/>
              </a:rPr>
              <a:t>(</a:t>
            </a:r>
            <a:r>
              <a:rPr sz="800" i="1" spc="-20" dirty="0">
                <a:latin typeface="Arial"/>
                <a:cs typeface="Arial"/>
              </a:rPr>
              <a:t>L</a:t>
            </a:r>
            <a:r>
              <a:rPr sz="800" spc="-20" dirty="0">
                <a:latin typeface="Arial MT"/>
                <a:cs typeface="Arial MT"/>
              </a:rPr>
              <a:t>)</a:t>
            </a:r>
            <a:r>
              <a:rPr sz="1650" spc="-30" baseline="-22727" dirty="0">
                <a:latin typeface="Tahoma"/>
                <a:cs typeface="Tahoma"/>
              </a:rPr>
              <a:t>)</a:t>
            </a:r>
            <a:endParaRPr sz="1650" baseline="-22727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844" y="2248305"/>
            <a:ext cx="31959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Different </a:t>
            </a:r>
            <a:r>
              <a:rPr sz="1100" spc="-60" dirty="0">
                <a:latin typeface="Tahoma"/>
                <a:cs typeface="Tahoma"/>
              </a:rPr>
              <a:t>layers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</a:t>
            </a:r>
            <a:r>
              <a:rPr sz="1100" spc="-20" dirty="0">
                <a:latin typeface="Tahoma"/>
                <a:cs typeface="Tahoma"/>
              </a:rPr>
              <a:t> activation functions.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20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5676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Outline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25844" y="813903"/>
            <a:ext cx="2524125" cy="14033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What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is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a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Neural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4" action="ppaction://hlinksldjump"/>
              </a:rPr>
              <a:t>Network?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An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example:</a:t>
            </a:r>
            <a:r>
              <a:rPr sz="1100" spc="7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5" action="ppaction://hlinksldjump"/>
              </a:rPr>
              <a:t>XOR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buAutoNum type="arabicPeriod"/>
              <a:tabLst>
                <a:tab pos="182245" algn="l"/>
              </a:tabLst>
            </a:pPr>
            <a:r>
              <a:rPr sz="1100" spc="-2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Loss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and</a:t>
            </a:r>
            <a:r>
              <a:rPr sz="1100" spc="-45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Output</a:t>
            </a:r>
            <a:r>
              <a:rPr sz="1100" spc="-5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 </a:t>
            </a:r>
            <a:r>
              <a:rPr sz="1100" spc="-20" dirty="0">
                <a:solidFill>
                  <a:srgbClr val="CCCCCC"/>
                </a:solidFill>
                <a:latin typeface="Tahoma"/>
                <a:cs typeface="Tahoma"/>
                <a:hlinkClick r:id="rId6" action="ppaction://hlinksldjump"/>
              </a:rPr>
              <a:t>Layer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30"/>
              </a:spcBef>
              <a:buClr>
                <a:srgbClr val="CCCCCC"/>
              </a:buClr>
              <a:buFont typeface="Tahoma"/>
              <a:buAutoNum type="arabicPeriod"/>
            </a:pPr>
            <a:endParaRPr sz="1100">
              <a:latin typeface="Tahoma"/>
              <a:cs typeface="Tahoma"/>
            </a:endParaRPr>
          </a:p>
          <a:p>
            <a:pPr marL="182245" indent="-16954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82245" algn="l"/>
              </a:tabLst>
            </a:pPr>
            <a:r>
              <a:rPr sz="110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Basic</a:t>
            </a:r>
            <a:r>
              <a:rPr sz="1100" spc="-55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Feedforward</a:t>
            </a:r>
            <a:r>
              <a:rPr sz="1100" spc="-35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Network</a:t>
            </a:r>
            <a:r>
              <a:rPr sz="1100" spc="-4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 </a:t>
            </a:r>
            <a:r>
              <a:rPr sz="1100" spc="-10" dirty="0">
                <a:solidFill>
                  <a:srgbClr val="CCCCCC"/>
                </a:solidFill>
                <a:latin typeface="Tahoma"/>
                <a:cs typeface="Tahoma"/>
                <a:hlinkClick r:id="rId7" action="ppaction://hlinksldjump"/>
              </a:rPr>
              <a:t>Architecture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844" y="2428784"/>
            <a:ext cx="1165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  <a:hlinkClick r:id="rId3" action="ppaction://hlinksldjump"/>
              </a:rPr>
              <a:t>5.</a:t>
            </a:r>
            <a:r>
              <a:rPr sz="1100" spc="45" dirty="0">
                <a:latin typeface="Tahoma"/>
                <a:cs typeface="Tahoma"/>
                <a:hlinkClick r:id="rId3" action="ppaction://hlinksldjump"/>
              </a:rPr>
              <a:t> </a:t>
            </a:r>
            <a:r>
              <a:rPr sz="1100" spc="-35" dirty="0">
                <a:latin typeface="Tahoma"/>
                <a:cs typeface="Tahoma"/>
                <a:hlinkClick r:id="rId3" action="ppaction://hlinksldjump"/>
              </a:rPr>
              <a:t>Backpropagation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21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Computational</a:t>
            </a:r>
            <a:r>
              <a:rPr spc="-5" dirty="0"/>
              <a:t> </a:t>
            </a:r>
            <a:r>
              <a:rPr spc="-40" dirty="0"/>
              <a:t>Graphs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696183" y="1806364"/>
            <a:ext cx="958215" cy="250190"/>
            <a:chOff x="696183" y="1806364"/>
            <a:chExt cx="958215" cy="25019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6183" y="1818609"/>
              <a:ext cx="225561" cy="22556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03947" y="1806364"/>
              <a:ext cx="250051" cy="250051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2266" y="1800603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x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65745" y="1800603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w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7173" y="1099586"/>
            <a:ext cx="223591" cy="22359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060830" y="1018586"/>
            <a:ext cx="216535" cy="492759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80"/>
              </a:spcBef>
            </a:pPr>
            <a:r>
              <a:rPr sz="1200" spc="-50" dirty="0">
                <a:latin typeface="Tahoma"/>
                <a:cs typeface="Tahoma"/>
              </a:rPr>
              <a:t>z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39"/>
              </a:spcBef>
            </a:pPr>
            <a:r>
              <a:rPr sz="1100" spc="-25" dirty="0">
                <a:latin typeface="Tahoma"/>
                <a:cs typeface="Tahoma"/>
              </a:rPr>
              <a:t>dot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8003" y="1313423"/>
            <a:ext cx="616585" cy="517525"/>
            <a:chOff x="858003" y="1313423"/>
            <a:chExt cx="616585" cy="517525"/>
          </a:xfrm>
        </p:grpSpPr>
        <p:sp>
          <p:nvSpPr>
            <p:cNvPr id="13" name="object 13"/>
            <p:cNvSpPr/>
            <p:nvPr/>
          </p:nvSpPr>
          <p:spPr>
            <a:xfrm>
              <a:off x="860534" y="1318864"/>
              <a:ext cx="255270" cy="509905"/>
            </a:xfrm>
            <a:custGeom>
              <a:avLst/>
              <a:gdLst/>
              <a:ahLst/>
              <a:cxnLst/>
              <a:rect l="l" t="t" r="r" b="b"/>
              <a:pathLst>
                <a:path w="255269" h="509905">
                  <a:moveTo>
                    <a:pt x="0" y="509389"/>
                  </a:moveTo>
                  <a:lnTo>
                    <a:pt x="254694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90232" y="1315456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7953"/>
                  </a:moveTo>
                  <a:lnTo>
                    <a:pt x="6888" y="8068"/>
                  </a:lnTo>
                  <a:lnTo>
                    <a:pt x="15054" y="5893"/>
                  </a:lnTo>
                  <a:lnTo>
                    <a:pt x="22368" y="2760"/>
                  </a:lnTo>
                  <a:lnTo>
                    <a:pt x="26700" y="0"/>
                  </a:lnTo>
                  <a:lnTo>
                    <a:pt x="27090" y="5121"/>
                  </a:lnTo>
                  <a:lnTo>
                    <a:pt x="28972" y="12852"/>
                  </a:lnTo>
                  <a:lnTo>
                    <a:pt x="32132" y="20690"/>
                  </a:lnTo>
                  <a:lnTo>
                    <a:pt x="36358" y="26132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2709" y="1318864"/>
              <a:ext cx="249554" cy="498475"/>
            </a:xfrm>
            <a:custGeom>
              <a:avLst/>
              <a:gdLst/>
              <a:ahLst/>
              <a:cxnLst/>
              <a:rect l="l" t="t" r="r" b="b"/>
              <a:pathLst>
                <a:path w="249555" h="498475">
                  <a:moveTo>
                    <a:pt x="249218" y="49843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11347" y="1315456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26132"/>
                  </a:moveTo>
                  <a:lnTo>
                    <a:pt x="4225" y="20690"/>
                  </a:lnTo>
                  <a:lnTo>
                    <a:pt x="7385" y="12852"/>
                  </a:lnTo>
                  <a:lnTo>
                    <a:pt x="9267" y="5121"/>
                  </a:lnTo>
                  <a:lnTo>
                    <a:pt x="9657" y="0"/>
                  </a:lnTo>
                  <a:lnTo>
                    <a:pt x="13989" y="2760"/>
                  </a:lnTo>
                  <a:lnTo>
                    <a:pt x="21303" y="5893"/>
                  </a:lnTo>
                  <a:lnTo>
                    <a:pt x="29469" y="8068"/>
                  </a:lnTo>
                  <a:lnTo>
                    <a:pt x="36358" y="7953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868692" y="2330296"/>
            <a:ext cx="598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w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88609" y="2185613"/>
            <a:ext cx="234834" cy="23483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52356" y="2172230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94393" y="2171388"/>
            <a:ext cx="263525" cy="263525"/>
          </a:xfrm>
          <a:custGeom>
            <a:avLst/>
            <a:gdLst/>
            <a:ahLst/>
            <a:cxnLst/>
            <a:rect l="l" t="t" r="r" b="b"/>
            <a:pathLst>
              <a:path w="263525" h="263525">
                <a:moveTo>
                  <a:pt x="131642" y="0"/>
                </a:moveTo>
                <a:lnTo>
                  <a:pt x="90033" y="6711"/>
                </a:lnTo>
                <a:lnTo>
                  <a:pt x="53895" y="25399"/>
                </a:lnTo>
                <a:lnTo>
                  <a:pt x="25399" y="53895"/>
                </a:lnTo>
                <a:lnTo>
                  <a:pt x="6711" y="90032"/>
                </a:lnTo>
                <a:lnTo>
                  <a:pt x="0" y="131642"/>
                </a:lnTo>
                <a:lnTo>
                  <a:pt x="6711" y="173252"/>
                </a:lnTo>
                <a:lnTo>
                  <a:pt x="25399" y="209389"/>
                </a:lnTo>
                <a:lnTo>
                  <a:pt x="53895" y="237885"/>
                </a:lnTo>
                <a:lnTo>
                  <a:pt x="90033" y="256573"/>
                </a:lnTo>
                <a:lnTo>
                  <a:pt x="131642" y="263284"/>
                </a:lnTo>
                <a:lnTo>
                  <a:pt x="173252" y="256573"/>
                </a:lnTo>
                <a:lnTo>
                  <a:pt x="209389" y="237885"/>
                </a:lnTo>
                <a:lnTo>
                  <a:pt x="237886" y="209389"/>
                </a:lnTo>
                <a:lnTo>
                  <a:pt x="256574" y="173252"/>
                </a:lnTo>
                <a:lnTo>
                  <a:pt x="263285" y="131642"/>
                </a:lnTo>
                <a:lnTo>
                  <a:pt x="256574" y="90032"/>
                </a:lnTo>
                <a:lnTo>
                  <a:pt x="237886" y="53895"/>
                </a:lnTo>
                <a:lnTo>
                  <a:pt x="209389" y="25399"/>
                </a:lnTo>
                <a:lnTo>
                  <a:pt x="173252" y="6711"/>
                </a:lnTo>
                <a:lnTo>
                  <a:pt x="131642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354603" y="2172230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w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14865" y="2171851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89" h="262889">
                <a:moveTo>
                  <a:pt x="131179" y="0"/>
                </a:moveTo>
                <a:lnTo>
                  <a:pt x="80118" y="10308"/>
                </a:lnTo>
                <a:lnTo>
                  <a:pt x="38421" y="38421"/>
                </a:lnTo>
                <a:lnTo>
                  <a:pt x="10308" y="80117"/>
                </a:lnTo>
                <a:lnTo>
                  <a:pt x="0" y="131179"/>
                </a:lnTo>
                <a:lnTo>
                  <a:pt x="10308" y="182240"/>
                </a:lnTo>
                <a:lnTo>
                  <a:pt x="38421" y="223937"/>
                </a:lnTo>
                <a:lnTo>
                  <a:pt x="80118" y="252049"/>
                </a:lnTo>
                <a:lnTo>
                  <a:pt x="131179" y="262358"/>
                </a:lnTo>
                <a:lnTo>
                  <a:pt x="182240" y="252049"/>
                </a:lnTo>
                <a:lnTo>
                  <a:pt x="223937" y="223937"/>
                </a:lnTo>
                <a:lnTo>
                  <a:pt x="252050" y="182240"/>
                </a:lnTo>
                <a:lnTo>
                  <a:pt x="262358" y="131179"/>
                </a:lnTo>
                <a:lnTo>
                  <a:pt x="252050" y="80117"/>
                </a:lnTo>
                <a:lnTo>
                  <a:pt x="223937" y="38421"/>
                </a:lnTo>
                <a:lnTo>
                  <a:pt x="182240" y="10308"/>
                </a:lnTo>
                <a:lnTo>
                  <a:pt x="131179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092841" y="2191217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924352" y="1441343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4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4"/>
                </a:lnTo>
                <a:lnTo>
                  <a:pt x="141678" y="283357"/>
                </a:lnTo>
                <a:lnTo>
                  <a:pt x="186460" y="276134"/>
                </a:lnTo>
                <a:lnTo>
                  <a:pt x="225353" y="256022"/>
                </a:lnTo>
                <a:lnTo>
                  <a:pt x="256022" y="225352"/>
                </a:lnTo>
                <a:lnTo>
                  <a:pt x="276135" y="186460"/>
                </a:lnTo>
                <a:lnTo>
                  <a:pt x="283357" y="141678"/>
                </a:lnTo>
                <a:lnTo>
                  <a:pt x="276135" y="96897"/>
                </a:lnTo>
                <a:lnTo>
                  <a:pt x="256022" y="58004"/>
                </a:lnTo>
                <a:lnTo>
                  <a:pt x="225353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65627" y="1440850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1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957880" y="1720912"/>
            <a:ext cx="216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dot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284357" y="721334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6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5"/>
                </a:lnTo>
                <a:lnTo>
                  <a:pt x="141678" y="283357"/>
                </a:lnTo>
                <a:lnTo>
                  <a:pt x="186460" y="276135"/>
                </a:lnTo>
                <a:lnTo>
                  <a:pt x="225352" y="256022"/>
                </a:lnTo>
                <a:lnTo>
                  <a:pt x="256022" y="225352"/>
                </a:lnTo>
                <a:lnTo>
                  <a:pt x="276134" y="186460"/>
                </a:lnTo>
                <a:lnTo>
                  <a:pt x="283357" y="141678"/>
                </a:lnTo>
                <a:lnTo>
                  <a:pt x="276134" y="96896"/>
                </a:lnTo>
                <a:lnTo>
                  <a:pt x="256022" y="58004"/>
                </a:lnTo>
                <a:lnTo>
                  <a:pt x="225352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325634" y="630469"/>
            <a:ext cx="194945" cy="54673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46355">
              <a:lnSpc>
                <a:spcPct val="100000"/>
              </a:lnSpc>
              <a:spcBef>
                <a:spcPts val="64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757139" y="991782"/>
            <a:ext cx="1331595" cy="1206500"/>
            <a:chOff x="2757139" y="991782"/>
            <a:chExt cx="1331595" cy="1206500"/>
          </a:xfrm>
        </p:grpSpPr>
        <p:sp>
          <p:nvSpPr>
            <p:cNvPr id="30" name="object 30"/>
            <p:cNvSpPr/>
            <p:nvPr/>
          </p:nvSpPr>
          <p:spPr>
            <a:xfrm>
              <a:off x="2759670" y="1717211"/>
              <a:ext cx="239395" cy="478790"/>
            </a:xfrm>
            <a:custGeom>
              <a:avLst/>
              <a:gdLst/>
              <a:ahLst/>
              <a:cxnLst/>
              <a:rect l="l" t="t" r="r" b="b"/>
              <a:pathLst>
                <a:path w="239394" h="478789">
                  <a:moveTo>
                    <a:pt x="0" y="478534"/>
                  </a:moveTo>
                  <a:lnTo>
                    <a:pt x="23926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974041" y="1713817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5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3" y="0"/>
                  </a:lnTo>
                  <a:lnTo>
                    <a:pt x="26982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33125" y="1717211"/>
              <a:ext cx="233045" cy="466090"/>
            </a:xfrm>
            <a:custGeom>
              <a:avLst/>
              <a:gdLst/>
              <a:ahLst/>
              <a:cxnLst/>
              <a:rect l="l" t="t" r="r" b="b"/>
              <a:pathLst>
                <a:path w="233045" h="466089">
                  <a:moveTo>
                    <a:pt x="232906" y="465811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21808" y="1713817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5">
                  <a:moveTo>
                    <a:pt x="0" y="26027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30524" y="997223"/>
              <a:ext cx="228600" cy="457200"/>
            </a:xfrm>
            <a:custGeom>
              <a:avLst/>
              <a:gdLst/>
              <a:ahLst/>
              <a:cxnLst/>
              <a:rect l="l" t="t" r="r" b="b"/>
              <a:pathLst>
                <a:path w="228600" h="457200">
                  <a:moveTo>
                    <a:pt x="0" y="456814"/>
                  </a:moveTo>
                  <a:lnTo>
                    <a:pt x="22840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33935" y="993815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29" h="26669">
                  <a:moveTo>
                    <a:pt x="0" y="7953"/>
                  </a:moveTo>
                  <a:lnTo>
                    <a:pt x="6888" y="8068"/>
                  </a:lnTo>
                  <a:lnTo>
                    <a:pt x="15054" y="5893"/>
                  </a:lnTo>
                  <a:lnTo>
                    <a:pt x="22368" y="2760"/>
                  </a:lnTo>
                  <a:lnTo>
                    <a:pt x="26700" y="0"/>
                  </a:lnTo>
                  <a:lnTo>
                    <a:pt x="27090" y="5121"/>
                  </a:lnTo>
                  <a:lnTo>
                    <a:pt x="28972" y="12852"/>
                  </a:lnTo>
                  <a:lnTo>
                    <a:pt x="32132" y="20690"/>
                  </a:lnTo>
                  <a:lnTo>
                    <a:pt x="36358" y="26132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493144" y="997223"/>
              <a:ext cx="593090" cy="1186180"/>
            </a:xfrm>
            <a:custGeom>
              <a:avLst/>
              <a:gdLst/>
              <a:ahLst/>
              <a:cxnLst/>
              <a:rect l="l" t="t" r="r" b="b"/>
              <a:pathLst>
                <a:path w="593089" h="1186180">
                  <a:moveTo>
                    <a:pt x="592868" y="1185736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481781" y="993815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29" h="26669">
                  <a:moveTo>
                    <a:pt x="0" y="26131"/>
                  </a:moveTo>
                  <a:lnTo>
                    <a:pt x="4225" y="20690"/>
                  </a:lnTo>
                  <a:lnTo>
                    <a:pt x="7385" y="12852"/>
                  </a:lnTo>
                  <a:lnTo>
                    <a:pt x="9267" y="5121"/>
                  </a:lnTo>
                  <a:lnTo>
                    <a:pt x="9658" y="0"/>
                  </a:lnTo>
                  <a:lnTo>
                    <a:pt x="13989" y="2760"/>
                  </a:lnTo>
                  <a:lnTo>
                    <a:pt x="21303" y="5894"/>
                  </a:lnTo>
                  <a:lnTo>
                    <a:pt x="29469" y="8068"/>
                  </a:lnTo>
                  <a:lnTo>
                    <a:pt x="36358" y="7953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2704858" y="2708553"/>
            <a:ext cx="1452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Arial MT"/>
                <a:cs typeface="Arial MT"/>
              </a:rPr>
              <a:t>2</a:t>
            </a:r>
            <a:r>
              <a:rPr sz="1200" spc="112" baseline="-10416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10" dirty="0">
                <a:latin typeface="Arial"/>
                <a:cs typeface="Arial"/>
              </a:rPr>
              <a:t>z</a:t>
            </a:r>
            <a:r>
              <a:rPr sz="1200" spc="-15" baseline="-10416" dirty="0">
                <a:latin typeface="Arial MT"/>
                <a:cs typeface="Arial MT"/>
              </a:rPr>
              <a:t>1</a:t>
            </a:r>
            <a:r>
              <a:rPr sz="1200" spc="82" baseline="-10416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1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21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755081" y="2006701"/>
            <a:ext cx="995838" cy="660400"/>
            <a:chOff x="2755081" y="2006701"/>
            <a:chExt cx="995838" cy="66040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5081" y="2390959"/>
              <a:ext cx="234834" cy="23483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10814" y="2006701"/>
              <a:ext cx="840105" cy="660400"/>
            </a:xfrm>
            <a:custGeom>
              <a:avLst/>
              <a:gdLst/>
              <a:ahLst/>
              <a:cxnLst/>
              <a:rect l="l" t="t" r="r" b="b"/>
              <a:pathLst>
                <a:path w="840104" h="660400">
                  <a:moveTo>
                    <a:pt x="283362" y="141681"/>
                  </a:moveTo>
                  <a:lnTo>
                    <a:pt x="276136" y="96901"/>
                  </a:lnTo>
                  <a:lnTo>
                    <a:pt x="256019" y="58000"/>
                  </a:lnTo>
                  <a:lnTo>
                    <a:pt x="225348" y="27330"/>
                  </a:lnTo>
                  <a:lnTo>
                    <a:pt x="186461" y="7226"/>
                  </a:lnTo>
                  <a:lnTo>
                    <a:pt x="141681" y="0"/>
                  </a:lnTo>
                  <a:lnTo>
                    <a:pt x="96901" y="7226"/>
                  </a:lnTo>
                  <a:lnTo>
                    <a:pt x="58000" y="27330"/>
                  </a:lnTo>
                  <a:lnTo>
                    <a:pt x="27330" y="58000"/>
                  </a:lnTo>
                  <a:lnTo>
                    <a:pt x="7226" y="96901"/>
                  </a:lnTo>
                  <a:lnTo>
                    <a:pt x="0" y="141681"/>
                  </a:lnTo>
                  <a:lnTo>
                    <a:pt x="7226" y="186461"/>
                  </a:lnTo>
                  <a:lnTo>
                    <a:pt x="27330" y="225348"/>
                  </a:lnTo>
                  <a:lnTo>
                    <a:pt x="58000" y="256019"/>
                  </a:lnTo>
                  <a:lnTo>
                    <a:pt x="96901" y="276136"/>
                  </a:lnTo>
                  <a:lnTo>
                    <a:pt x="141681" y="283362"/>
                  </a:lnTo>
                  <a:lnTo>
                    <a:pt x="186461" y="276136"/>
                  </a:lnTo>
                  <a:lnTo>
                    <a:pt x="225348" y="256019"/>
                  </a:lnTo>
                  <a:lnTo>
                    <a:pt x="256019" y="225348"/>
                  </a:lnTo>
                  <a:lnTo>
                    <a:pt x="276136" y="186461"/>
                  </a:lnTo>
                  <a:lnTo>
                    <a:pt x="283362" y="141681"/>
                  </a:lnTo>
                  <a:close/>
                </a:path>
                <a:path w="840104" h="660400">
                  <a:moveTo>
                    <a:pt x="477685" y="501675"/>
                  </a:moveTo>
                  <a:lnTo>
                    <a:pt x="469734" y="452374"/>
                  </a:lnTo>
                  <a:lnTo>
                    <a:pt x="447586" y="409549"/>
                  </a:lnTo>
                  <a:lnTo>
                    <a:pt x="413816" y="375780"/>
                  </a:lnTo>
                  <a:lnTo>
                    <a:pt x="370992" y="353631"/>
                  </a:lnTo>
                  <a:lnTo>
                    <a:pt x="321678" y="345681"/>
                  </a:lnTo>
                  <a:lnTo>
                    <a:pt x="272376" y="353631"/>
                  </a:lnTo>
                  <a:lnTo>
                    <a:pt x="229552" y="375780"/>
                  </a:lnTo>
                  <a:lnTo>
                    <a:pt x="195783" y="409549"/>
                  </a:lnTo>
                  <a:lnTo>
                    <a:pt x="173634" y="452374"/>
                  </a:lnTo>
                  <a:lnTo>
                    <a:pt x="165684" y="501675"/>
                  </a:lnTo>
                  <a:lnTo>
                    <a:pt x="173634" y="550989"/>
                  </a:lnTo>
                  <a:lnTo>
                    <a:pt x="195783" y="593813"/>
                  </a:lnTo>
                  <a:lnTo>
                    <a:pt x="229552" y="627583"/>
                  </a:lnTo>
                  <a:lnTo>
                    <a:pt x="272376" y="649732"/>
                  </a:lnTo>
                  <a:lnTo>
                    <a:pt x="321678" y="657682"/>
                  </a:lnTo>
                  <a:lnTo>
                    <a:pt x="370992" y="649732"/>
                  </a:lnTo>
                  <a:lnTo>
                    <a:pt x="413816" y="627583"/>
                  </a:lnTo>
                  <a:lnTo>
                    <a:pt x="447586" y="593813"/>
                  </a:lnTo>
                  <a:lnTo>
                    <a:pt x="469734" y="550989"/>
                  </a:lnTo>
                  <a:lnTo>
                    <a:pt x="477685" y="501675"/>
                  </a:lnTo>
                  <a:close/>
                </a:path>
                <a:path w="840104" h="660400">
                  <a:moveTo>
                    <a:pt x="839939" y="501675"/>
                  </a:moveTo>
                  <a:lnTo>
                    <a:pt x="831862" y="451662"/>
                  </a:lnTo>
                  <a:lnTo>
                    <a:pt x="809396" y="408216"/>
                  </a:lnTo>
                  <a:lnTo>
                    <a:pt x="775144" y="373964"/>
                  </a:lnTo>
                  <a:lnTo>
                    <a:pt x="731710" y="351497"/>
                  </a:lnTo>
                  <a:lnTo>
                    <a:pt x="681685" y="343433"/>
                  </a:lnTo>
                  <a:lnTo>
                    <a:pt x="631672" y="351497"/>
                  </a:lnTo>
                  <a:lnTo>
                    <a:pt x="588225" y="373964"/>
                  </a:lnTo>
                  <a:lnTo>
                    <a:pt x="553974" y="408216"/>
                  </a:lnTo>
                  <a:lnTo>
                    <a:pt x="531507" y="451662"/>
                  </a:lnTo>
                  <a:lnTo>
                    <a:pt x="523443" y="501675"/>
                  </a:lnTo>
                  <a:lnTo>
                    <a:pt x="531507" y="551700"/>
                  </a:lnTo>
                  <a:lnTo>
                    <a:pt x="553974" y="595147"/>
                  </a:lnTo>
                  <a:lnTo>
                    <a:pt x="588225" y="629399"/>
                  </a:lnTo>
                  <a:lnTo>
                    <a:pt x="631672" y="651865"/>
                  </a:lnTo>
                  <a:lnTo>
                    <a:pt x="681685" y="659930"/>
                  </a:lnTo>
                  <a:lnTo>
                    <a:pt x="731710" y="651865"/>
                  </a:lnTo>
                  <a:lnTo>
                    <a:pt x="775144" y="629399"/>
                  </a:lnTo>
                  <a:lnTo>
                    <a:pt x="809396" y="595147"/>
                  </a:lnTo>
                  <a:lnTo>
                    <a:pt x="831862" y="551700"/>
                  </a:lnTo>
                  <a:lnTo>
                    <a:pt x="839939" y="501675"/>
                  </a:lnTo>
                  <a:close/>
                </a:path>
              </a:pathLst>
            </a:custGeom>
            <a:solidFill>
              <a:srgbClr val="00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1692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Computational</a:t>
            </a:r>
            <a:r>
              <a:rPr spc="-5" dirty="0"/>
              <a:t> </a:t>
            </a:r>
            <a:r>
              <a:rPr spc="-40" dirty="0"/>
              <a:t>Graphs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0788" y="2314264"/>
            <a:ext cx="234834" cy="23483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574548" y="2300894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36569" y="2300039"/>
            <a:ext cx="263525" cy="263525"/>
          </a:xfrm>
          <a:custGeom>
            <a:avLst/>
            <a:gdLst/>
            <a:ahLst/>
            <a:cxnLst/>
            <a:rect l="l" t="t" r="r" b="b"/>
            <a:pathLst>
              <a:path w="263525" h="263525">
                <a:moveTo>
                  <a:pt x="131642" y="0"/>
                </a:moveTo>
                <a:lnTo>
                  <a:pt x="90033" y="6711"/>
                </a:lnTo>
                <a:lnTo>
                  <a:pt x="53895" y="25399"/>
                </a:lnTo>
                <a:lnTo>
                  <a:pt x="25399" y="53895"/>
                </a:lnTo>
                <a:lnTo>
                  <a:pt x="6711" y="90032"/>
                </a:lnTo>
                <a:lnTo>
                  <a:pt x="0" y="131642"/>
                </a:lnTo>
                <a:lnTo>
                  <a:pt x="6711" y="173252"/>
                </a:lnTo>
                <a:lnTo>
                  <a:pt x="25399" y="209389"/>
                </a:lnTo>
                <a:lnTo>
                  <a:pt x="53895" y="237885"/>
                </a:lnTo>
                <a:lnTo>
                  <a:pt x="90033" y="256573"/>
                </a:lnTo>
                <a:lnTo>
                  <a:pt x="131642" y="263284"/>
                </a:lnTo>
                <a:lnTo>
                  <a:pt x="173252" y="256573"/>
                </a:lnTo>
                <a:lnTo>
                  <a:pt x="209389" y="237885"/>
                </a:lnTo>
                <a:lnTo>
                  <a:pt x="237886" y="209389"/>
                </a:lnTo>
                <a:lnTo>
                  <a:pt x="256574" y="173252"/>
                </a:lnTo>
                <a:lnTo>
                  <a:pt x="263285" y="131642"/>
                </a:lnTo>
                <a:lnTo>
                  <a:pt x="256574" y="90032"/>
                </a:lnTo>
                <a:lnTo>
                  <a:pt x="237886" y="53895"/>
                </a:lnTo>
                <a:lnTo>
                  <a:pt x="209389" y="25399"/>
                </a:lnTo>
                <a:lnTo>
                  <a:pt x="173252" y="6711"/>
                </a:lnTo>
                <a:lnTo>
                  <a:pt x="131642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96784" y="2300894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w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7039" y="2300502"/>
            <a:ext cx="262890" cy="262890"/>
          </a:xfrm>
          <a:custGeom>
            <a:avLst/>
            <a:gdLst/>
            <a:ahLst/>
            <a:cxnLst/>
            <a:rect l="l" t="t" r="r" b="b"/>
            <a:pathLst>
              <a:path w="262889" h="262889">
                <a:moveTo>
                  <a:pt x="131179" y="0"/>
                </a:moveTo>
                <a:lnTo>
                  <a:pt x="80117" y="10308"/>
                </a:lnTo>
                <a:lnTo>
                  <a:pt x="38421" y="38421"/>
                </a:lnTo>
                <a:lnTo>
                  <a:pt x="10308" y="80117"/>
                </a:lnTo>
                <a:lnTo>
                  <a:pt x="0" y="131179"/>
                </a:lnTo>
                <a:lnTo>
                  <a:pt x="10308" y="182240"/>
                </a:lnTo>
                <a:lnTo>
                  <a:pt x="38421" y="223937"/>
                </a:lnTo>
                <a:lnTo>
                  <a:pt x="80117" y="252049"/>
                </a:lnTo>
                <a:lnTo>
                  <a:pt x="131179" y="262358"/>
                </a:lnTo>
                <a:lnTo>
                  <a:pt x="182240" y="252049"/>
                </a:lnTo>
                <a:lnTo>
                  <a:pt x="223937" y="223937"/>
                </a:lnTo>
                <a:lnTo>
                  <a:pt x="252049" y="182240"/>
                </a:lnTo>
                <a:lnTo>
                  <a:pt x="262358" y="131179"/>
                </a:lnTo>
                <a:lnTo>
                  <a:pt x="252049" y="80117"/>
                </a:lnTo>
                <a:lnTo>
                  <a:pt x="223937" y="38421"/>
                </a:lnTo>
                <a:lnTo>
                  <a:pt x="182240" y="10308"/>
                </a:lnTo>
                <a:lnTo>
                  <a:pt x="131179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655025" y="2319868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56529" y="1749996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4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9"/>
                </a:lnTo>
                <a:lnTo>
                  <a:pt x="7222" y="186460"/>
                </a:lnTo>
                <a:lnTo>
                  <a:pt x="27335" y="225353"/>
                </a:lnTo>
                <a:lnTo>
                  <a:pt x="58004" y="256022"/>
                </a:lnTo>
                <a:lnTo>
                  <a:pt x="96897" y="276135"/>
                </a:lnTo>
                <a:lnTo>
                  <a:pt x="141678" y="283357"/>
                </a:lnTo>
                <a:lnTo>
                  <a:pt x="186460" y="276135"/>
                </a:lnTo>
                <a:lnTo>
                  <a:pt x="225352" y="256022"/>
                </a:lnTo>
                <a:lnTo>
                  <a:pt x="256022" y="225353"/>
                </a:lnTo>
                <a:lnTo>
                  <a:pt x="276134" y="186460"/>
                </a:lnTo>
                <a:lnTo>
                  <a:pt x="283357" y="141679"/>
                </a:lnTo>
                <a:lnTo>
                  <a:pt x="276134" y="96897"/>
                </a:lnTo>
                <a:lnTo>
                  <a:pt x="256022" y="58004"/>
                </a:lnTo>
                <a:lnTo>
                  <a:pt x="225352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23213" y="1749511"/>
            <a:ext cx="90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z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7704" y="182289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 MT"/>
                <a:cs typeface="Arial MT"/>
              </a:rPr>
              <a:t>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079" y="2029560"/>
            <a:ext cx="2165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dot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026533" y="1209989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4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5"/>
                </a:lnTo>
                <a:lnTo>
                  <a:pt x="141678" y="283357"/>
                </a:lnTo>
                <a:lnTo>
                  <a:pt x="186460" y="276135"/>
                </a:lnTo>
                <a:lnTo>
                  <a:pt x="225353" y="256022"/>
                </a:lnTo>
                <a:lnTo>
                  <a:pt x="256022" y="225352"/>
                </a:lnTo>
                <a:lnTo>
                  <a:pt x="276135" y="186460"/>
                </a:lnTo>
                <a:lnTo>
                  <a:pt x="283357" y="141678"/>
                </a:lnTo>
                <a:lnTo>
                  <a:pt x="276135" y="96897"/>
                </a:lnTo>
                <a:lnTo>
                  <a:pt x="256022" y="58004"/>
                </a:lnTo>
                <a:lnTo>
                  <a:pt x="225353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67816" y="1119154"/>
            <a:ext cx="194945" cy="54673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46355">
              <a:lnSpc>
                <a:spcPct val="100000"/>
              </a:lnSpc>
              <a:spcBef>
                <a:spcPts val="64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026533" y="669982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4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9"/>
                </a:lnTo>
                <a:lnTo>
                  <a:pt x="7222" y="186460"/>
                </a:lnTo>
                <a:lnTo>
                  <a:pt x="27335" y="225353"/>
                </a:lnTo>
                <a:lnTo>
                  <a:pt x="58004" y="256022"/>
                </a:lnTo>
                <a:lnTo>
                  <a:pt x="96897" y="276134"/>
                </a:lnTo>
                <a:lnTo>
                  <a:pt x="141678" y="283357"/>
                </a:lnTo>
                <a:lnTo>
                  <a:pt x="186460" y="276134"/>
                </a:lnTo>
                <a:lnTo>
                  <a:pt x="225353" y="256022"/>
                </a:lnTo>
                <a:lnTo>
                  <a:pt x="256022" y="225353"/>
                </a:lnTo>
                <a:lnTo>
                  <a:pt x="276135" y="186460"/>
                </a:lnTo>
                <a:lnTo>
                  <a:pt x="283357" y="141679"/>
                </a:lnTo>
                <a:lnTo>
                  <a:pt x="276135" y="96897"/>
                </a:lnTo>
                <a:lnTo>
                  <a:pt x="256022" y="58004"/>
                </a:lnTo>
                <a:lnTo>
                  <a:pt x="225353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93216" y="669503"/>
            <a:ext cx="90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z</a:t>
            </a:r>
            <a:endParaRPr sz="12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57706" y="74289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 MT"/>
                <a:cs typeface="Arial MT"/>
              </a:rPr>
              <a:t>3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8727" y="949526"/>
            <a:ext cx="239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relu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79317" y="955826"/>
            <a:ext cx="971550" cy="1371600"/>
            <a:chOff x="679317" y="955826"/>
            <a:chExt cx="971550" cy="1371600"/>
          </a:xfrm>
        </p:grpSpPr>
        <p:sp>
          <p:nvSpPr>
            <p:cNvPr id="25" name="object 25"/>
            <p:cNvSpPr/>
            <p:nvPr/>
          </p:nvSpPr>
          <p:spPr>
            <a:xfrm>
              <a:off x="681848" y="2025852"/>
              <a:ext cx="149860" cy="299085"/>
            </a:xfrm>
            <a:custGeom>
              <a:avLst/>
              <a:gdLst/>
              <a:ahLst/>
              <a:cxnLst/>
              <a:rect l="l" t="t" r="r" b="b"/>
              <a:pathLst>
                <a:path w="149859" h="299085">
                  <a:moveTo>
                    <a:pt x="0" y="298541"/>
                  </a:moveTo>
                  <a:lnTo>
                    <a:pt x="149272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6224" y="2022458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5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3" y="0"/>
                  </a:lnTo>
                  <a:lnTo>
                    <a:pt x="26982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65317" y="2025852"/>
              <a:ext cx="142875" cy="285750"/>
            </a:xfrm>
            <a:custGeom>
              <a:avLst/>
              <a:gdLst/>
              <a:ahLst/>
              <a:cxnLst/>
              <a:rect l="l" t="t" r="r" b="b"/>
              <a:pathLst>
                <a:path w="142875" h="285750">
                  <a:moveTo>
                    <a:pt x="142673" y="285338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54000" y="2022458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5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62714" y="1485829"/>
              <a:ext cx="138430" cy="276860"/>
            </a:xfrm>
            <a:custGeom>
              <a:avLst/>
              <a:gdLst/>
              <a:ahLst/>
              <a:cxnLst/>
              <a:rect l="l" t="t" r="r" b="b"/>
              <a:pathLst>
                <a:path w="138430" h="276860">
                  <a:moveTo>
                    <a:pt x="0" y="276841"/>
                  </a:moveTo>
                  <a:lnTo>
                    <a:pt x="13842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76237" y="1482434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4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4" y="0"/>
                  </a:lnTo>
                  <a:lnTo>
                    <a:pt x="26983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35341" y="1485850"/>
              <a:ext cx="413384" cy="826135"/>
            </a:xfrm>
            <a:custGeom>
              <a:avLst/>
              <a:gdLst/>
              <a:ahLst/>
              <a:cxnLst/>
              <a:rect l="l" t="t" r="r" b="b"/>
              <a:pathLst>
                <a:path w="413385" h="826135">
                  <a:moveTo>
                    <a:pt x="412880" y="825757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223979" y="1482442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26132"/>
                  </a:moveTo>
                  <a:lnTo>
                    <a:pt x="4225" y="20690"/>
                  </a:lnTo>
                  <a:lnTo>
                    <a:pt x="7385" y="12852"/>
                  </a:lnTo>
                  <a:lnTo>
                    <a:pt x="9267" y="5121"/>
                  </a:lnTo>
                  <a:lnTo>
                    <a:pt x="9657" y="0"/>
                  </a:lnTo>
                  <a:lnTo>
                    <a:pt x="13989" y="2760"/>
                  </a:lnTo>
                  <a:lnTo>
                    <a:pt x="21303" y="5893"/>
                  </a:lnTo>
                  <a:lnTo>
                    <a:pt x="29469" y="8068"/>
                  </a:lnTo>
                  <a:lnTo>
                    <a:pt x="36358" y="7953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68230" y="961646"/>
              <a:ext cx="0" cy="246379"/>
            </a:xfrm>
            <a:custGeom>
              <a:avLst/>
              <a:gdLst/>
              <a:ahLst/>
              <a:cxnLst/>
              <a:rect l="l" t="t" r="r" b="b"/>
              <a:pathLst>
                <a:path h="246380">
                  <a:moveTo>
                    <a:pt x="2" y="24577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147986" y="957850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61466" y="2837204"/>
            <a:ext cx="12274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Arial MT"/>
                <a:cs typeface="Arial MT"/>
              </a:rPr>
              <a:t>3</a:t>
            </a:r>
            <a:r>
              <a:rPr sz="1200" spc="157" baseline="-10416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relu(</a:t>
            </a:r>
            <a:r>
              <a:rPr sz="1100" i="1" spc="-4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952102" y="2006191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1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80728" y="2286265"/>
            <a:ext cx="924560" cy="3105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75895">
              <a:lnSpc>
                <a:spcPts val="1065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dot</a:t>
            </a:r>
            <a:endParaRPr sz="1100">
              <a:latin typeface="Tahoma"/>
              <a:cs typeface="Tahoma"/>
            </a:endParaRPr>
          </a:p>
          <a:p>
            <a:pPr marL="50800">
              <a:lnSpc>
                <a:spcPts val="1185"/>
              </a:lnSpc>
              <a:tabLst>
                <a:tab pos="370840" algn="l"/>
                <a:tab pos="742950" algn="l"/>
              </a:tabLst>
            </a:pPr>
            <a:r>
              <a:rPr sz="1800" i="1" spc="-75" baseline="4629" dirty="0">
                <a:latin typeface="Arial"/>
                <a:cs typeface="Arial"/>
              </a:rPr>
              <a:t>x</a:t>
            </a:r>
            <a:r>
              <a:rPr sz="1800" i="1" baseline="4629" dirty="0">
                <a:latin typeface="Arial"/>
                <a:cs typeface="Arial"/>
              </a:rPr>
              <a:t>	</a:t>
            </a:r>
            <a:r>
              <a:rPr sz="1800" i="1" spc="-37" baseline="9259" dirty="0">
                <a:latin typeface="Arial"/>
                <a:cs typeface="Arial"/>
              </a:rPr>
              <a:t>w</a:t>
            </a:r>
            <a:r>
              <a:rPr sz="800" spc="-25" dirty="0">
                <a:latin typeface="Arial MT"/>
                <a:cs typeface="Arial MT"/>
              </a:rPr>
              <a:t>1</a:t>
            </a:r>
            <a:r>
              <a:rPr sz="800" dirty="0">
                <a:latin typeface="Arial MT"/>
                <a:cs typeface="Arial MT"/>
              </a:rPr>
              <a:t>	</a:t>
            </a:r>
            <a:r>
              <a:rPr sz="1800" i="1" spc="-37" baseline="2314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Arial MT"/>
                <a:cs typeface="Arial MT"/>
              </a:rPr>
              <a:t>1</a:t>
            </a:r>
            <a:endParaRPr sz="1200" baseline="-10416">
              <a:latin typeface="Arial MT"/>
              <a:cs typeface="Arial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90824" y="1646689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4"/>
                </a:lnTo>
                <a:lnTo>
                  <a:pt x="141678" y="283357"/>
                </a:lnTo>
                <a:lnTo>
                  <a:pt x="186460" y="276134"/>
                </a:lnTo>
                <a:lnTo>
                  <a:pt x="225353" y="256022"/>
                </a:lnTo>
                <a:lnTo>
                  <a:pt x="256022" y="225352"/>
                </a:lnTo>
                <a:lnTo>
                  <a:pt x="276135" y="186460"/>
                </a:lnTo>
                <a:lnTo>
                  <a:pt x="283357" y="141678"/>
                </a:lnTo>
                <a:lnTo>
                  <a:pt x="276135" y="96897"/>
                </a:lnTo>
                <a:lnTo>
                  <a:pt x="256022" y="58004"/>
                </a:lnTo>
                <a:lnTo>
                  <a:pt x="225353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132099" y="1555830"/>
            <a:ext cx="194945" cy="54673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46355">
              <a:lnSpc>
                <a:spcPct val="100000"/>
              </a:lnSpc>
              <a:spcBef>
                <a:spcPts val="64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90824" y="1286684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5"/>
                </a:lnTo>
                <a:lnTo>
                  <a:pt x="141678" y="283357"/>
                </a:lnTo>
                <a:lnTo>
                  <a:pt x="186460" y="276135"/>
                </a:lnTo>
                <a:lnTo>
                  <a:pt x="225353" y="256022"/>
                </a:lnTo>
                <a:lnTo>
                  <a:pt x="256022" y="225352"/>
                </a:lnTo>
                <a:lnTo>
                  <a:pt x="276135" y="186460"/>
                </a:lnTo>
                <a:lnTo>
                  <a:pt x="283357" y="141678"/>
                </a:lnTo>
                <a:lnTo>
                  <a:pt x="276135" y="96897"/>
                </a:lnTo>
                <a:lnTo>
                  <a:pt x="256022" y="58004"/>
                </a:lnTo>
                <a:lnTo>
                  <a:pt x="225353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3112998" y="1566264"/>
            <a:ext cx="239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relu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436505" y="1270127"/>
            <a:ext cx="674370" cy="316865"/>
          </a:xfrm>
          <a:custGeom>
            <a:avLst/>
            <a:gdLst/>
            <a:ahLst/>
            <a:cxnLst/>
            <a:rect l="l" t="t" r="r" b="b"/>
            <a:pathLst>
              <a:path w="674370" h="316865">
                <a:moveTo>
                  <a:pt x="312000" y="158242"/>
                </a:moveTo>
                <a:lnTo>
                  <a:pt x="304038" y="108940"/>
                </a:lnTo>
                <a:lnTo>
                  <a:pt x="281901" y="66116"/>
                </a:lnTo>
                <a:lnTo>
                  <a:pt x="248132" y="32346"/>
                </a:lnTo>
                <a:lnTo>
                  <a:pt x="205308" y="10198"/>
                </a:lnTo>
                <a:lnTo>
                  <a:pt x="155994" y="2247"/>
                </a:lnTo>
                <a:lnTo>
                  <a:pt x="106692" y="10198"/>
                </a:lnTo>
                <a:lnTo>
                  <a:pt x="63868" y="32346"/>
                </a:lnTo>
                <a:lnTo>
                  <a:pt x="30099" y="66116"/>
                </a:lnTo>
                <a:lnTo>
                  <a:pt x="7950" y="108940"/>
                </a:lnTo>
                <a:lnTo>
                  <a:pt x="0" y="158242"/>
                </a:lnTo>
                <a:lnTo>
                  <a:pt x="7950" y="207556"/>
                </a:lnTo>
                <a:lnTo>
                  <a:pt x="30099" y="250380"/>
                </a:lnTo>
                <a:lnTo>
                  <a:pt x="63868" y="284149"/>
                </a:lnTo>
                <a:lnTo>
                  <a:pt x="106692" y="306285"/>
                </a:lnTo>
                <a:lnTo>
                  <a:pt x="155994" y="314248"/>
                </a:lnTo>
                <a:lnTo>
                  <a:pt x="205308" y="306285"/>
                </a:lnTo>
                <a:lnTo>
                  <a:pt x="248132" y="284149"/>
                </a:lnTo>
                <a:lnTo>
                  <a:pt x="281901" y="250380"/>
                </a:lnTo>
                <a:lnTo>
                  <a:pt x="304038" y="207556"/>
                </a:lnTo>
                <a:lnTo>
                  <a:pt x="312000" y="158242"/>
                </a:lnTo>
                <a:close/>
              </a:path>
              <a:path w="674370" h="316865">
                <a:moveTo>
                  <a:pt x="674243" y="158242"/>
                </a:moveTo>
                <a:lnTo>
                  <a:pt x="666178" y="108229"/>
                </a:lnTo>
                <a:lnTo>
                  <a:pt x="643712" y="64782"/>
                </a:lnTo>
                <a:lnTo>
                  <a:pt x="609460" y="30530"/>
                </a:lnTo>
                <a:lnTo>
                  <a:pt x="566013" y="8064"/>
                </a:lnTo>
                <a:lnTo>
                  <a:pt x="516001" y="0"/>
                </a:lnTo>
                <a:lnTo>
                  <a:pt x="465975" y="8064"/>
                </a:lnTo>
                <a:lnTo>
                  <a:pt x="422541" y="30530"/>
                </a:lnTo>
                <a:lnTo>
                  <a:pt x="388289" y="64782"/>
                </a:lnTo>
                <a:lnTo>
                  <a:pt x="365823" y="108229"/>
                </a:lnTo>
                <a:lnTo>
                  <a:pt x="357746" y="158242"/>
                </a:lnTo>
                <a:lnTo>
                  <a:pt x="365823" y="208267"/>
                </a:lnTo>
                <a:lnTo>
                  <a:pt x="388289" y="251701"/>
                </a:lnTo>
                <a:lnTo>
                  <a:pt x="422541" y="285953"/>
                </a:lnTo>
                <a:lnTo>
                  <a:pt x="465975" y="308419"/>
                </a:lnTo>
                <a:lnTo>
                  <a:pt x="516001" y="316496"/>
                </a:lnTo>
                <a:lnTo>
                  <a:pt x="566013" y="308419"/>
                </a:lnTo>
                <a:lnTo>
                  <a:pt x="609460" y="285953"/>
                </a:lnTo>
                <a:lnTo>
                  <a:pt x="643712" y="251701"/>
                </a:lnTo>
                <a:lnTo>
                  <a:pt x="666178" y="208267"/>
                </a:lnTo>
                <a:lnTo>
                  <a:pt x="674243" y="158242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3846207" y="1305189"/>
            <a:ext cx="2063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b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3270826" y="926680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6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5"/>
                </a:lnTo>
                <a:lnTo>
                  <a:pt x="141678" y="283357"/>
                </a:lnTo>
                <a:lnTo>
                  <a:pt x="186460" y="276135"/>
                </a:lnTo>
                <a:lnTo>
                  <a:pt x="225353" y="256022"/>
                </a:lnTo>
                <a:lnTo>
                  <a:pt x="256022" y="225352"/>
                </a:lnTo>
                <a:lnTo>
                  <a:pt x="276135" y="186460"/>
                </a:lnTo>
                <a:lnTo>
                  <a:pt x="283357" y="141678"/>
                </a:lnTo>
                <a:lnTo>
                  <a:pt x="276135" y="96896"/>
                </a:lnTo>
                <a:lnTo>
                  <a:pt x="256022" y="58004"/>
                </a:lnTo>
                <a:lnTo>
                  <a:pt x="225353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3312096" y="926208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4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132099" y="1206270"/>
            <a:ext cx="572770" cy="2876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3810" algn="ctr">
              <a:lnSpc>
                <a:spcPts val="975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dot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ts val="1095"/>
              </a:lnSpc>
              <a:tabLst>
                <a:tab pos="341630" algn="l"/>
              </a:tabLst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3</a:t>
            </a:r>
            <a:r>
              <a:rPr sz="1200" baseline="-13888" dirty="0">
                <a:latin typeface="Arial MT"/>
                <a:cs typeface="Arial MT"/>
              </a:rPr>
              <a:t>	</a:t>
            </a:r>
            <a:r>
              <a:rPr sz="1200" i="1" spc="-25" dirty="0">
                <a:latin typeface="Arial"/>
                <a:cs typeface="Arial"/>
              </a:rPr>
              <a:t>w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450828" y="566675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4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7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3"/>
                </a:lnTo>
                <a:lnTo>
                  <a:pt x="58004" y="256022"/>
                </a:lnTo>
                <a:lnTo>
                  <a:pt x="96897" y="276135"/>
                </a:lnTo>
                <a:lnTo>
                  <a:pt x="141678" y="283357"/>
                </a:lnTo>
                <a:lnTo>
                  <a:pt x="186460" y="276135"/>
                </a:lnTo>
                <a:lnTo>
                  <a:pt x="225352" y="256022"/>
                </a:lnTo>
                <a:lnTo>
                  <a:pt x="256022" y="225353"/>
                </a:lnTo>
                <a:lnTo>
                  <a:pt x="276134" y="186460"/>
                </a:lnTo>
                <a:lnTo>
                  <a:pt x="283357" y="141678"/>
                </a:lnTo>
                <a:lnTo>
                  <a:pt x="276134" y="96897"/>
                </a:lnTo>
                <a:lnTo>
                  <a:pt x="256022" y="58004"/>
                </a:lnTo>
                <a:lnTo>
                  <a:pt x="225352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492093" y="475821"/>
            <a:ext cx="194945" cy="54673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0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5</a:t>
            </a:r>
            <a:endParaRPr sz="1200" baseline="-13888">
              <a:latin typeface="Arial MT"/>
              <a:cs typeface="Arial MT"/>
            </a:endParaRPr>
          </a:p>
          <a:p>
            <a:pPr marL="46355">
              <a:lnSpc>
                <a:spcPct val="100000"/>
              </a:lnSpc>
              <a:spcBef>
                <a:spcPts val="640"/>
              </a:spcBef>
            </a:pPr>
            <a:r>
              <a:rPr sz="1100" spc="-50" dirty="0">
                <a:latin typeface="Tahoma"/>
                <a:cs typeface="Tahoma"/>
              </a:rPr>
              <a:t>+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3450828" y="206671"/>
            <a:ext cx="283845" cy="283845"/>
          </a:xfrm>
          <a:custGeom>
            <a:avLst/>
            <a:gdLst/>
            <a:ahLst/>
            <a:cxnLst/>
            <a:rect l="l" t="t" r="r" b="b"/>
            <a:pathLst>
              <a:path w="283845" h="283845">
                <a:moveTo>
                  <a:pt x="141678" y="0"/>
                </a:moveTo>
                <a:lnTo>
                  <a:pt x="96897" y="7222"/>
                </a:lnTo>
                <a:lnTo>
                  <a:pt x="58004" y="27335"/>
                </a:lnTo>
                <a:lnTo>
                  <a:pt x="27335" y="58004"/>
                </a:lnTo>
                <a:lnTo>
                  <a:pt x="7222" y="96896"/>
                </a:lnTo>
                <a:lnTo>
                  <a:pt x="0" y="141678"/>
                </a:lnTo>
                <a:lnTo>
                  <a:pt x="7222" y="186460"/>
                </a:lnTo>
                <a:lnTo>
                  <a:pt x="27335" y="225352"/>
                </a:lnTo>
                <a:lnTo>
                  <a:pt x="58004" y="256022"/>
                </a:lnTo>
                <a:lnTo>
                  <a:pt x="96897" y="276134"/>
                </a:lnTo>
                <a:lnTo>
                  <a:pt x="141678" y="283357"/>
                </a:lnTo>
                <a:lnTo>
                  <a:pt x="186460" y="276134"/>
                </a:lnTo>
                <a:lnTo>
                  <a:pt x="225352" y="256022"/>
                </a:lnTo>
                <a:lnTo>
                  <a:pt x="256022" y="225352"/>
                </a:lnTo>
                <a:lnTo>
                  <a:pt x="276134" y="186460"/>
                </a:lnTo>
                <a:lnTo>
                  <a:pt x="283357" y="141678"/>
                </a:lnTo>
                <a:lnTo>
                  <a:pt x="276134" y="96896"/>
                </a:lnTo>
                <a:lnTo>
                  <a:pt x="256022" y="58004"/>
                </a:lnTo>
                <a:lnTo>
                  <a:pt x="225352" y="27335"/>
                </a:lnTo>
                <a:lnTo>
                  <a:pt x="186460" y="7222"/>
                </a:lnTo>
                <a:lnTo>
                  <a:pt x="141678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492093" y="206207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6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472992" y="486269"/>
            <a:ext cx="239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relu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923825" y="492560"/>
            <a:ext cx="959485" cy="1910714"/>
            <a:chOff x="2923825" y="492560"/>
            <a:chExt cx="959485" cy="1910714"/>
          </a:xfrm>
        </p:grpSpPr>
        <p:pic>
          <p:nvPicPr>
            <p:cNvPr id="53" name="object 5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23825" y="2277143"/>
              <a:ext cx="74922" cy="126051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3119594" y="2282562"/>
              <a:ext cx="41910" cy="83820"/>
            </a:xfrm>
            <a:custGeom>
              <a:avLst/>
              <a:gdLst/>
              <a:ahLst/>
              <a:cxnLst/>
              <a:rect l="l" t="t" r="r" b="b"/>
              <a:pathLst>
                <a:path w="41910" h="83819">
                  <a:moveTo>
                    <a:pt x="41725" y="834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08277" y="2279167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5">
                  <a:moveTo>
                    <a:pt x="0" y="26027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4723" y="1917138"/>
              <a:ext cx="64070" cy="104265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299597" y="1922558"/>
              <a:ext cx="221615" cy="442595"/>
            </a:xfrm>
            <a:custGeom>
              <a:avLst/>
              <a:gdLst/>
              <a:ahLst/>
              <a:cxnLst/>
              <a:rect l="l" t="t" r="r" b="b"/>
              <a:pathLst>
                <a:path w="221614" h="442594">
                  <a:moveTo>
                    <a:pt x="221007" y="44201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3288280" y="1919163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3232503" y="1578393"/>
              <a:ext cx="0" cy="66040"/>
            </a:xfrm>
            <a:custGeom>
              <a:avLst/>
              <a:gdLst/>
              <a:ahLst/>
              <a:cxnLst/>
              <a:rect l="l" t="t" r="r" b="b"/>
              <a:pathLst>
                <a:path h="66039">
                  <a:moveTo>
                    <a:pt x="0" y="6576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3212259" y="1574597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3479598" y="1202549"/>
              <a:ext cx="41910" cy="83820"/>
            </a:xfrm>
            <a:custGeom>
              <a:avLst/>
              <a:gdLst/>
              <a:ahLst/>
              <a:cxnLst/>
              <a:rect l="l" t="t" r="r" b="b"/>
              <a:pathLst>
                <a:path w="41910" h="83819">
                  <a:moveTo>
                    <a:pt x="41725" y="8345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3468282" y="1199154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4">
                  <a:moveTo>
                    <a:pt x="0" y="26027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3" name="object 6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94723" y="1197130"/>
              <a:ext cx="64029" cy="10426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3659601" y="842544"/>
              <a:ext cx="221615" cy="442595"/>
            </a:xfrm>
            <a:custGeom>
              <a:avLst/>
              <a:gdLst/>
              <a:ahLst/>
              <a:cxnLst/>
              <a:rect l="l" t="t" r="r" b="b"/>
              <a:pathLst>
                <a:path w="221614" h="442594">
                  <a:moveTo>
                    <a:pt x="221007" y="44201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648285" y="839149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4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4727" y="837124"/>
              <a:ext cx="64070" cy="104265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3592507" y="498379"/>
              <a:ext cx="0" cy="66040"/>
            </a:xfrm>
            <a:custGeom>
              <a:avLst/>
              <a:gdLst/>
              <a:ahLst/>
              <a:cxnLst/>
              <a:rect l="l" t="t" r="r" b="b"/>
              <a:pathLst>
                <a:path h="66040">
                  <a:moveTo>
                    <a:pt x="0" y="65765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572263" y="49458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39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3048761" y="301208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 MT"/>
                <a:cs typeface="Arial MT"/>
              </a:rPr>
              <a:t>2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2356167" y="2940505"/>
            <a:ext cx="2153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Arial MT"/>
                <a:cs typeface="Arial MT"/>
              </a:rPr>
              <a:t>6</a:t>
            </a:r>
            <a:r>
              <a:rPr sz="1200" spc="202" baseline="-10416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relu(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relu(</a:t>
            </a:r>
            <a:r>
              <a:rPr sz="1100" i="1" spc="-4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w</a:t>
            </a:r>
            <a:r>
              <a:rPr sz="1200" baseline="-10416" dirty="0">
                <a:latin typeface="Arial MT"/>
                <a:cs typeface="Arial MT"/>
              </a:rPr>
              <a:t>1</a:t>
            </a:r>
            <a:r>
              <a:rPr sz="1200" spc="112" baseline="-10416" dirty="0">
                <a:latin typeface="Arial MT"/>
                <a:cs typeface="Arial MT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spc="-30" baseline="-10416" dirty="0">
                <a:latin typeface="Arial MT"/>
                <a:cs typeface="Arial MT"/>
              </a:rPr>
              <a:t>1</a:t>
            </a:r>
            <a:r>
              <a:rPr sz="1100" spc="-20" dirty="0">
                <a:latin typeface="Tahoma"/>
                <a:cs typeface="Tahoma"/>
              </a:rPr>
              <a:t>)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+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b</a:t>
            </a:r>
            <a:r>
              <a:rPr sz="1200" spc="-37" baseline="-10416" dirty="0">
                <a:latin typeface="Arial MT"/>
                <a:cs typeface="Arial MT"/>
              </a:rPr>
              <a:t>2</a:t>
            </a:r>
            <a:r>
              <a:rPr sz="1100" spc="-25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72" y="219290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22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Forward</a:t>
            </a:r>
            <a:r>
              <a:rPr dirty="0"/>
              <a:t> </a:t>
            </a:r>
            <a:r>
              <a:rPr spc="-25" dirty="0"/>
              <a:t>Computation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42239" y="450482"/>
            <a:ext cx="2343150" cy="95948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72720" indent="-147320">
              <a:lnSpc>
                <a:spcPct val="100000"/>
              </a:lnSpc>
              <a:spcBef>
                <a:spcPts val="285"/>
              </a:spcBef>
              <a:buSzPct val="72727"/>
              <a:buChar char="►"/>
              <a:tabLst>
                <a:tab pos="172720" algn="l"/>
              </a:tabLst>
            </a:pPr>
            <a:r>
              <a:rPr sz="1100" spc="-30" dirty="0">
                <a:latin typeface="Tahoma"/>
                <a:cs typeface="Tahoma"/>
              </a:rPr>
              <a:t>computational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95" dirty="0">
                <a:latin typeface="Arial"/>
                <a:cs typeface="Arial"/>
              </a:rPr>
              <a:t>E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),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DAG.</a:t>
            </a:r>
            <a:endParaRPr sz="11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17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0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node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IDs.</a:t>
            </a:r>
            <a:endParaRPr sz="10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0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⊆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×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13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directed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edges.</a:t>
            </a:r>
            <a:endParaRPr sz="1000">
              <a:latin typeface="Tahoma"/>
              <a:cs typeface="Tahoma"/>
            </a:endParaRPr>
          </a:p>
          <a:p>
            <a:pPr marL="173355">
              <a:lnSpc>
                <a:spcPct val="100000"/>
              </a:lnSpc>
              <a:spcBef>
                <a:spcPts val="95"/>
              </a:spcBef>
            </a:pPr>
            <a:r>
              <a:rPr sz="1100" spc="-10" dirty="0">
                <a:latin typeface="Tahoma"/>
                <a:cs typeface="Tahoma"/>
              </a:rPr>
              <a:t>For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313055">
              <a:lnSpc>
                <a:spcPct val="100000"/>
              </a:lnSpc>
              <a:spcBef>
                <a:spcPts val="17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0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</a:t>
            </a:r>
            <a:r>
              <a:rPr sz="1000" spc="8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domain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20" dirty="0">
                <a:latin typeface="Tahoma"/>
                <a:cs typeface="Tahoma"/>
              </a:rPr>
              <a:t> the </a:t>
            </a:r>
            <a:r>
              <a:rPr sz="1000" spc="-40" dirty="0">
                <a:latin typeface="Tahoma"/>
                <a:cs typeface="Tahoma"/>
              </a:rPr>
              <a:t>node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(e.g.,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0" dirty="0">
                <a:latin typeface="Georgia"/>
                <a:cs typeface="Georgia"/>
              </a:rPr>
              <a:t>R</a:t>
            </a:r>
            <a:r>
              <a:rPr sz="1050" spc="-30" baseline="27777" dirty="0">
                <a:latin typeface="Arial MT"/>
                <a:cs typeface="Arial MT"/>
              </a:rPr>
              <a:t>17</a:t>
            </a:r>
            <a:r>
              <a:rPr sz="1000" spc="-2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2932" y="1397468"/>
            <a:ext cx="27870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additionally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node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2550" y="1491721"/>
            <a:ext cx="1454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170" dirty="0">
                <a:latin typeface="Tahoma"/>
                <a:cs typeface="Tahoma"/>
              </a:rPr>
              <a:t>Q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681" y="1743725"/>
            <a:ext cx="5429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22222" dirty="0">
                <a:latin typeface="Verdana"/>
                <a:cs typeface="Verdana"/>
              </a:rPr>
              <a:t>'</a:t>
            </a:r>
            <a:r>
              <a:rPr sz="700" dirty="0">
                <a:latin typeface="Cambria"/>
                <a:cs typeface="Cambria"/>
              </a:rPr>
              <a:t>∈</a:t>
            </a:r>
            <a:r>
              <a:rPr sz="700" dirty="0">
                <a:latin typeface="Arial MT"/>
                <a:cs typeface="Arial MT"/>
              </a:rPr>
              <a:t>fanin(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140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875" y="1586616"/>
            <a:ext cx="23539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873760" algn="l"/>
              </a:tabLst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547" baseline="13888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1050" i="1" spc="292" baseline="-11904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: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i="1" spc="55" dirty="0">
                <a:latin typeface="Arial"/>
                <a:cs typeface="Arial"/>
              </a:rPr>
              <a:t>T</a:t>
            </a:r>
            <a:r>
              <a:rPr sz="1050" i="1" spc="82" baseline="-11904" dirty="0">
                <a:latin typeface="Arial"/>
                <a:cs typeface="Arial"/>
              </a:rPr>
              <a:t>z</a:t>
            </a:r>
            <a:r>
              <a:rPr sz="750" i="1" spc="82" baseline="5555" dirty="0">
                <a:latin typeface="Verdana"/>
                <a:cs typeface="Verdana"/>
              </a:rPr>
              <a:t>'</a:t>
            </a:r>
            <a:r>
              <a:rPr sz="750" i="1" spc="270" baseline="5555" dirty="0">
                <a:latin typeface="Verdana"/>
                <a:cs typeface="Verdana"/>
              </a:rPr>
              <a:t> </a:t>
            </a:r>
            <a:r>
              <a:rPr sz="1000" spc="55" dirty="0">
                <a:latin typeface="Lucida Sans Unicode"/>
                <a:cs typeface="Lucida Sans Unicode"/>
              </a:rPr>
              <a:t>→</a:t>
            </a:r>
            <a:r>
              <a:rPr sz="1000" spc="-55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1050" i="1" spc="345" baseline="-11904" dirty="0">
                <a:latin typeface="Arial"/>
                <a:cs typeface="Arial"/>
              </a:rPr>
              <a:t> </a:t>
            </a:r>
            <a:r>
              <a:rPr sz="1000" b="1" dirty="0">
                <a:solidFill>
                  <a:srgbClr val="FF0000"/>
                </a:solidFill>
                <a:latin typeface="Trebuchet MS"/>
                <a:cs typeface="Trebuchet MS"/>
              </a:rPr>
              <a:t>node</a:t>
            </a:r>
            <a:r>
              <a:rPr sz="1000" b="1" spc="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000" b="1" spc="-10" dirty="0">
                <a:solidFill>
                  <a:srgbClr val="FF0000"/>
                </a:solidFill>
                <a:latin typeface="Trebuchet MS"/>
                <a:cs typeface="Trebuchet MS"/>
              </a:rPr>
              <a:t>operation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539" y="1960561"/>
            <a:ext cx="3097530" cy="5359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90"/>
              </a:spcBef>
              <a:buClr>
                <a:srgbClr val="000000"/>
              </a:buClr>
              <a:buSzPct val="72727"/>
              <a:buFont typeface="Tahoma"/>
              <a:buChar char="►"/>
              <a:tabLst>
                <a:tab pos="185420" algn="l"/>
              </a:tabLst>
            </a:pPr>
            <a:r>
              <a:rPr sz="1100" b="1" spc="-45" dirty="0">
                <a:solidFill>
                  <a:srgbClr val="FF0000"/>
                </a:solidFill>
                <a:latin typeface="Trebuchet MS"/>
                <a:cs typeface="Trebuchet MS"/>
              </a:rPr>
              <a:t>forward</a:t>
            </a:r>
            <a:r>
              <a:rPr sz="1100" b="1" spc="-40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b="1" spc="-10" dirty="0">
                <a:solidFill>
                  <a:srgbClr val="FF0000"/>
                </a:solidFill>
                <a:latin typeface="Trebuchet MS"/>
                <a:cs typeface="Trebuchet MS"/>
              </a:rPr>
              <a:t>computation</a:t>
            </a:r>
            <a:r>
              <a:rPr sz="1100" spc="-1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  <a:p>
            <a:pPr marL="186055" marR="30480">
              <a:lnSpc>
                <a:spcPct val="102600"/>
              </a:lnSpc>
            </a:pPr>
            <a:r>
              <a:rPr sz="1100" spc="-25" dirty="0">
                <a:latin typeface="Tahoma"/>
                <a:cs typeface="Tahoma"/>
              </a:rPr>
              <a:t>Given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0416" dirty="0">
                <a:latin typeface="Arial"/>
                <a:cs typeface="Arial"/>
              </a:rPr>
              <a:t>z</a:t>
            </a:r>
            <a:r>
              <a:rPr sz="1200" i="1" spc="172" baseline="-10416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Arial"/>
                <a:cs typeface="Arial"/>
              </a:rPr>
              <a:t>z</a:t>
            </a:r>
            <a:r>
              <a:rPr sz="1200" i="1" spc="300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100" i="1" spc="-17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,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via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33612" y="2862440"/>
            <a:ext cx="273685" cy="17145"/>
          </a:xfrm>
          <a:custGeom>
            <a:avLst/>
            <a:gdLst/>
            <a:ahLst/>
            <a:cxnLst/>
            <a:rect l="l" t="t" r="r" b="b"/>
            <a:pathLst>
              <a:path w="273685" h="17144">
                <a:moveTo>
                  <a:pt x="273202" y="0"/>
                </a:moveTo>
                <a:lnTo>
                  <a:pt x="0" y="0"/>
                </a:lnTo>
                <a:lnTo>
                  <a:pt x="0" y="16624"/>
                </a:lnTo>
                <a:lnTo>
                  <a:pt x="273202" y="16624"/>
                </a:lnTo>
                <a:lnTo>
                  <a:pt x="273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31503" y="2862440"/>
            <a:ext cx="273685" cy="17145"/>
          </a:xfrm>
          <a:custGeom>
            <a:avLst/>
            <a:gdLst/>
            <a:ahLst/>
            <a:cxnLst/>
            <a:rect l="l" t="t" r="r" b="b"/>
            <a:pathLst>
              <a:path w="273685" h="17144">
                <a:moveTo>
                  <a:pt x="273202" y="0"/>
                </a:moveTo>
                <a:lnTo>
                  <a:pt x="0" y="0"/>
                </a:lnTo>
                <a:lnTo>
                  <a:pt x="0" y="16624"/>
                </a:lnTo>
                <a:lnTo>
                  <a:pt x="273202" y="16624"/>
                </a:lnTo>
                <a:lnTo>
                  <a:pt x="2732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258567" y="2727819"/>
            <a:ext cx="8216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47980" algn="l"/>
                <a:tab pos="745490" algn="l"/>
              </a:tabLst>
            </a:pPr>
            <a:r>
              <a:rPr sz="1100" spc="-50" dirty="0">
                <a:latin typeface="Tahoma"/>
                <a:cs typeface="Tahoma"/>
              </a:rPr>
              <a:t>`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25" dirty="0">
                <a:latin typeface="Tahoma"/>
                <a:cs typeface="Tahoma"/>
              </a:rPr>
              <a:t>˛¸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x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36583" y="2878098"/>
            <a:ext cx="18859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35" dirty="0">
                <a:latin typeface="Arial MT"/>
                <a:cs typeface="Arial MT"/>
              </a:rPr>
              <a:t>=:</a:t>
            </a:r>
            <a:r>
              <a:rPr sz="800" i="1" spc="35" dirty="0">
                <a:latin typeface="Arial"/>
                <a:cs typeface="Arial"/>
              </a:rPr>
              <a:t>v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99664" y="2925475"/>
            <a:ext cx="2959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fanin(</a:t>
            </a:r>
            <a:r>
              <a:rPr sz="600" i="1" dirty="0">
                <a:latin typeface="Arial"/>
                <a:cs typeface="Arial"/>
              </a:rPr>
              <a:t>z</a:t>
            </a:r>
            <a:r>
              <a:rPr sz="600" i="1" spc="-114" dirty="0">
                <a:latin typeface="Arial"/>
                <a:cs typeface="Arial"/>
              </a:rPr>
              <a:t> </a:t>
            </a:r>
            <a:r>
              <a:rPr sz="600" spc="-50" dirty="0">
                <a:latin typeface="Arial MT"/>
                <a:cs typeface="Arial MT"/>
              </a:rPr>
              <a:t>)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26069" y="2644138"/>
            <a:ext cx="14331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10101" dirty="0">
                <a:latin typeface="Arial"/>
                <a:cs typeface="Arial"/>
              </a:rPr>
              <a:t>v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1200" i="1" spc="427" baseline="3472" dirty="0">
                <a:latin typeface="Arial"/>
                <a:cs typeface="Arial"/>
              </a:rPr>
              <a:t> </a:t>
            </a:r>
            <a:r>
              <a:rPr sz="1650" baseline="10101" dirty="0">
                <a:latin typeface="Tahoma"/>
                <a:cs typeface="Tahoma"/>
              </a:rPr>
              <a:t>:=</a:t>
            </a:r>
            <a:r>
              <a:rPr sz="1650" spc="37" baseline="10101" dirty="0">
                <a:latin typeface="Tahoma"/>
                <a:cs typeface="Tahoma"/>
              </a:rPr>
              <a:t> </a:t>
            </a:r>
            <a:r>
              <a:rPr sz="1650" i="1" spc="-15" baseline="10101" dirty="0">
                <a:latin typeface="Arial"/>
                <a:cs typeface="Arial"/>
              </a:rPr>
              <a:t>f</a:t>
            </a:r>
            <a:r>
              <a:rPr sz="1200" i="1" spc="-15" baseline="3472" dirty="0">
                <a:latin typeface="Arial"/>
                <a:cs typeface="Arial"/>
              </a:rPr>
              <a:t>z</a:t>
            </a:r>
            <a:r>
              <a:rPr sz="1200" i="1" spc="-120" baseline="3472" dirty="0">
                <a:latin typeface="Arial"/>
                <a:cs typeface="Arial"/>
              </a:rPr>
              <a:t> </a:t>
            </a:r>
            <a:r>
              <a:rPr sz="1650" baseline="10101" dirty="0">
                <a:latin typeface="Tahoma"/>
                <a:cs typeface="Tahoma"/>
              </a:rPr>
              <a:t>((</a:t>
            </a:r>
            <a:r>
              <a:rPr sz="1650" i="1" baseline="10101" dirty="0">
                <a:latin typeface="Arial"/>
                <a:cs typeface="Arial"/>
              </a:rPr>
              <a:t>v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-75" baseline="23148" dirty="0">
                <a:latin typeface="Arial"/>
                <a:cs typeface="Arial"/>
              </a:rPr>
              <a:t> </a:t>
            </a:r>
            <a:r>
              <a:rPr sz="1650" baseline="10101" dirty="0">
                <a:latin typeface="Tahoma"/>
                <a:cs typeface="Tahoma"/>
              </a:rPr>
              <a:t>)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800" dirty="0">
                <a:latin typeface="Cambria"/>
                <a:cs typeface="Cambria"/>
              </a:rPr>
              <a:t>∈</a:t>
            </a:r>
            <a:r>
              <a:rPr sz="800" dirty="0">
                <a:latin typeface="Arial MT"/>
                <a:cs typeface="Arial MT"/>
              </a:rPr>
              <a:t>fanin(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800" i="1" spc="-140" dirty="0">
                <a:latin typeface="Arial"/>
                <a:cs typeface="Arial"/>
              </a:rPr>
              <a:t> </a:t>
            </a:r>
            <a:r>
              <a:rPr sz="800" spc="30" dirty="0">
                <a:latin typeface="Arial MT"/>
                <a:cs typeface="Arial MT"/>
              </a:rPr>
              <a:t>)</a:t>
            </a:r>
            <a:r>
              <a:rPr sz="1650" spc="44" baseline="10101" dirty="0">
                <a:latin typeface="Tahoma"/>
                <a:cs typeface="Tahoma"/>
              </a:rPr>
              <a:t>)</a:t>
            </a:r>
            <a:endParaRPr sz="1650" baseline="10101">
              <a:latin typeface="Tahoma"/>
              <a:cs typeface="Tahom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0142" y="3029037"/>
            <a:ext cx="3233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 MT"/>
                <a:cs typeface="Arial MT"/>
              </a:rPr>
              <a:t>Note:</a:t>
            </a:r>
            <a:r>
              <a:rPr sz="800" spc="18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fanin</a:t>
            </a:r>
            <a:r>
              <a:rPr sz="900" baseline="-13888" dirty="0">
                <a:latin typeface="Arial MT"/>
                <a:cs typeface="Arial MT"/>
              </a:rPr>
              <a:t>(</a:t>
            </a:r>
            <a:r>
              <a:rPr sz="900" i="1" baseline="-13888" dirty="0">
                <a:latin typeface="Arial"/>
                <a:cs typeface="Arial"/>
              </a:rPr>
              <a:t>Z,E</a:t>
            </a:r>
            <a:r>
              <a:rPr sz="900" i="1" spc="-142" baseline="-13888" dirty="0">
                <a:latin typeface="Arial"/>
                <a:cs typeface="Arial"/>
              </a:rPr>
              <a:t> </a:t>
            </a:r>
            <a:r>
              <a:rPr sz="900" baseline="-13888" dirty="0">
                <a:latin typeface="Arial MT"/>
                <a:cs typeface="Arial MT"/>
              </a:rPr>
              <a:t>)</a:t>
            </a:r>
            <a:r>
              <a:rPr sz="800" dirty="0">
                <a:latin typeface="Arial MT"/>
                <a:cs typeface="Arial MT"/>
              </a:rPr>
              <a:t>(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65" dirty="0">
                <a:latin typeface="Arial MT"/>
                <a:cs typeface="Arial MT"/>
              </a:rPr>
              <a:t>)</a:t>
            </a:r>
            <a:r>
              <a:rPr sz="800" spc="35" dirty="0">
                <a:latin typeface="Arial MT"/>
                <a:cs typeface="Arial MT"/>
              </a:rPr>
              <a:t> </a:t>
            </a:r>
            <a:r>
              <a:rPr sz="800" spc="95" dirty="0">
                <a:latin typeface="Arial MT"/>
                <a:cs typeface="Arial MT"/>
              </a:rPr>
              <a:t>:=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80" dirty="0">
                <a:latin typeface="Cambria"/>
                <a:cs typeface="Cambria"/>
              </a:rPr>
              <a:t>{</a:t>
            </a:r>
            <a:r>
              <a:rPr sz="800" i="1" spc="80" dirty="0">
                <a:latin typeface="Arial"/>
                <a:cs typeface="Arial"/>
              </a:rPr>
              <a:t>z</a:t>
            </a:r>
            <a:r>
              <a:rPr sz="900" i="1" spc="120" baseline="27777" dirty="0">
                <a:latin typeface="Arial"/>
                <a:cs typeface="Arial"/>
              </a:rPr>
              <a:t>′</a:t>
            </a:r>
            <a:r>
              <a:rPr sz="900" i="1" spc="195" baseline="27777" dirty="0">
                <a:latin typeface="Arial"/>
                <a:cs typeface="Arial"/>
              </a:rPr>
              <a:t> </a:t>
            </a:r>
            <a:r>
              <a:rPr sz="800" spc="60" dirty="0">
                <a:latin typeface="Cambria"/>
                <a:cs typeface="Cambria"/>
              </a:rPr>
              <a:t>∈</a:t>
            </a:r>
            <a:r>
              <a:rPr sz="800" spc="80" dirty="0">
                <a:latin typeface="Cambria"/>
                <a:cs typeface="Cambria"/>
              </a:rPr>
              <a:t> 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800" i="1" spc="130" dirty="0">
                <a:latin typeface="Arial"/>
                <a:cs typeface="Arial"/>
              </a:rPr>
              <a:t> </a:t>
            </a:r>
            <a:r>
              <a:rPr sz="800" dirty="0">
                <a:latin typeface="Cambria"/>
                <a:cs typeface="Cambria"/>
              </a:rPr>
              <a:t>|</a:t>
            </a:r>
            <a:r>
              <a:rPr sz="800" spc="75" dirty="0">
                <a:latin typeface="Cambria"/>
                <a:cs typeface="Cambria"/>
              </a:rPr>
              <a:t> </a:t>
            </a:r>
            <a:r>
              <a:rPr sz="800" spc="70" dirty="0">
                <a:latin typeface="Arial MT"/>
                <a:cs typeface="Arial MT"/>
              </a:rPr>
              <a:t>(</a:t>
            </a:r>
            <a:r>
              <a:rPr sz="800" i="1" spc="70" dirty="0">
                <a:latin typeface="Arial"/>
                <a:cs typeface="Arial"/>
              </a:rPr>
              <a:t>z</a:t>
            </a:r>
            <a:r>
              <a:rPr sz="900" i="1" spc="104" baseline="27777" dirty="0">
                <a:latin typeface="Arial"/>
                <a:cs typeface="Arial"/>
              </a:rPr>
              <a:t>′</a:t>
            </a:r>
            <a:r>
              <a:rPr sz="800" i="1" spc="70" dirty="0">
                <a:latin typeface="Calibri"/>
                <a:cs typeface="Calibri"/>
              </a:rPr>
              <a:t>,</a:t>
            </a:r>
            <a:r>
              <a:rPr sz="800" i="1" spc="-25" dirty="0">
                <a:latin typeface="Calibri"/>
                <a:cs typeface="Calibri"/>
              </a:rPr>
              <a:t> </a:t>
            </a:r>
            <a:r>
              <a:rPr sz="800" i="1" spc="-45" dirty="0">
                <a:latin typeface="Arial"/>
                <a:cs typeface="Arial"/>
              </a:rPr>
              <a:t>z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65" dirty="0">
                <a:latin typeface="Arial MT"/>
                <a:cs typeface="Arial MT"/>
              </a:rPr>
              <a:t>)</a:t>
            </a:r>
            <a:r>
              <a:rPr sz="800" spc="30" dirty="0">
                <a:latin typeface="Arial MT"/>
                <a:cs typeface="Arial MT"/>
              </a:rPr>
              <a:t> </a:t>
            </a:r>
            <a:r>
              <a:rPr sz="800" spc="60" dirty="0">
                <a:latin typeface="Cambria"/>
                <a:cs typeface="Cambria"/>
              </a:rPr>
              <a:t>∈</a:t>
            </a:r>
            <a:r>
              <a:rPr sz="800" spc="75" dirty="0">
                <a:latin typeface="Cambria"/>
                <a:cs typeface="Cambria"/>
              </a:rPr>
              <a:t> </a:t>
            </a:r>
            <a:r>
              <a:rPr sz="800" i="1" spc="-40" dirty="0">
                <a:latin typeface="Arial"/>
                <a:cs typeface="Arial"/>
              </a:rPr>
              <a:t>E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105" dirty="0">
                <a:latin typeface="Cambria"/>
                <a:cs typeface="Cambria"/>
              </a:rPr>
              <a:t>}</a:t>
            </a:r>
            <a:r>
              <a:rPr sz="800" spc="130" dirty="0">
                <a:latin typeface="Cambria"/>
                <a:cs typeface="Cambria"/>
              </a:rPr>
              <a:t> </a:t>
            </a:r>
            <a:r>
              <a:rPr sz="800" spc="-25" dirty="0">
                <a:latin typeface="Arial MT"/>
                <a:cs typeface="Arial MT"/>
              </a:rPr>
              <a:t>nodes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with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spc="-40" dirty="0">
                <a:latin typeface="Arial MT"/>
                <a:cs typeface="Arial MT"/>
              </a:rPr>
              <a:t>edges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into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i="1" spc="-45" dirty="0">
                <a:latin typeface="Arial"/>
                <a:cs typeface="Arial"/>
              </a:rPr>
              <a:t>z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-50" dirty="0">
                <a:latin typeface="Arial MT"/>
                <a:cs typeface="Arial MT"/>
              </a:rPr>
              <a:t>.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675"/>
              </a:lnSpc>
            </a:pPr>
            <a:r>
              <a:rPr dirty="0"/>
              <a:t>23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Forward</a:t>
            </a:r>
            <a:r>
              <a:rPr spc="5" dirty="0"/>
              <a:t> </a:t>
            </a:r>
            <a:r>
              <a:rPr spc="-25" dirty="0"/>
              <a:t>Computation</a:t>
            </a:r>
            <a:r>
              <a:rPr spc="10" dirty="0"/>
              <a:t> </a:t>
            </a:r>
            <a:r>
              <a:rPr spc="160" dirty="0"/>
              <a:t>/</a:t>
            </a:r>
            <a:r>
              <a:rPr spc="10" dirty="0"/>
              <a:t> </a:t>
            </a:r>
            <a:r>
              <a:rPr spc="-30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589" y="2385449"/>
            <a:ext cx="224035" cy="2240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936" y="2366680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5617" y="2371471"/>
            <a:ext cx="251991" cy="2519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0186" y="2366680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w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5757" y="2371604"/>
            <a:ext cx="251726" cy="2517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38427" y="2385654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5856" y="1821707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4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4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6361" y="1815297"/>
            <a:ext cx="2508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1</a:t>
            </a:r>
            <a:endParaRPr sz="1200" baseline="-13888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15"/>
              </a:spcBef>
            </a:pPr>
            <a:r>
              <a:rPr sz="1000" spc="-25" dirty="0">
                <a:latin typeface="Tahoma"/>
                <a:cs typeface="Tahoma"/>
              </a:rPr>
              <a:t>dot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5859" y="1281700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1217" y="1182277"/>
            <a:ext cx="194945" cy="53022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sz="1000" spc="-50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5859" y="741693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8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8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51217" y="735289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3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1400" y="1009045"/>
            <a:ext cx="22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relu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0510" y="1015687"/>
            <a:ext cx="976630" cy="1381760"/>
            <a:chOff x="460510" y="1015687"/>
            <a:chExt cx="976630" cy="1381760"/>
          </a:xfrm>
        </p:grpSpPr>
        <p:sp>
          <p:nvSpPr>
            <p:cNvPr id="19" name="object 19"/>
            <p:cNvSpPr/>
            <p:nvPr/>
          </p:nvSpPr>
          <p:spPr>
            <a:xfrm>
              <a:off x="463041" y="2086339"/>
              <a:ext cx="154305" cy="308610"/>
            </a:xfrm>
            <a:custGeom>
              <a:avLst/>
              <a:gdLst/>
              <a:ahLst/>
              <a:cxnLst/>
              <a:rect l="l" t="t" r="r" b="b"/>
              <a:pathLst>
                <a:path w="154304" h="308610">
                  <a:moveTo>
                    <a:pt x="0" y="308261"/>
                  </a:moveTo>
                  <a:lnTo>
                    <a:pt x="15413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2275" y="2082944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3" y="0"/>
                  </a:lnTo>
                  <a:lnTo>
                    <a:pt x="26982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6068" y="2086339"/>
              <a:ext cx="147955" cy="295910"/>
            </a:xfrm>
            <a:custGeom>
              <a:avLst/>
              <a:gdLst/>
              <a:ahLst/>
              <a:cxnLst/>
              <a:rect l="l" t="t" r="r" b="b"/>
              <a:pathLst>
                <a:path w="147955" h="295910">
                  <a:moveTo>
                    <a:pt x="147856" y="29570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4752" y="2082944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3467" y="1546336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>
                  <a:moveTo>
                    <a:pt x="0" y="287419"/>
                  </a:moveTo>
                  <a:lnTo>
                    <a:pt x="14370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2178" y="1542928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7952"/>
                  </a:moveTo>
                  <a:lnTo>
                    <a:pt x="6888" y="8068"/>
                  </a:lnTo>
                  <a:lnTo>
                    <a:pt x="15054" y="5893"/>
                  </a:lnTo>
                  <a:lnTo>
                    <a:pt x="22369" y="2760"/>
                  </a:lnTo>
                  <a:lnTo>
                    <a:pt x="26700" y="0"/>
                  </a:lnTo>
                  <a:lnTo>
                    <a:pt x="27091" y="5121"/>
                  </a:lnTo>
                  <a:lnTo>
                    <a:pt x="28973" y="12853"/>
                  </a:lnTo>
                  <a:lnTo>
                    <a:pt x="32132" y="20691"/>
                  </a:lnTo>
                  <a:lnTo>
                    <a:pt x="36358" y="26132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6082" y="1546316"/>
              <a:ext cx="418465" cy="836294"/>
            </a:xfrm>
            <a:custGeom>
              <a:avLst/>
              <a:gdLst/>
              <a:ahLst/>
              <a:cxnLst/>
              <a:rect l="l" t="t" r="r" b="b"/>
              <a:pathLst>
                <a:path w="418465" h="836294">
                  <a:moveTo>
                    <a:pt x="417921" y="83585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4766" y="1542921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4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1631" y="1021507"/>
              <a:ext cx="0" cy="257810"/>
            </a:xfrm>
            <a:custGeom>
              <a:avLst/>
              <a:gdLst/>
              <a:ahLst/>
              <a:cxnLst/>
              <a:rect l="l" t="t" r="r" b="b"/>
              <a:pathLst>
                <a:path h="257809">
                  <a:moveTo>
                    <a:pt x="2" y="25762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1387" y="1017712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6976" y="2876466"/>
            <a:ext cx="1123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95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relu(</a:t>
            </a:r>
            <a:r>
              <a:rPr sz="1000" i="1" spc="-4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i="1" spc="112" baseline="31746" dirty="0">
                <a:latin typeface="Arial"/>
                <a:cs typeface="Arial"/>
              </a:rPr>
              <a:t>T</a:t>
            </a:r>
            <a:r>
              <a:rPr sz="1050" i="1" spc="-82" baseline="31746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b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33460" y="500232"/>
            <a:ext cx="1243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5" dirty="0">
                <a:latin typeface="Tahoma"/>
                <a:cs typeface="Tahoma"/>
              </a:rPr>
              <a:t>types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each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node: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19718" y="740632"/>
            <a:ext cx="1670685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395"/>
              </a:spcBef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x</a:t>
            </a:r>
            <a:r>
              <a:rPr sz="1050" i="1" spc="33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Georgia"/>
                <a:cs typeface="Georgia"/>
              </a:rPr>
              <a:t>R</a:t>
            </a:r>
            <a:r>
              <a:rPr sz="1050" baseline="31746" dirty="0">
                <a:latin typeface="Arial MT"/>
                <a:cs typeface="Arial MT"/>
              </a:rPr>
              <a:t>2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6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w</a:t>
            </a:r>
            <a:r>
              <a:rPr sz="1050" i="1" spc="359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Georgia"/>
                <a:cs typeface="Georgia"/>
              </a:rPr>
              <a:t>R</a:t>
            </a:r>
            <a:r>
              <a:rPr sz="1050" baseline="31746" dirty="0">
                <a:latin typeface="Arial MT"/>
                <a:cs typeface="Arial MT"/>
              </a:rPr>
              <a:t>2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6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b</a:t>
            </a:r>
            <a:r>
              <a:rPr sz="1050" i="1" spc="27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Georgia"/>
                <a:cs typeface="Georgia"/>
              </a:rPr>
              <a:t>R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  <a:p>
            <a:pPr marR="30480" algn="r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750" baseline="-27777" dirty="0">
                <a:latin typeface="Arial MT"/>
                <a:cs typeface="Arial MT"/>
              </a:rPr>
              <a:t>1</a:t>
            </a:r>
            <a:r>
              <a:rPr sz="750" spc="375" baseline="-27777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750" baseline="-27777" dirty="0">
                <a:latin typeface="Arial MT"/>
                <a:cs typeface="Arial MT"/>
              </a:rPr>
              <a:t>2</a:t>
            </a:r>
            <a:r>
              <a:rPr sz="750" spc="375" baseline="-27777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T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750" baseline="-27777" dirty="0">
                <a:latin typeface="Arial MT"/>
                <a:cs typeface="Arial MT"/>
              </a:rPr>
              <a:t>3</a:t>
            </a:r>
            <a:r>
              <a:rPr sz="750" spc="382" baseline="-27777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Georgia"/>
                <a:cs typeface="Georgia"/>
              </a:rPr>
              <a:t>R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33460" y="1284686"/>
            <a:ext cx="1945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0" dirty="0">
                <a:latin typeface="Tahoma"/>
                <a:cs typeface="Tahoma"/>
              </a:rPr>
              <a:t>functions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each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non-</a:t>
            </a:r>
            <a:r>
              <a:rPr sz="1000" dirty="0">
                <a:latin typeface="Tahoma"/>
                <a:cs typeface="Tahoma"/>
              </a:rPr>
              <a:t>root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node: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308656" y="1525086"/>
            <a:ext cx="2092960" cy="40513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95"/>
              </a:spcBef>
              <a:tabLst>
                <a:tab pos="1093470" algn="l"/>
              </a:tabLst>
            </a:pPr>
            <a:r>
              <a:rPr sz="1000" i="1" dirty="0">
                <a:latin typeface="Arial"/>
                <a:cs typeface="Arial"/>
              </a:rPr>
              <a:t>f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65" dirty="0">
                <a:latin typeface="Georgia"/>
                <a:cs typeface="Georgi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50" i="1" spc="112" baseline="31746" dirty="0">
                <a:latin typeface="Arial"/>
                <a:cs typeface="Arial"/>
              </a:rPr>
              <a:t>T</a:t>
            </a:r>
            <a:r>
              <a:rPr sz="1050" i="1" spc="-67" baseline="31746" dirty="0">
                <a:latin typeface="Arial"/>
                <a:cs typeface="Arial"/>
              </a:rPr>
              <a:t> </a:t>
            </a:r>
            <a:r>
              <a:rPr sz="1000" i="1" spc="-35" dirty="0">
                <a:latin typeface="Arial"/>
                <a:cs typeface="Arial"/>
              </a:rPr>
              <a:t>w</a:t>
            </a:r>
            <a:r>
              <a:rPr sz="1000" i="1" spc="-35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112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b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  <a:p>
            <a:pPr marL="1149350">
              <a:lnSpc>
                <a:spcPct val="100000"/>
              </a:lnSpc>
              <a:spcBef>
                <a:spcPts val="295"/>
              </a:spcBef>
            </a:pPr>
            <a:r>
              <a:rPr sz="1000" i="1" dirty="0">
                <a:latin typeface="Arial"/>
                <a:cs typeface="Arial"/>
              </a:rPr>
              <a:t>f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relu(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50" spc="-15" baseline="-11904" dirty="0">
                <a:latin typeface="Arial MT"/>
                <a:cs typeface="Arial MT"/>
              </a:rPr>
              <a:t>2</a:t>
            </a:r>
            <a:r>
              <a:rPr sz="1000" spc="-1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33460" y="2069152"/>
            <a:ext cx="17964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0" dirty="0">
                <a:latin typeface="Tahoma"/>
                <a:cs typeface="Tahoma"/>
              </a:rPr>
              <a:t>given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root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nodes: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512580" y="2416396"/>
            <a:ext cx="824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1334" algn="l"/>
              </a:tabLst>
            </a:pP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844355" y="2339218"/>
            <a:ext cx="7340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57225" algn="l"/>
              </a:tabLst>
            </a:pPr>
            <a:r>
              <a:rPr sz="1000" spc="-50" dirty="0">
                <a:latin typeface="Tahoma"/>
                <a:cs typeface="Tahoma"/>
              </a:rPr>
              <a:t>2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844355" y="2491046"/>
            <a:ext cx="782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8330" algn="l"/>
              </a:tabLst>
            </a:pPr>
            <a:r>
              <a:rPr sz="1000" spc="-50" dirty="0">
                <a:latin typeface="Tahoma"/>
                <a:cs typeface="Tahoma"/>
              </a:rPr>
              <a:t>1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751213" y="2237986"/>
            <a:ext cx="969644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608330" algn="l"/>
                <a:tab pos="862965" algn="l"/>
              </a:tabLst>
            </a:pPr>
            <a:r>
              <a:rPr sz="1000" dirty="0">
                <a:latin typeface="Tahoma"/>
                <a:cs typeface="Tahoma"/>
              </a:rPr>
              <a:t>	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715981" y="2416396"/>
            <a:ext cx="481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0</a:t>
            </a:r>
            <a:r>
              <a:rPr sz="1000" i="1" spc="-25" dirty="0">
                <a:latin typeface="Georgia"/>
                <a:cs typeface="Georgia"/>
              </a:rPr>
              <a:t>.</a:t>
            </a:r>
            <a:r>
              <a:rPr sz="1000" spc="-25" dirty="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33460" y="2801599"/>
            <a:ext cx="2211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0" dirty="0">
                <a:latin typeface="Tahoma"/>
                <a:cs typeface="Tahoma"/>
              </a:rPr>
              <a:t>compute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non-</a:t>
            </a:r>
            <a:r>
              <a:rPr sz="1000" dirty="0">
                <a:latin typeface="Tahoma"/>
                <a:cs typeface="Tahoma"/>
              </a:rPr>
              <a:t>root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nodes: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525115" y="3079945"/>
            <a:ext cx="165988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60705" algn="l"/>
                <a:tab pos="1182370" algn="l"/>
              </a:tabLst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15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1</a:t>
            </a:r>
            <a:r>
              <a:rPr sz="1000" i="1" spc="-35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5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1</a:t>
            </a:r>
            <a:r>
              <a:rPr sz="1000" i="1" spc="-20" dirty="0">
                <a:latin typeface="Georgia"/>
                <a:cs typeface="Georgia"/>
              </a:rPr>
              <a:t>.</a:t>
            </a:r>
            <a:r>
              <a:rPr sz="1000" spc="-20" dirty="0">
                <a:latin typeface="Tahoma"/>
                <a:cs typeface="Tahoma"/>
              </a:rPr>
              <a:t>5</a:t>
            </a:r>
            <a:r>
              <a:rPr sz="1000" i="1" spc="-20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5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.</a:t>
            </a:r>
            <a:r>
              <a:rPr sz="1000" spc="-25" dirty="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109651"/>
                </a:moveTo>
                <a:lnTo>
                  <a:pt x="4607992" y="0"/>
                </a:ln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59" y="219290"/>
                </a:lnTo>
                <a:lnTo>
                  <a:pt x="4147159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675"/>
              </a:lnSpc>
            </a:pPr>
            <a:r>
              <a:rPr dirty="0"/>
              <a:t>24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Forward</a:t>
            </a:r>
            <a:r>
              <a:rPr spc="5" dirty="0"/>
              <a:t> </a:t>
            </a:r>
            <a:r>
              <a:rPr spc="-25" dirty="0"/>
              <a:t>Computation</a:t>
            </a:r>
            <a:r>
              <a:rPr spc="10" dirty="0"/>
              <a:t> </a:t>
            </a:r>
            <a:r>
              <a:rPr spc="160" dirty="0"/>
              <a:t>/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-3149" y="559579"/>
            <a:ext cx="22409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1</a:t>
            </a:r>
            <a:r>
              <a:rPr sz="600" spc="475" dirty="0">
                <a:latin typeface="Arial MT"/>
                <a:cs typeface="Arial MT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cg-</a:t>
            </a:r>
            <a:r>
              <a:rPr sz="1000" b="1" spc="-30" dirty="0">
                <a:latin typeface="Trebuchet MS"/>
                <a:cs typeface="Trebuchet MS"/>
              </a:rPr>
              <a:t>forward</a:t>
            </a:r>
            <a:r>
              <a:rPr sz="1000" spc="-30" dirty="0">
                <a:latin typeface="Tahoma"/>
                <a:cs typeface="Tahoma"/>
              </a:rPr>
              <a:t>((</a:t>
            </a:r>
            <a:r>
              <a:rPr sz="1000" i="1" spc="-30" dirty="0">
                <a:latin typeface="Arial"/>
                <a:cs typeface="Arial"/>
              </a:rPr>
              <a:t>Z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2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2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f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20" dirty="0">
                <a:latin typeface="Georgia"/>
                <a:cs typeface="Georgi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i="1" spc="-35" dirty="0">
                <a:latin typeface="Arial"/>
                <a:cs typeface="Arial"/>
              </a:rPr>
              <a:t>v</a:t>
            </a:r>
            <a:r>
              <a:rPr sz="1050" i="1" spc="-52" baseline="-11904" dirty="0">
                <a:latin typeface="Arial"/>
                <a:cs typeface="Arial"/>
              </a:rPr>
              <a:t>z</a:t>
            </a:r>
            <a:r>
              <a:rPr sz="1050" i="1" spc="-67" baseline="-1190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50" i="1" spc="-37" baseline="-15873" dirty="0">
                <a:latin typeface="Arial"/>
                <a:cs typeface="Arial"/>
              </a:rPr>
              <a:t>z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Cambria"/>
                <a:cs typeface="Cambria"/>
              </a:rPr>
              <a:t>∈</a:t>
            </a:r>
            <a:r>
              <a:rPr sz="1050" baseline="-15873" dirty="0">
                <a:latin typeface="Arial MT"/>
                <a:cs typeface="Arial MT"/>
              </a:rPr>
              <a:t>roots(</a:t>
            </a:r>
            <a:r>
              <a:rPr sz="1050" i="1" baseline="-15873" dirty="0">
                <a:latin typeface="Arial"/>
                <a:cs typeface="Arial"/>
              </a:rPr>
              <a:t>Z,E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Arial MT"/>
                <a:cs typeface="Arial MT"/>
              </a:rPr>
              <a:t>)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  <a:tabLst>
                <a:tab pos="269875" algn="l"/>
              </a:tabLst>
            </a:pP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dirty="0">
                <a:latin typeface="Tahoma"/>
                <a:cs typeface="Tahoma"/>
              </a:rPr>
              <a:t>for</a:t>
            </a:r>
            <a:r>
              <a:rPr sz="1000" spc="16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\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roots(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Arial"/>
                <a:cs typeface="Arial"/>
              </a:rPr>
              <a:t>E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50" y="91384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193" y="886084"/>
            <a:ext cx="1304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baseline="11111" dirty="0">
                <a:latin typeface="Arial"/>
                <a:cs typeface="Arial"/>
              </a:rPr>
              <a:t>v</a:t>
            </a:r>
            <a:r>
              <a:rPr sz="1050" i="1" baseline="3968" dirty="0">
                <a:latin typeface="Arial"/>
                <a:cs typeface="Arial"/>
              </a:rPr>
              <a:t>z</a:t>
            </a:r>
            <a:r>
              <a:rPr sz="1050" i="1" spc="434" baseline="3968" dirty="0">
                <a:latin typeface="Arial"/>
                <a:cs typeface="Arial"/>
              </a:rPr>
              <a:t> </a:t>
            </a:r>
            <a:r>
              <a:rPr sz="1500" baseline="11111" dirty="0">
                <a:latin typeface="Tahoma"/>
                <a:cs typeface="Tahoma"/>
              </a:rPr>
              <a:t>:=</a:t>
            </a:r>
            <a:r>
              <a:rPr sz="1500" spc="44" baseline="11111" dirty="0">
                <a:latin typeface="Tahoma"/>
                <a:cs typeface="Tahoma"/>
              </a:rPr>
              <a:t> </a:t>
            </a:r>
            <a:r>
              <a:rPr sz="1500" i="1" spc="-15" baseline="11111" dirty="0">
                <a:latin typeface="Arial"/>
                <a:cs typeface="Arial"/>
              </a:rPr>
              <a:t>f</a:t>
            </a:r>
            <a:r>
              <a:rPr sz="1050" i="1" spc="-15" baseline="3968" dirty="0">
                <a:latin typeface="Arial"/>
                <a:cs typeface="Arial"/>
              </a:rPr>
              <a:t>z</a:t>
            </a:r>
            <a:r>
              <a:rPr sz="1050" i="1" spc="-82" baseline="3968" dirty="0">
                <a:latin typeface="Arial"/>
                <a:cs typeface="Arial"/>
              </a:rPr>
              <a:t> </a:t>
            </a:r>
            <a:r>
              <a:rPr sz="1500" baseline="11111" dirty="0">
                <a:latin typeface="Tahoma"/>
                <a:cs typeface="Tahoma"/>
              </a:rPr>
              <a:t>((</a:t>
            </a:r>
            <a:r>
              <a:rPr sz="1500" i="1" baseline="11111" dirty="0">
                <a:latin typeface="Arial"/>
                <a:cs typeface="Arial"/>
              </a:rPr>
              <a:t>v</a:t>
            </a:r>
            <a:r>
              <a:rPr sz="1050" i="1" baseline="3968" dirty="0">
                <a:latin typeface="Arial"/>
                <a:cs typeface="Arial"/>
              </a:rPr>
              <a:t>z</a:t>
            </a:r>
            <a:r>
              <a:rPr sz="750" i="1" baseline="27777" dirty="0">
                <a:latin typeface="Verdana"/>
                <a:cs typeface="Verdana"/>
              </a:rPr>
              <a:t>'</a:t>
            </a:r>
            <a:r>
              <a:rPr sz="750" i="1" spc="-82" baseline="27777" dirty="0">
                <a:latin typeface="Verdana"/>
                <a:cs typeface="Verdana"/>
              </a:rPr>
              <a:t> </a:t>
            </a:r>
            <a:r>
              <a:rPr sz="1500" baseline="11111" dirty="0">
                <a:latin typeface="Tahoma"/>
                <a:cs typeface="Tahoma"/>
              </a:rPr>
              <a:t>)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22222" dirty="0">
                <a:latin typeface="Verdana"/>
                <a:cs typeface="Verdana"/>
              </a:rPr>
              <a:t>'</a:t>
            </a:r>
            <a:r>
              <a:rPr sz="700" dirty="0">
                <a:latin typeface="Cambria"/>
                <a:cs typeface="Cambria"/>
              </a:rPr>
              <a:t>∈</a:t>
            </a:r>
            <a:r>
              <a:rPr sz="700" dirty="0">
                <a:latin typeface="Arial MT"/>
                <a:cs typeface="Arial MT"/>
              </a:rPr>
              <a:t>fanin(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-25" dirty="0">
                <a:latin typeface="Arial MT"/>
                <a:cs typeface="Arial MT"/>
              </a:rPr>
              <a:t>)</a:t>
            </a:r>
            <a:r>
              <a:rPr sz="1500" spc="-37" baseline="11111" dirty="0">
                <a:latin typeface="Tahoma"/>
                <a:cs typeface="Tahoma"/>
              </a:rPr>
              <a:t>)</a:t>
            </a:r>
            <a:endParaRPr sz="1500" baseline="11111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3149" y="1015078"/>
            <a:ext cx="1078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66700" algn="l"/>
              </a:tabLst>
            </a:pPr>
            <a:r>
              <a:rPr sz="600" spc="-50" dirty="0">
                <a:latin typeface="Arial MT"/>
                <a:cs typeface="Arial MT"/>
              </a:rPr>
              <a:t>4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spc="-10" dirty="0">
                <a:latin typeface="Tahoma"/>
                <a:cs typeface="Tahoma"/>
              </a:rPr>
              <a:t>return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i="1" spc="-35" dirty="0">
                <a:latin typeface="Arial"/>
                <a:cs typeface="Arial"/>
              </a:rPr>
              <a:t>v</a:t>
            </a:r>
            <a:r>
              <a:rPr sz="1050" i="1" spc="-52" baseline="-11904" dirty="0">
                <a:latin typeface="Arial"/>
                <a:cs typeface="Arial"/>
              </a:rPr>
              <a:t>z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50" i="1" spc="-37" baseline="-11904" dirty="0">
                <a:latin typeface="Arial"/>
                <a:cs typeface="Arial"/>
              </a:rPr>
              <a:t>z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50" spc="52" baseline="-11904" dirty="0">
                <a:latin typeface="Cambria"/>
                <a:cs typeface="Cambria"/>
              </a:rPr>
              <a:t>∈</a:t>
            </a:r>
            <a:r>
              <a:rPr sz="1050" i="1" spc="52" baseline="-11904" dirty="0">
                <a:latin typeface="Arial"/>
                <a:cs typeface="Arial"/>
              </a:rPr>
              <a:t>Z</a:t>
            </a:r>
            <a:endParaRPr sz="1050" baseline="-11904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5300" y="2900838"/>
            <a:ext cx="3933190" cy="12695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0"/>
              </a:spcBef>
            </a:pPr>
            <a:r>
              <a:rPr sz="800" dirty="0">
                <a:latin typeface="Arial MT"/>
                <a:cs typeface="Arial MT"/>
              </a:rPr>
              <a:t>Note:</a:t>
            </a:r>
            <a:r>
              <a:rPr sz="800" spc="140" dirty="0">
                <a:latin typeface="Arial MT"/>
                <a:cs typeface="Arial MT"/>
              </a:rPr>
              <a:t> </a:t>
            </a:r>
            <a:r>
              <a:rPr sz="800" i="1" spc="315" dirty="0">
                <a:latin typeface="Arial"/>
                <a:cs typeface="Arial"/>
              </a:rPr>
              <a:t>x</a:t>
            </a:r>
            <a:r>
              <a:rPr sz="900" i="1" spc="472" baseline="27777" dirty="0">
                <a:latin typeface="Arial"/>
                <a:cs typeface="Arial"/>
              </a:rPr>
              <a:t>-</a:t>
            </a:r>
            <a:r>
              <a:rPr sz="800" i="1" dirty="0">
                <a:latin typeface="Arial"/>
                <a:cs typeface="Arial"/>
              </a:rPr>
              <a:t>y</a:t>
            </a:r>
            <a:r>
              <a:rPr sz="800" i="1" spc="135" dirty="0">
                <a:latin typeface="Arial"/>
                <a:cs typeface="Arial"/>
              </a:rPr>
              <a:t> </a:t>
            </a:r>
            <a:r>
              <a:rPr sz="800" spc="-20" dirty="0">
                <a:latin typeface="Arial MT"/>
                <a:cs typeface="Arial MT"/>
              </a:rPr>
              <a:t>denotes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concatenation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two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lists.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25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Forward</a:t>
            </a:r>
            <a:r>
              <a:rPr spc="5" dirty="0"/>
              <a:t> </a:t>
            </a:r>
            <a:r>
              <a:rPr spc="-25" dirty="0"/>
              <a:t>Computation</a:t>
            </a:r>
            <a:r>
              <a:rPr spc="10" dirty="0"/>
              <a:t> </a:t>
            </a:r>
            <a:r>
              <a:rPr spc="160" dirty="0"/>
              <a:t>/</a:t>
            </a:r>
            <a:r>
              <a:rPr spc="1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-3149" y="559579"/>
            <a:ext cx="266065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2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1</a:t>
            </a:r>
            <a:r>
              <a:rPr sz="600" spc="475" dirty="0">
                <a:latin typeface="Arial MT"/>
                <a:cs typeface="Arial MT"/>
              </a:rPr>
              <a:t> </a:t>
            </a:r>
            <a:r>
              <a:rPr sz="1000" b="1" spc="-10" dirty="0">
                <a:latin typeface="Trebuchet MS"/>
                <a:cs typeface="Trebuchet MS"/>
              </a:rPr>
              <a:t>cg-</a:t>
            </a:r>
            <a:r>
              <a:rPr sz="1000" b="1" spc="-30" dirty="0">
                <a:latin typeface="Trebuchet MS"/>
                <a:cs typeface="Trebuchet MS"/>
              </a:rPr>
              <a:t>forward</a:t>
            </a:r>
            <a:r>
              <a:rPr sz="1000" spc="-30" dirty="0">
                <a:latin typeface="Tahoma"/>
                <a:cs typeface="Tahoma"/>
              </a:rPr>
              <a:t>((</a:t>
            </a:r>
            <a:r>
              <a:rPr sz="1000" i="1" spc="-30" dirty="0">
                <a:latin typeface="Arial"/>
                <a:cs typeface="Arial"/>
              </a:rPr>
              <a:t>Z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2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2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f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20" dirty="0">
                <a:latin typeface="Georgia"/>
                <a:cs typeface="Georgi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i="1" spc="-35" dirty="0">
                <a:latin typeface="Arial"/>
                <a:cs typeface="Arial"/>
              </a:rPr>
              <a:t>v</a:t>
            </a:r>
            <a:r>
              <a:rPr sz="1050" i="1" spc="-52" baseline="-11904" dirty="0">
                <a:latin typeface="Arial"/>
                <a:cs typeface="Arial"/>
              </a:rPr>
              <a:t>z</a:t>
            </a:r>
            <a:r>
              <a:rPr sz="1050" i="1" spc="-67" baseline="-1190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50" i="1" spc="-37" baseline="-15873" dirty="0">
                <a:latin typeface="Arial"/>
                <a:cs typeface="Arial"/>
              </a:rPr>
              <a:t>z</a:t>
            </a:r>
            <a:r>
              <a:rPr sz="1050" i="1" spc="-172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Cambria"/>
                <a:cs typeface="Cambria"/>
              </a:rPr>
              <a:t>∈</a:t>
            </a:r>
            <a:r>
              <a:rPr sz="1050" baseline="-15873" dirty="0">
                <a:latin typeface="Arial MT"/>
                <a:cs typeface="Arial MT"/>
              </a:rPr>
              <a:t>roots(</a:t>
            </a:r>
            <a:r>
              <a:rPr sz="1050" i="1" baseline="-15873" dirty="0">
                <a:latin typeface="Arial"/>
                <a:cs typeface="Arial"/>
              </a:rPr>
              <a:t>Z,E</a:t>
            </a:r>
            <a:r>
              <a:rPr sz="1050" i="1" spc="-127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Arial MT"/>
                <a:cs typeface="Arial MT"/>
              </a:rPr>
              <a:t>)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ts val="1200"/>
              </a:lnSpc>
              <a:tabLst>
                <a:tab pos="269875" algn="l"/>
              </a:tabLst>
            </a:pP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dirty="0">
                <a:latin typeface="Tahoma"/>
                <a:cs typeface="Tahoma"/>
              </a:rPr>
              <a:t>for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55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\</a:t>
            </a:r>
            <a:r>
              <a:rPr sz="1000" spc="-95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roots(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Arial"/>
                <a:cs typeface="Arial"/>
              </a:rPr>
              <a:t>E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0" dirty="0">
                <a:latin typeface="Tahoma"/>
                <a:cs typeface="Tahoma"/>
              </a:rPr>
              <a:t> topological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order: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50" y="91384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3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8193" y="886084"/>
            <a:ext cx="13042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500" i="1" baseline="11111" dirty="0">
                <a:latin typeface="Arial"/>
                <a:cs typeface="Arial"/>
              </a:rPr>
              <a:t>v</a:t>
            </a:r>
            <a:r>
              <a:rPr sz="1050" i="1" baseline="3968" dirty="0">
                <a:latin typeface="Arial"/>
                <a:cs typeface="Arial"/>
              </a:rPr>
              <a:t>z</a:t>
            </a:r>
            <a:r>
              <a:rPr sz="1050" i="1" spc="434" baseline="3968" dirty="0">
                <a:latin typeface="Arial"/>
                <a:cs typeface="Arial"/>
              </a:rPr>
              <a:t> </a:t>
            </a:r>
            <a:r>
              <a:rPr sz="1500" baseline="11111" dirty="0">
                <a:latin typeface="Tahoma"/>
                <a:cs typeface="Tahoma"/>
              </a:rPr>
              <a:t>:=</a:t>
            </a:r>
            <a:r>
              <a:rPr sz="1500" spc="44" baseline="11111" dirty="0">
                <a:latin typeface="Tahoma"/>
                <a:cs typeface="Tahoma"/>
              </a:rPr>
              <a:t> </a:t>
            </a:r>
            <a:r>
              <a:rPr sz="1500" i="1" spc="-15" baseline="11111" dirty="0">
                <a:latin typeface="Arial"/>
                <a:cs typeface="Arial"/>
              </a:rPr>
              <a:t>f</a:t>
            </a:r>
            <a:r>
              <a:rPr sz="1050" i="1" spc="-15" baseline="3968" dirty="0">
                <a:latin typeface="Arial"/>
                <a:cs typeface="Arial"/>
              </a:rPr>
              <a:t>z</a:t>
            </a:r>
            <a:r>
              <a:rPr sz="1050" i="1" spc="-82" baseline="3968" dirty="0">
                <a:latin typeface="Arial"/>
                <a:cs typeface="Arial"/>
              </a:rPr>
              <a:t> </a:t>
            </a:r>
            <a:r>
              <a:rPr sz="1500" baseline="11111" dirty="0">
                <a:latin typeface="Tahoma"/>
                <a:cs typeface="Tahoma"/>
              </a:rPr>
              <a:t>((</a:t>
            </a:r>
            <a:r>
              <a:rPr sz="1500" i="1" baseline="11111" dirty="0">
                <a:latin typeface="Arial"/>
                <a:cs typeface="Arial"/>
              </a:rPr>
              <a:t>v</a:t>
            </a:r>
            <a:r>
              <a:rPr sz="1050" i="1" baseline="3968" dirty="0">
                <a:latin typeface="Arial"/>
                <a:cs typeface="Arial"/>
              </a:rPr>
              <a:t>z</a:t>
            </a:r>
            <a:r>
              <a:rPr sz="750" i="1" baseline="27777" dirty="0">
                <a:latin typeface="Verdana"/>
                <a:cs typeface="Verdana"/>
              </a:rPr>
              <a:t>'</a:t>
            </a:r>
            <a:r>
              <a:rPr sz="750" i="1" spc="-82" baseline="27777" dirty="0">
                <a:latin typeface="Verdana"/>
                <a:cs typeface="Verdana"/>
              </a:rPr>
              <a:t> </a:t>
            </a:r>
            <a:r>
              <a:rPr sz="1500" baseline="11111" dirty="0">
                <a:latin typeface="Tahoma"/>
                <a:cs typeface="Tahoma"/>
              </a:rPr>
              <a:t>)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22222" dirty="0">
                <a:latin typeface="Verdana"/>
                <a:cs typeface="Verdana"/>
              </a:rPr>
              <a:t>'</a:t>
            </a:r>
            <a:r>
              <a:rPr sz="700" dirty="0">
                <a:latin typeface="Cambria"/>
                <a:cs typeface="Cambria"/>
              </a:rPr>
              <a:t>∈</a:t>
            </a:r>
            <a:r>
              <a:rPr sz="700" dirty="0">
                <a:latin typeface="Arial MT"/>
                <a:cs typeface="Arial MT"/>
              </a:rPr>
              <a:t>fanin(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00" i="1" spc="-120" dirty="0">
                <a:latin typeface="Arial"/>
                <a:cs typeface="Arial"/>
              </a:rPr>
              <a:t> </a:t>
            </a:r>
            <a:r>
              <a:rPr sz="700" spc="-25" dirty="0">
                <a:latin typeface="Arial MT"/>
                <a:cs typeface="Arial MT"/>
              </a:rPr>
              <a:t>)</a:t>
            </a:r>
            <a:r>
              <a:rPr sz="1500" spc="-37" baseline="11111" dirty="0">
                <a:latin typeface="Tahoma"/>
                <a:cs typeface="Tahoma"/>
              </a:rPr>
              <a:t>)</a:t>
            </a:r>
            <a:endParaRPr sz="1500" baseline="11111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-15849" y="1015078"/>
            <a:ext cx="2204085" cy="1391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279400" algn="l"/>
              </a:tabLst>
            </a:pPr>
            <a:r>
              <a:rPr sz="600" spc="-50" dirty="0">
                <a:latin typeface="Arial MT"/>
                <a:cs typeface="Arial MT"/>
              </a:rPr>
              <a:t>4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spc="-10" dirty="0">
                <a:latin typeface="Tahoma"/>
                <a:cs typeface="Tahoma"/>
              </a:rPr>
              <a:t>return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i="1" spc="-35" dirty="0">
                <a:latin typeface="Arial"/>
                <a:cs typeface="Arial"/>
              </a:rPr>
              <a:t>v</a:t>
            </a:r>
            <a:r>
              <a:rPr sz="1050" i="1" spc="-52" baseline="-11904" dirty="0">
                <a:latin typeface="Arial"/>
                <a:cs typeface="Arial"/>
              </a:rPr>
              <a:t>z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50" i="1" spc="-37" baseline="-11904" dirty="0">
                <a:latin typeface="Arial"/>
                <a:cs typeface="Arial"/>
              </a:rPr>
              <a:t>z</a:t>
            </a:r>
            <a:r>
              <a:rPr sz="1050" i="1" spc="-202" baseline="-11904" dirty="0">
                <a:latin typeface="Arial"/>
                <a:cs typeface="Arial"/>
              </a:rPr>
              <a:t> </a:t>
            </a:r>
            <a:r>
              <a:rPr sz="1050" spc="52" baseline="-11904" dirty="0">
                <a:latin typeface="Cambria"/>
                <a:cs typeface="Cambria"/>
              </a:rPr>
              <a:t>∈</a:t>
            </a:r>
            <a:r>
              <a:rPr sz="1050" i="1" spc="52" baseline="-11904" dirty="0">
                <a:latin typeface="Arial"/>
                <a:cs typeface="Arial"/>
              </a:rPr>
              <a:t>Z</a:t>
            </a:r>
            <a:endParaRPr sz="1050" baseline="-11904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Arial"/>
              <a:cs typeface="Arial"/>
            </a:endParaRPr>
          </a:p>
          <a:p>
            <a:pPr marL="50800">
              <a:lnSpc>
                <a:spcPts val="1200"/>
              </a:lnSpc>
            </a:pPr>
            <a:r>
              <a:rPr sz="600" dirty="0">
                <a:latin typeface="Arial MT"/>
                <a:cs typeface="Arial MT"/>
              </a:rPr>
              <a:t>1</a:t>
            </a:r>
            <a:r>
              <a:rPr sz="600" spc="380" dirty="0">
                <a:latin typeface="Arial MT"/>
                <a:cs typeface="Arial MT"/>
              </a:rPr>
              <a:t> </a:t>
            </a:r>
            <a:r>
              <a:rPr sz="1000" b="1" spc="-25" dirty="0">
                <a:latin typeface="Trebuchet MS"/>
                <a:cs typeface="Trebuchet MS"/>
              </a:rPr>
              <a:t>topological-order</a:t>
            </a:r>
            <a:r>
              <a:rPr sz="1000" spc="-25" dirty="0">
                <a:latin typeface="Tahoma"/>
                <a:cs typeface="Tahoma"/>
              </a:rPr>
              <a:t>(</a:t>
            </a:r>
            <a:r>
              <a:rPr sz="1000" i="1" spc="-25" dirty="0">
                <a:latin typeface="Arial"/>
                <a:cs typeface="Arial"/>
              </a:rPr>
              <a:t>Z</a:t>
            </a:r>
            <a:r>
              <a:rPr sz="1000" i="1" spc="-25" dirty="0">
                <a:latin typeface="Georgia"/>
                <a:cs typeface="Georgia"/>
              </a:rPr>
              <a:t>,</a:t>
            </a:r>
            <a:r>
              <a:rPr sz="1000" i="1" spc="-55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Arial"/>
                <a:cs typeface="Arial"/>
              </a:rPr>
              <a:t>E</a:t>
            </a:r>
            <a:r>
              <a:rPr sz="1000" i="1" spc="-14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 </a:t>
            </a:r>
            <a:r>
              <a:rPr sz="1000" spc="-50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195"/>
              </a:lnSpc>
              <a:tabLst>
                <a:tab pos="267970" algn="l"/>
              </a:tabLst>
            </a:pP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()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195"/>
              </a:lnSpc>
              <a:tabLst>
                <a:tab pos="276225" algn="l"/>
              </a:tabLst>
            </a:pPr>
            <a:r>
              <a:rPr sz="600" spc="-50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spc="-10" dirty="0">
                <a:latin typeface="Tahoma"/>
                <a:cs typeface="Tahoma"/>
              </a:rPr>
              <a:t>while</a:t>
            </a:r>
            <a:r>
              <a:rPr sz="1000" spc="11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75" dirty="0">
                <a:latin typeface="Arial"/>
                <a:cs typeface="Arial"/>
              </a:rPr>
              <a:t> </a:t>
            </a:r>
            <a:r>
              <a:rPr sz="1000" spc="-515" dirty="0">
                <a:latin typeface="Lucida Sans Unicode"/>
                <a:cs typeface="Lucida Sans Unicode"/>
              </a:rPr>
              <a:t>/</a:t>
            </a:r>
            <a:r>
              <a:rPr sz="1000" spc="2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305" dirty="0">
                <a:latin typeface="Lucida Sans Unicode"/>
                <a:cs typeface="Lucida Sans Unicode"/>
              </a:rPr>
              <a:t>∅</a:t>
            </a:r>
            <a:r>
              <a:rPr sz="1000" spc="-305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195"/>
              </a:lnSpc>
              <a:tabLst>
                <a:tab pos="381635" algn="l"/>
              </a:tabLst>
            </a:pPr>
            <a:r>
              <a:rPr sz="600" spc="-50" dirty="0">
                <a:latin typeface="Arial MT"/>
                <a:cs typeface="Arial MT"/>
              </a:rPr>
              <a:t>4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spc="-40" dirty="0">
                <a:latin typeface="Tahoma"/>
                <a:cs typeface="Tahoma"/>
              </a:rPr>
              <a:t>choose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10" dirty="0">
                <a:latin typeface="Tahoma"/>
                <a:cs typeface="Tahoma"/>
              </a:rPr>
              <a:t>roots(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Arial"/>
                <a:cs typeface="Arial"/>
              </a:rPr>
              <a:t>E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arbitrarily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195"/>
              </a:lnSpc>
              <a:tabLst>
                <a:tab pos="397510" algn="l"/>
              </a:tabLst>
            </a:pPr>
            <a:r>
              <a:rPr sz="600" spc="-50" dirty="0">
                <a:latin typeface="Arial MT"/>
                <a:cs typeface="Arial MT"/>
              </a:rPr>
              <a:t>5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spc="-20" dirty="0">
                <a:latin typeface="Tahoma"/>
                <a:cs typeface="Tahoma"/>
              </a:rPr>
              <a:t>delete</a:t>
            </a:r>
            <a:r>
              <a:rPr sz="1000" spc="16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9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graph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Arial"/>
                <a:cs typeface="Arial"/>
              </a:rPr>
              <a:t>E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195"/>
              </a:lnSpc>
              <a:tabLst>
                <a:tab pos="381635" algn="l"/>
              </a:tabLst>
            </a:pPr>
            <a:r>
              <a:rPr sz="600" spc="-50" dirty="0">
                <a:latin typeface="Arial MT"/>
                <a:cs typeface="Arial MT"/>
              </a:rPr>
              <a:t>6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60" dirty="0">
                <a:latin typeface="Tahoma"/>
                <a:cs typeface="Tahoma"/>
              </a:rPr>
              <a:t> </a:t>
            </a:r>
            <a:r>
              <a:rPr sz="1000" i="1" spc="325" dirty="0">
                <a:latin typeface="Arial"/>
                <a:cs typeface="Arial"/>
              </a:rPr>
              <a:t>x</a:t>
            </a:r>
            <a:r>
              <a:rPr sz="1050" i="1" spc="487" baseline="27777" dirty="0">
                <a:latin typeface="Arial"/>
                <a:cs typeface="Arial"/>
              </a:rPr>
              <a:t>-</a:t>
            </a:r>
            <a:r>
              <a:rPr sz="1000" spc="-45" dirty="0">
                <a:latin typeface="Tahoma"/>
                <a:cs typeface="Tahoma"/>
              </a:rPr>
              <a:t>(</a:t>
            </a:r>
            <a:r>
              <a:rPr sz="1000" i="1" spc="-45" dirty="0">
                <a:latin typeface="Arial"/>
                <a:cs typeface="Arial"/>
              </a:rPr>
              <a:t>z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50800">
              <a:lnSpc>
                <a:spcPts val="1200"/>
              </a:lnSpc>
              <a:tabLst>
                <a:tab pos="279400" algn="l"/>
              </a:tabLst>
            </a:pPr>
            <a:r>
              <a:rPr sz="600" spc="-50" dirty="0">
                <a:latin typeface="Arial MT"/>
                <a:cs typeface="Arial MT"/>
              </a:rPr>
              <a:t>7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spc="-10" dirty="0">
                <a:latin typeface="Tahoma"/>
                <a:cs typeface="Tahoma"/>
              </a:rPr>
              <a:t>return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i="1" spc="-50" dirty="0">
                <a:latin typeface="Arial"/>
                <a:cs typeface="Arial"/>
              </a:rPr>
              <a:t>x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1660" y="3029988"/>
            <a:ext cx="3933190" cy="126958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30"/>
              </a:spcBef>
            </a:pPr>
            <a:r>
              <a:rPr sz="800" dirty="0">
                <a:latin typeface="Arial MT"/>
                <a:cs typeface="Arial MT"/>
              </a:rPr>
              <a:t>Note:</a:t>
            </a:r>
            <a:r>
              <a:rPr sz="800" spc="140" dirty="0">
                <a:latin typeface="Arial MT"/>
                <a:cs typeface="Arial MT"/>
              </a:rPr>
              <a:t> </a:t>
            </a:r>
            <a:r>
              <a:rPr sz="800" i="1" spc="315" dirty="0">
                <a:latin typeface="Arial"/>
                <a:cs typeface="Arial"/>
              </a:rPr>
              <a:t>x</a:t>
            </a:r>
            <a:r>
              <a:rPr sz="900" i="1" spc="472" baseline="27777" dirty="0">
                <a:latin typeface="Arial"/>
                <a:cs typeface="Arial"/>
              </a:rPr>
              <a:t>-</a:t>
            </a:r>
            <a:r>
              <a:rPr sz="800" i="1" dirty="0">
                <a:latin typeface="Arial"/>
                <a:cs typeface="Arial"/>
              </a:rPr>
              <a:t>y</a:t>
            </a:r>
            <a:r>
              <a:rPr sz="800" i="1" spc="135" dirty="0">
                <a:latin typeface="Arial"/>
                <a:cs typeface="Arial"/>
              </a:rPr>
              <a:t> </a:t>
            </a:r>
            <a:r>
              <a:rPr sz="800" spc="-20" dirty="0">
                <a:latin typeface="Arial MT"/>
                <a:cs typeface="Arial MT"/>
              </a:rPr>
              <a:t>denotes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the</a:t>
            </a:r>
            <a:r>
              <a:rPr sz="800" spc="4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concatenation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two</a:t>
            </a:r>
            <a:r>
              <a:rPr sz="800" spc="50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lists.</a:t>
            </a:r>
            <a:endParaRPr sz="800" dirty="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25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Gradients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5" dirty="0"/>
              <a:t>Computational</a:t>
            </a:r>
            <a:r>
              <a:rPr spc="-35" dirty="0"/>
              <a:t> Graphs </a:t>
            </a:r>
            <a:r>
              <a:rPr spc="-10" dirty="0"/>
              <a:t>(1/2)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82542" y="1150694"/>
            <a:ext cx="723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z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38117" y="1147183"/>
            <a:ext cx="533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50" dirty="0">
                <a:latin typeface="Arial"/>
                <a:cs typeface="Arial"/>
              </a:rPr>
              <a:t>′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50791" y="1072869"/>
            <a:ext cx="1778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∂</a:t>
            </a:r>
            <a:r>
              <a:rPr sz="8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</a:t>
            </a:r>
            <a:r>
              <a:rPr sz="800" i="1" u="sng" spc="5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25391" y="1175193"/>
            <a:ext cx="2222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40" dirty="0">
                <a:latin typeface="Calibri"/>
                <a:cs typeface="Calibri"/>
              </a:rPr>
              <a:t>∂</a:t>
            </a:r>
            <a:r>
              <a:rPr sz="800" i="1" spc="40" dirty="0">
                <a:latin typeface="Arial"/>
                <a:cs typeface="Arial"/>
              </a:rPr>
              <a:t>z</a:t>
            </a:r>
            <a:r>
              <a:rPr sz="900" i="1" spc="60" baseline="23148" dirty="0">
                <a:latin typeface="Arial"/>
                <a:cs typeface="Arial"/>
              </a:rPr>
              <a:t>′</a:t>
            </a:r>
            <a:endParaRPr sz="900" baseline="23148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939" y="918018"/>
            <a:ext cx="422719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60020" algn="l"/>
              </a:tabLst>
            </a:pPr>
            <a:r>
              <a:rPr sz="1100" spc="-20" dirty="0">
                <a:latin typeface="Tahoma"/>
                <a:cs typeface="Tahoma"/>
              </a:rPr>
              <a:t>lets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assume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operation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differentiable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and</a:t>
            </a:r>
            <a:endParaRPr sz="1100">
              <a:latin typeface="Tahoma"/>
              <a:cs typeface="Tahoma"/>
            </a:endParaRPr>
          </a:p>
          <a:p>
            <a:pPr marL="160655">
              <a:lnSpc>
                <a:spcPct val="100000"/>
              </a:lnSpc>
              <a:spcBef>
                <a:spcPts val="35"/>
              </a:spcBef>
              <a:tabLst>
                <a:tab pos="4175760" algn="l"/>
              </a:tabLst>
            </a:pP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non-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gradients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functions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100" spc="32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825" y="1458454"/>
            <a:ext cx="4038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10101" dirty="0">
                <a:latin typeface="Arial"/>
                <a:cs typeface="Arial"/>
              </a:rPr>
              <a:t>g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800" i="1" dirty="0">
                <a:latin typeface="Calibri"/>
                <a:cs typeface="Calibri"/>
              </a:rPr>
              <a:t>,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540" baseline="23148" dirty="0">
                <a:latin typeface="Arial"/>
                <a:cs typeface="Arial"/>
              </a:rPr>
              <a:t> </a:t>
            </a:r>
            <a:r>
              <a:rPr sz="1650" spc="-75" baseline="10101" dirty="0">
                <a:latin typeface="Tahoma"/>
                <a:cs typeface="Tahoma"/>
              </a:rPr>
              <a:t>:</a:t>
            </a:r>
            <a:endParaRPr sz="1650" baseline="10101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0781" y="1303552"/>
            <a:ext cx="202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700" dirty="0">
                <a:latin typeface="Tahoma"/>
                <a:cs typeface="Tahoma"/>
              </a:rPr>
              <a:t>Y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9539" y="1647709"/>
            <a:ext cx="4277995" cy="781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91260">
              <a:lnSpc>
                <a:spcPct val="100000"/>
              </a:lnSpc>
              <a:spcBef>
                <a:spcPts val="95"/>
              </a:spcBef>
            </a:pPr>
            <a:r>
              <a:rPr sz="800" i="1" spc="-10" dirty="0">
                <a:latin typeface="Arial"/>
                <a:cs typeface="Arial"/>
              </a:rPr>
              <a:t>z</a:t>
            </a:r>
            <a:r>
              <a:rPr sz="800" spc="-10" dirty="0">
                <a:latin typeface="Arial MT"/>
                <a:cs typeface="Arial MT"/>
              </a:rPr>
              <a:t>˜</a:t>
            </a:r>
            <a:r>
              <a:rPr sz="900" i="1" spc="-15" baseline="23148" dirty="0">
                <a:latin typeface="Arial"/>
                <a:cs typeface="Arial"/>
              </a:rPr>
              <a:t>′</a:t>
            </a:r>
            <a:r>
              <a:rPr sz="800" spc="-10" dirty="0">
                <a:latin typeface="Cambria"/>
                <a:cs typeface="Cambria"/>
              </a:rPr>
              <a:t>∈</a:t>
            </a:r>
            <a:r>
              <a:rPr sz="800" spc="-10" dirty="0">
                <a:latin typeface="Arial MT"/>
                <a:cs typeface="Arial MT"/>
              </a:rPr>
              <a:t>fanin(</a:t>
            </a:r>
            <a:r>
              <a:rPr sz="800" i="1" spc="-10" dirty="0">
                <a:latin typeface="Arial"/>
                <a:cs typeface="Arial"/>
              </a:rPr>
              <a:t>z</a:t>
            </a:r>
            <a:r>
              <a:rPr sz="800" i="1" spc="-65" dirty="0">
                <a:latin typeface="Arial"/>
                <a:cs typeface="Arial"/>
              </a:rPr>
              <a:t> </a:t>
            </a:r>
            <a:r>
              <a:rPr sz="800" spc="15" dirty="0"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800">
              <a:latin typeface="Arial MT"/>
              <a:cs typeface="Arial MT"/>
            </a:endParaRPr>
          </a:p>
          <a:p>
            <a:pPr marL="185420" indent="-147320">
              <a:lnSpc>
                <a:spcPct val="100000"/>
              </a:lnSpc>
              <a:buSzPct val="72727"/>
              <a:buChar char="►"/>
              <a:tabLst>
                <a:tab pos="185420" algn="l"/>
              </a:tabLst>
            </a:pPr>
            <a:r>
              <a:rPr sz="1100" spc="-4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10" dirty="0">
                <a:latin typeface="Tahoma"/>
                <a:cs typeface="Tahoma"/>
              </a:rPr>
              <a:t>we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compute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gradient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w.r.t.</a:t>
            </a:r>
            <a:r>
              <a:rPr sz="1100" spc="10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inputs: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100">
              <a:latin typeface="Tahoma"/>
              <a:cs typeface="Tahoma"/>
            </a:endParaRPr>
          </a:p>
          <a:p>
            <a:pPr marL="147955" algn="ctr">
              <a:lnSpc>
                <a:spcPct val="100000"/>
              </a:lnSpc>
            </a:pPr>
            <a:r>
              <a:rPr sz="1650" i="1" baseline="10101" dirty="0">
                <a:latin typeface="Arial"/>
                <a:cs typeface="Arial"/>
              </a:rPr>
              <a:t>w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1200" i="1" baseline="3472" dirty="0">
                <a:latin typeface="Calibri"/>
                <a:cs typeface="Calibri"/>
              </a:rPr>
              <a:t>,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622" baseline="23148" dirty="0">
                <a:latin typeface="Arial"/>
                <a:cs typeface="Arial"/>
              </a:rPr>
              <a:t> </a:t>
            </a:r>
            <a:r>
              <a:rPr sz="1650" baseline="10101" dirty="0">
                <a:latin typeface="Tahoma"/>
                <a:cs typeface="Tahoma"/>
              </a:rPr>
              <a:t>=</a:t>
            </a:r>
            <a:r>
              <a:rPr sz="1650" spc="172" baseline="10101" dirty="0">
                <a:latin typeface="Tahoma"/>
                <a:cs typeface="Tahoma"/>
              </a:rPr>
              <a:t> </a:t>
            </a:r>
            <a:r>
              <a:rPr sz="1650" i="1" baseline="10101" dirty="0">
                <a:latin typeface="Arial"/>
                <a:cs typeface="Arial"/>
              </a:rPr>
              <a:t>g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1200" i="1" baseline="3472" dirty="0">
                <a:latin typeface="Calibri"/>
                <a:cs typeface="Calibri"/>
              </a:rPr>
              <a:t>,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-30" baseline="23148" dirty="0">
                <a:latin typeface="Arial"/>
                <a:cs typeface="Arial"/>
              </a:rPr>
              <a:t> </a:t>
            </a:r>
            <a:r>
              <a:rPr sz="1650" spc="-60" baseline="10101" dirty="0">
                <a:latin typeface="Tahoma"/>
                <a:cs typeface="Tahoma"/>
              </a:rPr>
              <a:t>((</a:t>
            </a:r>
            <a:r>
              <a:rPr sz="1650" i="1" spc="-60" baseline="10101" dirty="0">
                <a:latin typeface="Arial"/>
                <a:cs typeface="Arial"/>
              </a:rPr>
              <a:t>v</a:t>
            </a:r>
            <a:r>
              <a:rPr sz="1200" i="1" spc="-60" baseline="3472" dirty="0">
                <a:latin typeface="Arial"/>
                <a:cs typeface="Arial"/>
              </a:rPr>
              <a:t>z</a:t>
            </a:r>
            <a:r>
              <a:rPr sz="1200" spc="-60" baseline="3472" dirty="0">
                <a:latin typeface="Arial MT"/>
                <a:cs typeface="Arial MT"/>
              </a:rPr>
              <a:t>˜</a:t>
            </a:r>
            <a:r>
              <a:rPr sz="900" i="1" spc="-60" baseline="23148" dirty="0">
                <a:latin typeface="Arial"/>
                <a:cs typeface="Arial"/>
              </a:rPr>
              <a:t>′</a:t>
            </a:r>
            <a:r>
              <a:rPr sz="900" i="1" spc="-37" baseline="23148" dirty="0">
                <a:latin typeface="Arial"/>
                <a:cs typeface="Arial"/>
              </a:rPr>
              <a:t> </a:t>
            </a:r>
            <a:r>
              <a:rPr sz="1650" spc="-15" baseline="10101" dirty="0">
                <a:latin typeface="Tahoma"/>
                <a:cs typeface="Tahoma"/>
              </a:rPr>
              <a:t>)</a:t>
            </a:r>
            <a:r>
              <a:rPr sz="800" i="1" spc="-10" dirty="0">
                <a:latin typeface="Arial"/>
                <a:cs typeface="Arial"/>
              </a:rPr>
              <a:t>z</a:t>
            </a:r>
            <a:r>
              <a:rPr sz="800" spc="-10" dirty="0">
                <a:latin typeface="Arial MT"/>
                <a:cs typeface="Arial MT"/>
              </a:rPr>
              <a:t>˜</a:t>
            </a:r>
            <a:r>
              <a:rPr sz="900" i="1" spc="-15" baseline="23148" dirty="0">
                <a:latin typeface="Arial"/>
                <a:cs typeface="Arial"/>
              </a:rPr>
              <a:t>′</a:t>
            </a:r>
            <a:r>
              <a:rPr sz="800" spc="-10" dirty="0">
                <a:latin typeface="Cambria"/>
                <a:cs typeface="Cambria"/>
              </a:rPr>
              <a:t>∈</a:t>
            </a:r>
            <a:r>
              <a:rPr sz="800" spc="-10" dirty="0">
                <a:latin typeface="Arial MT"/>
                <a:cs typeface="Arial MT"/>
              </a:rPr>
              <a:t>fanin(</a:t>
            </a:r>
            <a:r>
              <a:rPr sz="800" i="1" spc="-10" dirty="0">
                <a:latin typeface="Arial"/>
                <a:cs typeface="Arial"/>
              </a:rPr>
              <a:t>z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30" dirty="0">
                <a:latin typeface="Arial MT"/>
                <a:cs typeface="Arial MT"/>
              </a:rPr>
              <a:t>)</a:t>
            </a:r>
            <a:r>
              <a:rPr sz="1650" spc="44" baseline="10101" dirty="0">
                <a:latin typeface="Tahoma"/>
                <a:cs typeface="Tahoma"/>
              </a:rPr>
              <a:t>)</a:t>
            </a:r>
            <a:endParaRPr sz="1650" baseline="10101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7898" y="1435174"/>
            <a:ext cx="194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159510" algn="l"/>
              </a:tabLst>
            </a:pP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3888" dirty="0">
                <a:latin typeface="Arial"/>
                <a:cs typeface="Arial"/>
              </a:rPr>
              <a:t>z</a:t>
            </a:r>
            <a:r>
              <a:rPr sz="1200" baseline="-13888" dirty="0">
                <a:latin typeface="Arial MT"/>
                <a:cs typeface="Arial MT"/>
              </a:rPr>
              <a:t>˜</a:t>
            </a:r>
            <a:r>
              <a:rPr sz="900" i="1" baseline="4629" dirty="0">
                <a:latin typeface="Arial"/>
                <a:cs typeface="Arial"/>
              </a:rPr>
              <a:t>′</a:t>
            </a:r>
            <a:r>
              <a:rPr sz="900" i="1" spc="330" baseline="4629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T</a:t>
            </a:r>
            <a:r>
              <a:rPr sz="1200" i="1" baseline="-10416" dirty="0">
                <a:latin typeface="Arial"/>
                <a:cs typeface="Arial"/>
              </a:rPr>
              <a:t>z</a:t>
            </a:r>
            <a:r>
              <a:rPr sz="1200" i="1" spc="209" baseline="-10416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50" dirty="0">
                <a:latin typeface="Arial"/>
                <a:cs typeface="Arial"/>
              </a:rPr>
              <a:t>T</a:t>
            </a:r>
            <a:r>
              <a:rPr sz="1200" i="1" spc="75" baseline="-13888" dirty="0">
                <a:latin typeface="Arial"/>
                <a:cs typeface="Arial"/>
              </a:rPr>
              <a:t>z</a:t>
            </a:r>
            <a:r>
              <a:rPr sz="900" i="1" spc="75" baseline="4629" dirty="0">
                <a:latin typeface="Arial"/>
                <a:cs typeface="Arial"/>
              </a:rPr>
              <a:t>′</a:t>
            </a:r>
            <a:r>
              <a:rPr sz="1100" i="1" spc="50" dirty="0">
                <a:latin typeface="Georgia"/>
                <a:cs typeface="Georgia"/>
              </a:rPr>
              <a:t>,</a:t>
            </a:r>
            <a:r>
              <a:rPr sz="1100" i="1" dirty="0">
                <a:latin typeface="Georgia"/>
                <a:cs typeface="Georgia"/>
              </a:rPr>
              <a:t>	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31250" dirty="0">
                <a:latin typeface="Cambria"/>
                <a:cs typeface="Cambria"/>
              </a:rPr>
              <a:t>r</a:t>
            </a:r>
            <a:r>
              <a:rPr sz="1200" spc="232" baseline="31250" dirty="0">
                <a:latin typeface="Cambria"/>
                <a:cs typeface="Cambr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45" dirty="0">
                <a:latin typeface="Tahoma"/>
                <a:cs typeface="Tahoma"/>
              </a:rPr>
              <a:t>fanin(</a:t>
            </a:r>
            <a:r>
              <a:rPr sz="1100" i="1" spc="-4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675"/>
              </a:lnSpc>
            </a:pPr>
            <a:r>
              <a:rPr dirty="0"/>
              <a:t>26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518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</a:t>
            </a:r>
            <a:r>
              <a:rPr spc="-10" dirty="0"/>
              <a:t> </a:t>
            </a:r>
            <a:r>
              <a:rPr spc="-25" dirty="0"/>
              <a:t>Computation</a:t>
            </a:r>
            <a:r>
              <a:rPr spc="-10" dirty="0"/>
              <a:t> </a:t>
            </a:r>
            <a:r>
              <a:rPr spc="160" dirty="0"/>
              <a:t>/</a:t>
            </a:r>
            <a:r>
              <a:rPr spc="-5" dirty="0"/>
              <a:t> </a:t>
            </a:r>
            <a:r>
              <a:rPr spc="-25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589" y="2387481"/>
            <a:ext cx="224035" cy="2240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936" y="2368712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5617" y="2373503"/>
            <a:ext cx="251991" cy="2519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0186" y="2368712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w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5757" y="2373636"/>
            <a:ext cx="251726" cy="2517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38427" y="2387686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5856" y="1823739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4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4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6361" y="1817329"/>
            <a:ext cx="2508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1</a:t>
            </a:r>
            <a:endParaRPr sz="1200" baseline="-13888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15"/>
              </a:spcBef>
            </a:pPr>
            <a:r>
              <a:rPr sz="1000" spc="-25" dirty="0">
                <a:latin typeface="Tahoma"/>
                <a:cs typeface="Tahoma"/>
              </a:rPr>
              <a:t>dot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5859" y="1283732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1217" y="1184309"/>
            <a:ext cx="194945" cy="53022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sz="1000" spc="-50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5859" y="743725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8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8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51217" y="737321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3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1400" y="1011077"/>
            <a:ext cx="22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relu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0510" y="1017719"/>
            <a:ext cx="976630" cy="1381760"/>
            <a:chOff x="460510" y="1017719"/>
            <a:chExt cx="976630" cy="1381760"/>
          </a:xfrm>
        </p:grpSpPr>
        <p:sp>
          <p:nvSpPr>
            <p:cNvPr id="19" name="object 19"/>
            <p:cNvSpPr/>
            <p:nvPr/>
          </p:nvSpPr>
          <p:spPr>
            <a:xfrm>
              <a:off x="463041" y="2088371"/>
              <a:ext cx="154305" cy="308610"/>
            </a:xfrm>
            <a:custGeom>
              <a:avLst/>
              <a:gdLst/>
              <a:ahLst/>
              <a:cxnLst/>
              <a:rect l="l" t="t" r="r" b="b"/>
              <a:pathLst>
                <a:path w="154304" h="308610">
                  <a:moveTo>
                    <a:pt x="0" y="308261"/>
                  </a:moveTo>
                  <a:lnTo>
                    <a:pt x="15413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2275" y="2084976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3" y="0"/>
                  </a:lnTo>
                  <a:lnTo>
                    <a:pt x="26982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6068" y="2088371"/>
              <a:ext cx="147955" cy="295910"/>
            </a:xfrm>
            <a:custGeom>
              <a:avLst/>
              <a:gdLst/>
              <a:ahLst/>
              <a:cxnLst/>
              <a:rect l="l" t="t" r="r" b="b"/>
              <a:pathLst>
                <a:path w="147955" h="295910">
                  <a:moveTo>
                    <a:pt x="147856" y="29570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4752" y="2084976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3467" y="1548368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>
                  <a:moveTo>
                    <a:pt x="0" y="287419"/>
                  </a:moveTo>
                  <a:lnTo>
                    <a:pt x="14370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2178" y="1544960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7952"/>
                  </a:moveTo>
                  <a:lnTo>
                    <a:pt x="6888" y="8068"/>
                  </a:lnTo>
                  <a:lnTo>
                    <a:pt x="15054" y="5893"/>
                  </a:lnTo>
                  <a:lnTo>
                    <a:pt x="22369" y="2760"/>
                  </a:lnTo>
                  <a:lnTo>
                    <a:pt x="26700" y="0"/>
                  </a:lnTo>
                  <a:lnTo>
                    <a:pt x="27091" y="5121"/>
                  </a:lnTo>
                  <a:lnTo>
                    <a:pt x="28973" y="12853"/>
                  </a:lnTo>
                  <a:lnTo>
                    <a:pt x="32132" y="20691"/>
                  </a:lnTo>
                  <a:lnTo>
                    <a:pt x="36358" y="26132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6082" y="1548348"/>
              <a:ext cx="418465" cy="836294"/>
            </a:xfrm>
            <a:custGeom>
              <a:avLst/>
              <a:gdLst/>
              <a:ahLst/>
              <a:cxnLst/>
              <a:rect l="l" t="t" r="r" b="b"/>
              <a:pathLst>
                <a:path w="418465" h="836294">
                  <a:moveTo>
                    <a:pt x="417921" y="83585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4766" y="1544953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4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1631" y="1023539"/>
              <a:ext cx="0" cy="257810"/>
            </a:xfrm>
            <a:custGeom>
              <a:avLst/>
              <a:gdLst/>
              <a:ahLst/>
              <a:cxnLst/>
              <a:rect l="l" t="t" r="r" b="b"/>
              <a:pathLst>
                <a:path h="257809">
                  <a:moveTo>
                    <a:pt x="2" y="25762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1387" y="1019744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6976" y="2878498"/>
            <a:ext cx="1123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95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relu(</a:t>
            </a:r>
            <a:r>
              <a:rPr sz="1000" i="1" spc="-4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i="1" spc="112" baseline="31746" dirty="0">
                <a:latin typeface="Arial"/>
                <a:cs typeface="Arial"/>
              </a:rPr>
              <a:t>T</a:t>
            </a:r>
            <a:r>
              <a:rPr sz="1050" i="1" spc="-82" baseline="31746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b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0760" y="373704"/>
            <a:ext cx="2367915" cy="3663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72720" indent="-147320">
              <a:lnSpc>
                <a:spcPct val="100000"/>
              </a:lnSpc>
              <a:spcBef>
                <a:spcPts val="240"/>
              </a:spcBef>
              <a:buSzPct val="80000"/>
              <a:buChar char="►"/>
              <a:tabLst>
                <a:tab pos="172720" algn="l"/>
              </a:tabLst>
            </a:pPr>
            <a:r>
              <a:rPr sz="1000" spc="-30" dirty="0">
                <a:latin typeface="Tahoma"/>
                <a:cs typeface="Tahoma"/>
              </a:rPr>
              <a:t>functions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each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non-</a:t>
            </a:r>
            <a:r>
              <a:rPr sz="1000" dirty="0">
                <a:latin typeface="Tahoma"/>
                <a:cs typeface="Tahoma"/>
              </a:rPr>
              <a:t>root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node:</a:t>
            </a:r>
            <a:endParaRPr sz="1000">
              <a:latin typeface="Tahoma"/>
              <a:cs typeface="Tahoma"/>
            </a:endParaRPr>
          </a:p>
          <a:p>
            <a:pPr marL="325755">
              <a:lnSpc>
                <a:spcPct val="100000"/>
              </a:lnSpc>
              <a:spcBef>
                <a:spcPts val="140"/>
              </a:spcBef>
              <a:tabLst>
                <a:tab pos="1381760" algn="l"/>
              </a:tabLst>
            </a:pPr>
            <a:r>
              <a:rPr sz="1000" i="1" dirty="0">
                <a:latin typeface="Arial"/>
                <a:cs typeface="Arial"/>
              </a:rPr>
              <a:t>f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65" dirty="0">
                <a:latin typeface="Georgia"/>
                <a:cs typeface="Georgi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spc="-45" dirty="0">
                <a:latin typeface="Arial"/>
                <a:cs typeface="Arial"/>
              </a:rPr>
              <a:t>x</a:t>
            </a:r>
            <a:r>
              <a:rPr sz="1000" i="1" spc="-185" dirty="0">
                <a:latin typeface="Arial"/>
                <a:cs typeface="Arial"/>
              </a:rPr>
              <a:t> </a:t>
            </a:r>
            <a:r>
              <a:rPr sz="1050" i="1" spc="112" baseline="31746" dirty="0">
                <a:latin typeface="Arial"/>
                <a:cs typeface="Arial"/>
              </a:rPr>
              <a:t>T</a:t>
            </a:r>
            <a:r>
              <a:rPr sz="1050" i="1" spc="-67" baseline="31746" dirty="0">
                <a:latin typeface="Arial"/>
                <a:cs typeface="Arial"/>
              </a:rPr>
              <a:t> </a:t>
            </a:r>
            <a:r>
              <a:rPr sz="1000" i="1" spc="-35" dirty="0">
                <a:latin typeface="Arial"/>
                <a:cs typeface="Arial"/>
              </a:rPr>
              <a:t>w</a:t>
            </a:r>
            <a:r>
              <a:rPr sz="1000" i="1" spc="-35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112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b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20414" y="752378"/>
            <a:ext cx="9810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f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relu(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50" spc="-15" baseline="-11904" dirty="0">
                <a:latin typeface="Arial MT"/>
                <a:cs typeface="Arial MT"/>
              </a:rPr>
              <a:t>2</a:t>
            </a:r>
            <a:r>
              <a:rPr sz="1000" spc="-1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08060" y="1050157"/>
            <a:ext cx="2467610" cy="55626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240"/>
              </a:spcBef>
              <a:buSzPct val="80000"/>
              <a:buChar char="►"/>
              <a:tabLst>
                <a:tab pos="185420" algn="l"/>
              </a:tabLst>
            </a:pPr>
            <a:r>
              <a:rPr sz="1000" spc="-30" dirty="0">
                <a:latin typeface="Tahoma"/>
                <a:cs typeface="Tahoma"/>
              </a:rPr>
              <a:t>gradient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functions</a:t>
            </a:r>
            <a:r>
              <a:rPr sz="1000" spc="-10" dirty="0">
                <a:latin typeface="Tahoma"/>
                <a:cs typeface="Tahoma"/>
              </a:rPr>
              <a:t> for </a:t>
            </a:r>
            <a:r>
              <a:rPr sz="1000" spc="-45" dirty="0">
                <a:latin typeface="Tahoma"/>
                <a:cs typeface="Tahoma"/>
              </a:rPr>
              <a:t>each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non-</a:t>
            </a:r>
            <a:r>
              <a:rPr sz="1000" dirty="0">
                <a:latin typeface="Tahoma"/>
                <a:cs typeface="Tahoma"/>
              </a:rPr>
              <a:t>root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node:</a:t>
            </a:r>
            <a:endParaRPr sz="1000">
              <a:latin typeface="Tahoma"/>
              <a:cs typeface="Tahoma"/>
            </a:endParaRPr>
          </a:p>
          <a:p>
            <a:pPr marL="414655">
              <a:lnSpc>
                <a:spcPct val="100000"/>
              </a:lnSpc>
              <a:spcBef>
                <a:spcPts val="140"/>
              </a:spcBef>
              <a:tabLst>
                <a:tab pos="1424305" algn="l"/>
              </a:tabLst>
            </a:pPr>
            <a:r>
              <a:rPr sz="1000" i="1" spc="-20" dirty="0">
                <a:latin typeface="Arial"/>
                <a:cs typeface="Arial"/>
              </a:rPr>
              <a:t>g</a:t>
            </a:r>
            <a:r>
              <a:rPr sz="1050" spc="-30" baseline="-11904" dirty="0">
                <a:latin typeface="Arial MT"/>
                <a:cs typeface="Arial MT"/>
              </a:rPr>
              <a:t>1</a:t>
            </a:r>
            <a:r>
              <a:rPr sz="1050" i="1" spc="-30" baseline="-11904" dirty="0">
                <a:latin typeface="Arial"/>
                <a:cs typeface="Arial"/>
              </a:rPr>
              <a:t>,x</a:t>
            </a:r>
            <a:r>
              <a:rPr sz="1050" i="1" spc="-120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6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w</a:t>
            </a:r>
            <a:r>
              <a:rPr sz="1000" i="1" spc="-25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spc="-10" dirty="0">
                <a:latin typeface="Arial"/>
                <a:cs typeface="Arial"/>
              </a:rPr>
              <a:t>g</a:t>
            </a:r>
            <a:r>
              <a:rPr sz="1050" spc="-15" baseline="-11904" dirty="0">
                <a:latin typeface="Arial MT"/>
                <a:cs typeface="Arial MT"/>
              </a:rPr>
              <a:t>1</a:t>
            </a:r>
            <a:r>
              <a:rPr sz="1050" i="1" spc="-15" baseline="-11904" dirty="0">
                <a:latin typeface="Arial"/>
                <a:cs typeface="Arial"/>
              </a:rPr>
              <a:t>,w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spc="-60" dirty="0">
                <a:latin typeface="Arial"/>
                <a:cs typeface="Arial"/>
              </a:rPr>
              <a:t>w</a:t>
            </a:r>
            <a:r>
              <a:rPr sz="1000" i="1" spc="-17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x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  <a:p>
            <a:pPr marL="471170">
              <a:lnSpc>
                <a:spcPct val="100000"/>
              </a:lnSpc>
              <a:spcBef>
                <a:spcPts val="295"/>
              </a:spcBef>
              <a:tabLst>
                <a:tab pos="1480820" algn="l"/>
              </a:tabLst>
            </a:pPr>
            <a:r>
              <a:rPr sz="1000" i="1" spc="-25" dirty="0">
                <a:latin typeface="Arial"/>
                <a:cs typeface="Arial"/>
              </a:rPr>
              <a:t>g</a:t>
            </a:r>
            <a:r>
              <a:rPr sz="1050" spc="-37" baseline="-11904" dirty="0">
                <a:latin typeface="Arial MT"/>
                <a:cs typeface="Arial MT"/>
              </a:rPr>
              <a:t>2</a:t>
            </a:r>
            <a:r>
              <a:rPr sz="1050" i="1" spc="-37" baseline="-11904" dirty="0">
                <a:latin typeface="Arial"/>
                <a:cs typeface="Arial"/>
              </a:rPr>
              <a:t>,z</a:t>
            </a:r>
            <a:r>
              <a:rPr sz="750" spc="-37" baseline="-27777" dirty="0">
                <a:latin typeface="Arial MT"/>
                <a:cs typeface="Arial MT"/>
              </a:rPr>
              <a:t>1</a:t>
            </a:r>
            <a:r>
              <a:rPr sz="750" spc="-60" baseline="-27777" dirty="0">
                <a:latin typeface="Arial MT"/>
                <a:cs typeface="Arial MT"/>
              </a:rPr>
              <a:t> </a:t>
            </a:r>
            <a:r>
              <a:rPr sz="1000" spc="-20" dirty="0">
                <a:latin typeface="Tahoma"/>
                <a:cs typeface="Tahoma"/>
              </a:rPr>
              <a:t>(</a:t>
            </a:r>
            <a:r>
              <a:rPr sz="1000" i="1" spc="-20" dirty="0">
                <a:latin typeface="Arial"/>
                <a:cs typeface="Arial"/>
              </a:rPr>
              <a:t>z</a:t>
            </a:r>
            <a:r>
              <a:rPr sz="1050" spc="-30" baseline="-11904" dirty="0">
                <a:latin typeface="Arial MT"/>
                <a:cs typeface="Arial MT"/>
              </a:rPr>
              <a:t>1</a:t>
            </a:r>
            <a:r>
              <a:rPr sz="1000" i="1" spc="-20" dirty="0">
                <a:latin typeface="Georgia"/>
                <a:cs typeface="Georgia"/>
              </a:rPr>
              <a:t>,</a:t>
            </a:r>
            <a:r>
              <a:rPr sz="1000" i="1" spc="-6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,</a:t>
            </a:r>
            <a:r>
              <a:rPr sz="1000" i="1" dirty="0">
                <a:latin typeface="Georgia"/>
                <a:cs typeface="Georgia"/>
              </a:rPr>
              <a:t>	</a:t>
            </a:r>
            <a:r>
              <a:rPr sz="1000" i="1" spc="-20" dirty="0">
                <a:latin typeface="Arial"/>
                <a:cs typeface="Arial"/>
              </a:rPr>
              <a:t>g</a:t>
            </a:r>
            <a:r>
              <a:rPr sz="1050" spc="-30" baseline="-11904" dirty="0">
                <a:latin typeface="Arial MT"/>
                <a:cs typeface="Arial MT"/>
              </a:rPr>
              <a:t>2</a:t>
            </a:r>
            <a:r>
              <a:rPr sz="1050" i="1" spc="-30" baseline="-11904" dirty="0">
                <a:latin typeface="Arial"/>
                <a:cs typeface="Arial"/>
              </a:rPr>
              <a:t>,b</a:t>
            </a:r>
            <a:r>
              <a:rPr sz="1050" i="1" spc="-187" baseline="-11904" dirty="0">
                <a:latin typeface="Arial"/>
                <a:cs typeface="Arial"/>
              </a:rPr>
              <a:t> </a:t>
            </a:r>
            <a:r>
              <a:rPr sz="1000" spc="-20" dirty="0">
                <a:latin typeface="Tahoma"/>
                <a:cs typeface="Tahoma"/>
              </a:rPr>
              <a:t>(</a:t>
            </a:r>
            <a:r>
              <a:rPr sz="1000" i="1" spc="-20" dirty="0">
                <a:latin typeface="Arial"/>
                <a:cs typeface="Arial"/>
              </a:rPr>
              <a:t>z</a:t>
            </a:r>
            <a:r>
              <a:rPr sz="1050" spc="-30" baseline="-11904" dirty="0">
                <a:latin typeface="Arial MT"/>
                <a:cs typeface="Arial MT"/>
              </a:rPr>
              <a:t>1</a:t>
            </a:r>
            <a:r>
              <a:rPr sz="1000" i="1" spc="-20" dirty="0">
                <a:latin typeface="Georgia"/>
                <a:cs typeface="Georgia"/>
              </a:rPr>
              <a:t>,</a:t>
            </a:r>
            <a:r>
              <a:rPr sz="1000" i="1" spc="-7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122688" y="1618620"/>
            <a:ext cx="120269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spc="-25" dirty="0">
                <a:latin typeface="Arial"/>
                <a:cs typeface="Arial"/>
              </a:rPr>
              <a:t>g</a:t>
            </a:r>
            <a:r>
              <a:rPr sz="1050" spc="-37" baseline="-11904" dirty="0">
                <a:latin typeface="Arial MT"/>
                <a:cs typeface="Arial MT"/>
              </a:rPr>
              <a:t>3</a:t>
            </a:r>
            <a:r>
              <a:rPr sz="1050" i="1" spc="-37" baseline="-11904" dirty="0">
                <a:latin typeface="Arial"/>
                <a:cs typeface="Arial"/>
              </a:rPr>
              <a:t>,z</a:t>
            </a:r>
            <a:r>
              <a:rPr sz="750" spc="-37" baseline="-27777" dirty="0">
                <a:latin typeface="Arial MT"/>
                <a:cs typeface="Arial MT"/>
              </a:rPr>
              <a:t>2</a:t>
            </a:r>
            <a:r>
              <a:rPr sz="750" spc="-60" baseline="-27777" dirty="0">
                <a:latin typeface="Arial MT"/>
                <a:cs typeface="Arial MT"/>
              </a:rPr>
              <a:t> </a:t>
            </a:r>
            <a:r>
              <a:rPr sz="1000" spc="-10" dirty="0">
                <a:latin typeface="Tahoma"/>
                <a:cs typeface="Tahoma"/>
              </a:rPr>
              <a:t>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50" spc="-15" baseline="-11904" dirty="0">
                <a:latin typeface="Arial MT"/>
                <a:cs typeface="Arial MT"/>
              </a:rPr>
              <a:t>2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dirty="0">
                <a:latin typeface="Georgia"/>
                <a:cs typeface="Georgia"/>
              </a:rPr>
              <a:t>I</a:t>
            </a:r>
            <a:r>
              <a:rPr sz="1000" dirty="0">
                <a:latin typeface="Tahoma"/>
                <a:cs typeface="Tahoma"/>
              </a:rPr>
              <a:t>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50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≥</a:t>
            </a:r>
            <a:r>
              <a:rPr sz="1000" spc="-65" dirty="0">
                <a:latin typeface="Lucida Sans Unicode"/>
                <a:cs typeface="Lucida Sans Unicode"/>
              </a:rPr>
              <a:t> </a:t>
            </a:r>
            <a:r>
              <a:rPr sz="1000" spc="-25" dirty="0">
                <a:latin typeface="Tahoma"/>
                <a:cs typeface="Tahoma"/>
              </a:rPr>
              <a:t>0)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033460" y="1934939"/>
            <a:ext cx="179641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0" dirty="0">
                <a:latin typeface="Tahoma"/>
                <a:cs typeface="Tahoma"/>
              </a:rPr>
              <a:t>given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root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nodes: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844355" y="2097003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12580" y="2174181"/>
            <a:ext cx="8248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21334" algn="l"/>
              </a:tabLst>
            </a:pP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489287" y="2097003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844355" y="2248832"/>
            <a:ext cx="782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8330" algn="l"/>
              </a:tabLst>
            </a:pPr>
            <a:r>
              <a:rPr sz="1000" spc="-50" dirty="0">
                <a:latin typeface="Tahoma"/>
                <a:cs typeface="Tahoma"/>
              </a:rPr>
              <a:t>1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51213" y="1995772"/>
            <a:ext cx="969644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608330" algn="l"/>
                <a:tab pos="862965" algn="l"/>
              </a:tabLst>
            </a:pPr>
            <a:r>
              <a:rPr sz="1000" dirty="0">
                <a:latin typeface="Tahoma"/>
                <a:cs typeface="Tahoma"/>
              </a:rPr>
              <a:t>	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15981" y="2174181"/>
            <a:ext cx="481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0</a:t>
            </a:r>
            <a:r>
              <a:rPr sz="1000" i="1" spc="-25" dirty="0">
                <a:latin typeface="Georgia"/>
                <a:cs typeface="Georgia"/>
              </a:rPr>
              <a:t>.</a:t>
            </a:r>
            <a:r>
              <a:rPr sz="1000" spc="-25" dirty="0">
                <a:latin typeface="Tahoma"/>
                <a:cs typeface="Tahoma"/>
              </a:rPr>
              <a:t>5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008060" y="2540870"/>
            <a:ext cx="2436495" cy="3663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240"/>
              </a:spcBef>
              <a:buSzPct val="80000"/>
              <a:buChar char="►"/>
              <a:tabLst>
                <a:tab pos="185420" algn="l"/>
              </a:tabLst>
            </a:pPr>
            <a:r>
              <a:rPr sz="1000" spc="-30" dirty="0">
                <a:latin typeface="Tahoma"/>
                <a:cs typeface="Tahoma"/>
              </a:rPr>
              <a:t>compute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gradient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neighbors:</a:t>
            </a:r>
            <a:endParaRPr sz="1000">
              <a:latin typeface="Tahoma"/>
              <a:cs typeface="Tahoma"/>
            </a:endParaRPr>
          </a:p>
          <a:p>
            <a:pPr marL="469265">
              <a:lnSpc>
                <a:spcPct val="100000"/>
              </a:lnSpc>
              <a:spcBef>
                <a:spcPts val="140"/>
              </a:spcBef>
            </a:pPr>
            <a:r>
              <a:rPr sz="1000" spc="-40" dirty="0">
                <a:latin typeface="Lucida Sans Unicode"/>
                <a:cs typeface="Lucida Sans Unicode"/>
              </a:rPr>
              <a:t>∇</a:t>
            </a:r>
            <a:r>
              <a:rPr sz="1050" i="1" spc="-60" baseline="-11904" dirty="0">
                <a:latin typeface="Arial"/>
                <a:cs typeface="Arial"/>
              </a:rPr>
              <a:t>z</a:t>
            </a:r>
            <a:r>
              <a:rPr sz="750" spc="-60" baseline="-27777" dirty="0">
                <a:latin typeface="Arial MT"/>
                <a:cs typeface="Arial MT"/>
              </a:rPr>
              <a:t>2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50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∇</a:t>
            </a:r>
            <a:r>
              <a:rPr sz="1050" i="1" spc="-60" baseline="-11904" dirty="0">
                <a:latin typeface="Arial"/>
                <a:cs typeface="Arial"/>
              </a:rPr>
              <a:t>z</a:t>
            </a:r>
            <a:r>
              <a:rPr sz="750" spc="-60" baseline="-27777" dirty="0">
                <a:latin typeface="Arial MT"/>
                <a:cs typeface="Arial MT"/>
              </a:rPr>
              <a:t>1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8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35" dirty="0">
                <a:latin typeface="Lucida Sans Unicode"/>
                <a:cs typeface="Lucida Sans Unicode"/>
              </a:rPr>
              <a:t>∇</a:t>
            </a:r>
            <a:r>
              <a:rPr sz="1050" i="1" spc="-52" baseline="-11904" dirty="0">
                <a:latin typeface="Arial"/>
                <a:cs typeface="Arial"/>
              </a:rPr>
              <a:t>b</a:t>
            </a:r>
            <a:r>
              <a:rPr sz="750" spc="-52" baseline="-27777" dirty="0">
                <a:latin typeface="Arial MT"/>
                <a:cs typeface="Arial MT"/>
              </a:rPr>
              <a:t>1</a:t>
            </a:r>
            <a:r>
              <a:rPr sz="750" spc="-60" baseline="-27777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8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15958" y="3009359"/>
            <a:ext cx="481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Lucida Sans Unicode"/>
                <a:cs typeface="Lucida Sans Unicode"/>
              </a:rPr>
              <a:t>∇</a:t>
            </a:r>
            <a:r>
              <a:rPr sz="1050" i="1" spc="-67" baseline="-11904" dirty="0">
                <a:latin typeface="Arial"/>
                <a:cs typeface="Arial"/>
              </a:rPr>
              <a:t>x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89" baseline="-11904" dirty="0">
                <a:latin typeface="Arial MT"/>
                <a:cs typeface="Arial MT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24009" y="2932181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74809" y="3084009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25304" y="3009359"/>
            <a:ext cx="560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35" dirty="0">
                <a:latin typeface="Lucida Sans Unicode"/>
                <a:cs typeface="Lucida Sans Unicode"/>
              </a:rPr>
              <a:t>∇</a:t>
            </a:r>
            <a:r>
              <a:rPr sz="1050" i="1" spc="-52" baseline="-11904" dirty="0">
                <a:latin typeface="Arial"/>
                <a:cs typeface="Arial"/>
              </a:rPr>
              <a:t>w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82" baseline="-11904" dirty="0">
                <a:latin typeface="Arial MT"/>
                <a:cs typeface="Arial MT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62869" y="2932181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62869" y="3084009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081667" y="2830962"/>
            <a:ext cx="116332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  <a:tab pos="900430" algn="l"/>
              </a:tabLst>
            </a:pPr>
            <a:r>
              <a:rPr sz="1000" dirty="0">
                <a:latin typeface="Tahoma"/>
                <a:cs typeface="Tahoma"/>
              </a:rPr>
              <a:t>	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109651"/>
                </a:moveTo>
                <a:lnTo>
                  <a:pt x="4607992" y="0"/>
                </a:ln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59" y="219303"/>
                </a:lnTo>
                <a:lnTo>
                  <a:pt x="4147159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675"/>
              </a:lnSpc>
            </a:pPr>
            <a:r>
              <a:rPr dirty="0"/>
              <a:t>27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Gradients</a:t>
            </a:r>
            <a:r>
              <a:rPr spc="-40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spc="-25" dirty="0"/>
              <a:t>Computational</a:t>
            </a:r>
            <a:r>
              <a:rPr spc="-35" dirty="0"/>
              <a:t> Graphs </a:t>
            </a:r>
            <a:r>
              <a:rPr spc="-10" dirty="0"/>
              <a:t>(2/2)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6839" y="625308"/>
            <a:ext cx="3498850" cy="2266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8120" indent="-147320">
              <a:lnSpc>
                <a:spcPts val="975"/>
              </a:lnSpc>
              <a:spcBef>
                <a:spcPts val="90"/>
              </a:spcBef>
              <a:buSzPct val="72727"/>
              <a:buChar char="►"/>
              <a:tabLst>
                <a:tab pos="198120" algn="l"/>
              </a:tabLst>
            </a:pP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50" dirty="0">
                <a:latin typeface="Tahoma"/>
                <a:cs typeface="Tahoma"/>
              </a:rPr>
              <a:t> subgraph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spc="-67" baseline="27777" dirty="0">
                <a:latin typeface="Cambria"/>
                <a:cs typeface="Cambria"/>
              </a:rPr>
              <a:t>rr</a:t>
            </a:r>
            <a:r>
              <a:rPr sz="1200" spc="179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spc="-157" baseline="27777" dirty="0">
                <a:latin typeface="Cambria"/>
                <a:cs typeface="Cambria"/>
              </a:rPr>
              <a:t>r</a:t>
            </a:r>
            <a:r>
              <a:rPr sz="1200" spc="-44" baseline="27777" dirty="0">
                <a:latin typeface="Cambria"/>
                <a:cs typeface="Cambr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spc="-157" baseline="27777" dirty="0">
                <a:latin typeface="Cambria"/>
                <a:cs typeface="Cambria"/>
              </a:rPr>
              <a:t>r</a:t>
            </a:r>
            <a:r>
              <a:rPr sz="1200" spc="-44" baseline="27777" dirty="0">
                <a:latin typeface="Cambria"/>
                <a:cs typeface="Cambr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.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dirty="0">
                <a:latin typeface="Georgia"/>
                <a:cs typeface="Georgia"/>
              </a:rPr>
              <a:t>,</a:t>
            </a:r>
            <a:r>
              <a:rPr sz="1100" i="1" spc="-85" dirty="0">
                <a:latin typeface="Georgia"/>
                <a:cs typeface="Georgi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mbria"/>
                <a:cs typeface="Cambria"/>
              </a:rPr>
              <a:t>r</a:t>
            </a:r>
            <a:r>
              <a:rPr sz="1200" spc="705" baseline="27777" dirty="0">
                <a:latin typeface="Cambria"/>
                <a:cs typeface="Cambri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→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chain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rule:</a:t>
            </a:r>
            <a:endParaRPr sz="1100">
              <a:latin typeface="Tahoma"/>
              <a:cs typeface="Tahoma"/>
            </a:endParaRPr>
          </a:p>
          <a:p>
            <a:pPr marL="1629410">
              <a:lnSpc>
                <a:spcPts val="615"/>
              </a:lnSpc>
              <a:tabLst>
                <a:tab pos="1811655" algn="l"/>
                <a:tab pos="2239645" algn="l"/>
              </a:tabLst>
            </a:pPr>
            <a:r>
              <a:rPr sz="1200" spc="-75" baseline="3472" dirty="0">
                <a:latin typeface="Arial MT"/>
                <a:cs typeface="Arial MT"/>
              </a:rPr>
              <a:t>1</a:t>
            </a:r>
            <a:r>
              <a:rPr sz="1200" baseline="3472" dirty="0">
                <a:latin typeface="Arial MT"/>
                <a:cs typeface="Arial MT"/>
              </a:rPr>
              <a:t>	</a:t>
            </a:r>
            <a:r>
              <a:rPr sz="1200" spc="-75" baseline="3472" dirty="0">
                <a:latin typeface="Arial MT"/>
                <a:cs typeface="Arial MT"/>
              </a:rPr>
              <a:t>2</a:t>
            </a:r>
            <a:r>
              <a:rPr sz="1200" baseline="3472" dirty="0">
                <a:latin typeface="Arial MT"/>
                <a:cs typeface="Arial MT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8352" y="1137245"/>
            <a:ext cx="723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z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3927" y="1133734"/>
            <a:ext cx="812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75" dirty="0">
                <a:latin typeface="Arial"/>
                <a:cs typeface="Arial"/>
              </a:rPr>
              <a:t>′′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5930" y="940789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19187" y="945031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2896" y="1076641"/>
            <a:ext cx="860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31520" algn="l"/>
              </a:tabLst>
            </a:pP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100" spc="85" dirty="0">
                <a:latin typeface="Lucida Sans Unicode"/>
                <a:cs typeface="Lucida Sans Unicode"/>
              </a:rPr>
              <a:t> 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Lucida Sans Unicode"/>
                <a:cs typeface="Lucida Sans Unicode"/>
              </a:rPr>
              <a:t>∇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0076" y="1283549"/>
            <a:ext cx="2241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latin typeface="Arial"/>
                <a:cs typeface="Arial"/>
              </a:rPr>
              <a:t>k</a:t>
            </a:r>
            <a:r>
              <a:rPr sz="800" spc="55" dirty="0">
                <a:latin typeface="Arial MT"/>
                <a:cs typeface="Arial MT"/>
              </a:rPr>
              <a:t>=1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32458" y="1143290"/>
            <a:ext cx="1625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z</a:t>
            </a:r>
            <a:r>
              <a:rPr sz="900" i="1" spc="-37" baseline="-27777" dirty="0">
                <a:latin typeface="Arial"/>
                <a:cs typeface="Arial"/>
              </a:rPr>
              <a:t>k</a:t>
            </a:r>
            <a:endParaRPr sz="900" baseline="-27777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9947" y="1056765"/>
            <a:ext cx="54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r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48434" y="1149221"/>
            <a:ext cx="3130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221615" algn="l"/>
              </a:tabLst>
            </a:pPr>
            <a:r>
              <a:rPr sz="1200" i="1" spc="-75" baseline="6944" dirty="0">
                <a:latin typeface="Arial"/>
                <a:cs typeface="Arial"/>
              </a:rPr>
              <a:t>z</a:t>
            </a:r>
            <a:r>
              <a:rPr sz="1200" i="1" baseline="6944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13420" y="1076641"/>
            <a:ext cx="6832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00" i="1" spc="150" baseline="4629" dirty="0">
                <a:latin typeface="Arial"/>
                <a:cs typeface="Arial"/>
              </a:rPr>
              <a:t>′</a:t>
            </a:r>
            <a:r>
              <a:rPr sz="900" i="1" spc="-52" baseline="4629" dirty="0">
                <a:latin typeface="Arial"/>
                <a:cs typeface="Arial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100" spc="55" dirty="0">
                <a:latin typeface="Lucida Sans Unicode"/>
                <a:cs typeface="Lucida Sans Unicode"/>
              </a:rPr>
              <a:t> </a:t>
            </a:r>
            <a:r>
              <a:rPr sz="900" i="1" spc="150" baseline="4629" dirty="0">
                <a:latin typeface="Arial"/>
                <a:cs typeface="Arial"/>
              </a:rPr>
              <a:t>′′</a:t>
            </a:r>
            <a:r>
              <a:rPr sz="900" i="1" spc="-104" baseline="46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59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66517" y="940789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09774" y="945031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10676" y="1283549"/>
            <a:ext cx="2241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latin typeface="Arial"/>
                <a:cs typeface="Arial"/>
              </a:rPr>
              <a:t>k</a:t>
            </a:r>
            <a:r>
              <a:rPr sz="800" spc="55" dirty="0">
                <a:latin typeface="Arial MT"/>
                <a:cs typeface="Arial MT"/>
              </a:rPr>
              <a:t>=1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89656" y="1253742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48178" y="982915"/>
            <a:ext cx="434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u="sng" spc="-90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 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Georgia"/>
                <a:cs typeface="Georgia"/>
              </a:rPr>
              <a:t>∂</a:t>
            </a:r>
            <a:r>
              <a:rPr sz="11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z</a:t>
            </a:r>
            <a:r>
              <a:rPr sz="1100" i="1" u="sng" spc="-3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i="1" spc="-25" dirty="0">
                <a:latin typeface="Georgia"/>
                <a:cs typeface="Georgia"/>
              </a:rPr>
              <a:t>∂</a:t>
            </a:r>
            <a:r>
              <a:rPr sz="1100" i="1" spc="-25" dirty="0">
                <a:latin typeface="Arial"/>
                <a:cs typeface="Arial"/>
              </a:rPr>
              <a:t>z</a:t>
            </a:r>
            <a:endParaRPr sz="11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68739" y="967484"/>
            <a:ext cx="546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r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956610" y="1059940"/>
            <a:ext cx="781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823044" y="1193254"/>
            <a:ext cx="218440" cy="0"/>
          </a:xfrm>
          <a:custGeom>
            <a:avLst/>
            <a:gdLst/>
            <a:ahLst/>
            <a:cxnLst/>
            <a:rect l="l" t="t" r="r" b="b"/>
            <a:pathLst>
              <a:path w="218439">
                <a:moveTo>
                  <a:pt x="0" y="0"/>
                </a:moveTo>
                <a:lnTo>
                  <a:pt x="21827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2522778" y="1171675"/>
            <a:ext cx="550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Georgia"/>
                <a:cs typeface="Georgia"/>
              </a:rPr>
              <a:t>∂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mbria"/>
                <a:cs typeface="Cambria"/>
              </a:rPr>
              <a:t>r</a:t>
            </a:r>
            <a:r>
              <a:rPr sz="1200" spc="577" baseline="27777" dirty="0">
                <a:latin typeface="Cambria"/>
                <a:cs typeface="Cambria"/>
              </a:rPr>
              <a:t> </a:t>
            </a:r>
            <a:r>
              <a:rPr sz="1100" i="1" spc="-50" dirty="0">
                <a:latin typeface="Georgia"/>
                <a:cs typeface="Georgia"/>
              </a:rPr>
              <a:t>∂</a:t>
            </a:r>
            <a:r>
              <a:rPr sz="1100" i="1" spc="-5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spc="-37" baseline="20833" dirty="0">
                <a:latin typeface="Cambria"/>
                <a:cs typeface="Cambria"/>
              </a:rPr>
              <a:t>rr</a:t>
            </a:r>
            <a:endParaRPr sz="1200" baseline="20833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930" y="1432165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19187" y="1436406"/>
            <a:ext cx="226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20076" y="1774925"/>
            <a:ext cx="2241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55" dirty="0">
                <a:latin typeface="Arial"/>
                <a:cs typeface="Arial"/>
              </a:rPr>
              <a:t>k</a:t>
            </a:r>
            <a:r>
              <a:rPr sz="800" spc="55" dirty="0">
                <a:latin typeface="Arial MT"/>
                <a:cs typeface="Arial MT"/>
              </a:rPr>
              <a:t>=1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0592" y="1568016"/>
            <a:ext cx="1198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48285" algn="l"/>
                <a:tab pos="723900" algn="l"/>
                <a:tab pos="960119" algn="l"/>
              </a:tabLst>
            </a:pP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900" i="1" spc="150" baseline="4629" dirty="0">
                <a:latin typeface="Arial"/>
                <a:cs typeface="Arial"/>
              </a:rPr>
              <a:t>′′</a:t>
            </a:r>
            <a:r>
              <a:rPr sz="900" i="1" spc="345" baseline="4629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50" dirty="0">
                <a:latin typeface="Arial"/>
                <a:cs typeface="Arial"/>
              </a:rPr>
              <a:t>w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900" i="1" spc="150" baseline="4629" dirty="0">
                <a:latin typeface="Arial"/>
                <a:cs typeface="Arial"/>
              </a:rPr>
              <a:t>′</a:t>
            </a:r>
            <a:r>
              <a:rPr sz="900" i="1" spc="225" baseline="46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900" i="1" spc="75" baseline="4629" dirty="0">
                <a:latin typeface="Arial"/>
                <a:cs typeface="Arial"/>
              </a:rPr>
              <a:t>′</a:t>
            </a:r>
            <a:endParaRPr sz="900" baseline="4629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69262" y="1696039"/>
            <a:ext cx="2622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9550" algn="l"/>
              </a:tabLst>
            </a:pP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499918" y="1696039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25271" y="1634666"/>
            <a:ext cx="17938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3900" algn="l"/>
                <a:tab pos="1007110" algn="l"/>
                <a:tab pos="1377315" algn="l"/>
              </a:tabLst>
            </a:pPr>
            <a:r>
              <a:rPr sz="1200" i="1" spc="-37" baseline="3472" dirty="0">
                <a:latin typeface="Arial"/>
                <a:cs typeface="Arial"/>
              </a:rPr>
              <a:t>z</a:t>
            </a:r>
            <a:r>
              <a:rPr sz="1200" i="1" spc="-37" baseline="3472" dirty="0">
                <a:latin typeface="Calibri"/>
                <a:cs typeface="Calibri"/>
              </a:rPr>
              <a:t>,</a:t>
            </a:r>
            <a:r>
              <a:rPr sz="1200" i="1" spc="-37" baseline="3472" dirty="0">
                <a:latin typeface="Arial"/>
                <a:cs typeface="Arial"/>
              </a:rPr>
              <a:t>z</a:t>
            </a:r>
            <a:r>
              <a:rPr sz="1200" i="1" baseline="3472" dirty="0">
                <a:latin typeface="Arial"/>
                <a:cs typeface="Arial"/>
              </a:rPr>
              <a:t>	</a:t>
            </a:r>
            <a:r>
              <a:rPr sz="800" i="1" spc="-25" dirty="0">
                <a:latin typeface="Arial"/>
                <a:cs typeface="Arial"/>
              </a:rPr>
              <a:t>z</a:t>
            </a:r>
            <a:r>
              <a:rPr sz="800" i="1" spc="-25" dirty="0">
                <a:latin typeface="Calibri"/>
                <a:cs typeface="Calibri"/>
              </a:rPr>
              <a:t>,</a:t>
            </a:r>
            <a:r>
              <a:rPr sz="800" i="1" spc="-25" dirty="0">
                <a:latin typeface="Arial"/>
                <a:cs typeface="Arial"/>
              </a:rPr>
              <a:t>z</a:t>
            </a:r>
            <a:r>
              <a:rPr sz="800" i="1" dirty="0">
                <a:latin typeface="Arial"/>
                <a:cs typeface="Arial"/>
              </a:rPr>
              <a:t>	z</a:t>
            </a:r>
            <a:r>
              <a:rPr sz="800" i="1" spc="150" dirty="0">
                <a:latin typeface="Arial"/>
                <a:cs typeface="Arial"/>
              </a:rPr>
              <a:t> </a:t>
            </a:r>
            <a:r>
              <a:rPr sz="800" i="1" spc="-25" dirty="0">
                <a:latin typeface="Calibri"/>
                <a:cs typeface="Calibri"/>
              </a:rPr>
              <a:t>,</a:t>
            </a:r>
            <a:r>
              <a:rPr sz="800" i="1" spc="-25" dirty="0">
                <a:latin typeface="Arial"/>
                <a:cs typeface="Arial"/>
              </a:rPr>
              <a:t>z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dirty="0">
                <a:latin typeface="Arial MT"/>
                <a:cs typeface="Arial MT"/>
              </a:rPr>
              <a:t>fanin(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800" i="1" spc="190" dirty="0">
                <a:latin typeface="Arial"/>
                <a:cs typeface="Arial"/>
              </a:rPr>
              <a:t> </a:t>
            </a:r>
            <a:r>
              <a:rPr sz="800" spc="15" dirty="0">
                <a:latin typeface="Arial MT"/>
                <a:cs typeface="Arial MT"/>
              </a:rPr>
              <a:t>)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004161" y="1568524"/>
            <a:ext cx="675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16890" algn="l"/>
              </a:tabLst>
            </a:pPr>
            <a:r>
              <a:rPr sz="600" i="1" spc="100" dirty="0">
                <a:latin typeface="Arial"/>
                <a:cs typeface="Arial"/>
              </a:rPr>
              <a:t>′′</a:t>
            </a:r>
            <a:r>
              <a:rPr sz="600" i="1" spc="-65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(</a:t>
            </a:r>
            <a:r>
              <a:rPr sz="1100" i="1" spc="-35" dirty="0">
                <a:latin typeface="Arial"/>
                <a:cs typeface="Arial"/>
              </a:rPr>
              <a:t>v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900" i="1" spc="150" baseline="4629" dirty="0">
                <a:latin typeface="Arial"/>
                <a:cs typeface="Arial"/>
              </a:rPr>
              <a:t>′</a:t>
            </a:r>
            <a:r>
              <a:rPr sz="900" i="1" spc="487" baseline="4629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72946" y="2059405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75930" y="1923540"/>
            <a:ext cx="1003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K</a:t>
            </a:r>
            <a:endParaRPr sz="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19187" y="1927782"/>
            <a:ext cx="5784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125" algn="l"/>
              </a:tabLst>
            </a:pPr>
            <a:r>
              <a:rPr sz="1100" spc="910" dirty="0">
                <a:latin typeface="Tahoma"/>
                <a:cs typeface="Tahoma"/>
              </a:rPr>
              <a:t>Σ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910" dirty="0">
                <a:latin typeface="Tahoma"/>
                <a:cs typeface="Tahoma"/>
              </a:rPr>
              <a:t>Σ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94676" y="2273616"/>
            <a:ext cx="7334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120" baseline="3472" dirty="0">
                <a:latin typeface="Arial"/>
                <a:cs typeface="Arial"/>
              </a:rPr>
              <a:t>k</a:t>
            </a:r>
            <a:r>
              <a:rPr sz="1200" spc="120" baseline="3472" dirty="0">
                <a:latin typeface="Arial MT"/>
                <a:cs typeface="Arial MT"/>
              </a:rPr>
              <a:t>=1</a:t>
            </a:r>
            <a:r>
              <a:rPr sz="1200" spc="15" baseline="3472" dirty="0">
                <a:latin typeface="Arial MT"/>
                <a:cs typeface="Arial MT"/>
              </a:rPr>
              <a:t> </a:t>
            </a:r>
            <a:r>
              <a:rPr sz="1200" i="1" baseline="3472" dirty="0">
                <a:latin typeface="Arial"/>
                <a:cs typeface="Arial"/>
              </a:rPr>
              <a:t>i</a:t>
            </a:r>
            <a:r>
              <a:rPr sz="1200" i="1" spc="-187" baseline="3472" dirty="0">
                <a:latin typeface="Arial"/>
                <a:cs typeface="Arial"/>
              </a:rPr>
              <a:t> </a:t>
            </a:r>
            <a:r>
              <a:rPr sz="1200" baseline="3472" dirty="0">
                <a:latin typeface="Cambria"/>
                <a:cs typeface="Cambria"/>
              </a:rPr>
              <a:t>∈</a:t>
            </a:r>
            <a:r>
              <a:rPr sz="1200" baseline="3472" dirty="0">
                <a:latin typeface="Arial MT"/>
                <a:cs typeface="Arial MT"/>
              </a:rPr>
              <a:t>dim</a:t>
            </a:r>
            <a:r>
              <a:rPr sz="1200" spc="-75" baseline="3472" dirty="0">
                <a:latin typeface="Arial MT"/>
                <a:cs typeface="Arial MT"/>
              </a:rPr>
              <a:t> </a:t>
            </a:r>
            <a:r>
              <a:rPr sz="1200" i="1" spc="67" baseline="3472" dirty="0">
                <a:latin typeface="Arial"/>
                <a:cs typeface="Arial"/>
              </a:rPr>
              <a:t>T</a:t>
            </a:r>
            <a:r>
              <a:rPr sz="900" i="1" spc="67" baseline="-18518" dirty="0">
                <a:latin typeface="Arial"/>
                <a:cs typeface="Arial"/>
              </a:rPr>
              <a:t>z</a:t>
            </a:r>
            <a:r>
              <a:rPr sz="600" i="1" spc="45" dirty="0">
                <a:latin typeface="Arial"/>
                <a:cs typeface="Arial"/>
              </a:rPr>
              <a:t>′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42795" y="2366396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863026" y="2088717"/>
            <a:ext cx="232473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1050"/>
              </a:lnSpc>
              <a:spcBef>
                <a:spcPts val="90"/>
              </a:spcBef>
            </a:pPr>
            <a:r>
              <a:rPr sz="1650" baseline="12626" dirty="0">
                <a:latin typeface="Tahoma"/>
                <a:cs typeface="Tahoma"/>
              </a:rPr>
              <a:t>(</a:t>
            </a:r>
            <a:r>
              <a:rPr sz="1650" i="1" baseline="12626" dirty="0">
                <a:latin typeface="Arial"/>
                <a:cs typeface="Arial"/>
              </a:rPr>
              <a:t>w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800" i="1" dirty="0">
                <a:latin typeface="Calibri"/>
                <a:cs typeface="Calibri"/>
              </a:rPr>
              <a:t>,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60" baseline="23148" dirty="0">
                <a:latin typeface="Arial"/>
                <a:cs typeface="Arial"/>
              </a:rPr>
              <a:t> </a:t>
            </a:r>
            <a:r>
              <a:rPr sz="1650" baseline="12626" dirty="0">
                <a:latin typeface="Tahoma"/>
                <a:cs typeface="Tahoma"/>
              </a:rPr>
              <a:t>)</a:t>
            </a:r>
            <a:r>
              <a:rPr sz="1200" i="1" baseline="3472" dirty="0">
                <a:latin typeface="Calibri"/>
                <a:cs typeface="Calibri"/>
              </a:rPr>
              <a:t>.,</a:t>
            </a:r>
            <a:r>
              <a:rPr sz="1200" i="1" baseline="3472" dirty="0">
                <a:latin typeface="Arial"/>
                <a:cs typeface="Arial"/>
              </a:rPr>
              <a:t>i</a:t>
            </a:r>
            <a:r>
              <a:rPr sz="1200" i="1" spc="240" baseline="3472" dirty="0">
                <a:latin typeface="Arial"/>
                <a:cs typeface="Arial"/>
              </a:rPr>
              <a:t> </a:t>
            </a:r>
            <a:r>
              <a:rPr sz="1650" i="1" baseline="12626" dirty="0">
                <a:latin typeface="Arial"/>
                <a:cs typeface="Arial"/>
              </a:rPr>
              <a:t>g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-30" baseline="23148" dirty="0">
                <a:latin typeface="Arial"/>
                <a:cs typeface="Arial"/>
              </a:rPr>
              <a:t> </a:t>
            </a:r>
            <a:r>
              <a:rPr sz="800" i="1" spc="65" dirty="0">
                <a:latin typeface="Calibri"/>
                <a:cs typeface="Calibri"/>
              </a:rPr>
              <a:t>,</a:t>
            </a:r>
            <a:r>
              <a:rPr sz="800" i="1" spc="65" dirty="0">
                <a:latin typeface="Arial"/>
                <a:cs typeface="Arial"/>
              </a:rPr>
              <a:t>z</a:t>
            </a:r>
            <a:r>
              <a:rPr sz="900" i="1" spc="97" baseline="23148" dirty="0">
                <a:latin typeface="Arial"/>
                <a:cs typeface="Arial"/>
              </a:rPr>
              <a:t>′′</a:t>
            </a:r>
            <a:r>
              <a:rPr sz="900" i="1" spc="-75" baseline="23148" dirty="0">
                <a:latin typeface="Arial"/>
                <a:cs typeface="Arial"/>
              </a:rPr>
              <a:t> </a:t>
            </a:r>
            <a:r>
              <a:rPr sz="1650" baseline="12626" dirty="0">
                <a:latin typeface="Tahoma"/>
                <a:cs typeface="Tahoma"/>
              </a:rPr>
              <a:t>(</a:t>
            </a:r>
            <a:r>
              <a:rPr sz="1650" i="1" baseline="12626" dirty="0">
                <a:latin typeface="Arial"/>
                <a:cs typeface="Arial"/>
              </a:rPr>
              <a:t>v</a:t>
            </a:r>
            <a:r>
              <a:rPr sz="800" dirty="0">
                <a:latin typeface="Arial MT"/>
                <a:cs typeface="Arial MT"/>
              </a:rPr>
              <a:t>fanin(</a:t>
            </a:r>
            <a:r>
              <a:rPr sz="800" i="1" dirty="0">
                <a:latin typeface="Arial"/>
                <a:cs typeface="Arial"/>
              </a:rPr>
              <a:t>z</a:t>
            </a:r>
            <a:r>
              <a:rPr sz="900" i="1" baseline="23148" dirty="0">
                <a:latin typeface="Arial"/>
                <a:cs typeface="Arial"/>
              </a:rPr>
              <a:t>′</a:t>
            </a:r>
            <a:r>
              <a:rPr sz="900" i="1" spc="-22" baseline="23148" dirty="0">
                <a:latin typeface="Arial"/>
                <a:cs typeface="Arial"/>
              </a:rPr>
              <a:t> </a:t>
            </a:r>
            <a:r>
              <a:rPr sz="800" spc="55" dirty="0">
                <a:latin typeface="Arial MT"/>
                <a:cs typeface="Arial MT"/>
              </a:rPr>
              <a:t>)</a:t>
            </a:r>
            <a:r>
              <a:rPr sz="1650" spc="82" baseline="12626" dirty="0">
                <a:latin typeface="Tahoma"/>
                <a:cs typeface="Tahoma"/>
              </a:rPr>
              <a:t>)</a:t>
            </a:r>
            <a:r>
              <a:rPr sz="1200" i="1" spc="82" baseline="3472" dirty="0">
                <a:latin typeface="Arial"/>
                <a:cs typeface="Arial"/>
              </a:rPr>
              <a:t>i</a:t>
            </a:r>
            <a:r>
              <a:rPr sz="1200" i="1" spc="82" baseline="3472" dirty="0">
                <a:latin typeface="Calibri"/>
                <a:cs typeface="Calibri"/>
              </a:rPr>
              <a:t>,.</a:t>
            </a:r>
            <a:r>
              <a:rPr sz="1200" i="1" spc="359" baseline="3472" dirty="0">
                <a:latin typeface="Calibri"/>
                <a:cs typeface="Calibri"/>
              </a:rPr>
              <a:t> </a:t>
            </a:r>
            <a:r>
              <a:rPr sz="1650" spc="-232" baseline="12626" dirty="0">
                <a:latin typeface="Lucida Sans Unicode"/>
                <a:cs typeface="Lucida Sans Unicode"/>
              </a:rPr>
              <a:t>∈</a:t>
            </a:r>
            <a:r>
              <a:rPr sz="1650" spc="44" baseline="12626" dirty="0">
                <a:latin typeface="Lucida Sans Unicode"/>
                <a:cs typeface="Lucida Sans Unicode"/>
              </a:rPr>
              <a:t> </a:t>
            </a:r>
            <a:r>
              <a:rPr sz="1650" i="1" baseline="12626" dirty="0">
                <a:latin typeface="Arial"/>
                <a:cs typeface="Arial"/>
              </a:rPr>
              <a:t>T</a:t>
            </a:r>
            <a:r>
              <a:rPr sz="1200" i="1" baseline="3472" dirty="0">
                <a:latin typeface="Arial"/>
                <a:cs typeface="Arial"/>
              </a:rPr>
              <a:t>z</a:t>
            </a:r>
            <a:r>
              <a:rPr sz="1200" i="1" spc="330" baseline="3472" dirty="0">
                <a:latin typeface="Arial"/>
                <a:cs typeface="Arial"/>
              </a:rPr>
              <a:t> </a:t>
            </a:r>
            <a:r>
              <a:rPr sz="1650" spc="-52" baseline="12626" dirty="0">
                <a:latin typeface="Lucida Sans Unicode"/>
                <a:cs typeface="Lucida Sans Unicode"/>
              </a:rPr>
              <a:t>×</a:t>
            </a:r>
            <a:r>
              <a:rPr sz="1650" spc="-67" baseline="12626" dirty="0">
                <a:latin typeface="Lucida Sans Unicode"/>
                <a:cs typeface="Lucida Sans Unicode"/>
              </a:rPr>
              <a:t> </a:t>
            </a:r>
            <a:r>
              <a:rPr sz="1650" i="1" spc="82" baseline="12626" dirty="0">
                <a:latin typeface="Arial"/>
                <a:cs typeface="Arial"/>
              </a:rPr>
              <a:t>T</a:t>
            </a:r>
            <a:r>
              <a:rPr sz="1200" i="1" spc="82" baseline="3472" dirty="0">
                <a:latin typeface="Arial"/>
                <a:cs typeface="Arial"/>
              </a:rPr>
              <a:t>z</a:t>
            </a:r>
            <a:r>
              <a:rPr sz="900" i="1" spc="82" baseline="23148" dirty="0">
                <a:latin typeface="Arial"/>
                <a:cs typeface="Arial"/>
              </a:rPr>
              <a:t>′′</a:t>
            </a:r>
            <a:endParaRPr sz="900" baseline="23148">
              <a:latin typeface="Arial"/>
              <a:cs typeface="Arial"/>
            </a:endParaRPr>
          </a:p>
          <a:p>
            <a:pPr marL="331470">
              <a:lnSpc>
                <a:spcPts val="450"/>
              </a:lnSpc>
              <a:tabLst>
                <a:tab pos="684530" algn="l"/>
                <a:tab pos="1317625" algn="l"/>
              </a:tabLst>
            </a:pP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54939" y="2565652"/>
            <a:ext cx="4142104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59385" marR="5080" indent="-147320">
              <a:lnSpc>
                <a:spcPct val="102699"/>
              </a:lnSpc>
              <a:spcBef>
                <a:spcPts val="55"/>
              </a:spcBef>
              <a:buSzPct val="72727"/>
              <a:buChar char="►"/>
              <a:tabLst>
                <a:tab pos="160655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way,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gradients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computational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graph 	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automatically.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02043" y="1606740"/>
            <a:ext cx="248043" cy="248043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3930929" y="1597056"/>
            <a:ext cx="18542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25" i="1" spc="-120" baseline="-20467" dirty="0">
                <a:latin typeface="Arial"/>
                <a:cs typeface="Arial"/>
              </a:rPr>
              <a:t>z</a:t>
            </a:r>
            <a:r>
              <a:rPr sz="1425" i="1" spc="-262" baseline="-20467" dirty="0">
                <a:latin typeface="Arial"/>
                <a:cs typeface="Arial"/>
              </a:rPr>
              <a:t> </a:t>
            </a:r>
            <a:r>
              <a:rPr sz="600" spc="-25" dirty="0">
                <a:latin typeface="Cambria"/>
                <a:cs typeface="Cambria"/>
              </a:rPr>
              <a:t>rr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464730" y="1169427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129324" y="0"/>
                </a:moveTo>
                <a:lnTo>
                  <a:pt x="78985" y="10162"/>
                </a:lnTo>
                <a:lnTo>
                  <a:pt x="37878" y="37878"/>
                </a:lnTo>
                <a:lnTo>
                  <a:pt x="10162" y="78985"/>
                </a:lnTo>
                <a:lnTo>
                  <a:pt x="0" y="129324"/>
                </a:lnTo>
                <a:lnTo>
                  <a:pt x="10162" y="179664"/>
                </a:lnTo>
                <a:lnTo>
                  <a:pt x="37878" y="220771"/>
                </a:lnTo>
                <a:lnTo>
                  <a:pt x="78985" y="248487"/>
                </a:lnTo>
                <a:lnTo>
                  <a:pt x="129324" y="258649"/>
                </a:lnTo>
                <a:lnTo>
                  <a:pt x="179664" y="248487"/>
                </a:lnTo>
                <a:lnTo>
                  <a:pt x="220771" y="220771"/>
                </a:lnTo>
                <a:lnTo>
                  <a:pt x="248487" y="179664"/>
                </a:lnTo>
                <a:lnTo>
                  <a:pt x="258650" y="129324"/>
                </a:lnTo>
                <a:lnTo>
                  <a:pt x="248487" y="78985"/>
                </a:lnTo>
                <a:lnTo>
                  <a:pt x="220771" y="37878"/>
                </a:lnTo>
                <a:lnTo>
                  <a:pt x="179664" y="10162"/>
                </a:lnTo>
                <a:lnTo>
                  <a:pt x="12932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3583119" y="1264626"/>
            <a:ext cx="68580" cy="1231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latin typeface="Arial MT"/>
                <a:cs typeface="Arial MT"/>
              </a:rPr>
              <a:t>1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788737" y="1169427"/>
            <a:ext cx="259079" cy="259079"/>
          </a:xfrm>
          <a:custGeom>
            <a:avLst/>
            <a:gdLst/>
            <a:ahLst/>
            <a:cxnLst/>
            <a:rect l="l" t="t" r="r" b="b"/>
            <a:pathLst>
              <a:path w="259079" h="259080">
                <a:moveTo>
                  <a:pt x="129325" y="0"/>
                </a:moveTo>
                <a:lnTo>
                  <a:pt x="78985" y="10162"/>
                </a:lnTo>
                <a:lnTo>
                  <a:pt x="37878" y="37878"/>
                </a:lnTo>
                <a:lnTo>
                  <a:pt x="10162" y="78985"/>
                </a:lnTo>
                <a:lnTo>
                  <a:pt x="0" y="129324"/>
                </a:lnTo>
                <a:lnTo>
                  <a:pt x="10162" y="179664"/>
                </a:lnTo>
                <a:lnTo>
                  <a:pt x="37878" y="220771"/>
                </a:lnTo>
                <a:lnTo>
                  <a:pt x="78985" y="248487"/>
                </a:lnTo>
                <a:lnTo>
                  <a:pt x="129325" y="258649"/>
                </a:lnTo>
                <a:lnTo>
                  <a:pt x="179664" y="248487"/>
                </a:lnTo>
                <a:lnTo>
                  <a:pt x="220771" y="220771"/>
                </a:lnTo>
                <a:lnTo>
                  <a:pt x="248487" y="179664"/>
                </a:lnTo>
                <a:lnTo>
                  <a:pt x="258649" y="129324"/>
                </a:lnTo>
                <a:lnTo>
                  <a:pt x="248487" y="78985"/>
                </a:lnTo>
                <a:lnTo>
                  <a:pt x="220771" y="37878"/>
                </a:lnTo>
                <a:lnTo>
                  <a:pt x="179664" y="10162"/>
                </a:lnTo>
                <a:lnTo>
                  <a:pt x="129325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493427" y="1150031"/>
            <a:ext cx="511809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374650" algn="l"/>
              </a:tabLst>
            </a:pPr>
            <a:r>
              <a:rPr sz="1425" i="1" spc="-120" baseline="-20467" dirty="0">
                <a:latin typeface="Arial"/>
                <a:cs typeface="Arial"/>
              </a:rPr>
              <a:t>z</a:t>
            </a:r>
            <a:r>
              <a:rPr sz="1425" i="1" spc="-262" baseline="-20467" dirty="0">
                <a:latin typeface="Arial"/>
                <a:cs typeface="Arial"/>
              </a:rPr>
              <a:t> </a:t>
            </a:r>
            <a:r>
              <a:rPr sz="600" spc="-50" dirty="0">
                <a:latin typeface="Cambria"/>
                <a:cs typeface="Cambria"/>
              </a:rPr>
              <a:t>r</a:t>
            </a:r>
            <a:r>
              <a:rPr sz="600" dirty="0">
                <a:latin typeface="Cambria"/>
                <a:cs typeface="Cambria"/>
              </a:rPr>
              <a:t>	</a:t>
            </a:r>
            <a:r>
              <a:rPr sz="1425" i="1" spc="-120" baseline="-20467" dirty="0">
                <a:latin typeface="Arial"/>
                <a:cs typeface="Arial"/>
              </a:rPr>
              <a:t>z</a:t>
            </a:r>
            <a:r>
              <a:rPr sz="1425" i="1" spc="-262" baseline="-20467" dirty="0">
                <a:latin typeface="Arial"/>
                <a:cs typeface="Arial"/>
              </a:rPr>
              <a:t> </a:t>
            </a:r>
            <a:r>
              <a:rPr sz="600" spc="-50" dirty="0">
                <a:latin typeface="Cambria"/>
                <a:cs typeface="Cambria"/>
              </a:rPr>
              <a:t>r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07121" y="1264626"/>
            <a:ext cx="68580" cy="1231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spc="-50" dirty="0">
                <a:latin typeface="Arial MT"/>
                <a:cs typeface="Arial MT"/>
              </a:rPr>
              <a:t>2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05567" y="1170493"/>
            <a:ext cx="16510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i="1" spc="-10" dirty="0">
                <a:latin typeface="Arial"/>
                <a:cs typeface="Arial"/>
              </a:rPr>
              <a:t>.</a:t>
            </a:r>
            <a:r>
              <a:rPr sz="950" i="1" spc="-105" dirty="0">
                <a:latin typeface="Arial"/>
                <a:cs typeface="Arial"/>
              </a:rPr>
              <a:t> </a:t>
            </a:r>
            <a:r>
              <a:rPr sz="950" i="1" spc="-10" dirty="0">
                <a:latin typeface="Arial"/>
                <a:cs typeface="Arial"/>
              </a:rPr>
              <a:t>.</a:t>
            </a:r>
            <a:r>
              <a:rPr sz="950" i="1" spc="-100" dirty="0">
                <a:latin typeface="Arial"/>
                <a:cs typeface="Arial"/>
              </a:rPr>
              <a:t> </a:t>
            </a:r>
            <a:r>
              <a:rPr sz="950" i="1" spc="-50" dirty="0">
                <a:latin typeface="Arial"/>
                <a:cs typeface="Arial"/>
              </a:rPr>
              <a:t>.</a:t>
            </a:r>
            <a:endParaRPr sz="95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319047" y="1159726"/>
            <a:ext cx="278130" cy="278130"/>
          </a:xfrm>
          <a:custGeom>
            <a:avLst/>
            <a:gdLst/>
            <a:ahLst/>
            <a:cxnLst/>
            <a:rect l="l" t="t" r="r" b="b"/>
            <a:pathLst>
              <a:path w="278129" h="278130">
                <a:moveTo>
                  <a:pt x="139027" y="0"/>
                </a:moveTo>
                <a:lnTo>
                  <a:pt x="95083" y="7087"/>
                </a:lnTo>
                <a:lnTo>
                  <a:pt x="56919" y="26823"/>
                </a:lnTo>
                <a:lnTo>
                  <a:pt x="26823" y="56918"/>
                </a:lnTo>
                <a:lnTo>
                  <a:pt x="7087" y="95083"/>
                </a:lnTo>
                <a:lnTo>
                  <a:pt x="0" y="139026"/>
                </a:lnTo>
                <a:lnTo>
                  <a:pt x="7087" y="182970"/>
                </a:lnTo>
                <a:lnTo>
                  <a:pt x="26823" y="221134"/>
                </a:lnTo>
                <a:lnTo>
                  <a:pt x="56919" y="251229"/>
                </a:lnTo>
                <a:lnTo>
                  <a:pt x="95083" y="270966"/>
                </a:lnTo>
                <a:lnTo>
                  <a:pt x="139027" y="278053"/>
                </a:lnTo>
                <a:lnTo>
                  <a:pt x="182970" y="270966"/>
                </a:lnTo>
                <a:lnTo>
                  <a:pt x="221135" y="251229"/>
                </a:lnTo>
                <a:lnTo>
                  <a:pt x="251230" y="221134"/>
                </a:lnTo>
                <a:lnTo>
                  <a:pt x="270966" y="182970"/>
                </a:lnTo>
                <a:lnTo>
                  <a:pt x="278054" y="139026"/>
                </a:lnTo>
                <a:lnTo>
                  <a:pt x="270966" y="95083"/>
                </a:lnTo>
                <a:lnTo>
                  <a:pt x="251230" y="56918"/>
                </a:lnTo>
                <a:lnTo>
                  <a:pt x="221135" y="26823"/>
                </a:lnTo>
                <a:lnTo>
                  <a:pt x="182970" y="7087"/>
                </a:lnTo>
                <a:lnTo>
                  <a:pt x="139027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356989" y="1149254"/>
            <a:ext cx="161925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1425" i="1" spc="-120" baseline="-20467" dirty="0">
                <a:latin typeface="Arial"/>
                <a:cs typeface="Arial"/>
              </a:rPr>
              <a:t>z</a:t>
            </a:r>
            <a:r>
              <a:rPr sz="1425" i="1" spc="-262" baseline="-20467" dirty="0">
                <a:latin typeface="Arial"/>
                <a:cs typeface="Arial"/>
              </a:rPr>
              <a:t> </a:t>
            </a:r>
            <a:r>
              <a:rPr sz="600" spc="-50" dirty="0">
                <a:latin typeface="Cambria"/>
                <a:cs typeface="Cambria"/>
              </a:rPr>
              <a:t>r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433981" y="1265404"/>
            <a:ext cx="85090" cy="12318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600" i="1" spc="15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33309" y="773987"/>
            <a:ext cx="185511" cy="185511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3982186" y="759585"/>
            <a:ext cx="77470" cy="171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950" i="1" spc="-50" dirty="0">
                <a:latin typeface="Arial"/>
                <a:cs typeface="Arial"/>
              </a:rPr>
              <a:t>z</a:t>
            </a:r>
            <a:endParaRPr sz="950">
              <a:latin typeface="Arial"/>
              <a:cs typeface="Aria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684383" y="932585"/>
            <a:ext cx="676910" cy="711835"/>
            <a:chOff x="3684383" y="932585"/>
            <a:chExt cx="676910" cy="711835"/>
          </a:xfrm>
        </p:grpSpPr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685886" y="1390614"/>
              <a:ext cx="312067" cy="25312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12667" y="1397500"/>
              <a:ext cx="246687" cy="246683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3686913" y="938189"/>
              <a:ext cx="267970" cy="267970"/>
            </a:xfrm>
            <a:custGeom>
              <a:avLst/>
              <a:gdLst/>
              <a:ahLst/>
              <a:cxnLst/>
              <a:rect l="l" t="t" r="r" b="b"/>
              <a:pathLst>
                <a:path w="267970" h="267969">
                  <a:moveTo>
                    <a:pt x="0" y="267680"/>
                  </a:moveTo>
                  <a:lnTo>
                    <a:pt x="267677" y="0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27515" y="932585"/>
              <a:ext cx="92130" cy="24126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097539" y="938189"/>
              <a:ext cx="260985" cy="260985"/>
            </a:xfrm>
            <a:custGeom>
              <a:avLst/>
              <a:gdLst/>
              <a:ahLst/>
              <a:cxnLst/>
              <a:rect l="l" t="t" r="r" b="b"/>
              <a:pathLst>
                <a:path w="260985" h="260984">
                  <a:moveTo>
                    <a:pt x="260818" y="26081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4093961" y="934610"/>
              <a:ext cx="29209" cy="29209"/>
            </a:xfrm>
            <a:custGeom>
              <a:avLst/>
              <a:gdLst/>
              <a:ahLst/>
              <a:cxnLst/>
              <a:rect l="l" t="t" r="r" b="b"/>
              <a:pathLst>
                <a:path w="29210" h="29209">
                  <a:moveTo>
                    <a:pt x="0" y="28630"/>
                  </a:moveTo>
                  <a:lnTo>
                    <a:pt x="2278" y="22158"/>
                  </a:lnTo>
                  <a:lnTo>
                    <a:pt x="2795" y="13756"/>
                  </a:lnTo>
                  <a:lnTo>
                    <a:pt x="2138" y="5858"/>
                  </a:lnTo>
                  <a:lnTo>
                    <a:pt x="894" y="895"/>
                  </a:lnTo>
                  <a:lnTo>
                    <a:pt x="5856" y="2139"/>
                  </a:lnTo>
                  <a:lnTo>
                    <a:pt x="13754" y="2796"/>
                  </a:lnTo>
                  <a:lnTo>
                    <a:pt x="22156" y="2278"/>
                  </a:lnTo>
                  <a:lnTo>
                    <a:pt x="28628" y="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65">
              <a:lnSpc>
                <a:spcPts val="675"/>
              </a:lnSpc>
            </a:pPr>
            <a:r>
              <a:rPr dirty="0"/>
              <a:t>28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5300" y="182179"/>
            <a:ext cx="2518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</a:t>
            </a:r>
            <a:r>
              <a:rPr spc="-10" dirty="0"/>
              <a:t> </a:t>
            </a:r>
            <a:r>
              <a:rPr spc="-25" dirty="0"/>
              <a:t>Computation</a:t>
            </a:r>
            <a:r>
              <a:rPr spc="-10" dirty="0"/>
              <a:t> </a:t>
            </a:r>
            <a:r>
              <a:rPr spc="160" dirty="0"/>
              <a:t>/</a:t>
            </a:r>
            <a:r>
              <a:rPr spc="-5" dirty="0"/>
              <a:t> </a:t>
            </a:r>
            <a:r>
              <a:rPr spc="-25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589" y="2339310"/>
            <a:ext cx="224035" cy="2240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936" y="2320541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5617" y="2325332"/>
            <a:ext cx="251991" cy="2519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0186" y="2320541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w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65757" y="2325465"/>
            <a:ext cx="251726" cy="2517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38427" y="2339515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5856" y="1775567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4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4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6361" y="1769145"/>
            <a:ext cx="2508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1</a:t>
            </a:r>
            <a:endParaRPr sz="1200" baseline="-13888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15"/>
              </a:spcBef>
            </a:pPr>
            <a:r>
              <a:rPr sz="1000" spc="-25" dirty="0">
                <a:latin typeface="Tahoma"/>
                <a:cs typeface="Tahoma"/>
              </a:rPr>
              <a:t>dot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5859" y="1235561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1217" y="1136138"/>
            <a:ext cx="194945" cy="53022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sz="1000" spc="-50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5859" y="695554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8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8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51217" y="689150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3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1400" y="962906"/>
            <a:ext cx="22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relu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0510" y="969548"/>
            <a:ext cx="976630" cy="1381760"/>
            <a:chOff x="460510" y="969548"/>
            <a:chExt cx="976630" cy="1381760"/>
          </a:xfrm>
        </p:grpSpPr>
        <p:sp>
          <p:nvSpPr>
            <p:cNvPr id="19" name="object 19"/>
            <p:cNvSpPr/>
            <p:nvPr/>
          </p:nvSpPr>
          <p:spPr>
            <a:xfrm>
              <a:off x="463041" y="2040200"/>
              <a:ext cx="154305" cy="308610"/>
            </a:xfrm>
            <a:custGeom>
              <a:avLst/>
              <a:gdLst/>
              <a:ahLst/>
              <a:cxnLst/>
              <a:rect l="l" t="t" r="r" b="b"/>
              <a:pathLst>
                <a:path w="154304" h="308610">
                  <a:moveTo>
                    <a:pt x="0" y="308261"/>
                  </a:moveTo>
                  <a:lnTo>
                    <a:pt x="15413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2275" y="2036805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3" y="0"/>
                  </a:lnTo>
                  <a:lnTo>
                    <a:pt x="26982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6068" y="2040200"/>
              <a:ext cx="147955" cy="295910"/>
            </a:xfrm>
            <a:custGeom>
              <a:avLst/>
              <a:gdLst/>
              <a:ahLst/>
              <a:cxnLst/>
              <a:rect l="l" t="t" r="r" b="b"/>
              <a:pathLst>
                <a:path w="147955" h="295910">
                  <a:moveTo>
                    <a:pt x="147856" y="29570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4752" y="2036805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3467" y="1500197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>
                  <a:moveTo>
                    <a:pt x="0" y="287419"/>
                  </a:moveTo>
                  <a:lnTo>
                    <a:pt x="14370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2178" y="1496789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7952"/>
                  </a:moveTo>
                  <a:lnTo>
                    <a:pt x="6888" y="8068"/>
                  </a:lnTo>
                  <a:lnTo>
                    <a:pt x="15054" y="5893"/>
                  </a:lnTo>
                  <a:lnTo>
                    <a:pt x="22369" y="2760"/>
                  </a:lnTo>
                  <a:lnTo>
                    <a:pt x="26700" y="0"/>
                  </a:lnTo>
                  <a:lnTo>
                    <a:pt x="27091" y="5121"/>
                  </a:lnTo>
                  <a:lnTo>
                    <a:pt x="28973" y="12853"/>
                  </a:lnTo>
                  <a:lnTo>
                    <a:pt x="32132" y="20691"/>
                  </a:lnTo>
                  <a:lnTo>
                    <a:pt x="36358" y="26132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6082" y="1500176"/>
              <a:ext cx="418465" cy="836294"/>
            </a:xfrm>
            <a:custGeom>
              <a:avLst/>
              <a:gdLst/>
              <a:ahLst/>
              <a:cxnLst/>
              <a:rect l="l" t="t" r="r" b="b"/>
              <a:pathLst>
                <a:path w="418465" h="836294">
                  <a:moveTo>
                    <a:pt x="417921" y="83585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4766" y="1496782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4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1631" y="975368"/>
              <a:ext cx="0" cy="257810"/>
            </a:xfrm>
            <a:custGeom>
              <a:avLst/>
              <a:gdLst/>
              <a:ahLst/>
              <a:cxnLst/>
              <a:rect l="l" t="t" r="r" b="b"/>
              <a:pathLst>
                <a:path h="257809">
                  <a:moveTo>
                    <a:pt x="2" y="25762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1387" y="97157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6976" y="2830327"/>
            <a:ext cx="1123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95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relu(</a:t>
            </a:r>
            <a:r>
              <a:rPr sz="1000" i="1" spc="-4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i="1" spc="112" baseline="31746" dirty="0">
                <a:latin typeface="Arial"/>
                <a:cs typeface="Arial"/>
              </a:rPr>
              <a:t>T</a:t>
            </a:r>
            <a:r>
              <a:rPr sz="1050" i="1" spc="-82" baseline="31746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b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0760" y="401009"/>
            <a:ext cx="2237105" cy="3663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72720" indent="-147320">
              <a:lnSpc>
                <a:spcPct val="100000"/>
              </a:lnSpc>
              <a:spcBef>
                <a:spcPts val="240"/>
              </a:spcBef>
              <a:buSzPct val="80000"/>
              <a:buChar char="►"/>
              <a:tabLst>
                <a:tab pos="172720" algn="l"/>
              </a:tabLst>
            </a:pPr>
            <a:r>
              <a:rPr sz="1000" spc="-30" dirty="0">
                <a:latin typeface="Tahoma"/>
                <a:cs typeface="Tahoma"/>
              </a:rPr>
              <a:t>gradient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neighbors:</a:t>
            </a:r>
            <a:endParaRPr sz="1000">
              <a:latin typeface="Tahoma"/>
              <a:cs typeface="Tahoma"/>
            </a:endParaRPr>
          </a:p>
          <a:p>
            <a:pPr marL="456565">
              <a:lnSpc>
                <a:spcPct val="100000"/>
              </a:lnSpc>
              <a:spcBef>
                <a:spcPts val="140"/>
              </a:spcBef>
            </a:pPr>
            <a:r>
              <a:rPr sz="1000" spc="-40" dirty="0">
                <a:latin typeface="Lucida Sans Unicode"/>
                <a:cs typeface="Lucida Sans Unicode"/>
              </a:rPr>
              <a:t>∇</a:t>
            </a:r>
            <a:r>
              <a:rPr sz="1050" i="1" spc="-60" baseline="-11904" dirty="0">
                <a:latin typeface="Arial"/>
                <a:cs typeface="Arial"/>
              </a:rPr>
              <a:t>z</a:t>
            </a:r>
            <a:r>
              <a:rPr sz="750" spc="-60" baseline="-27777" dirty="0">
                <a:latin typeface="Arial MT"/>
                <a:cs typeface="Arial MT"/>
              </a:rPr>
              <a:t>2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50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∇</a:t>
            </a:r>
            <a:r>
              <a:rPr sz="1050" i="1" spc="-60" baseline="-11904" dirty="0">
                <a:latin typeface="Arial"/>
                <a:cs typeface="Arial"/>
              </a:rPr>
              <a:t>z</a:t>
            </a:r>
            <a:r>
              <a:rPr sz="750" spc="-60" baseline="-27777" dirty="0">
                <a:latin typeface="Arial MT"/>
                <a:cs typeface="Arial MT"/>
              </a:rPr>
              <a:t>1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8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35" dirty="0">
                <a:latin typeface="Lucida Sans Unicode"/>
                <a:cs typeface="Lucida Sans Unicode"/>
              </a:rPr>
              <a:t>∇</a:t>
            </a:r>
            <a:r>
              <a:rPr sz="1050" i="1" spc="-52" baseline="-11904" dirty="0">
                <a:latin typeface="Arial"/>
                <a:cs typeface="Arial"/>
              </a:rPr>
              <a:t>b</a:t>
            </a:r>
            <a:r>
              <a:rPr sz="750" spc="-52" baseline="-27777" dirty="0">
                <a:latin typeface="Arial MT"/>
                <a:cs typeface="Arial MT"/>
              </a:rPr>
              <a:t>1</a:t>
            </a:r>
            <a:r>
              <a:rPr sz="750" spc="-60" baseline="-27777" dirty="0">
                <a:latin typeface="Arial MT"/>
                <a:cs typeface="Arial MT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87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5958" y="869497"/>
            <a:ext cx="4813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Lucida Sans Unicode"/>
                <a:cs typeface="Lucida Sans Unicode"/>
              </a:rPr>
              <a:t>∇</a:t>
            </a:r>
            <a:r>
              <a:rPr sz="1050" i="1" spc="-67" baseline="-11904" dirty="0">
                <a:latin typeface="Arial"/>
                <a:cs typeface="Arial"/>
              </a:rPr>
              <a:t>x</a:t>
            </a:r>
            <a:r>
              <a:rPr sz="1050" i="1" spc="-127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89" baseline="-11904" dirty="0">
                <a:latin typeface="Arial MT"/>
                <a:cs typeface="Arial MT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224009" y="79232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425304" y="869497"/>
            <a:ext cx="560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35" dirty="0">
                <a:latin typeface="Lucida Sans Unicode"/>
                <a:cs typeface="Lucida Sans Unicode"/>
              </a:rPr>
              <a:t>∇</a:t>
            </a:r>
            <a:r>
              <a:rPr sz="1050" i="1" spc="-52" baseline="-11904" dirty="0">
                <a:latin typeface="Arial"/>
                <a:cs typeface="Arial"/>
              </a:rPr>
              <a:t>w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1</a:t>
            </a:r>
            <a:r>
              <a:rPr sz="1050" spc="82" baseline="-11904" dirty="0">
                <a:latin typeface="Arial MT"/>
                <a:cs typeface="Arial MT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62869" y="79232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74809" y="944148"/>
            <a:ext cx="9772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00430" algn="l"/>
              </a:tabLst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081667" y="691088"/>
            <a:ext cx="116332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  <a:tab pos="900430" algn="l"/>
              </a:tabLst>
            </a:pPr>
            <a:r>
              <a:rPr sz="1000" dirty="0">
                <a:latin typeface="Tahoma"/>
                <a:cs typeface="Tahoma"/>
              </a:rPr>
              <a:t>	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008060" y="1236173"/>
            <a:ext cx="2174240" cy="36639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240"/>
              </a:spcBef>
              <a:buSzPct val="80000"/>
              <a:buChar char="►"/>
              <a:tabLst>
                <a:tab pos="185420" algn="l"/>
              </a:tabLst>
            </a:pPr>
            <a:r>
              <a:rPr sz="1000" spc="-30" dirty="0">
                <a:latin typeface="Tahoma"/>
                <a:cs typeface="Tahoma"/>
              </a:rPr>
              <a:t>gradient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node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pairs:</a:t>
            </a:r>
            <a:endParaRPr sz="1000">
              <a:latin typeface="Tahoma"/>
              <a:cs typeface="Tahoma"/>
            </a:endParaRPr>
          </a:p>
          <a:p>
            <a:pPr marL="1007744">
              <a:lnSpc>
                <a:spcPct val="100000"/>
              </a:lnSpc>
              <a:spcBef>
                <a:spcPts val="140"/>
              </a:spcBef>
            </a:pPr>
            <a:r>
              <a:rPr sz="1000" spc="-40" dirty="0">
                <a:latin typeface="Lucida Sans Unicode"/>
                <a:cs typeface="Lucida Sans Unicode"/>
              </a:rPr>
              <a:t>∇</a:t>
            </a:r>
            <a:r>
              <a:rPr sz="1050" i="1" spc="-60" baseline="-11904" dirty="0">
                <a:latin typeface="Arial"/>
                <a:cs typeface="Arial"/>
              </a:rPr>
              <a:t>z</a:t>
            </a:r>
            <a:r>
              <a:rPr sz="750" spc="-60" baseline="-27777" dirty="0">
                <a:latin typeface="Arial MT"/>
                <a:cs typeface="Arial MT"/>
              </a:rPr>
              <a:t>1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50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50" i="1" baseline="-11904" dirty="0">
                <a:latin typeface="Arial"/>
                <a:cs typeface="Arial"/>
              </a:rPr>
              <a:t>b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72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81453" y="1804637"/>
            <a:ext cx="1454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A.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86696" y="196152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86696" y="2113361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993555" y="1860301"/>
            <a:ext cx="27495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58681" y="2095642"/>
            <a:ext cx="85725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79780" algn="l"/>
              </a:tabLst>
            </a:pPr>
            <a:r>
              <a:rPr sz="700" i="1" dirty="0">
                <a:latin typeface="Arial"/>
                <a:cs typeface="Arial"/>
              </a:rPr>
              <a:t>x</a:t>
            </a:r>
            <a:r>
              <a:rPr sz="700" i="1" spc="345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3</a:t>
            </a:r>
            <a:r>
              <a:rPr sz="700" dirty="0">
                <a:latin typeface="Arial MT"/>
                <a:cs typeface="Arial MT"/>
              </a:rPr>
              <a:t>	</a:t>
            </a:r>
            <a:r>
              <a:rPr sz="700" i="1" spc="-50" dirty="0">
                <a:latin typeface="Arial"/>
                <a:cs typeface="Arial"/>
              </a:rPr>
              <a:t>w</a:t>
            </a:r>
            <a:endParaRPr sz="7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561130" y="2095642"/>
            <a:ext cx="7302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553246" y="2038710"/>
            <a:ext cx="12204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23265" algn="l"/>
              </a:tabLst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30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r>
              <a:rPr sz="1000" dirty="0">
                <a:latin typeface="Tahoma"/>
                <a:cs typeface="Tahoma"/>
              </a:rPr>
              <a:t>	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229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925544" y="196152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876344" y="2113361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783203" y="1860301"/>
            <a:ext cx="37338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</a:tabLst>
            </a:pPr>
            <a:r>
              <a:rPr sz="1000" dirty="0">
                <a:latin typeface="Tahoma"/>
                <a:cs typeface="Tahoma"/>
              </a:rPr>
              <a:t>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181453" y="2297384"/>
            <a:ext cx="1454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B.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658681" y="2588389"/>
            <a:ext cx="1854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x</a:t>
            </a:r>
            <a:r>
              <a:rPr sz="700" i="1" spc="345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53246" y="2531458"/>
            <a:ext cx="43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30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135896" y="245428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86696" y="2606108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37191" y="2531458"/>
            <a:ext cx="5600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spc="-35" dirty="0">
                <a:latin typeface="Lucida Sans Unicode"/>
                <a:cs typeface="Lucida Sans Unicode"/>
              </a:rPr>
              <a:t>∇</a:t>
            </a:r>
            <a:r>
              <a:rPr sz="1050" i="1" spc="-52" baseline="-11904" dirty="0">
                <a:latin typeface="Arial"/>
                <a:cs typeface="Arial"/>
              </a:rPr>
              <a:t>w</a:t>
            </a:r>
            <a:r>
              <a:rPr sz="1050" i="1" spc="-104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82" baseline="-11904" dirty="0">
                <a:latin typeface="Arial MT"/>
                <a:cs typeface="Arial MT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74756" y="245428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74756" y="2606108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81615" y="2353048"/>
            <a:ext cx="27495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993555" y="2353048"/>
            <a:ext cx="373380" cy="53213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</a:tabLst>
            </a:pPr>
            <a:r>
              <a:rPr sz="1000" dirty="0">
                <a:latin typeface="Tahoma"/>
                <a:cs typeface="Tahoma"/>
              </a:rPr>
              <a:t>	 </a:t>
            </a:r>
            <a:endParaRPr sz="10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10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58681" y="2942668"/>
            <a:ext cx="1854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x</a:t>
            </a:r>
            <a:r>
              <a:rPr sz="700" i="1" spc="345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553246" y="2885724"/>
            <a:ext cx="43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30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135896" y="280854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086696" y="2960375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248367" y="2707327"/>
            <a:ext cx="118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524262" y="2942668"/>
            <a:ext cx="20827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w</a:t>
            </a:r>
            <a:r>
              <a:rPr sz="700" i="1" spc="380" dirty="0">
                <a:latin typeface="Arial"/>
                <a:cs typeface="Arial"/>
              </a:rPr>
              <a:t> 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362591" y="2885724"/>
            <a:ext cx="5092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229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974756" y="280854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974756" y="296037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3881615" y="2707327"/>
            <a:ext cx="27495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0" y="3236709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109651"/>
                </a:moveTo>
                <a:lnTo>
                  <a:pt x="4607992" y="0"/>
                </a:lnTo>
                <a:lnTo>
                  <a:pt x="0" y="0"/>
                </a:lnTo>
                <a:lnTo>
                  <a:pt x="0" y="109651"/>
                </a:lnTo>
                <a:lnTo>
                  <a:pt x="0" y="219290"/>
                </a:lnTo>
                <a:lnTo>
                  <a:pt x="4147159" y="219290"/>
                </a:lnTo>
                <a:lnTo>
                  <a:pt x="4147159" y="109651"/>
                </a:lnTo>
                <a:lnTo>
                  <a:pt x="4174058" y="109651"/>
                </a:lnTo>
                <a:lnTo>
                  <a:pt x="4174058" y="219290"/>
                </a:lnTo>
                <a:lnTo>
                  <a:pt x="4608004" y="219290"/>
                </a:lnTo>
                <a:lnTo>
                  <a:pt x="4608004" y="10965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29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</a:t>
            </a:r>
            <a:r>
              <a:rPr spc="-10" dirty="0"/>
              <a:t> </a:t>
            </a:r>
            <a:r>
              <a:rPr spc="-25" dirty="0"/>
              <a:t>Computation</a:t>
            </a:r>
            <a:r>
              <a:rPr spc="-10" dirty="0"/>
              <a:t> </a:t>
            </a:r>
            <a:r>
              <a:rPr spc="160" dirty="0"/>
              <a:t>/</a:t>
            </a:r>
            <a:r>
              <a:rPr spc="-5" dirty="0"/>
              <a:t> </a:t>
            </a:r>
            <a:r>
              <a:rPr spc="-25" dirty="0"/>
              <a:t>Example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9589" y="2313301"/>
            <a:ext cx="224035" cy="22403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57936" y="2294532"/>
            <a:ext cx="933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x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5617" y="2299323"/>
            <a:ext cx="251991" cy="25199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80186" y="2294532"/>
            <a:ext cx="1263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w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65757" y="2299456"/>
            <a:ext cx="251726" cy="25172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38427" y="2313505"/>
            <a:ext cx="102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i="1" spc="-50" dirty="0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45856" y="1749558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4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4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6361" y="1743136"/>
            <a:ext cx="25082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1</a:t>
            </a:r>
            <a:endParaRPr sz="1200" baseline="-13888">
              <a:latin typeface="Arial MT"/>
              <a:cs typeface="Arial MT"/>
            </a:endParaRPr>
          </a:p>
          <a:p>
            <a:pPr marL="38100">
              <a:lnSpc>
                <a:spcPct val="100000"/>
              </a:lnSpc>
              <a:spcBef>
                <a:spcPts val="715"/>
              </a:spcBef>
            </a:pPr>
            <a:r>
              <a:rPr sz="1000" spc="-25" dirty="0">
                <a:latin typeface="Tahoma"/>
                <a:cs typeface="Tahoma"/>
              </a:rPr>
              <a:t>dot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15859" y="1209551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9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9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51217" y="1110128"/>
            <a:ext cx="194945" cy="530225"/>
          </a:xfrm>
          <a:prstGeom prst="rect">
            <a:avLst/>
          </a:prstGeom>
        </p:spPr>
        <p:txBody>
          <a:bodyPr vert="horz" wrap="square" lIns="0" tIns="1047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2</a:t>
            </a:r>
            <a:endParaRPr sz="1200" baseline="-13888">
              <a:latin typeface="Arial MT"/>
              <a:cs typeface="Arial MT"/>
            </a:endParaRPr>
          </a:p>
          <a:p>
            <a:pPr marL="50800">
              <a:lnSpc>
                <a:spcPct val="100000"/>
              </a:lnSpc>
              <a:spcBef>
                <a:spcPts val="605"/>
              </a:spcBef>
            </a:pPr>
            <a:r>
              <a:rPr sz="1000" spc="-50" dirty="0">
                <a:latin typeface="Tahoma"/>
                <a:cs typeface="Tahoma"/>
              </a:rPr>
              <a:t>+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15859" y="669545"/>
            <a:ext cx="271780" cy="271780"/>
          </a:xfrm>
          <a:custGeom>
            <a:avLst/>
            <a:gdLst/>
            <a:ahLst/>
            <a:cxnLst/>
            <a:rect l="l" t="t" r="r" b="b"/>
            <a:pathLst>
              <a:path w="271780" h="271780">
                <a:moveTo>
                  <a:pt x="135754" y="0"/>
                </a:moveTo>
                <a:lnTo>
                  <a:pt x="92845" y="6920"/>
                </a:lnTo>
                <a:lnTo>
                  <a:pt x="55579" y="26192"/>
                </a:lnTo>
                <a:lnTo>
                  <a:pt x="26192" y="55578"/>
                </a:lnTo>
                <a:lnTo>
                  <a:pt x="6920" y="92844"/>
                </a:lnTo>
                <a:lnTo>
                  <a:pt x="0" y="135754"/>
                </a:lnTo>
                <a:lnTo>
                  <a:pt x="6920" y="178663"/>
                </a:lnTo>
                <a:lnTo>
                  <a:pt x="26192" y="215929"/>
                </a:lnTo>
                <a:lnTo>
                  <a:pt x="55579" y="245315"/>
                </a:lnTo>
                <a:lnTo>
                  <a:pt x="92845" y="264587"/>
                </a:lnTo>
                <a:lnTo>
                  <a:pt x="135754" y="271508"/>
                </a:lnTo>
                <a:lnTo>
                  <a:pt x="178663" y="264587"/>
                </a:lnTo>
                <a:lnTo>
                  <a:pt x="215929" y="245315"/>
                </a:lnTo>
                <a:lnTo>
                  <a:pt x="245315" y="215929"/>
                </a:lnTo>
                <a:lnTo>
                  <a:pt x="264587" y="178663"/>
                </a:lnTo>
                <a:lnTo>
                  <a:pt x="271508" y="135754"/>
                </a:lnTo>
                <a:lnTo>
                  <a:pt x="264587" y="92844"/>
                </a:lnTo>
                <a:lnTo>
                  <a:pt x="245315" y="55578"/>
                </a:lnTo>
                <a:lnTo>
                  <a:pt x="215929" y="26192"/>
                </a:lnTo>
                <a:lnTo>
                  <a:pt x="178663" y="6920"/>
                </a:lnTo>
                <a:lnTo>
                  <a:pt x="135754" y="0"/>
                </a:lnTo>
                <a:close/>
              </a:path>
            </a:pathLst>
          </a:custGeom>
          <a:solidFill>
            <a:srgbClr val="00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851217" y="663140"/>
            <a:ext cx="1949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spc="-25" dirty="0">
                <a:latin typeface="Arial"/>
                <a:cs typeface="Arial"/>
              </a:rPr>
              <a:t>z</a:t>
            </a:r>
            <a:r>
              <a:rPr sz="1200" spc="-37" baseline="-13888" dirty="0">
                <a:latin typeface="Arial MT"/>
                <a:cs typeface="Arial MT"/>
              </a:rPr>
              <a:t>3</a:t>
            </a:r>
            <a:endParaRPr sz="1200" baseline="-13888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1400" y="936896"/>
            <a:ext cx="220979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30" dirty="0">
                <a:latin typeface="Tahoma"/>
                <a:cs typeface="Tahoma"/>
              </a:rPr>
              <a:t>relu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60510" y="943539"/>
            <a:ext cx="976630" cy="1381760"/>
            <a:chOff x="460510" y="943539"/>
            <a:chExt cx="976630" cy="1381760"/>
          </a:xfrm>
        </p:grpSpPr>
        <p:sp>
          <p:nvSpPr>
            <p:cNvPr id="19" name="object 19"/>
            <p:cNvSpPr/>
            <p:nvPr/>
          </p:nvSpPr>
          <p:spPr>
            <a:xfrm>
              <a:off x="463041" y="2014190"/>
              <a:ext cx="154305" cy="308610"/>
            </a:xfrm>
            <a:custGeom>
              <a:avLst/>
              <a:gdLst/>
              <a:ahLst/>
              <a:cxnLst/>
              <a:rect l="l" t="t" r="r" b="b"/>
              <a:pathLst>
                <a:path w="154304" h="308610">
                  <a:moveTo>
                    <a:pt x="0" y="308261"/>
                  </a:moveTo>
                  <a:lnTo>
                    <a:pt x="15413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92275" y="2010795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7921"/>
                  </a:moveTo>
                  <a:lnTo>
                    <a:pt x="6860" y="8036"/>
                  </a:lnTo>
                  <a:lnTo>
                    <a:pt x="14994" y="5870"/>
                  </a:lnTo>
                  <a:lnTo>
                    <a:pt x="22279" y="2749"/>
                  </a:lnTo>
                  <a:lnTo>
                    <a:pt x="26593" y="0"/>
                  </a:lnTo>
                  <a:lnTo>
                    <a:pt x="26982" y="5101"/>
                  </a:lnTo>
                  <a:lnTo>
                    <a:pt x="28857" y="12801"/>
                  </a:lnTo>
                  <a:lnTo>
                    <a:pt x="32004" y="20608"/>
                  </a:lnTo>
                  <a:lnTo>
                    <a:pt x="36213" y="26027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6068" y="2014190"/>
              <a:ext cx="147955" cy="295910"/>
            </a:xfrm>
            <a:custGeom>
              <a:avLst/>
              <a:gdLst/>
              <a:ahLst/>
              <a:cxnLst/>
              <a:rect l="l" t="t" r="r" b="b"/>
              <a:pathLst>
                <a:path w="147955" h="295910">
                  <a:moveTo>
                    <a:pt x="147856" y="295709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34752" y="2010795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29" h="26035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29" y="5101"/>
                  </a:lnTo>
                  <a:lnTo>
                    <a:pt x="9618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5"/>
                  </a:lnTo>
                  <a:lnTo>
                    <a:pt x="36213" y="7920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43467" y="1474187"/>
              <a:ext cx="144145" cy="287655"/>
            </a:xfrm>
            <a:custGeom>
              <a:avLst/>
              <a:gdLst/>
              <a:ahLst/>
              <a:cxnLst/>
              <a:rect l="l" t="t" r="r" b="b"/>
              <a:pathLst>
                <a:path w="144144" h="287655">
                  <a:moveTo>
                    <a:pt x="0" y="287419"/>
                  </a:moveTo>
                  <a:lnTo>
                    <a:pt x="143707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62178" y="1470779"/>
              <a:ext cx="36830" cy="26670"/>
            </a:xfrm>
            <a:custGeom>
              <a:avLst/>
              <a:gdLst/>
              <a:ahLst/>
              <a:cxnLst/>
              <a:rect l="l" t="t" r="r" b="b"/>
              <a:pathLst>
                <a:path w="36830" h="26669">
                  <a:moveTo>
                    <a:pt x="0" y="7952"/>
                  </a:moveTo>
                  <a:lnTo>
                    <a:pt x="6888" y="8068"/>
                  </a:lnTo>
                  <a:lnTo>
                    <a:pt x="15054" y="5893"/>
                  </a:lnTo>
                  <a:lnTo>
                    <a:pt x="22369" y="2760"/>
                  </a:lnTo>
                  <a:lnTo>
                    <a:pt x="26700" y="0"/>
                  </a:lnTo>
                  <a:lnTo>
                    <a:pt x="27091" y="5121"/>
                  </a:lnTo>
                  <a:lnTo>
                    <a:pt x="28973" y="12853"/>
                  </a:lnTo>
                  <a:lnTo>
                    <a:pt x="32132" y="20691"/>
                  </a:lnTo>
                  <a:lnTo>
                    <a:pt x="36358" y="26132"/>
                  </a:lnTo>
                </a:path>
              </a:pathLst>
            </a:custGeom>
            <a:ln w="406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16082" y="1474167"/>
              <a:ext cx="418465" cy="836294"/>
            </a:xfrm>
            <a:custGeom>
              <a:avLst/>
              <a:gdLst/>
              <a:ahLst/>
              <a:cxnLst/>
              <a:rect l="l" t="t" r="r" b="b"/>
              <a:pathLst>
                <a:path w="418465" h="836294">
                  <a:moveTo>
                    <a:pt x="417921" y="835852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04766" y="1470772"/>
              <a:ext cx="36830" cy="26034"/>
            </a:xfrm>
            <a:custGeom>
              <a:avLst/>
              <a:gdLst/>
              <a:ahLst/>
              <a:cxnLst/>
              <a:rect l="l" t="t" r="r" b="b"/>
              <a:pathLst>
                <a:path w="36830" h="26034">
                  <a:moveTo>
                    <a:pt x="0" y="26028"/>
                  </a:moveTo>
                  <a:lnTo>
                    <a:pt x="4208" y="20608"/>
                  </a:lnTo>
                  <a:lnTo>
                    <a:pt x="7355" y="12801"/>
                  </a:lnTo>
                  <a:lnTo>
                    <a:pt x="9230" y="5101"/>
                  </a:lnTo>
                  <a:lnTo>
                    <a:pt x="9619" y="0"/>
                  </a:lnTo>
                  <a:lnTo>
                    <a:pt x="13933" y="2749"/>
                  </a:lnTo>
                  <a:lnTo>
                    <a:pt x="21218" y="5870"/>
                  </a:lnTo>
                  <a:lnTo>
                    <a:pt x="29352" y="8036"/>
                  </a:lnTo>
                  <a:lnTo>
                    <a:pt x="36213" y="7921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1631" y="949358"/>
              <a:ext cx="0" cy="257810"/>
            </a:xfrm>
            <a:custGeom>
              <a:avLst/>
              <a:gdLst/>
              <a:ahLst/>
              <a:cxnLst/>
              <a:rect l="l" t="t" r="r" b="b"/>
              <a:pathLst>
                <a:path h="257809">
                  <a:moveTo>
                    <a:pt x="2" y="257624"/>
                  </a:moveTo>
                  <a:lnTo>
                    <a:pt x="0" y="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931387" y="945563"/>
              <a:ext cx="40640" cy="19050"/>
            </a:xfrm>
            <a:custGeom>
              <a:avLst/>
              <a:gdLst/>
              <a:ahLst/>
              <a:cxnLst/>
              <a:rect l="l" t="t" r="r" b="b"/>
              <a:pathLst>
                <a:path w="40640" h="19050">
                  <a:moveTo>
                    <a:pt x="0" y="18978"/>
                  </a:moveTo>
                  <a:lnTo>
                    <a:pt x="6187" y="16013"/>
                  </a:lnTo>
                  <a:lnTo>
                    <a:pt x="12494" y="10438"/>
                  </a:lnTo>
                  <a:lnTo>
                    <a:pt x="17614" y="4388"/>
                  </a:lnTo>
                  <a:lnTo>
                    <a:pt x="20243" y="0"/>
                  </a:lnTo>
                  <a:lnTo>
                    <a:pt x="22873" y="4388"/>
                  </a:lnTo>
                  <a:lnTo>
                    <a:pt x="27993" y="10438"/>
                  </a:lnTo>
                  <a:lnTo>
                    <a:pt x="34300" y="16013"/>
                  </a:lnTo>
                  <a:lnTo>
                    <a:pt x="40487" y="18978"/>
                  </a:lnTo>
                </a:path>
              </a:pathLst>
            </a:custGeom>
            <a:ln w="40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6976" y="2804317"/>
            <a:ext cx="1123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95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relu(</a:t>
            </a:r>
            <a:r>
              <a:rPr sz="1000" i="1" spc="-40" dirty="0">
                <a:latin typeface="Arial"/>
                <a:cs typeface="Arial"/>
              </a:rPr>
              <a:t>x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i="1" spc="112" baseline="31746" dirty="0">
                <a:latin typeface="Arial"/>
                <a:cs typeface="Arial"/>
              </a:rPr>
              <a:t>T</a:t>
            </a:r>
            <a:r>
              <a:rPr sz="1050" i="1" spc="-82" baseline="31746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00" i="1" spc="45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+</a:t>
            </a:r>
            <a:r>
              <a:rPr sz="1000" spc="-95" dirty="0">
                <a:latin typeface="Tahoma"/>
                <a:cs typeface="Tahoma"/>
              </a:rPr>
              <a:t> </a:t>
            </a:r>
            <a:r>
              <a:rPr sz="1000" i="1" spc="-25" dirty="0">
                <a:latin typeface="Arial"/>
                <a:cs typeface="Arial"/>
              </a:rPr>
              <a:t>b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33460" y="806899"/>
            <a:ext cx="18903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0" dirty="0">
                <a:latin typeface="Tahoma"/>
                <a:cs typeface="Tahoma"/>
              </a:rPr>
              <a:t>gradient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neighbors: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611462" y="1072142"/>
            <a:ext cx="64833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1345" algn="l"/>
              </a:tabLst>
            </a:pPr>
            <a:r>
              <a:rPr sz="500" spc="-50" dirty="0">
                <a:latin typeface="Arial MT"/>
                <a:cs typeface="Arial MT"/>
              </a:rPr>
              <a:t>2</a:t>
            </a:r>
            <a:r>
              <a:rPr sz="500" dirty="0">
                <a:latin typeface="Arial MT"/>
                <a:cs typeface="Arial MT"/>
              </a:rPr>
              <a:t>	</a:t>
            </a: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797515" y="107214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439733" y="977257"/>
            <a:ext cx="18307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1050" i="1" spc="13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42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42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50" i="1" baseline="-11904" dirty="0">
                <a:latin typeface="Arial"/>
                <a:cs typeface="Arial"/>
              </a:rPr>
              <a:t>b</a:t>
            </a:r>
            <a:r>
              <a:rPr sz="1050" i="1" spc="195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2</a:t>
            </a:r>
            <a:r>
              <a:rPr sz="1050" spc="142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46794" y="1313817"/>
            <a:ext cx="1854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x</a:t>
            </a:r>
            <a:r>
              <a:rPr sz="700" i="1" spc="345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641358" y="1256873"/>
            <a:ext cx="43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30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224009" y="117969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174809" y="1331523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81667" y="1078476"/>
            <a:ext cx="37338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</a:tabLst>
            </a:pPr>
            <a:r>
              <a:rPr sz="1000" dirty="0">
                <a:latin typeface="Tahoma"/>
                <a:cs typeface="Tahoma"/>
              </a:rPr>
              <a:t>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612375" y="1313817"/>
            <a:ext cx="20827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w</a:t>
            </a:r>
            <a:r>
              <a:rPr sz="700" i="1" spc="380" dirty="0">
                <a:latin typeface="Arial"/>
                <a:cs typeface="Arial"/>
              </a:rPr>
              <a:t> </a:t>
            </a:r>
            <a:r>
              <a:rPr sz="700" spc="-50" dirty="0">
                <a:latin typeface="Arial MT"/>
                <a:cs typeface="Arial MT"/>
              </a:rPr>
              <a:t>1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50704" y="1256873"/>
            <a:ext cx="5092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229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062869" y="1179695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062869" y="1331523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69727" y="1078476"/>
            <a:ext cx="27495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033460" y="1642077"/>
            <a:ext cx="19335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95"/>
              </a:spcBef>
              <a:buSzPct val="80000"/>
              <a:buChar char="►"/>
              <a:tabLst>
                <a:tab pos="160020" algn="l"/>
              </a:tabLst>
            </a:pPr>
            <a:r>
              <a:rPr sz="1000" spc="-30" dirty="0">
                <a:latin typeface="Tahoma"/>
                <a:cs typeface="Tahoma"/>
              </a:rPr>
              <a:t>gradient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values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node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pairs: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149676" y="1907320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latin typeface="Arial MT"/>
                <a:cs typeface="Arial MT"/>
              </a:rPr>
              <a:t>1</a:t>
            </a:r>
            <a:endParaRPr sz="5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977934" y="1812434"/>
            <a:ext cx="12039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1050" i="1" spc="172" baseline="-1190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50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1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50" i="1" baseline="-11904" dirty="0">
                <a:latin typeface="Arial"/>
                <a:cs typeface="Arial"/>
              </a:rPr>
              <a:t>b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50" baseline="-11904" dirty="0">
                <a:latin typeface="Arial MT"/>
                <a:cs typeface="Arial MT"/>
              </a:rPr>
              <a:t>3</a:t>
            </a:r>
            <a:r>
              <a:rPr sz="1050" spc="150" baseline="-11904" dirty="0">
                <a:latin typeface="Arial MT"/>
                <a:cs typeface="Arial MT"/>
              </a:rPr>
              <a:t> </a:t>
            </a:r>
            <a:r>
              <a:rPr sz="1000" dirty="0">
                <a:latin typeface="Tahoma"/>
                <a:cs typeface="Tahoma"/>
              </a:rPr>
              <a:t>=</a:t>
            </a:r>
            <a:r>
              <a:rPr sz="1000" spc="-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1</a:t>
            </a:r>
            <a:r>
              <a:rPr sz="1000" i="1" spc="-25" dirty="0">
                <a:latin typeface="Georgia"/>
                <a:cs typeface="Georgia"/>
              </a:rPr>
              <a:t>,</a:t>
            </a:r>
            <a:endParaRPr sz="1000">
              <a:latin typeface="Georgia"/>
              <a:cs typeface="Georg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658681" y="2148994"/>
            <a:ext cx="1854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x</a:t>
            </a:r>
            <a:r>
              <a:rPr sz="700" i="1" spc="345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553246" y="2092050"/>
            <a:ext cx="43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30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135896" y="201487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086696" y="2166701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93555" y="1913653"/>
            <a:ext cx="37338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</a:tabLst>
            </a:pPr>
            <a:r>
              <a:rPr sz="1000" dirty="0">
                <a:latin typeface="Tahoma"/>
                <a:cs typeface="Tahoma"/>
              </a:rPr>
              <a:t>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24262" y="2148994"/>
            <a:ext cx="20827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w</a:t>
            </a:r>
            <a:r>
              <a:rPr sz="700" i="1" spc="380" dirty="0">
                <a:latin typeface="Arial"/>
                <a:cs typeface="Arial"/>
              </a:rPr>
              <a:t> </a:t>
            </a:r>
            <a:r>
              <a:rPr sz="700" spc="-50" dirty="0">
                <a:latin typeface="Arial MT"/>
                <a:cs typeface="Arial MT"/>
              </a:rPr>
              <a:t>3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362591" y="2092050"/>
            <a:ext cx="5092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229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974756" y="201487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974756" y="2166701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881615" y="1913653"/>
            <a:ext cx="27495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58681" y="2503261"/>
            <a:ext cx="18542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x</a:t>
            </a:r>
            <a:r>
              <a:rPr sz="700" i="1" spc="345" dirty="0">
                <a:latin typeface="Arial"/>
                <a:cs typeface="Arial"/>
              </a:rPr>
              <a:t> </a:t>
            </a:r>
            <a:r>
              <a:rPr sz="700" spc="-6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553246" y="2446329"/>
            <a:ext cx="4305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8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30" dirty="0">
                <a:latin typeface="Arial"/>
                <a:cs typeface="Arial"/>
              </a:rPr>
              <a:t> </a:t>
            </a:r>
            <a:r>
              <a:rPr sz="1000" spc="-6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3135896" y="236915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086696" y="2520980"/>
            <a:ext cx="187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latin typeface="Lucida Sans Unicode"/>
                <a:cs typeface="Lucida Sans Unicode"/>
              </a:rPr>
              <a:t>−</a:t>
            </a:r>
            <a:r>
              <a:rPr sz="1000" spc="-25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93555" y="2267933"/>
            <a:ext cx="373380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267335" algn="l"/>
              </a:tabLst>
            </a:pPr>
            <a:r>
              <a:rPr sz="1000" dirty="0">
                <a:latin typeface="Tahoma"/>
                <a:cs typeface="Tahoma"/>
              </a:rPr>
              <a:t>	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524262" y="2503261"/>
            <a:ext cx="20827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dirty="0">
                <a:latin typeface="Arial"/>
                <a:cs typeface="Arial"/>
              </a:rPr>
              <a:t>w</a:t>
            </a:r>
            <a:r>
              <a:rPr sz="700" i="1" spc="380" dirty="0">
                <a:latin typeface="Arial"/>
                <a:cs typeface="Arial"/>
              </a:rPr>
              <a:t> </a:t>
            </a:r>
            <a:r>
              <a:rPr sz="700" spc="-50" dirty="0">
                <a:latin typeface="Arial MT"/>
                <a:cs typeface="Arial MT"/>
              </a:rPr>
              <a:t>2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362591" y="2446329"/>
            <a:ext cx="50927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dirty="0">
                <a:latin typeface="Lucida Sans Unicode"/>
                <a:cs typeface="Lucida Sans Unicode"/>
              </a:rPr>
              <a:t>∇</a:t>
            </a:r>
            <a:r>
              <a:rPr sz="1000" spc="229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5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=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974756" y="236915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2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974756" y="2520980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3881615" y="2267933"/>
            <a:ext cx="274955" cy="17780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000" dirty="0">
                <a:latin typeface="Tahoma"/>
                <a:cs typeface="Tahoma"/>
              </a:rPr>
              <a:t> 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109651"/>
                </a:moveTo>
                <a:lnTo>
                  <a:pt x="4607992" y="0"/>
                </a:ln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59" y="219303"/>
                </a:lnTo>
                <a:lnTo>
                  <a:pt x="4147159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4299280" y="3351784"/>
            <a:ext cx="281305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dirty="0">
                <a:solidFill>
                  <a:srgbClr val="7F7F7F"/>
                </a:solidFill>
                <a:latin typeface="Arial MT"/>
                <a:cs typeface="Arial MT"/>
              </a:rPr>
              <a:t>29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150" dirty="0">
                <a:solidFill>
                  <a:srgbClr val="7F7F7F"/>
                </a:solidFill>
                <a:latin typeface="Arial MT"/>
                <a:cs typeface="Arial MT"/>
              </a:rPr>
              <a:t>/</a:t>
            </a:r>
            <a:r>
              <a:rPr sz="600" spc="25" dirty="0">
                <a:solidFill>
                  <a:srgbClr val="7F7F7F"/>
                </a:solidFill>
                <a:latin typeface="Arial MT"/>
                <a:cs typeface="Arial MT"/>
              </a:rPr>
              <a:t> </a:t>
            </a:r>
            <a:r>
              <a:rPr sz="600" spc="-25" dirty="0">
                <a:solidFill>
                  <a:srgbClr val="7F7F7F"/>
                </a:solidFill>
                <a:latin typeface="Arial MT"/>
                <a:cs typeface="Arial MT"/>
              </a:rPr>
              <a:t>33</a:t>
            </a:r>
            <a:endParaRPr sz="600">
              <a:latin typeface="Arial MT"/>
              <a:cs typeface="Arial MT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</a:t>
            </a:r>
            <a:r>
              <a:rPr spc="-20" dirty="0"/>
              <a:t> </a:t>
            </a:r>
            <a:r>
              <a:rPr spc="-25" dirty="0"/>
              <a:t>Computation</a:t>
            </a:r>
            <a:r>
              <a:rPr spc="-20" dirty="0"/>
              <a:t> </a:t>
            </a:r>
            <a:r>
              <a:rPr spc="160" dirty="0"/>
              <a:t>/</a:t>
            </a:r>
            <a:r>
              <a:rPr spc="-20" dirty="0"/>
              <a:t> </a:t>
            </a:r>
            <a:r>
              <a:rPr spc="-10" dirty="0"/>
              <a:t>Algorithm</a:t>
            </a:r>
            <a:r>
              <a:rPr spc="-15" dirty="0"/>
              <a:t> </a:t>
            </a:r>
            <a:r>
              <a:rPr spc="160" dirty="0"/>
              <a:t>/</a:t>
            </a:r>
            <a:r>
              <a:rPr spc="-20" dirty="0"/>
              <a:t> </a:t>
            </a:r>
            <a:r>
              <a:rPr spc="-30" dirty="0"/>
              <a:t>Single</a:t>
            </a:r>
            <a:r>
              <a:rPr spc="-20" dirty="0"/>
              <a:t> Leaf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550" y="487062"/>
            <a:ext cx="2691765" cy="1088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">
              <a:lnSpc>
                <a:spcPts val="1200"/>
              </a:lnSpc>
              <a:spcBef>
                <a:spcPts val="95"/>
              </a:spcBef>
            </a:pPr>
            <a:r>
              <a:rPr sz="600" dirty="0">
                <a:latin typeface="Arial MT"/>
                <a:cs typeface="Arial MT"/>
              </a:rPr>
              <a:t>1</a:t>
            </a:r>
            <a:r>
              <a:rPr sz="600" spc="459" dirty="0">
                <a:latin typeface="Arial MT"/>
                <a:cs typeface="Arial MT"/>
              </a:rPr>
              <a:t> </a:t>
            </a:r>
            <a:r>
              <a:rPr sz="1000" b="1" spc="-20" dirty="0">
                <a:latin typeface="Trebuchet MS"/>
                <a:cs typeface="Trebuchet MS"/>
              </a:rPr>
              <a:t>cg-</a:t>
            </a:r>
            <a:r>
              <a:rPr sz="1000" b="1" spc="-10" dirty="0">
                <a:latin typeface="Trebuchet MS"/>
                <a:cs typeface="Trebuchet MS"/>
              </a:rPr>
              <a:t>gradient</a:t>
            </a:r>
            <a:r>
              <a:rPr sz="1000" spc="-10" dirty="0">
                <a:latin typeface="Tahoma"/>
                <a:cs typeface="Tahoma"/>
              </a:rPr>
              <a:t>((</a:t>
            </a:r>
            <a:r>
              <a:rPr sz="1000" i="1" spc="-10" dirty="0">
                <a:latin typeface="Arial"/>
                <a:cs typeface="Arial"/>
              </a:rPr>
              <a:t>Z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2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i="1" spc="-55" dirty="0">
                <a:latin typeface="Arial"/>
                <a:cs typeface="Arial"/>
              </a:rPr>
              <a:t>g</a:t>
            </a:r>
            <a:r>
              <a:rPr sz="1000" i="1" spc="-14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25" dirty="0">
                <a:latin typeface="Georgia"/>
                <a:cs typeface="Georgi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i="1" spc="-35" dirty="0">
                <a:latin typeface="Arial"/>
                <a:cs typeface="Arial"/>
              </a:rPr>
              <a:t>v</a:t>
            </a:r>
            <a:r>
              <a:rPr sz="1050" i="1" spc="-52" baseline="-11904" dirty="0">
                <a:latin typeface="Arial"/>
                <a:cs typeface="Arial"/>
              </a:rPr>
              <a:t>z</a:t>
            </a:r>
            <a:r>
              <a:rPr sz="1050" i="1" spc="-75" baseline="-1190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50" i="1" spc="-37" baseline="-15873" dirty="0">
                <a:latin typeface="Arial"/>
                <a:cs typeface="Arial"/>
              </a:rPr>
              <a:t>z</a:t>
            </a:r>
            <a:r>
              <a:rPr sz="1050" i="1" spc="-179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Cambria"/>
                <a:cs typeface="Cambria"/>
              </a:rPr>
              <a:t>∈</a:t>
            </a:r>
            <a:r>
              <a:rPr sz="1050" baseline="-15873" dirty="0">
                <a:latin typeface="Arial MT"/>
                <a:cs typeface="Arial MT"/>
              </a:rPr>
              <a:t>roots(</a:t>
            </a:r>
            <a:r>
              <a:rPr sz="1050" i="1" baseline="-15873" dirty="0">
                <a:latin typeface="Arial"/>
                <a:cs typeface="Arial"/>
              </a:rPr>
              <a:t>Z,E</a:t>
            </a:r>
            <a:r>
              <a:rPr sz="1050" i="1" spc="-135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Arial MT"/>
                <a:cs typeface="Arial MT"/>
              </a:rPr>
              <a:t>)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: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ts val="1195"/>
              </a:lnSpc>
              <a:tabLst>
                <a:tab pos="242570" algn="l"/>
              </a:tabLst>
            </a:pPr>
            <a:r>
              <a:rPr sz="600" spc="-50" dirty="0">
                <a:latin typeface="Arial MT"/>
                <a:cs typeface="Arial MT"/>
              </a:rPr>
              <a:t>2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i="1" dirty="0">
                <a:latin typeface="Arial"/>
                <a:cs typeface="Arial"/>
              </a:rPr>
              <a:t>v</a:t>
            </a:r>
            <a:r>
              <a:rPr sz="1000" i="1" spc="20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cg-</a:t>
            </a:r>
            <a:r>
              <a:rPr sz="1000" spc="-30" dirty="0">
                <a:latin typeface="Tahoma"/>
                <a:cs typeface="Tahoma"/>
              </a:rPr>
              <a:t>forward((</a:t>
            </a:r>
            <a:r>
              <a:rPr sz="1000" i="1" spc="-30" dirty="0">
                <a:latin typeface="Arial"/>
                <a:cs typeface="Arial"/>
              </a:rPr>
              <a:t>Z</a:t>
            </a:r>
            <a:r>
              <a:rPr sz="1000" i="1" spc="-30" dirty="0">
                <a:latin typeface="Georgia"/>
                <a:cs typeface="Georgia"/>
              </a:rPr>
              <a:t>,</a:t>
            </a:r>
            <a:r>
              <a:rPr sz="1000" i="1" spc="-35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E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30" dirty="0">
                <a:latin typeface="Georgia"/>
                <a:cs typeface="Georgia"/>
              </a:rPr>
              <a:t> </a:t>
            </a:r>
            <a:r>
              <a:rPr sz="1000" i="1" dirty="0">
                <a:latin typeface="Arial"/>
                <a:cs typeface="Arial"/>
              </a:rPr>
              <a:t>f</a:t>
            </a:r>
            <a:r>
              <a:rPr sz="1000" i="1" spc="-10" dirty="0">
                <a:latin typeface="Arial"/>
                <a:cs typeface="Arial"/>
              </a:rPr>
              <a:t>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00" i="1" spc="-10" dirty="0">
                <a:latin typeface="Georgia"/>
                <a:cs typeface="Georgia"/>
              </a:rPr>
              <a:t>,</a:t>
            </a:r>
            <a:r>
              <a:rPr sz="1000" i="1" spc="-35" dirty="0">
                <a:latin typeface="Georgia"/>
                <a:cs typeface="Georgia"/>
              </a:rPr>
              <a:t> </a:t>
            </a:r>
            <a:r>
              <a:rPr sz="1000" spc="-35" dirty="0">
                <a:latin typeface="Tahoma"/>
                <a:cs typeface="Tahoma"/>
              </a:rPr>
              <a:t>(</a:t>
            </a:r>
            <a:r>
              <a:rPr sz="1000" i="1" spc="-35" dirty="0">
                <a:latin typeface="Arial"/>
                <a:cs typeface="Arial"/>
              </a:rPr>
              <a:t>v</a:t>
            </a:r>
            <a:r>
              <a:rPr sz="1050" i="1" spc="-52" baseline="-11904" dirty="0">
                <a:latin typeface="Arial"/>
                <a:cs typeface="Arial"/>
              </a:rPr>
              <a:t>z</a:t>
            </a:r>
            <a:r>
              <a:rPr sz="1050" i="1" spc="-82" baseline="-11904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)</a:t>
            </a:r>
            <a:r>
              <a:rPr sz="1050" i="1" spc="-37" baseline="-15873" dirty="0">
                <a:latin typeface="Arial"/>
                <a:cs typeface="Arial"/>
              </a:rPr>
              <a:t>z</a:t>
            </a:r>
            <a:r>
              <a:rPr sz="1050" i="1" spc="-179" baseline="-15873" dirty="0">
                <a:latin typeface="Arial"/>
                <a:cs typeface="Arial"/>
              </a:rPr>
              <a:t> </a:t>
            </a:r>
            <a:r>
              <a:rPr sz="1050" baseline="-15873" dirty="0">
                <a:latin typeface="Cambria"/>
                <a:cs typeface="Cambria"/>
              </a:rPr>
              <a:t>∈</a:t>
            </a:r>
            <a:r>
              <a:rPr sz="1050" baseline="-15873" dirty="0">
                <a:latin typeface="Arial MT"/>
                <a:cs typeface="Arial MT"/>
              </a:rPr>
              <a:t>roots(</a:t>
            </a:r>
            <a:r>
              <a:rPr sz="1050" i="1" baseline="-15873" dirty="0">
                <a:latin typeface="Arial"/>
                <a:cs typeface="Arial"/>
              </a:rPr>
              <a:t>Z,E</a:t>
            </a:r>
            <a:r>
              <a:rPr sz="1050" i="1" spc="-142" baseline="-15873" dirty="0">
                <a:latin typeface="Arial"/>
                <a:cs typeface="Arial"/>
              </a:rPr>
              <a:t> </a:t>
            </a:r>
            <a:r>
              <a:rPr sz="1050" spc="-37" baseline="-15873" dirty="0">
                <a:latin typeface="Arial MT"/>
                <a:cs typeface="Arial MT"/>
              </a:rPr>
              <a:t>)</a:t>
            </a:r>
            <a:r>
              <a:rPr sz="1000" spc="-25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ts val="1195"/>
              </a:lnSpc>
              <a:tabLst>
                <a:tab pos="242570" algn="l"/>
              </a:tabLst>
            </a:pPr>
            <a:r>
              <a:rPr sz="600" spc="-50" dirty="0">
                <a:latin typeface="Arial MT"/>
                <a:cs typeface="Arial MT"/>
              </a:rPr>
              <a:t>3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40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single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leaf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 (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dirty="0">
                <a:latin typeface="Georgia"/>
                <a:cs typeface="Georgia"/>
              </a:rPr>
              <a:t>,</a:t>
            </a:r>
            <a:r>
              <a:rPr sz="1000" i="1" spc="-75" dirty="0">
                <a:latin typeface="Georgia"/>
                <a:cs typeface="Georgia"/>
              </a:rPr>
              <a:t> </a:t>
            </a:r>
            <a:r>
              <a:rPr sz="1000" i="1" spc="-80" dirty="0">
                <a:latin typeface="Arial"/>
                <a:cs typeface="Arial"/>
              </a:rPr>
              <a:t>E</a:t>
            </a:r>
            <a:r>
              <a:rPr sz="1000" i="1" spc="-160" dirty="0">
                <a:latin typeface="Arial"/>
                <a:cs typeface="Arial"/>
              </a:rPr>
              <a:t> </a:t>
            </a:r>
            <a:r>
              <a:rPr sz="1000" spc="-5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ts val="1195"/>
              </a:lnSpc>
              <a:tabLst>
                <a:tab pos="242570" algn="l"/>
              </a:tabLst>
            </a:pPr>
            <a:r>
              <a:rPr sz="600" spc="-50" dirty="0">
                <a:latin typeface="Arial MT"/>
                <a:cs typeface="Arial MT"/>
              </a:rPr>
              <a:t>4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50" i="1" baseline="-11904" dirty="0">
                <a:latin typeface="Arial"/>
                <a:cs typeface="Arial"/>
              </a:rPr>
              <a:t>z,z</a:t>
            </a:r>
            <a:r>
              <a:rPr sz="1050" i="1" spc="247" baseline="-1190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1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ts val="1195"/>
              </a:lnSpc>
              <a:tabLst>
                <a:tab pos="257175" algn="l"/>
              </a:tabLst>
            </a:pPr>
            <a:r>
              <a:rPr sz="600" spc="-50" dirty="0">
                <a:latin typeface="Arial MT"/>
                <a:cs typeface="Arial MT"/>
              </a:rPr>
              <a:t>5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dirty="0">
                <a:latin typeface="Tahoma"/>
                <a:cs typeface="Tahoma"/>
              </a:rPr>
              <a:t>for</a:t>
            </a:r>
            <a:r>
              <a:rPr sz="1000" spc="150" dirty="0">
                <a:latin typeface="Tahoma"/>
                <a:cs typeface="Tahoma"/>
              </a:rPr>
              <a:t> </a:t>
            </a:r>
            <a:r>
              <a:rPr sz="1000" i="1" spc="-70" dirty="0">
                <a:latin typeface="Arial"/>
                <a:cs typeface="Arial"/>
              </a:rPr>
              <a:t>z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spc="75" baseline="27777" dirty="0">
                <a:latin typeface="Cambria"/>
                <a:cs typeface="Cambria"/>
              </a:rPr>
              <a:t>′′</a:t>
            </a:r>
            <a:r>
              <a:rPr sz="1050" spc="209" baseline="27777" dirty="0">
                <a:latin typeface="Cambria"/>
                <a:cs typeface="Cambria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i="1" dirty="0">
                <a:latin typeface="Arial"/>
                <a:cs typeface="Arial"/>
              </a:rPr>
              <a:t>Z</a:t>
            </a:r>
            <a:r>
              <a:rPr sz="1000" i="1" spc="30" dirty="0">
                <a:latin typeface="Arial"/>
                <a:cs typeface="Arial"/>
              </a:rPr>
              <a:t> </a:t>
            </a:r>
            <a:r>
              <a:rPr sz="1000" spc="-40" dirty="0">
                <a:latin typeface="Lucida Sans Unicode"/>
                <a:cs typeface="Lucida Sans Unicode"/>
              </a:rPr>
              <a:t>\</a:t>
            </a:r>
            <a:r>
              <a:rPr sz="1000" spc="-100" dirty="0">
                <a:latin typeface="Lucida Sans Unicode"/>
                <a:cs typeface="Lucida Sans Unicode"/>
              </a:rPr>
              <a:t> </a:t>
            </a:r>
            <a:r>
              <a:rPr sz="1000" spc="50" dirty="0">
                <a:latin typeface="Lucida Sans Unicode"/>
                <a:cs typeface="Lucida Sans Unicode"/>
              </a:rPr>
              <a:t>{</a:t>
            </a:r>
            <a:r>
              <a:rPr sz="1000" i="1" spc="50" dirty="0">
                <a:latin typeface="Arial"/>
                <a:cs typeface="Arial"/>
              </a:rPr>
              <a:t>z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00" spc="170" dirty="0">
                <a:latin typeface="Lucida Sans Unicode"/>
                <a:cs typeface="Lucida Sans Unicode"/>
              </a:rPr>
              <a:t>}</a:t>
            </a:r>
            <a:r>
              <a:rPr sz="1000" spc="-10" dirty="0">
                <a:latin typeface="Lucida Sans Unicode"/>
                <a:cs typeface="Lucida Sans Unicode"/>
              </a:rPr>
              <a:t> </a:t>
            </a:r>
            <a:r>
              <a:rPr sz="1000" dirty="0">
                <a:latin typeface="Tahoma"/>
                <a:cs typeface="Tahoma"/>
              </a:rPr>
              <a:t>in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reverse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topological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order: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ts val="1195"/>
              </a:lnSpc>
              <a:tabLst>
                <a:tab pos="356235" algn="l"/>
              </a:tabLst>
            </a:pPr>
            <a:r>
              <a:rPr sz="600" spc="-50" dirty="0">
                <a:latin typeface="Arial MT"/>
                <a:cs typeface="Arial MT"/>
              </a:rPr>
              <a:t>6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i="1" dirty="0">
                <a:latin typeface="Arial"/>
                <a:cs typeface="Arial"/>
              </a:rPr>
              <a:t>w</a:t>
            </a:r>
            <a:r>
              <a:rPr sz="1050" i="1" baseline="-11904" dirty="0">
                <a:latin typeface="Arial"/>
                <a:cs typeface="Arial"/>
              </a:rPr>
              <a:t>z,z</a:t>
            </a:r>
            <a:r>
              <a:rPr sz="750" i="1" baseline="5555" dirty="0">
                <a:latin typeface="Verdana"/>
                <a:cs typeface="Verdana"/>
              </a:rPr>
              <a:t>''</a:t>
            </a:r>
            <a:r>
              <a:rPr sz="750" i="1" spc="442" baseline="5555" dirty="0">
                <a:latin typeface="Verdana"/>
                <a:cs typeface="Verdan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0</a:t>
            </a:r>
            <a:endParaRPr sz="1000">
              <a:latin typeface="Tahoma"/>
              <a:cs typeface="Tahoma"/>
            </a:endParaRPr>
          </a:p>
          <a:p>
            <a:pPr marL="25400">
              <a:lnSpc>
                <a:spcPts val="1200"/>
              </a:lnSpc>
              <a:tabLst>
                <a:tab pos="370840" algn="l"/>
              </a:tabLst>
            </a:pPr>
            <a:r>
              <a:rPr sz="600" spc="-50" dirty="0">
                <a:latin typeface="Arial MT"/>
                <a:cs typeface="Arial MT"/>
              </a:rPr>
              <a:t>7</a:t>
            </a:r>
            <a:r>
              <a:rPr sz="600" dirty="0">
                <a:latin typeface="Arial MT"/>
                <a:cs typeface="Arial MT"/>
              </a:rPr>
              <a:t>	</a:t>
            </a:r>
            <a:r>
              <a:rPr sz="1000" dirty="0">
                <a:latin typeface="Tahoma"/>
                <a:cs typeface="Tahoma"/>
              </a:rPr>
              <a:t>for</a:t>
            </a:r>
            <a:r>
              <a:rPr sz="1000" spc="210" dirty="0">
                <a:latin typeface="Tahoma"/>
                <a:cs typeface="Tahoma"/>
              </a:rPr>
              <a:t> </a:t>
            </a:r>
            <a:r>
              <a:rPr sz="1000" i="1" spc="-70" dirty="0">
                <a:latin typeface="Arial"/>
                <a:cs typeface="Arial"/>
              </a:rPr>
              <a:t>z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spc="75" baseline="27777" dirty="0">
                <a:latin typeface="Cambria"/>
                <a:cs typeface="Cambria"/>
              </a:rPr>
              <a:t>′</a:t>
            </a:r>
            <a:r>
              <a:rPr sz="1050" spc="232" baseline="27777" dirty="0">
                <a:latin typeface="Cambria"/>
                <a:cs typeface="Cambria"/>
              </a:rPr>
              <a:t> </a:t>
            </a:r>
            <a:r>
              <a:rPr sz="1000" spc="-150" dirty="0">
                <a:latin typeface="Lucida Sans Unicode"/>
                <a:cs typeface="Lucida Sans Unicode"/>
              </a:rPr>
              <a:t>∈</a:t>
            </a:r>
            <a:r>
              <a:rPr sz="1000" spc="-40" dirty="0">
                <a:latin typeface="Lucida Sans Unicode"/>
                <a:cs typeface="Lucida Sans Unicode"/>
              </a:rPr>
              <a:t> </a:t>
            </a:r>
            <a:r>
              <a:rPr sz="1000" spc="-40" dirty="0">
                <a:latin typeface="Tahoma"/>
                <a:cs typeface="Tahoma"/>
              </a:rPr>
              <a:t>fanout(</a:t>
            </a:r>
            <a:r>
              <a:rPr sz="1000" i="1" spc="-40" dirty="0">
                <a:latin typeface="Arial"/>
                <a:cs typeface="Arial"/>
              </a:rPr>
              <a:t>z</a:t>
            </a:r>
            <a:r>
              <a:rPr sz="1000" i="1" spc="-190" dirty="0">
                <a:latin typeface="Arial"/>
                <a:cs typeface="Arial"/>
              </a:rPr>
              <a:t> </a:t>
            </a:r>
            <a:r>
              <a:rPr sz="1050" spc="-30" baseline="27777" dirty="0">
                <a:latin typeface="Cambria"/>
                <a:cs typeface="Cambria"/>
              </a:rPr>
              <a:t>′′</a:t>
            </a:r>
            <a:r>
              <a:rPr sz="1000" spc="-20" dirty="0">
                <a:latin typeface="Tahoma"/>
                <a:cs typeface="Tahoma"/>
              </a:rPr>
              <a:t>):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250" y="160048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8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5564" y="1549874"/>
            <a:ext cx="2013585" cy="504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4000">
              <a:lnSpc>
                <a:spcPts val="12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w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750" i="1" baseline="5555" dirty="0">
                <a:latin typeface="Verdana"/>
                <a:cs typeface="Verdana"/>
              </a:rPr>
              <a:t>'</a:t>
            </a:r>
            <a:r>
              <a:rPr sz="1050" i="1" baseline="-11904" dirty="0">
                <a:latin typeface="Arial"/>
                <a:cs typeface="Arial"/>
              </a:rPr>
              <a:t>,z</a:t>
            </a:r>
            <a:r>
              <a:rPr sz="750" i="1" baseline="5555" dirty="0">
                <a:latin typeface="Verdana"/>
                <a:cs typeface="Verdana"/>
              </a:rPr>
              <a:t>''</a:t>
            </a:r>
            <a:r>
              <a:rPr sz="750" i="1" spc="719" baseline="5555" dirty="0">
                <a:latin typeface="Verdana"/>
                <a:cs typeface="Verdan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17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g</a:t>
            </a:r>
            <a:r>
              <a:rPr sz="1050" i="1" baseline="-11904" dirty="0">
                <a:latin typeface="Arial"/>
                <a:cs typeface="Arial"/>
              </a:rPr>
              <a:t>z</a:t>
            </a:r>
            <a:r>
              <a:rPr sz="750" i="1" baseline="5555" dirty="0">
                <a:latin typeface="Verdana"/>
                <a:cs typeface="Verdana"/>
              </a:rPr>
              <a:t>'</a:t>
            </a:r>
            <a:r>
              <a:rPr sz="1050" i="1" baseline="-11904" dirty="0">
                <a:latin typeface="Arial"/>
                <a:cs typeface="Arial"/>
              </a:rPr>
              <a:t>,z</a:t>
            </a:r>
            <a:r>
              <a:rPr sz="750" i="1" baseline="5555" dirty="0">
                <a:latin typeface="Verdana"/>
                <a:cs typeface="Verdana"/>
              </a:rPr>
              <a:t>''</a:t>
            </a:r>
            <a:r>
              <a:rPr sz="750" i="1" spc="-15" baseline="5555" dirty="0">
                <a:latin typeface="Verdana"/>
                <a:cs typeface="Verdana"/>
              </a:rPr>
              <a:t> </a:t>
            </a:r>
            <a:r>
              <a:rPr sz="1000" spc="-15" dirty="0">
                <a:latin typeface="Tahoma"/>
                <a:cs typeface="Tahoma"/>
              </a:rPr>
              <a:t>((</a:t>
            </a:r>
            <a:r>
              <a:rPr sz="1000" i="1" spc="-15" dirty="0">
                <a:latin typeface="Arial"/>
                <a:cs typeface="Arial"/>
              </a:rPr>
              <a:t>v</a:t>
            </a:r>
            <a:r>
              <a:rPr sz="1050" i="1" spc="-22" baseline="-11904" dirty="0">
                <a:latin typeface="Arial"/>
                <a:cs typeface="Arial"/>
              </a:rPr>
              <a:t>z</a:t>
            </a:r>
            <a:r>
              <a:rPr sz="1050" spc="-22" baseline="-11904" dirty="0">
                <a:latin typeface="Arial MT"/>
                <a:cs typeface="Arial MT"/>
              </a:rPr>
              <a:t>˜</a:t>
            </a:r>
            <a:r>
              <a:rPr sz="750" i="1" spc="-22" baseline="5555" dirty="0">
                <a:latin typeface="Verdana"/>
                <a:cs typeface="Verdana"/>
              </a:rPr>
              <a:t>''</a:t>
            </a:r>
            <a:r>
              <a:rPr sz="750" i="1" spc="-15" baseline="5555" dirty="0">
                <a:latin typeface="Verdana"/>
                <a:cs typeface="Verdana"/>
              </a:rPr>
              <a:t> </a:t>
            </a:r>
            <a:r>
              <a:rPr sz="1000" spc="-10" dirty="0">
                <a:latin typeface="Tahoma"/>
                <a:cs typeface="Tahoma"/>
              </a:rPr>
              <a:t>)</a:t>
            </a:r>
            <a:r>
              <a:rPr sz="1050" i="1" spc="-15" baseline="-15873" dirty="0">
                <a:latin typeface="Arial"/>
                <a:cs typeface="Arial"/>
              </a:rPr>
              <a:t>z</a:t>
            </a:r>
            <a:r>
              <a:rPr sz="1050" spc="-15" baseline="-15873" dirty="0">
                <a:latin typeface="Arial MT"/>
                <a:cs typeface="Arial MT"/>
              </a:rPr>
              <a:t>˜</a:t>
            </a:r>
            <a:r>
              <a:rPr sz="500" i="1" spc="-10" dirty="0">
                <a:latin typeface="Verdana"/>
                <a:cs typeface="Verdana"/>
              </a:rPr>
              <a:t>''</a:t>
            </a:r>
            <a:r>
              <a:rPr sz="1050" spc="-15" baseline="-15873" dirty="0">
                <a:latin typeface="Cambria"/>
                <a:cs typeface="Cambria"/>
              </a:rPr>
              <a:t>∈</a:t>
            </a:r>
            <a:r>
              <a:rPr sz="1050" spc="-15" baseline="-15873" dirty="0">
                <a:latin typeface="Arial MT"/>
                <a:cs typeface="Arial MT"/>
              </a:rPr>
              <a:t>fanin(</a:t>
            </a:r>
            <a:r>
              <a:rPr sz="1050" i="1" spc="-15" baseline="-15873" dirty="0">
                <a:latin typeface="Arial"/>
                <a:cs typeface="Arial"/>
              </a:rPr>
              <a:t>z</a:t>
            </a:r>
            <a:r>
              <a:rPr sz="500" i="1" spc="-10" dirty="0">
                <a:latin typeface="Verdana"/>
                <a:cs typeface="Verdana"/>
              </a:rPr>
              <a:t>'</a:t>
            </a:r>
            <a:r>
              <a:rPr sz="1050" spc="-15" baseline="-15873" dirty="0">
                <a:latin typeface="Arial MT"/>
                <a:cs typeface="Arial MT"/>
              </a:rPr>
              <a:t>)</a:t>
            </a:r>
            <a:r>
              <a:rPr sz="1000" spc="-10" dirty="0">
                <a:latin typeface="Tahoma"/>
                <a:cs typeface="Tahoma"/>
              </a:rPr>
              <a:t>)</a:t>
            </a:r>
            <a:endParaRPr sz="1000">
              <a:latin typeface="Tahoma"/>
              <a:cs typeface="Tahoma"/>
            </a:endParaRPr>
          </a:p>
          <a:p>
            <a:pPr marL="254000">
              <a:lnSpc>
                <a:spcPts val="1200"/>
              </a:lnSpc>
            </a:pPr>
            <a:r>
              <a:rPr sz="1000" i="1" spc="10" dirty="0">
                <a:latin typeface="Arial"/>
                <a:cs typeface="Arial"/>
              </a:rPr>
              <a:t>w</a:t>
            </a:r>
            <a:r>
              <a:rPr sz="1050" i="1" spc="15" baseline="-11904" dirty="0">
                <a:latin typeface="Arial"/>
                <a:cs typeface="Arial"/>
              </a:rPr>
              <a:t>z,z</a:t>
            </a:r>
            <a:r>
              <a:rPr sz="750" i="1" spc="15" baseline="5555" dirty="0">
                <a:latin typeface="Verdana"/>
                <a:cs typeface="Verdana"/>
              </a:rPr>
              <a:t>''</a:t>
            </a:r>
            <a:r>
              <a:rPr sz="750" i="1" spc="457" baseline="5555" dirty="0">
                <a:latin typeface="Verdana"/>
                <a:cs typeface="Verdana"/>
              </a:rPr>
              <a:t> </a:t>
            </a:r>
            <a:r>
              <a:rPr sz="1000" dirty="0">
                <a:latin typeface="Tahoma"/>
                <a:cs typeface="Tahoma"/>
              </a:rPr>
              <a:t>:=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w</a:t>
            </a:r>
            <a:r>
              <a:rPr sz="1050" i="1" spc="15" baseline="-11904" dirty="0">
                <a:latin typeface="Arial"/>
                <a:cs typeface="Arial"/>
              </a:rPr>
              <a:t>z,z</a:t>
            </a:r>
            <a:r>
              <a:rPr sz="750" i="1" spc="15" baseline="5555" dirty="0">
                <a:latin typeface="Verdana"/>
                <a:cs typeface="Verdana"/>
              </a:rPr>
              <a:t>''</a:t>
            </a:r>
            <a:r>
              <a:rPr sz="750" i="1" spc="345" baseline="5555" dirty="0">
                <a:latin typeface="Verdana"/>
                <a:cs typeface="Verdana"/>
              </a:rPr>
              <a:t> </a:t>
            </a:r>
            <a:r>
              <a:rPr sz="1000" spc="10" dirty="0">
                <a:latin typeface="Tahoma"/>
                <a:cs typeface="Tahoma"/>
              </a:rPr>
              <a:t>+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i="1" spc="10" dirty="0">
                <a:latin typeface="Arial"/>
                <a:cs typeface="Arial"/>
              </a:rPr>
              <a:t>w</a:t>
            </a:r>
            <a:r>
              <a:rPr sz="1050" i="1" spc="15" baseline="-11904" dirty="0">
                <a:latin typeface="Arial"/>
                <a:cs typeface="Arial"/>
              </a:rPr>
              <a:t>z,z</a:t>
            </a:r>
            <a:r>
              <a:rPr sz="750" i="1" spc="15" baseline="5555" dirty="0">
                <a:latin typeface="Verdana"/>
                <a:cs typeface="Verdana"/>
              </a:rPr>
              <a:t>'</a:t>
            </a:r>
            <a:r>
              <a:rPr sz="750" i="1" spc="-82" baseline="5555" dirty="0">
                <a:latin typeface="Verdana"/>
                <a:cs typeface="Verdana"/>
              </a:rPr>
              <a:t> </a:t>
            </a:r>
            <a:r>
              <a:rPr sz="1000" i="1" spc="-10" dirty="0">
                <a:latin typeface="Arial"/>
                <a:cs typeface="Arial"/>
              </a:rPr>
              <a:t>w</a:t>
            </a:r>
            <a:r>
              <a:rPr sz="1050" i="1" spc="-15" baseline="-11904" dirty="0">
                <a:latin typeface="Arial"/>
                <a:cs typeface="Arial"/>
              </a:rPr>
              <a:t>z</a:t>
            </a:r>
            <a:r>
              <a:rPr sz="750" i="1" spc="-15" baseline="5555" dirty="0">
                <a:latin typeface="Verdana"/>
                <a:cs typeface="Verdana"/>
              </a:rPr>
              <a:t>'</a:t>
            </a:r>
            <a:r>
              <a:rPr sz="1050" i="1" spc="-15" baseline="-11904" dirty="0">
                <a:latin typeface="Arial"/>
                <a:cs typeface="Arial"/>
              </a:rPr>
              <a:t>,z</a:t>
            </a:r>
            <a:r>
              <a:rPr sz="750" i="1" spc="-15" baseline="5555" dirty="0">
                <a:latin typeface="Verdana"/>
                <a:cs typeface="Verdana"/>
              </a:rPr>
              <a:t>''</a:t>
            </a:r>
            <a:endParaRPr sz="750" baseline="5555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z="1500" spc="-15" baseline="11111" dirty="0">
                <a:latin typeface="Tahoma"/>
                <a:cs typeface="Tahoma"/>
              </a:rPr>
              <a:t>return</a:t>
            </a:r>
            <a:r>
              <a:rPr sz="1500" spc="742" baseline="11111" dirty="0">
                <a:latin typeface="Tahoma"/>
                <a:cs typeface="Tahoma"/>
              </a:rPr>
              <a:t> </a:t>
            </a:r>
            <a:r>
              <a:rPr sz="1500" baseline="11111" dirty="0">
                <a:latin typeface="Tahoma"/>
                <a:cs typeface="Tahoma"/>
              </a:rPr>
              <a:t>(</a:t>
            </a:r>
            <a:r>
              <a:rPr sz="1500" i="1" baseline="11111" dirty="0">
                <a:latin typeface="Arial"/>
                <a:cs typeface="Arial"/>
              </a:rPr>
              <a:t>w</a:t>
            </a:r>
            <a:r>
              <a:rPr sz="1050" i="1" baseline="3968" dirty="0">
                <a:latin typeface="Arial"/>
                <a:cs typeface="Arial"/>
              </a:rPr>
              <a:t>z,z</a:t>
            </a:r>
            <a:r>
              <a:rPr sz="750" i="1" baseline="27777" dirty="0">
                <a:latin typeface="Verdana"/>
                <a:cs typeface="Verdana"/>
              </a:rPr>
              <a:t>'</a:t>
            </a:r>
            <a:r>
              <a:rPr sz="750" i="1" spc="-44" baseline="27777" dirty="0">
                <a:latin typeface="Verdana"/>
                <a:cs typeface="Verdana"/>
              </a:rPr>
              <a:t> </a:t>
            </a:r>
            <a:r>
              <a:rPr sz="1500" baseline="11111" dirty="0">
                <a:latin typeface="Tahoma"/>
                <a:cs typeface="Tahoma"/>
              </a:rPr>
              <a:t>)</a:t>
            </a:r>
            <a:r>
              <a:rPr sz="700" i="1" dirty="0">
                <a:latin typeface="Arial"/>
                <a:cs typeface="Arial"/>
              </a:rPr>
              <a:t>z</a:t>
            </a:r>
            <a:r>
              <a:rPr sz="750" i="1" baseline="22222" dirty="0">
                <a:latin typeface="Verdana"/>
                <a:cs typeface="Verdana"/>
              </a:rPr>
              <a:t>'</a:t>
            </a:r>
            <a:r>
              <a:rPr sz="700" dirty="0">
                <a:latin typeface="Cambria"/>
                <a:cs typeface="Cambria"/>
              </a:rPr>
              <a:t>∈</a:t>
            </a:r>
            <a:r>
              <a:rPr sz="700" dirty="0">
                <a:latin typeface="Arial MT"/>
                <a:cs typeface="Arial MT"/>
              </a:rPr>
              <a:t>roots(</a:t>
            </a:r>
            <a:r>
              <a:rPr sz="700" i="1" dirty="0">
                <a:latin typeface="Arial"/>
                <a:cs typeface="Arial"/>
              </a:rPr>
              <a:t>Z,E</a:t>
            </a:r>
            <a:r>
              <a:rPr sz="700" i="1" spc="-75" dirty="0">
                <a:latin typeface="Arial"/>
                <a:cs typeface="Arial"/>
              </a:rPr>
              <a:t> </a:t>
            </a:r>
            <a:r>
              <a:rPr sz="700" spc="-50" dirty="0">
                <a:latin typeface="Arial MT"/>
                <a:cs typeface="Arial MT"/>
              </a:rPr>
              <a:t>)</a:t>
            </a:r>
            <a:endParaRPr sz="7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250" y="175231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Arial MT"/>
                <a:cs typeface="Arial MT"/>
              </a:rPr>
              <a:t>9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-18072" y="1904154"/>
            <a:ext cx="1066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Arial MT"/>
                <a:cs typeface="Arial MT"/>
              </a:rPr>
              <a:t>10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9539" y="2465589"/>
            <a:ext cx="4222750" cy="6591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5420" indent="-147320">
              <a:lnSpc>
                <a:spcPct val="100000"/>
              </a:lnSpc>
              <a:spcBef>
                <a:spcPts val="90"/>
              </a:spcBef>
              <a:buSzPct val="72727"/>
              <a:buChar char="►"/>
              <a:tabLst>
                <a:tab pos="185420" algn="l"/>
              </a:tabLst>
            </a:pP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gradients </a:t>
            </a: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200" i="1" baseline="-13888" dirty="0">
                <a:latin typeface="Arial"/>
                <a:cs typeface="Arial"/>
              </a:rPr>
              <a:t>z</a:t>
            </a:r>
            <a:r>
              <a:rPr sz="900" i="1" baseline="4629" dirty="0">
                <a:latin typeface="Arial"/>
                <a:cs typeface="Arial"/>
              </a:rPr>
              <a:t>′</a:t>
            </a:r>
            <a:r>
              <a:rPr sz="900" i="1" spc="-104" baseline="46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single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leaf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node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root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spc="-75" baseline="27777" dirty="0">
                <a:latin typeface="Cambria"/>
                <a:cs typeface="Cambria"/>
              </a:rPr>
              <a:t>r</a:t>
            </a:r>
            <a:endParaRPr sz="1200" baseline="27777">
              <a:latin typeface="Cambria"/>
              <a:cs typeface="Cambria"/>
            </a:endParaRPr>
          </a:p>
          <a:p>
            <a:pPr marL="184785" marR="30480" indent="-147320">
              <a:lnSpc>
                <a:spcPct val="102600"/>
              </a:lnSpc>
              <a:spcBef>
                <a:spcPts val="969"/>
              </a:spcBef>
              <a:buSzPct val="72727"/>
              <a:buChar char="►"/>
              <a:tabLst>
                <a:tab pos="186055" algn="l"/>
              </a:tabLst>
            </a:pPr>
            <a:r>
              <a:rPr sz="1100" spc="-20" dirty="0">
                <a:latin typeface="Tahoma"/>
                <a:cs typeface="Tahoma"/>
              </a:rPr>
              <a:t>take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subgraph</a:t>
            </a:r>
            <a:r>
              <a:rPr sz="1100" spc="-10" dirty="0">
                <a:latin typeface="Tahoma"/>
                <a:cs typeface="Tahoma"/>
              </a:rPr>
              <a:t> on </a:t>
            </a:r>
            <a:r>
              <a:rPr sz="1100" spc="-60" dirty="0">
                <a:latin typeface="Tahoma"/>
                <a:cs typeface="Tahoma"/>
              </a:rPr>
              <a:t>ancestors(</a:t>
            </a:r>
            <a:r>
              <a:rPr sz="1100" i="1" spc="-60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)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∩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spc="-35" dirty="0">
                <a:latin typeface="Tahoma"/>
                <a:cs typeface="Tahoma"/>
              </a:rPr>
              <a:t>descendants(</a:t>
            </a:r>
            <a:r>
              <a:rPr sz="1100" i="1" spc="-35" dirty="0">
                <a:latin typeface="Arial"/>
                <a:cs typeface="Arial"/>
              </a:rPr>
              <a:t>Z</a:t>
            </a:r>
            <a:r>
              <a:rPr sz="1200" spc="-52" baseline="-10416" dirty="0">
                <a:latin typeface="Arial MT"/>
                <a:cs typeface="Arial MT"/>
              </a:rPr>
              <a:t>in</a:t>
            </a:r>
            <a:r>
              <a:rPr sz="1100" spc="-35" dirty="0">
                <a:latin typeface="Tahoma"/>
                <a:cs typeface="Tahoma"/>
              </a:rPr>
              <a:t>)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all 	</a:t>
            </a:r>
            <a:r>
              <a:rPr sz="1100" spc="-40" dirty="0">
                <a:latin typeface="Tahoma"/>
                <a:cs typeface="Tahoma"/>
              </a:rPr>
              <a:t>gradients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∇</a:t>
            </a:r>
            <a:r>
              <a:rPr sz="1200" i="1" baseline="-13888" dirty="0">
                <a:latin typeface="Arial"/>
                <a:cs typeface="Arial"/>
              </a:rPr>
              <a:t>z</a:t>
            </a:r>
            <a:r>
              <a:rPr sz="900" i="1" baseline="4629" dirty="0">
                <a:latin typeface="Arial"/>
                <a:cs typeface="Arial"/>
              </a:rPr>
              <a:t>′</a:t>
            </a:r>
            <a:r>
              <a:rPr sz="900" i="1" spc="-104" baseline="4629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8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nodes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27777" dirty="0">
                <a:latin typeface="Cambria"/>
                <a:cs typeface="Cambria"/>
              </a:rPr>
              <a:t>r</a:t>
            </a:r>
            <a:r>
              <a:rPr sz="1200" spc="217" baseline="27777" dirty="0">
                <a:latin typeface="Cambria"/>
                <a:cs typeface="Cambr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i="1" spc="-20" dirty="0">
                <a:latin typeface="Arial"/>
                <a:cs typeface="Arial"/>
              </a:rPr>
              <a:t>Z</a:t>
            </a:r>
            <a:r>
              <a:rPr sz="1200" spc="-30" baseline="-10416" dirty="0">
                <a:latin typeface="Arial MT"/>
                <a:cs typeface="Arial MT"/>
              </a:rPr>
              <a:t>in</a:t>
            </a:r>
            <a:r>
              <a:rPr sz="1100" spc="-2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30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660" y="-12707"/>
            <a:ext cx="1268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latin typeface="Arial MT"/>
                <a:cs typeface="Arial MT"/>
                <a:hlinkClick r:id="rId2" action="ppaction://hlinksldjump"/>
              </a:rPr>
              <a:t>Deep</a:t>
            </a:r>
            <a:r>
              <a:rPr sz="600" spc="10" dirty="0">
                <a:latin typeface="Arial MT"/>
                <a:cs typeface="Arial MT"/>
                <a:hlinkClick r:id="rId2" action="ppaction://hlinksldjump"/>
              </a:rPr>
              <a:t> </a:t>
            </a:r>
            <a:r>
              <a:rPr sz="600" dirty="0">
                <a:latin typeface="Arial MT"/>
                <a:cs typeface="Arial MT"/>
                <a:hlinkClick r:id="rId2" action="ppaction://hlinksldjump"/>
              </a:rPr>
              <a:t>Learning</a:t>
            </a:r>
            <a:r>
              <a:rPr sz="600" spc="450" dirty="0">
                <a:latin typeface="Arial MT"/>
                <a:cs typeface="Arial MT"/>
              </a:rPr>
              <a:t> </a:t>
            </a:r>
            <a:r>
              <a:rPr sz="600" dirty="0">
                <a:latin typeface="Arial MT"/>
                <a:cs typeface="Arial MT"/>
                <a:hlinkClick r:id="rId3" action="ppaction://hlinksldjump"/>
              </a:rPr>
              <a:t>5.</a:t>
            </a:r>
            <a:r>
              <a:rPr sz="600" spc="60" dirty="0">
                <a:latin typeface="Arial MT"/>
                <a:cs typeface="Arial MT"/>
                <a:hlinkClick r:id="rId3" action="ppaction://hlinksldjump"/>
              </a:rPr>
              <a:t> </a:t>
            </a:r>
            <a:r>
              <a:rPr sz="600" spc="-10" dirty="0">
                <a:latin typeface="Arial MT"/>
                <a:cs typeface="Arial MT"/>
                <a:hlinkClick r:id="rId3" action="ppaction://hlinksldjump"/>
              </a:rPr>
              <a:t>Backpropagation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Gradient</a:t>
            </a:r>
            <a:r>
              <a:rPr spc="-45" dirty="0"/>
              <a:t> </a:t>
            </a:r>
            <a:r>
              <a:rPr spc="-20" dirty="0"/>
              <a:t>Computation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98120" indent="-147320">
              <a:lnSpc>
                <a:spcPct val="100000"/>
              </a:lnSpc>
              <a:spcBef>
                <a:spcPts val="285"/>
              </a:spcBef>
              <a:buSzPct val="72727"/>
              <a:buChar char="►"/>
              <a:tabLst>
                <a:tab pos="198120" algn="l"/>
              </a:tabLst>
            </a:pPr>
            <a:r>
              <a:rPr sz="1100" spc="-20" dirty="0"/>
              <a:t>automatic</a:t>
            </a:r>
            <a:r>
              <a:rPr sz="1100" spc="-25" dirty="0"/>
              <a:t> </a:t>
            </a:r>
            <a:r>
              <a:rPr sz="1100" spc="-35" dirty="0"/>
              <a:t>gradient</a:t>
            </a:r>
            <a:r>
              <a:rPr sz="1100" spc="-20" dirty="0"/>
              <a:t> </a:t>
            </a:r>
            <a:r>
              <a:rPr sz="1100" spc="-30" dirty="0"/>
              <a:t>computation</a:t>
            </a:r>
            <a:r>
              <a:rPr sz="1100" spc="-25" dirty="0"/>
              <a:t> </a:t>
            </a:r>
            <a:r>
              <a:rPr sz="1100" dirty="0"/>
              <a:t>in</a:t>
            </a:r>
            <a:r>
              <a:rPr sz="1100" spc="-20" dirty="0"/>
              <a:t> </a:t>
            </a:r>
            <a:r>
              <a:rPr sz="1100" spc="-30" dirty="0"/>
              <a:t>computational</a:t>
            </a:r>
            <a:r>
              <a:rPr sz="1100" spc="-25" dirty="0"/>
              <a:t> </a:t>
            </a:r>
            <a:r>
              <a:rPr sz="1100" spc="-45" dirty="0"/>
              <a:t>graphs</a:t>
            </a:r>
            <a:r>
              <a:rPr sz="1100" spc="-20" dirty="0"/>
              <a:t> </a:t>
            </a:r>
            <a:r>
              <a:rPr sz="1100" spc="-10" dirty="0"/>
              <a:t>combines</a:t>
            </a:r>
            <a:endParaRPr sz="1100"/>
          </a:p>
          <a:p>
            <a:pPr marL="338455">
              <a:lnSpc>
                <a:spcPct val="100000"/>
              </a:lnSpc>
              <a:spcBef>
                <a:spcPts val="175"/>
              </a:spcBef>
            </a:pPr>
            <a:r>
              <a:rPr sz="900" spc="494" baseline="13888" dirty="0">
                <a:latin typeface="Arial MT"/>
                <a:cs typeface="Arial MT"/>
              </a:rPr>
              <a:t>) </a:t>
            </a:r>
            <a:r>
              <a:rPr sz="1000" spc="-30" dirty="0"/>
              <a:t>manually</a:t>
            </a:r>
            <a:r>
              <a:rPr sz="1000" spc="-10" dirty="0"/>
              <a:t> </a:t>
            </a:r>
            <a:r>
              <a:rPr sz="1000" spc="-30" dirty="0"/>
              <a:t>specified</a:t>
            </a:r>
            <a:r>
              <a:rPr sz="1000" dirty="0"/>
              <a:t> </a:t>
            </a:r>
            <a:r>
              <a:rPr sz="1000" spc="-35" dirty="0"/>
              <a:t>gradients</a:t>
            </a:r>
            <a:r>
              <a:rPr sz="1000" spc="-5" dirty="0"/>
              <a:t> </a:t>
            </a:r>
            <a:r>
              <a:rPr sz="1000" dirty="0"/>
              <a:t>of</a:t>
            </a:r>
            <a:r>
              <a:rPr sz="1000" spc="-10" dirty="0"/>
              <a:t> </a:t>
            </a:r>
            <a:r>
              <a:rPr sz="1000" spc="-45" dirty="0"/>
              <a:t>elementary</a:t>
            </a:r>
            <a:r>
              <a:rPr sz="1000" dirty="0"/>
              <a:t> </a:t>
            </a:r>
            <a:r>
              <a:rPr sz="1000" spc="-10" dirty="0"/>
              <a:t>functions,</a:t>
            </a:r>
            <a:endParaRPr sz="1000">
              <a:latin typeface="Arial MT"/>
              <a:cs typeface="Arial MT"/>
            </a:endParaRPr>
          </a:p>
          <a:p>
            <a:pPr marL="338455">
              <a:lnSpc>
                <a:spcPct val="100000"/>
              </a:lnSpc>
              <a:spcBef>
                <a:spcPts val="48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65" baseline="13888" dirty="0">
                <a:latin typeface="Arial MT"/>
                <a:cs typeface="Arial MT"/>
              </a:rPr>
              <a:t> </a:t>
            </a:r>
            <a:r>
              <a:rPr sz="1000" spc="-20" dirty="0"/>
              <a:t>the chain </a:t>
            </a:r>
            <a:r>
              <a:rPr sz="1000" spc="-25" dirty="0"/>
              <a:t>rule,</a:t>
            </a:r>
            <a:r>
              <a:rPr sz="1000" spc="-15" dirty="0"/>
              <a:t> </a:t>
            </a:r>
            <a:r>
              <a:rPr sz="1000" spc="-25" dirty="0"/>
              <a:t>and</a:t>
            </a:r>
            <a:endParaRPr sz="1000">
              <a:latin typeface="Arial MT"/>
              <a:cs typeface="Arial MT"/>
            </a:endParaRPr>
          </a:p>
          <a:p>
            <a:pPr marL="338455">
              <a:lnSpc>
                <a:spcPct val="100000"/>
              </a:lnSpc>
              <a:spcBef>
                <a:spcPts val="384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7" baseline="13888" dirty="0">
                <a:latin typeface="Arial MT"/>
                <a:cs typeface="Arial MT"/>
              </a:rPr>
              <a:t> </a:t>
            </a:r>
            <a:r>
              <a:rPr sz="1000" dirty="0"/>
              <a:t>a</a:t>
            </a:r>
            <a:r>
              <a:rPr sz="1000" spc="-10" dirty="0"/>
              <a:t> </a:t>
            </a:r>
            <a:r>
              <a:rPr sz="1000" spc="-35" dirty="0"/>
              <a:t>useful</a:t>
            </a:r>
            <a:r>
              <a:rPr sz="1000" spc="-5" dirty="0"/>
              <a:t> </a:t>
            </a:r>
            <a:r>
              <a:rPr sz="1000" spc="-50" dirty="0"/>
              <a:t>arrangement</a:t>
            </a:r>
            <a:r>
              <a:rPr sz="1000" spc="-10" dirty="0"/>
              <a:t> </a:t>
            </a:r>
            <a:r>
              <a:rPr sz="1000" dirty="0"/>
              <a:t>of</a:t>
            </a:r>
            <a:r>
              <a:rPr sz="1000" spc="-10" dirty="0"/>
              <a:t> computations</a:t>
            </a:r>
            <a:endParaRPr sz="1000">
              <a:latin typeface="Arial MT"/>
              <a:cs typeface="Arial MT"/>
            </a:endParaRPr>
          </a:p>
          <a:p>
            <a:pPr marL="615315">
              <a:lnSpc>
                <a:spcPct val="100000"/>
              </a:lnSpc>
              <a:spcBef>
                <a:spcPts val="19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80" baseline="13888" dirty="0">
                <a:latin typeface="Arial MT"/>
                <a:cs typeface="Arial MT"/>
              </a:rPr>
              <a:t> </a:t>
            </a:r>
            <a:r>
              <a:rPr sz="900" spc="-30" dirty="0"/>
              <a:t>forward</a:t>
            </a:r>
            <a:r>
              <a:rPr sz="900" dirty="0"/>
              <a:t> function </a:t>
            </a:r>
            <a:r>
              <a:rPr sz="900" spc="-10" dirty="0"/>
              <a:t>computations</a:t>
            </a:r>
            <a:endParaRPr sz="900">
              <a:latin typeface="Arial MT"/>
              <a:cs typeface="Arial MT"/>
            </a:endParaRPr>
          </a:p>
          <a:p>
            <a:pPr marL="615315">
              <a:lnSpc>
                <a:spcPct val="100000"/>
              </a:lnSpc>
              <a:spcBef>
                <a:spcPts val="254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57" baseline="13888" dirty="0">
                <a:latin typeface="Arial MT"/>
                <a:cs typeface="Arial MT"/>
              </a:rPr>
              <a:t> </a:t>
            </a:r>
            <a:r>
              <a:rPr sz="900" spc="-25" dirty="0"/>
              <a:t>backwards</a:t>
            </a:r>
            <a:r>
              <a:rPr sz="900" spc="-10" dirty="0"/>
              <a:t> gradient computations</a:t>
            </a:r>
            <a:endParaRPr sz="900">
              <a:latin typeface="Arial MT"/>
              <a:cs typeface="Arial MT"/>
            </a:endParaRPr>
          </a:p>
          <a:p>
            <a:pPr marL="615315">
              <a:lnSpc>
                <a:spcPct val="100000"/>
              </a:lnSpc>
              <a:spcBef>
                <a:spcPts val="260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19" baseline="13888" dirty="0">
                <a:latin typeface="Arial MT"/>
                <a:cs typeface="Arial MT"/>
              </a:rPr>
              <a:t> </a:t>
            </a:r>
            <a:r>
              <a:rPr sz="900" spc="-10" dirty="0"/>
              <a:t>compute</a:t>
            </a:r>
            <a:r>
              <a:rPr sz="900" spc="-25" dirty="0"/>
              <a:t> </a:t>
            </a:r>
            <a:r>
              <a:rPr sz="900" spc="-20" dirty="0"/>
              <a:t>each</a:t>
            </a:r>
            <a:r>
              <a:rPr sz="900" spc="-25" dirty="0"/>
              <a:t> neighbor </a:t>
            </a:r>
            <a:r>
              <a:rPr sz="900" spc="-10" dirty="0"/>
              <a:t>gradient</a:t>
            </a:r>
            <a:r>
              <a:rPr sz="900" spc="-25" dirty="0"/>
              <a:t> </a:t>
            </a:r>
            <a:r>
              <a:rPr sz="900" spc="-20" dirty="0"/>
              <a:t>once</a:t>
            </a:r>
            <a:r>
              <a:rPr sz="900" spc="-25" dirty="0"/>
              <a:t> </a:t>
            </a:r>
            <a:r>
              <a:rPr sz="900" dirty="0"/>
              <a:t>(for</a:t>
            </a:r>
            <a:r>
              <a:rPr sz="900" spc="-25" dirty="0"/>
              <a:t> </a:t>
            </a:r>
            <a:r>
              <a:rPr sz="900" dirty="0"/>
              <a:t>multiple</a:t>
            </a:r>
            <a:r>
              <a:rPr sz="900" spc="-25" dirty="0"/>
              <a:t> </a:t>
            </a:r>
            <a:r>
              <a:rPr sz="900" dirty="0"/>
              <a:t>leaf</a:t>
            </a:r>
            <a:r>
              <a:rPr sz="900" spc="-30" dirty="0"/>
              <a:t> </a:t>
            </a:r>
            <a:r>
              <a:rPr sz="900" spc="-10" dirty="0"/>
              <a:t>nodes)</a:t>
            </a:r>
            <a:endParaRPr sz="900">
              <a:latin typeface="Arial MT"/>
              <a:cs typeface="Arial MT"/>
            </a:endParaRPr>
          </a:p>
          <a:p>
            <a:pPr marL="147320" marR="664210" indent="-147320" algn="r">
              <a:lnSpc>
                <a:spcPct val="100000"/>
              </a:lnSpc>
              <a:spcBef>
                <a:spcPts val="885"/>
              </a:spcBef>
              <a:buSzPct val="72727"/>
              <a:buChar char="►"/>
              <a:tabLst>
                <a:tab pos="147320" algn="l"/>
              </a:tabLst>
            </a:pPr>
            <a:r>
              <a:rPr sz="1100" spc="-25" dirty="0"/>
              <a:t>called</a:t>
            </a:r>
            <a:r>
              <a:rPr sz="1100" spc="-30" dirty="0"/>
              <a:t> </a:t>
            </a:r>
            <a:r>
              <a:rPr sz="1100" b="1" spc="-25" dirty="0">
                <a:solidFill>
                  <a:srgbClr val="FF0000"/>
                </a:solidFill>
                <a:latin typeface="Trebuchet MS"/>
                <a:cs typeface="Trebuchet MS"/>
              </a:rPr>
              <a:t>backpropagation</a:t>
            </a:r>
            <a:r>
              <a:rPr sz="1100" b="1" spc="-15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1100" spc="-20" dirty="0"/>
              <a:t>for</a:t>
            </a:r>
            <a:r>
              <a:rPr sz="1100" spc="-25" dirty="0"/>
              <a:t> </a:t>
            </a:r>
            <a:r>
              <a:rPr sz="1100" spc="-60" dirty="0"/>
              <a:t>feedforward</a:t>
            </a:r>
            <a:r>
              <a:rPr sz="1100" spc="-25" dirty="0"/>
              <a:t> </a:t>
            </a:r>
            <a:r>
              <a:rPr sz="1100" spc="-35" dirty="0"/>
              <a:t>neural</a:t>
            </a:r>
            <a:r>
              <a:rPr sz="1100" spc="-25" dirty="0"/>
              <a:t> </a:t>
            </a:r>
            <a:r>
              <a:rPr sz="1100" spc="-10" dirty="0"/>
              <a:t>networks</a:t>
            </a:r>
            <a:endParaRPr sz="1100">
              <a:latin typeface="Trebuchet MS"/>
              <a:cs typeface="Trebuchet MS"/>
            </a:endParaRPr>
          </a:p>
          <a:p>
            <a:pPr marR="713740" algn="r">
              <a:lnSpc>
                <a:spcPct val="100000"/>
              </a:lnSpc>
              <a:spcBef>
                <a:spcPts val="175"/>
              </a:spcBef>
            </a:pPr>
            <a:r>
              <a:rPr sz="900" spc="494" baseline="13888" dirty="0">
                <a:latin typeface="Arial MT"/>
                <a:cs typeface="Arial MT"/>
              </a:rPr>
              <a:t>)</a:t>
            </a:r>
            <a:r>
              <a:rPr sz="900" spc="472" baseline="13888" dirty="0">
                <a:latin typeface="Arial MT"/>
                <a:cs typeface="Arial MT"/>
              </a:rPr>
              <a:t> </a:t>
            </a:r>
            <a:r>
              <a:rPr sz="1000" spc="-25" dirty="0"/>
              <a:t>algorithm</a:t>
            </a:r>
            <a:r>
              <a:rPr sz="1000" spc="-20" dirty="0"/>
              <a:t> can</a:t>
            </a:r>
            <a:r>
              <a:rPr sz="1000" spc="-10" dirty="0"/>
              <a:t> be</a:t>
            </a:r>
            <a:r>
              <a:rPr sz="1000" spc="-20" dirty="0"/>
              <a:t> </a:t>
            </a:r>
            <a:r>
              <a:rPr sz="1000" spc="-35" dirty="0"/>
              <a:t>formulated</a:t>
            </a:r>
            <a:r>
              <a:rPr sz="1000" spc="-15" dirty="0"/>
              <a:t> </a:t>
            </a:r>
            <a:r>
              <a:rPr sz="1000" spc="-20" dirty="0"/>
              <a:t>without</a:t>
            </a:r>
            <a:r>
              <a:rPr sz="1000" spc="-10" dirty="0"/>
              <a:t> </a:t>
            </a:r>
            <a:r>
              <a:rPr sz="1000" spc="-35" dirty="0"/>
              <a:t>graph</a:t>
            </a:r>
            <a:r>
              <a:rPr sz="1000" spc="-15" dirty="0"/>
              <a:t> </a:t>
            </a:r>
            <a:r>
              <a:rPr sz="1000" spc="-10" dirty="0"/>
              <a:t>terminology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36696"/>
            <a:ext cx="4608195" cy="219710"/>
          </a:xfrm>
          <a:custGeom>
            <a:avLst/>
            <a:gdLst/>
            <a:ahLst/>
            <a:cxnLst/>
            <a:rect l="l" t="t" r="r" b="b"/>
            <a:pathLst>
              <a:path w="4608195" h="219710">
                <a:moveTo>
                  <a:pt x="4608004" y="0"/>
                </a:moveTo>
                <a:lnTo>
                  <a:pt x="0" y="0"/>
                </a:lnTo>
                <a:lnTo>
                  <a:pt x="0" y="109651"/>
                </a:lnTo>
                <a:lnTo>
                  <a:pt x="0" y="219303"/>
                </a:lnTo>
                <a:lnTo>
                  <a:pt x="4147172" y="219303"/>
                </a:lnTo>
                <a:lnTo>
                  <a:pt x="4147172" y="109651"/>
                </a:lnTo>
                <a:lnTo>
                  <a:pt x="4174058" y="109651"/>
                </a:lnTo>
                <a:lnTo>
                  <a:pt x="4174058" y="219303"/>
                </a:lnTo>
                <a:lnTo>
                  <a:pt x="4608004" y="219303"/>
                </a:lnTo>
                <a:lnTo>
                  <a:pt x="4608004" y="109651"/>
                </a:lnTo>
                <a:lnTo>
                  <a:pt x="4608004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31</a:t>
            </a:r>
            <a:r>
              <a:rPr spc="25" dirty="0"/>
              <a:t> </a:t>
            </a:r>
            <a:r>
              <a:rPr spc="150" dirty="0"/>
              <a:t>/</a:t>
            </a:r>
            <a:r>
              <a:rPr spc="25" dirty="0"/>
              <a:t> </a:t>
            </a: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3731</TotalTime>
  <Words>4516</Words>
  <Application>Microsoft Office PowerPoint</Application>
  <PresentationFormat>Custom</PresentationFormat>
  <Paragraphs>870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Arial MT</vt:lpstr>
      <vt:lpstr>Calibri</vt:lpstr>
      <vt:lpstr>Cambria</vt:lpstr>
      <vt:lpstr>Georgia</vt:lpstr>
      <vt:lpstr>Lucida Sans Unicode</vt:lpstr>
      <vt:lpstr>Sitka Small</vt:lpstr>
      <vt:lpstr>Tahoma</vt:lpstr>
      <vt:lpstr>Trebuchet MS</vt:lpstr>
      <vt:lpstr>Verdana</vt:lpstr>
      <vt:lpstr>Office Theme</vt:lpstr>
      <vt:lpstr>Outline</vt:lpstr>
      <vt:lpstr>Outline</vt:lpstr>
      <vt:lpstr>What is a Deep Feedforward Network (DFN)?</vt:lpstr>
      <vt:lpstr>Why Feedforward ?</vt:lpstr>
      <vt:lpstr>Why Neural ?</vt:lpstr>
      <vt:lpstr>Why Network ?</vt:lpstr>
      <vt:lpstr>Nonlinear Mapping</vt:lpstr>
      <vt:lpstr>Nonlinear Mapping</vt:lpstr>
      <vt:lpstr>Nonlinear Mapping (II)</vt:lpstr>
      <vt:lpstr>Nonlinear Mapping</vt:lpstr>
      <vt:lpstr>Outline</vt:lpstr>
      <vt:lpstr>An example - Learn XOR</vt:lpstr>
      <vt:lpstr>An example - Learn XOR (2)</vt:lpstr>
      <vt:lpstr>Rectified Linear Unit (ReLU)</vt:lpstr>
      <vt:lpstr>”Deus ex machina” solution?</vt:lpstr>
      <vt:lpstr>XOR Solution - Hidden Layer Computations</vt:lpstr>
      <vt:lpstr>XOR Solution - Output Layer Computations</vt:lpstr>
      <vt:lpstr>Outline</vt:lpstr>
      <vt:lpstr>Maximum Likelihood as Objective</vt:lpstr>
      <vt:lpstr>Output Layer — Gaussian Output Distribution</vt:lpstr>
      <vt:lpstr>Bernoulli Output Distributions</vt:lpstr>
      <vt:lpstr>Bernoulli Output Distributions (2)</vt:lpstr>
      <vt:lpstr>Multinoulli Output Distribution</vt:lpstr>
      <vt:lpstr>Outline</vt:lpstr>
      <vt:lpstr>Types of Hidden Units</vt:lpstr>
      <vt:lpstr>Types of Hidden Units</vt:lpstr>
      <vt:lpstr>Architecture of Hidden Layers</vt:lpstr>
      <vt:lpstr>Outline</vt:lpstr>
      <vt:lpstr>Computational Graphs</vt:lpstr>
      <vt:lpstr>Computational Graphs</vt:lpstr>
      <vt:lpstr>Forward Computation</vt:lpstr>
      <vt:lpstr>Forward Computation / Example</vt:lpstr>
      <vt:lpstr>Forward Computation / Algorithm</vt:lpstr>
      <vt:lpstr>Forward Computation / Algorithm</vt:lpstr>
      <vt:lpstr>Gradients in Computational Graphs (1/2)</vt:lpstr>
      <vt:lpstr>Gradient Computation / Example</vt:lpstr>
      <vt:lpstr>Gradients in Computational Graphs (2/2)</vt:lpstr>
      <vt:lpstr>Gradient Computation / Example</vt:lpstr>
      <vt:lpstr>Gradient Computation / Example</vt:lpstr>
      <vt:lpstr>Gradient Computation / Algorithm / Single Leaf</vt:lpstr>
      <vt:lpstr>Gradient Computation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- 2. Deep Feedforward Networks</dc:title>
  <dc:creator>Lars Schmidt-Thieme</dc:creator>
  <cp:lastModifiedBy>KIIT0001</cp:lastModifiedBy>
  <cp:revision>4</cp:revision>
  <dcterms:created xsi:type="dcterms:W3CDTF">2025-07-12T06:03:11Z</dcterms:created>
  <dcterms:modified xsi:type="dcterms:W3CDTF">2025-07-25T14:59:04Z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2020-04-28T00:00:00Z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2025-07-12T00:00:00Z</vt:filetime>
  </property>
  <property fmtid="{D5CDD505-2E9C-101B-9397-08002B2CF9AE}" pid="5" name="PTEX.Fullbanner">
    <vt:lpwstr>This is pdfTeX, Version 3.14159265-2.6-1.40.18 (TeX Live 2017/TeX Live for SUSE Linux) kpathsea version 6.2.3</vt:lpwstr>
  </property>
  <property fmtid="{D5CDD505-2E9C-101B-9397-08002B2CF9AE}" pid="6" name="Producer">
    <vt:lpwstr>pdfTeX-1.40.18</vt:lpwstr>
  </property>
</Properties>
</file>